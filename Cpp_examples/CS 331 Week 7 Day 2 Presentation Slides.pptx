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9"/>
  </p:notesMasterIdLst>
  <p:sldIdLst>
    <p:sldId id="256" r:id="rId2"/>
    <p:sldId id="752" r:id="rId3"/>
    <p:sldId id="753" r:id="rId4"/>
    <p:sldId id="770" r:id="rId5"/>
    <p:sldId id="771" r:id="rId6"/>
    <p:sldId id="754" r:id="rId7"/>
    <p:sldId id="773" r:id="rId8"/>
    <p:sldId id="774" r:id="rId9"/>
    <p:sldId id="772" r:id="rId10"/>
    <p:sldId id="775" r:id="rId11"/>
    <p:sldId id="776" r:id="rId12"/>
    <p:sldId id="777" r:id="rId13"/>
    <p:sldId id="778" r:id="rId14"/>
    <p:sldId id="779" r:id="rId15"/>
    <p:sldId id="783" r:id="rId16"/>
    <p:sldId id="784" r:id="rId17"/>
    <p:sldId id="785" r:id="rId18"/>
    <p:sldId id="780" r:id="rId19"/>
    <p:sldId id="781" r:id="rId20"/>
    <p:sldId id="782" r:id="rId21"/>
    <p:sldId id="786" r:id="rId22"/>
    <p:sldId id="787" r:id="rId23"/>
    <p:sldId id="788" r:id="rId24"/>
    <p:sldId id="789" r:id="rId25"/>
    <p:sldId id="790" r:id="rId26"/>
    <p:sldId id="791" r:id="rId27"/>
    <p:sldId id="792" r:id="rId28"/>
    <p:sldId id="793" r:id="rId29"/>
    <p:sldId id="794" r:id="rId30"/>
    <p:sldId id="795" r:id="rId31"/>
    <p:sldId id="796" r:id="rId32"/>
    <p:sldId id="797" r:id="rId33"/>
    <p:sldId id="756" r:id="rId34"/>
    <p:sldId id="757" r:id="rId35"/>
    <p:sldId id="758" r:id="rId36"/>
    <p:sldId id="759" r:id="rId37"/>
    <p:sldId id="760" r:id="rId38"/>
    <p:sldId id="755" r:id="rId39"/>
    <p:sldId id="761" r:id="rId40"/>
    <p:sldId id="762" r:id="rId41"/>
    <p:sldId id="763" r:id="rId42"/>
    <p:sldId id="764" r:id="rId43"/>
    <p:sldId id="765" r:id="rId44"/>
    <p:sldId id="766" r:id="rId45"/>
    <p:sldId id="767" r:id="rId46"/>
    <p:sldId id="768" r:id="rId47"/>
    <p:sldId id="769" r:id="rId4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ferSingleView="1">
    <p:restoredLeft sz="14527"/>
    <p:restoredTop sz="94650"/>
  </p:normalViewPr>
  <p:slideViewPr>
    <p:cSldViewPr snapToGrid="0">
      <p:cViewPr varScale="1">
        <p:scale>
          <a:sx n="148" d="100"/>
          <a:sy n="148" d="100"/>
        </p:scale>
        <p:origin x="216" y="1424"/>
      </p:cViewPr>
      <p:guideLst/>
    </p:cSldViewPr>
  </p:slideViewPr>
  <p:notesTextViewPr>
    <p:cViewPr>
      <p:scale>
        <a:sx n="1" d="1"/>
        <a:sy n="1" d="1"/>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05218C8-7ADA-5745-B0ED-09147FC2300B}" type="datetimeFigureOut">
              <a:rPr lang="en-US" smtClean="0"/>
              <a:t>10/10/24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E08D593-08E1-924E-8886-4C1B11206E65}" type="slidenum">
              <a:rPr lang="en-US" smtClean="0"/>
              <a:t>‹#›</a:t>
            </a:fld>
            <a:endParaRPr lang="en-US"/>
          </a:p>
        </p:txBody>
      </p:sp>
    </p:spTree>
    <p:extLst>
      <p:ext uri="{BB962C8B-B14F-4D97-AF65-F5344CB8AC3E}">
        <p14:creationId xmlns:p14="http://schemas.microsoft.com/office/powerpoint/2010/main" val="2292348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CD8A2F-4365-D5E2-D465-032ACCB527B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0168BD9-20B6-6132-CF43-BF4037F753C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07D49D7-B718-CF68-B131-58DDD5589467}"/>
              </a:ext>
            </a:extLst>
          </p:cNvPr>
          <p:cNvSpPr>
            <a:spLocks noGrp="1"/>
          </p:cNvSpPr>
          <p:nvPr>
            <p:ph type="dt" sz="half" idx="10"/>
          </p:nvPr>
        </p:nvSpPr>
        <p:spPr/>
        <p:txBody>
          <a:bodyPr/>
          <a:lstStyle/>
          <a:p>
            <a:fld id="{58C73D3D-5D8B-C945-AD7A-9665419A7C3F}" type="datetimeFigureOut">
              <a:rPr lang="en-US" smtClean="0"/>
              <a:t>10/10/24</a:t>
            </a:fld>
            <a:endParaRPr lang="en-US"/>
          </a:p>
        </p:txBody>
      </p:sp>
      <p:sp>
        <p:nvSpPr>
          <p:cNvPr id="5" name="Footer Placeholder 4">
            <a:extLst>
              <a:ext uri="{FF2B5EF4-FFF2-40B4-BE49-F238E27FC236}">
                <a16:creationId xmlns:a16="http://schemas.microsoft.com/office/drawing/2014/main" id="{F91F0153-DD61-796F-DD38-BFC69C07165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1FE31BB-1528-52E3-57F2-CB41876B83DA}"/>
              </a:ext>
            </a:extLst>
          </p:cNvPr>
          <p:cNvSpPr>
            <a:spLocks noGrp="1"/>
          </p:cNvSpPr>
          <p:nvPr>
            <p:ph type="sldNum" sz="quarter" idx="12"/>
          </p:nvPr>
        </p:nvSpPr>
        <p:spPr/>
        <p:txBody>
          <a:bodyPr/>
          <a:lstStyle/>
          <a:p>
            <a:fld id="{820A00FB-7AB9-794E-8F93-21ED628BF8EA}" type="slidenum">
              <a:rPr lang="en-US" smtClean="0"/>
              <a:t>‹#›</a:t>
            </a:fld>
            <a:endParaRPr lang="en-US"/>
          </a:p>
        </p:txBody>
      </p:sp>
    </p:spTree>
    <p:extLst>
      <p:ext uri="{BB962C8B-B14F-4D97-AF65-F5344CB8AC3E}">
        <p14:creationId xmlns:p14="http://schemas.microsoft.com/office/powerpoint/2010/main" val="23357038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D56AE4-7F17-FC1A-AEC4-E26DDE87D39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026D4AB-2917-FBF4-1BB6-57665E9D979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A089B2E-D113-42F7-E6CF-BAED9A35E275}"/>
              </a:ext>
            </a:extLst>
          </p:cNvPr>
          <p:cNvSpPr>
            <a:spLocks noGrp="1"/>
          </p:cNvSpPr>
          <p:nvPr>
            <p:ph type="dt" sz="half" idx="10"/>
          </p:nvPr>
        </p:nvSpPr>
        <p:spPr/>
        <p:txBody>
          <a:bodyPr/>
          <a:lstStyle/>
          <a:p>
            <a:fld id="{58C73D3D-5D8B-C945-AD7A-9665419A7C3F}" type="datetimeFigureOut">
              <a:rPr lang="en-US" smtClean="0"/>
              <a:t>10/10/24</a:t>
            </a:fld>
            <a:endParaRPr lang="en-US"/>
          </a:p>
        </p:txBody>
      </p:sp>
      <p:sp>
        <p:nvSpPr>
          <p:cNvPr id="5" name="Footer Placeholder 4">
            <a:extLst>
              <a:ext uri="{FF2B5EF4-FFF2-40B4-BE49-F238E27FC236}">
                <a16:creationId xmlns:a16="http://schemas.microsoft.com/office/drawing/2014/main" id="{119CB1DA-7EFC-ECE2-23C4-80FA6341FE9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0C8B6B0-FAD1-7CA8-78A4-F216D1B2437C}"/>
              </a:ext>
            </a:extLst>
          </p:cNvPr>
          <p:cNvSpPr>
            <a:spLocks noGrp="1"/>
          </p:cNvSpPr>
          <p:nvPr>
            <p:ph type="sldNum" sz="quarter" idx="12"/>
          </p:nvPr>
        </p:nvSpPr>
        <p:spPr/>
        <p:txBody>
          <a:bodyPr/>
          <a:lstStyle/>
          <a:p>
            <a:fld id="{820A00FB-7AB9-794E-8F93-21ED628BF8EA}" type="slidenum">
              <a:rPr lang="en-US" smtClean="0"/>
              <a:t>‹#›</a:t>
            </a:fld>
            <a:endParaRPr lang="en-US"/>
          </a:p>
        </p:txBody>
      </p:sp>
    </p:spTree>
    <p:extLst>
      <p:ext uri="{BB962C8B-B14F-4D97-AF65-F5344CB8AC3E}">
        <p14:creationId xmlns:p14="http://schemas.microsoft.com/office/powerpoint/2010/main" val="38421624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11137-6178-6DBB-C088-FE89EE04428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C80035A-CDD9-A970-FBEF-FBBE067EE06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67D358E-C6CD-8ED4-3FB3-3128BF9C794A}"/>
              </a:ext>
            </a:extLst>
          </p:cNvPr>
          <p:cNvSpPr>
            <a:spLocks noGrp="1"/>
          </p:cNvSpPr>
          <p:nvPr>
            <p:ph type="dt" sz="half" idx="10"/>
          </p:nvPr>
        </p:nvSpPr>
        <p:spPr/>
        <p:txBody>
          <a:bodyPr/>
          <a:lstStyle/>
          <a:p>
            <a:fld id="{58C73D3D-5D8B-C945-AD7A-9665419A7C3F}" type="datetimeFigureOut">
              <a:rPr lang="en-US" smtClean="0"/>
              <a:t>10/10/24</a:t>
            </a:fld>
            <a:endParaRPr lang="en-US"/>
          </a:p>
        </p:txBody>
      </p:sp>
      <p:sp>
        <p:nvSpPr>
          <p:cNvPr id="5" name="Footer Placeholder 4">
            <a:extLst>
              <a:ext uri="{FF2B5EF4-FFF2-40B4-BE49-F238E27FC236}">
                <a16:creationId xmlns:a16="http://schemas.microsoft.com/office/drawing/2014/main" id="{F93CE6F8-0115-B340-2938-D48935A7127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82157A9-C2C6-5795-EE96-D437B46EB2FC}"/>
              </a:ext>
            </a:extLst>
          </p:cNvPr>
          <p:cNvSpPr>
            <a:spLocks noGrp="1"/>
          </p:cNvSpPr>
          <p:nvPr>
            <p:ph type="sldNum" sz="quarter" idx="12"/>
          </p:nvPr>
        </p:nvSpPr>
        <p:spPr/>
        <p:txBody>
          <a:bodyPr/>
          <a:lstStyle/>
          <a:p>
            <a:fld id="{820A00FB-7AB9-794E-8F93-21ED628BF8EA}" type="slidenum">
              <a:rPr lang="en-US" smtClean="0"/>
              <a:t>‹#›</a:t>
            </a:fld>
            <a:endParaRPr lang="en-US"/>
          </a:p>
        </p:txBody>
      </p:sp>
    </p:spTree>
    <p:extLst>
      <p:ext uri="{BB962C8B-B14F-4D97-AF65-F5344CB8AC3E}">
        <p14:creationId xmlns:p14="http://schemas.microsoft.com/office/powerpoint/2010/main" val="28383897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00F8EF-545A-B7EB-7890-4F1E50296F3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2E499E7-C443-5CE9-70DA-B82DBCB7BC5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1801608-B1C3-35AE-7306-BFF44B53BE2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297C921-9281-CEC5-C4E4-E4299A2966D2}"/>
              </a:ext>
            </a:extLst>
          </p:cNvPr>
          <p:cNvSpPr>
            <a:spLocks noGrp="1"/>
          </p:cNvSpPr>
          <p:nvPr>
            <p:ph type="dt" sz="half" idx="10"/>
          </p:nvPr>
        </p:nvSpPr>
        <p:spPr/>
        <p:txBody>
          <a:bodyPr/>
          <a:lstStyle/>
          <a:p>
            <a:fld id="{58C73D3D-5D8B-C945-AD7A-9665419A7C3F}" type="datetimeFigureOut">
              <a:rPr lang="en-US" smtClean="0"/>
              <a:t>10/10/24</a:t>
            </a:fld>
            <a:endParaRPr lang="en-US"/>
          </a:p>
        </p:txBody>
      </p:sp>
      <p:sp>
        <p:nvSpPr>
          <p:cNvPr id="6" name="Footer Placeholder 5">
            <a:extLst>
              <a:ext uri="{FF2B5EF4-FFF2-40B4-BE49-F238E27FC236}">
                <a16:creationId xmlns:a16="http://schemas.microsoft.com/office/drawing/2014/main" id="{029AFBD3-ADC2-6227-9723-730D92C9D06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C391D0E-C9B2-742D-D70E-DCD8DB8E1208}"/>
              </a:ext>
            </a:extLst>
          </p:cNvPr>
          <p:cNvSpPr>
            <a:spLocks noGrp="1"/>
          </p:cNvSpPr>
          <p:nvPr>
            <p:ph type="sldNum" sz="quarter" idx="12"/>
          </p:nvPr>
        </p:nvSpPr>
        <p:spPr/>
        <p:txBody>
          <a:bodyPr/>
          <a:lstStyle/>
          <a:p>
            <a:fld id="{820A00FB-7AB9-794E-8F93-21ED628BF8EA}" type="slidenum">
              <a:rPr lang="en-US" smtClean="0"/>
              <a:t>‹#›</a:t>
            </a:fld>
            <a:endParaRPr lang="en-US"/>
          </a:p>
        </p:txBody>
      </p:sp>
    </p:spTree>
    <p:extLst>
      <p:ext uri="{BB962C8B-B14F-4D97-AF65-F5344CB8AC3E}">
        <p14:creationId xmlns:p14="http://schemas.microsoft.com/office/powerpoint/2010/main" val="27959636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046CDC-6789-FF32-3CA0-02585DB1097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9A5A97E-B86F-D8DF-E767-8616D6FB779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F6E48E0-5054-086F-4FFC-D4AC47F6727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03F346D-0796-6501-19BC-DDA99491CAA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2AA787F-85A4-20D7-EA8C-51B2A391CB7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AEFC7BC-FBAA-0AAE-4399-6F36B20245AD}"/>
              </a:ext>
            </a:extLst>
          </p:cNvPr>
          <p:cNvSpPr>
            <a:spLocks noGrp="1"/>
          </p:cNvSpPr>
          <p:nvPr>
            <p:ph type="dt" sz="half" idx="10"/>
          </p:nvPr>
        </p:nvSpPr>
        <p:spPr/>
        <p:txBody>
          <a:bodyPr/>
          <a:lstStyle/>
          <a:p>
            <a:fld id="{58C73D3D-5D8B-C945-AD7A-9665419A7C3F}" type="datetimeFigureOut">
              <a:rPr lang="en-US" smtClean="0"/>
              <a:t>10/10/24</a:t>
            </a:fld>
            <a:endParaRPr lang="en-US"/>
          </a:p>
        </p:txBody>
      </p:sp>
      <p:sp>
        <p:nvSpPr>
          <p:cNvPr id="8" name="Footer Placeholder 7">
            <a:extLst>
              <a:ext uri="{FF2B5EF4-FFF2-40B4-BE49-F238E27FC236}">
                <a16:creationId xmlns:a16="http://schemas.microsoft.com/office/drawing/2014/main" id="{B015EF69-FF40-DD9F-D5A3-13AE3431061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4EF1A6A-C403-DDDD-1CD4-0A987324ED53}"/>
              </a:ext>
            </a:extLst>
          </p:cNvPr>
          <p:cNvSpPr>
            <a:spLocks noGrp="1"/>
          </p:cNvSpPr>
          <p:nvPr>
            <p:ph type="sldNum" sz="quarter" idx="12"/>
          </p:nvPr>
        </p:nvSpPr>
        <p:spPr/>
        <p:txBody>
          <a:bodyPr/>
          <a:lstStyle/>
          <a:p>
            <a:fld id="{820A00FB-7AB9-794E-8F93-21ED628BF8EA}" type="slidenum">
              <a:rPr lang="en-US" smtClean="0"/>
              <a:t>‹#›</a:t>
            </a:fld>
            <a:endParaRPr lang="en-US"/>
          </a:p>
        </p:txBody>
      </p:sp>
    </p:spTree>
    <p:extLst>
      <p:ext uri="{BB962C8B-B14F-4D97-AF65-F5344CB8AC3E}">
        <p14:creationId xmlns:p14="http://schemas.microsoft.com/office/powerpoint/2010/main" val="25752047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2C26B3-3804-E7B3-3B92-78DE012684A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A730C52-9D13-0847-8930-D435C70183BD}"/>
              </a:ext>
            </a:extLst>
          </p:cNvPr>
          <p:cNvSpPr>
            <a:spLocks noGrp="1"/>
          </p:cNvSpPr>
          <p:nvPr>
            <p:ph type="dt" sz="half" idx="10"/>
          </p:nvPr>
        </p:nvSpPr>
        <p:spPr/>
        <p:txBody>
          <a:bodyPr/>
          <a:lstStyle/>
          <a:p>
            <a:fld id="{58C73D3D-5D8B-C945-AD7A-9665419A7C3F}" type="datetimeFigureOut">
              <a:rPr lang="en-US" smtClean="0"/>
              <a:t>10/10/24</a:t>
            </a:fld>
            <a:endParaRPr lang="en-US"/>
          </a:p>
        </p:txBody>
      </p:sp>
      <p:sp>
        <p:nvSpPr>
          <p:cNvPr id="4" name="Footer Placeholder 3">
            <a:extLst>
              <a:ext uri="{FF2B5EF4-FFF2-40B4-BE49-F238E27FC236}">
                <a16:creationId xmlns:a16="http://schemas.microsoft.com/office/drawing/2014/main" id="{4FDFA2C4-A8C8-32EC-6EB1-986FF56994D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7CF24A0-B09F-3C0B-C443-82679100D610}"/>
              </a:ext>
            </a:extLst>
          </p:cNvPr>
          <p:cNvSpPr>
            <a:spLocks noGrp="1"/>
          </p:cNvSpPr>
          <p:nvPr>
            <p:ph type="sldNum" sz="quarter" idx="12"/>
          </p:nvPr>
        </p:nvSpPr>
        <p:spPr/>
        <p:txBody>
          <a:bodyPr/>
          <a:lstStyle/>
          <a:p>
            <a:fld id="{820A00FB-7AB9-794E-8F93-21ED628BF8EA}" type="slidenum">
              <a:rPr lang="en-US" smtClean="0"/>
              <a:t>‹#›</a:t>
            </a:fld>
            <a:endParaRPr lang="en-US"/>
          </a:p>
        </p:txBody>
      </p:sp>
    </p:spTree>
    <p:extLst>
      <p:ext uri="{BB962C8B-B14F-4D97-AF65-F5344CB8AC3E}">
        <p14:creationId xmlns:p14="http://schemas.microsoft.com/office/powerpoint/2010/main" val="26110117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CA0262F-0E93-7E41-72CF-CC3EAF61A24E}"/>
              </a:ext>
            </a:extLst>
          </p:cNvPr>
          <p:cNvSpPr>
            <a:spLocks noGrp="1"/>
          </p:cNvSpPr>
          <p:nvPr>
            <p:ph type="dt" sz="half" idx="10"/>
          </p:nvPr>
        </p:nvSpPr>
        <p:spPr/>
        <p:txBody>
          <a:bodyPr/>
          <a:lstStyle/>
          <a:p>
            <a:fld id="{58C73D3D-5D8B-C945-AD7A-9665419A7C3F}" type="datetimeFigureOut">
              <a:rPr lang="en-US" smtClean="0"/>
              <a:t>10/10/24</a:t>
            </a:fld>
            <a:endParaRPr lang="en-US"/>
          </a:p>
        </p:txBody>
      </p:sp>
      <p:sp>
        <p:nvSpPr>
          <p:cNvPr id="3" name="Footer Placeholder 2">
            <a:extLst>
              <a:ext uri="{FF2B5EF4-FFF2-40B4-BE49-F238E27FC236}">
                <a16:creationId xmlns:a16="http://schemas.microsoft.com/office/drawing/2014/main" id="{F8B6710B-B1FF-E21A-A584-15BCDB23A25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3089A74-0247-D372-4573-C677AE78A2E6}"/>
              </a:ext>
            </a:extLst>
          </p:cNvPr>
          <p:cNvSpPr>
            <a:spLocks noGrp="1"/>
          </p:cNvSpPr>
          <p:nvPr>
            <p:ph type="sldNum" sz="quarter" idx="12"/>
          </p:nvPr>
        </p:nvSpPr>
        <p:spPr/>
        <p:txBody>
          <a:bodyPr/>
          <a:lstStyle/>
          <a:p>
            <a:fld id="{820A00FB-7AB9-794E-8F93-21ED628BF8EA}" type="slidenum">
              <a:rPr lang="en-US" smtClean="0"/>
              <a:t>‹#›</a:t>
            </a:fld>
            <a:endParaRPr lang="en-US"/>
          </a:p>
        </p:txBody>
      </p:sp>
    </p:spTree>
    <p:extLst>
      <p:ext uri="{BB962C8B-B14F-4D97-AF65-F5344CB8AC3E}">
        <p14:creationId xmlns:p14="http://schemas.microsoft.com/office/powerpoint/2010/main" val="26797722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EA0688-698F-7220-55CA-D1D4F24E483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EEAE0F9-2DB2-C10B-2E41-7D142A2BA34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2D97DB5-D3EB-F0E5-1D61-A6394CA81FE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AC89F95-245A-0434-6A9E-37096778D1EB}"/>
              </a:ext>
            </a:extLst>
          </p:cNvPr>
          <p:cNvSpPr>
            <a:spLocks noGrp="1"/>
          </p:cNvSpPr>
          <p:nvPr>
            <p:ph type="dt" sz="half" idx="10"/>
          </p:nvPr>
        </p:nvSpPr>
        <p:spPr/>
        <p:txBody>
          <a:bodyPr/>
          <a:lstStyle/>
          <a:p>
            <a:fld id="{58C73D3D-5D8B-C945-AD7A-9665419A7C3F}" type="datetimeFigureOut">
              <a:rPr lang="en-US" smtClean="0"/>
              <a:t>10/10/24</a:t>
            </a:fld>
            <a:endParaRPr lang="en-US"/>
          </a:p>
        </p:txBody>
      </p:sp>
      <p:sp>
        <p:nvSpPr>
          <p:cNvPr id="6" name="Footer Placeholder 5">
            <a:extLst>
              <a:ext uri="{FF2B5EF4-FFF2-40B4-BE49-F238E27FC236}">
                <a16:creationId xmlns:a16="http://schemas.microsoft.com/office/drawing/2014/main" id="{781B5273-4A7F-1AFA-8F24-4F848FC0EB5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23B8C4D-2D7F-FD00-4A07-DEABE7743AAB}"/>
              </a:ext>
            </a:extLst>
          </p:cNvPr>
          <p:cNvSpPr>
            <a:spLocks noGrp="1"/>
          </p:cNvSpPr>
          <p:nvPr>
            <p:ph type="sldNum" sz="quarter" idx="12"/>
          </p:nvPr>
        </p:nvSpPr>
        <p:spPr/>
        <p:txBody>
          <a:bodyPr/>
          <a:lstStyle/>
          <a:p>
            <a:fld id="{820A00FB-7AB9-794E-8F93-21ED628BF8EA}" type="slidenum">
              <a:rPr lang="en-US" smtClean="0"/>
              <a:t>‹#›</a:t>
            </a:fld>
            <a:endParaRPr lang="en-US"/>
          </a:p>
        </p:txBody>
      </p:sp>
    </p:spTree>
    <p:extLst>
      <p:ext uri="{BB962C8B-B14F-4D97-AF65-F5344CB8AC3E}">
        <p14:creationId xmlns:p14="http://schemas.microsoft.com/office/powerpoint/2010/main" val="13608649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157174-4C00-F804-29B4-297237F4045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8D7FEAB-CBAE-A3B1-699B-13162DB8830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BBACF55-65F0-0D3E-70AF-E96D33AD6D6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17C6923-07F1-69BD-A683-944C9CB5CD77}"/>
              </a:ext>
            </a:extLst>
          </p:cNvPr>
          <p:cNvSpPr>
            <a:spLocks noGrp="1"/>
          </p:cNvSpPr>
          <p:nvPr>
            <p:ph type="dt" sz="half" idx="10"/>
          </p:nvPr>
        </p:nvSpPr>
        <p:spPr/>
        <p:txBody>
          <a:bodyPr/>
          <a:lstStyle/>
          <a:p>
            <a:fld id="{58C73D3D-5D8B-C945-AD7A-9665419A7C3F}" type="datetimeFigureOut">
              <a:rPr lang="en-US" smtClean="0"/>
              <a:t>10/10/24</a:t>
            </a:fld>
            <a:endParaRPr lang="en-US"/>
          </a:p>
        </p:txBody>
      </p:sp>
      <p:sp>
        <p:nvSpPr>
          <p:cNvPr id="6" name="Footer Placeholder 5">
            <a:extLst>
              <a:ext uri="{FF2B5EF4-FFF2-40B4-BE49-F238E27FC236}">
                <a16:creationId xmlns:a16="http://schemas.microsoft.com/office/drawing/2014/main" id="{99C0F8AA-66CD-A080-E392-8E4E411B49F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63ACD9A-A2D5-3AFA-65E5-1BF4C0C1286C}"/>
              </a:ext>
            </a:extLst>
          </p:cNvPr>
          <p:cNvSpPr>
            <a:spLocks noGrp="1"/>
          </p:cNvSpPr>
          <p:nvPr>
            <p:ph type="sldNum" sz="quarter" idx="12"/>
          </p:nvPr>
        </p:nvSpPr>
        <p:spPr/>
        <p:txBody>
          <a:bodyPr/>
          <a:lstStyle/>
          <a:p>
            <a:fld id="{820A00FB-7AB9-794E-8F93-21ED628BF8EA}" type="slidenum">
              <a:rPr lang="en-US" smtClean="0"/>
              <a:t>‹#›</a:t>
            </a:fld>
            <a:endParaRPr lang="en-US"/>
          </a:p>
        </p:txBody>
      </p:sp>
    </p:spTree>
    <p:extLst>
      <p:ext uri="{BB962C8B-B14F-4D97-AF65-F5344CB8AC3E}">
        <p14:creationId xmlns:p14="http://schemas.microsoft.com/office/powerpoint/2010/main" val="12688705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A8D362-7F81-BF76-C8CF-2C3733AE2A8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8D2091F-1AA0-C68C-5A8B-375EEC48191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D3EF810-347E-5CFF-9CBA-97CC8C22D238}"/>
              </a:ext>
            </a:extLst>
          </p:cNvPr>
          <p:cNvSpPr>
            <a:spLocks noGrp="1"/>
          </p:cNvSpPr>
          <p:nvPr>
            <p:ph type="dt" sz="half" idx="10"/>
          </p:nvPr>
        </p:nvSpPr>
        <p:spPr/>
        <p:txBody>
          <a:bodyPr/>
          <a:lstStyle/>
          <a:p>
            <a:fld id="{58C73D3D-5D8B-C945-AD7A-9665419A7C3F}" type="datetimeFigureOut">
              <a:rPr lang="en-US" smtClean="0"/>
              <a:t>10/10/24</a:t>
            </a:fld>
            <a:endParaRPr lang="en-US"/>
          </a:p>
        </p:txBody>
      </p:sp>
      <p:sp>
        <p:nvSpPr>
          <p:cNvPr id="5" name="Footer Placeholder 4">
            <a:extLst>
              <a:ext uri="{FF2B5EF4-FFF2-40B4-BE49-F238E27FC236}">
                <a16:creationId xmlns:a16="http://schemas.microsoft.com/office/drawing/2014/main" id="{E6AC8737-B0BC-464F-4D12-C22A2675726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358CD53-93BF-36F6-7EF8-844EB3782C82}"/>
              </a:ext>
            </a:extLst>
          </p:cNvPr>
          <p:cNvSpPr>
            <a:spLocks noGrp="1"/>
          </p:cNvSpPr>
          <p:nvPr>
            <p:ph type="sldNum" sz="quarter" idx="12"/>
          </p:nvPr>
        </p:nvSpPr>
        <p:spPr/>
        <p:txBody>
          <a:bodyPr/>
          <a:lstStyle/>
          <a:p>
            <a:fld id="{820A00FB-7AB9-794E-8F93-21ED628BF8EA}" type="slidenum">
              <a:rPr lang="en-US" smtClean="0"/>
              <a:t>‹#›</a:t>
            </a:fld>
            <a:endParaRPr lang="en-US"/>
          </a:p>
        </p:txBody>
      </p:sp>
    </p:spTree>
    <p:extLst>
      <p:ext uri="{BB962C8B-B14F-4D97-AF65-F5344CB8AC3E}">
        <p14:creationId xmlns:p14="http://schemas.microsoft.com/office/powerpoint/2010/main" val="19755383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D1BE4A8-DF77-AF54-2065-2902B39AC55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E7173AD-7E3C-8080-B4D8-9FF01054EBD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BA34E86-26A4-D0DD-1DC9-BCFD2FBD5268}"/>
              </a:ext>
            </a:extLst>
          </p:cNvPr>
          <p:cNvSpPr>
            <a:spLocks noGrp="1"/>
          </p:cNvSpPr>
          <p:nvPr>
            <p:ph type="dt" sz="half" idx="10"/>
          </p:nvPr>
        </p:nvSpPr>
        <p:spPr/>
        <p:txBody>
          <a:bodyPr/>
          <a:lstStyle/>
          <a:p>
            <a:fld id="{58C73D3D-5D8B-C945-AD7A-9665419A7C3F}" type="datetimeFigureOut">
              <a:rPr lang="en-US" smtClean="0"/>
              <a:t>10/10/24</a:t>
            </a:fld>
            <a:endParaRPr lang="en-US"/>
          </a:p>
        </p:txBody>
      </p:sp>
      <p:sp>
        <p:nvSpPr>
          <p:cNvPr id="5" name="Footer Placeholder 4">
            <a:extLst>
              <a:ext uri="{FF2B5EF4-FFF2-40B4-BE49-F238E27FC236}">
                <a16:creationId xmlns:a16="http://schemas.microsoft.com/office/drawing/2014/main" id="{7DF2FEDE-FE64-8081-CE0E-9FB11A8A333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856AE6F-D644-6875-829D-930EE7F148A0}"/>
              </a:ext>
            </a:extLst>
          </p:cNvPr>
          <p:cNvSpPr>
            <a:spLocks noGrp="1"/>
          </p:cNvSpPr>
          <p:nvPr>
            <p:ph type="sldNum" sz="quarter" idx="12"/>
          </p:nvPr>
        </p:nvSpPr>
        <p:spPr/>
        <p:txBody>
          <a:bodyPr/>
          <a:lstStyle/>
          <a:p>
            <a:fld id="{820A00FB-7AB9-794E-8F93-21ED628BF8EA}" type="slidenum">
              <a:rPr lang="en-US" smtClean="0"/>
              <a:t>‹#›</a:t>
            </a:fld>
            <a:endParaRPr lang="en-US"/>
          </a:p>
        </p:txBody>
      </p:sp>
    </p:spTree>
    <p:extLst>
      <p:ext uri="{BB962C8B-B14F-4D97-AF65-F5344CB8AC3E}">
        <p14:creationId xmlns:p14="http://schemas.microsoft.com/office/powerpoint/2010/main" val="40543680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B4F8EA3-0678-0EB3-E63D-4BFBB48B945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67A29FB-933F-187E-E825-6424E7777C7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9807FC7-062B-BD80-56AB-FEA5BF4CFEC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8C73D3D-5D8B-C945-AD7A-9665419A7C3F}" type="datetimeFigureOut">
              <a:rPr lang="en-US" smtClean="0"/>
              <a:t>10/10/24</a:t>
            </a:fld>
            <a:endParaRPr lang="en-US"/>
          </a:p>
        </p:txBody>
      </p:sp>
      <p:sp>
        <p:nvSpPr>
          <p:cNvPr id="5" name="Footer Placeholder 4">
            <a:extLst>
              <a:ext uri="{FF2B5EF4-FFF2-40B4-BE49-F238E27FC236}">
                <a16:creationId xmlns:a16="http://schemas.microsoft.com/office/drawing/2014/main" id="{AC39BD25-23E6-4D92-6C08-2B348713F76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2CC9B6CF-BFCC-1782-B9B2-5561C002E03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20A00FB-7AB9-794E-8F93-21ED628BF8EA}" type="slidenum">
              <a:rPr lang="en-US" smtClean="0"/>
              <a:t>‹#›</a:t>
            </a:fld>
            <a:endParaRPr lang="en-US"/>
          </a:p>
        </p:txBody>
      </p:sp>
    </p:spTree>
    <p:extLst>
      <p:ext uri="{BB962C8B-B14F-4D97-AF65-F5344CB8AC3E}">
        <p14:creationId xmlns:p14="http://schemas.microsoft.com/office/powerpoint/2010/main" val="89914778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hyperlink" Target="https://plus.pearson.com/products/38bfda0e-08b5-4b34-9a14-38c88560fefb/pages/urn:pearson:entity:052795d0-0514-4d73-8137-b67962a033af?userPreferredType=read"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hyperlink" Target="https://plus.pearson.com/products/38bfda0e-08b5-4b34-9a14-38c88560fefb/pages/urn:pearson:entity:3f4b0cd3-a27f-444a-be72-ded63de55956?userPreferredType=read" TargetMode="Externa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hyperlink" Target="https://plus.pearson.com/products/38bfda0e-08b5-4b34-9a14-38c88560fefb/pages/urn:pearson:entity:3f4b0cd3-a27f-444a-be72-ded63de55956?userPreferredType=read" TargetMode="External"/><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hyperlink" Target="https://plus.pearson.com/products/38bfda0e-08b5-4b34-9a14-38c88560fefb/pages/urn:pearson:entity:3f4b0cd3-a27f-444a-be72-ded63de55956?userPreferredType=read" TargetMode="Externa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hyperlink" Target="https://plus.pearson.com/products/38bfda0e-08b5-4b34-9a14-38c88560fefb/pages/urn:pearson:entity:27bf4f95-c108-41bc-b8fa-3245a03bc8d1?userPreferredType=read" TargetMode="Externa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hyperlink" Target="https://plus.pearson.com/products/38bfda0e-08b5-4b34-9a14-38c88560fefb/pages/urn:pearson:entity:7ad22a69-883d-4894-9b55-67158c399fed?userPreferredType=read" TargetMode="External"/><Relationship Id="rId1" Type="http://schemas.openxmlformats.org/officeDocument/2006/relationships/slideLayout" Target="../slideLayouts/slideLayout2.xml"/><Relationship Id="rId5" Type="http://schemas.openxmlformats.org/officeDocument/2006/relationships/image" Target="../media/image36.png"/><Relationship Id="rId4" Type="http://schemas.openxmlformats.org/officeDocument/2006/relationships/image" Target="../media/image35.png"/></Relationships>
</file>

<file path=ppt/slides/_rels/slide40.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 Id="rId5" Type="http://schemas.openxmlformats.org/officeDocument/2006/relationships/image" Target="../media/image42.png"/><Relationship Id="rId4" Type="http://schemas.openxmlformats.org/officeDocument/2006/relationships/image" Target="../media/image41.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5E7D9B-EE36-3E21-CA75-0CE4E325C93C}"/>
              </a:ext>
            </a:extLst>
          </p:cNvPr>
          <p:cNvSpPr>
            <a:spLocks noGrp="1"/>
          </p:cNvSpPr>
          <p:nvPr>
            <p:ph type="ctrTitle"/>
          </p:nvPr>
        </p:nvSpPr>
        <p:spPr>
          <a:xfrm>
            <a:off x="1524000" y="1122363"/>
            <a:ext cx="9144000" cy="2975184"/>
          </a:xfrm>
        </p:spPr>
        <p:txBody>
          <a:bodyPr>
            <a:normAutofit fontScale="90000"/>
          </a:bodyPr>
          <a:lstStyle/>
          <a:p>
            <a:br>
              <a:rPr lang="en-US" dirty="0"/>
            </a:br>
            <a:br>
              <a:rPr lang="en-US" dirty="0"/>
            </a:br>
            <a:br>
              <a:rPr lang="en-US" dirty="0"/>
            </a:br>
            <a:br>
              <a:rPr lang="en-US" dirty="0"/>
            </a:br>
            <a:br>
              <a:rPr lang="en-US" dirty="0"/>
            </a:br>
            <a:r>
              <a:rPr lang="en-US" dirty="0"/>
              <a:t>Week 7</a:t>
            </a:r>
            <a:br>
              <a:rPr lang="en-US" dirty="0"/>
            </a:br>
            <a:r>
              <a:rPr lang="en-US" sz="4400" dirty="0"/>
              <a:t>Classes: A Deeper Look</a:t>
            </a:r>
          </a:p>
        </p:txBody>
      </p:sp>
      <p:sp>
        <p:nvSpPr>
          <p:cNvPr id="3" name="Subtitle 2">
            <a:extLst>
              <a:ext uri="{FF2B5EF4-FFF2-40B4-BE49-F238E27FC236}">
                <a16:creationId xmlns:a16="http://schemas.microsoft.com/office/drawing/2014/main" id="{39BF1D26-46C3-12F2-BE0C-D63583E2D9CE}"/>
              </a:ext>
            </a:extLst>
          </p:cNvPr>
          <p:cNvSpPr>
            <a:spLocks noGrp="1"/>
          </p:cNvSpPr>
          <p:nvPr>
            <p:ph type="subTitle" idx="1"/>
          </p:nvPr>
        </p:nvSpPr>
        <p:spPr>
          <a:xfrm>
            <a:off x="1524000" y="4079875"/>
            <a:ext cx="9144000" cy="1655762"/>
          </a:xfrm>
        </p:spPr>
        <p:txBody>
          <a:bodyPr/>
          <a:lstStyle/>
          <a:p>
            <a:r>
              <a:rPr lang="en-US" dirty="0"/>
              <a:t>CS 331</a:t>
            </a:r>
          </a:p>
          <a:p>
            <a:r>
              <a:rPr lang="en-US" dirty="0"/>
              <a:t>An introduction to C++ and Object-Oriented Programming</a:t>
            </a:r>
          </a:p>
          <a:p>
            <a:r>
              <a:rPr lang="en-US" dirty="0"/>
              <a:t>MD Romael Haque</a:t>
            </a:r>
          </a:p>
          <a:p>
            <a:endParaRPr lang="en-US" dirty="0"/>
          </a:p>
        </p:txBody>
      </p:sp>
    </p:spTree>
    <p:extLst>
      <p:ext uri="{BB962C8B-B14F-4D97-AF65-F5344CB8AC3E}">
        <p14:creationId xmlns:p14="http://schemas.microsoft.com/office/powerpoint/2010/main" val="6248387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4DCAC1-9E0A-4932-6E1F-6B6F38D1C261}"/>
              </a:ext>
            </a:extLst>
          </p:cNvPr>
          <p:cNvSpPr>
            <a:spLocks noGrp="1"/>
          </p:cNvSpPr>
          <p:nvPr>
            <p:ph type="title"/>
          </p:nvPr>
        </p:nvSpPr>
        <p:spPr/>
        <p:txBody>
          <a:bodyPr/>
          <a:lstStyle/>
          <a:p>
            <a:r>
              <a:rPr lang="en-US" dirty="0"/>
              <a:t>Constructors</a:t>
            </a:r>
          </a:p>
        </p:txBody>
      </p:sp>
      <p:sp>
        <p:nvSpPr>
          <p:cNvPr id="3" name="Content Placeholder 2">
            <a:extLst>
              <a:ext uri="{FF2B5EF4-FFF2-40B4-BE49-F238E27FC236}">
                <a16:creationId xmlns:a16="http://schemas.microsoft.com/office/drawing/2014/main" id="{5D669CE0-7DED-B25F-CB2F-ECA083DEF0AE}"/>
              </a:ext>
            </a:extLst>
          </p:cNvPr>
          <p:cNvSpPr>
            <a:spLocks noGrp="1"/>
          </p:cNvSpPr>
          <p:nvPr>
            <p:ph idx="1"/>
          </p:nvPr>
        </p:nvSpPr>
        <p:spPr/>
        <p:txBody>
          <a:bodyPr/>
          <a:lstStyle/>
          <a:p>
            <a:r>
              <a:rPr lang="en-US" b="0" i="0" u="none" strike="noStrike" dirty="0">
                <a:solidFill>
                  <a:srgbClr val="000000"/>
                </a:solidFill>
                <a:effectLst/>
                <a:latin typeface="-webkit-standard"/>
              </a:rPr>
              <a:t>A constructor is a member function that is automatically called when a class object is created.</a:t>
            </a:r>
          </a:p>
          <a:p>
            <a:r>
              <a:rPr lang="en-US" b="0" i="0" u="none" strike="noStrike" dirty="0">
                <a:solidFill>
                  <a:srgbClr val="000000"/>
                </a:solidFill>
                <a:effectLst/>
                <a:latin typeface="-webkit-standard"/>
              </a:rPr>
              <a:t>Most often programmers use a constructor to initialize an object’s member variables. However, it can do anything a normal function can do.</a:t>
            </a:r>
          </a:p>
          <a:p>
            <a:r>
              <a:rPr lang="en-US" dirty="0"/>
              <a:t>A constructor looks like a regular function except that its name must be the same as the name of the class it is a part of. This is how the compiler knows that a particular member function is a constructor. </a:t>
            </a:r>
          </a:p>
        </p:txBody>
      </p:sp>
    </p:spTree>
    <p:extLst>
      <p:ext uri="{BB962C8B-B14F-4D97-AF65-F5344CB8AC3E}">
        <p14:creationId xmlns:p14="http://schemas.microsoft.com/office/powerpoint/2010/main" val="27718242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4DCAC1-9E0A-4932-6E1F-6B6F38D1C261}"/>
              </a:ext>
            </a:extLst>
          </p:cNvPr>
          <p:cNvSpPr>
            <a:spLocks noGrp="1"/>
          </p:cNvSpPr>
          <p:nvPr>
            <p:ph type="title"/>
          </p:nvPr>
        </p:nvSpPr>
        <p:spPr/>
        <p:txBody>
          <a:bodyPr/>
          <a:lstStyle/>
          <a:p>
            <a:r>
              <a:rPr lang="en-US" dirty="0"/>
              <a:t>Constructors</a:t>
            </a:r>
          </a:p>
        </p:txBody>
      </p:sp>
      <p:pic>
        <p:nvPicPr>
          <p:cNvPr id="6" name="Content Placeholder 5">
            <a:extLst>
              <a:ext uri="{FF2B5EF4-FFF2-40B4-BE49-F238E27FC236}">
                <a16:creationId xmlns:a16="http://schemas.microsoft.com/office/drawing/2014/main" id="{91126D9A-6D28-3189-12C0-7452CF3BDBBF}"/>
              </a:ext>
            </a:extLst>
          </p:cNvPr>
          <p:cNvPicPr>
            <a:picLocks noGrp="1" noChangeAspect="1"/>
          </p:cNvPicPr>
          <p:nvPr>
            <p:ph idx="1"/>
          </p:nvPr>
        </p:nvPicPr>
        <p:blipFill>
          <a:blip r:embed="rId2"/>
          <a:srcRect t="9579"/>
          <a:stretch/>
        </p:blipFill>
        <p:spPr>
          <a:xfrm>
            <a:off x="4359127" y="243412"/>
            <a:ext cx="4758994" cy="6371175"/>
          </a:xfrm>
          <a:prstGeom prst="rect">
            <a:avLst/>
          </a:prstGeom>
        </p:spPr>
      </p:pic>
    </p:spTree>
    <p:extLst>
      <p:ext uri="{BB962C8B-B14F-4D97-AF65-F5344CB8AC3E}">
        <p14:creationId xmlns:p14="http://schemas.microsoft.com/office/powerpoint/2010/main" val="36602267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0E7F7C-6021-199C-1976-FC8250FA50FF}"/>
              </a:ext>
            </a:extLst>
          </p:cNvPr>
          <p:cNvSpPr>
            <a:spLocks noGrp="1"/>
          </p:cNvSpPr>
          <p:nvPr>
            <p:ph type="title"/>
          </p:nvPr>
        </p:nvSpPr>
        <p:spPr/>
        <p:txBody>
          <a:bodyPr/>
          <a:lstStyle/>
          <a:p>
            <a:r>
              <a:rPr lang="en-US" dirty="0"/>
              <a:t>Constructors</a:t>
            </a:r>
          </a:p>
        </p:txBody>
      </p:sp>
      <p:sp>
        <p:nvSpPr>
          <p:cNvPr id="3" name="Content Placeholder 2">
            <a:extLst>
              <a:ext uri="{FF2B5EF4-FFF2-40B4-BE49-F238E27FC236}">
                <a16:creationId xmlns:a16="http://schemas.microsoft.com/office/drawing/2014/main" id="{8D692B83-52FC-2139-842C-E89877AFC7F8}"/>
              </a:ext>
            </a:extLst>
          </p:cNvPr>
          <p:cNvSpPr>
            <a:spLocks noGrp="1"/>
          </p:cNvSpPr>
          <p:nvPr>
            <p:ph idx="1"/>
          </p:nvPr>
        </p:nvSpPr>
        <p:spPr/>
        <p:txBody>
          <a:bodyPr>
            <a:normAutofit/>
          </a:bodyPr>
          <a:lstStyle/>
          <a:p>
            <a:r>
              <a:rPr lang="en-US" dirty="0"/>
              <a:t>In the example, we defined the constructor as an inline function inside the class declaration. </a:t>
            </a:r>
          </a:p>
          <a:p>
            <a:r>
              <a:rPr lang="en-US" dirty="0"/>
              <a:t>However, like any other class member function, we could have just put its prototype in the class declaration and then defined it outside the class. </a:t>
            </a:r>
          </a:p>
          <a:p>
            <a:r>
              <a:rPr lang="en-US" dirty="0"/>
              <a:t>In that case, we would need to add the name of the class the function belongs to and the scope resolution operator in front of the function name. </a:t>
            </a:r>
          </a:p>
          <a:p>
            <a:r>
              <a:rPr lang="en-US" dirty="0"/>
              <a:t>But the name of the constructor function is the </a:t>
            </a:r>
            <a:r>
              <a:rPr lang="en-US" i="1" dirty="0"/>
              <a:t>same</a:t>
            </a:r>
            <a:r>
              <a:rPr lang="en-US" dirty="0"/>
              <a:t> as the class name, so the name would appear twice. </a:t>
            </a:r>
          </a:p>
        </p:txBody>
      </p:sp>
      <p:pic>
        <p:nvPicPr>
          <p:cNvPr id="4" name="Picture 3">
            <a:extLst>
              <a:ext uri="{FF2B5EF4-FFF2-40B4-BE49-F238E27FC236}">
                <a16:creationId xmlns:a16="http://schemas.microsoft.com/office/drawing/2014/main" id="{363B9CFD-4E0D-53FD-9800-B8E1E76F6F86}"/>
              </a:ext>
            </a:extLst>
          </p:cNvPr>
          <p:cNvPicPr>
            <a:picLocks noChangeAspect="1"/>
          </p:cNvPicPr>
          <p:nvPr/>
        </p:nvPicPr>
        <p:blipFill>
          <a:blip r:embed="rId2"/>
          <a:stretch>
            <a:fillRect/>
          </a:stretch>
        </p:blipFill>
        <p:spPr>
          <a:xfrm>
            <a:off x="7566443" y="5822156"/>
            <a:ext cx="4063829" cy="979487"/>
          </a:xfrm>
          <a:prstGeom prst="rect">
            <a:avLst/>
          </a:prstGeom>
        </p:spPr>
      </p:pic>
    </p:spTree>
    <p:extLst>
      <p:ext uri="{BB962C8B-B14F-4D97-AF65-F5344CB8AC3E}">
        <p14:creationId xmlns:p14="http://schemas.microsoft.com/office/powerpoint/2010/main" val="7745710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D3E386-78EE-34E7-B7E3-864B67B9224B}"/>
              </a:ext>
            </a:extLst>
          </p:cNvPr>
          <p:cNvSpPr>
            <a:spLocks noGrp="1"/>
          </p:cNvSpPr>
          <p:nvPr>
            <p:ph type="title"/>
          </p:nvPr>
        </p:nvSpPr>
        <p:spPr/>
        <p:txBody>
          <a:bodyPr/>
          <a:lstStyle/>
          <a:p>
            <a:r>
              <a:rPr lang="en-US" dirty="0"/>
              <a:t>Example</a:t>
            </a:r>
          </a:p>
        </p:txBody>
      </p:sp>
      <p:sp>
        <p:nvSpPr>
          <p:cNvPr id="3" name="Content Placeholder 2">
            <a:extLst>
              <a:ext uri="{FF2B5EF4-FFF2-40B4-BE49-F238E27FC236}">
                <a16:creationId xmlns:a16="http://schemas.microsoft.com/office/drawing/2014/main" id="{F5B235A6-0223-4895-AAF5-75210F38B8A4}"/>
              </a:ext>
            </a:extLst>
          </p:cNvPr>
          <p:cNvSpPr>
            <a:spLocks noGrp="1"/>
          </p:cNvSpPr>
          <p:nvPr>
            <p:ph idx="1"/>
          </p:nvPr>
        </p:nvSpPr>
        <p:spPr>
          <a:xfrm>
            <a:off x="838200" y="1825625"/>
            <a:ext cx="5006888" cy="4351338"/>
          </a:xfrm>
        </p:spPr>
        <p:txBody>
          <a:bodyPr/>
          <a:lstStyle/>
          <a:p>
            <a:r>
              <a:rPr lang="en-US" dirty="0"/>
              <a:t>A constructor that initializes an object’s member data. </a:t>
            </a:r>
          </a:p>
          <a:p>
            <a:r>
              <a:rPr lang="en-US" dirty="0"/>
              <a:t>The constructor is defined outside of the class.</a:t>
            </a:r>
          </a:p>
        </p:txBody>
      </p:sp>
      <p:pic>
        <p:nvPicPr>
          <p:cNvPr id="4" name="Picture 3">
            <a:extLst>
              <a:ext uri="{FF2B5EF4-FFF2-40B4-BE49-F238E27FC236}">
                <a16:creationId xmlns:a16="http://schemas.microsoft.com/office/drawing/2014/main" id="{FBC911DE-2626-2D08-6227-8F6620350DDA}"/>
              </a:ext>
            </a:extLst>
          </p:cNvPr>
          <p:cNvPicPr>
            <a:picLocks noChangeAspect="1"/>
          </p:cNvPicPr>
          <p:nvPr/>
        </p:nvPicPr>
        <p:blipFill>
          <a:blip r:embed="rId2"/>
          <a:stretch>
            <a:fillRect/>
          </a:stretch>
        </p:blipFill>
        <p:spPr>
          <a:xfrm>
            <a:off x="6567817" y="1095105"/>
            <a:ext cx="4201276" cy="5004998"/>
          </a:xfrm>
          <a:prstGeom prst="rect">
            <a:avLst/>
          </a:prstGeom>
        </p:spPr>
      </p:pic>
    </p:spTree>
    <p:extLst>
      <p:ext uri="{BB962C8B-B14F-4D97-AF65-F5344CB8AC3E}">
        <p14:creationId xmlns:p14="http://schemas.microsoft.com/office/powerpoint/2010/main" val="33014928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4DCAC1-9E0A-4932-6E1F-6B6F38D1C261}"/>
              </a:ext>
            </a:extLst>
          </p:cNvPr>
          <p:cNvSpPr>
            <a:spLocks noGrp="1"/>
          </p:cNvSpPr>
          <p:nvPr>
            <p:ph type="title"/>
          </p:nvPr>
        </p:nvSpPr>
        <p:spPr/>
        <p:txBody>
          <a:bodyPr/>
          <a:lstStyle/>
          <a:p>
            <a:r>
              <a:rPr lang="en-US" dirty="0"/>
              <a:t>Overloading Constructors</a:t>
            </a:r>
          </a:p>
        </p:txBody>
      </p:sp>
      <p:sp>
        <p:nvSpPr>
          <p:cNvPr id="4" name="Content Placeholder 3">
            <a:extLst>
              <a:ext uri="{FF2B5EF4-FFF2-40B4-BE49-F238E27FC236}">
                <a16:creationId xmlns:a16="http://schemas.microsoft.com/office/drawing/2014/main" id="{DBA7502F-16BB-8080-9140-BC19EFA69118}"/>
              </a:ext>
            </a:extLst>
          </p:cNvPr>
          <p:cNvSpPr>
            <a:spLocks noGrp="1"/>
          </p:cNvSpPr>
          <p:nvPr>
            <p:ph idx="1"/>
          </p:nvPr>
        </p:nvSpPr>
        <p:spPr/>
        <p:txBody>
          <a:bodyPr/>
          <a:lstStyle/>
          <a:p>
            <a:r>
              <a:rPr lang="en-US" dirty="0">
                <a:solidFill>
                  <a:srgbClr val="000000"/>
                </a:solidFill>
              </a:rPr>
              <a:t>C</a:t>
            </a:r>
            <a:r>
              <a:rPr lang="en-US" b="0" i="0" u="none" strike="noStrike" dirty="0">
                <a:solidFill>
                  <a:srgbClr val="000000"/>
                </a:solidFill>
                <a:effectLst/>
              </a:rPr>
              <a:t>lass member functions may be overloaded, including the constructor. One constructor might take an int argument, for example, while another constructor takes a double. There could even be a third constructor taking two integers. As long as each constructor has a different list of parameters, creating a unique signature, the compiler can tell them apart.</a:t>
            </a:r>
          </a:p>
          <a:p>
            <a:endParaRPr lang="en-US" dirty="0"/>
          </a:p>
        </p:txBody>
      </p:sp>
      <p:pic>
        <p:nvPicPr>
          <p:cNvPr id="5" name="Picture 4">
            <a:extLst>
              <a:ext uri="{FF2B5EF4-FFF2-40B4-BE49-F238E27FC236}">
                <a16:creationId xmlns:a16="http://schemas.microsoft.com/office/drawing/2014/main" id="{168F54EC-A8F3-8B46-47D4-CB38E57803C4}"/>
              </a:ext>
            </a:extLst>
          </p:cNvPr>
          <p:cNvPicPr>
            <a:picLocks noChangeAspect="1"/>
          </p:cNvPicPr>
          <p:nvPr/>
        </p:nvPicPr>
        <p:blipFill>
          <a:blip r:embed="rId2"/>
          <a:stretch>
            <a:fillRect/>
          </a:stretch>
        </p:blipFill>
        <p:spPr>
          <a:xfrm>
            <a:off x="3814459" y="4342322"/>
            <a:ext cx="4563081" cy="1834641"/>
          </a:xfrm>
          <a:prstGeom prst="rect">
            <a:avLst/>
          </a:prstGeom>
        </p:spPr>
      </p:pic>
    </p:spTree>
    <p:extLst>
      <p:ext uri="{BB962C8B-B14F-4D97-AF65-F5344CB8AC3E}">
        <p14:creationId xmlns:p14="http://schemas.microsoft.com/office/powerpoint/2010/main" val="26060763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9D9E56-BFC8-9753-D9AD-90D8F44BCFB0}"/>
              </a:ext>
            </a:extLst>
          </p:cNvPr>
          <p:cNvSpPr>
            <a:spLocks noGrp="1"/>
          </p:cNvSpPr>
          <p:nvPr>
            <p:ph type="title"/>
          </p:nvPr>
        </p:nvSpPr>
        <p:spPr/>
        <p:txBody>
          <a:bodyPr/>
          <a:lstStyle/>
          <a:p>
            <a:r>
              <a:rPr lang="en-US" dirty="0"/>
              <a:t>Default Constructors</a:t>
            </a:r>
          </a:p>
        </p:txBody>
      </p:sp>
      <p:sp>
        <p:nvSpPr>
          <p:cNvPr id="3" name="Content Placeholder 2">
            <a:extLst>
              <a:ext uri="{FF2B5EF4-FFF2-40B4-BE49-F238E27FC236}">
                <a16:creationId xmlns:a16="http://schemas.microsoft.com/office/drawing/2014/main" id="{9186CF70-9D16-C9F3-9D99-BF75A60B026E}"/>
              </a:ext>
            </a:extLst>
          </p:cNvPr>
          <p:cNvSpPr>
            <a:spLocks noGrp="1"/>
          </p:cNvSpPr>
          <p:nvPr>
            <p:ph idx="1"/>
          </p:nvPr>
        </p:nvSpPr>
        <p:spPr/>
        <p:txBody>
          <a:bodyPr/>
          <a:lstStyle/>
          <a:p>
            <a:r>
              <a:rPr lang="en-US" dirty="0"/>
              <a:t>A </a:t>
            </a:r>
            <a:r>
              <a:rPr lang="en-US" b="1" dirty="0"/>
              <a:t>default constructor</a:t>
            </a:r>
            <a:r>
              <a:rPr lang="en-US" dirty="0"/>
              <a:t> is a type of constructor in </a:t>
            </a:r>
            <a:r>
              <a:rPr lang="en-US" dirty="0" err="1"/>
              <a:t>c++</a:t>
            </a:r>
            <a:r>
              <a:rPr lang="en-US" dirty="0"/>
              <a:t> that is automatically provided by the compiler if no constructors are explicitly defined in a class. </a:t>
            </a:r>
          </a:p>
          <a:p>
            <a:r>
              <a:rPr lang="en-US" dirty="0"/>
              <a:t>Its main purpose is to initialize objects without requiring any arguments. </a:t>
            </a:r>
          </a:p>
          <a:p>
            <a:r>
              <a:rPr lang="en-US" dirty="0"/>
              <a:t>In C++, the default constructor initializes all member variables to default values (e.g., 0 for numeric types, false for </a:t>
            </a:r>
            <a:r>
              <a:rPr lang="en-US" dirty="0" err="1"/>
              <a:t>booleans</a:t>
            </a:r>
            <a:r>
              <a:rPr lang="en-US" dirty="0"/>
              <a:t>, etc.).</a:t>
            </a:r>
          </a:p>
          <a:p>
            <a:endParaRPr lang="en-US" dirty="0"/>
          </a:p>
        </p:txBody>
      </p:sp>
    </p:spTree>
    <p:extLst>
      <p:ext uri="{BB962C8B-B14F-4D97-AF65-F5344CB8AC3E}">
        <p14:creationId xmlns:p14="http://schemas.microsoft.com/office/powerpoint/2010/main" val="1707704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6E14BC-603F-7001-6F61-7B6566A70A4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7D25A8-EF52-758D-070D-4B0F8DACD4AA}"/>
              </a:ext>
            </a:extLst>
          </p:cNvPr>
          <p:cNvSpPr>
            <a:spLocks noGrp="1"/>
          </p:cNvSpPr>
          <p:nvPr>
            <p:ph type="title"/>
          </p:nvPr>
        </p:nvSpPr>
        <p:spPr/>
        <p:txBody>
          <a:bodyPr/>
          <a:lstStyle/>
          <a:p>
            <a:r>
              <a:rPr lang="en-US" dirty="0"/>
              <a:t>Default Constructors</a:t>
            </a:r>
          </a:p>
        </p:txBody>
      </p:sp>
      <p:sp>
        <p:nvSpPr>
          <p:cNvPr id="3" name="Content Placeholder 2">
            <a:extLst>
              <a:ext uri="{FF2B5EF4-FFF2-40B4-BE49-F238E27FC236}">
                <a16:creationId xmlns:a16="http://schemas.microsoft.com/office/drawing/2014/main" id="{7A1EDF3B-9D19-C038-DFBC-69340CE32578}"/>
              </a:ext>
            </a:extLst>
          </p:cNvPr>
          <p:cNvSpPr>
            <a:spLocks noGrp="1"/>
          </p:cNvSpPr>
          <p:nvPr>
            <p:ph idx="1"/>
          </p:nvPr>
        </p:nvSpPr>
        <p:spPr/>
        <p:txBody>
          <a:bodyPr/>
          <a:lstStyle/>
          <a:p>
            <a:r>
              <a:rPr lang="en-US" b="1" dirty="0"/>
              <a:t>Characteristics of a Default Constructor:</a:t>
            </a:r>
          </a:p>
          <a:p>
            <a:pPr lvl="1"/>
            <a:r>
              <a:rPr lang="en-US" b="1" dirty="0"/>
              <a:t>No Parameters</a:t>
            </a:r>
            <a:r>
              <a:rPr lang="en-US" dirty="0"/>
              <a:t>: It does not take any arguments.</a:t>
            </a:r>
          </a:p>
          <a:p>
            <a:pPr lvl="1"/>
            <a:r>
              <a:rPr lang="en-US" b="1" dirty="0"/>
              <a:t>Automatic Creation</a:t>
            </a:r>
            <a:r>
              <a:rPr lang="en-US" dirty="0"/>
              <a:t>: If no other constructors (parameterized or otherwise) are defined, the compiler creates a default constructor.</a:t>
            </a:r>
          </a:p>
          <a:p>
            <a:pPr lvl="1"/>
            <a:r>
              <a:rPr lang="en-US" b="1" dirty="0"/>
              <a:t>Implicit and Explicit Declaration</a:t>
            </a:r>
            <a:r>
              <a:rPr lang="en-US" dirty="0"/>
              <a:t>: You can define a default constructor explicitly, but if none is provided, the compiler will implicitly create one.</a:t>
            </a:r>
          </a:p>
          <a:p>
            <a:endParaRPr lang="en-US" dirty="0"/>
          </a:p>
        </p:txBody>
      </p:sp>
      <p:pic>
        <p:nvPicPr>
          <p:cNvPr id="4" name="Picture 3">
            <a:extLst>
              <a:ext uri="{FF2B5EF4-FFF2-40B4-BE49-F238E27FC236}">
                <a16:creationId xmlns:a16="http://schemas.microsoft.com/office/drawing/2014/main" id="{8035D3F7-A0D1-9551-6007-8646AACD8F57}"/>
              </a:ext>
            </a:extLst>
          </p:cNvPr>
          <p:cNvPicPr>
            <a:picLocks noChangeAspect="1"/>
          </p:cNvPicPr>
          <p:nvPr/>
        </p:nvPicPr>
        <p:blipFill>
          <a:blip r:embed="rId2"/>
          <a:stretch>
            <a:fillRect/>
          </a:stretch>
        </p:blipFill>
        <p:spPr>
          <a:xfrm>
            <a:off x="4237043" y="4217568"/>
            <a:ext cx="3717913" cy="2571420"/>
          </a:xfrm>
          <a:prstGeom prst="rect">
            <a:avLst/>
          </a:prstGeom>
        </p:spPr>
      </p:pic>
    </p:spTree>
    <p:extLst>
      <p:ext uri="{BB962C8B-B14F-4D97-AF65-F5344CB8AC3E}">
        <p14:creationId xmlns:p14="http://schemas.microsoft.com/office/powerpoint/2010/main" val="17229163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B38D18-CB70-3196-BD2C-6A9A1A039D6D}"/>
              </a:ext>
            </a:extLst>
          </p:cNvPr>
          <p:cNvSpPr>
            <a:spLocks noGrp="1"/>
          </p:cNvSpPr>
          <p:nvPr>
            <p:ph type="title"/>
          </p:nvPr>
        </p:nvSpPr>
        <p:spPr/>
        <p:txBody>
          <a:bodyPr/>
          <a:lstStyle/>
          <a:p>
            <a:r>
              <a:rPr lang="en-US" dirty="0"/>
              <a:t>Default Constructors</a:t>
            </a:r>
          </a:p>
        </p:txBody>
      </p:sp>
      <p:sp>
        <p:nvSpPr>
          <p:cNvPr id="3" name="Content Placeholder 2">
            <a:extLst>
              <a:ext uri="{FF2B5EF4-FFF2-40B4-BE49-F238E27FC236}">
                <a16:creationId xmlns:a16="http://schemas.microsoft.com/office/drawing/2014/main" id="{284A07B9-13A8-4B38-D5CD-AE2A0BB43934}"/>
              </a:ext>
            </a:extLst>
          </p:cNvPr>
          <p:cNvSpPr>
            <a:spLocks noGrp="1"/>
          </p:cNvSpPr>
          <p:nvPr>
            <p:ph idx="1"/>
          </p:nvPr>
        </p:nvSpPr>
        <p:spPr/>
        <p:txBody>
          <a:bodyPr>
            <a:normAutofit fontScale="92500" lnSpcReduction="20000"/>
          </a:bodyPr>
          <a:lstStyle/>
          <a:p>
            <a:r>
              <a:rPr lang="en-US" dirty="0"/>
              <a:t>Any time you design a class that will have constructors, it is considered good programming practice to include a </a:t>
            </a:r>
            <a:r>
              <a:rPr lang="en-US" b="1" dirty="0"/>
              <a:t>default constructor. </a:t>
            </a:r>
          </a:p>
          <a:p>
            <a:r>
              <a:rPr lang="en-US" dirty="0"/>
              <a:t>If you do not have one, and the program tries to create an object without passing any arguments, it will not compile. </a:t>
            </a:r>
          </a:p>
          <a:p>
            <a:r>
              <a:rPr lang="en-US" dirty="0"/>
              <a:t>This is because there must be a constructor to create an object. </a:t>
            </a:r>
          </a:p>
          <a:p>
            <a:r>
              <a:rPr lang="en-US" dirty="0"/>
              <a:t>In order to create an object that passes no arguments, there must be a constructor that expects no arguments </a:t>
            </a:r>
            <a:r>
              <a:rPr lang="en-US" b="1" dirty="0">
                <a:solidFill>
                  <a:srgbClr val="FF0000"/>
                </a:solidFill>
              </a:rPr>
              <a:t>a default constructor. </a:t>
            </a:r>
          </a:p>
          <a:p>
            <a:r>
              <a:rPr lang="en-US" dirty="0"/>
              <a:t>If the programmer doesn’t write any constructors for a class, the compiler automatically creates a default constructor for it. </a:t>
            </a:r>
          </a:p>
          <a:p>
            <a:r>
              <a:rPr lang="en-US" dirty="0"/>
              <a:t>However, when the programmer writes one or more constructors, even ones that all have parameters, the compiler does not create a default constructor. So it is the responsibility of the programmer to do this.</a:t>
            </a:r>
          </a:p>
        </p:txBody>
      </p:sp>
    </p:spTree>
    <p:extLst>
      <p:ext uri="{BB962C8B-B14F-4D97-AF65-F5344CB8AC3E}">
        <p14:creationId xmlns:p14="http://schemas.microsoft.com/office/powerpoint/2010/main" val="11772706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B3F83A-DEDA-63E0-DC3C-916B8F926CD3}"/>
              </a:ext>
            </a:extLst>
          </p:cNvPr>
          <p:cNvSpPr>
            <a:spLocks noGrp="1"/>
          </p:cNvSpPr>
          <p:nvPr>
            <p:ph type="title"/>
          </p:nvPr>
        </p:nvSpPr>
        <p:spPr/>
        <p:txBody>
          <a:bodyPr/>
          <a:lstStyle/>
          <a:p>
            <a:r>
              <a:rPr lang="en-US" dirty="0"/>
              <a:t>Constructor Delegation</a:t>
            </a:r>
          </a:p>
        </p:txBody>
      </p:sp>
      <p:sp>
        <p:nvSpPr>
          <p:cNvPr id="3" name="Content Placeholder 2">
            <a:extLst>
              <a:ext uri="{FF2B5EF4-FFF2-40B4-BE49-F238E27FC236}">
                <a16:creationId xmlns:a16="http://schemas.microsoft.com/office/drawing/2014/main" id="{8EC713EE-EF48-E43B-9882-1A9EB3CCF416}"/>
              </a:ext>
            </a:extLst>
          </p:cNvPr>
          <p:cNvSpPr>
            <a:spLocks noGrp="1"/>
          </p:cNvSpPr>
          <p:nvPr>
            <p:ph idx="1"/>
          </p:nvPr>
        </p:nvSpPr>
        <p:spPr>
          <a:xfrm>
            <a:off x="838200" y="1825624"/>
            <a:ext cx="6571891" cy="4911605"/>
          </a:xfrm>
        </p:spPr>
        <p:txBody>
          <a:bodyPr>
            <a:normAutofit lnSpcReduction="10000"/>
          </a:bodyPr>
          <a:lstStyle/>
          <a:p>
            <a:r>
              <a:rPr lang="en-US" dirty="0"/>
              <a:t>Often, a class will have multiple constructors that perform a similar set of steps, or some of the same steps. For example, look at the following Contact class:</a:t>
            </a:r>
          </a:p>
          <a:p>
            <a:r>
              <a:rPr lang="en-US" dirty="0"/>
              <a:t>In this class, both constructors perform a similar operation. They assign values to the name, email, and phone member variables. </a:t>
            </a:r>
          </a:p>
          <a:p>
            <a:r>
              <a:rPr lang="en-US" dirty="0"/>
              <a:t>The default constructor assigns empty strings to the members, and the constructor with parameters assigns specified values to them.</a:t>
            </a:r>
          </a:p>
        </p:txBody>
      </p:sp>
      <p:pic>
        <p:nvPicPr>
          <p:cNvPr id="4" name="Picture 3">
            <a:extLst>
              <a:ext uri="{FF2B5EF4-FFF2-40B4-BE49-F238E27FC236}">
                <a16:creationId xmlns:a16="http://schemas.microsoft.com/office/drawing/2014/main" id="{BC873DDB-7256-93E4-D337-91C87E989CDC}"/>
              </a:ext>
            </a:extLst>
          </p:cNvPr>
          <p:cNvPicPr>
            <a:picLocks noChangeAspect="1"/>
          </p:cNvPicPr>
          <p:nvPr/>
        </p:nvPicPr>
        <p:blipFill>
          <a:blip r:embed="rId2"/>
          <a:stretch>
            <a:fillRect/>
          </a:stretch>
        </p:blipFill>
        <p:spPr>
          <a:xfrm>
            <a:off x="7410091" y="684960"/>
            <a:ext cx="4151222" cy="5354133"/>
          </a:xfrm>
          <a:prstGeom prst="rect">
            <a:avLst/>
          </a:prstGeom>
        </p:spPr>
      </p:pic>
    </p:spTree>
    <p:extLst>
      <p:ext uri="{BB962C8B-B14F-4D97-AF65-F5344CB8AC3E}">
        <p14:creationId xmlns:p14="http://schemas.microsoft.com/office/powerpoint/2010/main" val="18887911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0E8673-CDBB-11DC-A167-1CF0FE6672FD}"/>
              </a:ext>
            </a:extLst>
          </p:cNvPr>
          <p:cNvSpPr>
            <a:spLocks noGrp="1"/>
          </p:cNvSpPr>
          <p:nvPr>
            <p:ph type="title"/>
          </p:nvPr>
        </p:nvSpPr>
        <p:spPr/>
        <p:txBody>
          <a:bodyPr/>
          <a:lstStyle/>
          <a:p>
            <a:r>
              <a:rPr lang="en-US" dirty="0"/>
              <a:t>Constructor Delegation</a:t>
            </a:r>
          </a:p>
        </p:txBody>
      </p:sp>
      <p:sp>
        <p:nvSpPr>
          <p:cNvPr id="3" name="Content Placeholder 2">
            <a:extLst>
              <a:ext uri="{FF2B5EF4-FFF2-40B4-BE49-F238E27FC236}">
                <a16:creationId xmlns:a16="http://schemas.microsoft.com/office/drawing/2014/main" id="{2F474868-AE04-6CA9-A3C0-512AC7767C64}"/>
              </a:ext>
            </a:extLst>
          </p:cNvPr>
          <p:cNvSpPr>
            <a:spLocks noGrp="1"/>
          </p:cNvSpPr>
          <p:nvPr>
            <p:ph idx="1"/>
          </p:nvPr>
        </p:nvSpPr>
        <p:spPr>
          <a:xfrm>
            <a:off x="232913" y="1825624"/>
            <a:ext cx="7496355" cy="5047385"/>
          </a:xfrm>
        </p:spPr>
        <p:txBody>
          <a:bodyPr>
            <a:normAutofit fontScale="92500" lnSpcReduction="20000"/>
          </a:bodyPr>
          <a:lstStyle/>
          <a:p>
            <a:r>
              <a:rPr lang="en-US" dirty="0"/>
              <a:t>In C++ 11, it is possible for one constructor to call another constructor in the same class. This is known as </a:t>
            </a:r>
            <a:r>
              <a:rPr lang="en-US" dirty="0">
                <a:hlinkClick r:id="rId2"/>
              </a:rPr>
              <a:t>constructor delegation</a:t>
            </a:r>
            <a:r>
              <a:rPr lang="en-US" dirty="0"/>
              <a:t>.</a:t>
            </a:r>
          </a:p>
          <a:p>
            <a:r>
              <a:rPr lang="en-US" dirty="0"/>
              <a:t>In this version of the class, the default constructor calls constructor #2. Notice that a colon appears at the end of the default constructor's header, followed by a call to constructor #2 with three empty strings listed inside the parentheses. </a:t>
            </a:r>
          </a:p>
          <a:p>
            <a:r>
              <a:rPr lang="en-US" dirty="0"/>
              <a:t>Any time the Contact class default constructor is called, it calls constructor #2, passing the empty strings as arguments. </a:t>
            </a:r>
          </a:p>
          <a:p>
            <a:r>
              <a:rPr lang="en-US" dirty="0"/>
              <a:t>As a result, the empty strings are assigned to the object's name, email, and phone member variables.</a:t>
            </a:r>
          </a:p>
        </p:txBody>
      </p:sp>
      <p:pic>
        <p:nvPicPr>
          <p:cNvPr id="4" name="Picture 3">
            <a:extLst>
              <a:ext uri="{FF2B5EF4-FFF2-40B4-BE49-F238E27FC236}">
                <a16:creationId xmlns:a16="http://schemas.microsoft.com/office/drawing/2014/main" id="{08A98138-F0C9-5FCE-2633-C7314C8D012D}"/>
              </a:ext>
            </a:extLst>
          </p:cNvPr>
          <p:cNvPicPr>
            <a:picLocks noChangeAspect="1"/>
          </p:cNvPicPr>
          <p:nvPr/>
        </p:nvPicPr>
        <p:blipFill>
          <a:blip r:embed="rId3"/>
          <a:stretch>
            <a:fillRect/>
          </a:stretch>
        </p:blipFill>
        <p:spPr>
          <a:xfrm>
            <a:off x="8022565" y="1164099"/>
            <a:ext cx="4009606" cy="5047386"/>
          </a:xfrm>
          <a:prstGeom prst="rect">
            <a:avLst/>
          </a:prstGeom>
        </p:spPr>
      </p:pic>
    </p:spTree>
    <p:extLst>
      <p:ext uri="{BB962C8B-B14F-4D97-AF65-F5344CB8AC3E}">
        <p14:creationId xmlns:p14="http://schemas.microsoft.com/office/powerpoint/2010/main" val="18074340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962D5D-9F9E-7AD6-0ECE-C7AB73D04823}"/>
              </a:ext>
            </a:extLst>
          </p:cNvPr>
          <p:cNvSpPr>
            <a:spLocks noGrp="1"/>
          </p:cNvSpPr>
          <p:nvPr>
            <p:ph type="title"/>
          </p:nvPr>
        </p:nvSpPr>
        <p:spPr/>
        <p:txBody>
          <a:bodyPr/>
          <a:lstStyle/>
          <a:p>
            <a:r>
              <a:rPr lang="en-US" dirty="0"/>
              <a:t>Destructors</a:t>
            </a:r>
          </a:p>
        </p:txBody>
      </p:sp>
      <p:sp>
        <p:nvSpPr>
          <p:cNvPr id="3" name="Content Placeholder 2">
            <a:extLst>
              <a:ext uri="{FF2B5EF4-FFF2-40B4-BE49-F238E27FC236}">
                <a16:creationId xmlns:a16="http://schemas.microsoft.com/office/drawing/2014/main" id="{90A3B9A1-88D7-B58C-F7BD-C3A1954AC316}"/>
              </a:ext>
            </a:extLst>
          </p:cNvPr>
          <p:cNvSpPr>
            <a:spLocks noGrp="1"/>
          </p:cNvSpPr>
          <p:nvPr>
            <p:ph idx="1"/>
          </p:nvPr>
        </p:nvSpPr>
        <p:spPr/>
        <p:txBody>
          <a:bodyPr/>
          <a:lstStyle/>
          <a:p>
            <a:r>
              <a:rPr lang="en-US" dirty="0"/>
              <a:t>A destructor is a member function that is automatically called when an object is destroyed.</a:t>
            </a:r>
          </a:p>
          <a:p>
            <a:r>
              <a:rPr lang="en-US" dirty="0"/>
              <a:t>Destructors are public member functions with the same name as the class, preceded by a tilde character (~). </a:t>
            </a:r>
          </a:p>
          <a:p>
            <a:r>
              <a:rPr lang="en-US" dirty="0"/>
              <a:t>For example, the destructor for the Rectangle class would be named ~Rectangle.</a:t>
            </a:r>
          </a:p>
          <a:p>
            <a:r>
              <a:rPr lang="en-US" dirty="0"/>
              <a:t>Destructors are used to perform shutdown procedures when an object ceases to exist. </a:t>
            </a:r>
          </a:p>
          <a:p>
            <a:endParaRPr lang="en-US" dirty="0"/>
          </a:p>
        </p:txBody>
      </p:sp>
    </p:spTree>
    <p:extLst>
      <p:ext uri="{BB962C8B-B14F-4D97-AF65-F5344CB8AC3E}">
        <p14:creationId xmlns:p14="http://schemas.microsoft.com/office/powerpoint/2010/main" val="6273171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58BC86-43A1-CBDA-DE68-035897D93960}"/>
              </a:ext>
            </a:extLst>
          </p:cNvPr>
          <p:cNvSpPr>
            <a:spLocks noGrp="1"/>
          </p:cNvSpPr>
          <p:nvPr>
            <p:ph type="title"/>
          </p:nvPr>
        </p:nvSpPr>
        <p:spPr/>
        <p:txBody>
          <a:bodyPr/>
          <a:lstStyle/>
          <a:p>
            <a:r>
              <a:rPr lang="en-US" dirty="0"/>
              <a:t>Example</a:t>
            </a:r>
          </a:p>
        </p:txBody>
      </p:sp>
      <p:sp>
        <p:nvSpPr>
          <p:cNvPr id="3" name="Content Placeholder 2">
            <a:extLst>
              <a:ext uri="{FF2B5EF4-FFF2-40B4-BE49-F238E27FC236}">
                <a16:creationId xmlns:a16="http://schemas.microsoft.com/office/drawing/2014/main" id="{BDBA6B43-80CB-5141-A623-079EF0F3EECF}"/>
              </a:ext>
            </a:extLst>
          </p:cNvPr>
          <p:cNvSpPr>
            <a:spLocks noGrp="1"/>
          </p:cNvSpPr>
          <p:nvPr>
            <p:ph idx="1"/>
          </p:nvPr>
        </p:nvSpPr>
        <p:spPr>
          <a:xfrm>
            <a:off x="516147" y="1446063"/>
            <a:ext cx="6876691" cy="5230782"/>
          </a:xfrm>
        </p:spPr>
        <p:txBody>
          <a:bodyPr>
            <a:normAutofit/>
          </a:bodyPr>
          <a:lstStyle/>
          <a:p>
            <a:pPr algn="l"/>
            <a:r>
              <a:rPr lang="en-US" dirty="0">
                <a:effectLst/>
              </a:rPr>
              <a:t>In addition to the fact that destructors are automatically called when an object is destroyed, the following points should be mentioned:</a:t>
            </a:r>
          </a:p>
          <a:p>
            <a:pPr lvl="1"/>
            <a:r>
              <a:rPr lang="en-US" dirty="0"/>
              <a:t>Like constructors, destructors have no return type.</a:t>
            </a:r>
          </a:p>
          <a:p>
            <a:pPr lvl="1"/>
            <a:r>
              <a:rPr lang="en-US" dirty="0"/>
              <a:t>Destructors cannot accept arguments, so they never have a parameter list.</a:t>
            </a:r>
          </a:p>
          <a:p>
            <a:pPr lvl="1"/>
            <a:r>
              <a:rPr lang="en-US" dirty="0"/>
              <a:t>Because destructors cannot accept arguments, there can only be one destructor.</a:t>
            </a:r>
          </a:p>
          <a:p>
            <a:endParaRPr lang="en-US" dirty="0"/>
          </a:p>
        </p:txBody>
      </p:sp>
      <p:pic>
        <p:nvPicPr>
          <p:cNvPr id="4" name="Picture 3">
            <a:extLst>
              <a:ext uri="{FF2B5EF4-FFF2-40B4-BE49-F238E27FC236}">
                <a16:creationId xmlns:a16="http://schemas.microsoft.com/office/drawing/2014/main" id="{6A5C1DF9-5A21-489C-D68E-934149BFEADF}"/>
              </a:ext>
            </a:extLst>
          </p:cNvPr>
          <p:cNvPicPr>
            <a:picLocks noChangeAspect="1"/>
          </p:cNvPicPr>
          <p:nvPr/>
        </p:nvPicPr>
        <p:blipFill>
          <a:blip r:embed="rId2"/>
          <a:stretch>
            <a:fillRect/>
          </a:stretch>
        </p:blipFill>
        <p:spPr>
          <a:xfrm>
            <a:off x="7829789" y="0"/>
            <a:ext cx="4362211" cy="6872708"/>
          </a:xfrm>
          <a:prstGeom prst="rect">
            <a:avLst/>
          </a:prstGeom>
        </p:spPr>
      </p:pic>
    </p:spTree>
    <p:extLst>
      <p:ext uri="{BB962C8B-B14F-4D97-AF65-F5344CB8AC3E}">
        <p14:creationId xmlns:p14="http://schemas.microsoft.com/office/powerpoint/2010/main" val="37034571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0C4BDA-FFE7-7E94-AAB7-A81473ACDEA4}"/>
              </a:ext>
            </a:extLst>
          </p:cNvPr>
          <p:cNvSpPr>
            <a:spLocks noGrp="1"/>
          </p:cNvSpPr>
          <p:nvPr>
            <p:ph type="title"/>
          </p:nvPr>
        </p:nvSpPr>
        <p:spPr/>
        <p:txBody>
          <a:bodyPr/>
          <a:lstStyle/>
          <a:p>
            <a:r>
              <a:rPr lang="en-US" dirty="0"/>
              <a:t>Private Member Functions</a:t>
            </a:r>
          </a:p>
        </p:txBody>
      </p:sp>
      <p:sp>
        <p:nvSpPr>
          <p:cNvPr id="3" name="Content Placeholder 2">
            <a:extLst>
              <a:ext uri="{FF2B5EF4-FFF2-40B4-BE49-F238E27FC236}">
                <a16:creationId xmlns:a16="http://schemas.microsoft.com/office/drawing/2014/main" id="{9B2C1E1B-4749-D31A-3E59-EE9AFA628F24}"/>
              </a:ext>
            </a:extLst>
          </p:cNvPr>
          <p:cNvSpPr>
            <a:spLocks noGrp="1"/>
          </p:cNvSpPr>
          <p:nvPr>
            <p:ph idx="1"/>
          </p:nvPr>
        </p:nvSpPr>
        <p:spPr/>
        <p:txBody>
          <a:bodyPr/>
          <a:lstStyle/>
          <a:p>
            <a:r>
              <a:rPr lang="en-US" dirty="0">
                <a:effectLst/>
              </a:rPr>
              <a:t>Until now all of the class member functions you have seen have been public functions. </a:t>
            </a:r>
          </a:p>
          <a:p>
            <a:r>
              <a:rPr lang="en-US" dirty="0">
                <a:effectLst/>
              </a:rPr>
              <a:t>This means they can be called by code in programs outside the class. Often, however, a class needs functions for internal processing that should not be called by code outside the class.</a:t>
            </a:r>
          </a:p>
          <a:p>
            <a:r>
              <a:rPr lang="en-US" dirty="0">
                <a:effectLst/>
              </a:rPr>
              <a:t>These functions should be made private. </a:t>
            </a:r>
          </a:p>
          <a:p>
            <a:r>
              <a:rPr lang="en-US" dirty="0"/>
              <a:t>Private member functions may only be called from a function that is a member of the same class.</a:t>
            </a:r>
            <a:endParaRPr lang="en-US" dirty="0">
              <a:effectLst/>
            </a:endParaRPr>
          </a:p>
          <a:p>
            <a:endParaRPr lang="en-US" dirty="0"/>
          </a:p>
        </p:txBody>
      </p:sp>
    </p:spTree>
    <p:extLst>
      <p:ext uri="{BB962C8B-B14F-4D97-AF65-F5344CB8AC3E}">
        <p14:creationId xmlns:p14="http://schemas.microsoft.com/office/powerpoint/2010/main" val="39339481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18365E-9D40-055E-8BF6-5F525B919DBF}"/>
              </a:ext>
            </a:extLst>
          </p:cNvPr>
          <p:cNvSpPr>
            <a:spLocks noGrp="1"/>
          </p:cNvSpPr>
          <p:nvPr>
            <p:ph type="title"/>
          </p:nvPr>
        </p:nvSpPr>
        <p:spPr/>
        <p:txBody>
          <a:bodyPr/>
          <a:lstStyle/>
          <a:p>
            <a:r>
              <a:rPr lang="en-US" dirty="0"/>
              <a:t>Passing Objects to Functions</a:t>
            </a:r>
          </a:p>
        </p:txBody>
      </p:sp>
      <p:sp>
        <p:nvSpPr>
          <p:cNvPr id="3" name="Content Placeholder 2">
            <a:extLst>
              <a:ext uri="{FF2B5EF4-FFF2-40B4-BE49-F238E27FC236}">
                <a16:creationId xmlns:a16="http://schemas.microsoft.com/office/drawing/2014/main" id="{8B8874AC-C09D-D358-AAFA-C425474BFB04}"/>
              </a:ext>
            </a:extLst>
          </p:cNvPr>
          <p:cNvSpPr>
            <a:spLocks noGrp="1"/>
          </p:cNvSpPr>
          <p:nvPr>
            <p:ph idx="1"/>
          </p:nvPr>
        </p:nvSpPr>
        <p:spPr/>
        <p:txBody>
          <a:bodyPr/>
          <a:lstStyle/>
          <a:p>
            <a:r>
              <a:rPr lang="en-US" dirty="0"/>
              <a:t>Class objects may be passed as arguments to functions. </a:t>
            </a:r>
          </a:p>
          <a:p>
            <a:r>
              <a:rPr lang="en-US" dirty="0"/>
              <a:t>For example, the following function has a parameter that receives a Rectangle object.</a:t>
            </a:r>
          </a:p>
          <a:p>
            <a:endParaRPr lang="en-US" dirty="0"/>
          </a:p>
          <a:p>
            <a:endParaRPr lang="en-US" dirty="0"/>
          </a:p>
          <a:p>
            <a:endParaRPr lang="en-US" dirty="0"/>
          </a:p>
          <a:p>
            <a:r>
              <a:rPr lang="en-US" dirty="0">
                <a:effectLst/>
              </a:rPr>
              <a:t>The following lines of code create a Rectangle object with length 15 and width 10, and then pass it to the </a:t>
            </a:r>
            <a:r>
              <a:rPr lang="en-US" dirty="0" err="1">
                <a:effectLst/>
              </a:rPr>
              <a:t>displayRectangle</a:t>
            </a:r>
            <a:r>
              <a:rPr lang="en-US" dirty="0">
                <a:effectLst/>
              </a:rPr>
              <a:t> function.</a:t>
            </a:r>
          </a:p>
          <a:p>
            <a:endParaRPr lang="en-US" dirty="0"/>
          </a:p>
        </p:txBody>
      </p:sp>
      <p:pic>
        <p:nvPicPr>
          <p:cNvPr id="4" name="Picture 3">
            <a:extLst>
              <a:ext uri="{FF2B5EF4-FFF2-40B4-BE49-F238E27FC236}">
                <a16:creationId xmlns:a16="http://schemas.microsoft.com/office/drawing/2014/main" id="{6E2F046D-557A-E4FC-DC48-76652F6A6FD2}"/>
              </a:ext>
            </a:extLst>
          </p:cNvPr>
          <p:cNvPicPr>
            <a:picLocks noChangeAspect="1"/>
          </p:cNvPicPr>
          <p:nvPr/>
        </p:nvPicPr>
        <p:blipFill>
          <a:blip r:embed="rId2"/>
          <a:stretch>
            <a:fillRect/>
          </a:stretch>
        </p:blipFill>
        <p:spPr>
          <a:xfrm>
            <a:off x="4462252" y="2801548"/>
            <a:ext cx="4270711" cy="1658308"/>
          </a:xfrm>
          <a:prstGeom prst="rect">
            <a:avLst/>
          </a:prstGeom>
        </p:spPr>
      </p:pic>
      <p:pic>
        <p:nvPicPr>
          <p:cNvPr id="6" name="Picture 5">
            <a:extLst>
              <a:ext uri="{FF2B5EF4-FFF2-40B4-BE49-F238E27FC236}">
                <a16:creationId xmlns:a16="http://schemas.microsoft.com/office/drawing/2014/main" id="{B2B370DB-E879-5BBB-2A2E-CC445420DD0C}"/>
              </a:ext>
            </a:extLst>
          </p:cNvPr>
          <p:cNvPicPr>
            <a:picLocks noChangeAspect="1"/>
          </p:cNvPicPr>
          <p:nvPr/>
        </p:nvPicPr>
        <p:blipFill>
          <a:blip r:embed="rId3"/>
          <a:stretch>
            <a:fillRect/>
          </a:stretch>
        </p:blipFill>
        <p:spPr>
          <a:xfrm>
            <a:off x="4524078" y="5860556"/>
            <a:ext cx="3143844" cy="902688"/>
          </a:xfrm>
          <a:prstGeom prst="rect">
            <a:avLst/>
          </a:prstGeom>
        </p:spPr>
      </p:pic>
    </p:spTree>
    <p:extLst>
      <p:ext uri="{BB962C8B-B14F-4D97-AF65-F5344CB8AC3E}">
        <p14:creationId xmlns:p14="http://schemas.microsoft.com/office/powerpoint/2010/main" val="32578854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14878C-7602-8EBB-2E7B-06D18147CBE0}"/>
              </a:ext>
            </a:extLst>
          </p:cNvPr>
          <p:cNvSpPr>
            <a:spLocks noGrp="1"/>
          </p:cNvSpPr>
          <p:nvPr>
            <p:ph type="title"/>
          </p:nvPr>
        </p:nvSpPr>
        <p:spPr/>
        <p:txBody>
          <a:bodyPr/>
          <a:lstStyle/>
          <a:p>
            <a:r>
              <a:rPr lang="en-US" dirty="0"/>
              <a:t>Passing Objects to Functions</a:t>
            </a:r>
          </a:p>
        </p:txBody>
      </p:sp>
      <p:sp>
        <p:nvSpPr>
          <p:cNvPr id="3" name="Content Placeholder 2">
            <a:extLst>
              <a:ext uri="{FF2B5EF4-FFF2-40B4-BE49-F238E27FC236}">
                <a16:creationId xmlns:a16="http://schemas.microsoft.com/office/drawing/2014/main" id="{671381AD-F689-9C68-8666-7EDF1C402A3B}"/>
              </a:ext>
            </a:extLst>
          </p:cNvPr>
          <p:cNvSpPr>
            <a:spLocks noGrp="1"/>
          </p:cNvSpPr>
          <p:nvPr>
            <p:ph idx="1"/>
          </p:nvPr>
        </p:nvSpPr>
        <p:spPr/>
        <p:txBody>
          <a:bodyPr/>
          <a:lstStyle/>
          <a:p>
            <a:r>
              <a:rPr lang="en-US" dirty="0">
                <a:effectLst/>
              </a:rPr>
              <a:t>As with regular variables, objects can be passed to functions by value or by reference. </a:t>
            </a:r>
          </a:p>
          <a:p>
            <a:r>
              <a:rPr lang="en-US" dirty="0">
                <a:effectLst/>
              </a:rPr>
              <a:t>In the Rectangle example, box is passed to the </a:t>
            </a:r>
            <a:r>
              <a:rPr lang="en-US" dirty="0" err="1">
                <a:effectLst/>
              </a:rPr>
              <a:t>displayRectangle</a:t>
            </a:r>
            <a:r>
              <a:rPr lang="en-US" dirty="0">
                <a:effectLst/>
              </a:rPr>
              <a:t> function by value. </a:t>
            </a:r>
          </a:p>
          <a:p>
            <a:r>
              <a:rPr lang="en-US" dirty="0">
                <a:effectLst/>
              </a:rPr>
              <a:t>This means that </a:t>
            </a:r>
            <a:r>
              <a:rPr lang="en-US" dirty="0" err="1">
                <a:effectLst/>
              </a:rPr>
              <a:t>displayRectangle</a:t>
            </a:r>
            <a:r>
              <a:rPr lang="en-US" dirty="0">
                <a:effectLst/>
              </a:rPr>
              <a:t> receives a copy of box. If </a:t>
            </a:r>
            <a:r>
              <a:rPr lang="en-US" dirty="0" err="1">
                <a:effectLst/>
              </a:rPr>
              <a:t>displayRectangle</a:t>
            </a:r>
            <a:r>
              <a:rPr lang="en-US" dirty="0">
                <a:effectLst/>
              </a:rPr>
              <a:t> called any Rectangle class mutator functions, they would only change the copy of box, not the original. </a:t>
            </a:r>
          </a:p>
          <a:p>
            <a:r>
              <a:rPr lang="en-US" dirty="0">
                <a:effectLst/>
              </a:rPr>
              <a:t>If a function needs to store or change data in an object’s member variables, the object must be passed to it by reference.</a:t>
            </a:r>
          </a:p>
          <a:p>
            <a:endParaRPr lang="en-US" dirty="0"/>
          </a:p>
        </p:txBody>
      </p:sp>
    </p:spTree>
    <p:extLst>
      <p:ext uri="{BB962C8B-B14F-4D97-AF65-F5344CB8AC3E}">
        <p14:creationId xmlns:p14="http://schemas.microsoft.com/office/powerpoint/2010/main" val="2341932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3E3350-C8D4-7377-03A5-8B5611B62640}"/>
              </a:ext>
            </a:extLst>
          </p:cNvPr>
          <p:cNvSpPr>
            <a:spLocks noGrp="1"/>
          </p:cNvSpPr>
          <p:nvPr>
            <p:ph type="title"/>
          </p:nvPr>
        </p:nvSpPr>
        <p:spPr/>
        <p:txBody>
          <a:bodyPr/>
          <a:lstStyle/>
          <a:p>
            <a:r>
              <a:rPr lang="en-US" dirty="0"/>
              <a:t>Example</a:t>
            </a:r>
          </a:p>
        </p:txBody>
      </p:sp>
      <p:pic>
        <p:nvPicPr>
          <p:cNvPr id="4" name="Picture 3">
            <a:extLst>
              <a:ext uri="{FF2B5EF4-FFF2-40B4-BE49-F238E27FC236}">
                <a16:creationId xmlns:a16="http://schemas.microsoft.com/office/drawing/2014/main" id="{345A9DDD-54C0-9BFC-5F08-25DD7CAF2FEE}"/>
              </a:ext>
            </a:extLst>
          </p:cNvPr>
          <p:cNvPicPr>
            <a:picLocks noChangeAspect="1"/>
          </p:cNvPicPr>
          <p:nvPr/>
        </p:nvPicPr>
        <p:blipFill>
          <a:blip r:embed="rId2"/>
          <a:stretch>
            <a:fillRect/>
          </a:stretch>
        </p:blipFill>
        <p:spPr>
          <a:xfrm>
            <a:off x="146648" y="1469247"/>
            <a:ext cx="3462013" cy="4888422"/>
          </a:xfrm>
          <a:prstGeom prst="rect">
            <a:avLst/>
          </a:prstGeom>
        </p:spPr>
      </p:pic>
      <p:pic>
        <p:nvPicPr>
          <p:cNvPr id="5" name="Picture 4">
            <a:extLst>
              <a:ext uri="{FF2B5EF4-FFF2-40B4-BE49-F238E27FC236}">
                <a16:creationId xmlns:a16="http://schemas.microsoft.com/office/drawing/2014/main" id="{484CDE77-CC85-C3C4-63CD-F59D0674B89C}"/>
              </a:ext>
            </a:extLst>
          </p:cNvPr>
          <p:cNvPicPr>
            <a:picLocks noChangeAspect="1"/>
          </p:cNvPicPr>
          <p:nvPr/>
        </p:nvPicPr>
        <p:blipFill>
          <a:blip r:embed="rId3"/>
          <a:stretch>
            <a:fillRect/>
          </a:stretch>
        </p:blipFill>
        <p:spPr>
          <a:xfrm>
            <a:off x="3976297" y="-1"/>
            <a:ext cx="3483895" cy="3262461"/>
          </a:xfrm>
          <a:prstGeom prst="rect">
            <a:avLst/>
          </a:prstGeom>
        </p:spPr>
      </p:pic>
      <p:pic>
        <p:nvPicPr>
          <p:cNvPr id="6" name="Picture 5">
            <a:extLst>
              <a:ext uri="{FF2B5EF4-FFF2-40B4-BE49-F238E27FC236}">
                <a16:creationId xmlns:a16="http://schemas.microsoft.com/office/drawing/2014/main" id="{8D68C249-71D7-F702-CD03-77F7B10FCEBB}"/>
              </a:ext>
            </a:extLst>
          </p:cNvPr>
          <p:cNvPicPr>
            <a:picLocks noChangeAspect="1"/>
          </p:cNvPicPr>
          <p:nvPr/>
        </p:nvPicPr>
        <p:blipFill>
          <a:blip r:embed="rId4"/>
          <a:stretch>
            <a:fillRect/>
          </a:stretch>
        </p:blipFill>
        <p:spPr>
          <a:xfrm>
            <a:off x="3971484" y="3340098"/>
            <a:ext cx="3488708" cy="3517902"/>
          </a:xfrm>
          <a:prstGeom prst="rect">
            <a:avLst/>
          </a:prstGeom>
        </p:spPr>
      </p:pic>
      <p:pic>
        <p:nvPicPr>
          <p:cNvPr id="7" name="Picture 6">
            <a:extLst>
              <a:ext uri="{FF2B5EF4-FFF2-40B4-BE49-F238E27FC236}">
                <a16:creationId xmlns:a16="http://schemas.microsoft.com/office/drawing/2014/main" id="{1AA82E66-D8C6-36DF-585B-05E5FBAA72E1}"/>
              </a:ext>
            </a:extLst>
          </p:cNvPr>
          <p:cNvPicPr>
            <a:picLocks noChangeAspect="1"/>
          </p:cNvPicPr>
          <p:nvPr/>
        </p:nvPicPr>
        <p:blipFill>
          <a:blip r:embed="rId5"/>
          <a:stretch>
            <a:fillRect/>
          </a:stretch>
        </p:blipFill>
        <p:spPr>
          <a:xfrm>
            <a:off x="8186677" y="749839"/>
            <a:ext cx="4010420" cy="5358321"/>
          </a:xfrm>
          <a:prstGeom prst="rect">
            <a:avLst/>
          </a:prstGeom>
        </p:spPr>
      </p:pic>
    </p:spTree>
    <p:extLst>
      <p:ext uri="{BB962C8B-B14F-4D97-AF65-F5344CB8AC3E}">
        <p14:creationId xmlns:p14="http://schemas.microsoft.com/office/powerpoint/2010/main" val="30573036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BEC558-D122-03FD-B6BF-CC733484C84A}"/>
              </a:ext>
            </a:extLst>
          </p:cNvPr>
          <p:cNvSpPr>
            <a:spLocks noGrp="1"/>
          </p:cNvSpPr>
          <p:nvPr>
            <p:ph type="title"/>
          </p:nvPr>
        </p:nvSpPr>
        <p:spPr/>
        <p:txBody>
          <a:bodyPr/>
          <a:lstStyle/>
          <a:p>
            <a:r>
              <a:rPr lang="en-US" dirty="0"/>
              <a:t>Constant Reference Parameters</a:t>
            </a:r>
          </a:p>
        </p:txBody>
      </p:sp>
      <p:sp>
        <p:nvSpPr>
          <p:cNvPr id="3" name="Content Placeholder 2">
            <a:extLst>
              <a:ext uri="{FF2B5EF4-FFF2-40B4-BE49-F238E27FC236}">
                <a16:creationId xmlns:a16="http://schemas.microsoft.com/office/drawing/2014/main" id="{6EA15010-AD05-17B9-F7E6-867AF19BD157}"/>
              </a:ext>
            </a:extLst>
          </p:cNvPr>
          <p:cNvSpPr>
            <a:spLocks noGrp="1"/>
          </p:cNvSpPr>
          <p:nvPr>
            <p:ph idx="1"/>
          </p:nvPr>
        </p:nvSpPr>
        <p:spPr/>
        <p:txBody>
          <a:bodyPr/>
          <a:lstStyle/>
          <a:p>
            <a:r>
              <a:rPr lang="en-US" dirty="0"/>
              <a:t>Passing an object by value requires making a copy of all of the object’s members. </a:t>
            </a:r>
          </a:p>
          <a:p>
            <a:r>
              <a:rPr lang="en-US" dirty="0"/>
              <a:t>This can slow down a program’s execution time, particularly if it has many members. </a:t>
            </a:r>
          </a:p>
          <a:p>
            <a:r>
              <a:rPr lang="en-US" dirty="0"/>
              <a:t>Passing an object by reference is faster because no copy has to be made since the function has access to the original object. </a:t>
            </a:r>
          </a:p>
          <a:p>
            <a:r>
              <a:rPr lang="en-US" dirty="0"/>
              <a:t>For this reason it is generally preferable to pass objects by reference.</a:t>
            </a:r>
          </a:p>
        </p:txBody>
      </p:sp>
    </p:spTree>
    <p:extLst>
      <p:ext uri="{BB962C8B-B14F-4D97-AF65-F5344CB8AC3E}">
        <p14:creationId xmlns:p14="http://schemas.microsoft.com/office/powerpoint/2010/main" val="196684669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AE5C5D-D790-0A24-61DC-AB277D5535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618187-96D5-24A6-8FAB-0E88E0A9B9BF}"/>
              </a:ext>
            </a:extLst>
          </p:cNvPr>
          <p:cNvSpPr>
            <a:spLocks noGrp="1"/>
          </p:cNvSpPr>
          <p:nvPr>
            <p:ph type="title"/>
          </p:nvPr>
        </p:nvSpPr>
        <p:spPr/>
        <p:txBody>
          <a:bodyPr/>
          <a:lstStyle/>
          <a:p>
            <a:r>
              <a:rPr lang="en-US" dirty="0"/>
              <a:t>Constant Reference Parameters</a:t>
            </a:r>
          </a:p>
        </p:txBody>
      </p:sp>
      <p:sp>
        <p:nvSpPr>
          <p:cNvPr id="3" name="Content Placeholder 2">
            <a:extLst>
              <a:ext uri="{FF2B5EF4-FFF2-40B4-BE49-F238E27FC236}">
                <a16:creationId xmlns:a16="http://schemas.microsoft.com/office/drawing/2014/main" id="{D711CB70-5B63-7B48-E38D-83F4ED516DD5}"/>
              </a:ext>
            </a:extLst>
          </p:cNvPr>
          <p:cNvSpPr>
            <a:spLocks noGrp="1"/>
          </p:cNvSpPr>
          <p:nvPr>
            <p:ph idx="1"/>
          </p:nvPr>
        </p:nvSpPr>
        <p:spPr/>
        <p:txBody>
          <a:bodyPr/>
          <a:lstStyle/>
          <a:p>
            <a:r>
              <a:rPr lang="en-US" dirty="0"/>
              <a:t>Passing an object by reference does have a disadvantage, however. </a:t>
            </a:r>
          </a:p>
          <a:p>
            <a:r>
              <a:rPr lang="en-US" dirty="0"/>
              <a:t>Because the function has access to the original object, it can call its mutator functions and alter its member data. </a:t>
            </a:r>
          </a:p>
          <a:p>
            <a:r>
              <a:rPr lang="en-US" dirty="0"/>
              <a:t>This is why we normally do not pass variables by reference when we want to safeguard their contents. </a:t>
            </a:r>
          </a:p>
          <a:p>
            <a:r>
              <a:rPr lang="en-US" dirty="0"/>
              <a:t>But, there is a solution. To protect an object when it is passed as an argument, without having to make a copy, it can be passed as a </a:t>
            </a:r>
            <a:r>
              <a:rPr lang="en-US" i="1" dirty="0">
                <a:solidFill>
                  <a:srgbClr val="FF0000"/>
                </a:solidFill>
              </a:rPr>
              <a:t>constant reference</a:t>
            </a:r>
            <a:r>
              <a:rPr lang="en-US" dirty="0">
                <a:solidFill>
                  <a:srgbClr val="FF0000"/>
                </a:solidFill>
              </a:rPr>
              <a:t>.</a:t>
            </a:r>
          </a:p>
        </p:txBody>
      </p:sp>
    </p:spTree>
    <p:extLst>
      <p:ext uri="{BB962C8B-B14F-4D97-AF65-F5344CB8AC3E}">
        <p14:creationId xmlns:p14="http://schemas.microsoft.com/office/powerpoint/2010/main" val="4780806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DC4A00-753E-3057-0E25-B9E673A188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B6D623-79AA-0690-6A75-BBCA9F232470}"/>
              </a:ext>
            </a:extLst>
          </p:cNvPr>
          <p:cNvSpPr>
            <a:spLocks noGrp="1"/>
          </p:cNvSpPr>
          <p:nvPr>
            <p:ph type="title"/>
          </p:nvPr>
        </p:nvSpPr>
        <p:spPr/>
        <p:txBody>
          <a:bodyPr/>
          <a:lstStyle/>
          <a:p>
            <a:r>
              <a:rPr lang="en-US" dirty="0"/>
              <a:t>Constant Reference Parameters</a:t>
            </a:r>
          </a:p>
        </p:txBody>
      </p:sp>
      <p:sp>
        <p:nvSpPr>
          <p:cNvPr id="3" name="Content Placeholder 2">
            <a:extLst>
              <a:ext uri="{FF2B5EF4-FFF2-40B4-BE49-F238E27FC236}">
                <a16:creationId xmlns:a16="http://schemas.microsoft.com/office/drawing/2014/main" id="{EED2E48C-B64A-7E32-6DE1-391DF848B814}"/>
              </a:ext>
            </a:extLst>
          </p:cNvPr>
          <p:cNvSpPr>
            <a:spLocks noGrp="1"/>
          </p:cNvSpPr>
          <p:nvPr>
            <p:ph idx="1"/>
          </p:nvPr>
        </p:nvSpPr>
        <p:spPr>
          <a:xfrm>
            <a:off x="838200" y="1506447"/>
            <a:ext cx="10515600" cy="5618971"/>
          </a:xfrm>
        </p:spPr>
        <p:txBody>
          <a:bodyPr>
            <a:normAutofit fontScale="92500" lnSpcReduction="10000"/>
          </a:bodyPr>
          <a:lstStyle/>
          <a:p>
            <a:r>
              <a:rPr lang="en-US" dirty="0"/>
              <a:t>To declare a parameter to be a constant reference parameter, we must put the key word const in the parameter list of both the function prototype and function header. </a:t>
            </a:r>
          </a:p>
          <a:p>
            <a:endParaRPr lang="en-US" dirty="0"/>
          </a:p>
          <a:p>
            <a:endParaRPr lang="en-US" dirty="0"/>
          </a:p>
          <a:p>
            <a:r>
              <a:rPr lang="en-US" dirty="0"/>
              <a:t>Now the </a:t>
            </a:r>
            <a:r>
              <a:rPr lang="en-US" dirty="0" err="1"/>
              <a:t>showValues</a:t>
            </a:r>
            <a:r>
              <a:rPr lang="en-US" dirty="0"/>
              <a:t> function can only call </a:t>
            </a:r>
            <a:r>
              <a:rPr lang="en-US" dirty="0" err="1"/>
              <a:t>InventoryItem</a:t>
            </a:r>
            <a:r>
              <a:rPr lang="en-US" dirty="0"/>
              <a:t> functions that also have the key word const listed in their function prototype and header, like this: </a:t>
            </a:r>
            <a:r>
              <a:rPr lang="en-US" b="1" i="1" dirty="0">
                <a:solidFill>
                  <a:srgbClr val="FF0000"/>
                </a:solidFill>
                <a:effectLst/>
              </a:rPr>
              <a:t>double</a:t>
            </a:r>
            <a:r>
              <a:rPr lang="en-US" i="1" dirty="0">
                <a:solidFill>
                  <a:srgbClr val="FF0000"/>
                </a:solidFill>
              </a:rPr>
              <a:t> </a:t>
            </a:r>
            <a:r>
              <a:rPr lang="en-US" b="1" i="1" dirty="0" err="1">
                <a:solidFill>
                  <a:srgbClr val="FF0000"/>
                </a:solidFill>
                <a:effectLst/>
              </a:rPr>
              <a:t>getPrice</a:t>
            </a:r>
            <a:r>
              <a:rPr lang="en-US" i="1" dirty="0">
                <a:solidFill>
                  <a:srgbClr val="FF0000"/>
                </a:solidFill>
              </a:rPr>
              <a:t>() </a:t>
            </a:r>
            <a:r>
              <a:rPr lang="en-US" b="1" i="1" dirty="0">
                <a:solidFill>
                  <a:srgbClr val="FF0000"/>
                </a:solidFill>
                <a:effectLst/>
              </a:rPr>
              <a:t>const</a:t>
            </a:r>
            <a:r>
              <a:rPr lang="en-US" i="1" dirty="0">
                <a:solidFill>
                  <a:srgbClr val="FF0000"/>
                </a:solidFill>
              </a:rPr>
              <a:t> </a:t>
            </a:r>
          </a:p>
          <a:p>
            <a:r>
              <a:rPr lang="en-US" dirty="0"/>
              <a:t>If </a:t>
            </a:r>
            <a:r>
              <a:rPr lang="en-US" dirty="0" err="1"/>
              <a:t>showValues</a:t>
            </a:r>
            <a:r>
              <a:rPr lang="en-US" dirty="0"/>
              <a:t> tried to call any other </a:t>
            </a:r>
            <a:r>
              <a:rPr lang="en-US" dirty="0" err="1"/>
              <a:t>InventoryItem</a:t>
            </a:r>
            <a:r>
              <a:rPr lang="en-US" dirty="0"/>
              <a:t> functions, a compiler error would occur.</a:t>
            </a:r>
          </a:p>
          <a:p>
            <a:r>
              <a:rPr lang="en-US" dirty="0"/>
              <a:t>Notice that when </a:t>
            </a:r>
            <a:r>
              <a:rPr lang="en-US" dirty="0" err="1"/>
              <a:t>showValues</a:t>
            </a:r>
            <a:r>
              <a:rPr lang="en-US" dirty="0"/>
              <a:t> is modified to have a constant reference parameter, only the function prototypes and headers are changed to include the word const. The body of the </a:t>
            </a:r>
            <a:r>
              <a:rPr lang="en-US" dirty="0" err="1"/>
              <a:t>showValues</a:t>
            </a:r>
            <a:r>
              <a:rPr lang="en-US" dirty="0"/>
              <a:t> function and the call to </a:t>
            </a:r>
            <a:r>
              <a:rPr lang="en-US" dirty="0" err="1"/>
              <a:t>showValues</a:t>
            </a:r>
            <a:r>
              <a:rPr lang="en-US" dirty="0"/>
              <a:t> do not change.</a:t>
            </a:r>
            <a:endParaRPr lang="en-US" i="1" dirty="0">
              <a:solidFill>
                <a:srgbClr val="FF0000"/>
              </a:solidFill>
            </a:endParaRPr>
          </a:p>
          <a:p>
            <a:endParaRPr lang="en-US" dirty="0">
              <a:solidFill>
                <a:srgbClr val="FF0000"/>
              </a:solidFill>
            </a:endParaRPr>
          </a:p>
        </p:txBody>
      </p:sp>
      <p:pic>
        <p:nvPicPr>
          <p:cNvPr id="4" name="Picture 3">
            <a:extLst>
              <a:ext uri="{FF2B5EF4-FFF2-40B4-BE49-F238E27FC236}">
                <a16:creationId xmlns:a16="http://schemas.microsoft.com/office/drawing/2014/main" id="{C003D2F4-749C-4394-DE17-05CD9E69A2CD}"/>
              </a:ext>
            </a:extLst>
          </p:cNvPr>
          <p:cNvPicPr>
            <a:picLocks noChangeAspect="1"/>
          </p:cNvPicPr>
          <p:nvPr/>
        </p:nvPicPr>
        <p:blipFill>
          <a:blip r:embed="rId2"/>
          <a:stretch>
            <a:fillRect/>
          </a:stretch>
        </p:blipFill>
        <p:spPr>
          <a:xfrm>
            <a:off x="2531253" y="2584689"/>
            <a:ext cx="6901100" cy="736481"/>
          </a:xfrm>
          <a:prstGeom prst="rect">
            <a:avLst/>
          </a:prstGeom>
        </p:spPr>
      </p:pic>
    </p:spTree>
    <p:extLst>
      <p:ext uri="{BB962C8B-B14F-4D97-AF65-F5344CB8AC3E}">
        <p14:creationId xmlns:p14="http://schemas.microsoft.com/office/powerpoint/2010/main" val="24024141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F205A3-0F23-B02D-17CE-BD722035DFFB}"/>
              </a:ext>
            </a:extLst>
          </p:cNvPr>
          <p:cNvSpPr>
            <a:spLocks noGrp="1"/>
          </p:cNvSpPr>
          <p:nvPr>
            <p:ph type="title"/>
          </p:nvPr>
        </p:nvSpPr>
        <p:spPr/>
        <p:txBody>
          <a:bodyPr/>
          <a:lstStyle/>
          <a:p>
            <a:r>
              <a:rPr lang="en-US" dirty="0"/>
              <a:t>Returning an Object from a Function</a:t>
            </a:r>
          </a:p>
        </p:txBody>
      </p:sp>
      <p:sp>
        <p:nvSpPr>
          <p:cNvPr id="3" name="Content Placeholder 2">
            <a:extLst>
              <a:ext uri="{FF2B5EF4-FFF2-40B4-BE49-F238E27FC236}">
                <a16:creationId xmlns:a16="http://schemas.microsoft.com/office/drawing/2014/main" id="{3F460D0E-8C77-F69E-9EF8-05FE19775491}"/>
              </a:ext>
            </a:extLst>
          </p:cNvPr>
          <p:cNvSpPr>
            <a:spLocks noGrp="1"/>
          </p:cNvSpPr>
          <p:nvPr>
            <p:ph idx="1"/>
          </p:nvPr>
        </p:nvSpPr>
        <p:spPr>
          <a:xfrm>
            <a:off x="94892" y="1506448"/>
            <a:ext cx="7203056" cy="5213530"/>
          </a:xfrm>
        </p:spPr>
        <p:txBody>
          <a:bodyPr>
            <a:normAutofit fontScale="92500" lnSpcReduction="10000"/>
          </a:bodyPr>
          <a:lstStyle/>
          <a:p>
            <a:r>
              <a:rPr lang="en-US" dirty="0"/>
              <a:t>Just as functions can be written to return an int, double, or other data type, they can also be designed to return an object.</a:t>
            </a:r>
          </a:p>
          <a:p>
            <a:r>
              <a:rPr lang="en-US" dirty="0"/>
              <a:t>Here is an example of how the </a:t>
            </a:r>
            <a:r>
              <a:rPr lang="en-US" b="1" dirty="0" err="1"/>
              <a:t>InventoryItem</a:t>
            </a:r>
            <a:r>
              <a:rPr lang="en-US" dirty="0"/>
              <a:t> object used in previous program could be created in the </a:t>
            </a:r>
            <a:r>
              <a:rPr lang="en-US" b="1" dirty="0" err="1"/>
              <a:t>storeValues</a:t>
            </a:r>
            <a:r>
              <a:rPr lang="en-US" dirty="0"/>
              <a:t> function and then returned to the calling function. Notice that this new version of </a:t>
            </a:r>
            <a:r>
              <a:rPr lang="en-US" b="1" dirty="0" err="1"/>
              <a:t>storeValues</a:t>
            </a:r>
            <a:r>
              <a:rPr lang="en-US" dirty="0"/>
              <a:t> does not accept any arguments, and its return type is now </a:t>
            </a:r>
            <a:r>
              <a:rPr lang="en-US" b="1" dirty="0" err="1"/>
              <a:t>InventoryItem</a:t>
            </a:r>
            <a:r>
              <a:rPr lang="en-US" dirty="0"/>
              <a:t> rather than void.</a:t>
            </a:r>
          </a:p>
          <a:p>
            <a:r>
              <a:rPr lang="en-US" dirty="0"/>
              <a:t>The main function could then create </a:t>
            </a:r>
            <a:r>
              <a:rPr lang="en-US" dirty="0">
                <a:solidFill>
                  <a:srgbClr val="FF0000"/>
                </a:solidFill>
              </a:rPr>
              <a:t>part</a:t>
            </a:r>
            <a:r>
              <a:rPr lang="en-US" dirty="0"/>
              <a:t> as shown here, initializing it with the </a:t>
            </a:r>
            <a:r>
              <a:rPr lang="en-US" b="1" dirty="0" err="1"/>
              <a:t>InventoryItem</a:t>
            </a:r>
            <a:r>
              <a:rPr lang="en-US" b="1" dirty="0"/>
              <a:t> </a:t>
            </a:r>
            <a:r>
              <a:rPr lang="en-US" dirty="0"/>
              <a:t>object returned by the </a:t>
            </a:r>
            <a:r>
              <a:rPr lang="en-US" b="1" dirty="0" err="1"/>
              <a:t>storeValues</a:t>
            </a:r>
            <a:r>
              <a:rPr lang="en-US" b="1" dirty="0"/>
              <a:t> </a:t>
            </a:r>
            <a:r>
              <a:rPr lang="en-US" dirty="0"/>
              <a:t>function. </a:t>
            </a:r>
          </a:p>
          <a:p>
            <a:pPr lvl="1"/>
            <a:r>
              <a:rPr lang="en-US" b="1" i="1" dirty="0" err="1">
                <a:solidFill>
                  <a:srgbClr val="FF0000"/>
                </a:solidFill>
              </a:rPr>
              <a:t>InventoryItem</a:t>
            </a:r>
            <a:r>
              <a:rPr lang="en-US" b="1" i="1" dirty="0">
                <a:solidFill>
                  <a:srgbClr val="FF0000"/>
                </a:solidFill>
              </a:rPr>
              <a:t> part = </a:t>
            </a:r>
            <a:r>
              <a:rPr lang="en-US" b="1" i="1" dirty="0" err="1">
                <a:solidFill>
                  <a:srgbClr val="FF0000"/>
                </a:solidFill>
                <a:effectLst/>
              </a:rPr>
              <a:t>storeValues</a:t>
            </a:r>
            <a:r>
              <a:rPr lang="en-US" b="1" i="1" dirty="0">
                <a:solidFill>
                  <a:srgbClr val="FF0000"/>
                </a:solidFill>
              </a:rPr>
              <a:t>(); </a:t>
            </a:r>
          </a:p>
        </p:txBody>
      </p:sp>
      <p:pic>
        <p:nvPicPr>
          <p:cNvPr id="4" name="Picture 3">
            <a:extLst>
              <a:ext uri="{FF2B5EF4-FFF2-40B4-BE49-F238E27FC236}">
                <a16:creationId xmlns:a16="http://schemas.microsoft.com/office/drawing/2014/main" id="{ACE60B66-7133-3AC9-B666-221D69C913E3}"/>
              </a:ext>
            </a:extLst>
          </p:cNvPr>
          <p:cNvPicPr>
            <a:picLocks noChangeAspect="1"/>
          </p:cNvPicPr>
          <p:nvPr/>
        </p:nvPicPr>
        <p:blipFill>
          <a:blip r:embed="rId2"/>
          <a:stretch>
            <a:fillRect/>
          </a:stretch>
        </p:blipFill>
        <p:spPr>
          <a:xfrm>
            <a:off x="7383818" y="2123238"/>
            <a:ext cx="4808182" cy="2888710"/>
          </a:xfrm>
          <a:prstGeom prst="rect">
            <a:avLst/>
          </a:prstGeom>
        </p:spPr>
      </p:pic>
    </p:spTree>
    <p:extLst>
      <p:ext uri="{BB962C8B-B14F-4D97-AF65-F5344CB8AC3E}">
        <p14:creationId xmlns:p14="http://schemas.microsoft.com/office/powerpoint/2010/main" val="158270600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68A92E-5228-E581-3414-BB751EEB8D8F}"/>
              </a:ext>
            </a:extLst>
          </p:cNvPr>
          <p:cNvSpPr>
            <a:spLocks noGrp="1"/>
          </p:cNvSpPr>
          <p:nvPr>
            <p:ph type="title"/>
          </p:nvPr>
        </p:nvSpPr>
        <p:spPr/>
        <p:txBody>
          <a:bodyPr/>
          <a:lstStyle/>
          <a:p>
            <a:r>
              <a:rPr lang="en-US" dirty="0"/>
              <a:t>Object Composition</a:t>
            </a:r>
          </a:p>
        </p:txBody>
      </p:sp>
      <p:sp>
        <p:nvSpPr>
          <p:cNvPr id="3" name="Content Placeholder 2">
            <a:extLst>
              <a:ext uri="{FF2B5EF4-FFF2-40B4-BE49-F238E27FC236}">
                <a16:creationId xmlns:a16="http://schemas.microsoft.com/office/drawing/2014/main" id="{D14C6145-D4A5-0F76-F125-35D8485120FA}"/>
              </a:ext>
            </a:extLst>
          </p:cNvPr>
          <p:cNvSpPr>
            <a:spLocks noGrp="1"/>
          </p:cNvSpPr>
          <p:nvPr>
            <p:ph idx="1"/>
          </p:nvPr>
        </p:nvSpPr>
        <p:spPr>
          <a:xfrm>
            <a:off x="-1" y="1833801"/>
            <a:ext cx="7168551" cy="4351338"/>
          </a:xfrm>
        </p:spPr>
        <p:txBody>
          <a:bodyPr>
            <a:normAutofit/>
          </a:bodyPr>
          <a:lstStyle/>
          <a:p>
            <a:r>
              <a:rPr lang="en-US" dirty="0">
                <a:effectLst/>
              </a:rPr>
              <a:t>It is possible for a class to have a member variable that is an instance of another class.</a:t>
            </a:r>
          </a:p>
          <a:p>
            <a:r>
              <a:rPr lang="en-US" dirty="0"/>
              <a:t>Sometimes it’s helpful to nest an object of one class inside another class. </a:t>
            </a:r>
          </a:p>
          <a:p>
            <a:r>
              <a:rPr lang="en-US" dirty="0"/>
              <a:t>Notice that the Carpet class has a member variable named size, which is an instance of the Rectangle class. The Carpet class can use this object to store the room dimensions and to compute the area for a carpet purchase.</a:t>
            </a:r>
          </a:p>
        </p:txBody>
      </p:sp>
      <p:pic>
        <p:nvPicPr>
          <p:cNvPr id="4" name="Picture 3">
            <a:extLst>
              <a:ext uri="{FF2B5EF4-FFF2-40B4-BE49-F238E27FC236}">
                <a16:creationId xmlns:a16="http://schemas.microsoft.com/office/drawing/2014/main" id="{6CDE64A0-CFFF-3A6B-90AF-3D11828D9333}"/>
              </a:ext>
            </a:extLst>
          </p:cNvPr>
          <p:cNvPicPr>
            <a:picLocks noChangeAspect="1"/>
          </p:cNvPicPr>
          <p:nvPr/>
        </p:nvPicPr>
        <p:blipFill>
          <a:blip r:embed="rId2"/>
          <a:stretch>
            <a:fillRect/>
          </a:stretch>
        </p:blipFill>
        <p:spPr>
          <a:xfrm>
            <a:off x="7832657" y="0"/>
            <a:ext cx="4359343" cy="4999247"/>
          </a:xfrm>
          <a:prstGeom prst="rect">
            <a:avLst/>
          </a:prstGeom>
        </p:spPr>
      </p:pic>
      <p:pic>
        <p:nvPicPr>
          <p:cNvPr id="5" name="Picture 4">
            <a:extLst>
              <a:ext uri="{FF2B5EF4-FFF2-40B4-BE49-F238E27FC236}">
                <a16:creationId xmlns:a16="http://schemas.microsoft.com/office/drawing/2014/main" id="{E5E6CB74-D3BD-92E9-7B20-9C391FD78072}"/>
              </a:ext>
            </a:extLst>
          </p:cNvPr>
          <p:cNvPicPr>
            <a:picLocks noChangeAspect="1"/>
          </p:cNvPicPr>
          <p:nvPr/>
        </p:nvPicPr>
        <p:blipFill>
          <a:blip r:embed="rId3"/>
          <a:stretch>
            <a:fillRect/>
          </a:stretch>
        </p:blipFill>
        <p:spPr>
          <a:xfrm>
            <a:off x="7168550" y="4999247"/>
            <a:ext cx="2017251" cy="1858753"/>
          </a:xfrm>
          <a:prstGeom prst="rect">
            <a:avLst/>
          </a:prstGeom>
        </p:spPr>
      </p:pic>
    </p:spTree>
    <p:extLst>
      <p:ext uri="{BB962C8B-B14F-4D97-AF65-F5344CB8AC3E}">
        <p14:creationId xmlns:p14="http://schemas.microsoft.com/office/powerpoint/2010/main" val="73214168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48BB9B-B1EE-88E7-418A-AE8C784FE109}"/>
              </a:ext>
            </a:extLst>
          </p:cNvPr>
          <p:cNvSpPr>
            <a:spLocks noGrp="1"/>
          </p:cNvSpPr>
          <p:nvPr>
            <p:ph type="title"/>
          </p:nvPr>
        </p:nvSpPr>
        <p:spPr/>
        <p:txBody>
          <a:bodyPr/>
          <a:lstStyle/>
          <a:p>
            <a:r>
              <a:rPr lang="en-US" dirty="0"/>
              <a:t>Example</a:t>
            </a:r>
          </a:p>
        </p:txBody>
      </p:sp>
      <p:pic>
        <p:nvPicPr>
          <p:cNvPr id="4" name="Picture 3">
            <a:extLst>
              <a:ext uri="{FF2B5EF4-FFF2-40B4-BE49-F238E27FC236}">
                <a16:creationId xmlns:a16="http://schemas.microsoft.com/office/drawing/2014/main" id="{1BE1C862-5BCA-77A1-C078-BA909F6F9CA3}"/>
              </a:ext>
            </a:extLst>
          </p:cNvPr>
          <p:cNvPicPr>
            <a:picLocks noChangeAspect="1"/>
          </p:cNvPicPr>
          <p:nvPr/>
        </p:nvPicPr>
        <p:blipFill>
          <a:blip r:embed="rId2"/>
          <a:srcRect l="-24016" t="-3240" r="24016" b="3240"/>
          <a:stretch/>
        </p:blipFill>
        <p:spPr>
          <a:xfrm>
            <a:off x="-1104181" y="1410659"/>
            <a:ext cx="4489892" cy="4791734"/>
          </a:xfrm>
          <a:prstGeom prst="rect">
            <a:avLst/>
          </a:prstGeom>
        </p:spPr>
      </p:pic>
      <p:pic>
        <p:nvPicPr>
          <p:cNvPr id="5" name="Picture 4">
            <a:extLst>
              <a:ext uri="{FF2B5EF4-FFF2-40B4-BE49-F238E27FC236}">
                <a16:creationId xmlns:a16="http://schemas.microsoft.com/office/drawing/2014/main" id="{EAAD4DA1-74B8-02B5-7F6E-122AA60F9825}"/>
              </a:ext>
            </a:extLst>
          </p:cNvPr>
          <p:cNvPicPr>
            <a:picLocks noChangeAspect="1"/>
          </p:cNvPicPr>
          <p:nvPr/>
        </p:nvPicPr>
        <p:blipFill>
          <a:blip r:embed="rId3"/>
          <a:stretch>
            <a:fillRect/>
          </a:stretch>
        </p:blipFill>
        <p:spPr>
          <a:xfrm>
            <a:off x="4050993" y="0"/>
            <a:ext cx="3461424" cy="3009256"/>
          </a:xfrm>
          <a:prstGeom prst="rect">
            <a:avLst/>
          </a:prstGeom>
        </p:spPr>
      </p:pic>
      <p:pic>
        <p:nvPicPr>
          <p:cNvPr id="6" name="Picture 5">
            <a:extLst>
              <a:ext uri="{FF2B5EF4-FFF2-40B4-BE49-F238E27FC236}">
                <a16:creationId xmlns:a16="http://schemas.microsoft.com/office/drawing/2014/main" id="{81625649-05B4-0A93-778A-B950D0D65A4E}"/>
              </a:ext>
            </a:extLst>
          </p:cNvPr>
          <p:cNvPicPr>
            <a:picLocks noChangeAspect="1"/>
          </p:cNvPicPr>
          <p:nvPr/>
        </p:nvPicPr>
        <p:blipFill>
          <a:blip r:embed="rId4"/>
          <a:stretch>
            <a:fillRect/>
          </a:stretch>
        </p:blipFill>
        <p:spPr>
          <a:xfrm>
            <a:off x="8141008" y="664233"/>
            <a:ext cx="4050992" cy="5828642"/>
          </a:xfrm>
          <a:prstGeom prst="rect">
            <a:avLst/>
          </a:prstGeom>
        </p:spPr>
      </p:pic>
      <p:sp>
        <p:nvSpPr>
          <p:cNvPr id="8" name="TextBox 7">
            <a:extLst>
              <a:ext uri="{FF2B5EF4-FFF2-40B4-BE49-F238E27FC236}">
                <a16:creationId xmlns:a16="http://schemas.microsoft.com/office/drawing/2014/main" id="{72CC34F0-7374-9D1B-7989-3BFD3978276D}"/>
              </a:ext>
            </a:extLst>
          </p:cNvPr>
          <p:cNvSpPr txBox="1"/>
          <p:nvPr/>
        </p:nvSpPr>
        <p:spPr>
          <a:xfrm>
            <a:off x="3536759" y="3156819"/>
            <a:ext cx="4489892" cy="3416320"/>
          </a:xfrm>
          <a:prstGeom prst="rect">
            <a:avLst/>
          </a:prstGeom>
          <a:noFill/>
        </p:spPr>
        <p:txBody>
          <a:bodyPr wrap="square">
            <a:spAutoFit/>
          </a:bodyPr>
          <a:lstStyle/>
          <a:p>
            <a:r>
              <a:rPr lang="en-US" dirty="0"/>
              <a:t>Notice that the client program, which defines purchase, a Carpet object, only uses it to call Carpet class functions, not Rectangle class functions. It does not even know that the Carpet class has a Rectangle object inside it. Also, follow how Carpet class functions call Rectangle functions.</a:t>
            </a:r>
          </a:p>
          <a:p>
            <a:r>
              <a:rPr lang="en-US" dirty="0"/>
              <a:t>Just as the user program calls Carpet functions through the name of its Carpet object, the Carpet class functions must call Rectangle functions through the name of its Rectangle object.  </a:t>
            </a:r>
            <a:r>
              <a:rPr lang="en-US" b="1" dirty="0" err="1">
                <a:solidFill>
                  <a:srgbClr val="FF0000"/>
                </a:solidFill>
              </a:rPr>
              <a:t>size.</a:t>
            </a:r>
            <a:r>
              <a:rPr lang="en-US" b="1" dirty="0" err="1">
                <a:solidFill>
                  <a:srgbClr val="FF0000"/>
                </a:solidFill>
                <a:effectLst/>
              </a:rPr>
              <a:t>calcArea</a:t>
            </a:r>
            <a:r>
              <a:rPr lang="en-US" b="1" dirty="0">
                <a:solidFill>
                  <a:srgbClr val="FF0000"/>
                </a:solidFill>
              </a:rPr>
              <a:t>()</a:t>
            </a:r>
          </a:p>
        </p:txBody>
      </p:sp>
    </p:spTree>
    <p:extLst>
      <p:ext uri="{BB962C8B-B14F-4D97-AF65-F5344CB8AC3E}">
        <p14:creationId xmlns:p14="http://schemas.microsoft.com/office/powerpoint/2010/main" val="294227811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303A0F-EEFC-780B-3D35-49EEA032922A}"/>
              </a:ext>
            </a:extLst>
          </p:cNvPr>
          <p:cNvSpPr>
            <a:spLocks noGrp="1"/>
          </p:cNvSpPr>
          <p:nvPr>
            <p:ph type="title"/>
          </p:nvPr>
        </p:nvSpPr>
        <p:spPr/>
        <p:txBody>
          <a:bodyPr/>
          <a:lstStyle/>
          <a:p>
            <a:r>
              <a:rPr lang="en-US" dirty="0"/>
              <a:t>Separating Class Specification, Implementation, and Client Code</a:t>
            </a:r>
          </a:p>
        </p:txBody>
      </p:sp>
      <p:sp>
        <p:nvSpPr>
          <p:cNvPr id="3" name="Content Placeholder 2">
            <a:extLst>
              <a:ext uri="{FF2B5EF4-FFF2-40B4-BE49-F238E27FC236}">
                <a16:creationId xmlns:a16="http://schemas.microsoft.com/office/drawing/2014/main" id="{632AAC4E-090F-252E-9EEA-9AC36D9C45C7}"/>
              </a:ext>
            </a:extLst>
          </p:cNvPr>
          <p:cNvSpPr>
            <a:spLocks noGrp="1"/>
          </p:cNvSpPr>
          <p:nvPr>
            <p:ph idx="1"/>
          </p:nvPr>
        </p:nvSpPr>
        <p:spPr/>
        <p:txBody>
          <a:bodyPr/>
          <a:lstStyle/>
          <a:p>
            <a:r>
              <a:rPr lang="en-US" dirty="0">
                <a:effectLst/>
              </a:rPr>
              <a:t>Usually class declarations are stored in their own header files and member function definitions are stored in their own .</a:t>
            </a:r>
            <a:r>
              <a:rPr lang="en-US" dirty="0" err="1">
                <a:effectLst/>
              </a:rPr>
              <a:t>cpp</a:t>
            </a:r>
            <a:r>
              <a:rPr lang="en-US" dirty="0">
                <a:effectLst/>
              </a:rPr>
              <a:t> files.</a:t>
            </a:r>
          </a:p>
          <a:p>
            <a:r>
              <a:rPr lang="en-US" dirty="0"/>
              <a:t>In the programs we’ve looked at so far, the class declaration, the member function definitions, and the application program that uses the class are all stored in one file. </a:t>
            </a:r>
          </a:p>
          <a:p>
            <a:r>
              <a:rPr lang="en-US" dirty="0"/>
              <a:t>A more conventional way of designing C++ programs is to store these in three separate files. </a:t>
            </a:r>
            <a:endParaRPr lang="en-US" dirty="0">
              <a:effectLst/>
            </a:endParaRPr>
          </a:p>
          <a:p>
            <a:endParaRPr lang="en-US" dirty="0"/>
          </a:p>
        </p:txBody>
      </p:sp>
    </p:spTree>
    <p:extLst>
      <p:ext uri="{BB962C8B-B14F-4D97-AF65-F5344CB8AC3E}">
        <p14:creationId xmlns:p14="http://schemas.microsoft.com/office/powerpoint/2010/main" val="294509664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A514E9-6243-A500-84FD-5AEB363B1C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8F1187-C4AF-8A82-2D8E-83F881BF5FA0}"/>
              </a:ext>
            </a:extLst>
          </p:cNvPr>
          <p:cNvSpPr>
            <a:spLocks noGrp="1"/>
          </p:cNvSpPr>
          <p:nvPr>
            <p:ph type="title"/>
          </p:nvPr>
        </p:nvSpPr>
        <p:spPr/>
        <p:txBody>
          <a:bodyPr/>
          <a:lstStyle/>
          <a:p>
            <a:r>
              <a:rPr lang="en-US" dirty="0"/>
              <a:t>Separating Class Specification, Implementation, and Client Code</a:t>
            </a:r>
          </a:p>
        </p:txBody>
      </p:sp>
      <p:sp>
        <p:nvSpPr>
          <p:cNvPr id="3" name="Content Placeholder 2">
            <a:extLst>
              <a:ext uri="{FF2B5EF4-FFF2-40B4-BE49-F238E27FC236}">
                <a16:creationId xmlns:a16="http://schemas.microsoft.com/office/drawing/2014/main" id="{90C90FBB-8CCF-ED2B-B4B0-E636594AF519}"/>
              </a:ext>
            </a:extLst>
          </p:cNvPr>
          <p:cNvSpPr>
            <a:spLocks noGrp="1"/>
          </p:cNvSpPr>
          <p:nvPr>
            <p:ph idx="1"/>
          </p:nvPr>
        </p:nvSpPr>
        <p:spPr>
          <a:xfrm>
            <a:off x="146649" y="1825625"/>
            <a:ext cx="11964837" cy="4877100"/>
          </a:xfrm>
        </p:spPr>
        <p:txBody>
          <a:bodyPr>
            <a:normAutofit fontScale="92500" lnSpcReduction="10000"/>
          </a:bodyPr>
          <a:lstStyle/>
          <a:p>
            <a:pPr algn="l"/>
            <a:r>
              <a:rPr lang="en-US" dirty="0">
                <a:effectLst/>
              </a:rPr>
              <a:t>Typically, program components are stored in the following fashion:</a:t>
            </a:r>
          </a:p>
          <a:p>
            <a:pPr lvl="1"/>
            <a:r>
              <a:rPr lang="en-US" dirty="0"/>
              <a:t>lass declarations are stored in their own header files. A header file that contains a class declaration is called a </a:t>
            </a:r>
            <a:r>
              <a:rPr lang="en-US" dirty="0">
                <a:hlinkClick r:id="rId2"/>
              </a:rPr>
              <a:t>class specification file</a:t>
            </a:r>
            <a:r>
              <a:rPr lang="en-US" dirty="0"/>
              <a:t>. The name of the class specification file is usually the same as the name of the class, with a .h extension. For example, the Rectangle class would be declared in the file </a:t>
            </a:r>
            <a:r>
              <a:rPr lang="en-US" dirty="0" err="1"/>
              <a:t>Rectangle.h</a:t>
            </a:r>
            <a:r>
              <a:rPr lang="en-US" dirty="0"/>
              <a:t>.</a:t>
            </a:r>
          </a:p>
          <a:p>
            <a:pPr lvl="1"/>
            <a:r>
              <a:rPr lang="en-US" dirty="0"/>
              <a:t>Any program that uses the class should #include this header file.</a:t>
            </a:r>
          </a:p>
          <a:p>
            <a:pPr lvl="1"/>
            <a:r>
              <a:rPr lang="en-US" dirty="0"/>
              <a:t>The member function definitions for a class are stored in a separate .</a:t>
            </a:r>
            <a:r>
              <a:rPr lang="en-US" dirty="0" err="1"/>
              <a:t>cpp</a:t>
            </a:r>
            <a:r>
              <a:rPr lang="en-US" dirty="0"/>
              <a:t> file, which is called the </a:t>
            </a:r>
            <a:r>
              <a:rPr lang="en-US" dirty="0">
                <a:hlinkClick r:id="rId2"/>
              </a:rPr>
              <a:t>class implementation file</a:t>
            </a:r>
            <a:r>
              <a:rPr lang="en-US" dirty="0"/>
              <a:t>. The file usually has the same name as the class, with the .</a:t>
            </a:r>
            <a:r>
              <a:rPr lang="en-US" dirty="0" err="1"/>
              <a:t>cpp</a:t>
            </a:r>
            <a:r>
              <a:rPr lang="en-US" dirty="0"/>
              <a:t> extension. For example the Rectangle class member functions would be defined in the file </a:t>
            </a:r>
            <a:r>
              <a:rPr lang="en-US" dirty="0" err="1"/>
              <a:t>Rectangle.cpp</a:t>
            </a:r>
            <a:r>
              <a:rPr lang="en-US" dirty="0"/>
              <a:t>.</a:t>
            </a:r>
          </a:p>
          <a:p>
            <a:pPr lvl="1"/>
            <a:r>
              <a:rPr lang="en-US" dirty="0"/>
              <a:t>The class .</a:t>
            </a:r>
            <a:r>
              <a:rPr lang="en-US" dirty="0" err="1"/>
              <a:t>cpp</a:t>
            </a:r>
            <a:r>
              <a:rPr lang="en-US" dirty="0"/>
              <a:t> file should be compiled and linked with the application program that uses the class. This program, also known as the </a:t>
            </a:r>
            <a:r>
              <a:rPr lang="en-US" dirty="0">
                <a:hlinkClick r:id="rId2"/>
              </a:rPr>
              <a:t>client program</a:t>
            </a:r>
            <a:r>
              <a:rPr lang="en-US" dirty="0"/>
              <a:t>, or </a:t>
            </a:r>
            <a:r>
              <a:rPr lang="en-US" dirty="0">
                <a:hlinkClick r:id="rId2"/>
              </a:rPr>
              <a:t>client code</a:t>
            </a:r>
            <a:r>
              <a:rPr lang="en-US" dirty="0"/>
              <a:t>, is the one that includes the main function. This process can be automated with a project or make utility. Integrated development environments such as Visual Studio also provide the means to create multi-file projects.</a:t>
            </a:r>
          </a:p>
          <a:p>
            <a:endParaRPr lang="en-US" dirty="0"/>
          </a:p>
        </p:txBody>
      </p:sp>
    </p:spTree>
    <p:extLst>
      <p:ext uri="{BB962C8B-B14F-4D97-AF65-F5344CB8AC3E}">
        <p14:creationId xmlns:p14="http://schemas.microsoft.com/office/powerpoint/2010/main" val="176285052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21F94D-896A-D78D-9E35-CDC798FE10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0F41E1-9CF4-EC0F-C8DB-2529A8CB87A0}"/>
              </a:ext>
            </a:extLst>
          </p:cNvPr>
          <p:cNvSpPr>
            <a:spLocks noGrp="1"/>
          </p:cNvSpPr>
          <p:nvPr>
            <p:ph type="title"/>
          </p:nvPr>
        </p:nvSpPr>
        <p:spPr/>
        <p:txBody>
          <a:bodyPr/>
          <a:lstStyle/>
          <a:p>
            <a:r>
              <a:rPr lang="en-US" dirty="0"/>
              <a:t>Example</a:t>
            </a:r>
          </a:p>
        </p:txBody>
      </p:sp>
      <p:sp>
        <p:nvSpPr>
          <p:cNvPr id="3" name="Content Placeholder 2">
            <a:extLst>
              <a:ext uri="{FF2B5EF4-FFF2-40B4-BE49-F238E27FC236}">
                <a16:creationId xmlns:a16="http://schemas.microsoft.com/office/drawing/2014/main" id="{46F84ACD-6EE1-6286-7E0C-13B259DECE61}"/>
              </a:ext>
            </a:extLst>
          </p:cNvPr>
          <p:cNvSpPr>
            <a:spLocks noGrp="1"/>
          </p:cNvSpPr>
          <p:nvPr>
            <p:ph idx="1"/>
          </p:nvPr>
        </p:nvSpPr>
        <p:spPr>
          <a:xfrm>
            <a:off x="146650" y="1825625"/>
            <a:ext cx="4546120" cy="779552"/>
          </a:xfrm>
        </p:spPr>
        <p:txBody>
          <a:bodyPr>
            <a:normAutofit fontScale="70000" lnSpcReduction="20000"/>
          </a:bodyPr>
          <a:lstStyle/>
          <a:p>
            <a:r>
              <a:rPr lang="en-US" dirty="0"/>
              <a:t>First, the Rectangle class declaration would be stored in the following </a:t>
            </a:r>
            <a:r>
              <a:rPr lang="en-US" dirty="0" err="1"/>
              <a:t>Rectangle.h</a:t>
            </a:r>
            <a:r>
              <a:rPr lang="en-US" dirty="0"/>
              <a:t> file.</a:t>
            </a:r>
          </a:p>
        </p:txBody>
      </p:sp>
      <p:pic>
        <p:nvPicPr>
          <p:cNvPr id="4" name="Picture 3">
            <a:extLst>
              <a:ext uri="{FF2B5EF4-FFF2-40B4-BE49-F238E27FC236}">
                <a16:creationId xmlns:a16="http://schemas.microsoft.com/office/drawing/2014/main" id="{11825914-CFC3-05F4-566D-F8EB29F8A7F0}"/>
              </a:ext>
            </a:extLst>
          </p:cNvPr>
          <p:cNvPicPr>
            <a:picLocks noChangeAspect="1"/>
          </p:cNvPicPr>
          <p:nvPr/>
        </p:nvPicPr>
        <p:blipFill>
          <a:blip r:embed="rId2"/>
          <a:stretch>
            <a:fillRect/>
          </a:stretch>
        </p:blipFill>
        <p:spPr>
          <a:xfrm>
            <a:off x="372374" y="2740114"/>
            <a:ext cx="4404920" cy="3321170"/>
          </a:xfrm>
          <a:prstGeom prst="rect">
            <a:avLst/>
          </a:prstGeom>
        </p:spPr>
      </p:pic>
      <p:sp>
        <p:nvSpPr>
          <p:cNvPr id="5" name="Content Placeholder 2">
            <a:extLst>
              <a:ext uri="{FF2B5EF4-FFF2-40B4-BE49-F238E27FC236}">
                <a16:creationId xmlns:a16="http://schemas.microsoft.com/office/drawing/2014/main" id="{634B7228-E169-C063-FED6-A0719B9896A4}"/>
              </a:ext>
            </a:extLst>
          </p:cNvPr>
          <p:cNvSpPr txBox="1">
            <a:spLocks/>
          </p:cNvSpPr>
          <p:nvPr/>
        </p:nvSpPr>
        <p:spPr>
          <a:xfrm>
            <a:off x="4882551" y="175344"/>
            <a:ext cx="7228935" cy="6682656"/>
          </a:xfrm>
          <a:prstGeom prst="rect">
            <a:avLst/>
          </a:prstGeom>
        </p:spPr>
        <p:txBody>
          <a:bodyPr vert="horz" lIns="91440" tIns="45720" rIns="91440" bIns="45720" rtlCol="0">
            <a:normAutofit fontScale="7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r>
              <a:rPr lang="en-US" dirty="0">
                <a:effectLst/>
              </a:rPr>
              <a:t>This is the specification file for the Rectangle class. It contains only the declaration of the Rectangle class. It does not contain any member function definitions. </a:t>
            </a:r>
          </a:p>
          <a:p>
            <a:pPr algn="l"/>
            <a:r>
              <a:rPr lang="en-US" dirty="0">
                <a:effectLst/>
              </a:rPr>
              <a:t>When we write other programs that use the Rectangle class, we can have an </a:t>
            </a:r>
            <a:r>
              <a:rPr lang="en-US" b="1" dirty="0">
                <a:solidFill>
                  <a:srgbClr val="FF0000"/>
                </a:solidFill>
                <a:effectLst/>
              </a:rPr>
              <a:t>#include </a:t>
            </a:r>
            <a:r>
              <a:rPr lang="en-US" dirty="0">
                <a:effectLst/>
              </a:rPr>
              <a:t>directive that includes this file. </a:t>
            </a:r>
          </a:p>
          <a:p>
            <a:pPr algn="l"/>
            <a:r>
              <a:rPr lang="en-US" dirty="0"/>
              <a:t>T</a:t>
            </a:r>
            <a:r>
              <a:rPr lang="en-US" dirty="0">
                <a:effectLst/>
              </a:rPr>
              <a:t>hat way, we won’t have to write the class declaration in every program that uses the Rectangle class.</a:t>
            </a:r>
          </a:p>
          <a:p>
            <a:pPr algn="l"/>
            <a:r>
              <a:rPr lang="en-US" b="1" dirty="0">
                <a:effectLst/>
              </a:rPr>
              <a:t>This file also introduces two new preprocessor directives: #</a:t>
            </a:r>
            <a:r>
              <a:rPr lang="en-US" b="1" dirty="0" err="1">
                <a:effectLst/>
              </a:rPr>
              <a:t>ifndef</a:t>
            </a:r>
            <a:r>
              <a:rPr lang="en-US" b="1" dirty="0">
                <a:effectLst/>
              </a:rPr>
              <a:t> and #endif. </a:t>
            </a:r>
          </a:p>
          <a:p>
            <a:pPr algn="l"/>
            <a:r>
              <a:rPr lang="en-US" dirty="0">
                <a:effectLst/>
              </a:rPr>
              <a:t>The #</a:t>
            </a:r>
            <a:r>
              <a:rPr lang="en-US" dirty="0" err="1">
                <a:effectLst/>
              </a:rPr>
              <a:t>ifndef</a:t>
            </a:r>
            <a:r>
              <a:rPr lang="en-US" dirty="0">
                <a:effectLst/>
              </a:rPr>
              <a:t> directive that appears in line 2 is called an </a:t>
            </a:r>
            <a:r>
              <a:rPr lang="en-US" dirty="0">
                <a:effectLst/>
                <a:hlinkClick r:id="rId3"/>
              </a:rPr>
              <a:t>include guard.</a:t>
            </a:r>
            <a:r>
              <a:rPr lang="en-US" dirty="0">
                <a:effectLst/>
              </a:rPr>
              <a:t> It prevents the header file from accidentally being included more than once.</a:t>
            </a:r>
          </a:p>
          <a:p>
            <a:pPr algn="l"/>
            <a:r>
              <a:rPr lang="en-US" dirty="0">
                <a:effectLst/>
              </a:rPr>
              <a:t>When your main program file has an #include directive for a header file, there is always the possibility that the header file will have an #include directive for a second header file. </a:t>
            </a:r>
          </a:p>
          <a:p>
            <a:pPr algn="l"/>
            <a:r>
              <a:rPr lang="en-US" dirty="0">
                <a:effectLst/>
              </a:rPr>
              <a:t>If your main program file also has an #include directive for the second header file, the preprocessor will include the second header file twice. </a:t>
            </a:r>
          </a:p>
          <a:p>
            <a:pPr algn="l"/>
            <a:r>
              <a:rPr lang="en-US" dirty="0">
                <a:effectLst/>
              </a:rPr>
              <a:t>Unless an include guard has been written into the second header file, an error will occur because the compiler will process the declarations in the second header file twice. </a:t>
            </a:r>
            <a:endParaRPr lang="en-US" dirty="0"/>
          </a:p>
        </p:txBody>
      </p:sp>
    </p:spTree>
    <p:extLst>
      <p:ext uri="{BB962C8B-B14F-4D97-AF65-F5344CB8AC3E}">
        <p14:creationId xmlns:p14="http://schemas.microsoft.com/office/powerpoint/2010/main" val="302228555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F43935-A060-520E-C7C7-00DB6EFD94A3}"/>
              </a:ext>
            </a:extLst>
          </p:cNvPr>
          <p:cNvSpPr>
            <a:spLocks noGrp="1"/>
          </p:cNvSpPr>
          <p:nvPr>
            <p:ph type="title"/>
          </p:nvPr>
        </p:nvSpPr>
        <p:spPr/>
        <p:txBody>
          <a:bodyPr/>
          <a:lstStyle/>
          <a:p>
            <a:r>
              <a:rPr lang="en-US" dirty="0"/>
              <a:t>Separating Class Specification, Implementation, and Client Code</a:t>
            </a:r>
          </a:p>
        </p:txBody>
      </p:sp>
      <p:sp>
        <p:nvSpPr>
          <p:cNvPr id="3" name="Content Placeholder 2">
            <a:extLst>
              <a:ext uri="{FF2B5EF4-FFF2-40B4-BE49-F238E27FC236}">
                <a16:creationId xmlns:a16="http://schemas.microsoft.com/office/drawing/2014/main" id="{78779819-21B5-F436-065D-08BABA6214AF}"/>
              </a:ext>
            </a:extLst>
          </p:cNvPr>
          <p:cNvSpPr>
            <a:spLocks noGrp="1"/>
          </p:cNvSpPr>
          <p:nvPr>
            <p:ph idx="1"/>
          </p:nvPr>
        </p:nvSpPr>
        <p:spPr>
          <a:xfrm>
            <a:off x="465826" y="1690688"/>
            <a:ext cx="11499012" cy="5187651"/>
          </a:xfrm>
        </p:spPr>
        <p:txBody>
          <a:bodyPr>
            <a:normAutofit fontScale="92500" lnSpcReduction="10000"/>
          </a:bodyPr>
          <a:lstStyle/>
          <a:p>
            <a:r>
              <a:rPr lang="en-US" dirty="0"/>
              <a:t>The word </a:t>
            </a:r>
            <a:r>
              <a:rPr lang="en-US" dirty="0" err="1"/>
              <a:t>ifndef</a:t>
            </a:r>
            <a:r>
              <a:rPr lang="en-US" dirty="0"/>
              <a:t> stands for “if not defined.” It is used to determine whether or not a specific constant has already been defined with another #define directive. </a:t>
            </a:r>
          </a:p>
          <a:p>
            <a:r>
              <a:rPr lang="en-US" dirty="0"/>
              <a:t>When the </a:t>
            </a:r>
            <a:r>
              <a:rPr lang="en-US" dirty="0" err="1"/>
              <a:t>Rectangle.h</a:t>
            </a:r>
            <a:r>
              <a:rPr lang="en-US" dirty="0"/>
              <a:t> file is being compiled, the #</a:t>
            </a:r>
            <a:r>
              <a:rPr lang="en-US" dirty="0" err="1"/>
              <a:t>ifndef</a:t>
            </a:r>
            <a:r>
              <a:rPr lang="en-US" dirty="0"/>
              <a:t> directive checks for the existence of a constant named RECTANGLE_H. </a:t>
            </a:r>
          </a:p>
          <a:p>
            <a:r>
              <a:rPr lang="en-US" dirty="0"/>
              <a:t>If this constant has not been defined yet, it is immediately defined in line 3, and the rest of the file is included. </a:t>
            </a:r>
          </a:p>
          <a:p>
            <a:r>
              <a:rPr lang="en-US" dirty="0"/>
              <a:t>However, if the constant has already been defined, it means that this file has already been included. </a:t>
            </a:r>
          </a:p>
          <a:p>
            <a:r>
              <a:rPr lang="en-US" dirty="0"/>
              <a:t>In that case, it is not included a second time. Instead, everything between the #</a:t>
            </a:r>
            <a:r>
              <a:rPr lang="en-US" dirty="0" err="1"/>
              <a:t>ifndef</a:t>
            </a:r>
            <a:r>
              <a:rPr lang="en-US" dirty="0"/>
              <a:t> and #endif directives is skipped. </a:t>
            </a:r>
          </a:p>
          <a:p>
            <a:r>
              <a:rPr lang="en-US" dirty="0"/>
              <a:t>Note that the constant used in the #</a:t>
            </a:r>
            <a:r>
              <a:rPr lang="en-US" dirty="0" err="1"/>
              <a:t>infdef</a:t>
            </a:r>
            <a:r>
              <a:rPr lang="en-US" dirty="0"/>
              <a:t> and #define directives should be written in all capital letters and is customarily named FILENAME_H, where FILENAME is the name of the header file.</a:t>
            </a:r>
          </a:p>
        </p:txBody>
      </p:sp>
    </p:spTree>
    <p:extLst>
      <p:ext uri="{BB962C8B-B14F-4D97-AF65-F5344CB8AC3E}">
        <p14:creationId xmlns:p14="http://schemas.microsoft.com/office/powerpoint/2010/main" val="68489742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5E140D-62F1-084B-41D0-A65B70634D23}"/>
              </a:ext>
            </a:extLst>
          </p:cNvPr>
          <p:cNvSpPr>
            <a:spLocks noGrp="1"/>
          </p:cNvSpPr>
          <p:nvPr>
            <p:ph type="title"/>
          </p:nvPr>
        </p:nvSpPr>
        <p:spPr/>
        <p:txBody>
          <a:bodyPr/>
          <a:lstStyle/>
          <a:p>
            <a:r>
              <a:rPr lang="en-US" dirty="0"/>
              <a:t>Separating Class Specification, Implementation, and Client Code</a:t>
            </a:r>
          </a:p>
        </p:txBody>
      </p:sp>
      <p:sp>
        <p:nvSpPr>
          <p:cNvPr id="3" name="Content Placeholder 2">
            <a:extLst>
              <a:ext uri="{FF2B5EF4-FFF2-40B4-BE49-F238E27FC236}">
                <a16:creationId xmlns:a16="http://schemas.microsoft.com/office/drawing/2014/main" id="{A4893D36-3066-2FBB-2E7D-66CED94D1D56}"/>
              </a:ext>
            </a:extLst>
          </p:cNvPr>
          <p:cNvSpPr>
            <a:spLocks noGrp="1"/>
          </p:cNvSpPr>
          <p:nvPr>
            <p:ph idx="1"/>
          </p:nvPr>
        </p:nvSpPr>
        <p:spPr>
          <a:xfrm>
            <a:off x="838199" y="1825625"/>
            <a:ext cx="2966050" cy="4351338"/>
          </a:xfrm>
        </p:spPr>
        <p:txBody>
          <a:bodyPr>
            <a:normAutofit fontScale="92500" lnSpcReduction="10000"/>
          </a:bodyPr>
          <a:lstStyle/>
          <a:p>
            <a:r>
              <a:rPr lang="en-US" dirty="0"/>
              <a:t>Next we need an implementation file that contains the class member function definitions. </a:t>
            </a:r>
          </a:p>
          <a:p>
            <a:r>
              <a:rPr lang="en-US" dirty="0"/>
              <a:t>The implementation file for the Rectangle class is </a:t>
            </a:r>
            <a:r>
              <a:rPr lang="en-US" b="1" i="1" dirty="0" err="1"/>
              <a:t>Rectangle.cpp</a:t>
            </a:r>
            <a:r>
              <a:rPr lang="en-US" b="1" i="1" dirty="0"/>
              <a:t>.</a:t>
            </a:r>
          </a:p>
        </p:txBody>
      </p:sp>
      <p:pic>
        <p:nvPicPr>
          <p:cNvPr id="4" name="Picture 3">
            <a:extLst>
              <a:ext uri="{FF2B5EF4-FFF2-40B4-BE49-F238E27FC236}">
                <a16:creationId xmlns:a16="http://schemas.microsoft.com/office/drawing/2014/main" id="{7632FAE3-FF16-2A7B-1F96-3ED8FF05596D}"/>
              </a:ext>
            </a:extLst>
          </p:cNvPr>
          <p:cNvPicPr>
            <a:picLocks noChangeAspect="1"/>
          </p:cNvPicPr>
          <p:nvPr/>
        </p:nvPicPr>
        <p:blipFill>
          <a:blip r:embed="rId2"/>
          <a:stretch>
            <a:fillRect/>
          </a:stretch>
        </p:blipFill>
        <p:spPr>
          <a:xfrm>
            <a:off x="8177961" y="2223294"/>
            <a:ext cx="3289300" cy="3556000"/>
          </a:xfrm>
          <a:prstGeom prst="rect">
            <a:avLst/>
          </a:prstGeom>
        </p:spPr>
      </p:pic>
      <p:pic>
        <p:nvPicPr>
          <p:cNvPr id="5" name="Picture 4">
            <a:extLst>
              <a:ext uri="{FF2B5EF4-FFF2-40B4-BE49-F238E27FC236}">
                <a16:creationId xmlns:a16="http://schemas.microsoft.com/office/drawing/2014/main" id="{53850C77-0AE3-2843-6CD0-D1633D334986}"/>
              </a:ext>
            </a:extLst>
          </p:cNvPr>
          <p:cNvPicPr>
            <a:picLocks noChangeAspect="1"/>
          </p:cNvPicPr>
          <p:nvPr/>
        </p:nvPicPr>
        <p:blipFill>
          <a:blip r:embed="rId3"/>
          <a:stretch>
            <a:fillRect/>
          </a:stretch>
        </p:blipFill>
        <p:spPr>
          <a:xfrm>
            <a:off x="4272650" y="1690688"/>
            <a:ext cx="3238500" cy="5295900"/>
          </a:xfrm>
          <a:prstGeom prst="rect">
            <a:avLst/>
          </a:prstGeom>
        </p:spPr>
      </p:pic>
    </p:spTree>
    <p:extLst>
      <p:ext uri="{BB962C8B-B14F-4D97-AF65-F5344CB8AC3E}">
        <p14:creationId xmlns:p14="http://schemas.microsoft.com/office/powerpoint/2010/main" val="18532877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D7C775-8AFB-9EB9-6FF4-713AB2888C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24D156-DC5C-2A3A-4D0E-E9F932148B1B}"/>
              </a:ext>
            </a:extLst>
          </p:cNvPr>
          <p:cNvSpPr>
            <a:spLocks noGrp="1"/>
          </p:cNvSpPr>
          <p:nvPr>
            <p:ph type="title"/>
          </p:nvPr>
        </p:nvSpPr>
        <p:spPr/>
        <p:txBody>
          <a:bodyPr/>
          <a:lstStyle/>
          <a:p>
            <a:r>
              <a:rPr lang="en-US" dirty="0"/>
              <a:t>Separating Class Specification, Implementation, and Client Code</a:t>
            </a:r>
          </a:p>
        </p:txBody>
      </p:sp>
      <p:sp>
        <p:nvSpPr>
          <p:cNvPr id="3" name="Content Placeholder 2">
            <a:extLst>
              <a:ext uri="{FF2B5EF4-FFF2-40B4-BE49-F238E27FC236}">
                <a16:creationId xmlns:a16="http://schemas.microsoft.com/office/drawing/2014/main" id="{D7DB414D-FA23-D6D8-5322-CA64BFB10AC7}"/>
              </a:ext>
            </a:extLst>
          </p:cNvPr>
          <p:cNvSpPr>
            <a:spLocks noGrp="1"/>
          </p:cNvSpPr>
          <p:nvPr>
            <p:ph idx="1"/>
          </p:nvPr>
        </p:nvSpPr>
        <p:spPr>
          <a:xfrm>
            <a:off x="838199" y="1825625"/>
            <a:ext cx="10954110" cy="4351338"/>
          </a:xfrm>
        </p:spPr>
        <p:txBody>
          <a:bodyPr>
            <a:normAutofit/>
          </a:bodyPr>
          <a:lstStyle/>
          <a:p>
            <a:r>
              <a:rPr lang="en-US" b="1" dirty="0">
                <a:solidFill>
                  <a:srgbClr val="FF0000"/>
                </a:solidFill>
                <a:effectLst/>
              </a:rPr>
              <a:t>#include "</a:t>
            </a:r>
            <a:r>
              <a:rPr lang="en-US" b="1" dirty="0" err="1">
                <a:solidFill>
                  <a:srgbClr val="FF0000"/>
                </a:solidFill>
                <a:effectLst/>
              </a:rPr>
              <a:t>Rectangle.h</a:t>
            </a:r>
            <a:r>
              <a:rPr lang="en-US" b="1" dirty="0">
                <a:solidFill>
                  <a:srgbClr val="FF0000"/>
                </a:solidFill>
                <a:effectLst/>
              </a:rPr>
              <a:t>" </a:t>
            </a:r>
          </a:p>
          <a:p>
            <a:r>
              <a:rPr lang="en-US" dirty="0"/>
              <a:t>This directive includes the </a:t>
            </a:r>
            <a:r>
              <a:rPr lang="en-US" dirty="0" err="1"/>
              <a:t>Rectangle.h</a:t>
            </a:r>
            <a:r>
              <a:rPr lang="en-US" dirty="0"/>
              <a:t> file, which contains the Rectangle class declaration. </a:t>
            </a:r>
          </a:p>
          <a:p>
            <a:r>
              <a:rPr lang="en-US" dirty="0"/>
              <a:t>Notice that the name of the header file is enclosed in double-quote characters (" ") instead of angled brackets (&lt; &gt;). </a:t>
            </a:r>
          </a:p>
          <a:p>
            <a:r>
              <a:rPr lang="en-US" dirty="0"/>
              <a:t>When you include a C++ system header file, such as iostream, you enclose the name of the file in angled brackets. This indicates that the file is located in the compiler’s </a:t>
            </a:r>
            <a:r>
              <a:rPr lang="en-US" dirty="0">
                <a:hlinkClick r:id="rId2"/>
              </a:rPr>
              <a:t>include file directory</a:t>
            </a:r>
            <a:r>
              <a:rPr lang="en-US" dirty="0"/>
              <a:t>. </a:t>
            </a:r>
            <a:endParaRPr lang="en-US" b="1" i="1" dirty="0">
              <a:solidFill>
                <a:srgbClr val="FF0000"/>
              </a:solidFill>
            </a:endParaRPr>
          </a:p>
        </p:txBody>
      </p:sp>
    </p:spTree>
    <p:extLst>
      <p:ext uri="{BB962C8B-B14F-4D97-AF65-F5344CB8AC3E}">
        <p14:creationId xmlns:p14="http://schemas.microsoft.com/office/powerpoint/2010/main" val="228599754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BFFBA6-C6A6-D558-86EC-507D5FE26C5E}"/>
              </a:ext>
            </a:extLst>
          </p:cNvPr>
          <p:cNvSpPr>
            <a:spLocks noGrp="1"/>
          </p:cNvSpPr>
          <p:nvPr>
            <p:ph type="title"/>
          </p:nvPr>
        </p:nvSpPr>
        <p:spPr/>
        <p:txBody>
          <a:bodyPr/>
          <a:lstStyle/>
          <a:p>
            <a:r>
              <a:rPr lang="en-US" dirty="0"/>
              <a:t>Finally</a:t>
            </a:r>
          </a:p>
        </p:txBody>
      </p:sp>
      <p:sp>
        <p:nvSpPr>
          <p:cNvPr id="3" name="Content Placeholder 2">
            <a:extLst>
              <a:ext uri="{FF2B5EF4-FFF2-40B4-BE49-F238E27FC236}">
                <a16:creationId xmlns:a16="http://schemas.microsoft.com/office/drawing/2014/main" id="{02BDB06B-7CD6-870F-6985-4C46F13844FA}"/>
              </a:ext>
            </a:extLst>
          </p:cNvPr>
          <p:cNvSpPr>
            <a:spLocks noGrp="1"/>
          </p:cNvSpPr>
          <p:nvPr>
            <p:ph idx="1"/>
          </p:nvPr>
        </p:nvSpPr>
        <p:spPr>
          <a:xfrm>
            <a:off x="838200" y="1825625"/>
            <a:ext cx="7149860" cy="4351338"/>
          </a:xfrm>
        </p:spPr>
        <p:txBody>
          <a:bodyPr>
            <a:normAutofit fontScale="85000" lnSpcReduction="10000"/>
          </a:bodyPr>
          <a:lstStyle/>
          <a:p>
            <a:pPr algn="l"/>
            <a:r>
              <a:rPr lang="en-US" dirty="0">
                <a:effectLst/>
              </a:rPr>
              <a:t>Now that we have created the three files for this program, the following steps must be taken to create an executable program.</a:t>
            </a:r>
          </a:p>
          <a:p>
            <a:pPr>
              <a:buFont typeface="Arial" panose="020B0604020202020204" pitchFamily="34" charset="0"/>
              <a:buChar char="•"/>
            </a:pPr>
            <a:r>
              <a:rPr lang="en-US" dirty="0"/>
              <a:t>First, the implementation file, </a:t>
            </a:r>
            <a:r>
              <a:rPr lang="en-US" dirty="0" err="1"/>
              <a:t>Rectangle.cpp</a:t>
            </a:r>
            <a:r>
              <a:rPr lang="en-US" dirty="0"/>
              <a:t>, should be compiled to create an object file. This file would typically be named </a:t>
            </a:r>
            <a:r>
              <a:rPr lang="en-US" dirty="0" err="1"/>
              <a:t>Rectangle.obj</a:t>
            </a:r>
            <a:r>
              <a:rPr lang="en-US" dirty="0"/>
              <a:t>.</a:t>
            </a:r>
          </a:p>
          <a:p>
            <a:pPr>
              <a:buFont typeface="Arial" panose="020B0604020202020204" pitchFamily="34" charset="0"/>
              <a:buChar char="•"/>
            </a:pPr>
            <a:r>
              <a:rPr lang="en-US" dirty="0"/>
              <a:t>Next, the main program file, located in file pr7–12.cpp, must be compiled to create an object file. This file would typically be named pr7–12.obj.</a:t>
            </a:r>
          </a:p>
          <a:p>
            <a:pPr>
              <a:buFont typeface="Arial" panose="020B0604020202020204" pitchFamily="34" charset="0"/>
              <a:buChar char="•"/>
            </a:pPr>
            <a:r>
              <a:rPr lang="en-US" dirty="0"/>
              <a:t>Finally, the object files pr7–12.obj and </a:t>
            </a:r>
            <a:r>
              <a:rPr lang="en-US" dirty="0" err="1"/>
              <a:t>Rectangle.obj</a:t>
            </a:r>
            <a:r>
              <a:rPr lang="en-US" dirty="0"/>
              <a:t> are linked together to create an executable file, which would be named something like pr7–12.exe.</a:t>
            </a:r>
          </a:p>
          <a:p>
            <a:endParaRPr lang="en-US" dirty="0"/>
          </a:p>
        </p:txBody>
      </p:sp>
      <p:pic>
        <p:nvPicPr>
          <p:cNvPr id="4" name="Picture 3">
            <a:extLst>
              <a:ext uri="{FF2B5EF4-FFF2-40B4-BE49-F238E27FC236}">
                <a16:creationId xmlns:a16="http://schemas.microsoft.com/office/drawing/2014/main" id="{4CCD0F72-9887-BB88-BC29-570DF5DD613E}"/>
              </a:ext>
            </a:extLst>
          </p:cNvPr>
          <p:cNvPicPr>
            <a:picLocks noChangeAspect="1"/>
          </p:cNvPicPr>
          <p:nvPr/>
        </p:nvPicPr>
        <p:blipFill>
          <a:blip r:embed="rId2"/>
          <a:stretch>
            <a:fillRect/>
          </a:stretch>
        </p:blipFill>
        <p:spPr>
          <a:xfrm>
            <a:off x="8251405" y="426289"/>
            <a:ext cx="3846434" cy="6198798"/>
          </a:xfrm>
          <a:prstGeom prst="rect">
            <a:avLst/>
          </a:prstGeom>
        </p:spPr>
      </p:pic>
    </p:spTree>
    <p:extLst>
      <p:ext uri="{BB962C8B-B14F-4D97-AF65-F5344CB8AC3E}">
        <p14:creationId xmlns:p14="http://schemas.microsoft.com/office/powerpoint/2010/main" val="346531404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137C81-A9A6-C72F-E626-901B851B10BB}"/>
              </a:ext>
            </a:extLst>
          </p:cNvPr>
          <p:cNvSpPr>
            <a:spLocks noGrp="1"/>
          </p:cNvSpPr>
          <p:nvPr>
            <p:ph type="title"/>
          </p:nvPr>
        </p:nvSpPr>
        <p:spPr/>
        <p:txBody>
          <a:bodyPr/>
          <a:lstStyle/>
          <a:p>
            <a:r>
              <a:rPr lang="en-US" dirty="0"/>
              <a:t>Summary</a:t>
            </a:r>
          </a:p>
        </p:txBody>
      </p:sp>
      <p:pic>
        <p:nvPicPr>
          <p:cNvPr id="4" name="Picture 3">
            <a:extLst>
              <a:ext uri="{FF2B5EF4-FFF2-40B4-BE49-F238E27FC236}">
                <a16:creationId xmlns:a16="http://schemas.microsoft.com/office/drawing/2014/main" id="{2DD5A5B7-6A33-CA51-63FB-B99827A43C31}"/>
              </a:ext>
            </a:extLst>
          </p:cNvPr>
          <p:cNvPicPr>
            <a:picLocks noChangeAspect="1"/>
          </p:cNvPicPr>
          <p:nvPr/>
        </p:nvPicPr>
        <p:blipFill>
          <a:blip r:embed="rId2"/>
          <a:stretch>
            <a:fillRect/>
          </a:stretch>
        </p:blipFill>
        <p:spPr>
          <a:xfrm>
            <a:off x="4007668" y="365125"/>
            <a:ext cx="6255964" cy="2586127"/>
          </a:xfrm>
          <a:prstGeom prst="rect">
            <a:avLst/>
          </a:prstGeom>
        </p:spPr>
      </p:pic>
      <p:pic>
        <p:nvPicPr>
          <p:cNvPr id="5" name="Picture 4">
            <a:extLst>
              <a:ext uri="{FF2B5EF4-FFF2-40B4-BE49-F238E27FC236}">
                <a16:creationId xmlns:a16="http://schemas.microsoft.com/office/drawing/2014/main" id="{495E8043-816F-ADD3-3704-01FA0325DF5B}"/>
              </a:ext>
            </a:extLst>
          </p:cNvPr>
          <p:cNvPicPr>
            <a:picLocks noChangeAspect="1"/>
          </p:cNvPicPr>
          <p:nvPr/>
        </p:nvPicPr>
        <p:blipFill>
          <a:blip r:embed="rId3"/>
          <a:stretch>
            <a:fillRect/>
          </a:stretch>
        </p:blipFill>
        <p:spPr>
          <a:xfrm>
            <a:off x="4007668" y="3429000"/>
            <a:ext cx="6359366" cy="2393830"/>
          </a:xfrm>
          <a:prstGeom prst="rect">
            <a:avLst/>
          </a:prstGeom>
        </p:spPr>
      </p:pic>
    </p:spTree>
    <p:extLst>
      <p:ext uri="{BB962C8B-B14F-4D97-AF65-F5344CB8AC3E}">
        <p14:creationId xmlns:p14="http://schemas.microsoft.com/office/powerpoint/2010/main" val="363518983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0AA577-0338-A2E3-A19C-C0CE5EC61519}"/>
              </a:ext>
            </a:extLst>
          </p:cNvPr>
          <p:cNvSpPr>
            <a:spLocks noGrp="1"/>
          </p:cNvSpPr>
          <p:nvPr>
            <p:ph type="title"/>
          </p:nvPr>
        </p:nvSpPr>
        <p:spPr/>
        <p:txBody>
          <a:bodyPr/>
          <a:lstStyle/>
          <a:p>
            <a:r>
              <a:rPr lang="en-US" dirty="0"/>
              <a:t>Advantages of Using Multiple Files</a:t>
            </a:r>
          </a:p>
        </p:txBody>
      </p:sp>
      <p:sp>
        <p:nvSpPr>
          <p:cNvPr id="3" name="Content Placeholder 2">
            <a:extLst>
              <a:ext uri="{FF2B5EF4-FFF2-40B4-BE49-F238E27FC236}">
                <a16:creationId xmlns:a16="http://schemas.microsoft.com/office/drawing/2014/main" id="{2B4DA645-9043-5070-4389-A887EDE681F6}"/>
              </a:ext>
            </a:extLst>
          </p:cNvPr>
          <p:cNvSpPr>
            <a:spLocks noGrp="1"/>
          </p:cNvSpPr>
          <p:nvPr>
            <p:ph idx="1"/>
          </p:nvPr>
        </p:nvSpPr>
        <p:spPr>
          <a:xfrm>
            <a:off x="679330" y="1601337"/>
            <a:ext cx="10833340" cy="5032375"/>
          </a:xfrm>
        </p:spPr>
        <p:txBody>
          <a:bodyPr>
            <a:normAutofit fontScale="92500"/>
          </a:bodyPr>
          <a:lstStyle/>
          <a:p>
            <a:r>
              <a:rPr lang="en-US" b="1" dirty="0"/>
              <a:t>Encapsulation and Abstraction</a:t>
            </a:r>
            <a:r>
              <a:rPr lang="en-US" dirty="0"/>
              <a:t>: Separating a class's implementation from its specification allows the client program to focus only on what the class does, not how it does it. This promotes abstraction, where programmers need to know only the class’s interface, not the internal implementation details.</a:t>
            </a:r>
          </a:p>
          <a:p>
            <a:r>
              <a:rPr lang="en-US" b="1" dirty="0"/>
              <a:t>Reusability and Modularity</a:t>
            </a:r>
            <a:r>
              <a:rPr lang="en-US" dirty="0"/>
              <a:t>: Many different programs can use the same class without needing to include the class's full implementation. Instead, they can reference the class's specification and compiled object files, making code modular and reusable.</a:t>
            </a:r>
          </a:p>
          <a:p>
            <a:r>
              <a:rPr lang="en-US" b="1" dirty="0"/>
              <a:t>Ease of Maintenance</a:t>
            </a:r>
            <a:r>
              <a:rPr lang="en-US" dirty="0"/>
              <a:t>: When a class's member functions need to be modified, only the implementation file needs to be changed and recompiled. Programs using the class don't need to be recompiled, only linked with the new object file, simplifying updates and maintenance.</a:t>
            </a:r>
          </a:p>
          <a:p>
            <a:endParaRPr lang="en-US" dirty="0"/>
          </a:p>
        </p:txBody>
      </p:sp>
    </p:spTree>
    <p:extLst>
      <p:ext uri="{BB962C8B-B14F-4D97-AF65-F5344CB8AC3E}">
        <p14:creationId xmlns:p14="http://schemas.microsoft.com/office/powerpoint/2010/main" val="177003332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92D0DA-41C9-A9B8-FF43-32039E8B128E}"/>
              </a:ext>
            </a:extLst>
          </p:cNvPr>
          <p:cNvSpPr>
            <a:spLocks noGrp="1"/>
          </p:cNvSpPr>
          <p:nvPr>
            <p:ph type="title"/>
          </p:nvPr>
        </p:nvSpPr>
        <p:spPr/>
        <p:txBody>
          <a:bodyPr/>
          <a:lstStyle/>
          <a:p>
            <a:r>
              <a:rPr lang="en-US" dirty="0"/>
              <a:t>Pointers to Class Objects</a:t>
            </a:r>
          </a:p>
        </p:txBody>
      </p:sp>
      <p:sp>
        <p:nvSpPr>
          <p:cNvPr id="3" name="Content Placeholder 2">
            <a:extLst>
              <a:ext uri="{FF2B5EF4-FFF2-40B4-BE49-F238E27FC236}">
                <a16:creationId xmlns:a16="http://schemas.microsoft.com/office/drawing/2014/main" id="{19E2BEF7-B6C4-7BD0-08B5-F9442A3FCBBC}"/>
              </a:ext>
            </a:extLst>
          </p:cNvPr>
          <p:cNvSpPr>
            <a:spLocks noGrp="1"/>
          </p:cNvSpPr>
          <p:nvPr>
            <p:ph idx="1"/>
          </p:nvPr>
        </p:nvSpPr>
        <p:spPr/>
        <p:txBody>
          <a:bodyPr/>
          <a:lstStyle/>
          <a:p>
            <a:r>
              <a:rPr lang="en-US" dirty="0"/>
              <a:t>Declaring a pointer to a class is the same as declaring any other pointer type. For example, if Rectangle is defined as</a:t>
            </a:r>
          </a:p>
          <a:p>
            <a:endParaRPr lang="en-US" dirty="0"/>
          </a:p>
          <a:p>
            <a:pPr marL="0" indent="0">
              <a:buNone/>
            </a:pPr>
            <a:endParaRPr lang="en-US" dirty="0"/>
          </a:p>
          <a:p>
            <a:r>
              <a:rPr lang="en-US" dirty="0"/>
              <a:t>You can declare a pointer to Rectangle and create a Rectangle object by writing</a:t>
            </a:r>
          </a:p>
          <a:p>
            <a:endParaRPr lang="en-US" dirty="0"/>
          </a:p>
          <a:p>
            <a:r>
              <a:rPr lang="en-US" dirty="0"/>
              <a:t>and you can assign the address of </a:t>
            </a:r>
            <a:r>
              <a:rPr lang="en-US" dirty="0" err="1"/>
              <a:t>rect</a:t>
            </a:r>
            <a:r>
              <a:rPr lang="en-US" dirty="0"/>
              <a:t> to </a:t>
            </a:r>
            <a:r>
              <a:rPr lang="en-US" dirty="0" err="1"/>
              <a:t>pRect</a:t>
            </a:r>
            <a:r>
              <a:rPr lang="en-US" dirty="0"/>
              <a:t> as follows:</a:t>
            </a:r>
          </a:p>
          <a:p>
            <a:endParaRPr lang="en-US" dirty="0"/>
          </a:p>
          <a:p>
            <a:endParaRPr lang="en-US" dirty="0"/>
          </a:p>
        </p:txBody>
      </p:sp>
      <p:pic>
        <p:nvPicPr>
          <p:cNvPr id="4" name="Picture 3">
            <a:extLst>
              <a:ext uri="{FF2B5EF4-FFF2-40B4-BE49-F238E27FC236}">
                <a16:creationId xmlns:a16="http://schemas.microsoft.com/office/drawing/2014/main" id="{B9B5EB13-07B0-9AC7-CE2D-86524928177B}"/>
              </a:ext>
            </a:extLst>
          </p:cNvPr>
          <p:cNvPicPr>
            <a:picLocks noChangeAspect="1"/>
          </p:cNvPicPr>
          <p:nvPr/>
        </p:nvPicPr>
        <p:blipFill>
          <a:blip r:embed="rId2"/>
          <a:stretch>
            <a:fillRect/>
          </a:stretch>
        </p:blipFill>
        <p:spPr>
          <a:xfrm>
            <a:off x="4846547" y="2753264"/>
            <a:ext cx="2063211" cy="980536"/>
          </a:xfrm>
          <a:prstGeom prst="rect">
            <a:avLst/>
          </a:prstGeom>
        </p:spPr>
      </p:pic>
      <p:pic>
        <p:nvPicPr>
          <p:cNvPr id="5" name="Picture 4">
            <a:extLst>
              <a:ext uri="{FF2B5EF4-FFF2-40B4-BE49-F238E27FC236}">
                <a16:creationId xmlns:a16="http://schemas.microsoft.com/office/drawing/2014/main" id="{CAD723D1-8AAE-D356-A633-AD0055CB912B}"/>
              </a:ext>
            </a:extLst>
          </p:cNvPr>
          <p:cNvPicPr>
            <a:picLocks noChangeAspect="1"/>
          </p:cNvPicPr>
          <p:nvPr/>
        </p:nvPicPr>
        <p:blipFill>
          <a:blip r:embed="rId3"/>
          <a:stretch>
            <a:fillRect/>
          </a:stretch>
        </p:blipFill>
        <p:spPr>
          <a:xfrm>
            <a:off x="3946308" y="4255458"/>
            <a:ext cx="4730706" cy="627543"/>
          </a:xfrm>
          <a:prstGeom prst="rect">
            <a:avLst/>
          </a:prstGeom>
        </p:spPr>
      </p:pic>
      <p:pic>
        <p:nvPicPr>
          <p:cNvPr id="7" name="Picture 6">
            <a:extLst>
              <a:ext uri="{FF2B5EF4-FFF2-40B4-BE49-F238E27FC236}">
                <a16:creationId xmlns:a16="http://schemas.microsoft.com/office/drawing/2014/main" id="{C45E6496-6213-BFC0-298C-0B8B4615881B}"/>
              </a:ext>
            </a:extLst>
          </p:cNvPr>
          <p:cNvPicPr>
            <a:picLocks noChangeAspect="1"/>
          </p:cNvPicPr>
          <p:nvPr/>
        </p:nvPicPr>
        <p:blipFill>
          <a:blip r:embed="rId4"/>
          <a:stretch>
            <a:fillRect/>
          </a:stretch>
        </p:blipFill>
        <p:spPr>
          <a:xfrm>
            <a:off x="4846547" y="5741599"/>
            <a:ext cx="1791212" cy="870728"/>
          </a:xfrm>
          <a:prstGeom prst="rect">
            <a:avLst/>
          </a:prstGeom>
        </p:spPr>
      </p:pic>
    </p:spTree>
    <p:extLst>
      <p:ext uri="{BB962C8B-B14F-4D97-AF65-F5344CB8AC3E}">
        <p14:creationId xmlns:p14="http://schemas.microsoft.com/office/powerpoint/2010/main" val="187206673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328255-C98F-690F-7833-DC54B06629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9B4980-31DC-E0E8-C4F8-1898471E51C9}"/>
              </a:ext>
            </a:extLst>
          </p:cNvPr>
          <p:cNvSpPr>
            <a:spLocks noGrp="1"/>
          </p:cNvSpPr>
          <p:nvPr>
            <p:ph type="title"/>
          </p:nvPr>
        </p:nvSpPr>
        <p:spPr/>
        <p:txBody>
          <a:bodyPr/>
          <a:lstStyle/>
          <a:p>
            <a:r>
              <a:rPr lang="en-US" dirty="0"/>
              <a:t>Pointers to Class Objects</a:t>
            </a:r>
          </a:p>
        </p:txBody>
      </p:sp>
      <p:sp>
        <p:nvSpPr>
          <p:cNvPr id="3" name="Content Placeholder 2">
            <a:extLst>
              <a:ext uri="{FF2B5EF4-FFF2-40B4-BE49-F238E27FC236}">
                <a16:creationId xmlns:a16="http://schemas.microsoft.com/office/drawing/2014/main" id="{442980F1-FF31-732C-DE19-91EC9078B9D9}"/>
              </a:ext>
            </a:extLst>
          </p:cNvPr>
          <p:cNvSpPr>
            <a:spLocks noGrp="1"/>
          </p:cNvSpPr>
          <p:nvPr>
            <p:ph idx="1"/>
          </p:nvPr>
        </p:nvSpPr>
        <p:spPr/>
        <p:txBody>
          <a:bodyPr/>
          <a:lstStyle/>
          <a:p>
            <a:r>
              <a:rPr lang="en-US" dirty="0"/>
              <a:t>Now suppose that you want to access the members of the Rectangle object through the pointer </a:t>
            </a:r>
            <a:r>
              <a:rPr lang="en-US" dirty="0" err="1"/>
              <a:t>pRect</a:t>
            </a:r>
            <a:r>
              <a:rPr lang="en-US" dirty="0"/>
              <a:t>. Because *</a:t>
            </a:r>
            <a:r>
              <a:rPr lang="en-US" dirty="0" err="1"/>
              <a:t>pRect</a:t>
            </a:r>
            <a:r>
              <a:rPr lang="en-US" dirty="0"/>
              <a:t> is just another way of accessing </a:t>
            </a:r>
            <a:r>
              <a:rPr lang="en-US" dirty="0" err="1"/>
              <a:t>rect</a:t>
            </a:r>
            <a:r>
              <a:rPr lang="en-US" dirty="0"/>
              <a:t>, you might think that the expression </a:t>
            </a:r>
            <a:r>
              <a:rPr lang="en-US" i="1" dirty="0">
                <a:solidFill>
                  <a:srgbClr val="FF0000"/>
                </a:solidFill>
              </a:rPr>
              <a:t>*</a:t>
            </a:r>
            <a:r>
              <a:rPr lang="en-US" i="1" dirty="0" err="1">
                <a:solidFill>
                  <a:srgbClr val="FF0000"/>
                </a:solidFill>
              </a:rPr>
              <a:t>pRect.width</a:t>
            </a:r>
            <a:r>
              <a:rPr lang="en-US" i="1" dirty="0">
                <a:solidFill>
                  <a:srgbClr val="FF0000"/>
                </a:solidFill>
              </a:rPr>
              <a:t> </a:t>
            </a:r>
            <a:r>
              <a:rPr lang="en-US" dirty="0"/>
              <a:t>will access </a:t>
            </a:r>
            <a:r>
              <a:rPr lang="en-US" dirty="0" err="1"/>
              <a:t>rect.width</a:t>
            </a:r>
            <a:r>
              <a:rPr lang="en-US" dirty="0"/>
              <a:t>, but this is not so. </a:t>
            </a:r>
          </a:p>
          <a:p>
            <a:pPr marL="0" indent="0">
              <a:buNone/>
            </a:pPr>
            <a:endParaRPr lang="en-US" dirty="0"/>
          </a:p>
          <a:p>
            <a:r>
              <a:rPr lang="en-US" dirty="0"/>
              <a:t>The reason is that the dot selector has higher priority than the * operator, so *</a:t>
            </a:r>
            <a:r>
              <a:rPr lang="en-US" dirty="0" err="1"/>
              <a:t>pRect.width</a:t>
            </a:r>
            <a:r>
              <a:rPr lang="en-US" dirty="0"/>
              <a:t> is equivalent to *(</a:t>
            </a:r>
            <a:r>
              <a:rPr lang="en-US" dirty="0" err="1"/>
              <a:t>pRrect.width</a:t>
            </a:r>
            <a:r>
              <a:rPr lang="en-US" dirty="0"/>
              <a:t>). This last expression is a type error. To get it right, you must use parentheses to force the indirection operator * to be applied first, as shown here: </a:t>
            </a:r>
            <a:r>
              <a:rPr lang="en-US" b="1" i="1" dirty="0">
                <a:solidFill>
                  <a:srgbClr val="FF0000"/>
                </a:solidFill>
              </a:rPr>
              <a:t>(*</a:t>
            </a:r>
            <a:r>
              <a:rPr lang="en-US" b="1" i="1" dirty="0" err="1">
                <a:solidFill>
                  <a:srgbClr val="FF0000"/>
                </a:solidFill>
              </a:rPr>
              <a:t>pRect</a:t>
            </a:r>
            <a:r>
              <a:rPr lang="en-US" b="1" i="1" dirty="0">
                <a:solidFill>
                  <a:srgbClr val="FF0000"/>
                </a:solidFill>
              </a:rPr>
              <a:t>).width </a:t>
            </a:r>
          </a:p>
        </p:txBody>
      </p:sp>
    </p:spTree>
    <p:extLst>
      <p:ext uri="{BB962C8B-B14F-4D97-AF65-F5344CB8AC3E}">
        <p14:creationId xmlns:p14="http://schemas.microsoft.com/office/powerpoint/2010/main" val="371019113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4860BE-9DC7-CEA5-868E-A0893D00C4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494B27-4928-0DB8-0163-8EE75B8641A4}"/>
              </a:ext>
            </a:extLst>
          </p:cNvPr>
          <p:cNvSpPr>
            <a:spLocks noGrp="1"/>
          </p:cNvSpPr>
          <p:nvPr>
            <p:ph type="title"/>
          </p:nvPr>
        </p:nvSpPr>
        <p:spPr/>
        <p:txBody>
          <a:bodyPr/>
          <a:lstStyle/>
          <a:p>
            <a:r>
              <a:rPr lang="en-US" dirty="0"/>
              <a:t>Pointers to Class Objects</a:t>
            </a:r>
          </a:p>
        </p:txBody>
      </p:sp>
      <p:sp>
        <p:nvSpPr>
          <p:cNvPr id="3" name="Content Placeholder 2">
            <a:extLst>
              <a:ext uri="{FF2B5EF4-FFF2-40B4-BE49-F238E27FC236}">
                <a16:creationId xmlns:a16="http://schemas.microsoft.com/office/drawing/2014/main" id="{074BD8E2-7D07-E4A3-2DF7-0B7E1D8C531C}"/>
              </a:ext>
            </a:extLst>
          </p:cNvPr>
          <p:cNvSpPr>
            <a:spLocks noGrp="1"/>
          </p:cNvSpPr>
          <p:nvPr>
            <p:ph idx="1"/>
          </p:nvPr>
        </p:nvSpPr>
        <p:spPr/>
        <p:txBody>
          <a:bodyPr>
            <a:normAutofit/>
          </a:bodyPr>
          <a:lstStyle/>
          <a:p>
            <a:r>
              <a:rPr lang="en-US" dirty="0"/>
              <a:t>The following statements will correctly set the dimensions of the rectangle to 10 and 20.</a:t>
            </a:r>
          </a:p>
          <a:p>
            <a:endParaRPr lang="en-US" dirty="0"/>
          </a:p>
          <a:p>
            <a:endParaRPr lang="en-US" dirty="0"/>
          </a:p>
          <a:p>
            <a:endParaRPr lang="en-US" dirty="0"/>
          </a:p>
          <a:p>
            <a:r>
              <a:rPr lang="en-US" dirty="0"/>
              <a:t>The combined use of parentheses, the indirection operator, and the dot selector to access members of class objects via pointers can result in expressions that are hard to read.</a:t>
            </a:r>
          </a:p>
        </p:txBody>
      </p:sp>
      <p:pic>
        <p:nvPicPr>
          <p:cNvPr id="4" name="Picture 3">
            <a:extLst>
              <a:ext uri="{FF2B5EF4-FFF2-40B4-BE49-F238E27FC236}">
                <a16:creationId xmlns:a16="http://schemas.microsoft.com/office/drawing/2014/main" id="{3983203C-A6C7-20DE-86D6-E2B6C22F212A}"/>
              </a:ext>
            </a:extLst>
          </p:cNvPr>
          <p:cNvPicPr>
            <a:picLocks noChangeAspect="1"/>
          </p:cNvPicPr>
          <p:nvPr/>
        </p:nvPicPr>
        <p:blipFill>
          <a:blip r:embed="rId2"/>
          <a:stretch>
            <a:fillRect/>
          </a:stretch>
        </p:blipFill>
        <p:spPr>
          <a:xfrm>
            <a:off x="3928133" y="2565639"/>
            <a:ext cx="2610977" cy="910806"/>
          </a:xfrm>
          <a:prstGeom prst="rect">
            <a:avLst/>
          </a:prstGeom>
        </p:spPr>
      </p:pic>
    </p:spTree>
    <p:extLst>
      <p:ext uri="{BB962C8B-B14F-4D97-AF65-F5344CB8AC3E}">
        <p14:creationId xmlns:p14="http://schemas.microsoft.com/office/powerpoint/2010/main" val="5622625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99A80C-4C93-D413-552F-5D66C56F0F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D16DDC-53D8-7712-A605-33A4957CF9F3}"/>
              </a:ext>
            </a:extLst>
          </p:cNvPr>
          <p:cNvSpPr>
            <a:spLocks noGrp="1"/>
          </p:cNvSpPr>
          <p:nvPr>
            <p:ph type="title"/>
          </p:nvPr>
        </p:nvSpPr>
        <p:spPr/>
        <p:txBody>
          <a:bodyPr/>
          <a:lstStyle/>
          <a:p>
            <a:r>
              <a:rPr lang="en-US" dirty="0"/>
              <a:t>Pointers to Class Objects</a:t>
            </a:r>
          </a:p>
        </p:txBody>
      </p:sp>
      <p:sp>
        <p:nvSpPr>
          <p:cNvPr id="3" name="Content Placeholder 2">
            <a:extLst>
              <a:ext uri="{FF2B5EF4-FFF2-40B4-BE49-F238E27FC236}">
                <a16:creationId xmlns:a16="http://schemas.microsoft.com/office/drawing/2014/main" id="{1FBC77BD-4EE4-F1FA-F141-1D74089F8FE7}"/>
              </a:ext>
            </a:extLst>
          </p:cNvPr>
          <p:cNvSpPr>
            <a:spLocks noGrp="1"/>
          </p:cNvSpPr>
          <p:nvPr>
            <p:ph idx="1"/>
          </p:nvPr>
        </p:nvSpPr>
        <p:spPr/>
        <p:txBody>
          <a:bodyPr>
            <a:normAutofit/>
          </a:bodyPr>
          <a:lstStyle/>
          <a:p>
            <a:r>
              <a:rPr lang="en-US" dirty="0">
                <a:effectLst/>
              </a:rPr>
              <a:t>To solve this problem, C++ provides the </a:t>
            </a:r>
            <a:r>
              <a:rPr lang="en-US" b="1" dirty="0">
                <a:solidFill>
                  <a:srgbClr val="FF0000"/>
                </a:solidFill>
                <a:effectLst/>
                <a:hlinkClick r:id="rId2">
                  <a:extLst>
                    <a:ext uri="{A12FA001-AC4F-418D-AE19-62706E023703}">
                      <ahyp:hlinkClr xmlns:ahyp="http://schemas.microsoft.com/office/drawing/2018/hyperlinkcolor" val="tx"/>
                    </a:ext>
                  </a:extLst>
                </a:hlinkClick>
              </a:rPr>
              <a:t>structure pointer operator</a:t>
            </a:r>
            <a:r>
              <a:rPr lang="en-US" b="1" dirty="0">
                <a:solidFill>
                  <a:srgbClr val="FF0000"/>
                </a:solidFill>
                <a:effectLst/>
              </a:rPr>
              <a:t> −&gt; </a:t>
            </a:r>
            <a:r>
              <a:rPr lang="en-US" b="1" dirty="0">
                <a:effectLst/>
              </a:rPr>
              <a:t>to use when you want to access a member of a class object through a pointer.</a:t>
            </a:r>
            <a:r>
              <a:rPr lang="en-US" dirty="0">
                <a:effectLst/>
              </a:rPr>
              <a:t> </a:t>
            </a:r>
          </a:p>
          <a:p>
            <a:r>
              <a:rPr lang="en-US" dirty="0">
                <a:effectLst/>
              </a:rPr>
              <a:t>It consists of a hyphen – and a greater-than symbol &gt; written next to each other to look like an arrow. </a:t>
            </a:r>
          </a:p>
          <a:p>
            <a:r>
              <a:rPr lang="en-US" dirty="0">
                <a:effectLst/>
              </a:rPr>
              <a:t>Using this operator, you can set the dimensions of the rectangle with these statements:</a:t>
            </a:r>
          </a:p>
          <a:p>
            <a:endParaRPr lang="en-US" dirty="0"/>
          </a:p>
        </p:txBody>
      </p:sp>
      <p:pic>
        <p:nvPicPr>
          <p:cNvPr id="5" name="Picture 4">
            <a:extLst>
              <a:ext uri="{FF2B5EF4-FFF2-40B4-BE49-F238E27FC236}">
                <a16:creationId xmlns:a16="http://schemas.microsoft.com/office/drawing/2014/main" id="{54D2EF23-DB51-51BC-B934-695E0153E3D0}"/>
              </a:ext>
            </a:extLst>
          </p:cNvPr>
          <p:cNvPicPr>
            <a:picLocks noChangeAspect="1"/>
          </p:cNvPicPr>
          <p:nvPr/>
        </p:nvPicPr>
        <p:blipFill>
          <a:blip r:embed="rId3"/>
          <a:stretch>
            <a:fillRect/>
          </a:stretch>
        </p:blipFill>
        <p:spPr>
          <a:xfrm>
            <a:off x="4242278" y="5178964"/>
            <a:ext cx="2538526" cy="825021"/>
          </a:xfrm>
          <a:prstGeom prst="rect">
            <a:avLst/>
          </a:prstGeom>
        </p:spPr>
      </p:pic>
    </p:spTree>
    <p:extLst>
      <p:ext uri="{BB962C8B-B14F-4D97-AF65-F5344CB8AC3E}">
        <p14:creationId xmlns:p14="http://schemas.microsoft.com/office/powerpoint/2010/main" val="123646399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0A1189-44E8-B8EA-A813-21AFC537320D}"/>
              </a:ext>
            </a:extLst>
          </p:cNvPr>
          <p:cNvSpPr>
            <a:spLocks noGrp="1"/>
          </p:cNvSpPr>
          <p:nvPr>
            <p:ph type="title"/>
          </p:nvPr>
        </p:nvSpPr>
        <p:spPr/>
        <p:txBody>
          <a:bodyPr/>
          <a:lstStyle/>
          <a:p>
            <a:r>
              <a:rPr lang="en-US" dirty="0"/>
              <a:t>Pointers to Class Objects</a:t>
            </a:r>
          </a:p>
        </p:txBody>
      </p:sp>
      <p:sp>
        <p:nvSpPr>
          <p:cNvPr id="3" name="Content Placeholder 2">
            <a:extLst>
              <a:ext uri="{FF2B5EF4-FFF2-40B4-BE49-F238E27FC236}">
                <a16:creationId xmlns:a16="http://schemas.microsoft.com/office/drawing/2014/main" id="{D36BC2B9-EF4E-254C-5DEE-813A2C3E38BF}"/>
              </a:ext>
            </a:extLst>
          </p:cNvPr>
          <p:cNvSpPr>
            <a:spLocks noGrp="1"/>
          </p:cNvSpPr>
          <p:nvPr>
            <p:ph idx="1"/>
          </p:nvPr>
        </p:nvSpPr>
        <p:spPr/>
        <p:txBody>
          <a:bodyPr/>
          <a:lstStyle/>
          <a:p>
            <a:r>
              <a:rPr lang="en-US" dirty="0"/>
              <a:t>Member functions of class objects can be called through a pointer. </a:t>
            </a:r>
          </a:p>
          <a:p>
            <a:r>
              <a:rPr lang="en-US" dirty="0"/>
              <a:t>In particular, if </a:t>
            </a:r>
            <a:r>
              <a:rPr lang="en-US" dirty="0" err="1"/>
              <a:t>ptr</a:t>
            </a:r>
            <a:r>
              <a:rPr lang="en-US" dirty="0"/>
              <a:t> is a pointer to an object that has a member function fun(), then the function can be called with either one of these two (equivalent) expressions:</a:t>
            </a:r>
          </a:p>
        </p:txBody>
      </p:sp>
      <p:pic>
        <p:nvPicPr>
          <p:cNvPr id="4" name="Picture 3">
            <a:extLst>
              <a:ext uri="{FF2B5EF4-FFF2-40B4-BE49-F238E27FC236}">
                <a16:creationId xmlns:a16="http://schemas.microsoft.com/office/drawing/2014/main" id="{C4F061F7-E901-7027-16F4-319BBA832321}"/>
              </a:ext>
            </a:extLst>
          </p:cNvPr>
          <p:cNvPicPr>
            <a:picLocks noChangeAspect="1"/>
          </p:cNvPicPr>
          <p:nvPr/>
        </p:nvPicPr>
        <p:blipFill>
          <a:blip r:embed="rId2"/>
          <a:stretch>
            <a:fillRect/>
          </a:stretch>
        </p:blipFill>
        <p:spPr>
          <a:xfrm>
            <a:off x="5302250" y="4251665"/>
            <a:ext cx="1587500" cy="1022458"/>
          </a:xfrm>
          <a:prstGeom prst="rect">
            <a:avLst/>
          </a:prstGeom>
        </p:spPr>
      </p:pic>
    </p:spTree>
    <p:extLst>
      <p:ext uri="{BB962C8B-B14F-4D97-AF65-F5344CB8AC3E}">
        <p14:creationId xmlns:p14="http://schemas.microsoft.com/office/powerpoint/2010/main" val="36005766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E7E3EB-7A49-6906-B307-564B419106A6}"/>
              </a:ext>
            </a:extLst>
          </p:cNvPr>
          <p:cNvSpPr>
            <a:spLocks noGrp="1"/>
          </p:cNvSpPr>
          <p:nvPr>
            <p:ph type="title"/>
          </p:nvPr>
        </p:nvSpPr>
        <p:spPr/>
        <p:txBody>
          <a:bodyPr/>
          <a:lstStyle/>
          <a:p>
            <a:r>
              <a:rPr lang="en-US" dirty="0"/>
              <a:t>The</a:t>
            </a:r>
            <a:r>
              <a:rPr lang="en-US" dirty="0">
                <a:latin typeface="Abadi MT Condensed Light" panose="020B0306030101010103" pitchFamily="34" charset="77"/>
              </a:rPr>
              <a:t> </a:t>
            </a:r>
            <a:r>
              <a:rPr lang="en-US" i="1" dirty="0">
                <a:latin typeface="Abadi MT Condensed Light" panose="020B0306030101010103" pitchFamily="34" charset="77"/>
              </a:rPr>
              <a:t>this</a:t>
            </a:r>
            <a:r>
              <a:rPr lang="en-US" dirty="0">
                <a:latin typeface="Abadi MT Condensed Light" panose="020B0306030101010103" pitchFamily="34" charset="77"/>
              </a:rPr>
              <a:t> </a:t>
            </a:r>
            <a:r>
              <a:rPr lang="en-US" dirty="0"/>
              <a:t>Pointer and Constant Member Functions</a:t>
            </a:r>
          </a:p>
        </p:txBody>
      </p:sp>
      <p:sp>
        <p:nvSpPr>
          <p:cNvPr id="3" name="Content Placeholder 2">
            <a:extLst>
              <a:ext uri="{FF2B5EF4-FFF2-40B4-BE49-F238E27FC236}">
                <a16:creationId xmlns:a16="http://schemas.microsoft.com/office/drawing/2014/main" id="{2B9BC237-BCDA-EF1A-8B52-E52691992103}"/>
              </a:ext>
            </a:extLst>
          </p:cNvPr>
          <p:cNvSpPr>
            <a:spLocks noGrp="1"/>
          </p:cNvSpPr>
          <p:nvPr>
            <p:ph idx="1"/>
          </p:nvPr>
        </p:nvSpPr>
        <p:spPr/>
        <p:txBody>
          <a:bodyPr/>
          <a:lstStyle/>
          <a:p>
            <a:r>
              <a:rPr lang="en-US" dirty="0"/>
              <a:t>By default, the compiler provides each member function of a class with an implicit parameter that points to the object through which the member function is called. </a:t>
            </a:r>
          </a:p>
          <a:p>
            <a:r>
              <a:rPr lang="en-US" dirty="0"/>
              <a:t>The implicit parameter is called </a:t>
            </a:r>
            <a:r>
              <a:rPr lang="en-US" b="1" dirty="0"/>
              <a:t>this. </a:t>
            </a:r>
          </a:p>
          <a:p>
            <a:r>
              <a:rPr lang="en-US" dirty="0"/>
              <a:t>A constant member function is one that does not modify the object through which it is called.</a:t>
            </a:r>
          </a:p>
        </p:txBody>
      </p:sp>
    </p:spTree>
    <p:extLst>
      <p:ext uri="{BB962C8B-B14F-4D97-AF65-F5344CB8AC3E}">
        <p14:creationId xmlns:p14="http://schemas.microsoft.com/office/powerpoint/2010/main" val="19304110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132492-88DA-E1BA-D361-62D4503E3053}"/>
              </a:ext>
            </a:extLst>
          </p:cNvPr>
          <p:cNvSpPr>
            <a:spLocks noGrp="1"/>
          </p:cNvSpPr>
          <p:nvPr>
            <p:ph type="title"/>
          </p:nvPr>
        </p:nvSpPr>
        <p:spPr>
          <a:xfrm>
            <a:off x="838200" y="365125"/>
            <a:ext cx="5976668" cy="1325563"/>
          </a:xfrm>
        </p:spPr>
        <p:txBody>
          <a:bodyPr>
            <a:normAutofit/>
          </a:bodyPr>
          <a:lstStyle/>
          <a:p>
            <a:r>
              <a:rPr lang="en-US" dirty="0"/>
              <a:t>The</a:t>
            </a:r>
            <a:r>
              <a:rPr lang="en-US" dirty="0">
                <a:latin typeface="Abadi MT Condensed Light" panose="020B0306030101010103" pitchFamily="34" charset="77"/>
              </a:rPr>
              <a:t> </a:t>
            </a:r>
            <a:r>
              <a:rPr lang="en-US" i="1" dirty="0">
                <a:latin typeface="Abadi MT Condensed Light" panose="020B0306030101010103" pitchFamily="34" charset="77"/>
              </a:rPr>
              <a:t>this</a:t>
            </a:r>
            <a:r>
              <a:rPr lang="en-US" dirty="0">
                <a:latin typeface="Abadi MT Condensed Light" panose="020B0306030101010103" pitchFamily="34" charset="77"/>
              </a:rPr>
              <a:t> </a:t>
            </a:r>
            <a:r>
              <a:rPr lang="en-US" dirty="0"/>
              <a:t>Pointer</a:t>
            </a:r>
          </a:p>
        </p:txBody>
      </p:sp>
      <p:sp>
        <p:nvSpPr>
          <p:cNvPr id="3" name="Content Placeholder 2">
            <a:extLst>
              <a:ext uri="{FF2B5EF4-FFF2-40B4-BE49-F238E27FC236}">
                <a16:creationId xmlns:a16="http://schemas.microsoft.com/office/drawing/2014/main" id="{DB0A984E-4D7F-2F05-68BB-A260D1D0B43A}"/>
              </a:ext>
            </a:extLst>
          </p:cNvPr>
          <p:cNvSpPr>
            <a:spLocks noGrp="1"/>
          </p:cNvSpPr>
          <p:nvPr>
            <p:ph idx="1"/>
          </p:nvPr>
        </p:nvSpPr>
        <p:spPr>
          <a:xfrm>
            <a:off x="838200" y="1825624"/>
            <a:ext cx="5976668" cy="5032375"/>
          </a:xfrm>
        </p:spPr>
        <p:txBody>
          <a:bodyPr>
            <a:normAutofit fontScale="92500"/>
          </a:bodyPr>
          <a:lstStyle/>
          <a:p>
            <a:r>
              <a:rPr lang="en-US" dirty="0"/>
              <a:t>We know that the different objects of a class type are called </a:t>
            </a:r>
            <a:r>
              <a:rPr lang="en-US" b="1" i="1" dirty="0"/>
              <a:t>instances</a:t>
            </a:r>
            <a:r>
              <a:rPr lang="en-US" dirty="0"/>
              <a:t> of that class and that each instance of a class has its own copy of the data members listed in the </a:t>
            </a:r>
          </a:p>
          <a:p>
            <a:r>
              <a:rPr lang="en-US" dirty="0"/>
              <a:t>These data members, called </a:t>
            </a:r>
            <a:r>
              <a:rPr lang="en-US" dirty="0">
                <a:hlinkClick r:id="rId2"/>
              </a:rPr>
              <a:t>instance members</a:t>
            </a:r>
            <a:r>
              <a:rPr lang="en-US" dirty="0"/>
              <a:t> because they belong to instances of the class, can have different values in different objects. </a:t>
            </a:r>
          </a:p>
          <a:p>
            <a:r>
              <a:rPr lang="en-US" dirty="0"/>
              <a:t>Thus, in the example, the instance member x in the ob1 object has a value of 10 while x in ob2 has a value of 20.</a:t>
            </a:r>
          </a:p>
        </p:txBody>
      </p:sp>
      <p:pic>
        <p:nvPicPr>
          <p:cNvPr id="4" name="Picture 3">
            <a:extLst>
              <a:ext uri="{FF2B5EF4-FFF2-40B4-BE49-F238E27FC236}">
                <a16:creationId xmlns:a16="http://schemas.microsoft.com/office/drawing/2014/main" id="{6449204A-86F3-E84B-9006-81147BBB042E}"/>
              </a:ext>
            </a:extLst>
          </p:cNvPr>
          <p:cNvPicPr>
            <a:picLocks noChangeAspect="1"/>
          </p:cNvPicPr>
          <p:nvPr/>
        </p:nvPicPr>
        <p:blipFill>
          <a:blip r:embed="rId3"/>
          <a:stretch>
            <a:fillRect/>
          </a:stretch>
        </p:blipFill>
        <p:spPr>
          <a:xfrm>
            <a:off x="6981164" y="176290"/>
            <a:ext cx="2326738" cy="1825286"/>
          </a:xfrm>
          <a:prstGeom prst="rect">
            <a:avLst/>
          </a:prstGeom>
        </p:spPr>
      </p:pic>
      <p:pic>
        <p:nvPicPr>
          <p:cNvPr id="5" name="Picture 4">
            <a:extLst>
              <a:ext uri="{FF2B5EF4-FFF2-40B4-BE49-F238E27FC236}">
                <a16:creationId xmlns:a16="http://schemas.microsoft.com/office/drawing/2014/main" id="{DC9A4DB2-3536-6C03-B67F-84BB90509CBB}"/>
              </a:ext>
            </a:extLst>
          </p:cNvPr>
          <p:cNvPicPr>
            <a:picLocks noChangeAspect="1"/>
          </p:cNvPicPr>
          <p:nvPr/>
        </p:nvPicPr>
        <p:blipFill>
          <a:blip r:embed="rId4"/>
          <a:stretch>
            <a:fillRect/>
          </a:stretch>
        </p:blipFill>
        <p:spPr>
          <a:xfrm>
            <a:off x="9638534" y="365125"/>
            <a:ext cx="2326737" cy="1073879"/>
          </a:xfrm>
          <a:prstGeom prst="rect">
            <a:avLst/>
          </a:prstGeom>
        </p:spPr>
      </p:pic>
      <p:pic>
        <p:nvPicPr>
          <p:cNvPr id="6" name="Picture 5">
            <a:extLst>
              <a:ext uri="{FF2B5EF4-FFF2-40B4-BE49-F238E27FC236}">
                <a16:creationId xmlns:a16="http://schemas.microsoft.com/office/drawing/2014/main" id="{706568DD-0EA1-0C6F-750D-C04B1236066B}"/>
              </a:ext>
            </a:extLst>
          </p:cNvPr>
          <p:cNvPicPr>
            <a:picLocks noChangeAspect="1"/>
          </p:cNvPicPr>
          <p:nvPr/>
        </p:nvPicPr>
        <p:blipFill>
          <a:blip r:embed="rId5"/>
          <a:stretch>
            <a:fillRect/>
          </a:stretch>
        </p:blipFill>
        <p:spPr>
          <a:xfrm>
            <a:off x="6981164" y="2190411"/>
            <a:ext cx="4154364" cy="1441310"/>
          </a:xfrm>
          <a:prstGeom prst="rect">
            <a:avLst/>
          </a:prstGeom>
        </p:spPr>
      </p:pic>
      <p:sp>
        <p:nvSpPr>
          <p:cNvPr id="7" name="TextBox 6">
            <a:extLst>
              <a:ext uri="{FF2B5EF4-FFF2-40B4-BE49-F238E27FC236}">
                <a16:creationId xmlns:a16="http://schemas.microsoft.com/office/drawing/2014/main" id="{9AB1653A-AC4E-C479-5A66-7450310EBEB2}"/>
              </a:ext>
            </a:extLst>
          </p:cNvPr>
          <p:cNvSpPr txBox="1"/>
          <p:nvPr/>
        </p:nvSpPr>
        <p:spPr>
          <a:xfrm>
            <a:off x="7413538" y="3921463"/>
            <a:ext cx="3788728" cy="923330"/>
          </a:xfrm>
          <a:prstGeom prst="rect">
            <a:avLst/>
          </a:prstGeom>
          <a:noFill/>
        </p:spPr>
        <p:txBody>
          <a:bodyPr wrap="square" rtlCol="0">
            <a:spAutoFit/>
          </a:bodyPr>
          <a:lstStyle/>
          <a:p>
            <a:pPr algn="ctr"/>
            <a:r>
              <a:rPr lang="en-US" dirty="0"/>
              <a:t>T</a:t>
            </a:r>
            <a:r>
              <a:rPr lang="en-US" dirty="0">
                <a:effectLst/>
              </a:rPr>
              <a:t>he </a:t>
            </a:r>
            <a:r>
              <a:rPr lang="en-US" dirty="0" err="1">
                <a:effectLst/>
              </a:rPr>
              <a:t>getValue</a:t>
            </a:r>
            <a:r>
              <a:rPr lang="en-US" dirty="0">
                <a:effectLst/>
              </a:rPr>
              <a:t> function has been invoked in a program and will print out 10 and 20</a:t>
            </a:r>
            <a:endParaRPr lang="en-US" dirty="0"/>
          </a:p>
        </p:txBody>
      </p:sp>
    </p:spTree>
    <p:extLst>
      <p:ext uri="{BB962C8B-B14F-4D97-AF65-F5344CB8AC3E}">
        <p14:creationId xmlns:p14="http://schemas.microsoft.com/office/powerpoint/2010/main" val="396087426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1C9E6-FF2F-FB31-3DEE-B8B7D8633544}"/>
              </a:ext>
            </a:extLst>
          </p:cNvPr>
          <p:cNvSpPr>
            <a:spLocks noGrp="1"/>
          </p:cNvSpPr>
          <p:nvPr>
            <p:ph type="title"/>
          </p:nvPr>
        </p:nvSpPr>
        <p:spPr/>
        <p:txBody>
          <a:bodyPr/>
          <a:lstStyle/>
          <a:p>
            <a:r>
              <a:rPr lang="en-US" dirty="0"/>
              <a:t>The</a:t>
            </a:r>
            <a:r>
              <a:rPr lang="en-US" dirty="0">
                <a:latin typeface="Abadi MT Condensed Light" panose="020B0306030101010103" pitchFamily="34" charset="77"/>
              </a:rPr>
              <a:t> </a:t>
            </a:r>
            <a:r>
              <a:rPr lang="en-US" i="1" dirty="0">
                <a:latin typeface="Abadi MT Condensed Light" panose="020B0306030101010103" pitchFamily="34" charset="77"/>
              </a:rPr>
              <a:t>this</a:t>
            </a:r>
            <a:r>
              <a:rPr lang="en-US" dirty="0">
                <a:latin typeface="Abadi MT Condensed Light" panose="020B0306030101010103" pitchFamily="34" charset="77"/>
              </a:rPr>
              <a:t> </a:t>
            </a:r>
            <a:r>
              <a:rPr lang="en-US" dirty="0"/>
              <a:t>Pointer</a:t>
            </a:r>
          </a:p>
        </p:txBody>
      </p:sp>
      <p:sp>
        <p:nvSpPr>
          <p:cNvPr id="3" name="Content Placeholder 2">
            <a:extLst>
              <a:ext uri="{FF2B5EF4-FFF2-40B4-BE49-F238E27FC236}">
                <a16:creationId xmlns:a16="http://schemas.microsoft.com/office/drawing/2014/main" id="{ECDA9515-2CD2-E5BE-761B-2AD6FF6B7703}"/>
              </a:ext>
            </a:extLst>
          </p:cNvPr>
          <p:cNvSpPr>
            <a:spLocks noGrp="1"/>
          </p:cNvSpPr>
          <p:nvPr>
            <p:ph idx="1"/>
          </p:nvPr>
        </p:nvSpPr>
        <p:spPr/>
        <p:txBody>
          <a:bodyPr/>
          <a:lstStyle/>
          <a:p>
            <a:r>
              <a:rPr lang="en-US" dirty="0"/>
              <a:t>Let’s take a look at this member function again:</a:t>
            </a:r>
          </a:p>
          <a:p>
            <a:endParaRPr lang="en-US" dirty="0"/>
          </a:p>
          <a:p>
            <a:r>
              <a:rPr lang="en-US" dirty="0"/>
              <a:t>This function is supposed to return the x member of some object of the Example class, but how does it know which object to use?</a:t>
            </a:r>
          </a:p>
          <a:p>
            <a:r>
              <a:rPr lang="en-US" dirty="0"/>
              <a:t>What happens is that by default, the compiler provides each member function of every class with an implicit parameter that is a pointer to an object of the class. </a:t>
            </a:r>
          </a:p>
          <a:p>
            <a:r>
              <a:rPr lang="en-US" dirty="0"/>
              <a:t>Thus, for example, the </a:t>
            </a:r>
            <a:r>
              <a:rPr lang="en-US" dirty="0" err="1"/>
              <a:t>getValue</a:t>
            </a:r>
            <a:r>
              <a:rPr lang="en-US" dirty="0"/>
              <a:t> function is equipped with a single parameter of type pointer to Example.  </a:t>
            </a:r>
          </a:p>
          <a:p>
            <a:pPr lvl="1"/>
            <a:endParaRPr lang="en-US" dirty="0"/>
          </a:p>
        </p:txBody>
      </p:sp>
      <p:pic>
        <p:nvPicPr>
          <p:cNvPr id="4" name="Picture 3">
            <a:extLst>
              <a:ext uri="{FF2B5EF4-FFF2-40B4-BE49-F238E27FC236}">
                <a16:creationId xmlns:a16="http://schemas.microsoft.com/office/drawing/2014/main" id="{469596C0-270B-A50F-4A31-152F03CBB2E4}"/>
              </a:ext>
            </a:extLst>
          </p:cNvPr>
          <p:cNvPicPr>
            <a:picLocks noChangeAspect="1"/>
          </p:cNvPicPr>
          <p:nvPr/>
        </p:nvPicPr>
        <p:blipFill>
          <a:blip r:embed="rId2"/>
          <a:stretch>
            <a:fillRect/>
          </a:stretch>
        </p:blipFill>
        <p:spPr>
          <a:xfrm>
            <a:off x="8630489" y="1282221"/>
            <a:ext cx="2609730" cy="1277102"/>
          </a:xfrm>
          <a:prstGeom prst="rect">
            <a:avLst/>
          </a:prstGeom>
        </p:spPr>
      </p:pic>
    </p:spTree>
    <p:extLst>
      <p:ext uri="{BB962C8B-B14F-4D97-AF65-F5344CB8AC3E}">
        <p14:creationId xmlns:p14="http://schemas.microsoft.com/office/powerpoint/2010/main" val="199902123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3B9025-D510-F0E3-7822-C9BA26EE99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7DD995-C9B3-795E-06E7-1B948900E425}"/>
              </a:ext>
            </a:extLst>
          </p:cNvPr>
          <p:cNvSpPr>
            <a:spLocks noGrp="1"/>
          </p:cNvSpPr>
          <p:nvPr>
            <p:ph type="title"/>
          </p:nvPr>
        </p:nvSpPr>
        <p:spPr/>
        <p:txBody>
          <a:bodyPr/>
          <a:lstStyle/>
          <a:p>
            <a:r>
              <a:rPr lang="en-US" dirty="0"/>
              <a:t>The</a:t>
            </a:r>
            <a:r>
              <a:rPr lang="en-US" dirty="0">
                <a:latin typeface="Abadi MT Condensed Light" panose="020B0306030101010103" pitchFamily="34" charset="77"/>
              </a:rPr>
              <a:t> </a:t>
            </a:r>
            <a:r>
              <a:rPr lang="en-US" i="1" dirty="0">
                <a:latin typeface="Abadi MT Condensed Light" panose="020B0306030101010103" pitchFamily="34" charset="77"/>
              </a:rPr>
              <a:t>this</a:t>
            </a:r>
            <a:r>
              <a:rPr lang="en-US" dirty="0">
                <a:latin typeface="Abadi MT Condensed Light" panose="020B0306030101010103" pitchFamily="34" charset="77"/>
              </a:rPr>
              <a:t> </a:t>
            </a:r>
            <a:r>
              <a:rPr lang="en-US" dirty="0"/>
              <a:t>Pointer</a:t>
            </a:r>
          </a:p>
        </p:txBody>
      </p:sp>
      <p:sp>
        <p:nvSpPr>
          <p:cNvPr id="3" name="Content Placeholder 2">
            <a:extLst>
              <a:ext uri="{FF2B5EF4-FFF2-40B4-BE49-F238E27FC236}">
                <a16:creationId xmlns:a16="http://schemas.microsoft.com/office/drawing/2014/main" id="{8F502C51-8BC2-99E4-9218-F92EC4D0183D}"/>
              </a:ext>
            </a:extLst>
          </p:cNvPr>
          <p:cNvSpPr>
            <a:spLocks noGrp="1"/>
          </p:cNvSpPr>
          <p:nvPr>
            <p:ph idx="1"/>
          </p:nvPr>
        </p:nvSpPr>
        <p:spPr/>
        <p:txBody>
          <a:bodyPr>
            <a:normAutofit fontScale="92500" lnSpcReduction="10000"/>
          </a:bodyPr>
          <a:lstStyle/>
          <a:p>
            <a:r>
              <a:rPr lang="en-US" dirty="0"/>
              <a:t>Let’s take a look at this member function :</a:t>
            </a:r>
          </a:p>
          <a:p>
            <a:endParaRPr lang="en-US" dirty="0"/>
          </a:p>
          <a:p>
            <a:r>
              <a:rPr lang="en-US" dirty="0"/>
              <a:t>although written by the programmer to take a single parameter of type int, in reality has two parameters: an pointer to an object of the class Example, and the parameter specified by the programmer -  </a:t>
            </a:r>
            <a:r>
              <a:rPr lang="en-US" b="1" i="1" dirty="0">
                <a:solidFill>
                  <a:srgbClr val="FF0000"/>
                </a:solidFill>
              </a:rPr>
              <a:t>int a</a:t>
            </a:r>
          </a:p>
          <a:p>
            <a:r>
              <a:rPr lang="en-US" dirty="0"/>
              <a:t>In all cases, the actual parameter for the implicit object parameter is the address of the object through which the member function is being called. Thus, in the call </a:t>
            </a:r>
            <a:r>
              <a:rPr lang="en-US" b="1" i="1" dirty="0">
                <a:solidFill>
                  <a:srgbClr val="FF0000"/>
                </a:solidFill>
              </a:rPr>
              <a:t>ob1.</a:t>
            </a:r>
            <a:r>
              <a:rPr lang="en-US" b="1" i="1" dirty="0">
                <a:solidFill>
                  <a:srgbClr val="FF0000"/>
                </a:solidFill>
                <a:effectLst/>
              </a:rPr>
              <a:t>getValue</a:t>
            </a:r>
            <a:r>
              <a:rPr lang="en-US" b="1" i="1" dirty="0">
                <a:solidFill>
                  <a:srgbClr val="FF0000"/>
                </a:solidFill>
              </a:rPr>
              <a:t>() </a:t>
            </a:r>
            <a:r>
              <a:rPr lang="en-US" dirty="0"/>
              <a:t>the implicit parameter passed to </a:t>
            </a:r>
            <a:r>
              <a:rPr lang="en-US" dirty="0" err="1"/>
              <a:t>getValue</a:t>
            </a:r>
            <a:r>
              <a:rPr lang="en-US" dirty="0"/>
              <a:t> is the address of ob1 (&amp;ob1), </a:t>
            </a:r>
          </a:p>
          <a:p>
            <a:r>
              <a:rPr lang="en-US" dirty="0"/>
              <a:t>whereas in the call </a:t>
            </a:r>
            <a:r>
              <a:rPr lang="en-US" b="1" i="1" dirty="0">
                <a:solidFill>
                  <a:srgbClr val="FF0000"/>
                </a:solidFill>
              </a:rPr>
              <a:t>ob2.</a:t>
            </a:r>
            <a:r>
              <a:rPr lang="en-US" b="1" i="1" dirty="0">
                <a:solidFill>
                  <a:srgbClr val="FF0000"/>
                </a:solidFill>
                <a:effectLst/>
              </a:rPr>
              <a:t>setValue</a:t>
            </a:r>
            <a:r>
              <a:rPr lang="en-US" b="1" i="1" dirty="0">
                <a:solidFill>
                  <a:srgbClr val="FF0000"/>
                </a:solidFill>
              </a:rPr>
              <a:t>(</a:t>
            </a:r>
            <a:r>
              <a:rPr lang="en-US" b="1" i="1" dirty="0">
                <a:solidFill>
                  <a:srgbClr val="FF0000"/>
                </a:solidFill>
                <a:effectLst/>
              </a:rPr>
              <a:t>78</a:t>
            </a:r>
            <a:r>
              <a:rPr lang="en-US" b="1" i="1" dirty="0">
                <a:solidFill>
                  <a:srgbClr val="FF0000"/>
                </a:solidFill>
              </a:rPr>
              <a:t>) </a:t>
            </a:r>
            <a:r>
              <a:rPr lang="en-US" dirty="0"/>
              <a:t>the implicit parameter passed to </a:t>
            </a:r>
            <a:r>
              <a:rPr lang="en-US" dirty="0" err="1"/>
              <a:t>setValue</a:t>
            </a:r>
            <a:r>
              <a:rPr lang="en-US" dirty="0"/>
              <a:t> is &amp;ob2.</a:t>
            </a:r>
            <a:endParaRPr lang="en-US" b="1" i="1" dirty="0">
              <a:solidFill>
                <a:srgbClr val="FF0000"/>
              </a:solidFill>
            </a:endParaRPr>
          </a:p>
          <a:p>
            <a:pPr lvl="1"/>
            <a:endParaRPr lang="en-US" dirty="0"/>
          </a:p>
        </p:txBody>
      </p:sp>
      <p:pic>
        <p:nvPicPr>
          <p:cNvPr id="5" name="Picture 4">
            <a:extLst>
              <a:ext uri="{FF2B5EF4-FFF2-40B4-BE49-F238E27FC236}">
                <a16:creationId xmlns:a16="http://schemas.microsoft.com/office/drawing/2014/main" id="{936E238B-FC5D-24C2-16AA-7804C3C1FAF7}"/>
              </a:ext>
            </a:extLst>
          </p:cNvPr>
          <p:cNvPicPr>
            <a:picLocks noChangeAspect="1"/>
          </p:cNvPicPr>
          <p:nvPr/>
        </p:nvPicPr>
        <p:blipFill>
          <a:blip r:embed="rId2"/>
          <a:stretch>
            <a:fillRect/>
          </a:stretch>
        </p:blipFill>
        <p:spPr>
          <a:xfrm>
            <a:off x="7714410" y="1690688"/>
            <a:ext cx="2220441" cy="918803"/>
          </a:xfrm>
          <a:prstGeom prst="rect">
            <a:avLst/>
          </a:prstGeom>
        </p:spPr>
      </p:pic>
    </p:spTree>
    <p:extLst>
      <p:ext uri="{BB962C8B-B14F-4D97-AF65-F5344CB8AC3E}">
        <p14:creationId xmlns:p14="http://schemas.microsoft.com/office/powerpoint/2010/main" val="424361436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5349F6-DE50-25A3-7039-0D46ADF2F2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926775-FE8D-8A5C-BD2E-4AA4CE5688C1}"/>
              </a:ext>
            </a:extLst>
          </p:cNvPr>
          <p:cNvSpPr>
            <a:spLocks noGrp="1"/>
          </p:cNvSpPr>
          <p:nvPr>
            <p:ph type="title"/>
          </p:nvPr>
        </p:nvSpPr>
        <p:spPr/>
        <p:txBody>
          <a:bodyPr/>
          <a:lstStyle/>
          <a:p>
            <a:r>
              <a:rPr lang="en-US" dirty="0"/>
              <a:t>The</a:t>
            </a:r>
            <a:r>
              <a:rPr lang="en-US" dirty="0">
                <a:latin typeface="Abadi MT Condensed Light" panose="020B0306030101010103" pitchFamily="34" charset="77"/>
              </a:rPr>
              <a:t> </a:t>
            </a:r>
            <a:r>
              <a:rPr lang="en-US" i="1" dirty="0">
                <a:latin typeface="Abadi MT Condensed Light" panose="020B0306030101010103" pitchFamily="34" charset="77"/>
              </a:rPr>
              <a:t>this</a:t>
            </a:r>
            <a:r>
              <a:rPr lang="en-US" dirty="0">
                <a:latin typeface="Abadi MT Condensed Light" panose="020B0306030101010103" pitchFamily="34" charset="77"/>
              </a:rPr>
              <a:t> </a:t>
            </a:r>
            <a:r>
              <a:rPr lang="en-US" dirty="0"/>
              <a:t>Pointer</a:t>
            </a:r>
          </a:p>
        </p:txBody>
      </p:sp>
      <p:sp>
        <p:nvSpPr>
          <p:cNvPr id="3" name="Content Placeholder 2">
            <a:extLst>
              <a:ext uri="{FF2B5EF4-FFF2-40B4-BE49-F238E27FC236}">
                <a16:creationId xmlns:a16="http://schemas.microsoft.com/office/drawing/2014/main" id="{82C0E84F-4EC8-7A1F-A6ED-EC7166914599}"/>
              </a:ext>
            </a:extLst>
          </p:cNvPr>
          <p:cNvSpPr>
            <a:spLocks noGrp="1"/>
          </p:cNvSpPr>
          <p:nvPr>
            <p:ph idx="1"/>
          </p:nvPr>
        </p:nvSpPr>
        <p:spPr/>
        <p:txBody>
          <a:bodyPr>
            <a:normAutofit/>
          </a:bodyPr>
          <a:lstStyle/>
          <a:p>
            <a:pPr lvl="1"/>
            <a:r>
              <a:rPr lang="en-US" dirty="0"/>
              <a:t>The implicit pointer passed by the compiler to a member function can be accessed by code inside that function by using the reserved keyword </a:t>
            </a:r>
            <a:r>
              <a:rPr lang="en-US" b="1" i="1" dirty="0">
                <a:solidFill>
                  <a:srgbClr val="FF0000"/>
                </a:solidFill>
              </a:rPr>
              <a:t>this.</a:t>
            </a:r>
          </a:p>
          <a:p>
            <a:pPr lvl="1"/>
            <a:r>
              <a:rPr lang="en-US" dirty="0"/>
              <a:t>So for example, a member function of the Example class could access the object through which it is called by using the expression </a:t>
            </a:r>
            <a:r>
              <a:rPr lang="en-US" i="1" dirty="0">
                <a:solidFill>
                  <a:srgbClr val="FF0000"/>
                </a:solidFill>
              </a:rPr>
              <a:t>*</a:t>
            </a:r>
            <a:r>
              <a:rPr lang="en-US" b="1" i="1" dirty="0">
                <a:solidFill>
                  <a:srgbClr val="FF0000"/>
                </a:solidFill>
                <a:effectLst/>
              </a:rPr>
              <a:t>this</a:t>
            </a:r>
            <a:r>
              <a:rPr lang="en-US" i="1" dirty="0">
                <a:solidFill>
                  <a:srgbClr val="FF0000"/>
                </a:solidFill>
              </a:rPr>
              <a:t> </a:t>
            </a:r>
          </a:p>
          <a:p>
            <a:pPr lvl="1"/>
            <a:r>
              <a:rPr lang="en-US" dirty="0"/>
              <a:t>Let’s look at an example: </a:t>
            </a:r>
          </a:p>
        </p:txBody>
      </p:sp>
    </p:spTree>
    <p:extLst>
      <p:ext uri="{BB962C8B-B14F-4D97-AF65-F5344CB8AC3E}">
        <p14:creationId xmlns:p14="http://schemas.microsoft.com/office/powerpoint/2010/main" val="357995884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529118-3FE4-5E98-478E-A0B171AE4A5B}"/>
              </a:ext>
            </a:extLst>
          </p:cNvPr>
          <p:cNvSpPr>
            <a:spLocks noGrp="1"/>
          </p:cNvSpPr>
          <p:nvPr>
            <p:ph type="title"/>
          </p:nvPr>
        </p:nvSpPr>
        <p:spPr/>
        <p:txBody>
          <a:bodyPr/>
          <a:lstStyle/>
          <a:p>
            <a:r>
              <a:rPr lang="en-US" dirty="0"/>
              <a:t>Example</a:t>
            </a:r>
          </a:p>
        </p:txBody>
      </p:sp>
      <p:pic>
        <p:nvPicPr>
          <p:cNvPr id="4" name="Picture 3">
            <a:extLst>
              <a:ext uri="{FF2B5EF4-FFF2-40B4-BE49-F238E27FC236}">
                <a16:creationId xmlns:a16="http://schemas.microsoft.com/office/drawing/2014/main" id="{AF9A002A-DC5F-1335-E960-887C14A11B67}"/>
              </a:ext>
            </a:extLst>
          </p:cNvPr>
          <p:cNvPicPr>
            <a:picLocks noChangeAspect="1"/>
          </p:cNvPicPr>
          <p:nvPr/>
        </p:nvPicPr>
        <p:blipFill>
          <a:blip r:embed="rId2"/>
          <a:stretch>
            <a:fillRect/>
          </a:stretch>
        </p:blipFill>
        <p:spPr>
          <a:xfrm>
            <a:off x="4996849" y="992584"/>
            <a:ext cx="2746287" cy="1666081"/>
          </a:xfrm>
          <a:prstGeom prst="rect">
            <a:avLst/>
          </a:prstGeom>
        </p:spPr>
      </p:pic>
      <p:pic>
        <p:nvPicPr>
          <p:cNvPr id="5" name="Picture 4">
            <a:extLst>
              <a:ext uri="{FF2B5EF4-FFF2-40B4-BE49-F238E27FC236}">
                <a16:creationId xmlns:a16="http://schemas.microsoft.com/office/drawing/2014/main" id="{D74ECB8D-8332-9B95-F8FF-F54D8B3FDEE6}"/>
              </a:ext>
            </a:extLst>
          </p:cNvPr>
          <p:cNvPicPr>
            <a:picLocks noChangeAspect="1"/>
          </p:cNvPicPr>
          <p:nvPr/>
        </p:nvPicPr>
        <p:blipFill>
          <a:blip r:embed="rId3"/>
          <a:stretch>
            <a:fillRect/>
          </a:stretch>
        </p:blipFill>
        <p:spPr>
          <a:xfrm>
            <a:off x="8105445" y="172437"/>
            <a:ext cx="3950349" cy="3489475"/>
          </a:xfrm>
          <a:prstGeom prst="rect">
            <a:avLst/>
          </a:prstGeom>
        </p:spPr>
      </p:pic>
      <p:pic>
        <p:nvPicPr>
          <p:cNvPr id="6" name="Picture 5">
            <a:extLst>
              <a:ext uri="{FF2B5EF4-FFF2-40B4-BE49-F238E27FC236}">
                <a16:creationId xmlns:a16="http://schemas.microsoft.com/office/drawing/2014/main" id="{30C47F85-B27C-EFCC-D81D-8B698C0EA00D}"/>
              </a:ext>
            </a:extLst>
          </p:cNvPr>
          <p:cNvPicPr>
            <a:picLocks noChangeAspect="1"/>
          </p:cNvPicPr>
          <p:nvPr/>
        </p:nvPicPr>
        <p:blipFill>
          <a:blip r:embed="rId4"/>
          <a:stretch>
            <a:fillRect/>
          </a:stretch>
        </p:blipFill>
        <p:spPr>
          <a:xfrm>
            <a:off x="6309503" y="3800195"/>
            <a:ext cx="3360707" cy="3059105"/>
          </a:xfrm>
          <a:prstGeom prst="rect">
            <a:avLst/>
          </a:prstGeom>
        </p:spPr>
      </p:pic>
      <p:pic>
        <p:nvPicPr>
          <p:cNvPr id="7" name="Picture 6">
            <a:extLst>
              <a:ext uri="{FF2B5EF4-FFF2-40B4-BE49-F238E27FC236}">
                <a16:creationId xmlns:a16="http://schemas.microsoft.com/office/drawing/2014/main" id="{16C9B5A1-E8A5-A0CD-4370-7827395FE3CC}"/>
              </a:ext>
            </a:extLst>
          </p:cNvPr>
          <p:cNvPicPr>
            <a:picLocks noChangeAspect="1"/>
          </p:cNvPicPr>
          <p:nvPr/>
        </p:nvPicPr>
        <p:blipFill>
          <a:blip r:embed="rId5"/>
          <a:stretch>
            <a:fillRect/>
          </a:stretch>
        </p:blipFill>
        <p:spPr>
          <a:xfrm>
            <a:off x="422363" y="2887143"/>
            <a:ext cx="4574486" cy="1826105"/>
          </a:xfrm>
          <a:prstGeom prst="rect">
            <a:avLst/>
          </a:prstGeom>
        </p:spPr>
      </p:pic>
    </p:spTree>
    <p:extLst>
      <p:ext uri="{BB962C8B-B14F-4D97-AF65-F5344CB8AC3E}">
        <p14:creationId xmlns:p14="http://schemas.microsoft.com/office/powerpoint/2010/main" val="207080433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E2061-3169-07C6-B1D8-D302547BEC10}"/>
              </a:ext>
            </a:extLst>
          </p:cNvPr>
          <p:cNvSpPr>
            <a:spLocks noGrp="1"/>
          </p:cNvSpPr>
          <p:nvPr>
            <p:ph type="title"/>
          </p:nvPr>
        </p:nvSpPr>
        <p:spPr/>
        <p:txBody>
          <a:bodyPr/>
          <a:lstStyle/>
          <a:p>
            <a:r>
              <a:rPr lang="en-US" dirty="0"/>
              <a:t>Constant Member Functions</a:t>
            </a:r>
          </a:p>
        </p:txBody>
      </p:sp>
      <p:sp>
        <p:nvSpPr>
          <p:cNvPr id="3" name="Content Placeholder 2">
            <a:extLst>
              <a:ext uri="{FF2B5EF4-FFF2-40B4-BE49-F238E27FC236}">
                <a16:creationId xmlns:a16="http://schemas.microsoft.com/office/drawing/2014/main" id="{2BDB7068-E120-CF13-1F11-D196103A1AE5}"/>
              </a:ext>
            </a:extLst>
          </p:cNvPr>
          <p:cNvSpPr>
            <a:spLocks noGrp="1"/>
          </p:cNvSpPr>
          <p:nvPr>
            <p:ph idx="1"/>
          </p:nvPr>
        </p:nvSpPr>
        <p:spPr/>
        <p:txBody>
          <a:bodyPr/>
          <a:lstStyle/>
          <a:p>
            <a:r>
              <a:rPr lang="en-US" dirty="0"/>
              <a:t>A parameter that is passed to a function by reference or through a pointer may be modified by that function. </a:t>
            </a:r>
          </a:p>
          <a:p>
            <a:r>
              <a:rPr lang="en-US" dirty="0"/>
              <a:t>The const key word is used with a parameter to prevent the called function from modifying it. </a:t>
            </a:r>
          </a:p>
          <a:p>
            <a:r>
              <a:rPr lang="en-US" dirty="0"/>
              <a:t>For example, a function declared as </a:t>
            </a:r>
            <a:r>
              <a:rPr lang="en-US" b="1" i="1" dirty="0">
                <a:solidFill>
                  <a:srgbClr val="FF0000"/>
                </a:solidFill>
                <a:effectLst/>
              </a:rPr>
              <a:t>void</a:t>
            </a:r>
            <a:r>
              <a:rPr lang="en-US" b="1" i="1" dirty="0">
                <a:solidFill>
                  <a:srgbClr val="FF0000"/>
                </a:solidFill>
              </a:rPr>
              <a:t> </a:t>
            </a:r>
            <a:r>
              <a:rPr lang="en-US" b="1" i="1" dirty="0">
                <a:solidFill>
                  <a:srgbClr val="FF0000"/>
                </a:solidFill>
                <a:effectLst/>
              </a:rPr>
              <a:t>fun</a:t>
            </a:r>
            <a:r>
              <a:rPr lang="en-US" b="1" i="1" dirty="0">
                <a:solidFill>
                  <a:srgbClr val="FF0000"/>
                </a:solidFill>
              </a:rPr>
              <a:t>(</a:t>
            </a:r>
            <a:r>
              <a:rPr lang="en-US" b="1" i="1" dirty="0">
                <a:solidFill>
                  <a:srgbClr val="FF0000"/>
                </a:solidFill>
                <a:effectLst/>
              </a:rPr>
              <a:t>const</a:t>
            </a:r>
            <a:r>
              <a:rPr lang="en-US" b="1" i="1" dirty="0">
                <a:solidFill>
                  <a:srgbClr val="FF0000"/>
                </a:solidFill>
              </a:rPr>
              <a:t> string &amp;str); </a:t>
            </a:r>
          </a:p>
          <a:p>
            <a:r>
              <a:rPr lang="en-US" dirty="0" err="1"/>
              <a:t>Itakes</a:t>
            </a:r>
            <a:r>
              <a:rPr lang="en-US" dirty="0"/>
              <a:t> a reference to a string object as a parameter but will not be able to modify the object. </a:t>
            </a:r>
          </a:p>
          <a:p>
            <a:r>
              <a:rPr lang="en-US" dirty="0"/>
              <a:t>A similar mechanism can be used to protect the implicit parameter *this from being modified by a member function. </a:t>
            </a:r>
            <a:endParaRPr lang="en-US" b="1" i="1" dirty="0">
              <a:solidFill>
                <a:srgbClr val="FF0000"/>
              </a:solidFill>
            </a:endParaRPr>
          </a:p>
        </p:txBody>
      </p:sp>
    </p:spTree>
    <p:extLst>
      <p:ext uri="{BB962C8B-B14F-4D97-AF65-F5344CB8AC3E}">
        <p14:creationId xmlns:p14="http://schemas.microsoft.com/office/powerpoint/2010/main" val="160951337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88C496-9913-1DDA-DD73-E22BAF834D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4192BC-B785-A588-3375-8620D8B2C5CA}"/>
              </a:ext>
            </a:extLst>
          </p:cNvPr>
          <p:cNvSpPr>
            <a:spLocks noGrp="1"/>
          </p:cNvSpPr>
          <p:nvPr>
            <p:ph type="title"/>
          </p:nvPr>
        </p:nvSpPr>
        <p:spPr/>
        <p:txBody>
          <a:bodyPr/>
          <a:lstStyle/>
          <a:p>
            <a:r>
              <a:rPr lang="en-US" dirty="0"/>
              <a:t>Constant Member Functions</a:t>
            </a:r>
          </a:p>
        </p:txBody>
      </p:sp>
      <p:sp>
        <p:nvSpPr>
          <p:cNvPr id="3" name="Content Placeholder 2">
            <a:extLst>
              <a:ext uri="{FF2B5EF4-FFF2-40B4-BE49-F238E27FC236}">
                <a16:creationId xmlns:a16="http://schemas.microsoft.com/office/drawing/2014/main" id="{63195D60-B74A-5FF0-2F93-DA55486F8F35}"/>
              </a:ext>
            </a:extLst>
          </p:cNvPr>
          <p:cNvSpPr>
            <a:spLocks noGrp="1"/>
          </p:cNvSpPr>
          <p:nvPr>
            <p:ph idx="1"/>
          </p:nvPr>
        </p:nvSpPr>
        <p:spPr/>
        <p:txBody>
          <a:bodyPr/>
          <a:lstStyle/>
          <a:p>
            <a:r>
              <a:rPr lang="en-US" dirty="0"/>
              <a:t>When placed right after the parameter list in the definition of a member function, the const key word serves as an indication to the compiler that the member function should not be allowed to modify its object. </a:t>
            </a:r>
          </a:p>
          <a:p>
            <a:r>
              <a:rPr lang="en-US" dirty="0"/>
              <a:t>If the member function is defined outside the class, both the in-class declaration and the definition must have the const.</a:t>
            </a:r>
            <a:endParaRPr lang="en-US" b="1" i="1" dirty="0">
              <a:solidFill>
                <a:srgbClr val="FF0000"/>
              </a:solidFill>
            </a:endParaRPr>
          </a:p>
        </p:txBody>
      </p:sp>
      <p:pic>
        <p:nvPicPr>
          <p:cNvPr id="4" name="Picture 3">
            <a:extLst>
              <a:ext uri="{FF2B5EF4-FFF2-40B4-BE49-F238E27FC236}">
                <a16:creationId xmlns:a16="http://schemas.microsoft.com/office/drawing/2014/main" id="{823D7B7F-A568-5AC1-8DCD-2BD199053897}"/>
              </a:ext>
            </a:extLst>
          </p:cNvPr>
          <p:cNvPicPr>
            <a:picLocks noChangeAspect="1"/>
          </p:cNvPicPr>
          <p:nvPr/>
        </p:nvPicPr>
        <p:blipFill>
          <a:blip r:embed="rId2"/>
          <a:stretch>
            <a:fillRect/>
          </a:stretch>
        </p:blipFill>
        <p:spPr>
          <a:xfrm>
            <a:off x="1567970" y="4533300"/>
            <a:ext cx="2599491" cy="1778599"/>
          </a:xfrm>
          <a:prstGeom prst="rect">
            <a:avLst/>
          </a:prstGeom>
        </p:spPr>
      </p:pic>
      <p:pic>
        <p:nvPicPr>
          <p:cNvPr id="5" name="Picture 4">
            <a:extLst>
              <a:ext uri="{FF2B5EF4-FFF2-40B4-BE49-F238E27FC236}">
                <a16:creationId xmlns:a16="http://schemas.microsoft.com/office/drawing/2014/main" id="{BB12EFA5-6275-1783-96E7-E8B01D6FDD55}"/>
              </a:ext>
            </a:extLst>
          </p:cNvPr>
          <p:cNvPicPr>
            <a:picLocks noChangeAspect="1"/>
          </p:cNvPicPr>
          <p:nvPr/>
        </p:nvPicPr>
        <p:blipFill>
          <a:blip r:embed="rId3"/>
          <a:stretch>
            <a:fillRect/>
          </a:stretch>
        </p:blipFill>
        <p:spPr>
          <a:xfrm>
            <a:off x="5366591" y="4696963"/>
            <a:ext cx="3947085" cy="1307472"/>
          </a:xfrm>
          <a:prstGeom prst="rect">
            <a:avLst/>
          </a:prstGeom>
        </p:spPr>
      </p:pic>
    </p:spTree>
    <p:extLst>
      <p:ext uri="{BB962C8B-B14F-4D97-AF65-F5344CB8AC3E}">
        <p14:creationId xmlns:p14="http://schemas.microsoft.com/office/powerpoint/2010/main" val="332669861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072C8D-E8D4-DF4C-5B5E-F389AD1771DD}"/>
              </a:ext>
            </a:extLst>
          </p:cNvPr>
          <p:cNvSpPr>
            <a:spLocks noGrp="1"/>
          </p:cNvSpPr>
          <p:nvPr>
            <p:ph type="title"/>
          </p:nvPr>
        </p:nvSpPr>
        <p:spPr/>
        <p:txBody>
          <a:bodyPr/>
          <a:lstStyle/>
          <a:p>
            <a:r>
              <a:rPr lang="en-US" dirty="0"/>
              <a:t>Constant Member Functions</a:t>
            </a:r>
          </a:p>
        </p:txBody>
      </p:sp>
      <p:sp>
        <p:nvSpPr>
          <p:cNvPr id="3" name="Content Placeholder 2">
            <a:extLst>
              <a:ext uri="{FF2B5EF4-FFF2-40B4-BE49-F238E27FC236}">
                <a16:creationId xmlns:a16="http://schemas.microsoft.com/office/drawing/2014/main" id="{C61C112D-417E-1F2F-6A7E-B46E71D0EB65}"/>
              </a:ext>
            </a:extLst>
          </p:cNvPr>
          <p:cNvSpPr>
            <a:spLocks noGrp="1"/>
          </p:cNvSpPr>
          <p:nvPr>
            <p:ph idx="1"/>
          </p:nvPr>
        </p:nvSpPr>
        <p:spPr/>
        <p:txBody>
          <a:bodyPr/>
          <a:lstStyle/>
          <a:p>
            <a:r>
              <a:rPr lang="en-US" dirty="0"/>
              <a:t>A function with a constant parameter x cannot turn around and pass x as a non-constant parameter to another function. </a:t>
            </a:r>
          </a:p>
          <a:p>
            <a:r>
              <a:rPr lang="en-US" dirty="0"/>
              <a:t>In other words, a function that promises not to modify x may not pass x to another function unless that second function also promises not to modify x. </a:t>
            </a:r>
          </a:p>
          <a:p>
            <a:r>
              <a:rPr lang="en-US" dirty="0"/>
              <a:t>This can sometimes occur in ways that are not obvious.</a:t>
            </a:r>
          </a:p>
          <a:p>
            <a:r>
              <a:rPr lang="en-US" dirty="0"/>
              <a:t>Let’s look at an example:</a:t>
            </a:r>
          </a:p>
        </p:txBody>
      </p:sp>
    </p:spTree>
    <p:extLst>
      <p:ext uri="{BB962C8B-B14F-4D97-AF65-F5344CB8AC3E}">
        <p14:creationId xmlns:p14="http://schemas.microsoft.com/office/powerpoint/2010/main" val="423673201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428DCF-6680-9DEA-6655-B128BFFBCE11}"/>
              </a:ext>
            </a:extLst>
          </p:cNvPr>
          <p:cNvSpPr>
            <a:spLocks noGrp="1"/>
          </p:cNvSpPr>
          <p:nvPr>
            <p:ph type="title"/>
          </p:nvPr>
        </p:nvSpPr>
        <p:spPr/>
        <p:txBody>
          <a:bodyPr/>
          <a:lstStyle/>
          <a:p>
            <a:r>
              <a:rPr lang="en-US" dirty="0"/>
              <a:t>Example</a:t>
            </a:r>
          </a:p>
        </p:txBody>
      </p:sp>
      <p:sp>
        <p:nvSpPr>
          <p:cNvPr id="3" name="Content Placeholder 2">
            <a:extLst>
              <a:ext uri="{FF2B5EF4-FFF2-40B4-BE49-F238E27FC236}">
                <a16:creationId xmlns:a16="http://schemas.microsoft.com/office/drawing/2014/main" id="{79A8385B-462F-22ED-0B08-13F1579D1B4C}"/>
              </a:ext>
            </a:extLst>
          </p:cNvPr>
          <p:cNvSpPr>
            <a:spLocks noGrp="1"/>
          </p:cNvSpPr>
          <p:nvPr>
            <p:ph idx="1"/>
          </p:nvPr>
        </p:nvSpPr>
        <p:spPr>
          <a:xfrm>
            <a:off x="695262" y="1492548"/>
            <a:ext cx="6335265" cy="5244681"/>
          </a:xfrm>
        </p:spPr>
        <p:txBody>
          <a:bodyPr>
            <a:normAutofit fontScale="92500" lnSpcReduction="10000"/>
          </a:bodyPr>
          <a:lstStyle/>
          <a:p>
            <a:r>
              <a:rPr lang="en-US" dirty="0"/>
              <a:t>The  program uses a function with a constant parameter to print the first element of an array. </a:t>
            </a:r>
          </a:p>
          <a:p>
            <a:r>
              <a:rPr lang="en-US" dirty="0"/>
              <a:t>It does not compile because it is not consistent in its use of const.</a:t>
            </a:r>
          </a:p>
          <a:p>
            <a:r>
              <a:rPr lang="en-US" dirty="0"/>
              <a:t>The program does not compile because the compiler cannot guarantee that an element of the const array will not be modified when passed as the implicit this parameter to the output member function: </a:t>
            </a:r>
            <a:r>
              <a:rPr lang="en-US" i="1" dirty="0" err="1">
                <a:solidFill>
                  <a:srgbClr val="FF0000"/>
                </a:solidFill>
              </a:rPr>
              <a:t>arr</a:t>
            </a:r>
            <a:r>
              <a:rPr lang="en-US" i="1" dirty="0">
                <a:solidFill>
                  <a:srgbClr val="FF0000"/>
                </a:solidFill>
              </a:rPr>
              <a:t>[</a:t>
            </a:r>
            <a:r>
              <a:rPr lang="en-US" i="1" dirty="0">
                <a:solidFill>
                  <a:srgbClr val="FF0000"/>
                </a:solidFill>
                <a:effectLst/>
              </a:rPr>
              <a:t>0</a:t>
            </a:r>
            <a:r>
              <a:rPr lang="en-US" i="1" dirty="0">
                <a:solidFill>
                  <a:srgbClr val="FF0000"/>
                </a:solidFill>
              </a:rPr>
              <a:t>].</a:t>
            </a:r>
            <a:r>
              <a:rPr lang="en-US" i="1" dirty="0">
                <a:solidFill>
                  <a:srgbClr val="FF0000"/>
                </a:solidFill>
                <a:effectLst/>
              </a:rPr>
              <a:t>output</a:t>
            </a:r>
            <a:r>
              <a:rPr lang="en-US" i="1" dirty="0">
                <a:solidFill>
                  <a:srgbClr val="FF0000"/>
                </a:solidFill>
              </a:rPr>
              <a:t>(); </a:t>
            </a:r>
          </a:p>
          <a:p>
            <a:r>
              <a:rPr lang="en-US" dirty="0">
                <a:effectLst/>
              </a:rPr>
              <a:t>You can get the program to compile by making output() a const member function to signify that it has a constant this parameter:</a:t>
            </a:r>
          </a:p>
        </p:txBody>
      </p:sp>
      <p:pic>
        <p:nvPicPr>
          <p:cNvPr id="6" name="Picture 5">
            <a:extLst>
              <a:ext uri="{FF2B5EF4-FFF2-40B4-BE49-F238E27FC236}">
                <a16:creationId xmlns:a16="http://schemas.microsoft.com/office/drawing/2014/main" id="{8D05EDDB-0B26-1097-3986-9222411461ED}"/>
              </a:ext>
            </a:extLst>
          </p:cNvPr>
          <p:cNvPicPr>
            <a:picLocks noChangeAspect="1"/>
          </p:cNvPicPr>
          <p:nvPr/>
        </p:nvPicPr>
        <p:blipFill>
          <a:blip r:embed="rId2"/>
          <a:stretch>
            <a:fillRect/>
          </a:stretch>
        </p:blipFill>
        <p:spPr>
          <a:xfrm>
            <a:off x="7318493" y="0"/>
            <a:ext cx="3747340" cy="4756986"/>
          </a:xfrm>
          <a:prstGeom prst="rect">
            <a:avLst/>
          </a:prstGeom>
        </p:spPr>
      </p:pic>
      <p:pic>
        <p:nvPicPr>
          <p:cNvPr id="7" name="Picture 6">
            <a:extLst>
              <a:ext uri="{FF2B5EF4-FFF2-40B4-BE49-F238E27FC236}">
                <a16:creationId xmlns:a16="http://schemas.microsoft.com/office/drawing/2014/main" id="{C8DB28C5-6A0C-0061-2AFB-D2808FDCD40D}"/>
              </a:ext>
            </a:extLst>
          </p:cNvPr>
          <p:cNvPicPr>
            <a:picLocks noChangeAspect="1"/>
          </p:cNvPicPr>
          <p:nvPr/>
        </p:nvPicPr>
        <p:blipFill>
          <a:blip r:embed="rId3"/>
          <a:stretch>
            <a:fillRect/>
          </a:stretch>
        </p:blipFill>
        <p:spPr>
          <a:xfrm>
            <a:off x="7318493" y="5132871"/>
            <a:ext cx="3656522" cy="1725129"/>
          </a:xfrm>
          <a:prstGeom prst="rect">
            <a:avLst/>
          </a:prstGeom>
        </p:spPr>
      </p:pic>
      <p:sp>
        <p:nvSpPr>
          <p:cNvPr id="8" name="TextBox 7">
            <a:extLst>
              <a:ext uri="{FF2B5EF4-FFF2-40B4-BE49-F238E27FC236}">
                <a16:creationId xmlns:a16="http://schemas.microsoft.com/office/drawing/2014/main" id="{624291DD-5D8D-3737-1160-E2A287301177}"/>
              </a:ext>
            </a:extLst>
          </p:cNvPr>
          <p:cNvSpPr txBox="1"/>
          <p:nvPr/>
        </p:nvSpPr>
        <p:spPr>
          <a:xfrm>
            <a:off x="8361873" y="4754882"/>
            <a:ext cx="1124026" cy="369332"/>
          </a:xfrm>
          <a:prstGeom prst="rect">
            <a:avLst/>
          </a:prstGeom>
          <a:noFill/>
        </p:spPr>
        <p:txBody>
          <a:bodyPr wrap="none" rtlCol="0">
            <a:spAutoFit/>
          </a:bodyPr>
          <a:lstStyle/>
          <a:p>
            <a:r>
              <a:rPr lang="en-US" dirty="0"/>
              <a:t>Solution: </a:t>
            </a:r>
          </a:p>
        </p:txBody>
      </p:sp>
    </p:spTree>
    <p:extLst>
      <p:ext uri="{BB962C8B-B14F-4D97-AF65-F5344CB8AC3E}">
        <p14:creationId xmlns:p14="http://schemas.microsoft.com/office/powerpoint/2010/main" val="152587170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1675</TotalTime>
  <Words>3929</Words>
  <Application>Microsoft Macintosh PowerPoint</Application>
  <PresentationFormat>Widescreen</PresentationFormat>
  <Paragraphs>216</Paragraphs>
  <Slides>47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47</vt:i4>
      </vt:variant>
    </vt:vector>
  </HeadingPairs>
  <TitlesOfParts>
    <vt:vector size="53" baseType="lpstr">
      <vt:lpstr>-webkit-standard</vt:lpstr>
      <vt:lpstr>Abadi MT Condensed Light</vt:lpstr>
      <vt:lpstr>Aptos</vt:lpstr>
      <vt:lpstr>Aptos Display</vt:lpstr>
      <vt:lpstr>Arial</vt:lpstr>
      <vt:lpstr>Office Theme</vt:lpstr>
      <vt:lpstr>     Week 7 Classes: A Deeper Look</vt:lpstr>
      <vt:lpstr>Constructors</vt:lpstr>
      <vt:lpstr>Constructors</vt:lpstr>
      <vt:lpstr>Constructors</vt:lpstr>
      <vt:lpstr>Example</vt:lpstr>
      <vt:lpstr>Overloading Constructors</vt:lpstr>
      <vt:lpstr>Default Constructors</vt:lpstr>
      <vt:lpstr>Default Constructors</vt:lpstr>
      <vt:lpstr>Default Constructors</vt:lpstr>
      <vt:lpstr>Constructor Delegation</vt:lpstr>
      <vt:lpstr>Constructor Delegation</vt:lpstr>
      <vt:lpstr>Destructors</vt:lpstr>
      <vt:lpstr>Example</vt:lpstr>
      <vt:lpstr>Private Member Functions</vt:lpstr>
      <vt:lpstr>Passing Objects to Functions</vt:lpstr>
      <vt:lpstr>Passing Objects to Functions</vt:lpstr>
      <vt:lpstr>Example</vt:lpstr>
      <vt:lpstr>Constant Reference Parameters</vt:lpstr>
      <vt:lpstr>Constant Reference Parameters</vt:lpstr>
      <vt:lpstr>Constant Reference Parameters</vt:lpstr>
      <vt:lpstr>Returning an Object from a Function</vt:lpstr>
      <vt:lpstr>Object Composition</vt:lpstr>
      <vt:lpstr>Example</vt:lpstr>
      <vt:lpstr>Separating Class Specification, Implementation, and Client Code</vt:lpstr>
      <vt:lpstr>Separating Class Specification, Implementation, and Client Code</vt:lpstr>
      <vt:lpstr>Example</vt:lpstr>
      <vt:lpstr>Separating Class Specification, Implementation, and Client Code</vt:lpstr>
      <vt:lpstr>Separating Class Specification, Implementation, and Client Code</vt:lpstr>
      <vt:lpstr>Separating Class Specification, Implementation, and Client Code</vt:lpstr>
      <vt:lpstr>Finally</vt:lpstr>
      <vt:lpstr>Summary</vt:lpstr>
      <vt:lpstr>Advantages of Using Multiple Files</vt:lpstr>
      <vt:lpstr>Pointers to Class Objects</vt:lpstr>
      <vt:lpstr>Pointers to Class Objects</vt:lpstr>
      <vt:lpstr>Pointers to Class Objects</vt:lpstr>
      <vt:lpstr>Pointers to Class Objects</vt:lpstr>
      <vt:lpstr>Pointers to Class Objects</vt:lpstr>
      <vt:lpstr>The this Pointer and Constant Member Functions</vt:lpstr>
      <vt:lpstr>The this Pointer</vt:lpstr>
      <vt:lpstr>The this Pointer</vt:lpstr>
      <vt:lpstr>The this Pointer</vt:lpstr>
      <vt:lpstr>The this Pointer</vt:lpstr>
      <vt:lpstr>Example</vt:lpstr>
      <vt:lpstr>Constant Member Functions</vt:lpstr>
      <vt:lpstr>Constant Member Functions</vt:lpstr>
      <vt:lpstr>Constant Member Functions</vt:lpstr>
      <vt:lpstr>Example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MD Romael Haque</dc:creator>
  <cp:lastModifiedBy>MD Romael Haque</cp:lastModifiedBy>
  <cp:revision>5</cp:revision>
  <dcterms:created xsi:type="dcterms:W3CDTF">2024-10-03T10:45:59Z</dcterms:created>
  <dcterms:modified xsi:type="dcterms:W3CDTF">2024-10-10T12:34:01Z</dcterms:modified>
</cp:coreProperties>
</file>