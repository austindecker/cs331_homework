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6" r:id="rId2"/>
    <p:sldId id="260" r:id="rId3"/>
    <p:sldId id="261" r:id="rId4"/>
    <p:sldId id="262" r:id="rId5"/>
    <p:sldId id="263" r:id="rId6"/>
    <p:sldId id="266" r:id="rId7"/>
    <p:sldId id="267" r:id="rId8"/>
    <p:sldId id="268" r:id="rId9"/>
    <p:sldId id="269" r:id="rId10"/>
    <p:sldId id="264"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336" r:id="rId25"/>
    <p:sldId id="283" r:id="rId26"/>
    <p:sldId id="284" r:id="rId27"/>
    <p:sldId id="285" r:id="rId28"/>
    <p:sldId id="286" r:id="rId29"/>
    <p:sldId id="287" r:id="rId30"/>
    <p:sldId id="288" r:id="rId31"/>
    <p:sldId id="289" r:id="rId32"/>
    <p:sldId id="290" r:id="rId33"/>
    <p:sldId id="291" r:id="rId34"/>
    <p:sldId id="292" r:id="rId35"/>
    <p:sldId id="294" r:id="rId36"/>
    <p:sldId id="293" r:id="rId37"/>
    <p:sldId id="295" r:id="rId38"/>
    <p:sldId id="296" r:id="rId39"/>
    <p:sldId id="297" r:id="rId40"/>
    <p:sldId id="298" r:id="rId41"/>
    <p:sldId id="299" r:id="rId42"/>
    <p:sldId id="300" r:id="rId43"/>
    <p:sldId id="303" r:id="rId44"/>
    <p:sldId id="304" r:id="rId45"/>
    <p:sldId id="305" r:id="rId46"/>
    <p:sldId id="306" r:id="rId47"/>
    <p:sldId id="307" r:id="rId48"/>
    <p:sldId id="301" r:id="rId49"/>
    <p:sldId id="308" r:id="rId50"/>
    <p:sldId id="302" r:id="rId51"/>
    <p:sldId id="309" r:id="rId52"/>
    <p:sldId id="310" r:id="rId53"/>
    <p:sldId id="311" r:id="rId54"/>
    <p:sldId id="312" r:id="rId55"/>
    <p:sldId id="313" r:id="rId56"/>
    <p:sldId id="315" r:id="rId57"/>
    <p:sldId id="314"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27"/>
    <p:restoredTop sz="94694"/>
  </p:normalViewPr>
  <p:slideViewPr>
    <p:cSldViewPr snapToGrid="0">
      <p:cViewPr varScale="1">
        <p:scale>
          <a:sx n="121" d="100"/>
          <a:sy n="121" d="100"/>
        </p:scale>
        <p:origin x="424"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F63BF3-E48E-FE45-B8FE-374AD529E661}" type="datetimeFigureOut">
              <a:rPr lang="en-US" smtClean="0"/>
              <a:t>11/21/24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FB10C6-F36F-C54D-8FF6-7606C59D5860}" type="slidenum">
              <a:rPr lang="en-US" smtClean="0"/>
              <a:t>‹#›</a:t>
            </a:fld>
            <a:endParaRPr lang="en-US"/>
          </a:p>
        </p:txBody>
      </p:sp>
    </p:spTree>
    <p:extLst>
      <p:ext uri="{BB962C8B-B14F-4D97-AF65-F5344CB8AC3E}">
        <p14:creationId xmlns:p14="http://schemas.microsoft.com/office/powerpoint/2010/main" val="1190457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FB10C6-F36F-C54D-8FF6-7606C59D5860}" type="slidenum">
              <a:rPr lang="en-US" smtClean="0"/>
              <a:t>3</a:t>
            </a:fld>
            <a:endParaRPr lang="en-US"/>
          </a:p>
        </p:txBody>
      </p:sp>
    </p:spTree>
    <p:extLst>
      <p:ext uri="{BB962C8B-B14F-4D97-AF65-F5344CB8AC3E}">
        <p14:creationId xmlns:p14="http://schemas.microsoft.com/office/powerpoint/2010/main" val="2239967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FB10C6-F36F-C54D-8FF6-7606C59D5860}" type="slidenum">
              <a:rPr lang="en-US" smtClean="0"/>
              <a:t>21</a:t>
            </a:fld>
            <a:endParaRPr lang="en-US"/>
          </a:p>
        </p:txBody>
      </p:sp>
    </p:spTree>
    <p:extLst>
      <p:ext uri="{BB962C8B-B14F-4D97-AF65-F5344CB8AC3E}">
        <p14:creationId xmlns:p14="http://schemas.microsoft.com/office/powerpoint/2010/main" val="2383207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FB10C6-F36F-C54D-8FF6-7606C59D5860}" type="slidenum">
              <a:rPr lang="en-US" smtClean="0"/>
              <a:t>32</a:t>
            </a:fld>
            <a:endParaRPr lang="en-US"/>
          </a:p>
        </p:txBody>
      </p:sp>
    </p:spTree>
    <p:extLst>
      <p:ext uri="{BB962C8B-B14F-4D97-AF65-F5344CB8AC3E}">
        <p14:creationId xmlns:p14="http://schemas.microsoft.com/office/powerpoint/2010/main" val="3986216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FB10C6-F36F-C54D-8FF6-7606C59D5860}" type="slidenum">
              <a:rPr lang="en-US" smtClean="0"/>
              <a:t>33</a:t>
            </a:fld>
            <a:endParaRPr lang="en-US"/>
          </a:p>
        </p:txBody>
      </p:sp>
    </p:spTree>
    <p:extLst>
      <p:ext uri="{BB962C8B-B14F-4D97-AF65-F5344CB8AC3E}">
        <p14:creationId xmlns:p14="http://schemas.microsoft.com/office/powerpoint/2010/main" val="2294833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FB10C6-F36F-C54D-8FF6-7606C59D5860}" type="slidenum">
              <a:rPr lang="en-US" smtClean="0"/>
              <a:t>56</a:t>
            </a:fld>
            <a:endParaRPr lang="en-US"/>
          </a:p>
        </p:txBody>
      </p:sp>
    </p:spTree>
    <p:extLst>
      <p:ext uri="{BB962C8B-B14F-4D97-AF65-F5344CB8AC3E}">
        <p14:creationId xmlns:p14="http://schemas.microsoft.com/office/powerpoint/2010/main" val="2243516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5511-DB31-326E-399A-02AE9A8804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7FE8A4-53E2-7FCD-886D-F8725C1D6F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24F905-2F28-E323-F7DB-AEC08560072D}"/>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5" name="Footer Placeholder 4">
            <a:extLst>
              <a:ext uri="{FF2B5EF4-FFF2-40B4-BE49-F238E27FC236}">
                <a16:creationId xmlns:a16="http://schemas.microsoft.com/office/drawing/2014/main" id="{D1979DE4-80A9-8C58-66F0-42F2A10B96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8A3A5-214E-67C2-140C-174B13E0C1D6}"/>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808922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C748-833B-7880-80DF-5C90B957D6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1AB2F4-C2CF-969D-6E9A-1D7B280489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C6E4C7-3BC9-AFD7-B05B-0692CAD2AA08}"/>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5" name="Footer Placeholder 4">
            <a:extLst>
              <a:ext uri="{FF2B5EF4-FFF2-40B4-BE49-F238E27FC236}">
                <a16:creationId xmlns:a16="http://schemas.microsoft.com/office/drawing/2014/main" id="{540ADAF5-7A70-6779-13B2-A7B604FEA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4E0105-EF09-4244-DDAB-F228A8FDA263}"/>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35273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2788C-8FFC-9D02-2F63-27886ED476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DA6C6E-33F9-7288-9EA4-BD8F31C9DB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C9DF32-1C75-F93C-D122-2878C5D5CB81}"/>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5" name="Footer Placeholder 4">
            <a:extLst>
              <a:ext uri="{FF2B5EF4-FFF2-40B4-BE49-F238E27FC236}">
                <a16:creationId xmlns:a16="http://schemas.microsoft.com/office/drawing/2014/main" id="{996F073C-1AA8-8992-F4B7-37790235A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95BD98-34ED-5934-1066-400483BDC94A}"/>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254733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9CFB9-75C3-8099-BD3D-8C3F788CCE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8928DD-12D5-E6AF-9B04-87F6D3CD58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AFCF32-0321-6646-2CAF-1DCABCF3B8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7906DE-F9EF-D232-A923-1837FEA8B96B}"/>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6" name="Footer Placeholder 5">
            <a:extLst>
              <a:ext uri="{FF2B5EF4-FFF2-40B4-BE49-F238E27FC236}">
                <a16:creationId xmlns:a16="http://schemas.microsoft.com/office/drawing/2014/main" id="{2A024A25-5594-72CB-92DC-95D36DC18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B09B14-8D70-15D2-274A-11DABD4CB1D6}"/>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354524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010F9-90EB-26DA-7467-FDD1942FCF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C95C83-8C12-21A8-333A-D0266A2111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99EEF4-68A7-5AC1-9AFE-2E6AE17EAF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402387-1C90-E208-1283-357B5B76DC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00205E-5DF7-C868-0E01-C6183EC764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A73E94-01CC-4227-54D4-F95D3C17C576}"/>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8" name="Footer Placeholder 7">
            <a:extLst>
              <a:ext uri="{FF2B5EF4-FFF2-40B4-BE49-F238E27FC236}">
                <a16:creationId xmlns:a16="http://schemas.microsoft.com/office/drawing/2014/main" id="{68778635-8BD2-23C1-7E62-6AF7D4A2EC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EFE19B-9974-605B-0B28-AC95304D8198}"/>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986436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A2B3-7B56-A526-F0A6-5DCD8669C4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56661F-CD7B-5327-694A-618392545692}"/>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4" name="Footer Placeholder 3">
            <a:extLst>
              <a:ext uri="{FF2B5EF4-FFF2-40B4-BE49-F238E27FC236}">
                <a16:creationId xmlns:a16="http://schemas.microsoft.com/office/drawing/2014/main" id="{1127053B-3B2B-3228-6302-BC402F58CE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5A3758-F701-1B94-5FFF-31A5800CB1D5}"/>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478351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9C2289-AC04-9D0C-074D-AC99B03C12F5}"/>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3" name="Footer Placeholder 2">
            <a:extLst>
              <a:ext uri="{FF2B5EF4-FFF2-40B4-BE49-F238E27FC236}">
                <a16:creationId xmlns:a16="http://schemas.microsoft.com/office/drawing/2014/main" id="{A6EDA553-FBB9-0E78-B0EA-0E7BEE03F0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8A3716-124B-A37D-1DB2-5EB85BFBD89C}"/>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231653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929C9-02EE-96B2-5157-3358ED77DC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C6FDDE9-8B80-9FC0-D3ED-52A432D8C7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B44577-036C-34A6-7D96-F79809ACF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8DD4E9-534E-3D62-10DC-40779F95A29E}"/>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6" name="Footer Placeholder 5">
            <a:extLst>
              <a:ext uri="{FF2B5EF4-FFF2-40B4-BE49-F238E27FC236}">
                <a16:creationId xmlns:a16="http://schemas.microsoft.com/office/drawing/2014/main" id="{242BBB1B-AFCA-25E9-EE7B-20A36FEFFD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9893FB-5E8D-6E72-464E-C090B01F2DAA}"/>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810711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91FE-F596-0A3C-F573-BE82C359FE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BBE5C7-8B55-6217-6F0B-AE7D95A7B8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C43BC0-7307-5AB3-957E-CB91145D58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FA1BCD-7C4E-88F7-4B15-EC2AB1793A95}"/>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6" name="Footer Placeholder 5">
            <a:extLst>
              <a:ext uri="{FF2B5EF4-FFF2-40B4-BE49-F238E27FC236}">
                <a16:creationId xmlns:a16="http://schemas.microsoft.com/office/drawing/2014/main" id="{FA215552-5170-7C65-D47F-D01D68A1DD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66E66-2D4D-F68A-7291-F08A1B06D82C}"/>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595903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DCCC-E064-14FB-6144-2576D7CF49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8E1986-188C-5843-C0ED-C149BA3DA9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4DCAD7-59D2-7D67-1F7E-21C935FE9768}"/>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5" name="Footer Placeholder 4">
            <a:extLst>
              <a:ext uri="{FF2B5EF4-FFF2-40B4-BE49-F238E27FC236}">
                <a16:creationId xmlns:a16="http://schemas.microsoft.com/office/drawing/2014/main" id="{65C271E6-B1FC-A858-AF3C-346FFA2C6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09752C-51B1-9525-A5AF-A072582070CE}"/>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106067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6C07EE-F465-1FEF-52C6-CCFB223F39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59F677-0FC6-91FA-BB02-F2F8F359E5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9CF52D-CC1B-CC79-195D-A249A79B8CDB}"/>
              </a:ext>
            </a:extLst>
          </p:cNvPr>
          <p:cNvSpPr>
            <a:spLocks noGrp="1"/>
          </p:cNvSpPr>
          <p:nvPr>
            <p:ph type="dt" sz="half" idx="10"/>
          </p:nvPr>
        </p:nvSpPr>
        <p:spPr/>
        <p:txBody>
          <a:bodyPr/>
          <a:lstStyle/>
          <a:p>
            <a:fld id="{CA04CA06-6EC4-5F46-A802-374C19351989}" type="datetimeFigureOut">
              <a:rPr lang="en-US" smtClean="0"/>
              <a:t>11/21/24</a:t>
            </a:fld>
            <a:endParaRPr lang="en-US"/>
          </a:p>
        </p:txBody>
      </p:sp>
      <p:sp>
        <p:nvSpPr>
          <p:cNvPr id="5" name="Footer Placeholder 4">
            <a:extLst>
              <a:ext uri="{FF2B5EF4-FFF2-40B4-BE49-F238E27FC236}">
                <a16:creationId xmlns:a16="http://schemas.microsoft.com/office/drawing/2014/main" id="{067316FC-6D2E-507E-87B9-5232B21BD1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D92E8-22C7-DB2F-8A68-6DD2AFE43926}"/>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3129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E46B24-AB7C-9DC9-AC26-51E3748843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D91739-D012-26B6-DB9F-6D9A0878E9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90D82A-DA1B-059E-432D-B1D055FF1D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04CA06-6EC4-5F46-A802-374C19351989}" type="datetimeFigureOut">
              <a:rPr lang="en-US" smtClean="0"/>
              <a:t>11/21/24</a:t>
            </a:fld>
            <a:endParaRPr lang="en-US"/>
          </a:p>
        </p:txBody>
      </p:sp>
      <p:sp>
        <p:nvSpPr>
          <p:cNvPr id="5" name="Footer Placeholder 4">
            <a:extLst>
              <a:ext uri="{FF2B5EF4-FFF2-40B4-BE49-F238E27FC236}">
                <a16:creationId xmlns:a16="http://schemas.microsoft.com/office/drawing/2014/main" id="{D963A45C-6F14-49BF-57EB-C84CE674C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FD50D68-7B98-3BEA-CA53-4DBCEE6BDD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AB1FB0-8E40-FF42-929D-3D944DFE8885}" type="slidenum">
              <a:rPr lang="en-US" smtClean="0"/>
              <a:t>‹#›</a:t>
            </a:fld>
            <a:endParaRPr lang="en-US"/>
          </a:p>
        </p:txBody>
      </p:sp>
    </p:spTree>
    <p:extLst>
      <p:ext uri="{BB962C8B-B14F-4D97-AF65-F5344CB8AC3E}">
        <p14:creationId xmlns:p14="http://schemas.microsoft.com/office/powerpoint/2010/main" val="394562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647B-603B-AF5A-83BF-216E6620EFAA}"/>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494582B3-C32A-7B08-8F83-037FA7F6E197}"/>
              </a:ext>
            </a:extLst>
          </p:cNvPr>
          <p:cNvSpPr>
            <a:spLocks noGrp="1"/>
          </p:cNvSpPr>
          <p:nvPr>
            <p:ph type="subTitle" idx="1"/>
          </p:nvPr>
        </p:nvSpPr>
        <p:spPr/>
        <p:txBody>
          <a:bodyPr/>
          <a:lstStyle/>
          <a:p>
            <a:r>
              <a:rPr lang="en-US" dirty="0"/>
              <a:t>Topic: C-Strings and String Class</a:t>
            </a:r>
          </a:p>
          <a:p>
            <a:r>
              <a:rPr lang="en-US" dirty="0"/>
              <a:t>MD Romael Haque</a:t>
            </a:r>
          </a:p>
        </p:txBody>
      </p:sp>
    </p:spTree>
    <p:extLst>
      <p:ext uri="{BB962C8B-B14F-4D97-AF65-F5344CB8AC3E}">
        <p14:creationId xmlns:p14="http://schemas.microsoft.com/office/powerpoint/2010/main" val="3711160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9126-9055-0638-3E5A-8DB57B85BF7D}"/>
              </a:ext>
            </a:extLst>
          </p:cNvPr>
          <p:cNvSpPr>
            <a:spLocks noGrp="1"/>
          </p:cNvSpPr>
          <p:nvPr>
            <p:ph type="title"/>
          </p:nvPr>
        </p:nvSpPr>
        <p:spPr/>
        <p:txBody>
          <a:bodyPr/>
          <a:lstStyle/>
          <a:p>
            <a:r>
              <a:rPr lang="en-US" dirty="0"/>
              <a:t>Character Testing</a:t>
            </a:r>
          </a:p>
        </p:txBody>
      </p:sp>
      <p:sp>
        <p:nvSpPr>
          <p:cNvPr id="3" name="Content Placeholder 2">
            <a:extLst>
              <a:ext uri="{FF2B5EF4-FFF2-40B4-BE49-F238E27FC236}">
                <a16:creationId xmlns:a16="http://schemas.microsoft.com/office/drawing/2014/main" id="{6B4AA1A4-04A0-0252-F001-AEFB370638B3}"/>
              </a:ext>
            </a:extLst>
          </p:cNvPr>
          <p:cNvSpPr>
            <a:spLocks noGrp="1"/>
          </p:cNvSpPr>
          <p:nvPr>
            <p:ph idx="1"/>
          </p:nvPr>
        </p:nvSpPr>
        <p:spPr/>
        <p:txBody>
          <a:bodyPr>
            <a:normAutofit/>
          </a:bodyPr>
          <a:lstStyle/>
          <a:p>
            <a:r>
              <a:rPr lang="en-US" dirty="0"/>
              <a:t>The C++ library provides several functions that allow you to test the value of a character. </a:t>
            </a:r>
          </a:p>
          <a:p>
            <a:r>
              <a:rPr lang="en-US" dirty="0"/>
              <a:t>These functions test a single char argument and return either true or false.</a:t>
            </a:r>
          </a:p>
          <a:p>
            <a:r>
              <a:rPr lang="en-US" dirty="0">
                <a:effectLst/>
              </a:rPr>
              <a:t>To use these functions you must include the </a:t>
            </a:r>
            <a:r>
              <a:rPr lang="en-US" dirty="0">
                <a:solidFill>
                  <a:srgbClr val="FF0000"/>
                </a:solidFill>
                <a:effectLst/>
              </a:rPr>
              <a:t>&lt;</a:t>
            </a:r>
            <a:r>
              <a:rPr lang="en-US" dirty="0" err="1">
                <a:solidFill>
                  <a:srgbClr val="FF0000"/>
                </a:solidFill>
                <a:effectLst/>
              </a:rPr>
              <a:t>cctype</a:t>
            </a:r>
            <a:r>
              <a:rPr lang="en-US" dirty="0">
                <a:solidFill>
                  <a:srgbClr val="FF0000"/>
                </a:solidFill>
                <a:effectLst/>
              </a:rPr>
              <a:t>&gt; </a:t>
            </a:r>
            <a:r>
              <a:rPr lang="en-US" dirty="0">
                <a:effectLst/>
              </a:rPr>
              <a:t>header file.</a:t>
            </a:r>
            <a:endParaRPr lang="en-US" baseline="30000" dirty="0"/>
          </a:p>
          <a:p>
            <a:endParaRPr lang="en-US" dirty="0"/>
          </a:p>
        </p:txBody>
      </p:sp>
    </p:spTree>
    <p:extLst>
      <p:ext uri="{BB962C8B-B14F-4D97-AF65-F5344CB8AC3E}">
        <p14:creationId xmlns:p14="http://schemas.microsoft.com/office/powerpoint/2010/main" val="763174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E096E-2B0D-807C-D617-B8B74D136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D98B9-9181-CB9F-C84A-47D0109FF672}"/>
              </a:ext>
            </a:extLst>
          </p:cNvPr>
          <p:cNvSpPr>
            <a:spLocks noGrp="1"/>
          </p:cNvSpPr>
          <p:nvPr>
            <p:ph type="title"/>
          </p:nvPr>
        </p:nvSpPr>
        <p:spPr/>
        <p:txBody>
          <a:bodyPr/>
          <a:lstStyle/>
          <a:p>
            <a:r>
              <a:rPr lang="en-US" dirty="0"/>
              <a:t>Character Testing</a:t>
            </a:r>
          </a:p>
        </p:txBody>
      </p:sp>
      <p:sp>
        <p:nvSpPr>
          <p:cNvPr id="3" name="Content Placeholder 2">
            <a:extLst>
              <a:ext uri="{FF2B5EF4-FFF2-40B4-BE49-F238E27FC236}">
                <a16:creationId xmlns:a16="http://schemas.microsoft.com/office/drawing/2014/main" id="{7FF99FA2-2DAE-72F0-2CF6-51F8FB3F461C}"/>
              </a:ext>
            </a:extLst>
          </p:cNvPr>
          <p:cNvSpPr>
            <a:spLocks noGrp="1"/>
          </p:cNvSpPr>
          <p:nvPr>
            <p:ph idx="1"/>
          </p:nvPr>
        </p:nvSpPr>
        <p:spPr>
          <a:xfrm>
            <a:off x="838200" y="1825624"/>
            <a:ext cx="10515600" cy="4868473"/>
          </a:xfrm>
        </p:spPr>
        <p:txBody>
          <a:bodyPr>
            <a:normAutofit lnSpcReduction="10000"/>
          </a:bodyPr>
          <a:lstStyle/>
          <a:p>
            <a:r>
              <a:rPr lang="en-US" dirty="0"/>
              <a:t>For example, the following program segment uses the</a:t>
            </a:r>
            <a:r>
              <a:rPr lang="en-US" i="1" dirty="0">
                <a:solidFill>
                  <a:srgbClr val="FF0000"/>
                </a:solidFill>
              </a:rPr>
              <a:t> </a:t>
            </a:r>
            <a:r>
              <a:rPr lang="en-US" i="1" dirty="0" err="1">
                <a:solidFill>
                  <a:srgbClr val="FF0000"/>
                </a:solidFill>
              </a:rPr>
              <a:t>isupper</a:t>
            </a:r>
            <a:r>
              <a:rPr lang="en-US" dirty="0"/>
              <a:t> function to determine whether the character passed as an argument is an uppercase letter. </a:t>
            </a:r>
          </a:p>
          <a:p>
            <a:r>
              <a:rPr lang="en-US" dirty="0"/>
              <a:t>If it is, the function returns true. Otherwise, it returns false.</a:t>
            </a:r>
          </a:p>
          <a:p>
            <a:endParaRPr lang="en-US" dirty="0"/>
          </a:p>
          <a:p>
            <a:endParaRPr lang="en-US" dirty="0"/>
          </a:p>
          <a:p>
            <a:endParaRPr lang="en-US" dirty="0"/>
          </a:p>
          <a:p>
            <a:r>
              <a:rPr lang="en-US" dirty="0"/>
              <a:t>Because the variable letter, in this example, contains a lowercase character,</a:t>
            </a:r>
            <a:r>
              <a:rPr lang="en-US" i="1" dirty="0">
                <a:solidFill>
                  <a:srgbClr val="FF0000"/>
                </a:solidFill>
              </a:rPr>
              <a:t> </a:t>
            </a:r>
            <a:r>
              <a:rPr lang="en-US" i="1" dirty="0" err="1">
                <a:solidFill>
                  <a:srgbClr val="FF0000"/>
                </a:solidFill>
              </a:rPr>
              <a:t>isupper</a:t>
            </a:r>
            <a:r>
              <a:rPr lang="en-US" i="1" dirty="0">
                <a:solidFill>
                  <a:srgbClr val="FF0000"/>
                </a:solidFill>
              </a:rPr>
              <a:t> </a:t>
            </a:r>
            <a:r>
              <a:rPr lang="en-US" dirty="0"/>
              <a:t>returns false. </a:t>
            </a:r>
          </a:p>
          <a:p>
            <a:r>
              <a:rPr lang="en-US" dirty="0"/>
              <a:t>The if statement will cause the message "Letter is lowercase" to be displayed.</a:t>
            </a:r>
          </a:p>
          <a:p>
            <a:endParaRPr lang="en-US" dirty="0"/>
          </a:p>
          <a:p>
            <a:endParaRPr lang="en-US" dirty="0"/>
          </a:p>
          <a:p>
            <a:endParaRPr lang="en-US" dirty="0"/>
          </a:p>
          <a:p>
            <a:endParaRPr lang="en-US" dirty="0"/>
          </a:p>
          <a:p>
            <a:endParaRPr lang="en-US" dirty="0">
              <a:effectLst/>
            </a:endParaRPr>
          </a:p>
          <a:p>
            <a:endParaRPr lang="en-US" dirty="0"/>
          </a:p>
          <a:p>
            <a:endParaRPr lang="en-US" dirty="0">
              <a:effectLst/>
            </a:endParaRPr>
          </a:p>
          <a:p>
            <a:endParaRPr lang="en-US" dirty="0"/>
          </a:p>
          <a:p>
            <a:endParaRPr lang="en-US" dirty="0">
              <a:effectLst/>
            </a:endParaRPr>
          </a:p>
          <a:p>
            <a:endParaRPr lang="en-US" dirty="0"/>
          </a:p>
        </p:txBody>
      </p:sp>
      <p:pic>
        <p:nvPicPr>
          <p:cNvPr id="4" name="Picture 3">
            <a:extLst>
              <a:ext uri="{FF2B5EF4-FFF2-40B4-BE49-F238E27FC236}">
                <a16:creationId xmlns:a16="http://schemas.microsoft.com/office/drawing/2014/main" id="{6EEFE9AC-7B50-2CDD-2B60-0530F87E5DE1}"/>
              </a:ext>
            </a:extLst>
          </p:cNvPr>
          <p:cNvPicPr>
            <a:picLocks noChangeAspect="1"/>
          </p:cNvPicPr>
          <p:nvPr/>
        </p:nvPicPr>
        <p:blipFill>
          <a:blip r:embed="rId3"/>
          <a:stretch>
            <a:fillRect/>
          </a:stretch>
        </p:blipFill>
        <p:spPr>
          <a:xfrm>
            <a:off x="4495987" y="3429000"/>
            <a:ext cx="3200026" cy="1402751"/>
          </a:xfrm>
          <a:prstGeom prst="rect">
            <a:avLst/>
          </a:prstGeom>
        </p:spPr>
      </p:pic>
    </p:spTree>
    <p:extLst>
      <p:ext uri="{BB962C8B-B14F-4D97-AF65-F5344CB8AC3E}">
        <p14:creationId xmlns:p14="http://schemas.microsoft.com/office/powerpoint/2010/main" val="2395103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585EA-3256-76DF-8513-5E0A4118A461}"/>
              </a:ext>
            </a:extLst>
          </p:cNvPr>
          <p:cNvSpPr>
            <a:spLocks noGrp="1"/>
          </p:cNvSpPr>
          <p:nvPr>
            <p:ph type="title"/>
          </p:nvPr>
        </p:nvSpPr>
        <p:spPr>
          <a:xfrm>
            <a:off x="838199" y="154988"/>
            <a:ext cx="10515600" cy="1325563"/>
          </a:xfrm>
        </p:spPr>
        <p:txBody>
          <a:bodyPr/>
          <a:lstStyle/>
          <a:p>
            <a:r>
              <a:rPr lang="en-US" dirty="0"/>
              <a:t>Character-Testing Functions in &lt;</a:t>
            </a:r>
            <a:r>
              <a:rPr lang="en-US" dirty="0" err="1"/>
              <a:t>cctype</a:t>
            </a:r>
            <a:r>
              <a:rPr lang="en-US" dirty="0"/>
              <a:t>&gt;</a:t>
            </a:r>
          </a:p>
        </p:txBody>
      </p:sp>
      <p:pic>
        <p:nvPicPr>
          <p:cNvPr id="4" name="Picture 3">
            <a:extLst>
              <a:ext uri="{FF2B5EF4-FFF2-40B4-BE49-F238E27FC236}">
                <a16:creationId xmlns:a16="http://schemas.microsoft.com/office/drawing/2014/main" id="{433296BC-1F81-3615-5F87-516A1743401F}"/>
              </a:ext>
            </a:extLst>
          </p:cNvPr>
          <p:cNvPicPr>
            <a:picLocks noChangeAspect="1"/>
          </p:cNvPicPr>
          <p:nvPr/>
        </p:nvPicPr>
        <p:blipFill>
          <a:blip r:embed="rId2"/>
          <a:stretch>
            <a:fillRect/>
          </a:stretch>
        </p:blipFill>
        <p:spPr>
          <a:xfrm>
            <a:off x="3305781" y="1256264"/>
            <a:ext cx="5580437" cy="5601736"/>
          </a:xfrm>
          <a:prstGeom prst="rect">
            <a:avLst/>
          </a:prstGeom>
        </p:spPr>
      </p:pic>
    </p:spTree>
    <p:extLst>
      <p:ext uri="{BB962C8B-B14F-4D97-AF65-F5344CB8AC3E}">
        <p14:creationId xmlns:p14="http://schemas.microsoft.com/office/powerpoint/2010/main" val="1729377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FD4D2-AB51-513C-86BC-8979F147C981}"/>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D7834CBF-72C6-935F-194A-5F6F46C60274}"/>
              </a:ext>
            </a:extLst>
          </p:cNvPr>
          <p:cNvPicPr>
            <a:picLocks noChangeAspect="1"/>
          </p:cNvPicPr>
          <p:nvPr/>
        </p:nvPicPr>
        <p:blipFill>
          <a:blip r:embed="rId2"/>
          <a:stretch>
            <a:fillRect/>
          </a:stretch>
        </p:blipFill>
        <p:spPr>
          <a:xfrm>
            <a:off x="5776943" y="365125"/>
            <a:ext cx="5727847" cy="6190950"/>
          </a:xfrm>
          <a:prstGeom prst="rect">
            <a:avLst/>
          </a:prstGeom>
        </p:spPr>
      </p:pic>
      <p:pic>
        <p:nvPicPr>
          <p:cNvPr id="5" name="Picture 4">
            <a:extLst>
              <a:ext uri="{FF2B5EF4-FFF2-40B4-BE49-F238E27FC236}">
                <a16:creationId xmlns:a16="http://schemas.microsoft.com/office/drawing/2014/main" id="{82A2F24F-5576-840B-E802-C863CE4CE92A}"/>
              </a:ext>
            </a:extLst>
          </p:cNvPr>
          <p:cNvPicPr>
            <a:picLocks noChangeAspect="1"/>
          </p:cNvPicPr>
          <p:nvPr/>
        </p:nvPicPr>
        <p:blipFill>
          <a:blip r:embed="rId3"/>
          <a:stretch>
            <a:fillRect/>
          </a:stretch>
        </p:blipFill>
        <p:spPr>
          <a:xfrm>
            <a:off x="838200" y="2101250"/>
            <a:ext cx="4067294" cy="3100478"/>
          </a:xfrm>
          <a:prstGeom prst="rect">
            <a:avLst/>
          </a:prstGeom>
        </p:spPr>
      </p:pic>
    </p:spTree>
    <p:extLst>
      <p:ext uri="{BB962C8B-B14F-4D97-AF65-F5344CB8AC3E}">
        <p14:creationId xmlns:p14="http://schemas.microsoft.com/office/powerpoint/2010/main" val="416628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F9C05-2AB1-9C5E-7392-D669C262B906}"/>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733E394-E4A0-FF73-0705-BF0D0BB2487E}"/>
              </a:ext>
            </a:extLst>
          </p:cNvPr>
          <p:cNvSpPr>
            <a:spLocks noGrp="1"/>
          </p:cNvSpPr>
          <p:nvPr>
            <p:ph idx="1"/>
          </p:nvPr>
        </p:nvSpPr>
        <p:spPr>
          <a:xfrm>
            <a:off x="838201" y="1825625"/>
            <a:ext cx="5890404" cy="4351338"/>
          </a:xfrm>
        </p:spPr>
        <p:txBody>
          <a:bodyPr/>
          <a:lstStyle/>
          <a:p>
            <a:r>
              <a:rPr lang="en-US" dirty="0"/>
              <a:t>In this program, the customer number is expected to consist of three alphabetic letters followed by four numeric digits. </a:t>
            </a:r>
          </a:p>
          <a:p>
            <a:r>
              <a:rPr lang="en-US" dirty="0"/>
              <a:t>The</a:t>
            </a:r>
            <a:r>
              <a:rPr lang="en-US" i="1" dirty="0">
                <a:solidFill>
                  <a:srgbClr val="FF0000"/>
                </a:solidFill>
              </a:rPr>
              <a:t> </a:t>
            </a:r>
            <a:r>
              <a:rPr lang="en-US" i="1" dirty="0" err="1">
                <a:solidFill>
                  <a:srgbClr val="FF0000"/>
                </a:solidFill>
              </a:rPr>
              <a:t>testNum</a:t>
            </a:r>
            <a:r>
              <a:rPr lang="en-US" i="1" dirty="0">
                <a:solidFill>
                  <a:srgbClr val="FF0000"/>
                </a:solidFill>
              </a:rPr>
              <a:t> </a:t>
            </a:r>
            <a:r>
              <a:rPr lang="en-US" dirty="0"/>
              <a:t>function accepts an array argument and tests the first three characters with a loop </a:t>
            </a:r>
            <a:br>
              <a:rPr lang="en-US" dirty="0"/>
            </a:br>
            <a:r>
              <a:rPr lang="en-US" dirty="0"/>
              <a:t>(Lines 45-49).</a:t>
            </a:r>
          </a:p>
        </p:txBody>
      </p:sp>
      <p:pic>
        <p:nvPicPr>
          <p:cNvPr id="4" name="Picture 3">
            <a:extLst>
              <a:ext uri="{FF2B5EF4-FFF2-40B4-BE49-F238E27FC236}">
                <a16:creationId xmlns:a16="http://schemas.microsoft.com/office/drawing/2014/main" id="{7218FAF0-02DB-3017-033D-17B5110977A0}"/>
              </a:ext>
            </a:extLst>
          </p:cNvPr>
          <p:cNvPicPr>
            <a:picLocks noChangeAspect="1"/>
          </p:cNvPicPr>
          <p:nvPr/>
        </p:nvPicPr>
        <p:blipFill>
          <a:blip r:embed="rId2"/>
          <a:stretch>
            <a:fillRect/>
          </a:stretch>
        </p:blipFill>
        <p:spPr>
          <a:xfrm>
            <a:off x="7377382" y="1825625"/>
            <a:ext cx="4679244" cy="4126422"/>
          </a:xfrm>
          <a:prstGeom prst="rect">
            <a:avLst/>
          </a:prstGeom>
        </p:spPr>
      </p:pic>
    </p:spTree>
    <p:extLst>
      <p:ext uri="{BB962C8B-B14F-4D97-AF65-F5344CB8AC3E}">
        <p14:creationId xmlns:p14="http://schemas.microsoft.com/office/powerpoint/2010/main" val="3656175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81DB4-6B00-35CE-FC49-F632CC6B6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E4D15-9B2C-4767-1993-D755CF75218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E34D2EC-2731-7D9C-2671-9A4DBFADDCF5}"/>
              </a:ext>
            </a:extLst>
          </p:cNvPr>
          <p:cNvSpPr>
            <a:spLocks noGrp="1"/>
          </p:cNvSpPr>
          <p:nvPr>
            <p:ph idx="1"/>
          </p:nvPr>
        </p:nvSpPr>
        <p:spPr>
          <a:xfrm>
            <a:off x="838201" y="1825625"/>
            <a:ext cx="6321724" cy="4667250"/>
          </a:xfrm>
        </p:spPr>
        <p:txBody>
          <a:bodyPr>
            <a:normAutofit/>
          </a:bodyPr>
          <a:lstStyle/>
          <a:p>
            <a:r>
              <a:rPr lang="en-US" dirty="0"/>
              <a:t>The </a:t>
            </a:r>
            <a:r>
              <a:rPr lang="en-US" i="1" dirty="0" err="1">
                <a:solidFill>
                  <a:srgbClr val="FF0000"/>
                </a:solidFill>
              </a:rPr>
              <a:t>isalpha</a:t>
            </a:r>
            <a:r>
              <a:rPr lang="en-US" i="1" dirty="0">
                <a:solidFill>
                  <a:srgbClr val="FF0000"/>
                </a:solidFill>
              </a:rPr>
              <a:t> </a:t>
            </a:r>
            <a:r>
              <a:rPr lang="en-US" dirty="0"/>
              <a:t>function returns true if its argument is an alphabetic character. </a:t>
            </a:r>
          </a:p>
          <a:p>
            <a:r>
              <a:rPr lang="en-US" dirty="0"/>
              <a:t>The </a:t>
            </a:r>
            <a:r>
              <a:rPr lang="en-US" dirty="0">
                <a:solidFill>
                  <a:srgbClr val="FF0000"/>
                </a:solidFill>
              </a:rPr>
              <a:t>!</a:t>
            </a:r>
            <a:r>
              <a:rPr lang="en-US" dirty="0"/>
              <a:t> operator is used in the if statement to determine whether the tested character is NOT alphabetic. </a:t>
            </a:r>
          </a:p>
          <a:p>
            <a:r>
              <a:rPr lang="en-US" dirty="0"/>
              <a:t>If this is so for any of the first three characters, the function </a:t>
            </a:r>
            <a:r>
              <a:rPr lang="en-US" i="1" dirty="0" err="1">
                <a:solidFill>
                  <a:srgbClr val="FF0000"/>
                </a:solidFill>
              </a:rPr>
              <a:t>testNum</a:t>
            </a:r>
            <a:r>
              <a:rPr lang="en-US" dirty="0"/>
              <a:t> returns false. </a:t>
            </a:r>
          </a:p>
        </p:txBody>
      </p:sp>
      <p:pic>
        <p:nvPicPr>
          <p:cNvPr id="4" name="Picture 3">
            <a:extLst>
              <a:ext uri="{FF2B5EF4-FFF2-40B4-BE49-F238E27FC236}">
                <a16:creationId xmlns:a16="http://schemas.microsoft.com/office/drawing/2014/main" id="{EBF618D2-5927-11E5-88A5-75B185162AC9}"/>
              </a:ext>
            </a:extLst>
          </p:cNvPr>
          <p:cNvPicPr>
            <a:picLocks noChangeAspect="1"/>
          </p:cNvPicPr>
          <p:nvPr/>
        </p:nvPicPr>
        <p:blipFill>
          <a:blip r:embed="rId2"/>
          <a:stretch>
            <a:fillRect/>
          </a:stretch>
        </p:blipFill>
        <p:spPr>
          <a:xfrm>
            <a:off x="7377382" y="1825625"/>
            <a:ext cx="4679244" cy="4126422"/>
          </a:xfrm>
          <a:prstGeom prst="rect">
            <a:avLst/>
          </a:prstGeom>
        </p:spPr>
      </p:pic>
    </p:spTree>
    <p:extLst>
      <p:ext uri="{BB962C8B-B14F-4D97-AF65-F5344CB8AC3E}">
        <p14:creationId xmlns:p14="http://schemas.microsoft.com/office/powerpoint/2010/main" val="616756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5740B-ADF1-C952-941D-4E6A06F16C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92399-1884-7456-0F0A-8A52D55E1FC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AC63AED-9ACC-FBA5-A439-AE21CF869576}"/>
              </a:ext>
            </a:extLst>
          </p:cNvPr>
          <p:cNvSpPr>
            <a:spLocks noGrp="1"/>
          </p:cNvSpPr>
          <p:nvPr>
            <p:ph idx="1"/>
          </p:nvPr>
        </p:nvSpPr>
        <p:spPr>
          <a:xfrm>
            <a:off x="838201" y="1825625"/>
            <a:ext cx="6321724" cy="4667250"/>
          </a:xfrm>
        </p:spPr>
        <p:txBody>
          <a:bodyPr>
            <a:normAutofit fontScale="92500"/>
          </a:bodyPr>
          <a:lstStyle/>
          <a:p>
            <a:r>
              <a:rPr lang="en-US" dirty="0"/>
              <a:t>Likewise, the next four characters are tested to determine whether they are numeric digits with a loop </a:t>
            </a:r>
            <a:br>
              <a:rPr lang="en-US" dirty="0"/>
            </a:br>
            <a:r>
              <a:rPr lang="en-US" dirty="0"/>
              <a:t>(Lines 52-56)</a:t>
            </a:r>
          </a:p>
          <a:p>
            <a:r>
              <a:rPr lang="en-US" dirty="0"/>
              <a:t>The </a:t>
            </a:r>
            <a:r>
              <a:rPr lang="en-US" i="1" dirty="0" err="1">
                <a:solidFill>
                  <a:srgbClr val="FF0000"/>
                </a:solidFill>
              </a:rPr>
              <a:t>isdigit</a:t>
            </a:r>
            <a:r>
              <a:rPr lang="en-US" dirty="0"/>
              <a:t> function returns true if its argument is the character representation of any of the digits 0 through 9. </a:t>
            </a:r>
          </a:p>
          <a:p>
            <a:r>
              <a:rPr lang="en-US" dirty="0"/>
              <a:t>Once again, the ! operator is used to determine whether the tested character is </a:t>
            </a:r>
            <a:r>
              <a:rPr lang="en-US" i="1" dirty="0"/>
              <a:t>not</a:t>
            </a:r>
            <a:r>
              <a:rPr lang="en-US" dirty="0"/>
              <a:t> a digit. If this is so for any of the last four characters, the function </a:t>
            </a:r>
            <a:r>
              <a:rPr lang="en-US" dirty="0" err="1"/>
              <a:t>testNum</a:t>
            </a:r>
            <a:r>
              <a:rPr lang="en-US" dirty="0"/>
              <a:t> returns false. </a:t>
            </a:r>
          </a:p>
        </p:txBody>
      </p:sp>
      <p:pic>
        <p:nvPicPr>
          <p:cNvPr id="4" name="Picture 3">
            <a:extLst>
              <a:ext uri="{FF2B5EF4-FFF2-40B4-BE49-F238E27FC236}">
                <a16:creationId xmlns:a16="http://schemas.microsoft.com/office/drawing/2014/main" id="{25255CA0-72F3-3710-7A38-9013D367D395}"/>
              </a:ext>
            </a:extLst>
          </p:cNvPr>
          <p:cNvPicPr>
            <a:picLocks noChangeAspect="1"/>
          </p:cNvPicPr>
          <p:nvPr/>
        </p:nvPicPr>
        <p:blipFill>
          <a:blip r:embed="rId2"/>
          <a:stretch>
            <a:fillRect/>
          </a:stretch>
        </p:blipFill>
        <p:spPr>
          <a:xfrm>
            <a:off x="7377382" y="1825625"/>
            <a:ext cx="4679244" cy="4126422"/>
          </a:xfrm>
          <a:prstGeom prst="rect">
            <a:avLst/>
          </a:prstGeom>
        </p:spPr>
      </p:pic>
    </p:spTree>
    <p:extLst>
      <p:ext uri="{BB962C8B-B14F-4D97-AF65-F5344CB8AC3E}">
        <p14:creationId xmlns:p14="http://schemas.microsoft.com/office/powerpoint/2010/main" val="2563834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EF9A0-2017-47A0-54DE-2C217CFE0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89711-2C25-7024-78A5-3615D3F337B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2728094-F5DA-9BAD-FF67-4592A3168A1C}"/>
              </a:ext>
            </a:extLst>
          </p:cNvPr>
          <p:cNvSpPr>
            <a:spLocks noGrp="1"/>
          </p:cNvSpPr>
          <p:nvPr>
            <p:ph idx="1"/>
          </p:nvPr>
        </p:nvSpPr>
        <p:spPr>
          <a:xfrm>
            <a:off x="838201" y="1825625"/>
            <a:ext cx="6321724" cy="4667250"/>
          </a:xfrm>
        </p:spPr>
        <p:txBody>
          <a:bodyPr>
            <a:normAutofit/>
          </a:bodyPr>
          <a:lstStyle/>
          <a:p>
            <a:r>
              <a:rPr lang="en-US" dirty="0"/>
              <a:t>If the customer number is in the proper format, the function will cycle through both the loops without returning false.</a:t>
            </a:r>
          </a:p>
          <a:p>
            <a:r>
              <a:rPr lang="en-US" dirty="0"/>
              <a:t> In that case, the last line in the function is the return true statement, which indicates the customer number is valid.</a:t>
            </a:r>
          </a:p>
        </p:txBody>
      </p:sp>
      <p:pic>
        <p:nvPicPr>
          <p:cNvPr id="4" name="Picture 3">
            <a:extLst>
              <a:ext uri="{FF2B5EF4-FFF2-40B4-BE49-F238E27FC236}">
                <a16:creationId xmlns:a16="http://schemas.microsoft.com/office/drawing/2014/main" id="{9918B36A-4F55-9961-291D-B81241E4F9D5}"/>
              </a:ext>
            </a:extLst>
          </p:cNvPr>
          <p:cNvPicPr>
            <a:picLocks noChangeAspect="1"/>
          </p:cNvPicPr>
          <p:nvPr/>
        </p:nvPicPr>
        <p:blipFill>
          <a:blip r:embed="rId2"/>
          <a:stretch>
            <a:fillRect/>
          </a:stretch>
        </p:blipFill>
        <p:spPr>
          <a:xfrm>
            <a:off x="7377382" y="1825625"/>
            <a:ext cx="4679244" cy="4126422"/>
          </a:xfrm>
          <a:prstGeom prst="rect">
            <a:avLst/>
          </a:prstGeom>
        </p:spPr>
      </p:pic>
    </p:spTree>
    <p:extLst>
      <p:ext uri="{BB962C8B-B14F-4D97-AF65-F5344CB8AC3E}">
        <p14:creationId xmlns:p14="http://schemas.microsoft.com/office/powerpoint/2010/main" val="2492672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85574-FFA1-0EA8-AB56-45401D722EE2}"/>
              </a:ext>
            </a:extLst>
          </p:cNvPr>
          <p:cNvSpPr>
            <a:spLocks noGrp="1"/>
          </p:cNvSpPr>
          <p:nvPr>
            <p:ph type="title"/>
          </p:nvPr>
        </p:nvSpPr>
        <p:spPr>
          <a:xfrm>
            <a:off x="5815641" y="150456"/>
            <a:ext cx="10515600" cy="1325563"/>
          </a:xfrm>
        </p:spPr>
        <p:txBody>
          <a:bodyPr/>
          <a:lstStyle/>
          <a:p>
            <a:r>
              <a:rPr lang="en-US" dirty="0"/>
              <a:t>Complete Example</a:t>
            </a:r>
          </a:p>
        </p:txBody>
      </p:sp>
      <p:pic>
        <p:nvPicPr>
          <p:cNvPr id="4" name="Picture 3">
            <a:extLst>
              <a:ext uri="{FF2B5EF4-FFF2-40B4-BE49-F238E27FC236}">
                <a16:creationId xmlns:a16="http://schemas.microsoft.com/office/drawing/2014/main" id="{66A6AB6B-9D70-BA2D-FA0C-D06AC79A2B99}"/>
              </a:ext>
            </a:extLst>
          </p:cNvPr>
          <p:cNvPicPr>
            <a:picLocks noChangeAspect="1"/>
          </p:cNvPicPr>
          <p:nvPr/>
        </p:nvPicPr>
        <p:blipFill>
          <a:blip r:embed="rId2"/>
          <a:stretch>
            <a:fillRect/>
          </a:stretch>
        </p:blipFill>
        <p:spPr>
          <a:xfrm>
            <a:off x="142474" y="428267"/>
            <a:ext cx="4589732" cy="6223365"/>
          </a:xfrm>
          <a:prstGeom prst="rect">
            <a:avLst/>
          </a:prstGeom>
        </p:spPr>
      </p:pic>
      <p:pic>
        <p:nvPicPr>
          <p:cNvPr id="5" name="Picture 4">
            <a:extLst>
              <a:ext uri="{FF2B5EF4-FFF2-40B4-BE49-F238E27FC236}">
                <a16:creationId xmlns:a16="http://schemas.microsoft.com/office/drawing/2014/main" id="{D9206342-8E8B-1418-6AC1-B3692FE6A2D3}"/>
              </a:ext>
            </a:extLst>
          </p:cNvPr>
          <p:cNvPicPr>
            <a:picLocks noChangeAspect="1"/>
          </p:cNvPicPr>
          <p:nvPr/>
        </p:nvPicPr>
        <p:blipFill>
          <a:blip r:embed="rId3"/>
          <a:stretch>
            <a:fillRect/>
          </a:stretch>
        </p:blipFill>
        <p:spPr>
          <a:xfrm>
            <a:off x="4862921" y="1476019"/>
            <a:ext cx="3682849" cy="4127860"/>
          </a:xfrm>
          <a:prstGeom prst="rect">
            <a:avLst/>
          </a:prstGeom>
        </p:spPr>
      </p:pic>
      <p:pic>
        <p:nvPicPr>
          <p:cNvPr id="6" name="Picture 5">
            <a:extLst>
              <a:ext uri="{FF2B5EF4-FFF2-40B4-BE49-F238E27FC236}">
                <a16:creationId xmlns:a16="http://schemas.microsoft.com/office/drawing/2014/main" id="{A4B53F32-F6D1-82E6-A8DE-0E055925EB81}"/>
              </a:ext>
            </a:extLst>
          </p:cNvPr>
          <p:cNvPicPr>
            <a:picLocks noChangeAspect="1"/>
          </p:cNvPicPr>
          <p:nvPr/>
        </p:nvPicPr>
        <p:blipFill>
          <a:blip r:embed="rId4"/>
          <a:stretch>
            <a:fillRect/>
          </a:stretch>
        </p:blipFill>
        <p:spPr>
          <a:xfrm>
            <a:off x="8690729" y="2264122"/>
            <a:ext cx="3501271" cy="2852888"/>
          </a:xfrm>
          <a:prstGeom prst="rect">
            <a:avLst/>
          </a:prstGeom>
        </p:spPr>
      </p:pic>
    </p:spTree>
    <p:extLst>
      <p:ext uri="{BB962C8B-B14F-4D97-AF65-F5344CB8AC3E}">
        <p14:creationId xmlns:p14="http://schemas.microsoft.com/office/powerpoint/2010/main" val="1585872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31B75-EB1D-8CD5-8DFD-DB18817C0188}"/>
              </a:ext>
            </a:extLst>
          </p:cNvPr>
          <p:cNvSpPr>
            <a:spLocks noGrp="1"/>
          </p:cNvSpPr>
          <p:nvPr>
            <p:ph type="title"/>
          </p:nvPr>
        </p:nvSpPr>
        <p:spPr/>
        <p:txBody>
          <a:bodyPr/>
          <a:lstStyle/>
          <a:p>
            <a:r>
              <a:rPr lang="en-US" dirty="0"/>
              <a:t>Character Case Conversion</a:t>
            </a:r>
          </a:p>
        </p:txBody>
      </p:sp>
      <p:sp>
        <p:nvSpPr>
          <p:cNvPr id="3" name="Content Placeholder 2">
            <a:extLst>
              <a:ext uri="{FF2B5EF4-FFF2-40B4-BE49-F238E27FC236}">
                <a16:creationId xmlns:a16="http://schemas.microsoft.com/office/drawing/2014/main" id="{83EE89E7-F1C7-F7C2-143C-8A3D7000C6AC}"/>
              </a:ext>
            </a:extLst>
          </p:cNvPr>
          <p:cNvSpPr>
            <a:spLocks noGrp="1"/>
          </p:cNvSpPr>
          <p:nvPr>
            <p:ph idx="1"/>
          </p:nvPr>
        </p:nvSpPr>
        <p:spPr/>
        <p:txBody>
          <a:bodyPr/>
          <a:lstStyle/>
          <a:p>
            <a:r>
              <a:rPr lang="en-US" dirty="0"/>
              <a:t>The C++ library offers functions for converting a character to uppercase or lowercase.</a:t>
            </a:r>
          </a:p>
          <a:p>
            <a:r>
              <a:rPr lang="en-US" dirty="0"/>
              <a:t>The C++ library provides two functions,</a:t>
            </a:r>
            <a:r>
              <a:rPr lang="en-US" i="1" dirty="0">
                <a:solidFill>
                  <a:srgbClr val="FF0000"/>
                </a:solidFill>
              </a:rPr>
              <a:t> </a:t>
            </a:r>
            <a:r>
              <a:rPr lang="en-US" i="1" dirty="0" err="1">
                <a:solidFill>
                  <a:srgbClr val="FF0000"/>
                </a:solidFill>
              </a:rPr>
              <a:t>toupper</a:t>
            </a:r>
            <a:r>
              <a:rPr lang="en-US" i="1" dirty="0">
                <a:solidFill>
                  <a:srgbClr val="FF0000"/>
                </a:solidFill>
              </a:rPr>
              <a:t> </a:t>
            </a:r>
            <a:r>
              <a:rPr lang="en-US" dirty="0"/>
              <a:t>and </a:t>
            </a:r>
            <a:r>
              <a:rPr lang="en-US" i="1" dirty="0" err="1">
                <a:solidFill>
                  <a:srgbClr val="FF0000"/>
                </a:solidFill>
              </a:rPr>
              <a:t>tolower</a:t>
            </a:r>
            <a:r>
              <a:rPr lang="en-US" dirty="0"/>
              <a:t>, for converting the case of a character.</a:t>
            </a:r>
          </a:p>
        </p:txBody>
      </p:sp>
      <p:pic>
        <p:nvPicPr>
          <p:cNvPr id="4" name="Picture 3">
            <a:extLst>
              <a:ext uri="{FF2B5EF4-FFF2-40B4-BE49-F238E27FC236}">
                <a16:creationId xmlns:a16="http://schemas.microsoft.com/office/drawing/2014/main" id="{41985921-B7CB-AF31-0F47-FBE8092D2932}"/>
              </a:ext>
            </a:extLst>
          </p:cNvPr>
          <p:cNvPicPr>
            <a:picLocks noChangeAspect="1"/>
          </p:cNvPicPr>
          <p:nvPr/>
        </p:nvPicPr>
        <p:blipFill>
          <a:blip r:embed="rId2"/>
          <a:stretch>
            <a:fillRect/>
          </a:stretch>
        </p:blipFill>
        <p:spPr>
          <a:xfrm>
            <a:off x="2820465" y="3911599"/>
            <a:ext cx="6551070" cy="1643811"/>
          </a:xfrm>
          <a:prstGeom prst="rect">
            <a:avLst/>
          </a:prstGeom>
        </p:spPr>
      </p:pic>
    </p:spTree>
    <p:extLst>
      <p:ext uri="{BB962C8B-B14F-4D97-AF65-F5344CB8AC3E}">
        <p14:creationId xmlns:p14="http://schemas.microsoft.com/office/powerpoint/2010/main" val="3768980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C69B3-256F-F31B-E846-9299A6A00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70F78-15DE-6CDA-DD76-F705801DF16A}"/>
              </a:ext>
            </a:extLst>
          </p:cNvPr>
          <p:cNvSpPr>
            <a:spLocks noGrp="1"/>
          </p:cNvSpPr>
          <p:nvPr>
            <p:ph type="title"/>
          </p:nvPr>
        </p:nvSpPr>
        <p:spPr/>
        <p:txBody>
          <a:bodyPr/>
          <a:lstStyle/>
          <a:p>
            <a:r>
              <a:rPr lang="en-US" dirty="0"/>
              <a:t>Character Case Conversion</a:t>
            </a:r>
          </a:p>
        </p:txBody>
      </p:sp>
      <p:sp>
        <p:nvSpPr>
          <p:cNvPr id="3" name="Content Placeholder 2">
            <a:extLst>
              <a:ext uri="{FF2B5EF4-FFF2-40B4-BE49-F238E27FC236}">
                <a16:creationId xmlns:a16="http://schemas.microsoft.com/office/drawing/2014/main" id="{AAF860B9-BA63-292A-0C88-18631A4F19D4}"/>
              </a:ext>
            </a:extLst>
          </p:cNvPr>
          <p:cNvSpPr>
            <a:spLocks noGrp="1"/>
          </p:cNvSpPr>
          <p:nvPr>
            <p:ph idx="1"/>
          </p:nvPr>
        </p:nvSpPr>
        <p:spPr/>
        <p:txBody>
          <a:bodyPr/>
          <a:lstStyle/>
          <a:p>
            <a:r>
              <a:rPr lang="en-US" dirty="0"/>
              <a:t>Each of the functions accepts a single character argument. </a:t>
            </a:r>
          </a:p>
          <a:p>
            <a:r>
              <a:rPr lang="en-US" dirty="0"/>
              <a:t>If the argument is a lowercase letter, the</a:t>
            </a:r>
            <a:r>
              <a:rPr lang="en-US" i="1" dirty="0">
                <a:solidFill>
                  <a:srgbClr val="FF0000"/>
                </a:solidFill>
              </a:rPr>
              <a:t> </a:t>
            </a:r>
            <a:r>
              <a:rPr lang="en-US" i="1" dirty="0" err="1">
                <a:solidFill>
                  <a:srgbClr val="FF0000"/>
                </a:solidFill>
              </a:rPr>
              <a:t>toupper</a:t>
            </a:r>
            <a:r>
              <a:rPr lang="en-US" i="1" dirty="0">
                <a:solidFill>
                  <a:srgbClr val="FF0000"/>
                </a:solidFill>
              </a:rPr>
              <a:t> </a:t>
            </a:r>
            <a:r>
              <a:rPr lang="en-US" dirty="0"/>
              <a:t>function returns its uppercase equivalent. </a:t>
            </a:r>
          </a:p>
          <a:p>
            <a:r>
              <a:rPr lang="en-US" dirty="0"/>
              <a:t>For example, the following statement will display the character A on the screen: </a:t>
            </a:r>
            <a:r>
              <a:rPr lang="en-US" i="1" dirty="0" err="1">
                <a:solidFill>
                  <a:srgbClr val="FF0000"/>
                </a:solidFill>
              </a:rPr>
              <a:t>cout</a:t>
            </a:r>
            <a:r>
              <a:rPr lang="en-US" i="1" dirty="0">
                <a:solidFill>
                  <a:srgbClr val="FF0000"/>
                </a:solidFill>
              </a:rPr>
              <a:t> &lt;&lt; </a:t>
            </a:r>
            <a:r>
              <a:rPr lang="en-US" i="1" dirty="0" err="1">
                <a:solidFill>
                  <a:srgbClr val="FF0000"/>
                </a:solidFill>
                <a:effectLst/>
              </a:rPr>
              <a:t>toupper</a:t>
            </a:r>
            <a:r>
              <a:rPr lang="en-US" i="1" dirty="0">
                <a:solidFill>
                  <a:srgbClr val="FF0000"/>
                </a:solidFill>
              </a:rPr>
              <a:t>(</a:t>
            </a:r>
            <a:r>
              <a:rPr lang="en-US" i="1" dirty="0">
                <a:solidFill>
                  <a:srgbClr val="FF0000"/>
                </a:solidFill>
                <a:effectLst/>
              </a:rPr>
              <a:t>'a’</a:t>
            </a:r>
            <a:r>
              <a:rPr lang="en-US" i="1" dirty="0">
                <a:solidFill>
                  <a:srgbClr val="FF0000"/>
                </a:solidFill>
              </a:rPr>
              <a:t>); </a:t>
            </a:r>
          </a:p>
          <a:p>
            <a:r>
              <a:rPr lang="en-US" dirty="0"/>
              <a:t>If the argument is already an uppercase letter, </a:t>
            </a:r>
            <a:r>
              <a:rPr lang="en-US" dirty="0" err="1"/>
              <a:t>toupper</a:t>
            </a:r>
            <a:r>
              <a:rPr lang="en-US" dirty="0"/>
              <a:t> returns it unchanged.</a:t>
            </a:r>
            <a:endParaRPr lang="en-US" i="1" dirty="0">
              <a:solidFill>
                <a:srgbClr val="FF0000"/>
              </a:solidFill>
            </a:endParaRPr>
          </a:p>
        </p:txBody>
      </p:sp>
    </p:spTree>
    <p:extLst>
      <p:ext uri="{BB962C8B-B14F-4D97-AF65-F5344CB8AC3E}">
        <p14:creationId xmlns:p14="http://schemas.microsoft.com/office/powerpoint/2010/main" val="568587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A58FD-346F-FD09-888B-92AE10824241}"/>
              </a:ext>
            </a:extLst>
          </p:cNvPr>
          <p:cNvSpPr>
            <a:spLocks noGrp="1"/>
          </p:cNvSpPr>
          <p:nvPr>
            <p:ph type="title"/>
          </p:nvPr>
        </p:nvSpPr>
        <p:spPr/>
        <p:txBody>
          <a:bodyPr/>
          <a:lstStyle/>
          <a:p>
            <a:r>
              <a:rPr lang="en-US" dirty="0"/>
              <a:t>Character Case Conversion</a:t>
            </a:r>
          </a:p>
        </p:txBody>
      </p:sp>
      <p:sp>
        <p:nvSpPr>
          <p:cNvPr id="3" name="Content Placeholder 2">
            <a:extLst>
              <a:ext uri="{FF2B5EF4-FFF2-40B4-BE49-F238E27FC236}">
                <a16:creationId xmlns:a16="http://schemas.microsoft.com/office/drawing/2014/main" id="{C3F63B85-B5FB-74A3-7224-C14FB4A760C0}"/>
              </a:ext>
            </a:extLst>
          </p:cNvPr>
          <p:cNvSpPr>
            <a:spLocks noGrp="1"/>
          </p:cNvSpPr>
          <p:nvPr>
            <p:ph idx="1"/>
          </p:nvPr>
        </p:nvSpPr>
        <p:spPr/>
        <p:txBody>
          <a:bodyPr/>
          <a:lstStyle/>
          <a:p>
            <a:r>
              <a:rPr lang="en-US" dirty="0"/>
              <a:t>Any nonletter argument passed to </a:t>
            </a:r>
            <a:r>
              <a:rPr lang="en-US" i="1" dirty="0" err="1">
                <a:solidFill>
                  <a:srgbClr val="FF0000"/>
                </a:solidFill>
              </a:rPr>
              <a:t>toupper</a:t>
            </a:r>
            <a:r>
              <a:rPr lang="en-US" dirty="0"/>
              <a:t> is returned as it is.</a:t>
            </a:r>
          </a:p>
          <a:p>
            <a:r>
              <a:rPr lang="en-US" dirty="0"/>
              <a:t>Each of the following statements displays </a:t>
            </a:r>
            <a:r>
              <a:rPr lang="en-US" i="1" dirty="0" err="1">
                <a:solidFill>
                  <a:srgbClr val="FF0000"/>
                </a:solidFill>
              </a:rPr>
              <a:t>toupper’s</a:t>
            </a:r>
            <a:r>
              <a:rPr lang="en-US" dirty="0"/>
              <a:t> argument without any change:</a:t>
            </a:r>
          </a:p>
        </p:txBody>
      </p:sp>
      <p:pic>
        <p:nvPicPr>
          <p:cNvPr id="4" name="Picture 3">
            <a:extLst>
              <a:ext uri="{FF2B5EF4-FFF2-40B4-BE49-F238E27FC236}">
                <a16:creationId xmlns:a16="http://schemas.microsoft.com/office/drawing/2014/main" id="{9161695A-D14D-3823-293A-97E49FA90642}"/>
              </a:ext>
            </a:extLst>
          </p:cNvPr>
          <p:cNvPicPr>
            <a:picLocks noChangeAspect="1"/>
          </p:cNvPicPr>
          <p:nvPr/>
        </p:nvPicPr>
        <p:blipFill>
          <a:blip r:embed="rId2"/>
          <a:stretch>
            <a:fillRect/>
          </a:stretch>
        </p:blipFill>
        <p:spPr>
          <a:xfrm>
            <a:off x="3782065" y="3323447"/>
            <a:ext cx="4627870" cy="1119158"/>
          </a:xfrm>
          <a:prstGeom prst="rect">
            <a:avLst/>
          </a:prstGeom>
        </p:spPr>
      </p:pic>
    </p:spTree>
    <p:extLst>
      <p:ext uri="{BB962C8B-B14F-4D97-AF65-F5344CB8AC3E}">
        <p14:creationId xmlns:p14="http://schemas.microsoft.com/office/powerpoint/2010/main" val="3245549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E09D6-A35E-6787-3392-AEA659698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7FCE9-ED7A-78C8-7874-8E38DA38B3EF}"/>
              </a:ext>
            </a:extLst>
          </p:cNvPr>
          <p:cNvSpPr>
            <a:spLocks noGrp="1"/>
          </p:cNvSpPr>
          <p:nvPr>
            <p:ph type="title"/>
          </p:nvPr>
        </p:nvSpPr>
        <p:spPr/>
        <p:txBody>
          <a:bodyPr/>
          <a:lstStyle/>
          <a:p>
            <a:r>
              <a:rPr lang="en-US" dirty="0"/>
              <a:t>Character Case Conversion</a:t>
            </a:r>
          </a:p>
        </p:txBody>
      </p:sp>
      <p:sp>
        <p:nvSpPr>
          <p:cNvPr id="3" name="Content Placeholder 2">
            <a:extLst>
              <a:ext uri="{FF2B5EF4-FFF2-40B4-BE49-F238E27FC236}">
                <a16:creationId xmlns:a16="http://schemas.microsoft.com/office/drawing/2014/main" id="{EF42CF6A-93D1-091F-6F46-5FCEBF8B8B8A}"/>
              </a:ext>
            </a:extLst>
          </p:cNvPr>
          <p:cNvSpPr>
            <a:spLocks noGrp="1"/>
          </p:cNvSpPr>
          <p:nvPr>
            <p:ph idx="1"/>
          </p:nvPr>
        </p:nvSpPr>
        <p:spPr/>
        <p:txBody>
          <a:bodyPr/>
          <a:lstStyle/>
          <a:p>
            <a:r>
              <a:rPr lang="en-US" i="1" dirty="0" err="1">
                <a:solidFill>
                  <a:srgbClr val="FF0000"/>
                </a:solidFill>
              </a:rPr>
              <a:t>toupper</a:t>
            </a:r>
            <a:r>
              <a:rPr lang="en-US" dirty="0"/>
              <a:t> and </a:t>
            </a:r>
            <a:r>
              <a:rPr lang="en-US" i="1" dirty="0" err="1">
                <a:solidFill>
                  <a:srgbClr val="FF0000"/>
                </a:solidFill>
              </a:rPr>
              <a:t>tolower</a:t>
            </a:r>
            <a:r>
              <a:rPr lang="en-US" dirty="0"/>
              <a:t> don’t actually cause the character argument to change; they simply return the uppercase or lowercase equivalent of the argument. </a:t>
            </a:r>
          </a:p>
          <a:p>
            <a:r>
              <a:rPr lang="en-US" dirty="0"/>
              <a:t>For example, in the following program segment, the variable letter is set to the value ‘A’. </a:t>
            </a:r>
          </a:p>
          <a:p>
            <a:r>
              <a:rPr lang="en-US" dirty="0"/>
              <a:t>The</a:t>
            </a:r>
            <a:r>
              <a:rPr lang="en-US" i="1" dirty="0">
                <a:solidFill>
                  <a:srgbClr val="FF0000"/>
                </a:solidFill>
              </a:rPr>
              <a:t> </a:t>
            </a:r>
            <a:r>
              <a:rPr lang="en-US" i="1" dirty="0" err="1">
                <a:solidFill>
                  <a:srgbClr val="FF0000"/>
                </a:solidFill>
              </a:rPr>
              <a:t>tolower</a:t>
            </a:r>
            <a:r>
              <a:rPr lang="en-US" i="1" dirty="0">
                <a:solidFill>
                  <a:srgbClr val="FF0000"/>
                </a:solidFill>
              </a:rPr>
              <a:t> </a:t>
            </a:r>
            <a:r>
              <a:rPr lang="en-US" dirty="0"/>
              <a:t>function returns the character ‘a’, but letter still contains ‘A’.</a:t>
            </a:r>
          </a:p>
        </p:txBody>
      </p:sp>
      <p:pic>
        <p:nvPicPr>
          <p:cNvPr id="5" name="Picture 4">
            <a:extLst>
              <a:ext uri="{FF2B5EF4-FFF2-40B4-BE49-F238E27FC236}">
                <a16:creationId xmlns:a16="http://schemas.microsoft.com/office/drawing/2014/main" id="{7788388F-B015-2DCA-11F9-5049BDB01F44}"/>
              </a:ext>
            </a:extLst>
          </p:cNvPr>
          <p:cNvPicPr>
            <a:picLocks noChangeAspect="1"/>
          </p:cNvPicPr>
          <p:nvPr/>
        </p:nvPicPr>
        <p:blipFill>
          <a:blip r:embed="rId2"/>
          <a:stretch>
            <a:fillRect/>
          </a:stretch>
        </p:blipFill>
        <p:spPr>
          <a:xfrm>
            <a:off x="4286941" y="4598357"/>
            <a:ext cx="3618118" cy="2121619"/>
          </a:xfrm>
          <a:prstGeom prst="rect">
            <a:avLst/>
          </a:prstGeom>
        </p:spPr>
      </p:pic>
    </p:spTree>
    <p:extLst>
      <p:ext uri="{BB962C8B-B14F-4D97-AF65-F5344CB8AC3E}">
        <p14:creationId xmlns:p14="http://schemas.microsoft.com/office/powerpoint/2010/main" val="1313352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7E0F1-102A-AB5C-9197-4090736CAA6C}"/>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17BB0F60-FE8E-5B2A-302B-AE61EEAE7F29}"/>
              </a:ext>
            </a:extLst>
          </p:cNvPr>
          <p:cNvSpPr>
            <a:spLocks noGrp="1"/>
          </p:cNvSpPr>
          <p:nvPr>
            <p:ph idx="1"/>
          </p:nvPr>
        </p:nvSpPr>
        <p:spPr>
          <a:xfrm>
            <a:off x="750498" y="1584086"/>
            <a:ext cx="6488501" cy="4667250"/>
          </a:xfrm>
        </p:spPr>
        <p:txBody>
          <a:bodyPr>
            <a:normAutofit lnSpcReduction="10000"/>
          </a:bodyPr>
          <a:lstStyle/>
          <a:p>
            <a:r>
              <a:rPr lang="en-US" dirty="0"/>
              <a:t>In lines 28 and 29, the user is prompted to enter either Y or N to indicate whether he or she wants to calculate another area. </a:t>
            </a:r>
          </a:p>
          <a:p>
            <a:r>
              <a:rPr lang="en-US" dirty="0"/>
              <a:t>We don’t want the program to be so picky that it accepts only uppercase Y or uppercase N. </a:t>
            </a:r>
          </a:p>
          <a:p>
            <a:r>
              <a:rPr lang="en-US" dirty="0"/>
              <a:t>Lowercase y or lowercase n is also acceptable. </a:t>
            </a:r>
          </a:p>
          <a:p>
            <a:r>
              <a:rPr lang="en-US" dirty="0"/>
              <a:t>The input validation loop must be written to reject anything except 'Y', 'y', 'N', or 'n'. </a:t>
            </a:r>
          </a:p>
        </p:txBody>
      </p:sp>
      <p:pic>
        <p:nvPicPr>
          <p:cNvPr id="6" name="Picture 5">
            <a:extLst>
              <a:ext uri="{FF2B5EF4-FFF2-40B4-BE49-F238E27FC236}">
                <a16:creationId xmlns:a16="http://schemas.microsoft.com/office/drawing/2014/main" id="{F5A99ED8-2480-B5B8-A468-146227A2B124}"/>
              </a:ext>
            </a:extLst>
          </p:cNvPr>
          <p:cNvPicPr>
            <a:picLocks noChangeAspect="1"/>
          </p:cNvPicPr>
          <p:nvPr/>
        </p:nvPicPr>
        <p:blipFill>
          <a:blip r:embed="rId2"/>
          <a:stretch>
            <a:fillRect/>
          </a:stretch>
        </p:blipFill>
        <p:spPr>
          <a:xfrm>
            <a:off x="7740050" y="0"/>
            <a:ext cx="4114800" cy="6858000"/>
          </a:xfrm>
          <a:prstGeom prst="rect">
            <a:avLst/>
          </a:prstGeom>
        </p:spPr>
      </p:pic>
    </p:spTree>
    <p:extLst>
      <p:ext uri="{BB962C8B-B14F-4D97-AF65-F5344CB8AC3E}">
        <p14:creationId xmlns:p14="http://schemas.microsoft.com/office/powerpoint/2010/main" val="736464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5BEF6-4989-EE9B-FAF7-0D512E9A836B}"/>
              </a:ext>
            </a:extLst>
          </p:cNvPr>
          <p:cNvSpPr>
            <a:spLocks noGrp="1"/>
          </p:cNvSpPr>
          <p:nvPr>
            <p:ph type="title"/>
          </p:nvPr>
        </p:nvSpPr>
        <p:spPr/>
        <p:txBody>
          <a:bodyPr/>
          <a:lstStyle/>
          <a:p>
            <a:r>
              <a:rPr lang="en-US" dirty="0"/>
              <a:t>C-Strings</a:t>
            </a:r>
          </a:p>
        </p:txBody>
      </p:sp>
      <p:sp>
        <p:nvSpPr>
          <p:cNvPr id="3" name="Content Placeholder 2">
            <a:extLst>
              <a:ext uri="{FF2B5EF4-FFF2-40B4-BE49-F238E27FC236}">
                <a16:creationId xmlns:a16="http://schemas.microsoft.com/office/drawing/2014/main" id="{CC8A1E00-744A-34EC-144D-5BB2155372FC}"/>
              </a:ext>
            </a:extLst>
          </p:cNvPr>
          <p:cNvSpPr>
            <a:spLocks noGrp="1"/>
          </p:cNvSpPr>
          <p:nvPr>
            <p:ph idx="1"/>
          </p:nvPr>
        </p:nvSpPr>
        <p:spPr/>
        <p:txBody>
          <a:bodyPr>
            <a:normAutofit lnSpcReduction="10000"/>
          </a:bodyPr>
          <a:lstStyle/>
          <a:p>
            <a:r>
              <a:rPr lang="en-US" dirty="0"/>
              <a:t>Many programs make extensive use of strings. </a:t>
            </a:r>
          </a:p>
          <a:p>
            <a:r>
              <a:rPr lang="en-US" dirty="0"/>
              <a:t>C++ provides two different data types for working with strings: C-strings and the string class. </a:t>
            </a:r>
          </a:p>
          <a:p>
            <a:r>
              <a:rPr lang="en-US" dirty="0"/>
              <a:t>The string class library has many functions for working with strings. </a:t>
            </a:r>
          </a:p>
          <a:p>
            <a:r>
              <a:rPr lang="en-US" dirty="0"/>
              <a:t>These functions perform many useful string-related functions and have programming safeguards that C-string handling functions lack. </a:t>
            </a:r>
          </a:p>
          <a:p>
            <a:r>
              <a:rPr lang="en-US" dirty="0"/>
              <a:t>For all these reasons, you should prefer use of the string class over C-strings.</a:t>
            </a:r>
          </a:p>
        </p:txBody>
      </p:sp>
    </p:spTree>
    <p:extLst>
      <p:ext uri="{BB962C8B-B14F-4D97-AF65-F5344CB8AC3E}">
        <p14:creationId xmlns:p14="http://schemas.microsoft.com/office/powerpoint/2010/main" val="3072922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A0972-EBCC-7CE3-5047-7398757B2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59F1C-137C-891F-5FF6-7909AF86DFBE}"/>
              </a:ext>
            </a:extLst>
          </p:cNvPr>
          <p:cNvSpPr>
            <a:spLocks noGrp="1"/>
          </p:cNvSpPr>
          <p:nvPr>
            <p:ph type="title"/>
          </p:nvPr>
        </p:nvSpPr>
        <p:spPr/>
        <p:txBody>
          <a:bodyPr/>
          <a:lstStyle/>
          <a:p>
            <a:r>
              <a:rPr lang="en-US" dirty="0"/>
              <a:t>C-Strings</a:t>
            </a:r>
          </a:p>
        </p:txBody>
      </p:sp>
      <p:sp>
        <p:nvSpPr>
          <p:cNvPr id="3" name="Content Placeholder 2">
            <a:extLst>
              <a:ext uri="{FF2B5EF4-FFF2-40B4-BE49-F238E27FC236}">
                <a16:creationId xmlns:a16="http://schemas.microsoft.com/office/drawing/2014/main" id="{602FECAA-E8A3-3932-BF6A-8D07B169FBB7}"/>
              </a:ext>
            </a:extLst>
          </p:cNvPr>
          <p:cNvSpPr>
            <a:spLocks noGrp="1"/>
          </p:cNvSpPr>
          <p:nvPr>
            <p:ph idx="1"/>
          </p:nvPr>
        </p:nvSpPr>
        <p:spPr>
          <a:xfrm>
            <a:off x="838200" y="1825625"/>
            <a:ext cx="10515600" cy="4799462"/>
          </a:xfrm>
        </p:spPr>
        <p:txBody>
          <a:bodyPr>
            <a:normAutofit lnSpcReduction="10000"/>
          </a:bodyPr>
          <a:lstStyle/>
          <a:p>
            <a:r>
              <a:rPr lang="en-US" dirty="0"/>
              <a:t>Nevertheless, every C++ programmer should have a good understanding of C-strings. </a:t>
            </a:r>
          </a:p>
          <a:p>
            <a:r>
              <a:rPr lang="en-US" dirty="0"/>
              <a:t>The string class is built on top of C-strings, so understanding C-strings helps you to understand the string class. </a:t>
            </a:r>
          </a:p>
          <a:p>
            <a:r>
              <a:rPr lang="en-US" dirty="0"/>
              <a:t>There are also many programs that were written before the string class library was incorporated into the C++ standard. </a:t>
            </a:r>
          </a:p>
          <a:p>
            <a:r>
              <a:rPr lang="en-US" dirty="0"/>
              <a:t>Such programs need programmers who understand C-strings to maintain them. </a:t>
            </a:r>
          </a:p>
          <a:p>
            <a:r>
              <a:rPr lang="en-US" dirty="0"/>
              <a:t>Finally, programmers who write and maintain low-level code, such as the string class libraries and parts of the operating system, must use C-strings to represent string data.</a:t>
            </a:r>
          </a:p>
        </p:txBody>
      </p:sp>
    </p:spTree>
    <p:extLst>
      <p:ext uri="{BB962C8B-B14F-4D97-AF65-F5344CB8AC3E}">
        <p14:creationId xmlns:p14="http://schemas.microsoft.com/office/powerpoint/2010/main" val="3982266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D68E9-AEB0-0CDA-3D89-FDEAF59A3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C58C4-02A1-DC54-E2B3-DD5FD1AEAB4F}"/>
              </a:ext>
            </a:extLst>
          </p:cNvPr>
          <p:cNvSpPr>
            <a:spLocks noGrp="1"/>
          </p:cNvSpPr>
          <p:nvPr>
            <p:ph type="title"/>
          </p:nvPr>
        </p:nvSpPr>
        <p:spPr/>
        <p:txBody>
          <a:bodyPr/>
          <a:lstStyle/>
          <a:p>
            <a:r>
              <a:rPr lang="en-US" dirty="0"/>
              <a:t>C-Strings</a:t>
            </a:r>
          </a:p>
        </p:txBody>
      </p:sp>
      <p:sp>
        <p:nvSpPr>
          <p:cNvPr id="3" name="Content Placeholder 2">
            <a:extLst>
              <a:ext uri="{FF2B5EF4-FFF2-40B4-BE49-F238E27FC236}">
                <a16:creationId xmlns:a16="http://schemas.microsoft.com/office/drawing/2014/main" id="{D6D1FC24-45FC-CDC5-E082-8F5A9DF3BA4B}"/>
              </a:ext>
            </a:extLst>
          </p:cNvPr>
          <p:cNvSpPr>
            <a:spLocks noGrp="1"/>
          </p:cNvSpPr>
          <p:nvPr>
            <p:ph idx="1"/>
          </p:nvPr>
        </p:nvSpPr>
        <p:spPr>
          <a:xfrm>
            <a:off x="838200" y="1825625"/>
            <a:ext cx="10515600" cy="4799462"/>
          </a:xfrm>
        </p:spPr>
        <p:txBody>
          <a:bodyPr>
            <a:normAutofit/>
          </a:bodyPr>
          <a:lstStyle/>
          <a:p>
            <a:r>
              <a:rPr lang="en-US" dirty="0"/>
              <a:t>A C-string is a sequence of characters stored in consecutive memory locations and terminated by a null character. </a:t>
            </a:r>
          </a:p>
          <a:p>
            <a:r>
              <a:rPr lang="en-US" dirty="0"/>
              <a:t>Recall that the null character is the character whose ASCII code is 0. In a program, the null character is usually written ‘\0’. </a:t>
            </a:r>
          </a:p>
          <a:p>
            <a:r>
              <a:rPr lang="en-US" dirty="0"/>
              <a:t>It is also common to use the integer 0 or the constant NULL to denote the null character in a program. </a:t>
            </a:r>
          </a:p>
          <a:p>
            <a:r>
              <a:rPr lang="en-US" dirty="0"/>
              <a:t>Thus, all of the following statements store the null character into a character variable:</a:t>
            </a:r>
          </a:p>
        </p:txBody>
      </p:sp>
      <p:pic>
        <p:nvPicPr>
          <p:cNvPr id="4" name="Picture 3">
            <a:extLst>
              <a:ext uri="{FF2B5EF4-FFF2-40B4-BE49-F238E27FC236}">
                <a16:creationId xmlns:a16="http://schemas.microsoft.com/office/drawing/2014/main" id="{83995BC3-9D5E-62B2-0F1E-0268B75DCAEA}"/>
              </a:ext>
            </a:extLst>
          </p:cNvPr>
          <p:cNvPicPr>
            <a:picLocks noChangeAspect="1"/>
          </p:cNvPicPr>
          <p:nvPr/>
        </p:nvPicPr>
        <p:blipFill>
          <a:blip r:embed="rId2"/>
          <a:stretch>
            <a:fillRect/>
          </a:stretch>
        </p:blipFill>
        <p:spPr>
          <a:xfrm>
            <a:off x="4633822" y="5152397"/>
            <a:ext cx="2924356" cy="1401254"/>
          </a:xfrm>
          <a:prstGeom prst="rect">
            <a:avLst/>
          </a:prstGeom>
        </p:spPr>
      </p:pic>
    </p:spTree>
    <p:extLst>
      <p:ext uri="{BB962C8B-B14F-4D97-AF65-F5344CB8AC3E}">
        <p14:creationId xmlns:p14="http://schemas.microsoft.com/office/powerpoint/2010/main" val="2809037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0ED2F-DDD4-A3F0-FB12-58A7D3D14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CCB7C-A76E-884A-F8DD-215C2B6CF77E}"/>
              </a:ext>
            </a:extLst>
          </p:cNvPr>
          <p:cNvSpPr>
            <a:spLocks noGrp="1"/>
          </p:cNvSpPr>
          <p:nvPr>
            <p:ph type="title"/>
          </p:nvPr>
        </p:nvSpPr>
        <p:spPr/>
        <p:txBody>
          <a:bodyPr/>
          <a:lstStyle/>
          <a:p>
            <a:r>
              <a:rPr lang="en-US" dirty="0"/>
              <a:t>C-Strings</a:t>
            </a:r>
          </a:p>
        </p:txBody>
      </p:sp>
      <p:sp>
        <p:nvSpPr>
          <p:cNvPr id="3" name="Content Placeholder 2">
            <a:extLst>
              <a:ext uri="{FF2B5EF4-FFF2-40B4-BE49-F238E27FC236}">
                <a16:creationId xmlns:a16="http://schemas.microsoft.com/office/drawing/2014/main" id="{0764378A-9D5C-A95D-6826-4E64A0DCCC23}"/>
              </a:ext>
            </a:extLst>
          </p:cNvPr>
          <p:cNvSpPr>
            <a:spLocks noGrp="1"/>
          </p:cNvSpPr>
          <p:nvPr>
            <p:ph idx="1"/>
          </p:nvPr>
        </p:nvSpPr>
        <p:spPr>
          <a:xfrm>
            <a:off x="838200" y="1825625"/>
            <a:ext cx="10515600" cy="4799462"/>
          </a:xfrm>
        </p:spPr>
        <p:txBody>
          <a:bodyPr>
            <a:normAutofit/>
          </a:bodyPr>
          <a:lstStyle/>
          <a:p>
            <a:pPr algn="l"/>
            <a:r>
              <a:rPr lang="en-US" dirty="0">
                <a:effectLst/>
              </a:rPr>
              <a:t>Because an array is a sequence of consecutive memory locations that store values of the same type, a C-string is really a null-terminated array of characters. C-strings can appear in a program in one of three forms:</a:t>
            </a:r>
          </a:p>
          <a:p>
            <a:pPr lvl="1"/>
            <a:r>
              <a:rPr lang="en-US" dirty="0"/>
              <a:t>“Hard-coded” string literals</a:t>
            </a:r>
          </a:p>
          <a:p>
            <a:pPr lvl="1"/>
            <a:r>
              <a:rPr lang="en-US" dirty="0"/>
              <a:t>Programmer-defined arrays of character</a:t>
            </a:r>
          </a:p>
          <a:p>
            <a:pPr lvl="1"/>
            <a:r>
              <a:rPr lang="en-US" dirty="0"/>
              <a:t>Pointers to character</a:t>
            </a:r>
          </a:p>
          <a:p>
            <a:endParaRPr lang="en-US" dirty="0"/>
          </a:p>
        </p:txBody>
      </p:sp>
    </p:spTree>
    <p:extLst>
      <p:ext uri="{BB962C8B-B14F-4D97-AF65-F5344CB8AC3E}">
        <p14:creationId xmlns:p14="http://schemas.microsoft.com/office/powerpoint/2010/main" val="3551060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4C433-67D1-357A-9F25-BFA3791C0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27ECE-7C35-6DFF-D8BF-149C2BEE39AE}"/>
              </a:ext>
            </a:extLst>
          </p:cNvPr>
          <p:cNvSpPr>
            <a:spLocks noGrp="1"/>
          </p:cNvSpPr>
          <p:nvPr>
            <p:ph type="title"/>
          </p:nvPr>
        </p:nvSpPr>
        <p:spPr/>
        <p:txBody>
          <a:bodyPr/>
          <a:lstStyle/>
          <a:p>
            <a:r>
              <a:rPr lang="en-US" dirty="0"/>
              <a:t>C-Strings</a:t>
            </a:r>
          </a:p>
        </p:txBody>
      </p:sp>
      <p:sp>
        <p:nvSpPr>
          <p:cNvPr id="3" name="Content Placeholder 2">
            <a:extLst>
              <a:ext uri="{FF2B5EF4-FFF2-40B4-BE49-F238E27FC236}">
                <a16:creationId xmlns:a16="http://schemas.microsoft.com/office/drawing/2014/main" id="{C2015A8C-B918-4C52-2B67-6CA37A62CF4B}"/>
              </a:ext>
            </a:extLst>
          </p:cNvPr>
          <p:cNvSpPr>
            <a:spLocks noGrp="1"/>
          </p:cNvSpPr>
          <p:nvPr>
            <p:ph idx="1"/>
          </p:nvPr>
        </p:nvSpPr>
        <p:spPr>
          <a:xfrm>
            <a:off x="838200" y="1825625"/>
            <a:ext cx="10515600" cy="4799462"/>
          </a:xfrm>
        </p:spPr>
        <p:txBody>
          <a:bodyPr>
            <a:normAutofit/>
          </a:bodyPr>
          <a:lstStyle/>
          <a:p>
            <a:r>
              <a:rPr lang="en-US" dirty="0"/>
              <a:t>Regardless of which one of the three forms a C-string appears in a program, a C-string is always a null-terminated array of characters and is represented in the program by a pointer to the first character in the array. </a:t>
            </a:r>
          </a:p>
          <a:p>
            <a:r>
              <a:rPr lang="en-US" dirty="0"/>
              <a:t>In other words, the type of a C-string is </a:t>
            </a:r>
            <a:r>
              <a:rPr lang="en-US" b="1" i="1" dirty="0">
                <a:solidFill>
                  <a:srgbClr val="FF0000"/>
                </a:solidFill>
                <a:effectLst/>
              </a:rPr>
              <a:t>char</a:t>
            </a:r>
            <a:r>
              <a:rPr lang="en-US" i="1" dirty="0">
                <a:solidFill>
                  <a:srgbClr val="FF0000"/>
                </a:solidFill>
              </a:rPr>
              <a:t> *</a:t>
            </a:r>
          </a:p>
          <a:p>
            <a:r>
              <a:rPr lang="en-US" dirty="0"/>
              <a:t>That is, the type of a C-string is </a:t>
            </a:r>
            <a:r>
              <a:rPr lang="en-US" i="1" dirty="0"/>
              <a:t>pointer to char</a:t>
            </a:r>
            <a:r>
              <a:rPr lang="en-US" dirty="0"/>
              <a:t>.</a:t>
            </a:r>
            <a:endParaRPr lang="en-US" i="1" dirty="0">
              <a:solidFill>
                <a:srgbClr val="FF0000"/>
              </a:solidFill>
            </a:endParaRPr>
          </a:p>
        </p:txBody>
      </p:sp>
    </p:spTree>
    <p:extLst>
      <p:ext uri="{BB962C8B-B14F-4D97-AF65-F5344CB8AC3E}">
        <p14:creationId xmlns:p14="http://schemas.microsoft.com/office/powerpoint/2010/main" val="663419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998D-186B-9ED5-67C7-26DE31D22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55148-11F1-0261-A3F6-C44093BD8C75}"/>
              </a:ext>
            </a:extLst>
          </p:cNvPr>
          <p:cNvSpPr>
            <a:spLocks noGrp="1"/>
          </p:cNvSpPr>
          <p:nvPr>
            <p:ph type="title"/>
          </p:nvPr>
        </p:nvSpPr>
        <p:spPr/>
        <p:txBody>
          <a:bodyPr/>
          <a:lstStyle/>
          <a:p>
            <a:r>
              <a:rPr lang="en-US" dirty="0"/>
              <a:t>String Literals</a:t>
            </a:r>
          </a:p>
        </p:txBody>
      </p:sp>
      <p:sp>
        <p:nvSpPr>
          <p:cNvPr id="3" name="Content Placeholder 2">
            <a:extLst>
              <a:ext uri="{FF2B5EF4-FFF2-40B4-BE49-F238E27FC236}">
                <a16:creationId xmlns:a16="http://schemas.microsoft.com/office/drawing/2014/main" id="{93B9DC80-B701-6B29-16C9-73879E5F8885}"/>
              </a:ext>
            </a:extLst>
          </p:cNvPr>
          <p:cNvSpPr>
            <a:spLocks noGrp="1"/>
          </p:cNvSpPr>
          <p:nvPr>
            <p:ph idx="1"/>
          </p:nvPr>
        </p:nvSpPr>
        <p:spPr>
          <a:xfrm>
            <a:off x="838200" y="1825625"/>
            <a:ext cx="10515600" cy="4799462"/>
          </a:xfrm>
        </p:spPr>
        <p:txBody>
          <a:bodyPr>
            <a:normAutofit/>
          </a:bodyPr>
          <a:lstStyle/>
          <a:p>
            <a:r>
              <a:rPr lang="en-US" i="1" dirty="0"/>
              <a:t>String literals</a:t>
            </a:r>
            <a:r>
              <a:rPr lang="en-US" dirty="0"/>
              <a:t>, also called </a:t>
            </a:r>
            <a:r>
              <a:rPr lang="en-US" i="1" dirty="0"/>
              <a:t>string constants</a:t>
            </a:r>
            <a:r>
              <a:rPr lang="en-US" dirty="0"/>
              <a:t>, are written directly into the program as a sequence of characters enclosed in double quotes: For example, these two are both string literals.</a:t>
            </a:r>
            <a:br>
              <a:rPr lang="en-US" dirty="0"/>
            </a:br>
            <a:r>
              <a:rPr lang="en-US" dirty="0">
                <a:solidFill>
                  <a:srgbClr val="DD1144"/>
                </a:solidFill>
                <a:effectLst/>
              </a:rPr>
              <a:t>"What is your name?"</a:t>
            </a:r>
            <a:r>
              <a:rPr lang="en-US" dirty="0"/>
              <a:t> </a:t>
            </a:r>
            <a:br>
              <a:rPr lang="en-US" dirty="0"/>
            </a:br>
            <a:r>
              <a:rPr lang="en-US" dirty="0">
                <a:solidFill>
                  <a:srgbClr val="DD1144"/>
                </a:solidFill>
                <a:effectLst/>
              </a:rPr>
              <a:t>"Bailey"</a:t>
            </a:r>
            <a:r>
              <a:rPr lang="en-US" dirty="0"/>
              <a:t> </a:t>
            </a:r>
          </a:p>
          <a:p>
            <a:r>
              <a:rPr lang="en-US" dirty="0"/>
              <a:t>When the compiler encounters a string literal such as "Bailey", it allocates an array of seven characters, stores the six characters of "Bailey" in the first six entries of the array, and then stores the null character in the last entry.</a:t>
            </a:r>
          </a:p>
          <a:p>
            <a:r>
              <a:rPr lang="en-US" dirty="0"/>
              <a:t>The compiler treats the address of the first character of the array (which has type char *) as the value of the string literal.</a:t>
            </a:r>
          </a:p>
        </p:txBody>
      </p:sp>
      <p:pic>
        <p:nvPicPr>
          <p:cNvPr id="4" name="Picture 3">
            <a:extLst>
              <a:ext uri="{FF2B5EF4-FFF2-40B4-BE49-F238E27FC236}">
                <a16:creationId xmlns:a16="http://schemas.microsoft.com/office/drawing/2014/main" id="{A185A5E6-5A9B-E545-15EE-0A80D11B244A}"/>
              </a:ext>
            </a:extLst>
          </p:cNvPr>
          <p:cNvPicPr>
            <a:picLocks noChangeAspect="1"/>
          </p:cNvPicPr>
          <p:nvPr/>
        </p:nvPicPr>
        <p:blipFill>
          <a:blip r:embed="rId3"/>
          <a:stretch>
            <a:fillRect/>
          </a:stretch>
        </p:blipFill>
        <p:spPr>
          <a:xfrm>
            <a:off x="5284636" y="3129531"/>
            <a:ext cx="3645703" cy="598937"/>
          </a:xfrm>
          <a:prstGeom prst="rect">
            <a:avLst/>
          </a:prstGeom>
        </p:spPr>
      </p:pic>
    </p:spTree>
    <p:extLst>
      <p:ext uri="{BB962C8B-B14F-4D97-AF65-F5344CB8AC3E}">
        <p14:creationId xmlns:p14="http://schemas.microsoft.com/office/powerpoint/2010/main" val="2086383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04B67-D291-6BCA-D38C-E6E93CF0D335}"/>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59BE902-9E90-F597-EB5A-219A3BD97133}"/>
              </a:ext>
            </a:extLst>
          </p:cNvPr>
          <p:cNvSpPr>
            <a:spLocks noGrp="1"/>
          </p:cNvSpPr>
          <p:nvPr>
            <p:ph idx="1"/>
          </p:nvPr>
        </p:nvSpPr>
        <p:spPr>
          <a:xfrm>
            <a:off x="146649" y="1825625"/>
            <a:ext cx="7297947" cy="4351338"/>
          </a:xfrm>
        </p:spPr>
        <p:txBody>
          <a:bodyPr>
            <a:normAutofit lnSpcReduction="10000"/>
          </a:bodyPr>
          <a:lstStyle/>
          <a:p>
            <a:r>
              <a:rPr lang="en-US" dirty="0"/>
              <a:t>The first two assignments of the program show that string literals are pointers to char by assigning them to variables of type char *. </a:t>
            </a:r>
          </a:p>
          <a:p>
            <a:r>
              <a:rPr lang="en-US" dirty="0"/>
              <a:t>The pointers p and q then hold the addresses of the two string literals.</a:t>
            </a:r>
          </a:p>
          <a:p>
            <a:r>
              <a:rPr lang="en-US" dirty="0"/>
              <a:t>By casting the pointers to int, we can see where in memory the string literals are stored. </a:t>
            </a:r>
          </a:p>
          <a:p>
            <a:r>
              <a:rPr lang="en-US" dirty="0"/>
              <a:t>Notice that in this case, the compiler has stored all string literals in the program in consecutive memory locations.</a:t>
            </a:r>
            <a:endParaRPr lang="en-US" b="1" dirty="0"/>
          </a:p>
        </p:txBody>
      </p:sp>
      <p:pic>
        <p:nvPicPr>
          <p:cNvPr id="4" name="Picture 3">
            <a:extLst>
              <a:ext uri="{FF2B5EF4-FFF2-40B4-BE49-F238E27FC236}">
                <a16:creationId xmlns:a16="http://schemas.microsoft.com/office/drawing/2014/main" id="{013732DE-1A28-6199-3F39-374B04A9D9F4}"/>
              </a:ext>
            </a:extLst>
          </p:cNvPr>
          <p:cNvPicPr>
            <a:picLocks noChangeAspect="1"/>
          </p:cNvPicPr>
          <p:nvPr/>
        </p:nvPicPr>
        <p:blipFill>
          <a:blip r:embed="rId2"/>
          <a:stretch>
            <a:fillRect/>
          </a:stretch>
        </p:blipFill>
        <p:spPr>
          <a:xfrm>
            <a:off x="7632748" y="0"/>
            <a:ext cx="4559252" cy="5086769"/>
          </a:xfrm>
          <a:prstGeom prst="rect">
            <a:avLst/>
          </a:prstGeom>
        </p:spPr>
      </p:pic>
      <p:pic>
        <p:nvPicPr>
          <p:cNvPr id="5" name="Picture 4">
            <a:extLst>
              <a:ext uri="{FF2B5EF4-FFF2-40B4-BE49-F238E27FC236}">
                <a16:creationId xmlns:a16="http://schemas.microsoft.com/office/drawing/2014/main" id="{6165B6ED-30A5-5B5A-3873-6E895E9638C9}"/>
              </a:ext>
            </a:extLst>
          </p:cNvPr>
          <p:cNvPicPr>
            <a:picLocks noChangeAspect="1"/>
          </p:cNvPicPr>
          <p:nvPr/>
        </p:nvPicPr>
        <p:blipFill>
          <a:blip r:embed="rId3"/>
          <a:stretch>
            <a:fillRect/>
          </a:stretch>
        </p:blipFill>
        <p:spPr>
          <a:xfrm>
            <a:off x="8262068" y="5245459"/>
            <a:ext cx="3285023" cy="1457266"/>
          </a:xfrm>
          <a:prstGeom prst="rect">
            <a:avLst/>
          </a:prstGeom>
        </p:spPr>
      </p:pic>
    </p:spTree>
    <p:extLst>
      <p:ext uri="{BB962C8B-B14F-4D97-AF65-F5344CB8AC3E}">
        <p14:creationId xmlns:p14="http://schemas.microsoft.com/office/powerpoint/2010/main" val="2916857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0777A-7FCF-FA97-E7B6-A1271F32B20E}"/>
              </a:ext>
            </a:extLst>
          </p:cNvPr>
          <p:cNvSpPr>
            <a:spLocks noGrp="1"/>
          </p:cNvSpPr>
          <p:nvPr>
            <p:ph type="title"/>
          </p:nvPr>
        </p:nvSpPr>
        <p:spPr/>
        <p:txBody>
          <a:bodyPr/>
          <a:lstStyle/>
          <a:p>
            <a:r>
              <a:rPr lang="en-US" dirty="0"/>
              <a:t>Programmer-Defined Arrays of Character</a:t>
            </a:r>
          </a:p>
        </p:txBody>
      </p:sp>
      <p:sp>
        <p:nvSpPr>
          <p:cNvPr id="3" name="Content Placeholder 2">
            <a:extLst>
              <a:ext uri="{FF2B5EF4-FFF2-40B4-BE49-F238E27FC236}">
                <a16:creationId xmlns:a16="http://schemas.microsoft.com/office/drawing/2014/main" id="{8B89C2B7-31CF-D986-5960-70EB4F033BCE}"/>
              </a:ext>
            </a:extLst>
          </p:cNvPr>
          <p:cNvSpPr>
            <a:spLocks noGrp="1"/>
          </p:cNvSpPr>
          <p:nvPr>
            <p:ph idx="1"/>
          </p:nvPr>
        </p:nvSpPr>
        <p:spPr/>
        <p:txBody>
          <a:bodyPr>
            <a:normAutofit/>
          </a:bodyPr>
          <a:lstStyle/>
          <a:p>
            <a:r>
              <a:rPr lang="en-US" dirty="0"/>
              <a:t>String literals can only hold C-strings that are </a:t>
            </a:r>
            <a:r>
              <a:rPr lang="en-US" b="1" dirty="0"/>
              <a:t>hard-coded</a:t>
            </a:r>
            <a:r>
              <a:rPr lang="en-US" dirty="0"/>
              <a:t> into the program. </a:t>
            </a:r>
          </a:p>
          <a:p>
            <a:r>
              <a:rPr lang="en-US" b="1" dirty="0"/>
              <a:t>Hard-coded</a:t>
            </a:r>
            <a:r>
              <a:rPr lang="en-US" dirty="0"/>
              <a:t> means the literal is directly defined in the source code, and its value is determined at </a:t>
            </a:r>
            <a:r>
              <a:rPr lang="en-US" b="1" dirty="0"/>
              <a:t>compile-time</a:t>
            </a:r>
            <a:r>
              <a:rPr lang="en-US" dirty="0"/>
              <a:t>.</a:t>
            </a:r>
          </a:p>
          <a:p>
            <a:r>
              <a:rPr lang="en-US" dirty="0"/>
              <a:t>You cannot dynamically generate or modify the content of a string literal at runtime. </a:t>
            </a:r>
          </a:p>
          <a:p>
            <a:r>
              <a:rPr lang="en-US" dirty="0"/>
              <a:t>Since string literals reside in a read-only section of memory, they </a:t>
            </a:r>
            <a:r>
              <a:rPr lang="en-US" b="1" dirty="0"/>
              <a:t>cannot be changed</a:t>
            </a:r>
            <a:r>
              <a:rPr lang="en-US" dirty="0"/>
              <a:t>.</a:t>
            </a:r>
          </a:p>
        </p:txBody>
      </p:sp>
    </p:spTree>
    <p:extLst>
      <p:ext uri="{BB962C8B-B14F-4D97-AF65-F5344CB8AC3E}">
        <p14:creationId xmlns:p14="http://schemas.microsoft.com/office/powerpoint/2010/main" val="3492083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A5121-4547-7149-EAE5-77AA3E148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7AF5E-3799-3E24-3FC6-69ACA138DAF3}"/>
              </a:ext>
            </a:extLst>
          </p:cNvPr>
          <p:cNvSpPr>
            <a:spLocks noGrp="1"/>
          </p:cNvSpPr>
          <p:nvPr>
            <p:ph type="title"/>
          </p:nvPr>
        </p:nvSpPr>
        <p:spPr/>
        <p:txBody>
          <a:bodyPr/>
          <a:lstStyle/>
          <a:p>
            <a:r>
              <a:rPr lang="en-US" dirty="0"/>
              <a:t>Programmer-Defined Arrays of Character</a:t>
            </a:r>
          </a:p>
        </p:txBody>
      </p:sp>
      <p:sp>
        <p:nvSpPr>
          <p:cNvPr id="3" name="Content Placeholder 2">
            <a:extLst>
              <a:ext uri="{FF2B5EF4-FFF2-40B4-BE49-F238E27FC236}">
                <a16:creationId xmlns:a16="http://schemas.microsoft.com/office/drawing/2014/main" id="{AA361F93-240E-4ACC-FEEA-C951B17598AE}"/>
              </a:ext>
            </a:extLst>
          </p:cNvPr>
          <p:cNvSpPr>
            <a:spLocks noGrp="1"/>
          </p:cNvSpPr>
          <p:nvPr>
            <p:ph idx="1"/>
          </p:nvPr>
        </p:nvSpPr>
        <p:spPr/>
        <p:txBody>
          <a:bodyPr>
            <a:normAutofit/>
          </a:bodyPr>
          <a:lstStyle/>
          <a:p>
            <a:r>
              <a:rPr lang="en-US" dirty="0"/>
              <a:t>To have a C-string whose characters are read from the keyboard or a file, you must explicitly define an array to hold the characters of the C-string.</a:t>
            </a:r>
          </a:p>
          <a:p>
            <a:r>
              <a:rPr lang="en-US" dirty="0"/>
              <a:t> In doing this, you should make sure that you allocate an additional entry in the array for the terminating null character. </a:t>
            </a:r>
          </a:p>
          <a:p>
            <a:r>
              <a:rPr lang="en-US" dirty="0"/>
              <a:t>For example, if your C-string will be at most 19 characters long, you will need to allocate an array of 20 characters, as in</a:t>
            </a:r>
          </a:p>
        </p:txBody>
      </p:sp>
      <p:pic>
        <p:nvPicPr>
          <p:cNvPr id="4" name="Picture 3">
            <a:extLst>
              <a:ext uri="{FF2B5EF4-FFF2-40B4-BE49-F238E27FC236}">
                <a16:creationId xmlns:a16="http://schemas.microsoft.com/office/drawing/2014/main" id="{52771F64-EE2E-67EF-C317-D2E8CBFB1EAC}"/>
              </a:ext>
            </a:extLst>
          </p:cNvPr>
          <p:cNvPicPr>
            <a:picLocks noChangeAspect="1"/>
          </p:cNvPicPr>
          <p:nvPr/>
        </p:nvPicPr>
        <p:blipFill>
          <a:blip r:embed="rId2"/>
          <a:stretch>
            <a:fillRect/>
          </a:stretch>
        </p:blipFill>
        <p:spPr>
          <a:xfrm>
            <a:off x="4798487" y="5111473"/>
            <a:ext cx="2595025" cy="824302"/>
          </a:xfrm>
          <a:prstGeom prst="rect">
            <a:avLst/>
          </a:prstGeom>
        </p:spPr>
      </p:pic>
    </p:spTree>
    <p:extLst>
      <p:ext uri="{BB962C8B-B14F-4D97-AF65-F5344CB8AC3E}">
        <p14:creationId xmlns:p14="http://schemas.microsoft.com/office/powerpoint/2010/main" val="2681003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BCA73-3CB2-EE45-3779-3F9C9436A4DF}"/>
              </a:ext>
            </a:extLst>
          </p:cNvPr>
          <p:cNvSpPr>
            <a:spLocks noGrp="1"/>
          </p:cNvSpPr>
          <p:nvPr>
            <p:ph type="title"/>
          </p:nvPr>
        </p:nvSpPr>
        <p:spPr/>
        <p:txBody>
          <a:bodyPr/>
          <a:lstStyle/>
          <a:p>
            <a:r>
              <a:rPr lang="en-US" dirty="0"/>
              <a:t>Programmer-Defined Arrays of Character</a:t>
            </a:r>
          </a:p>
        </p:txBody>
      </p:sp>
      <p:sp>
        <p:nvSpPr>
          <p:cNvPr id="3" name="Content Placeholder 2">
            <a:extLst>
              <a:ext uri="{FF2B5EF4-FFF2-40B4-BE49-F238E27FC236}">
                <a16:creationId xmlns:a16="http://schemas.microsoft.com/office/drawing/2014/main" id="{5A13D6A3-2ACA-0E58-C669-64EBFE7AE2C1}"/>
              </a:ext>
            </a:extLst>
          </p:cNvPr>
          <p:cNvSpPr>
            <a:spLocks noGrp="1"/>
          </p:cNvSpPr>
          <p:nvPr>
            <p:ph idx="1"/>
          </p:nvPr>
        </p:nvSpPr>
        <p:spPr/>
        <p:txBody>
          <a:bodyPr/>
          <a:lstStyle/>
          <a:p>
            <a:r>
              <a:rPr lang="en-US" dirty="0"/>
              <a:t>As in the case of literals, the compiler will represent the C-string by the address of the first character of the string, in this case, the array identifier. </a:t>
            </a:r>
          </a:p>
          <a:p>
            <a:pPr algn="l"/>
            <a:r>
              <a:rPr lang="en-US" dirty="0"/>
              <a:t>We know that </a:t>
            </a:r>
            <a:r>
              <a:rPr lang="en-US" dirty="0">
                <a:effectLst/>
              </a:rPr>
              <a:t>an array identifier without the brackets is interpreted by the compiler to be the address of the first entry of the array.</a:t>
            </a:r>
          </a:p>
          <a:p>
            <a:r>
              <a:rPr lang="en-US" dirty="0"/>
              <a:t>A C-string defined as an array can be given its value by initializing it with a string literal, by reading characters into it from the keyboard or a file, or by copying characters into the array one character at a time. </a:t>
            </a:r>
          </a:p>
          <a:p>
            <a:endParaRPr lang="en-US" dirty="0"/>
          </a:p>
        </p:txBody>
      </p:sp>
    </p:spTree>
    <p:extLst>
      <p:ext uri="{BB962C8B-B14F-4D97-AF65-F5344CB8AC3E}">
        <p14:creationId xmlns:p14="http://schemas.microsoft.com/office/powerpoint/2010/main" val="2281666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D2BAF-CEF5-B32A-8139-5A50A57E3986}"/>
              </a:ext>
            </a:extLst>
          </p:cNvPr>
          <p:cNvSpPr>
            <a:spLocks noGrp="1"/>
          </p:cNvSpPr>
          <p:nvPr>
            <p:ph type="title"/>
          </p:nvPr>
        </p:nvSpPr>
        <p:spPr/>
        <p:txBody>
          <a:bodyPr/>
          <a:lstStyle/>
          <a:p>
            <a:r>
              <a:rPr lang="en-US" dirty="0"/>
              <a:t>Programmer-Defined Arrays of Character</a:t>
            </a:r>
          </a:p>
        </p:txBody>
      </p:sp>
      <p:sp>
        <p:nvSpPr>
          <p:cNvPr id="3" name="Content Placeholder 2">
            <a:extLst>
              <a:ext uri="{FF2B5EF4-FFF2-40B4-BE49-F238E27FC236}">
                <a16:creationId xmlns:a16="http://schemas.microsoft.com/office/drawing/2014/main" id="{B35FC1FF-B3D9-A7DA-B5B9-70444967A018}"/>
              </a:ext>
            </a:extLst>
          </p:cNvPr>
          <p:cNvSpPr>
            <a:spLocks noGrp="1"/>
          </p:cNvSpPr>
          <p:nvPr>
            <p:ph idx="1"/>
          </p:nvPr>
        </p:nvSpPr>
        <p:spPr/>
        <p:txBody>
          <a:bodyPr/>
          <a:lstStyle/>
          <a:p>
            <a:endParaRPr lang="en-US" dirty="0"/>
          </a:p>
          <a:p>
            <a:endParaRPr lang="en-US" dirty="0"/>
          </a:p>
          <a:p>
            <a:endParaRPr lang="en-US" dirty="0"/>
          </a:p>
          <a:p>
            <a:r>
              <a:rPr lang="en-US" dirty="0"/>
              <a:t>When initializing an array with a string literal in this manner, the size of the array in the array definition is optional. </a:t>
            </a:r>
          </a:p>
          <a:p>
            <a:r>
              <a:rPr lang="en-US" dirty="0"/>
              <a:t>If not specified, the compiler will set the size to one more than the number of characters in the initializing literal string (thus allowing room for the null terminator).</a:t>
            </a:r>
          </a:p>
        </p:txBody>
      </p:sp>
      <p:pic>
        <p:nvPicPr>
          <p:cNvPr id="4" name="Picture 3">
            <a:extLst>
              <a:ext uri="{FF2B5EF4-FFF2-40B4-BE49-F238E27FC236}">
                <a16:creationId xmlns:a16="http://schemas.microsoft.com/office/drawing/2014/main" id="{A065F210-3F00-2967-5654-64EFA9731CD1}"/>
              </a:ext>
            </a:extLst>
          </p:cNvPr>
          <p:cNvPicPr>
            <a:picLocks noChangeAspect="1"/>
          </p:cNvPicPr>
          <p:nvPr/>
        </p:nvPicPr>
        <p:blipFill>
          <a:blip r:embed="rId2"/>
          <a:stretch>
            <a:fillRect/>
          </a:stretch>
        </p:blipFill>
        <p:spPr>
          <a:xfrm>
            <a:off x="3360768" y="1825625"/>
            <a:ext cx="5470464" cy="1156612"/>
          </a:xfrm>
          <a:prstGeom prst="rect">
            <a:avLst/>
          </a:prstGeom>
        </p:spPr>
      </p:pic>
    </p:spTree>
    <p:extLst>
      <p:ext uri="{BB962C8B-B14F-4D97-AF65-F5344CB8AC3E}">
        <p14:creationId xmlns:p14="http://schemas.microsoft.com/office/powerpoint/2010/main" val="2304404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0E3B4-D359-77AF-1D7D-56735F212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1149D-3DDA-1306-58BD-67599DA5FAF3}"/>
              </a:ext>
            </a:extLst>
          </p:cNvPr>
          <p:cNvSpPr>
            <a:spLocks noGrp="1"/>
          </p:cNvSpPr>
          <p:nvPr>
            <p:ph type="title"/>
          </p:nvPr>
        </p:nvSpPr>
        <p:spPr/>
        <p:txBody>
          <a:bodyPr/>
          <a:lstStyle/>
          <a:p>
            <a:r>
              <a:rPr lang="en-US" dirty="0"/>
              <a:t>Programmer-Defined Arrays of Character</a:t>
            </a:r>
          </a:p>
        </p:txBody>
      </p:sp>
      <p:sp>
        <p:nvSpPr>
          <p:cNvPr id="3" name="Content Placeholder 2">
            <a:extLst>
              <a:ext uri="{FF2B5EF4-FFF2-40B4-BE49-F238E27FC236}">
                <a16:creationId xmlns:a16="http://schemas.microsoft.com/office/drawing/2014/main" id="{594DAD6E-B7C3-BFB7-8C15-E02A803DE9DB}"/>
              </a:ext>
            </a:extLst>
          </p:cNvPr>
          <p:cNvSpPr>
            <a:spLocks noGrp="1"/>
          </p:cNvSpPr>
          <p:nvPr>
            <p:ph idx="1"/>
          </p:nvPr>
        </p:nvSpPr>
        <p:spPr/>
        <p:txBody>
          <a:bodyPr>
            <a:normAutofit/>
          </a:bodyPr>
          <a:lstStyle/>
          <a:p>
            <a:r>
              <a:rPr lang="en-US" dirty="0"/>
              <a:t>C-strings defined as arrays can be read and written using the various objects, operators, and member functions of the input and output stream classes. </a:t>
            </a:r>
          </a:p>
          <a:p>
            <a:r>
              <a:rPr lang="en-US" dirty="0"/>
              <a:t>A C-string stored as a programmer-defined array can be processed using standard subscript notation. </a:t>
            </a:r>
          </a:p>
          <a:p>
            <a:r>
              <a:rPr lang="en-US" dirty="0"/>
              <a:t>We will see an example now. </a:t>
            </a:r>
          </a:p>
          <a:p>
            <a:r>
              <a:rPr lang="en-US" dirty="0"/>
              <a:t>It outputs a string one character at a time, and stops when it finds the null terminator. </a:t>
            </a:r>
          </a:p>
        </p:txBody>
      </p:sp>
    </p:spTree>
    <p:extLst>
      <p:ext uri="{BB962C8B-B14F-4D97-AF65-F5344CB8AC3E}">
        <p14:creationId xmlns:p14="http://schemas.microsoft.com/office/powerpoint/2010/main" val="1069524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9E1E-FB6B-EA07-86AE-54D5EEB2D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AFFE1-0F61-D8B5-8168-4FC71DFDF5F3}"/>
              </a:ext>
            </a:extLst>
          </p:cNvPr>
          <p:cNvSpPr>
            <a:spLocks noGrp="1"/>
          </p:cNvSpPr>
          <p:nvPr>
            <p:ph type="title"/>
          </p:nvPr>
        </p:nvSpPr>
        <p:spPr/>
        <p:txBody>
          <a:bodyPr/>
          <a:lstStyle/>
          <a:p>
            <a:r>
              <a:rPr lang="en-US" dirty="0"/>
              <a:t>Programmer-Defined Arrays of Character</a:t>
            </a:r>
          </a:p>
        </p:txBody>
      </p:sp>
      <p:sp>
        <p:nvSpPr>
          <p:cNvPr id="3" name="Content Placeholder 2">
            <a:extLst>
              <a:ext uri="{FF2B5EF4-FFF2-40B4-BE49-F238E27FC236}">
                <a16:creationId xmlns:a16="http://schemas.microsoft.com/office/drawing/2014/main" id="{FE4C33F2-4608-F5FE-4759-427E16ADB9C3}"/>
              </a:ext>
            </a:extLst>
          </p:cNvPr>
          <p:cNvSpPr>
            <a:spLocks noGrp="1"/>
          </p:cNvSpPr>
          <p:nvPr>
            <p:ph idx="1"/>
          </p:nvPr>
        </p:nvSpPr>
        <p:spPr/>
        <p:txBody>
          <a:bodyPr>
            <a:normAutofit/>
          </a:bodyPr>
          <a:lstStyle/>
          <a:p>
            <a:r>
              <a:rPr lang="en-US" dirty="0"/>
              <a:t>We will use the </a:t>
            </a:r>
            <a:r>
              <a:rPr lang="en-US" i="1" dirty="0" err="1">
                <a:solidFill>
                  <a:srgbClr val="FF0000"/>
                </a:solidFill>
              </a:rPr>
              <a:t>getline</a:t>
            </a:r>
            <a:r>
              <a:rPr lang="en-US" i="1" dirty="0">
                <a:solidFill>
                  <a:srgbClr val="FF0000"/>
                </a:solidFill>
              </a:rPr>
              <a:t> </a:t>
            </a:r>
            <a:r>
              <a:rPr lang="en-US" dirty="0"/>
              <a:t>member function.</a:t>
            </a:r>
          </a:p>
          <a:p>
            <a:r>
              <a:rPr lang="en-US" dirty="0"/>
              <a:t>The </a:t>
            </a:r>
            <a:r>
              <a:rPr lang="en-US" i="1" dirty="0" err="1">
                <a:solidFill>
                  <a:srgbClr val="FF0000"/>
                </a:solidFill>
              </a:rPr>
              <a:t>getline</a:t>
            </a:r>
            <a:r>
              <a:rPr lang="en-US" dirty="0"/>
              <a:t> member function in C++ is used to read an entire line of text from an input stream (like std::</a:t>
            </a:r>
            <a:r>
              <a:rPr lang="en-US" dirty="0" err="1"/>
              <a:t>cin</a:t>
            </a:r>
            <a:r>
              <a:rPr lang="en-US" dirty="0"/>
              <a:t>) into a std::string or a character array. </a:t>
            </a:r>
          </a:p>
          <a:p>
            <a:r>
              <a:rPr lang="en-US" dirty="0"/>
              <a:t>It stops reading when it encounters a newline character (\n) or when a specified delimiter is reached. </a:t>
            </a:r>
          </a:p>
          <a:p>
            <a:r>
              <a:rPr lang="en-US" dirty="0"/>
              <a:t>It is commonly used for handling input that may contain spaces.</a:t>
            </a:r>
          </a:p>
        </p:txBody>
      </p:sp>
    </p:spTree>
    <p:extLst>
      <p:ext uri="{BB962C8B-B14F-4D97-AF65-F5344CB8AC3E}">
        <p14:creationId xmlns:p14="http://schemas.microsoft.com/office/powerpoint/2010/main" val="2737635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0F03E-CDD6-2CC6-C2F3-C93BB8330BF1}"/>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9B9727A1-159E-0EA9-24BB-F146BC5A1E4C}"/>
              </a:ext>
            </a:extLst>
          </p:cNvPr>
          <p:cNvPicPr>
            <a:picLocks noChangeAspect="1"/>
          </p:cNvPicPr>
          <p:nvPr/>
        </p:nvPicPr>
        <p:blipFill>
          <a:blip r:embed="rId2"/>
          <a:stretch>
            <a:fillRect/>
          </a:stretch>
        </p:blipFill>
        <p:spPr>
          <a:xfrm>
            <a:off x="6495212" y="1412199"/>
            <a:ext cx="4589732" cy="4764764"/>
          </a:xfrm>
          <a:prstGeom prst="rect">
            <a:avLst/>
          </a:prstGeom>
        </p:spPr>
      </p:pic>
      <p:pic>
        <p:nvPicPr>
          <p:cNvPr id="5" name="Picture 4">
            <a:extLst>
              <a:ext uri="{FF2B5EF4-FFF2-40B4-BE49-F238E27FC236}">
                <a16:creationId xmlns:a16="http://schemas.microsoft.com/office/drawing/2014/main" id="{0B1BA659-E5EA-238D-D86F-333553B06162}"/>
              </a:ext>
            </a:extLst>
          </p:cNvPr>
          <p:cNvPicPr>
            <a:picLocks noChangeAspect="1"/>
          </p:cNvPicPr>
          <p:nvPr/>
        </p:nvPicPr>
        <p:blipFill>
          <a:blip r:embed="rId3"/>
          <a:stretch>
            <a:fillRect/>
          </a:stretch>
        </p:blipFill>
        <p:spPr>
          <a:xfrm>
            <a:off x="969033" y="2915608"/>
            <a:ext cx="4257320" cy="1552875"/>
          </a:xfrm>
          <a:prstGeom prst="rect">
            <a:avLst/>
          </a:prstGeom>
        </p:spPr>
      </p:pic>
    </p:spTree>
    <p:extLst>
      <p:ext uri="{BB962C8B-B14F-4D97-AF65-F5344CB8AC3E}">
        <p14:creationId xmlns:p14="http://schemas.microsoft.com/office/powerpoint/2010/main" val="2508091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A7199-C24D-58A7-42C9-C8293DACCF24}"/>
              </a:ext>
            </a:extLst>
          </p:cNvPr>
          <p:cNvSpPr>
            <a:spLocks noGrp="1"/>
          </p:cNvSpPr>
          <p:nvPr>
            <p:ph type="title"/>
          </p:nvPr>
        </p:nvSpPr>
        <p:spPr/>
        <p:txBody>
          <a:bodyPr/>
          <a:lstStyle/>
          <a:p>
            <a:r>
              <a:rPr lang="en-US" dirty="0"/>
              <a:t>Pointers to char</a:t>
            </a:r>
          </a:p>
        </p:txBody>
      </p:sp>
      <p:sp>
        <p:nvSpPr>
          <p:cNvPr id="3" name="Content Placeholder 2">
            <a:extLst>
              <a:ext uri="{FF2B5EF4-FFF2-40B4-BE49-F238E27FC236}">
                <a16:creationId xmlns:a16="http://schemas.microsoft.com/office/drawing/2014/main" id="{48E85E37-70DC-A25F-EA6A-728951AE8FE9}"/>
              </a:ext>
            </a:extLst>
          </p:cNvPr>
          <p:cNvSpPr>
            <a:spLocks noGrp="1"/>
          </p:cNvSpPr>
          <p:nvPr>
            <p:ph idx="1"/>
          </p:nvPr>
        </p:nvSpPr>
        <p:spPr/>
        <p:txBody>
          <a:bodyPr/>
          <a:lstStyle/>
          <a:p>
            <a:r>
              <a:rPr lang="en-US" dirty="0"/>
              <a:t>As we have seen, C-strings can be represented as string literals or as arrays of characters. </a:t>
            </a:r>
          </a:p>
          <a:p>
            <a:r>
              <a:rPr lang="en-US" dirty="0"/>
              <a:t>Both of these methods allocate an array and then use the address of the array as a pointer to char to actually represent the string.</a:t>
            </a:r>
          </a:p>
          <a:p>
            <a:r>
              <a:rPr lang="en-US" dirty="0"/>
              <a:t>The difference between the two is that in the first case, the array used to store the string is allocated implicitly by the compiler, whereas in the second, the array is explicitly allocated by the programmer.</a:t>
            </a:r>
          </a:p>
        </p:txBody>
      </p:sp>
    </p:spTree>
    <p:extLst>
      <p:ext uri="{BB962C8B-B14F-4D97-AF65-F5344CB8AC3E}">
        <p14:creationId xmlns:p14="http://schemas.microsoft.com/office/powerpoint/2010/main" val="6221608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F9F41-33B6-2149-BD49-D8B3498F8C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1474A-53A2-0FD5-AF75-EA9127A815FB}"/>
              </a:ext>
            </a:extLst>
          </p:cNvPr>
          <p:cNvSpPr>
            <a:spLocks noGrp="1"/>
          </p:cNvSpPr>
          <p:nvPr>
            <p:ph type="title"/>
          </p:nvPr>
        </p:nvSpPr>
        <p:spPr/>
        <p:txBody>
          <a:bodyPr/>
          <a:lstStyle/>
          <a:p>
            <a:r>
              <a:rPr lang="en-US" dirty="0"/>
              <a:t>Pointers to char</a:t>
            </a:r>
          </a:p>
        </p:txBody>
      </p:sp>
      <p:sp>
        <p:nvSpPr>
          <p:cNvPr id="3" name="Content Placeholder 2">
            <a:extLst>
              <a:ext uri="{FF2B5EF4-FFF2-40B4-BE49-F238E27FC236}">
                <a16:creationId xmlns:a16="http://schemas.microsoft.com/office/drawing/2014/main" id="{A63D2044-EE10-4C8B-6B16-F4451BDC9F92}"/>
              </a:ext>
            </a:extLst>
          </p:cNvPr>
          <p:cNvSpPr>
            <a:spLocks noGrp="1"/>
          </p:cNvSpPr>
          <p:nvPr>
            <p:ph idx="1"/>
          </p:nvPr>
        </p:nvSpPr>
        <p:spPr/>
        <p:txBody>
          <a:bodyPr/>
          <a:lstStyle/>
          <a:p>
            <a:r>
              <a:rPr lang="en-US" dirty="0"/>
              <a:t>The third method of representing a C-string uses a pointer to char to point to a C-string whose storage has already been allocated by one of the other two methods. </a:t>
            </a:r>
          </a:p>
        </p:txBody>
      </p:sp>
      <p:pic>
        <p:nvPicPr>
          <p:cNvPr id="4" name="Picture 3">
            <a:extLst>
              <a:ext uri="{FF2B5EF4-FFF2-40B4-BE49-F238E27FC236}">
                <a16:creationId xmlns:a16="http://schemas.microsoft.com/office/drawing/2014/main" id="{D02DB942-6E9B-678A-136D-EA7280E6EF45}"/>
              </a:ext>
            </a:extLst>
          </p:cNvPr>
          <p:cNvPicPr>
            <a:picLocks noChangeAspect="1"/>
          </p:cNvPicPr>
          <p:nvPr/>
        </p:nvPicPr>
        <p:blipFill>
          <a:blip r:embed="rId2"/>
          <a:stretch>
            <a:fillRect/>
          </a:stretch>
        </p:blipFill>
        <p:spPr>
          <a:xfrm>
            <a:off x="3153404" y="3308230"/>
            <a:ext cx="5885192" cy="1850366"/>
          </a:xfrm>
          <a:prstGeom prst="rect">
            <a:avLst/>
          </a:prstGeom>
        </p:spPr>
      </p:pic>
    </p:spTree>
    <p:extLst>
      <p:ext uri="{BB962C8B-B14F-4D97-AF65-F5344CB8AC3E}">
        <p14:creationId xmlns:p14="http://schemas.microsoft.com/office/powerpoint/2010/main" val="2506294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D3397-C1E8-8A10-6317-464C41E1B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FBD48-C2CA-811C-C320-830A393C85A7}"/>
              </a:ext>
            </a:extLst>
          </p:cNvPr>
          <p:cNvSpPr>
            <a:spLocks noGrp="1"/>
          </p:cNvSpPr>
          <p:nvPr>
            <p:ph type="title"/>
          </p:nvPr>
        </p:nvSpPr>
        <p:spPr/>
        <p:txBody>
          <a:bodyPr/>
          <a:lstStyle/>
          <a:p>
            <a:r>
              <a:rPr lang="en-US" dirty="0"/>
              <a:t>Pointers to char</a:t>
            </a:r>
          </a:p>
        </p:txBody>
      </p:sp>
      <p:sp>
        <p:nvSpPr>
          <p:cNvPr id="3" name="Content Placeholder 2">
            <a:extLst>
              <a:ext uri="{FF2B5EF4-FFF2-40B4-BE49-F238E27FC236}">
                <a16:creationId xmlns:a16="http://schemas.microsoft.com/office/drawing/2014/main" id="{C52B74DF-6FAA-B671-5B83-F77504BEB960}"/>
              </a:ext>
            </a:extLst>
          </p:cNvPr>
          <p:cNvSpPr>
            <a:spLocks noGrp="1"/>
          </p:cNvSpPr>
          <p:nvPr>
            <p:ph idx="1"/>
          </p:nvPr>
        </p:nvSpPr>
        <p:spPr/>
        <p:txBody>
          <a:bodyPr/>
          <a:lstStyle/>
          <a:p>
            <a:pPr algn="l"/>
            <a:r>
              <a:rPr lang="en-US" dirty="0">
                <a:effectLst/>
              </a:rPr>
              <a:t>A major advantage in using a pointer variable to represent a C-string is the ability to make the pointer point to different C-strings.</a:t>
            </a:r>
          </a:p>
          <a:p>
            <a:pPr lvl="1"/>
            <a:r>
              <a:rPr lang="en-US" dirty="0"/>
              <a:t>This allows the pointer to "switch" between different strings without needing to copy or move data explicitly.</a:t>
            </a:r>
            <a:endParaRPr lang="en-US" dirty="0">
              <a:effectLst/>
            </a:endParaRPr>
          </a:p>
          <a:p>
            <a:pPr algn="l"/>
            <a:r>
              <a:rPr lang="en-US" dirty="0">
                <a:effectLst/>
              </a:rPr>
              <a:t>Another way to use a pointer to a char as a C-string is to define the pointer and then set it to point to dynamically allocated storage returned by the </a:t>
            </a:r>
            <a:r>
              <a:rPr lang="en-US" i="1" dirty="0">
                <a:solidFill>
                  <a:srgbClr val="FF0000"/>
                </a:solidFill>
                <a:effectLst/>
              </a:rPr>
              <a:t>new</a:t>
            </a:r>
            <a:r>
              <a:rPr lang="en-US" dirty="0">
                <a:effectLst/>
              </a:rPr>
              <a:t> operator. </a:t>
            </a:r>
          </a:p>
          <a:p>
            <a:pPr lvl="1"/>
            <a:r>
              <a:rPr lang="en-US" dirty="0">
                <a:effectLst/>
              </a:rPr>
              <a:t>It </a:t>
            </a:r>
            <a:r>
              <a:rPr lang="en-US" dirty="0"/>
              <a:t>Allows creation of C-strings of variable length at runtime.</a:t>
            </a:r>
          </a:p>
          <a:p>
            <a:pPr lvl="1"/>
            <a:r>
              <a:rPr lang="en-US" dirty="0"/>
              <a:t>It’s useful when the size of the string or its content is not known at compile-time.</a:t>
            </a:r>
            <a:endParaRPr lang="en-US" dirty="0">
              <a:effectLst/>
            </a:endParaRPr>
          </a:p>
        </p:txBody>
      </p:sp>
    </p:spTree>
    <p:extLst>
      <p:ext uri="{BB962C8B-B14F-4D97-AF65-F5344CB8AC3E}">
        <p14:creationId xmlns:p14="http://schemas.microsoft.com/office/powerpoint/2010/main" val="3265989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95E95-1219-2620-2BA8-BB8191F1FF66}"/>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FE2836A-020B-0094-8480-0EF06ED1F245}"/>
              </a:ext>
            </a:extLst>
          </p:cNvPr>
          <p:cNvSpPr>
            <a:spLocks noGrp="1"/>
          </p:cNvSpPr>
          <p:nvPr>
            <p:ph idx="1"/>
          </p:nvPr>
        </p:nvSpPr>
        <p:spPr>
          <a:xfrm>
            <a:off x="838200" y="1825625"/>
            <a:ext cx="5873151" cy="4351338"/>
          </a:xfrm>
        </p:spPr>
        <p:txBody>
          <a:bodyPr>
            <a:normAutofit/>
          </a:bodyPr>
          <a:lstStyle/>
          <a:p>
            <a:r>
              <a:rPr lang="en-US" dirty="0"/>
              <a:t>A common mistake when using pointers to char as C-strings is using the pointer when it does not point to a properly allocated C-string.</a:t>
            </a:r>
          </a:p>
          <a:p>
            <a:r>
              <a:rPr lang="en-US" dirty="0"/>
              <a:t>Without allocation, the program tries to read a string into the memory location pointed to by a pointer, when that pointer has not been properly initialized.</a:t>
            </a:r>
          </a:p>
        </p:txBody>
      </p:sp>
      <p:pic>
        <p:nvPicPr>
          <p:cNvPr id="5" name="Picture 4">
            <a:extLst>
              <a:ext uri="{FF2B5EF4-FFF2-40B4-BE49-F238E27FC236}">
                <a16:creationId xmlns:a16="http://schemas.microsoft.com/office/drawing/2014/main" id="{153C2A3A-E225-5004-35E4-DE21536E32C6}"/>
              </a:ext>
            </a:extLst>
          </p:cNvPr>
          <p:cNvPicPr>
            <a:picLocks noChangeAspect="1"/>
          </p:cNvPicPr>
          <p:nvPr/>
        </p:nvPicPr>
        <p:blipFill>
          <a:blip r:embed="rId3"/>
          <a:stretch>
            <a:fillRect/>
          </a:stretch>
        </p:blipFill>
        <p:spPr>
          <a:xfrm>
            <a:off x="7162802" y="219376"/>
            <a:ext cx="4724398" cy="6557465"/>
          </a:xfrm>
          <a:prstGeom prst="rect">
            <a:avLst/>
          </a:prstGeom>
        </p:spPr>
      </p:pic>
    </p:spTree>
    <p:extLst>
      <p:ext uri="{BB962C8B-B14F-4D97-AF65-F5344CB8AC3E}">
        <p14:creationId xmlns:p14="http://schemas.microsoft.com/office/powerpoint/2010/main" val="2665069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B1D5B-F270-46A5-D50F-A10EC2E74C05}"/>
              </a:ext>
            </a:extLst>
          </p:cNvPr>
          <p:cNvSpPr>
            <a:spLocks noGrp="1"/>
          </p:cNvSpPr>
          <p:nvPr>
            <p:ph type="title"/>
          </p:nvPr>
        </p:nvSpPr>
        <p:spPr/>
        <p:txBody>
          <a:bodyPr/>
          <a:lstStyle/>
          <a:p>
            <a:r>
              <a:rPr lang="en-US" dirty="0"/>
              <a:t>Library Functions for Working with C-Strings</a:t>
            </a:r>
          </a:p>
        </p:txBody>
      </p:sp>
      <p:sp>
        <p:nvSpPr>
          <p:cNvPr id="3" name="Content Placeholder 2">
            <a:extLst>
              <a:ext uri="{FF2B5EF4-FFF2-40B4-BE49-F238E27FC236}">
                <a16:creationId xmlns:a16="http://schemas.microsoft.com/office/drawing/2014/main" id="{B2D96A22-721E-CF8B-6BF2-3B017DB505BA}"/>
              </a:ext>
            </a:extLst>
          </p:cNvPr>
          <p:cNvSpPr>
            <a:spLocks noGrp="1"/>
          </p:cNvSpPr>
          <p:nvPr>
            <p:ph idx="1"/>
          </p:nvPr>
        </p:nvSpPr>
        <p:spPr/>
        <p:txBody>
          <a:bodyPr/>
          <a:lstStyle/>
          <a:p>
            <a:r>
              <a:rPr lang="en-US" dirty="0"/>
              <a:t>The C++ library provides many functions that can be used to work with C-strings. </a:t>
            </a:r>
          </a:p>
          <a:p>
            <a:r>
              <a:rPr lang="en-US" dirty="0"/>
              <a:t>There are functions for determining the length of a string, for concatenating two strings, for comparing two strings, and for searching for the occurrence of one string within another. </a:t>
            </a:r>
          </a:p>
          <a:p>
            <a:r>
              <a:rPr lang="en-US" dirty="0"/>
              <a:t>You must include the </a:t>
            </a:r>
            <a:r>
              <a:rPr lang="en-US" dirty="0">
                <a:solidFill>
                  <a:srgbClr val="FF0000"/>
                </a:solidFill>
              </a:rPr>
              <a:t>&lt;</a:t>
            </a:r>
            <a:r>
              <a:rPr lang="en-US" dirty="0" err="1">
                <a:solidFill>
                  <a:srgbClr val="FF0000"/>
                </a:solidFill>
              </a:rPr>
              <a:t>cstring</a:t>
            </a:r>
            <a:r>
              <a:rPr lang="en-US" dirty="0">
                <a:solidFill>
                  <a:srgbClr val="FF0000"/>
                </a:solidFill>
              </a:rPr>
              <a:t>&gt; </a:t>
            </a:r>
            <a:r>
              <a:rPr lang="en-US" dirty="0"/>
              <a:t>header file to use these functions.</a:t>
            </a:r>
          </a:p>
        </p:txBody>
      </p:sp>
    </p:spTree>
    <p:extLst>
      <p:ext uri="{BB962C8B-B14F-4D97-AF65-F5344CB8AC3E}">
        <p14:creationId xmlns:p14="http://schemas.microsoft.com/office/powerpoint/2010/main" val="3708499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6844F-9989-E200-3E2C-625301AE650F}"/>
              </a:ext>
            </a:extLst>
          </p:cNvPr>
          <p:cNvSpPr>
            <a:spLocks noGrp="1"/>
          </p:cNvSpPr>
          <p:nvPr>
            <p:ph type="title"/>
          </p:nvPr>
        </p:nvSpPr>
        <p:spPr/>
        <p:txBody>
          <a:bodyPr/>
          <a:lstStyle/>
          <a:p>
            <a:r>
              <a:rPr lang="en-US" dirty="0"/>
              <a:t>Passing C-String Arguments</a:t>
            </a:r>
          </a:p>
        </p:txBody>
      </p:sp>
      <p:sp>
        <p:nvSpPr>
          <p:cNvPr id="3" name="Content Placeholder 2">
            <a:extLst>
              <a:ext uri="{FF2B5EF4-FFF2-40B4-BE49-F238E27FC236}">
                <a16:creationId xmlns:a16="http://schemas.microsoft.com/office/drawing/2014/main" id="{AE6B268A-1F4A-2F9D-12A1-78F807B4EB2C}"/>
              </a:ext>
            </a:extLst>
          </p:cNvPr>
          <p:cNvSpPr>
            <a:spLocks noGrp="1"/>
          </p:cNvSpPr>
          <p:nvPr>
            <p:ph idx="1"/>
          </p:nvPr>
        </p:nvSpPr>
        <p:spPr/>
        <p:txBody>
          <a:bodyPr/>
          <a:lstStyle/>
          <a:p>
            <a:pPr marL="0" indent="0">
              <a:buNone/>
            </a:pPr>
            <a:r>
              <a:rPr lang="en-US" dirty="0"/>
              <a:t>The C-string can be passed to the function in any one of the three forms that a C-string can take:</a:t>
            </a:r>
          </a:p>
          <a:p>
            <a:r>
              <a:rPr lang="en-US" dirty="0"/>
              <a:t>A string literal</a:t>
            </a:r>
          </a:p>
          <a:p>
            <a:r>
              <a:rPr lang="en-US" dirty="0"/>
              <a:t>The name of an array that stores the C-string</a:t>
            </a:r>
          </a:p>
          <a:p>
            <a:r>
              <a:rPr lang="en-US" dirty="0"/>
              <a:t>A pointer variable holding the address of the C-string</a:t>
            </a:r>
          </a:p>
        </p:txBody>
      </p:sp>
    </p:spTree>
    <p:extLst>
      <p:ext uri="{BB962C8B-B14F-4D97-AF65-F5344CB8AC3E}">
        <p14:creationId xmlns:p14="http://schemas.microsoft.com/office/powerpoint/2010/main" val="33434908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BDBA-F5E5-85CF-B1CE-D074B84C83B3}"/>
              </a:ext>
            </a:extLst>
          </p:cNvPr>
          <p:cNvSpPr>
            <a:spLocks noGrp="1"/>
          </p:cNvSpPr>
          <p:nvPr>
            <p:ph type="title"/>
          </p:nvPr>
        </p:nvSpPr>
        <p:spPr/>
        <p:txBody>
          <a:bodyPr/>
          <a:lstStyle/>
          <a:p>
            <a:r>
              <a:rPr lang="en-US" dirty="0"/>
              <a:t>The </a:t>
            </a:r>
            <a:r>
              <a:rPr lang="en-US" dirty="0" err="1"/>
              <a:t>strlen</a:t>
            </a:r>
            <a:r>
              <a:rPr lang="en-US" dirty="0"/>
              <a:t> Function</a:t>
            </a:r>
          </a:p>
        </p:txBody>
      </p:sp>
      <p:sp>
        <p:nvSpPr>
          <p:cNvPr id="3" name="Content Placeholder 2">
            <a:extLst>
              <a:ext uri="{FF2B5EF4-FFF2-40B4-BE49-F238E27FC236}">
                <a16:creationId xmlns:a16="http://schemas.microsoft.com/office/drawing/2014/main" id="{0DD0DB76-C4A4-49DA-9BB5-C7CACA4588F0}"/>
              </a:ext>
            </a:extLst>
          </p:cNvPr>
          <p:cNvSpPr>
            <a:spLocks noGrp="1"/>
          </p:cNvSpPr>
          <p:nvPr>
            <p:ph idx="1"/>
          </p:nvPr>
        </p:nvSpPr>
        <p:spPr/>
        <p:txBody>
          <a:bodyPr>
            <a:normAutofit fontScale="92500" lnSpcReduction="20000"/>
          </a:bodyPr>
          <a:lstStyle/>
          <a:p>
            <a:r>
              <a:rPr lang="en-US" dirty="0"/>
              <a:t>The </a:t>
            </a:r>
            <a:r>
              <a:rPr lang="en-US" dirty="0" err="1">
                <a:solidFill>
                  <a:srgbClr val="FF0000"/>
                </a:solidFill>
              </a:rPr>
              <a:t>strlen</a:t>
            </a:r>
            <a:r>
              <a:rPr lang="en-US" dirty="0"/>
              <a:t> function is passed a C-string as its argument and returns the length of the string. </a:t>
            </a:r>
          </a:p>
          <a:p>
            <a:r>
              <a:rPr lang="en-US" dirty="0"/>
              <a:t>This is the number of characters up to, but not including, the null terminator. </a:t>
            </a:r>
          </a:p>
          <a:p>
            <a:endParaRPr lang="en-US" dirty="0"/>
          </a:p>
          <a:p>
            <a:endParaRPr lang="en-US" dirty="0"/>
          </a:p>
          <a:p>
            <a:r>
              <a:rPr lang="en-US" dirty="0"/>
              <a:t>The length of a string should not be confused with the size of the array holding it. </a:t>
            </a:r>
          </a:p>
          <a:p>
            <a:r>
              <a:rPr lang="en-US" dirty="0"/>
              <a:t>Remember, the only information passed to </a:t>
            </a:r>
            <a:r>
              <a:rPr lang="en-US" dirty="0" err="1">
                <a:solidFill>
                  <a:srgbClr val="FF0000"/>
                </a:solidFill>
              </a:rPr>
              <a:t>strlen</a:t>
            </a:r>
            <a:r>
              <a:rPr lang="en-US" dirty="0"/>
              <a:t> is the beginning of the C-string. </a:t>
            </a:r>
          </a:p>
          <a:p>
            <a:r>
              <a:rPr lang="en-US" dirty="0"/>
              <a:t>It doesn’t know where the array ends, so it looks for the null terminator to indicate the end of the string.</a:t>
            </a:r>
          </a:p>
        </p:txBody>
      </p:sp>
      <p:pic>
        <p:nvPicPr>
          <p:cNvPr id="4" name="Picture 3">
            <a:extLst>
              <a:ext uri="{FF2B5EF4-FFF2-40B4-BE49-F238E27FC236}">
                <a16:creationId xmlns:a16="http://schemas.microsoft.com/office/drawing/2014/main" id="{A0384102-F990-5289-F5FD-293C184DB6BB}"/>
              </a:ext>
            </a:extLst>
          </p:cNvPr>
          <p:cNvPicPr>
            <a:picLocks noChangeAspect="1"/>
          </p:cNvPicPr>
          <p:nvPr/>
        </p:nvPicPr>
        <p:blipFill>
          <a:blip r:embed="rId2"/>
          <a:stretch>
            <a:fillRect/>
          </a:stretch>
        </p:blipFill>
        <p:spPr>
          <a:xfrm>
            <a:off x="4534715" y="3073460"/>
            <a:ext cx="3122569" cy="711080"/>
          </a:xfrm>
          <a:prstGeom prst="rect">
            <a:avLst/>
          </a:prstGeom>
        </p:spPr>
      </p:pic>
    </p:spTree>
    <p:extLst>
      <p:ext uri="{BB962C8B-B14F-4D97-AF65-F5344CB8AC3E}">
        <p14:creationId xmlns:p14="http://schemas.microsoft.com/office/powerpoint/2010/main" val="764038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0CCAF-C198-4F0F-AD49-61CB37B1B5D2}"/>
              </a:ext>
            </a:extLst>
          </p:cNvPr>
          <p:cNvSpPr>
            <a:spLocks noGrp="1"/>
          </p:cNvSpPr>
          <p:nvPr>
            <p:ph type="title"/>
          </p:nvPr>
        </p:nvSpPr>
        <p:spPr/>
        <p:txBody>
          <a:bodyPr/>
          <a:lstStyle/>
          <a:p>
            <a:r>
              <a:rPr lang="en-US" dirty="0"/>
              <a:t>The </a:t>
            </a:r>
            <a:r>
              <a:rPr lang="en-US" dirty="0" err="1">
                <a:solidFill>
                  <a:srgbClr val="FF0000"/>
                </a:solidFill>
              </a:rPr>
              <a:t>strcat</a:t>
            </a:r>
            <a:r>
              <a:rPr lang="en-US" dirty="0">
                <a:solidFill>
                  <a:srgbClr val="FF0000"/>
                </a:solidFill>
              </a:rPr>
              <a:t> </a:t>
            </a:r>
            <a:r>
              <a:rPr lang="en-US" dirty="0"/>
              <a:t>Function</a:t>
            </a:r>
          </a:p>
        </p:txBody>
      </p:sp>
      <p:sp>
        <p:nvSpPr>
          <p:cNvPr id="3" name="Content Placeholder 2">
            <a:extLst>
              <a:ext uri="{FF2B5EF4-FFF2-40B4-BE49-F238E27FC236}">
                <a16:creationId xmlns:a16="http://schemas.microsoft.com/office/drawing/2014/main" id="{E41C92E5-EB1C-F0FA-D6B3-B3BD90803475}"/>
              </a:ext>
            </a:extLst>
          </p:cNvPr>
          <p:cNvSpPr>
            <a:spLocks noGrp="1"/>
          </p:cNvSpPr>
          <p:nvPr>
            <p:ph idx="1"/>
          </p:nvPr>
        </p:nvSpPr>
        <p:spPr>
          <a:xfrm>
            <a:off x="838200" y="1825625"/>
            <a:ext cx="5415455" cy="4351338"/>
          </a:xfrm>
        </p:spPr>
        <p:txBody>
          <a:bodyPr/>
          <a:lstStyle/>
          <a:p>
            <a:r>
              <a:rPr lang="en-US" dirty="0"/>
              <a:t>Another example of a C-string handling function is </a:t>
            </a:r>
            <a:r>
              <a:rPr lang="en-US" dirty="0" err="1">
                <a:solidFill>
                  <a:srgbClr val="FF0000"/>
                </a:solidFill>
              </a:rPr>
              <a:t>strcat</a:t>
            </a:r>
            <a:r>
              <a:rPr lang="en-US" dirty="0"/>
              <a:t>. </a:t>
            </a:r>
          </a:p>
          <a:p>
            <a:r>
              <a:rPr lang="en-US" dirty="0"/>
              <a:t>The </a:t>
            </a:r>
            <a:r>
              <a:rPr lang="en-US" dirty="0" err="1">
                <a:solidFill>
                  <a:srgbClr val="FF0000"/>
                </a:solidFill>
              </a:rPr>
              <a:t>strcat</a:t>
            </a:r>
            <a:r>
              <a:rPr lang="en-US" dirty="0">
                <a:solidFill>
                  <a:srgbClr val="FF0000"/>
                </a:solidFill>
              </a:rPr>
              <a:t> </a:t>
            </a:r>
            <a:r>
              <a:rPr lang="en-US" dirty="0"/>
              <a:t>function takes two strings as parameters and concatenates them, returning a single string that consists of all the characters of the first string followed by the characters of the second string.</a:t>
            </a:r>
          </a:p>
        </p:txBody>
      </p:sp>
      <p:pic>
        <p:nvPicPr>
          <p:cNvPr id="4" name="Picture 3">
            <a:extLst>
              <a:ext uri="{FF2B5EF4-FFF2-40B4-BE49-F238E27FC236}">
                <a16:creationId xmlns:a16="http://schemas.microsoft.com/office/drawing/2014/main" id="{54FFE846-1EB0-A40A-80F8-C58091A4E3FD}"/>
              </a:ext>
            </a:extLst>
          </p:cNvPr>
          <p:cNvPicPr>
            <a:picLocks noChangeAspect="1"/>
          </p:cNvPicPr>
          <p:nvPr/>
        </p:nvPicPr>
        <p:blipFill>
          <a:blip r:embed="rId2"/>
          <a:stretch>
            <a:fillRect/>
          </a:stretch>
        </p:blipFill>
        <p:spPr>
          <a:xfrm>
            <a:off x="6946577" y="1401043"/>
            <a:ext cx="4846029" cy="4224079"/>
          </a:xfrm>
          <a:prstGeom prst="rect">
            <a:avLst/>
          </a:prstGeom>
        </p:spPr>
      </p:pic>
    </p:spTree>
    <p:extLst>
      <p:ext uri="{BB962C8B-B14F-4D97-AF65-F5344CB8AC3E}">
        <p14:creationId xmlns:p14="http://schemas.microsoft.com/office/powerpoint/2010/main" val="7313071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19013-0DE8-C66D-C5ED-2E574B5FF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ADDEF-ADE8-E8B2-52DF-27DEB2835029}"/>
              </a:ext>
            </a:extLst>
          </p:cNvPr>
          <p:cNvSpPr>
            <a:spLocks noGrp="1"/>
          </p:cNvSpPr>
          <p:nvPr>
            <p:ph type="title"/>
          </p:nvPr>
        </p:nvSpPr>
        <p:spPr/>
        <p:txBody>
          <a:bodyPr/>
          <a:lstStyle/>
          <a:p>
            <a:r>
              <a:rPr lang="en-US" dirty="0"/>
              <a:t>The </a:t>
            </a:r>
            <a:r>
              <a:rPr lang="en-US" dirty="0" err="1">
                <a:solidFill>
                  <a:srgbClr val="FF0000"/>
                </a:solidFill>
              </a:rPr>
              <a:t>strcat</a:t>
            </a:r>
            <a:r>
              <a:rPr lang="en-US" dirty="0">
                <a:solidFill>
                  <a:srgbClr val="FF0000"/>
                </a:solidFill>
              </a:rPr>
              <a:t> </a:t>
            </a:r>
            <a:r>
              <a:rPr lang="en-US" dirty="0"/>
              <a:t>Function</a:t>
            </a:r>
          </a:p>
        </p:txBody>
      </p:sp>
      <p:sp>
        <p:nvSpPr>
          <p:cNvPr id="3" name="Content Placeholder 2">
            <a:extLst>
              <a:ext uri="{FF2B5EF4-FFF2-40B4-BE49-F238E27FC236}">
                <a16:creationId xmlns:a16="http://schemas.microsoft.com/office/drawing/2014/main" id="{9F93A11A-04EA-1624-24D4-989DD46B1C76}"/>
              </a:ext>
            </a:extLst>
          </p:cNvPr>
          <p:cNvSpPr>
            <a:spLocks noGrp="1"/>
          </p:cNvSpPr>
          <p:nvPr>
            <p:ph idx="1"/>
          </p:nvPr>
        </p:nvSpPr>
        <p:spPr/>
        <p:txBody>
          <a:bodyPr/>
          <a:lstStyle/>
          <a:p>
            <a:r>
              <a:rPr lang="en-US" dirty="0"/>
              <a:t>The </a:t>
            </a:r>
            <a:r>
              <a:rPr lang="en-US" dirty="0" err="1">
                <a:solidFill>
                  <a:srgbClr val="FF0000"/>
                </a:solidFill>
              </a:rPr>
              <a:t>strcat</a:t>
            </a:r>
            <a:r>
              <a:rPr lang="en-US" dirty="0"/>
              <a:t> function copies the contents of string2 to the end of string1. </a:t>
            </a:r>
          </a:p>
          <a:p>
            <a:r>
              <a:rPr lang="en-US" dirty="0"/>
              <a:t>In this example, string1 contains the string “Hello ” before the call to </a:t>
            </a:r>
            <a:r>
              <a:rPr lang="en-US" dirty="0" err="1">
                <a:solidFill>
                  <a:srgbClr val="FF0000"/>
                </a:solidFill>
              </a:rPr>
              <a:t>strcat</a:t>
            </a:r>
            <a:r>
              <a:rPr lang="en-US" dirty="0"/>
              <a:t>. After the call, it contains the string “Hello World!”.</a:t>
            </a:r>
          </a:p>
        </p:txBody>
      </p:sp>
      <p:pic>
        <p:nvPicPr>
          <p:cNvPr id="5" name="Picture 4">
            <a:extLst>
              <a:ext uri="{FF2B5EF4-FFF2-40B4-BE49-F238E27FC236}">
                <a16:creationId xmlns:a16="http://schemas.microsoft.com/office/drawing/2014/main" id="{2FD28CDB-9B92-8C10-AA63-A4AB0BF95D94}"/>
              </a:ext>
            </a:extLst>
          </p:cNvPr>
          <p:cNvPicPr>
            <a:picLocks noChangeAspect="1"/>
          </p:cNvPicPr>
          <p:nvPr/>
        </p:nvPicPr>
        <p:blipFill>
          <a:blip r:embed="rId2"/>
          <a:stretch>
            <a:fillRect/>
          </a:stretch>
        </p:blipFill>
        <p:spPr>
          <a:xfrm>
            <a:off x="3765096" y="3663666"/>
            <a:ext cx="4661808" cy="2927181"/>
          </a:xfrm>
          <a:prstGeom prst="rect">
            <a:avLst/>
          </a:prstGeom>
        </p:spPr>
      </p:pic>
    </p:spTree>
    <p:extLst>
      <p:ext uri="{BB962C8B-B14F-4D97-AF65-F5344CB8AC3E}">
        <p14:creationId xmlns:p14="http://schemas.microsoft.com/office/powerpoint/2010/main" val="2991379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C4D02-EB76-EDD8-3D44-188E36367605}"/>
              </a:ext>
            </a:extLst>
          </p:cNvPr>
          <p:cNvSpPr>
            <a:spLocks noGrp="1"/>
          </p:cNvSpPr>
          <p:nvPr>
            <p:ph type="title"/>
          </p:nvPr>
        </p:nvSpPr>
        <p:spPr/>
        <p:txBody>
          <a:bodyPr/>
          <a:lstStyle/>
          <a:p>
            <a:r>
              <a:rPr lang="en-US" dirty="0"/>
              <a:t>The </a:t>
            </a:r>
            <a:r>
              <a:rPr lang="en-US" dirty="0" err="1">
                <a:solidFill>
                  <a:srgbClr val="FF0000"/>
                </a:solidFill>
              </a:rPr>
              <a:t>strcat</a:t>
            </a:r>
            <a:r>
              <a:rPr lang="en-US" dirty="0"/>
              <a:t> Function (contd.)</a:t>
            </a:r>
          </a:p>
        </p:txBody>
      </p:sp>
      <p:sp>
        <p:nvSpPr>
          <p:cNvPr id="3" name="Content Placeholder 2">
            <a:extLst>
              <a:ext uri="{FF2B5EF4-FFF2-40B4-BE49-F238E27FC236}">
                <a16:creationId xmlns:a16="http://schemas.microsoft.com/office/drawing/2014/main" id="{F33B7418-00FB-A56A-D5E0-F1CF7CAB1097}"/>
              </a:ext>
            </a:extLst>
          </p:cNvPr>
          <p:cNvSpPr>
            <a:spLocks noGrp="1"/>
          </p:cNvSpPr>
          <p:nvPr>
            <p:ph idx="1"/>
          </p:nvPr>
        </p:nvSpPr>
        <p:spPr>
          <a:xfrm>
            <a:off x="838200" y="1825625"/>
            <a:ext cx="10817772" cy="4351338"/>
          </a:xfrm>
        </p:spPr>
        <p:txBody>
          <a:bodyPr/>
          <a:lstStyle/>
          <a:p>
            <a:r>
              <a:rPr lang="en-US" dirty="0"/>
              <a:t>Notice that the last character in string1 (before the null terminator) is a space. </a:t>
            </a:r>
          </a:p>
          <a:p>
            <a:r>
              <a:rPr lang="en-US" dirty="0"/>
              <a:t>The </a:t>
            </a:r>
            <a:r>
              <a:rPr lang="en-US" dirty="0" err="1">
                <a:solidFill>
                  <a:srgbClr val="FF0000"/>
                </a:solidFill>
              </a:rPr>
              <a:t>strcat</a:t>
            </a:r>
            <a:r>
              <a:rPr lang="en-US" dirty="0">
                <a:solidFill>
                  <a:srgbClr val="FF0000"/>
                </a:solidFill>
              </a:rPr>
              <a:t> </a:t>
            </a:r>
            <a:r>
              <a:rPr lang="en-US" dirty="0"/>
              <a:t>function doesn’t insert a space, so it’s the programmer’s responsibility to make sure one is already there, if needed. </a:t>
            </a:r>
          </a:p>
          <a:p>
            <a:r>
              <a:rPr lang="en-US" dirty="0"/>
              <a:t>It’s also the programmer’s responsibility to make sure the array holding string1 is large enough to hold string1 plus string2 plus a null terminator. </a:t>
            </a:r>
          </a:p>
        </p:txBody>
      </p:sp>
    </p:spTree>
    <p:extLst>
      <p:ext uri="{BB962C8B-B14F-4D97-AF65-F5344CB8AC3E}">
        <p14:creationId xmlns:p14="http://schemas.microsoft.com/office/powerpoint/2010/main" val="8549376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38783-9B0E-E373-2C54-CAE699675373}"/>
              </a:ext>
            </a:extLst>
          </p:cNvPr>
          <p:cNvSpPr>
            <a:spLocks noGrp="1"/>
          </p:cNvSpPr>
          <p:nvPr>
            <p:ph type="title"/>
          </p:nvPr>
        </p:nvSpPr>
        <p:spPr/>
        <p:txBody>
          <a:bodyPr/>
          <a:lstStyle/>
          <a:p>
            <a:r>
              <a:rPr lang="en-US" dirty="0"/>
              <a:t>The </a:t>
            </a:r>
            <a:r>
              <a:rPr lang="en-US" dirty="0" err="1">
                <a:solidFill>
                  <a:srgbClr val="FF0000"/>
                </a:solidFill>
              </a:rPr>
              <a:t>strcpy</a:t>
            </a:r>
            <a:r>
              <a:rPr lang="en-US" dirty="0">
                <a:solidFill>
                  <a:srgbClr val="FF0000"/>
                </a:solidFill>
              </a:rPr>
              <a:t> </a:t>
            </a:r>
            <a:r>
              <a:rPr lang="en-US" dirty="0"/>
              <a:t>Function</a:t>
            </a:r>
          </a:p>
        </p:txBody>
      </p:sp>
      <p:sp>
        <p:nvSpPr>
          <p:cNvPr id="3" name="Content Placeholder 2">
            <a:extLst>
              <a:ext uri="{FF2B5EF4-FFF2-40B4-BE49-F238E27FC236}">
                <a16:creationId xmlns:a16="http://schemas.microsoft.com/office/drawing/2014/main" id="{2D3BE2A1-78D5-55CF-2E40-AB1CD7D97F0D}"/>
              </a:ext>
            </a:extLst>
          </p:cNvPr>
          <p:cNvSpPr>
            <a:spLocks noGrp="1"/>
          </p:cNvSpPr>
          <p:nvPr>
            <p:ph idx="1"/>
          </p:nvPr>
        </p:nvSpPr>
        <p:spPr/>
        <p:txBody>
          <a:bodyPr/>
          <a:lstStyle/>
          <a:p>
            <a:r>
              <a:rPr lang="en-US" dirty="0"/>
              <a:t>The </a:t>
            </a:r>
            <a:r>
              <a:rPr lang="en-US" dirty="0" err="1">
                <a:solidFill>
                  <a:srgbClr val="FF0000"/>
                </a:solidFill>
              </a:rPr>
              <a:t>strcpy</a:t>
            </a:r>
            <a:r>
              <a:rPr lang="en-US" dirty="0"/>
              <a:t> function can be used to copy one C-string to another.</a:t>
            </a:r>
          </a:p>
          <a:p>
            <a:endParaRPr lang="en-US" dirty="0"/>
          </a:p>
          <a:p>
            <a:endParaRPr lang="en-US" dirty="0"/>
          </a:p>
          <a:p>
            <a:endParaRPr lang="en-US" dirty="0"/>
          </a:p>
          <a:p>
            <a:endParaRPr lang="en-US" dirty="0"/>
          </a:p>
          <a:p>
            <a:r>
              <a:rPr lang="en-US" dirty="0" err="1">
                <a:solidFill>
                  <a:srgbClr val="FF0000"/>
                </a:solidFill>
              </a:rPr>
              <a:t>strcpy</a:t>
            </a:r>
            <a:r>
              <a:rPr lang="en-US" dirty="0"/>
              <a:t> performs no bounds checking. </a:t>
            </a:r>
          </a:p>
          <a:p>
            <a:r>
              <a:rPr lang="en-US" dirty="0"/>
              <a:t>The array specified by the first argument will be overflowed if it isn’t large enough to hold the string specified by the second argument. </a:t>
            </a:r>
          </a:p>
        </p:txBody>
      </p:sp>
      <p:pic>
        <p:nvPicPr>
          <p:cNvPr id="4" name="Picture 3">
            <a:extLst>
              <a:ext uri="{FF2B5EF4-FFF2-40B4-BE49-F238E27FC236}">
                <a16:creationId xmlns:a16="http://schemas.microsoft.com/office/drawing/2014/main" id="{99F296E7-369E-AB7D-3B47-3DA138410981}"/>
              </a:ext>
            </a:extLst>
          </p:cNvPr>
          <p:cNvPicPr>
            <a:picLocks noChangeAspect="1"/>
          </p:cNvPicPr>
          <p:nvPr/>
        </p:nvPicPr>
        <p:blipFill>
          <a:blip r:embed="rId2"/>
          <a:stretch>
            <a:fillRect/>
          </a:stretch>
        </p:blipFill>
        <p:spPr>
          <a:xfrm>
            <a:off x="5976257" y="2417987"/>
            <a:ext cx="3369915" cy="1472293"/>
          </a:xfrm>
          <a:prstGeom prst="rect">
            <a:avLst/>
          </a:prstGeom>
        </p:spPr>
      </p:pic>
      <p:pic>
        <p:nvPicPr>
          <p:cNvPr id="5" name="Picture 4">
            <a:extLst>
              <a:ext uri="{FF2B5EF4-FFF2-40B4-BE49-F238E27FC236}">
                <a16:creationId xmlns:a16="http://schemas.microsoft.com/office/drawing/2014/main" id="{D7F14CC8-E819-94C7-9174-12C92F6AA0F1}"/>
              </a:ext>
            </a:extLst>
          </p:cNvPr>
          <p:cNvPicPr>
            <a:picLocks noChangeAspect="1"/>
          </p:cNvPicPr>
          <p:nvPr/>
        </p:nvPicPr>
        <p:blipFill>
          <a:blip r:embed="rId3"/>
          <a:stretch>
            <a:fillRect/>
          </a:stretch>
        </p:blipFill>
        <p:spPr>
          <a:xfrm>
            <a:off x="1608565" y="2544081"/>
            <a:ext cx="3717070" cy="1220107"/>
          </a:xfrm>
          <a:prstGeom prst="rect">
            <a:avLst/>
          </a:prstGeom>
        </p:spPr>
      </p:pic>
    </p:spTree>
    <p:extLst>
      <p:ext uri="{BB962C8B-B14F-4D97-AF65-F5344CB8AC3E}">
        <p14:creationId xmlns:p14="http://schemas.microsoft.com/office/powerpoint/2010/main" val="1023960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47F24-ADAC-CC41-8851-2093B66AED20}"/>
              </a:ext>
            </a:extLst>
          </p:cNvPr>
          <p:cNvSpPr>
            <a:spLocks noGrp="1"/>
          </p:cNvSpPr>
          <p:nvPr>
            <p:ph type="title"/>
          </p:nvPr>
        </p:nvSpPr>
        <p:spPr/>
        <p:txBody>
          <a:bodyPr/>
          <a:lstStyle/>
          <a:p>
            <a:r>
              <a:rPr lang="en-US" dirty="0"/>
              <a:t>Comparing C-Strings</a:t>
            </a:r>
          </a:p>
        </p:txBody>
      </p:sp>
      <p:sp>
        <p:nvSpPr>
          <p:cNvPr id="3" name="Content Placeholder 2">
            <a:extLst>
              <a:ext uri="{FF2B5EF4-FFF2-40B4-BE49-F238E27FC236}">
                <a16:creationId xmlns:a16="http://schemas.microsoft.com/office/drawing/2014/main" id="{C89C7F2B-67D6-800E-ED11-A961A5A357C1}"/>
              </a:ext>
            </a:extLst>
          </p:cNvPr>
          <p:cNvSpPr>
            <a:spLocks noGrp="1"/>
          </p:cNvSpPr>
          <p:nvPr>
            <p:ph idx="1"/>
          </p:nvPr>
        </p:nvSpPr>
        <p:spPr/>
        <p:txBody>
          <a:bodyPr/>
          <a:lstStyle/>
          <a:p>
            <a:r>
              <a:rPr lang="en-US" dirty="0"/>
              <a:t>The assignment and relational operators work with the C++ string class because they have been overloaded to work with that class.</a:t>
            </a:r>
          </a:p>
          <a:p>
            <a:r>
              <a:rPr lang="en-US" dirty="0"/>
              <a:t>However, just as the assignment operator cannot be used to assign to C-strings, the relational operators &lt;=, &lt;, &gt;, &gt;=, !=, and == cannot be used to compare C-strings. </a:t>
            </a:r>
          </a:p>
          <a:p>
            <a:r>
              <a:rPr lang="en-US" dirty="0"/>
              <a:t>This is because when used with C-strings, these operators compare the addresses at which the C-strings are stored instead of comparing the actual sequence of characters that comprise the C-string</a:t>
            </a:r>
          </a:p>
        </p:txBody>
      </p:sp>
    </p:spTree>
    <p:extLst>
      <p:ext uri="{BB962C8B-B14F-4D97-AF65-F5344CB8AC3E}">
        <p14:creationId xmlns:p14="http://schemas.microsoft.com/office/powerpoint/2010/main" val="9556792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9CFC6-6FB3-28F7-CB1F-0DDE60F1714B}"/>
              </a:ext>
            </a:extLst>
          </p:cNvPr>
          <p:cNvSpPr>
            <a:spLocks noGrp="1"/>
          </p:cNvSpPr>
          <p:nvPr>
            <p:ph type="title"/>
          </p:nvPr>
        </p:nvSpPr>
        <p:spPr/>
        <p:txBody>
          <a:bodyPr/>
          <a:lstStyle/>
          <a:p>
            <a:r>
              <a:rPr lang="en-US" dirty="0"/>
              <a:t>The </a:t>
            </a:r>
            <a:r>
              <a:rPr lang="en-US" i="1" dirty="0" err="1">
                <a:solidFill>
                  <a:srgbClr val="FF0000"/>
                </a:solidFill>
              </a:rPr>
              <a:t>strcmp</a:t>
            </a:r>
            <a:r>
              <a:rPr lang="en-US" dirty="0"/>
              <a:t> Function</a:t>
            </a:r>
          </a:p>
        </p:txBody>
      </p:sp>
      <p:sp>
        <p:nvSpPr>
          <p:cNvPr id="3" name="Content Placeholder 2">
            <a:extLst>
              <a:ext uri="{FF2B5EF4-FFF2-40B4-BE49-F238E27FC236}">
                <a16:creationId xmlns:a16="http://schemas.microsoft.com/office/drawing/2014/main" id="{B591946C-CB32-F40F-961B-62E23FA94744}"/>
              </a:ext>
            </a:extLst>
          </p:cNvPr>
          <p:cNvSpPr>
            <a:spLocks noGrp="1"/>
          </p:cNvSpPr>
          <p:nvPr>
            <p:ph idx="1"/>
          </p:nvPr>
        </p:nvSpPr>
        <p:spPr/>
        <p:txBody>
          <a:bodyPr/>
          <a:lstStyle/>
          <a:p>
            <a:r>
              <a:rPr lang="en-US" dirty="0"/>
              <a:t>To properly compare C-strings, you should use the library function </a:t>
            </a:r>
            <a:r>
              <a:rPr lang="en-US" dirty="0" err="1">
                <a:solidFill>
                  <a:srgbClr val="FF0000"/>
                </a:solidFill>
              </a:rPr>
              <a:t>strcmp</a:t>
            </a:r>
            <a:r>
              <a:rPr lang="en-US" dirty="0">
                <a:solidFill>
                  <a:srgbClr val="FF0000"/>
                </a:solidFill>
              </a:rPr>
              <a:t>. </a:t>
            </a:r>
          </a:p>
          <a:p>
            <a:r>
              <a:rPr lang="en-US" dirty="0"/>
              <a:t>This function takes two C-strings as parameters and returns an integer that indicates how the two strings compare to each other.</a:t>
            </a:r>
          </a:p>
          <a:p>
            <a:r>
              <a:rPr lang="en-US" dirty="0">
                <a:solidFill>
                  <a:srgbClr val="333333"/>
                </a:solidFill>
                <a:effectLst/>
              </a:rPr>
              <a:t>Prototype: </a:t>
            </a:r>
            <a:r>
              <a:rPr lang="en-US" b="1" i="1" dirty="0">
                <a:solidFill>
                  <a:srgbClr val="FF0000"/>
                </a:solidFill>
                <a:effectLst/>
              </a:rPr>
              <a:t>int</a:t>
            </a:r>
            <a:r>
              <a:rPr lang="en-US" i="1" dirty="0">
                <a:solidFill>
                  <a:srgbClr val="FF0000"/>
                </a:solidFill>
              </a:rPr>
              <a:t> </a:t>
            </a:r>
            <a:r>
              <a:rPr lang="en-US" b="1" i="1" dirty="0" err="1">
                <a:solidFill>
                  <a:srgbClr val="FF0000"/>
                </a:solidFill>
                <a:effectLst/>
              </a:rPr>
              <a:t>strcmp</a:t>
            </a:r>
            <a:r>
              <a:rPr lang="en-US" i="1" dirty="0">
                <a:solidFill>
                  <a:srgbClr val="FF0000"/>
                </a:solidFill>
              </a:rPr>
              <a:t>(</a:t>
            </a:r>
            <a:r>
              <a:rPr lang="en-US" b="1" i="1" dirty="0">
                <a:solidFill>
                  <a:srgbClr val="FF0000"/>
                </a:solidFill>
                <a:effectLst/>
              </a:rPr>
              <a:t>char</a:t>
            </a:r>
            <a:r>
              <a:rPr lang="en-US" i="1" dirty="0">
                <a:solidFill>
                  <a:srgbClr val="FF0000"/>
                </a:solidFill>
              </a:rPr>
              <a:t> *string1, </a:t>
            </a:r>
            <a:r>
              <a:rPr lang="en-US" b="1" i="1" dirty="0">
                <a:solidFill>
                  <a:srgbClr val="FF0000"/>
                </a:solidFill>
                <a:effectLst/>
              </a:rPr>
              <a:t>char</a:t>
            </a:r>
            <a:r>
              <a:rPr lang="en-US" i="1" dirty="0">
                <a:solidFill>
                  <a:srgbClr val="FF0000"/>
                </a:solidFill>
              </a:rPr>
              <a:t> *string2); </a:t>
            </a:r>
          </a:p>
          <a:p>
            <a:r>
              <a:rPr lang="en-US" dirty="0"/>
              <a:t>The function takes two C-strings as parameters (recall that char * is the type of C-string) and returns an integer result. </a:t>
            </a:r>
            <a:endParaRPr lang="en-US" i="1" dirty="0">
              <a:solidFill>
                <a:srgbClr val="FF0000"/>
              </a:solidFill>
            </a:endParaRPr>
          </a:p>
        </p:txBody>
      </p:sp>
    </p:spTree>
    <p:extLst>
      <p:ext uri="{BB962C8B-B14F-4D97-AF65-F5344CB8AC3E}">
        <p14:creationId xmlns:p14="http://schemas.microsoft.com/office/powerpoint/2010/main" val="29032587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A463C-23D5-3185-2E30-B377B148B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A8BE8-45EF-0020-DA28-B2F87EDDA824}"/>
              </a:ext>
            </a:extLst>
          </p:cNvPr>
          <p:cNvSpPr>
            <a:spLocks noGrp="1"/>
          </p:cNvSpPr>
          <p:nvPr>
            <p:ph type="title"/>
          </p:nvPr>
        </p:nvSpPr>
        <p:spPr/>
        <p:txBody>
          <a:bodyPr/>
          <a:lstStyle/>
          <a:p>
            <a:r>
              <a:rPr lang="en-US" dirty="0"/>
              <a:t>The </a:t>
            </a:r>
            <a:r>
              <a:rPr lang="en-US" i="1" dirty="0" err="1">
                <a:solidFill>
                  <a:srgbClr val="FF0000"/>
                </a:solidFill>
              </a:rPr>
              <a:t>strcmp</a:t>
            </a:r>
            <a:r>
              <a:rPr lang="en-US" dirty="0"/>
              <a:t> Function</a:t>
            </a:r>
          </a:p>
        </p:txBody>
      </p:sp>
      <p:sp>
        <p:nvSpPr>
          <p:cNvPr id="3" name="Content Placeholder 2">
            <a:extLst>
              <a:ext uri="{FF2B5EF4-FFF2-40B4-BE49-F238E27FC236}">
                <a16:creationId xmlns:a16="http://schemas.microsoft.com/office/drawing/2014/main" id="{5E8CF1AF-2C4C-F7FC-E5BC-308B4D22C2FC}"/>
              </a:ext>
            </a:extLst>
          </p:cNvPr>
          <p:cNvSpPr>
            <a:spLocks noGrp="1"/>
          </p:cNvSpPr>
          <p:nvPr>
            <p:ph idx="1"/>
          </p:nvPr>
        </p:nvSpPr>
        <p:spPr/>
        <p:txBody>
          <a:bodyPr/>
          <a:lstStyle/>
          <a:p>
            <a:pPr marL="0" indent="0" algn="l">
              <a:buNone/>
            </a:pPr>
            <a:r>
              <a:rPr lang="en-US" dirty="0">
                <a:effectLst/>
              </a:rPr>
              <a:t>The value of the result is set according to the following convention:</a:t>
            </a:r>
          </a:p>
          <a:p>
            <a:pPr>
              <a:buFont typeface="Arial" panose="020B0604020202020204" pitchFamily="34" charset="0"/>
              <a:buChar char="•"/>
            </a:pPr>
            <a:r>
              <a:rPr lang="en-US" dirty="0"/>
              <a:t>The result is </a:t>
            </a:r>
            <a:r>
              <a:rPr lang="en-US" i="1" dirty="0"/>
              <a:t>zero</a:t>
            </a:r>
            <a:r>
              <a:rPr lang="en-US" dirty="0"/>
              <a:t> if the two strings are </a:t>
            </a:r>
            <a:r>
              <a:rPr lang="en-US" i="1" dirty="0"/>
              <a:t>equal</a:t>
            </a:r>
            <a:r>
              <a:rPr lang="en-US" dirty="0"/>
              <a:t> on a character-by-character basis.</a:t>
            </a:r>
          </a:p>
          <a:p>
            <a:pPr>
              <a:buFont typeface="Arial" panose="020B0604020202020204" pitchFamily="34" charset="0"/>
              <a:buChar char="•"/>
            </a:pPr>
            <a:r>
              <a:rPr lang="en-US" dirty="0"/>
              <a:t>The result is </a:t>
            </a:r>
            <a:r>
              <a:rPr lang="en-US" i="1" dirty="0"/>
              <a:t>negative</a:t>
            </a:r>
            <a:r>
              <a:rPr lang="en-US" dirty="0"/>
              <a:t> if string1 comes </a:t>
            </a:r>
            <a:r>
              <a:rPr lang="en-US" i="1" dirty="0"/>
              <a:t>before</a:t>
            </a:r>
            <a:r>
              <a:rPr lang="en-US" dirty="0"/>
              <a:t> string2 in alphabetical order.</a:t>
            </a:r>
          </a:p>
          <a:p>
            <a:pPr>
              <a:buFont typeface="Arial" panose="020B0604020202020204" pitchFamily="34" charset="0"/>
              <a:buChar char="•"/>
            </a:pPr>
            <a:r>
              <a:rPr lang="en-US" dirty="0"/>
              <a:t>The result is </a:t>
            </a:r>
            <a:r>
              <a:rPr lang="en-US" i="1" dirty="0"/>
              <a:t>positive</a:t>
            </a:r>
            <a:r>
              <a:rPr lang="en-US" dirty="0"/>
              <a:t> if string1 comes </a:t>
            </a:r>
            <a:r>
              <a:rPr lang="en-US" i="1" dirty="0"/>
              <a:t>after</a:t>
            </a:r>
            <a:r>
              <a:rPr lang="en-US" dirty="0"/>
              <a:t> string2 in alphabetical order.</a:t>
            </a:r>
          </a:p>
        </p:txBody>
      </p:sp>
    </p:spTree>
    <p:extLst>
      <p:ext uri="{BB962C8B-B14F-4D97-AF65-F5344CB8AC3E}">
        <p14:creationId xmlns:p14="http://schemas.microsoft.com/office/powerpoint/2010/main" val="1362147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2D94C-6943-94EA-07A3-784A8B11DFA2}"/>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632B7C46-37A0-B3D8-E4A7-8CE73C7E4604}"/>
              </a:ext>
            </a:extLst>
          </p:cNvPr>
          <p:cNvPicPr>
            <a:picLocks noChangeAspect="1"/>
          </p:cNvPicPr>
          <p:nvPr/>
        </p:nvPicPr>
        <p:blipFill>
          <a:blip r:embed="rId2"/>
          <a:stretch>
            <a:fillRect/>
          </a:stretch>
        </p:blipFill>
        <p:spPr>
          <a:xfrm>
            <a:off x="5902778" y="168577"/>
            <a:ext cx="5559879" cy="6520846"/>
          </a:xfrm>
          <a:prstGeom prst="rect">
            <a:avLst/>
          </a:prstGeom>
        </p:spPr>
      </p:pic>
      <p:pic>
        <p:nvPicPr>
          <p:cNvPr id="5" name="Picture 4">
            <a:extLst>
              <a:ext uri="{FF2B5EF4-FFF2-40B4-BE49-F238E27FC236}">
                <a16:creationId xmlns:a16="http://schemas.microsoft.com/office/drawing/2014/main" id="{C84A1E35-03D7-ABD7-C03B-8EEF3597265C}"/>
              </a:ext>
            </a:extLst>
          </p:cNvPr>
          <p:cNvPicPr>
            <a:picLocks noChangeAspect="1"/>
          </p:cNvPicPr>
          <p:nvPr/>
        </p:nvPicPr>
        <p:blipFill>
          <a:blip r:embed="rId3"/>
          <a:stretch>
            <a:fillRect/>
          </a:stretch>
        </p:blipFill>
        <p:spPr>
          <a:xfrm>
            <a:off x="838200" y="3036207"/>
            <a:ext cx="4346610" cy="1325562"/>
          </a:xfrm>
          <a:prstGeom prst="rect">
            <a:avLst/>
          </a:prstGeom>
        </p:spPr>
      </p:pic>
    </p:spTree>
    <p:extLst>
      <p:ext uri="{BB962C8B-B14F-4D97-AF65-F5344CB8AC3E}">
        <p14:creationId xmlns:p14="http://schemas.microsoft.com/office/powerpoint/2010/main" val="1917345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10933-C5B8-9C11-7C1B-ACC0420C33AC}"/>
              </a:ext>
            </a:extLst>
          </p:cNvPr>
          <p:cNvSpPr>
            <a:spLocks noGrp="1"/>
          </p:cNvSpPr>
          <p:nvPr>
            <p:ph type="title"/>
          </p:nvPr>
        </p:nvSpPr>
        <p:spPr/>
        <p:txBody>
          <a:bodyPr/>
          <a:lstStyle/>
          <a:p>
            <a:r>
              <a:rPr lang="en-US" dirty="0"/>
              <a:t>The </a:t>
            </a:r>
            <a:r>
              <a:rPr lang="en-US" i="1" dirty="0" err="1">
                <a:solidFill>
                  <a:srgbClr val="FF0000"/>
                </a:solidFill>
              </a:rPr>
              <a:t>strcmp</a:t>
            </a:r>
            <a:r>
              <a:rPr lang="en-US" dirty="0"/>
              <a:t> Function</a:t>
            </a:r>
          </a:p>
        </p:txBody>
      </p:sp>
      <p:sp>
        <p:nvSpPr>
          <p:cNvPr id="3" name="Content Placeholder 2">
            <a:extLst>
              <a:ext uri="{FF2B5EF4-FFF2-40B4-BE49-F238E27FC236}">
                <a16:creationId xmlns:a16="http://schemas.microsoft.com/office/drawing/2014/main" id="{37961942-B528-7C13-5BFF-AE388CB6BAF0}"/>
              </a:ext>
            </a:extLst>
          </p:cNvPr>
          <p:cNvSpPr>
            <a:spLocks noGrp="1"/>
          </p:cNvSpPr>
          <p:nvPr>
            <p:ph idx="1"/>
          </p:nvPr>
        </p:nvSpPr>
        <p:spPr/>
        <p:txBody>
          <a:bodyPr/>
          <a:lstStyle/>
          <a:p>
            <a:r>
              <a:rPr lang="en-US" dirty="0"/>
              <a:t>The function </a:t>
            </a:r>
            <a:r>
              <a:rPr lang="en-US" dirty="0" err="1"/>
              <a:t>strcmp</a:t>
            </a:r>
            <a:r>
              <a:rPr lang="en-US" dirty="0"/>
              <a:t> is case sensitive when it compares strings. If the user enters “Dog” and “dog”, it will report they are not the same. </a:t>
            </a:r>
          </a:p>
          <a:p>
            <a:r>
              <a:rPr lang="en-US" dirty="0"/>
              <a:t>Some compilers provide nonstandard versions of </a:t>
            </a:r>
            <a:r>
              <a:rPr lang="en-US" dirty="0" err="1">
                <a:solidFill>
                  <a:srgbClr val="FF0000"/>
                </a:solidFill>
              </a:rPr>
              <a:t>strcmp</a:t>
            </a:r>
            <a:r>
              <a:rPr lang="en-US" dirty="0"/>
              <a:t> that perform case-insensitive comparisons. </a:t>
            </a:r>
          </a:p>
          <a:p>
            <a:r>
              <a:rPr lang="en-US" dirty="0"/>
              <a:t>Such functions work identically to </a:t>
            </a:r>
            <a:r>
              <a:rPr lang="en-US" dirty="0" err="1">
                <a:solidFill>
                  <a:srgbClr val="FF0000"/>
                </a:solidFill>
              </a:rPr>
              <a:t>strcmp</a:t>
            </a:r>
            <a:r>
              <a:rPr lang="en-US" dirty="0"/>
              <a:t> except the case of the characters is ignored.</a:t>
            </a:r>
          </a:p>
        </p:txBody>
      </p:sp>
    </p:spTree>
    <p:extLst>
      <p:ext uri="{BB962C8B-B14F-4D97-AF65-F5344CB8AC3E}">
        <p14:creationId xmlns:p14="http://schemas.microsoft.com/office/powerpoint/2010/main" val="33593958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0C0B6-C2A4-052A-36EF-A106C20F3435}"/>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1C89FBCE-68C2-BEE3-680F-AA2FC4D2FBCC}"/>
              </a:ext>
            </a:extLst>
          </p:cNvPr>
          <p:cNvPicPr>
            <a:picLocks noChangeAspect="1"/>
          </p:cNvPicPr>
          <p:nvPr/>
        </p:nvPicPr>
        <p:blipFill>
          <a:blip r:embed="rId2"/>
          <a:stretch>
            <a:fillRect/>
          </a:stretch>
        </p:blipFill>
        <p:spPr>
          <a:xfrm>
            <a:off x="6580415" y="0"/>
            <a:ext cx="3913414" cy="6840112"/>
          </a:xfrm>
          <a:prstGeom prst="rect">
            <a:avLst/>
          </a:prstGeom>
        </p:spPr>
      </p:pic>
      <p:pic>
        <p:nvPicPr>
          <p:cNvPr id="5" name="Picture 4">
            <a:extLst>
              <a:ext uri="{FF2B5EF4-FFF2-40B4-BE49-F238E27FC236}">
                <a16:creationId xmlns:a16="http://schemas.microsoft.com/office/drawing/2014/main" id="{8BFCB71C-870A-3482-2DA4-220F0D0D8D88}"/>
              </a:ext>
            </a:extLst>
          </p:cNvPr>
          <p:cNvPicPr>
            <a:picLocks noChangeAspect="1"/>
          </p:cNvPicPr>
          <p:nvPr/>
        </p:nvPicPr>
        <p:blipFill>
          <a:blip r:embed="rId3"/>
          <a:stretch>
            <a:fillRect/>
          </a:stretch>
        </p:blipFill>
        <p:spPr>
          <a:xfrm>
            <a:off x="1311729" y="2711450"/>
            <a:ext cx="4026702" cy="1849664"/>
          </a:xfrm>
          <a:prstGeom prst="rect">
            <a:avLst/>
          </a:prstGeom>
        </p:spPr>
      </p:pic>
    </p:spTree>
    <p:extLst>
      <p:ext uri="{BB962C8B-B14F-4D97-AF65-F5344CB8AC3E}">
        <p14:creationId xmlns:p14="http://schemas.microsoft.com/office/powerpoint/2010/main" val="17460549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2C273-58B2-056D-A0F9-9571D4B55266}"/>
              </a:ext>
            </a:extLst>
          </p:cNvPr>
          <p:cNvSpPr>
            <a:spLocks noGrp="1"/>
          </p:cNvSpPr>
          <p:nvPr>
            <p:ph type="title"/>
          </p:nvPr>
        </p:nvSpPr>
        <p:spPr/>
        <p:txBody>
          <a:bodyPr/>
          <a:lstStyle/>
          <a:p>
            <a:r>
              <a:rPr lang="en-US" dirty="0"/>
              <a:t>Using ! with </a:t>
            </a:r>
            <a:r>
              <a:rPr lang="en-US" dirty="0" err="1"/>
              <a:t>strcmp</a:t>
            </a:r>
            <a:endParaRPr lang="en-US" dirty="0"/>
          </a:p>
        </p:txBody>
      </p:sp>
      <p:sp>
        <p:nvSpPr>
          <p:cNvPr id="3" name="Content Placeholder 2">
            <a:extLst>
              <a:ext uri="{FF2B5EF4-FFF2-40B4-BE49-F238E27FC236}">
                <a16:creationId xmlns:a16="http://schemas.microsoft.com/office/drawing/2014/main" id="{6B546B37-6095-3454-2EC8-F56FD0ECFAFC}"/>
              </a:ext>
            </a:extLst>
          </p:cNvPr>
          <p:cNvSpPr>
            <a:spLocks noGrp="1"/>
          </p:cNvSpPr>
          <p:nvPr>
            <p:ph idx="1"/>
          </p:nvPr>
        </p:nvSpPr>
        <p:spPr/>
        <p:txBody>
          <a:bodyPr/>
          <a:lstStyle/>
          <a:p>
            <a:r>
              <a:rPr lang="en-US" dirty="0"/>
              <a:t>Some programmers prefer to use the logical </a:t>
            </a:r>
            <a:r>
              <a:rPr lang="en-US" dirty="0">
                <a:solidFill>
                  <a:srgbClr val="FF0000"/>
                </a:solidFill>
              </a:rPr>
              <a:t>NOT </a:t>
            </a:r>
            <a:r>
              <a:rPr lang="en-US" dirty="0"/>
              <a:t>operator with </a:t>
            </a:r>
            <a:r>
              <a:rPr lang="en-US" dirty="0" err="1">
                <a:solidFill>
                  <a:srgbClr val="FF0000"/>
                </a:solidFill>
              </a:rPr>
              <a:t>strcmp</a:t>
            </a:r>
            <a:r>
              <a:rPr lang="en-US" dirty="0"/>
              <a:t> when testing strings for equality. </a:t>
            </a:r>
          </a:p>
          <a:p>
            <a:r>
              <a:rPr lang="en-US" dirty="0"/>
              <a:t>Since 0 is considered logically false, the ! operator converts that value to true. </a:t>
            </a:r>
          </a:p>
          <a:p>
            <a:r>
              <a:rPr lang="en-US" dirty="0"/>
              <a:t>The expression </a:t>
            </a:r>
            <a:r>
              <a:rPr lang="en-US" i="1" dirty="0">
                <a:solidFill>
                  <a:srgbClr val="FF0000"/>
                </a:solidFill>
              </a:rPr>
              <a:t>!</a:t>
            </a:r>
            <a:r>
              <a:rPr lang="en-US" i="1" dirty="0" err="1">
                <a:solidFill>
                  <a:srgbClr val="FF0000"/>
                </a:solidFill>
              </a:rPr>
              <a:t>strcmp</a:t>
            </a:r>
            <a:r>
              <a:rPr lang="en-US" i="1" dirty="0">
                <a:solidFill>
                  <a:srgbClr val="FF0000"/>
                </a:solidFill>
              </a:rPr>
              <a:t>(string1, string2) </a:t>
            </a:r>
            <a:r>
              <a:rPr lang="en-US" dirty="0"/>
              <a:t>will return true when both strings are the same and false when they are different. </a:t>
            </a:r>
          </a:p>
          <a:p>
            <a:r>
              <a:rPr lang="en-US" dirty="0"/>
              <a:t>The two following statements have exactly the same effect when executed.</a:t>
            </a:r>
          </a:p>
        </p:txBody>
      </p:sp>
      <p:pic>
        <p:nvPicPr>
          <p:cNvPr id="4" name="Picture 3">
            <a:extLst>
              <a:ext uri="{FF2B5EF4-FFF2-40B4-BE49-F238E27FC236}">
                <a16:creationId xmlns:a16="http://schemas.microsoft.com/office/drawing/2014/main" id="{FA90353B-471C-E1ED-120C-0B0685B69B05}"/>
              </a:ext>
            </a:extLst>
          </p:cNvPr>
          <p:cNvPicPr>
            <a:picLocks noChangeAspect="1"/>
          </p:cNvPicPr>
          <p:nvPr/>
        </p:nvPicPr>
        <p:blipFill>
          <a:blip r:embed="rId2"/>
          <a:stretch>
            <a:fillRect/>
          </a:stretch>
        </p:blipFill>
        <p:spPr>
          <a:xfrm>
            <a:off x="2538047" y="5528127"/>
            <a:ext cx="7115905" cy="1101271"/>
          </a:xfrm>
          <a:prstGeom prst="rect">
            <a:avLst/>
          </a:prstGeom>
        </p:spPr>
      </p:pic>
    </p:spTree>
    <p:extLst>
      <p:ext uri="{BB962C8B-B14F-4D97-AF65-F5344CB8AC3E}">
        <p14:creationId xmlns:p14="http://schemas.microsoft.com/office/powerpoint/2010/main" val="33387098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B05C0-E6F4-944A-3969-C8AD41429356}"/>
              </a:ext>
            </a:extLst>
          </p:cNvPr>
          <p:cNvSpPr>
            <a:spLocks noGrp="1"/>
          </p:cNvSpPr>
          <p:nvPr>
            <p:ph type="title"/>
          </p:nvPr>
        </p:nvSpPr>
        <p:spPr/>
        <p:txBody>
          <a:bodyPr/>
          <a:lstStyle/>
          <a:p>
            <a:r>
              <a:rPr lang="en-US" dirty="0"/>
              <a:t>Sorting Strings</a:t>
            </a:r>
          </a:p>
        </p:txBody>
      </p:sp>
      <p:sp>
        <p:nvSpPr>
          <p:cNvPr id="3" name="Content Placeholder 2">
            <a:extLst>
              <a:ext uri="{FF2B5EF4-FFF2-40B4-BE49-F238E27FC236}">
                <a16:creationId xmlns:a16="http://schemas.microsoft.com/office/drawing/2014/main" id="{7964EFD3-ED4E-01F4-9A55-D8F61D077E9D}"/>
              </a:ext>
            </a:extLst>
          </p:cNvPr>
          <p:cNvSpPr>
            <a:spLocks noGrp="1"/>
          </p:cNvSpPr>
          <p:nvPr>
            <p:ph idx="1"/>
          </p:nvPr>
        </p:nvSpPr>
        <p:spPr/>
        <p:txBody>
          <a:bodyPr/>
          <a:lstStyle/>
          <a:p>
            <a:r>
              <a:rPr lang="en-US" dirty="0"/>
              <a:t>Because </a:t>
            </a:r>
            <a:r>
              <a:rPr lang="en-US" i="1" dirty="0" err="1">
                <a:solidFill>
                  <a:srgbClr val="FF0000"/>
                </a:solidFill>
              </a:rPr>
              <a:t>strcmp</a:t>
            </a:r>
            <a:r>
              <a:rPr lang="en-US" dirty="0"/>
              <a:t> returns information on the relative alphabetic order of the two strings being compared, it can be used to sort lists of C-strings.</a:t>
            </a:r>
          </a:p>
          <a:p>
            <a:r>
              <a:rPr lang="en-US" dirty="0"/>
              <a:t>Let’s see an example:</a:t>
            </a:r>
          </a:p>
        </p:txBody>
      </p:sp>
    </p:spTree>
    <p:extLst>
      <p:ext uri="{BB962C8B-B14F-4D97-AF65-F5344CB8AC3E}">
        <p14:creationId xmlns:p14="http://schemas.microsoft.com/office/powerpoint/2010/main" val="3813538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779F8-83B6-0DB9-FA54-5CDEF60E7131}"/>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4A63F6C2-3DB7-2566-E7C2-B06C50A6EA43}"/>
              </a:ext>
            </a:extLst>
          </p:cNvPr>
          <p:cNvPicPr>
            <a:picLocks noChangeAspect="1"/>
          </p:cNvPicPr>
          <p:nvPr/>
        </p:nvPicPr>
        <p:blipFill>
          <a:blip r:embed="rId2"/>
          <a:stretch>
            <a:fillRect/>
          </a:stretch>
        </p:blipFill>
        <p:spPr>
          <a:xfrm>
            <a:off x="6360886" y="365125"/>
            <a:ext cx="4992914" cy="6495019"/>
          </a:xfrm>
          <a:prstGeom prst="rect">
            <a:avLst/>
          </a:prstGeom>
        </p:spPr>
      </p:pic>
      <p:pic>
        <p:nvPicPr>
          <p:cNvPr id="5" name="Picture 4">
            <a:extLst>
              <a:ext uri="{FF2B5EF4-FFF2-40B4-BE49-F238E27FC236}">
                <a16:creationId xmlns:a16="http://schemas.microsoft.com/office/drawing/2014/main" id="{FE84C689-184E-7FE8-E906-1C155EFACDED}"/>
              </a:ext>
            </a:extLst>
          </p:cNvPr>
          <p:cNvPicPr>
            <a:picLocks noChangeAspect="1"/>
          </p:cNvPicPr>
          <p:nvPr/>
        </p:nvPicPr>
        <p:blipFill>
          <a:blip r:embed="rId3"/>
          <a:stretch>
            <a:fillRect/>
          </a:stretch>
        </p:blipFill>
        <p:spPr>
          <a:xfrm>
            <a:off x="817083" y="2804886"/>
            <a:ext cx="5014032" cy="2071914"/>
          </a:xfrm>
          <a:prstGeom prst="rect">
            <a:avLst/>
          </a:prstGeom>
        </p:spPr>
      </p:pic>
    </p:spTree>
    <p:extLst>
      <p:ext uri="{BB962C8B-B14F-4D97-AF65-F5344CB8AC3E}">
        <p14:creationId xmlns:p14="http://schemas.microsoft.com/office/powerpoint/2010/main" val="36688887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8A987-5A4F-3369-CAAB-702E3908F1AB}"/>
              </a:ext>
            </a:extLst>
          </p:cNvPr>
          <p:cNvSpPr>
            <a:spLocks noGrp="1"/>
          </p:cNvSpPr>
          <p:nvPr>
            <p:ph type="title"/>
          </p:nvPr>
        </p:nvSpPr>
        <p:spPr/>
        <p:txBody>
          <a:bodyPr/>
          <a:lstStyle/>
          <a:p>
            <a:r>
              <a:rPr lang="en-US" dirty="0"/>
              <a:t>Summary table</a:t>
            </a:r>
          </a:p>
        </p:txBody>
      </p:sp>
      <p:pic>
        <p:nvPicPr>
          <p:cNvPr id="4" name="Picture 3">
            <a:extLst>
              <a:ext uri="{FF2B5EF4-FFF2-40B4-BE49-F238E27FC236}">
                <a16:creationId xmlns:a16="http://schemas.microsoft.com/office/drawing/2014/main" id="{538B27AC-DC47-57BD-C9D8-CE0C11EC3FE9}"/>
              </a:ext>
            </a:extLst>
          </p:cNvPr>
          <p:cNvPicPr>
            <a:picLocks noChangeAspect="1"/>
          </p:cNvPicPr>
          <p:nvPr/>
        </p:nvPicPr>
        <p:blipFill>
          <a:blip r:embed="rId2"/>
          <a:stretch>
            <a:fillRect/>
          </a:stretch>
        </p:blipFill>
        <p:spPr>
          <a:xfrm>
            <a:off x="4913086" y="142874"/>
            <a:ext cx="6892506" cy="6715125"/>
          </a:xfrm>
          <a:prstGeom prst="rect">
            <a:avLst/>
          </a:prstGeom>
        </p:spPr>
      </p:pic>
    </p:spTree>
    <p:extLst>
      <p:ext uri="{BB962C8B-B14F-4D97-AF65-F5344CB8AC3E}">
        <p14:creationId xmlns:p14="http://schemas.microsoft.com/office/powerpoint/2010/main" val="22193546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F47B5-0589-DC02-F2E5-DCCCCE984F23}"/>
              </a:ext>
            </a:extLst>
          </p:cNvPr>
          <p:cNvSpPr>
            <a:spLocks noGrp="1"/>
          </p:cNvSpPr>
          <p:nvPr>
            <p:ph type="title"/>
          </p:nvPr>
        </p:nvSpPr>
        <p:spPr/>
        <p:txBody>
          <a:bodyPr/>
          <a:lstStyle/>
          <a:p>
            <a:r>
              <a:rPr lang="en-US" dirty="0"/>
              <a:t>Conversions Between Numbers and Strings</a:t>
            </a:r>
          </a:p>
        </p:txBody>
      </p:sp>
      <p:sp>
        <p:nvSpPr>
          <p:cNvPr id="3" name="Content Placeholder 2">
            <a:extLst>
              <a:ext uri="{FF2B5EF4-FFF2-40B4-BE49-F238E27FC236}">
                <a16:creationId xmlns:a16="http://schemas.microsoft.com/office/drawing/2014/main" id="{24ABD442-841E-397F-52E6-7A707B63BCF6}"/>
              </a:ext>
            </a:extLst>
          </p:cNvPr>
          <p:cNvSpPr>
            <a:spLocks noGrp="1"/>
          </p:cNvSpPr>
          <p:nvPr>
            <p:ph idx="1"/>
          </p:nvPr>
        </p:nvSpPr>
        <p:spPr/>
        <p:txBody>
          <a:bodyPr/>
          <a:lstStyle/>
          <a:p>
            <a:r>
              <a:rPr lang="en-US" dirty="0"/>
              <a:t>The C++ libraries provide functions and classes that can be used to convert a string representation of a number to numeric form and vice versa.</a:t>
            </a:r>
          </a:p>
        </p:txBody>
      </p:sp>
    </p:spTree>
    <p:extLst>
      <p:ext uri="{BB962C8B-B14F-4D97-AF65-F5344CB8AC3E}">
        <p14:creationId xmlns:p14="http://schemas.microsoft.com/office/powerpoint/2010/main" val="434665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C7760-552A-05EE-27EC-4D2DFC015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C3951-856C-06F8-FDB4-457C800528F0}"/>
              </a:ext>
            </a:extLst>
          </p:cNvPr>
          <p:cNvSpPr>
            <a:spLocks noGrp="1"/>
          </p:cNvSpPr>
          <p:nvPr>
            <p:ph type="title"/>
          </p:nvPr>
        </p:nvSpPr>
        <p:spPr/>
        <p:txBody>
          <a:bodyPr/>
          <a:lstStyle/>
          <a:p>
            <a:r>
              <a:rPr lang="en-US" dirty="0"/>
              <a:t>Conversions Between Numbers and Strings</a:t>
            </a:r>
          </a:p>
        </p:txBody>
      </p:sp>
      <p:sp>
        <p:nvSpPr>
          <p:cNvPr id="3" name="Content Placeholder 2">
            <a:extLst>
              <a:ext uri="{FF2B5EF4-FFF2-40B4-BE49-F238E27FC236}">
                <a16:creationId xmlns:a16="http://schemas.microsoft.com/office/drawing/2014/main" id="{EF22542C-5CA2-3E94-C00E-FCAD2288DEAB}"/>
              </a:ext>
            </a:extLst>
          </p:cNvPr>
          <p:cNvSpPr>
            <a:spLocks noGrp="1"/>
          </p:cNvSpPr>
          <p:nvPr>
            <p:ph idx="1"/>
          </p:nvPr>
        </p:nvSpPr>
        <p:spPr/>
        <p:txBody>
          <a:bodyPr/>
          <a:lstStyle/>
          <a:p>
            <a:r>
              <a:rPr lang="en-US" dirty="0"/>
              <a:t>There is a difference between a number that is stored as a string and one stored as a numeric value. </a:t>
            </a:r>
          </a:p>
          <a:p>
            <a:r>
              <a:rPr lang="en-US" dirty="0"/>
              <a:t>The string “2679” isn’t a number: it is a sequence of ASCII codes of the characters that form the individual digits of the number 2679. </a:t>
            </a:r>
          </a:p>
          <a:p>
            <a:r>
              <a:rPr lang="en-US" dirty="0"/>
              <a:t>Because the string “2679” is not a number, the compiler will not allow arithmetic operations such as addition, multiplication, and division to be applied to it. </a:t>
            </a:r>
          </a:p>
          <a:p>
            <a:r>
              <a:rPr lang="en-US" dirty="0"/>
              <a:t>Strings that represent numbers must first be converted to numeric form before they can be used with arithmetic operators. </a:t>
            </a:r>
          </a:p>
        </p:txBody>
      </p:sp>
    </p:spTree>
    <p:extLst>
      <p:ext uri="{BB962C8B-B14F-4D97-AF65-F5344CB8AC3E}">
        <p14:creationId xmlns:p14="http://schemas.microsoft.com/office/powerpoint/2010/main" val="40522790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C0895-B9C0-2829-F92A-BC166E8A0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CE90D1-F52C-CD43-D3AB-F129C178A69F}"/>
              </a:ext>
            </a:extLst>
          </p:cNvPr>
          <p:cNvSpPr>
            <a:spLocks noGrp="1"/>
          </p:cNvSpPr>
          <p:nvPr>
            <p:ph type="title"/>
          </p:nvPr>
        </p:nvSpPr>
        <p:spPr/>
        <p:txBody>
          <a:bodyPr/>
          <a:lstStyle/>
          <a:p>
            <a:r>
              <a:rPr lang="en-US" dirty="0"/>
              <a:t>Conversions Between Numbers and Strings</a:t>
            </a:r>
          </a:p>
        </p:txBody>
      </p:sp>
      <p:sp>
        <p:nvSpPr>
          <p:cNvPr id="3" name="Content Placeholder 2">
            <a:extLst>
              <a:ext uri="{FF2B5EF4-FFF2-40B4-BE49-F238E27FC236}">
                <a16:creationId xmlns:a16="http://schemas.microsoft.com/office/drawing/2014/main" id="{6A03641D-5696-E915-F990-E5612ADDA476}"/>
              </a:ext>
            </a:extLst>
          </p:cNvPr>
          <p:cNvSpPr>
            <a:spLocks noGrp="1"/>
          </p:cNvSpPr>
          <p:nvPr>
            <p:ph idx="1"/>
          </p:nvPr>
        </p:nvSpPr>
        <p:spPr/>
        <p:txBody>
          <a:bodyPr/>
          <a:lstStyle/>
          <a:p>
            <a:r>
              <a:rPr lang="en-US" dirty="0"/>
              <a:t>Similarly, program values that are in the numeric form of types such as int, long, and double sometimes need to be converted to string form. </a:t>
            </a:r>
          </a:p>
          <a:p>
            <a:r>
              <a:rPr lang="en-US" dirty="0"/>
              <a:t>The resulting string may be immediately output to a file or some other input/output device, or it may be stored in an in-memory string object for later use.</a:t>
            </a:r>
          </a:p>
        </p:txBody>
      </p:sp>
    </p:spTree>
    <p:extLst>
      <p:ext uri="{BB962C8B-B14F-4D97-AF65-F5344CB8AC3E}">
        <p14:creationId xmlns:p14="http://schemas.microsoft.com/office/powerpoint/2010/main" val="33015735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DD9F8-0A0D-7AA5-9937-062F5AC78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50725-CF3F-F19E-A006-1DED1CEE3BC9}"/>
              </a:ext>
            </a:extLst>
          </p:cNvPr>
          <p:cNvSpPr>
            <a:spLocks noGrp="1"/>
          </p:cNvSpPr>
          <p:nvPr>
            <p:ph type="title"/>
          </p:nvPr>
        </p:nvSpPr>
        <p:spPr/>
        <p:txBody>
          <a:bodyPr/>
          <a:lstStyle/>
          <a:p>
            <a:r>
              <a:rPr lang="en-US" dirty="0"/>
              <a:t>Interesting fact</a:t>
            </a:r>
          </a:p>
        </p:txBody>
      </p:sp>
      <p:sp>
        <p:nvSpPr>
          <p:cNvPr id="3" name="Content Placeholder 2">
            <a:extLst>
              <a:ext uri="{FF2B5EF4-FFF2-40B4-BE49-F238E27FC236}">
                <a16:creationId xmlns:a16="http://schemas.microsoft.com/office/drawing/2014/main" id="{0BB268BC-BEB3-1145-439E-373A8E214E77}"/>
              </a:ext>
            </a:extLst>
          </p:cNvPr>
          <p:cNvSpPr>
            <a:spLocks noGrp="1"/>
          </p:cNvSpPr>
          <p:nvPr>
            <p:ph idx="1"/>
          </p:nvPr>
        </p:nvSpPr>
        <p:spPr/>
        <p:txBody>
          <a:bodyPr/>
          <a:lstStyle/>
          <a:p>
            <a:r>
              <a:rPr lang="en-US" dirty="0"/>
              <a:t>When a user enters a number at a keyboard, the number is entered in its string form as a sequence of characters (digits) typed by the user. </a:t>
            </a:r>
          </a:p>
          <a:p>
            <a:r>
              <a:rPr lang="en-US" dirty="0"/>
              <a:t>In C++, such a number is usually read via the stream extraction operator &gt;&gt;. </a:t>
            </a:r>
          </a:p>
          <a:p>
            <a:r>
              <a:rPr lang="en-US" dirty="0"/>
              <a:t>This operator automatically performs conversions as needed before storing into a variable of numeric type. </a:t>
            </a:r>
          </a:p>
          <a:p>
            <a:r>
              <a:rPr lang="en-US" dirty="0"/>
              <a:t>During output, the reverse conversion from numeric to string is performed by the stream output operator &lt;&lt;.</a:t>
            </a:r>
          </a:p>
        </p:txBody>
      </p:sp>
    </p:spTree>
    <p:extLst>
      <p:ext uri="{BB962C8B-B14F-4D97-AF65-F5344CB8AC3E}">
        <p14:creationId xmlns:p14="http://schemas.microsoft.com/office/powerpoint/2010/main" val="13910479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4914-960E-1F88-CFC9-03A2A1966CD2}"/>
              </a:ext>
            </a:extLst>
          </p:cNvPr>
          <p:cNvSpPr>
            <a:spLocks noGrp="1"/>
          </p:cNvSpPr>
          <p:nvPr>
            <p:ph type="title"/>
          </p:nvPr>
        </p:nvSpPr>
        <p:spPr/>
        <p:txBody>
          <a:bodyPr/>
          <a:lstStyle/>
          <a:p>
            <a:r>
              <a:rPr lang="en-US" dirty="0"/>
              <a:t>Using String Stream Objects for Numeric Conversions</a:t>
            </a:r>
          </a:p>
        </p:txBody>
      </p:sp>
      <p:sp>
        <p:nvSpPr>
          <p:cNvPr id="3" name="Content Placeholder 2">
            <a:extLst>
              <a:ext uri="{FF2B5EF4-FFF2-40B4-BE49-F238E27FC236}">
                <a16:creationId xmlns:a16="http://schemas.microsoft.com/office/drawing/2014/main" id="{CAB1A8EA-CB3C-D2FE-96A2-69DCAFC1FA36}"/>
              </a:ext>
            </a:extLst>
          </p:cNvPr>
          <p:cNvSpPr>
            <a:spLocks noGrp="1"/>
          </p:cNvSpPr>
          <p:nvPr>
            <p:ph idx="1"/>
          </p:nvPr>
        </p:nvSpPr>
        <p:spPr>
          <a:xfrm>
            <a:off x="838200" y="1825624"/>
            <a:ext cx="10515600" cy="4575175"/>
          </a:xfrm>
        </p:spPr>
        <p:txBody>
          <a:bodyPr>
            <a:normAutofit fontScale="92500"/>
          </a:bodyPr>
          <a:lstStyle/>
          <a:p>
            <a:r>
              <a:rPr lang="en-US" dirty="0"/>
              <a:t>C++ has two classes, </a:t>
            </a:r>
            <a:r>
              <a:rPr lang="en-US" i="1" dirty="0" err="1">
                <a:solidFill>
                  <a:srgbClr val="FF0000"/>
                </a:solidFill>
              </a:rPr>
              <a:t>ostringstream</a:t>
            </a:r>
            <a:r>
              <a:rPr lang="en-US" dirty="0"/>
              <a:t> and </a:t>
            </a:r>
            <a:r>
              <a:rPr lang="en-US" i="1" dirty="0" err="1">
                <a:solidFill>
                  <a:srgbClr val="FF0000"/>
                </a:solidFill>
              </a:rPr>
              <a:t>istringstream</a:t>
            </a:r>
            <a:r>
              <a:rPr lang="en-US" dirty="0"/>
              <a:t>, that can be used to perform string/numeric conversions for in-memory values. </a:t>
            </a:r>
          </a:p>
          <a:p>
            <a:r>
              <a:rPr lang="en-US" dirty="0"/>
              <a:t>The class </a:t>
            </a:r>
            <a:r>
              <a:rPr lang="en-US" dirty="0" err="1">
                <a:solidFill>
                  <a:srgbClr val="FF0000"/>
                </a:solidFill>
              </a:rPr>
              <a:t>ostringstream</a:t>
            </a:r>
            <a:r>
              <a:rPr lang="en-US" dirty="0">
                <a:solidFill>
                  <a:srgbClr val="FF0000"/>
                </a:solidFill>
              </a:rPr>
              <a:t> </a:t>
            </a:r>
            <a:r>
              <a:rPr lang="en-US" dirty="0"/>
              <a:t>is a subclass of </a:t>
            </a:r>
            <a:r>
              <a:rPr lang="en-US" dirty="0" err="1">
                <a:solidFill>
                  <a:srgbClr val="FF0000"/>
                </a:solidFill>
              </a:rPr>
              <a:t>ostream</a:t>
            </a:r>
            <a:r>
              <a:rPr lang="en-US" dirty="0">
                <a:solidFill>
                  <a:srgbClr val="FF0000"/>
                </a:solidFill>
              </a:rPr>
              <a:t> </a:t>
            </a:r>
            <a:r>
              <a:rPr lang="en-US" dirty="0"/>
              <a:t>(the class that </a:t>
            </a:r>
            <a:r>
              <a:rPr lang="en-US" dirty="0" err="1"/>
              <a:t>cout</a:t>
            </a:r>
            <a:r>
              <a:rPr lang="en-US" dirty="0"/>
              <a:t> belongs to) and uses the stream insertion operator &lt;&lt; to convert numeric values to string.</a:t>
            </a:r>
          </a:p>
          <a:p>
            <a:r>
              <a:rPr lang="en-US" dirty="0"/>
              <a:t>Objects of type </a:t>
            </a:r>
            <a:r>
              <a:rPr lang="en-US" dirty="0" err="1">
                <a:solidFill>
                  <a:srgbClr val="FF0000"/>
                </a:solidFill>
              </a:rPr>
              <a:t>ostringstream</a:t>
            </a:r>
            <a:r>
              <a:rPr lang="en-US" dirty="0">
                <a:solidFill>
                  <a:srgbClr val="FF0000"/>
                </a:solidFill>
              </a:rPr>
              <a:t> </a:t>
            </a:r>
            <a:r>
              <a:rPr lang="en-US" dirty="0"/>
              <a:t>work the same way that </a:t>
            </a:r>
            <a:r>
              <a:rPr lang="en-US" dirty="0" err="1">
                <a:solidFill>
                  <a:srgbClr val="FF0000"/>
                </a:solidFill>
              </a:rPr>
              <a:t>cout</a:t>
            </a:r>
            <a:r>
              <a:rPr lang="en-US" dirty="0"/>
              <a:t>, except that instead of writing to the screen, </a:t>
            </a:r>
            <a:r>
              <a:rPr lang="en-US" dirty="0" err="1">
                <a:solidFill>
                  <a:srgbClr val="FF0000"/>
                </a:solidFill>
              </a:rPr>
              <a:t>ostringstream</a:t>
            </a:r>
            <a:r>
              <a:rPr lang="en-US" dirty="0"/>
              <a:t> writes its data to a string object contained inside it. </a:t>
            </a:r>
          </a:p>
          <a:p>
            <a:r>
              <a:rPr lang="en-US" dirty="0"/>
              <a:t>Each time you use </a:t>
            </a:r>
            <a:r>
              <a:rPr lang="en-US" dirty="0">
                <a:solidFill>
                  <a:srgbClr val="FF0000"/>
                </a:solidFill>
              </a:rPr>
              <a:t>&lt;&lt;</a:t>
            </a:r>
            <a:r>
              <a:rPr lang="en-US" dirty="0"/>
              <a:t> on the </a:t>
            </a:r>
            <a:r>
              <a:rPr lang="en-US" dirty="0" err="1">
                <a:solidFill>
                  <a:srgbClr val="FF0000"/>
                </a:solidFill>
              </a:rPr>
              <a:t>ostringstream</a:t>
            </a:r>
            <a:r>
              <a:rPr lang="en-US" dirty="0"/>
              <a:t> object, it performs any numeric-to-string conversions necessary and appends the result to the end of its string. </a:t>
            </a:r>
          </a:p>
        </p:txBody>
      </p:sp>
    </p:spTree>
    <p:extLst>
      <p:ext uri="{BB962C8B-B14F-4D97-AF65-F5344CB8AC3E}">
        <p14:creationId xmlns:p14="http://schemas.microsoft.com/office/powerpoint/2010/main" val="26203934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67C1-CD7E-BC73-AD7A-70C342C9A09B}"/>
              </a:ext>
            </a:extLst>
          </p:cNvPr>
          <p:cNvSpPr>
            <a:spLocks noGrp="1"/>
          </p:cNvSpPr>
          <p:nvPr>
            <p:ph type="title"/>
          </p:nvPr>
        </p:nvSpPr>
        <p:spPr/>
        <p:txBody>
          <a:bodyPr/>
          <a:lstStyle/>
          <a:p>
            <a:r>
              <a:rPr lang="en-US" dirty="0"/>
              <a:t>Using String Stream Objects for Numeric Conversions</a:t>
            </a:r>
          </a:p>
        </p:txBody>
      </p:sp>
      <p:sp>
        <p:nvSpPr>
          <p:cNvPr id="3" name="Content Placeholder 2">
            <a:extLst>
              <a:ext uri="{FF2B5EF4-FFF2-40B4-BE49-F238E27FC236}">
                <a16:creationId xmlns:a16="http://schemas.microsoft.com/office/drawing/2014/main" id="{79F15694-7B47-D42A-F302-8FFD0EC3ACCB}"/>
              </a:ext>
            </a:extLst>
          </p:cNvPr>
          <p:cNvSpPr>
            <a:spLocks noGrp="1"/>
          </p:cNvSpPr>
          <p:nvPr>
            <p:ph idx="1"/>
          </p:nvPr>
        </p:nvSpPr>
        <p:spPr>
          <a:xfrm>
            <a:off x="838200" y="1825625"/>
            <a:ext cx="10515600" cy="4667250"/>
          </a:xfrm>
        </p:spPr>
        <p:txBody>
          <a:bodyPr>
            <a:normAutofit/>
          </a:bodyPr>
          <a:lstStyle/>
          <a:p>
            <a:r>
              <a:rPr lang="en-US" dirty="0"/>
              <a:t>The </a:t>
            </a:r>
            <a:r>
              <a:rPr lang="en-US" dirty="0" err="1">
                <a:solidFill>
                  <a:srgbClr val="FF0000"/>
                </a:solidFill>
              </a:rPr>
              <a:t>istringstream</a:t>
            </a:r>
            <a:r>
              <a:rPr lang="en-US" dirty="0"/>
              <a:t> class derives from </a:t>
            </a:r>
            <a:r>
              <a:rPr lang="en-US" dirty="0" err="1">
                <a:solidFill>
                  <a:srgbClr val="FF0000"/>
                </a:solidFill>
              </a:rPr>
              <a:t>istream</a:t>
            </a:r>
            <a:r>
              <a:rPr lang="en-US" dirty="0">
                <a:solidFill>
                  <a:srgbClr val="FF0000"/>
                </a:solidFill>
              </a:rPr>
              <a:t>. </a:t>
            </a:r>
          </a:p>
          <a:p>
            <a:r>
              <a:rPr lang="en-US" dirty="0"/>
              <a:t>It contains a string object inside it that functions as an input stream that can be “read” from. </a:t>
            </a:r>
          </a:p>
          <a:p>
            <a:r>
              <a:rPr lang="en-US" dirty="0"/>
              <a:t>The input stream can be set by the </a:t>
            </a:r>
            <a:r>
              <a:rPr lang="en-US" dirty="0" err="1">
                <a:solidFill>
                  <a:srgbClr val="FF0000"/>
                </a:solidFill>
              </a:rPr>
              <a:t>istringstream</a:t>
            </a:r>
            <a:r>
              <a:rPr lang="en-US" dirty="0"/>
              <a:t> constructor when the object is created, or by calling the str(string s) function after the object has been created. </a:t>
            </a:r>
          </a:p>
          <a:p>
            <a:r>
              <a:rPr lang="en-US" dirty="0"/>
              <a:t>The stream extraction operator &gt;&gt; reads from the enclosed string and converts from string to numeric where necessary.</a:t>
            </a:r>
          </a:p>
          <a:p>
            <a:r>
              <a:rPr lang="en-US" b="1" dirty="0">
                <a:effectLst/>
              </a:rPr>
              <a:t>You must include the &lt;</a:t>
            </a:r>
            <a:r>
              <a:rPr lang="en-US" b="1" dirty="0" err="1">
                <a:effectLst/>
              </a:rPr>
              <a:t>sstream</a:t>
            </a:r>
            <a:r>
              <a:rPr lang="en-US" b="1" dirty="0">
                <a:effectLst/>
              </a:rPr>
              <a:t>&gt; header file in your programs to use these classes.</a:t>
            </a:r>
          </a:p>
          <a:p>
            <a:endParaRPr lang="en-US" dirty="0"/>
          </a:p>
        </p:txBody>
      </p:sp>
    </p:spTree>
    <p:extLst>
      <p:ext uri="{BB962C8B-B14F-4D97-AF65-F5344CB8AC3E}">
        <p14:creationId xmlns:p14="http://schemas.microsoft.com/office/powerpoint/2010/main" val="40399834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9744F-5252-1F7D-F905-B0D2E01D3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85F76-E6E0-245B-69DD-3D825289E3CF}"/>
              </a:ext>
            </a:extLst>
          </p:cNvPr>
          <p:cNvSpPr>
            <a:spLocks noGrp="1"/>
          </p:cNvSpPr>
          <p:nvPr>
            <p:ph type="title"/>
          </p:nvPr>
        </p:nvSpPr>
        <p:spPr/>
        <p:txBody>
          <a:bodyPr/>
          <a:lstStyle/>
          <a:p>
            <a:r>
              <a:rPr lang="en-US" dirty="0"/>
              <a:t>Using String Stream Objects for Numeric Conversions</a:t>
            </a:r>
          </a:p>
        </p:txBody>
      </p:sp>
      <p:sp>
        <p:nvSpPr>
          <p:cNvPr id="3" name="Content Placeholder 2">
            <a:extLst>
              <a:ext uri="{FF2B5EF4-FFF2-40B4-BE49-F238E27FC236}">
                <a16:creationId xmlns:a16="http://schemas.microsoft.com/office/drawing/2014/main" id="{F88F7BDD-4ED3-DEC1-D577-84ECA958CD22}"/>
              </a:ext>
            </a:extLst>
          </p:cNvPr>
          <p:cNvSpPr>
            <a:spLocks noGrp="1"/>
          </p:cNvSpPr>
          <p:nvPr>
            <p:ph idx="1"/>
          </p:nvPr>
        </p:nvSpPr>
        <p:spPr>
          <a:xfrm>
            <a:off x="838200" y="1825624"/>
            <a:ext cx="4082143" cy="4575175"/>
          </a:xfrm>
        </p:spPr>
        <p:txBody>
          <a:bodyPr>
            <a:normAutofit/>
          </a:bodyPr>
          <a:lstStyle/>
          <a:p>
            <a:r>
              <a:rPr lang="en-US" dirty="0"/>
              <a:t>In addition to supporting all the member functions and operators of the </a:t>
            </a:r>
            <a:r>
              <a:rPr lang="en-US" dirty="0" err="1">
                <a:solidFill>
                  <a:srgbClr val="FF0000"/>
                </a:solidFill>
              </a:rPr>
              <a:t>ostream</a:t>
            </a:r>
            <a:r>
              <a:rPr lang="en-US" dirty="0">
                <a:solidFill>
                  <a:srgbClr val="FF0000"/>
                </a:solidFill>
              </a:rPr>
              <a:t>/</a:t>
            </a:r>
            <a:r>
              <a:rPr lang="en-US" dirty="0" err="1">
                <a:solidFill>
                  <a:srgbClr val="FF0000"/>
                </a:solidFill>
              </a:rPr>
              <a:t>istream</a:t>
            </a:r>
            <a:r>
              <a:rPr lang="en-US" dirty="0"/>
              <a:t> class, </a:t>
            </a:r>
            <a:r>
              <a:rPr lang="en-US" dirty="0" err="1">
                <a:solidFill>
                  <a:srgbClr val="FF0000"/>
                </a:solidFill>
              </a:rPr>
              <a:t>ostringstream</a:t>
            </a:r>
            <a:r>
              <a:rPr lang="en-US" dirty="0">
                <a:solidFill>
                  <a:srgbClr val="FF0000"/>
                </a:solidFill>
              </a:rPr>
              <a:t> and </a:t>
            </a:r>
            <a:r>
              <a:rPr lang="en-US" dirty="0" err="1">
                <a:solidFill>
                  <a:srgbClr val="FF0000"/>
                </a:solidFill>
              </a:rPr>
              <a:t>istringstream</a:t>
            </a:r>
            <a:r>
              <a:rPr lang="en-US" dirty="0"/>
              <a:t> objects support some other member functions as well</a:t>
            </a:r>
          </a:p>
        </p:txBody>
      </p:sp>
      <p:pic>
        <p:nvPicPr>
          <p:cNvPr id="4" name="Picture 3">
            <a:extLst>
              <a:ext uri="{FF2B5EF4-FFF2-40B4-BE49-F238E27FC236}">
                <a16:creationId xmlns:a16="http://schemas.microsoft.com/office/drawing/2014/main" id="{D7AECDBC-76E5-9D96-627F-5A4948E98698}"/>
              </a:ext>
            </a:extLst>
          </p:cNvPr>
          <p:cNvPicPr>
            <a:picLocks noChangeAspect="1"/>
          </p:cNvPicPr>
          <p:nvPr/>
        </p:nvPicPr>
        <p:blipFill>
          <a:blip r:embed="rId2"/>
          <a:stretch>
            <a:fillRect/>
          </a:stretch>
        </p:blipFill>
        <p:spPr>
          <a:xfrm>
            <a:off x="5601606" y="1055914"/>
            <a:ext cx="5914529" cy="5802086"/>
          </a:xfrm>
          <a:prstGeom prst="rect">
            <a:avLst/>
          </a:prstGeom>
        </p:spPr>
      </p:pic>
    </p:spTree>
    <p:extLst>
      <p:ext uri="{BB962C8B-B14F-4D97-AF65-F5344CB8AC3E}">
        <p14:creationId xmlns:p14="http://schemas.microsoft.com/office/powerpoint/2010/main" val="25184933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08BC8-A9EE-F846-0783-1B9EF7F5C04F}"/>
              </a:ext>
            </a:extLst>
          </p:cNvPr>
          <p:cNvSpPr>
            <a:spLocks noGrp="1"/>
          </p:cNvSpPr>
          <p:nvPr>
            <p:ph type="title"/>
          </p:nvPr>
        </p:nvSpPr>
        <p:spPr/>
        <p:txBody>
          <a:bodyPr/>
          <a:lstStyle/>
          <a:p>
            <a:r>
              <a:rPr lang="en-US" dirty="0"/>
              <a:t>Example</a:t>
            </a:r>
          </a:p>
        </p:txBody>
      </p:sp>
      <p:pic>
        <p:nvPicPr>
          <p:cNvPr id="5" name="Picture 4">
            <a:extLst>
              <a:ext uri="{FF2B5EF4-FFF2-40B4-BE49-F238E27FC236}">
                <a16:creationId xmlns:a16="http://schemas.microsoft.com/office/drawing/2014/main" id="{C54A6C89-6330-45AD-552F-B2619315AE93}"/>
              </a:ext>
            </a:extLst>
          </p:cNvPr>
          <p:cNvPicPr>
            <a:picLocks noChangeAspect="1"/>
          </p:cNvPicPr>
          <p:nvPr/>
        </p:nvPicPr>
        <p:blipFill>
          <a:blip r:embed="rId2"/>
          <a:stretch>
            <a:fillRect/>
          </a:stretch>
        </p:blipFill>
        <p:spPr>
          <a:xfrm>
            <a:off x="141514" y="1570945"/>
            <a:ext cx="5043242" cy="4834844"/>
          </a:xfrm>
          <a:prstGeom prst="rect">
            <a:avLst/>
          </a:prstGeom>
        </p:spPr>
      </p:pic>
      <p:pic>
        <p:nvPicPr>
          <p:cNvPr id="6" name="Picture 5">
            <a:extLst>
              <a:ext uri="{FF2B5EF4-FFF2-40B4-BE49-F238E27FC236}">
                <a16:creationId xmlns:a16="http://schemas.microsoft.com/office/drawing/2014/main" id="{8B88CAAC-4CED-8A71-5F0B-67E33B4CFA0A}"/>
              </a:ext>
            </a:extLst>
          </p:cNvPr>
          <p:cNvPicPr>
            <a:picLocks noChangeAspect="1"/>
          </p:cNvPicPr>
          <p:nvPr/>
        </p:nvPicPr>
        <p:blipFill>
          <a:blip r:embed="rId3"/>
          <a:stretch>
            <a:fillRect/>
          </a:stretch>
        </p:blipFill>
        <p:spPr>
          <a:xfrm>
            <a:off x="5881442" y="478065"/>
            <a:ext cx="5156633" cy="4293598"/>
          </a:xfrm>
          <a:prstGeom prst="rect">
            <a:avLst/>
          </a:prstGeom>
        </p:spPr>
      </p:pic>
      <p:pic>
        <p:nvPicPr>
          <p:cNvPr id="7" name="Picture 6">
            <a:extLst>
              <a:ext uri="{FF2B5EF4-FFF2-40B4-BE49-F238E27FC236}">
                <a16:creationId xmlns:a16="http://schemas.microsoft.com/office/drawing/2014/main" id="{5BC84627-003A-561A-23E7-D6C12DE60F9D}"/>
              </a:ext>
            </a:extLst>
          </p:cNvPr>
          <p:cNvPicPr>
            <a:picLocks noChangeAspect="1"/>
          </p:cNvPicPr>
          <p:nvPr/>
        </p:nvPicPr>
        <p:blipFill>
          <a:blip r:embed="rId4"/>
          <a:stretch>
            <a:fillRect/>
          </a:stretch>
        </p:blipFill>
        <p:spPr>
          <a:xfrm>
            <a:off x="6096000" y="5009242"/>
            <a:ext cx="3640961" cy="1696357"/>
          </a:xfrm>
          <a:prstGeom prst="rect">
            <a:avLst/>
          </a:prstGeom>
        </p:spPr>
      </p:pic>
    </p:spTree>
    <p:extLst>
      <p:ext uri="{BB962C8B-B14F-4D97-AF65-F5344CB8AC3E}">
        <p14:creationId xmlns:p14="http://schemas.microsoft.com/office/powerpoint/2010/main" val="16526949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4FEF9-BC97-930E-BF02-43099CA941B5}"/>
              </a:ext>
            </a:extLst>
          </p:cNvPr>
          <p:cNvSpPr>
            <a:spLocks noGrp="1"/>
          </p:cNvSpPr>
          <p:nvPr>
            <p:ph type="title"/>
          </p:nvPr>
        </p:nvSpPr>
        <p:spPr/>
        <p:txBody>
          <a:bodyPr/>
          <a:lstStyle/>
          <a:p>
            <a:r>
              <a:rPr lang="en-US" dirty="0"/>
              <a:t>Using String Stream Objects for Numeric Conversions</a:t>
            </a:r>
          </a:p>
        </p:txBody>
      </p:sp>
      <p:sp>
        <p:nvSpPr>
          <p:cNvPr id="3" name="Content Placeholder 2">
            <a:extLst>
              <a:ext uri="{FF2B5EF4-FFF2-40B4-BE49-F238E27FC236}">
                <a16:creationId xmlns:a16="http://schemas.microsoft.com/office/drawing/2014/main" id="{06F10B4B-CEA0-52B5-1C1A-B2B8F11C5927}"/>
              </a:ext>
            </a:extLst>
          </p:cNvPr>
          <p:cNvSpPr>
            <a:spLocks noGrp="1"/>
          </p:cNvSpPr>
          <p:nvPr>
            <p:ph idx="1"/>
          </p:nvPr>
        </p:nvSpPr>
        <p:spPr/>
        <p:txBody>
          <a:bodyPr/>
          <a:lstStyle/>
          <a:p>
            <a:r>
              <a:rPr lang="en-US" dirty="0"/>
              <a:t>Notice that these classes have the full power of </a:t>
            </a:r>
            <a:r>
              <a:rPr lang="en-US" dirty="0" err="1"/>
              <a:t>ostream</a:t>
            </a:r>
            <a:r>
              <a:rPr lang="en-US" dirty="0"/>
              <a:t> and </a:t>
            </a:r>
            <a:r>
              <a:rPr lang="en-US" dirty="0" err="1"/>
              <a:t>istream</a:t>
            </a:r>
            <a:r>
              <a:rPr lang="en-US" dirty="0"/>
              <a:t> objects, including the ability to convert numbers to string using different bases such as octal and hexadecimal. </a:t>
            </a:r>
          </a:p>
          <a:p>
            <a:r>
              <a:rPr lang="en-US" dirty="0"/>
              <a:t>They do have a disadvantage, however, in that they force you to create </a:t>
            </a:r>
            <a:r>
              <a:rPr lang="en-US" dirty="0" err="1"/>
              <a:t>sstream</a:t>
            </a:r>
            <a:r>
              <a:rPr lang="en-US" dirty="0"/>
              <a:t> objects just so you can use their insertion and extraction operators to perform conversions.</a:t>
            </a:r>
          </a:p>
        </p:txBody>
      </p:sp>
    </p:spTree>
    <p:extLst>
      <p:ext uri="{BB962C8B-B14F-4D97-AF65-F5344CB8AC3E}">
        <p14:creationId xmlns:p14="http://schemas.microsoft.com/office/powerpoint/2010/main" val="28039247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0E63F-7524-EAD1-E78B-C7C19F3BD011}"/>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D8C6BD28-C769-ECAA-1A41-96350792F46D}"/>
              </a:ext>
            </a:extLst>
          </p:cNvPr>
          <p:cNvSpPr>
            <a:spLocks noGrp="1"/>
          </p:cNvSpPr>
          <p:nvPr>
            <p:ph idx="1"/>
          </p:nvPr>
        </p:nvSpPr>
        <p:spPr/>
        <p:txBody>
          <a:bodyPr/>
          <a:lstStyle/>
          <a:p>
            <a:r>
              <a:rPr lang="en-US" dirty="0"/>
              <a:t>C++ 11 provides several </a:t>
            </a:r>
            <a:r>
              <a:rPr lang="en-US" dirty="0" err="1"/>
              <a:t>to_string</a:t>
            </a:r>
            <a:r>
              <a:rPr lang="en-US" dirty="0"/>
              <a:t>(T value) functions to convert a numeric value of type T to string form. Here is a list of a few of the </a:t>
            </a:r>
            <a:r>
              <a:rPr lang="en-US" dirty="0" err="1"/>
              <a:t>to_string</a:t>
            </a:r>
            <a:r>
              <a:rPr lang="en-US" dirty="0"/>
              <a:t>() functions:</a:t>
            </a:r>
          </a:p>
          <a:p>
            <a:r>
              <a:rPr lang="en-US" dirty="0"/>
              <a:t>string </a:t>
            </a:r>
            <a:r>
              <a:rPr lang="en-US" b="1" dirty="0" err="1">
                <a:solidFill>
                  <a:srgbClr val="990000"/>
                </a:solidFill>
                <a:effectLst/>
              </a:rPr>
              <a:t>to_string</a:t>
            </a:r>
            <a:r>
              <a:rPr lang="en-US" dirty="0"/>
              <a:t>(</a:t>
            </a:r>
            <a:r>
              <a:rPr lang="en-US" b="1" dirty="0">
                <a:solidFill>
                  <a:srgbClr val="333333"/>
                </a:solidFill>
                <a:effectLst/>
              </a:rPr>
              <a:t>int</a:t>
            </a:r>
            <a:r>
              <a:rPr lang="en-US" dirty="0"/>
              <a:t> value) </a:t>
            </a:r>
          </a:p>
          <a:p>
            <a:r>
              <a:rPr lang="en-US" dirty="0"/>
              <a:t>string </a:t>
            </a:r>
            <a:r>
              <a:rPr lang="en-US" b="1" dirty="0" err="1">
                <a:solidFill>
                  <a:srgbClr val="990000"/>
                </a:solidFill>
                <a:effectLst/>
              </a:rPr>
              <a:t>to_string</a:t>
            </a:r>
            <a:r>
              <a:rPr lang="en-US" dirty="0"/>
              <a:t>(</a:t>
            </a:r>
            <a:r>
              <a:rPr lang="en-US" b="1" dirty="0">
                <a:solidFill>
                  <a:srgbClr val="333333"/>
                </a:solidFill>
                <a:effectLst/>
              </a:rPr>
              <a:t>long</a:t>
            </a:r>
            <a:r>
              <a:rPr lang="en-US" dirty="0"/>
              <a:t> value) </a:t>
            </a:r>
          </a:p>
          <a:p>
            <a:r>
              <a:rPr lang="en-US" dirty="0"/>
              <a:t>string </a:t>
            </a:r>
            <a:r>
              <a:rPr lang="en-US" b="1" dirty="0" err="1">
                <a:solidFill>
                  <a:srgbClr val="990000"/>
                </a:solidFill>
                <a:effectLst/>
              </a:rPr>
              <a:t>to_string</a:t>
            </a:r>
            <a:r>
              <a:rPr lang="en-US" dirty="0"/>
              <a:t>(</a:t>
            </a:r>
            <a:r>
              <a:rPr lang="en-US" b="1" dirty="0">
                <a:solidFill>
                  <a:srgbClr val="333333"/>
                </a:solidFill>
                <a:effectLst/>
              </a:rPr>
              <a:t>double</a:t>
            </a:r>
            <a:r>
              <a:rPr lang="en-US" dirty="0"/>
              <a:t> value) </a:t>
            </a:r>
          </a:p>
        </p:txBody>
      </p:sp>
    </p:spTree>
    <p:extLst>
      <p:ext uri="{BB962C8B-B14F-4D97-AF65-F5344CB8AC3E}">
        <p14:creationId xmlns:p14="http://schemas.microsoft.com/office/powerpoint/2010/main" val="3206013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8C73-BE42-0309-17F3-B2E5DDE7E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7A14F-0348-0BD2-443B-207E94177C0B}"/>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8D4FD0F1-FE91-53F8-D85F-6A4CEC96DE27}"/>
              </a:ext>
            </a:extLst>
          </p:cNvPr>
          <p:cNvSpPr>
            <a:spLocks noGrp="1"/>
          </p:cNvSpPr>
          <p:nvPr>
            <p:ph idx="1"/>
          </p:nvPr>
        </p:nvSpPr>
        <p:spPr/>
        <p:txBody>
          <a:bodyPr/>
          <a:lstStyle/>
          <a:p>
            <a:r>
              <a:rPr lang="en-US" dirty="0"/>
              <a:t>The following code fragment illustrates how to use this family of functions. It prints the string</a:t>
            </a:r>
          </a:p>
        </p:txBody>
      </p:sp>
      <p:pic>
        <p:nvPicPr>
          <p:cNvPr id="4" name="Picture 3">
            <a:extLst>
              <a:ext uri="{FF2B5EF4-FFF2-40B4-BE49-F238E27FC236}">
                <a16:creationId xmlns:a16="http://schemas.microsoft.com/office/drawing/2014/main" id="{7FEC85CC-89A7-C568-7254-DA706C22582D}"/>
              </a:ext>
            </a:extLst>
          </p:cNvPr>
          <p:cNvPicPr>
            <a:picLocks noChangeAspect="1"/>
          </p:cNvPicPr>
          <p:nvPr/>
        </p:nvPicPr>
        <p:blipFill>
          <a:blip r:embed="rId2"/>
          <a:stretch>
            <a:fillRect/>
          </a:stretch>
        </p:blipFill>
        <p:spPr>
          <a:xfrm>
            <a:off x="3586529" y="3203121"/>
            <a:ext cx="5018942" cy="1118507"/>
          </a:xfrm>
          <a:prstGeom prst="rect">
            <a:avLst/>
          </a:prstGeom>
        </p:spPr>
      </p:pic>
    </p:spTree>
    <p:extLst>
      <p:ext uri="{BB962C8B-B14F-4D97-AF65-F5344CB8AC3E}">
        <p14:creationId xmlns:p14="http://schemas.microsoft.com/office/powerpoint/2010/main" val="17460182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5A86-4D61-0341-F013-F05D7815129C}"/>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ED05B9A9-C301-2B67-A48F-718B215FF678}"/>
              </a:ext>
            </a:extLst>
          </p:cNvPr>
          <p:cNvSpPr>
            <a:spLocks noGrp="1"/>
          </p:cNvSpPr>
          <p:nvPr>
            <p:ph idx="1"/>
          </p:nvPr>
        </p:nvSpPr>
        <p:spPr/>
        <p:txBody>
          <a:bodyPr/>
          <a:lstStyle/>
          <a:p>
            <a:pPr algn="l"/>
            <a:r>
              <a:rPr lang="en-US" dirty="0">
                <a:effectLst/>
              </a:rPr>
              <a:t>The string-to-numeric conversions are performed by the family of </a:t>
            </a:r>
            <a:r>
              <a:rPr lang="en-US" dirty="0" err="1">
                <a:effectLst/>
              </a:rPr>
              <a:t>stoX</a:t>
            </a:r>
            <a:r>
              <a:rPr lang="en-US" dirty="0">
                <a:effectLst/>
              </a:rPr>
              <a:t>() functions. </a:t>
            </a:r>
          </a:p>
          <a:p>
            <a:pPr algn="l"/>
            <a:r>
              <a:rPr lang="en-US" dirty="0">
                <a:effectLst/>
              </a:rPr>
              <a:t>The members of this family that perform string conversions to int, long, float, and double are</a:t>
            </a:r>
          </a:p>
          <a:p>
            <a:endParaRPr lang="en-US" dirty="0"/>
          </a:p>
        </p:txBody>
      </p:sp>
      <p:pic>
        <p:nvPicPr>
          <p:cNvPr id="4" name="Picture 3">
            <a:extLst>
              <a:ext uri="{FF2B5EF4-FFF2-40B4-BE49-F238E27FC236}">
                <a16:creationId xmlns:a16="http://schemas.microsoft.com/office/drawing/2014/main" id="{0FC41843-8F70-BF78-7CCA-7D21253F9D52}"/>
              </a:ext>
            </a:extLst>
          </p:cNvPr>
          <p:cNvPicPr>
            <a:picLocks noChangeAspect="1"/>
          </p:cNvPicPr>
          <p:nvPr/>
        </p:nvPicPr>
        <p:blipFill>
          <a:blip r:embed="rId2"/>
          <a:stretch>
            <a:fillRect/>
          </a:stretch>
        </p:blipFill>
        <p:spPr>
          <a:xfrm>
            <a:off x="2257444" y="3681186"/>
            <a:ext cx="7677112" cy="1522186"/>
          </a:xfrm>
          <a:prstGeom prst="rect">
            <a:avLst/>
          </a:prstGeom>
        </p:spPr>
      </p:pic>
    </p:spTree>
    <p:extLst>
      <p:ext uri="{BB962C8B-B14F-4D97-AF65-F5344CB8AC3E}">
        <p14:creationId xmlns:p14="http://schemas.microsoft.com/office/powerpoint/2010/main" val="9308576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08DA5-A7A5-4BB4-A970-01214C6C8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EF765-73B5-F605-8619-3DBF933B5FFD}"/>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E3B20C1F-B0B9-EB4B-B231-2F50E6F4DE33}"/>
              </a:ext>
            </a:extLst>
          </p:cNvPr>
          <p:cNvSpPr>
            <a:spLocks noGrp="1"/>
          </p:cNvSpPr>
          <p:nvPr>
            <p:ph idx="1"/>
          </p:nvPr>
        </p:nvSpPr>
        <p:spPr/>
        <p:txBody>
          <a:bodyPr>
            <a:normAutofit/>
          </a:bodyPr>
          <a:lstStyle/>
          <a:p>
            <a:r>
              <a:rPr lang="en-US" dirty="0"/>
              <a:t>The first parameter, str, is a string (such as "−342" or "3.48") to be converted to an appropriate numeric form. </a:t>
            </a:r>
          </a:p>
          <a:p>
            <a:r>
              <a:rPr lang="en-US" dirty="0"/>
              <a:t>These functions will convert to numeric the longest prefix of str possible and return in pos the address of an integer in which to store the index of the first character of str that could not be converted. </a:t>
            </a:r>
          </a:p>
        </p:txBody>
      </p:sp>
    </p:spTree>
    <p:extLst>
      <p:ext uri="{BB962C8B-B14F-4D97-AF65-F5344CB8AC3E}">
        <p14:creationId xmlns:p14="http://schemas.microsoft.com/office/powerpoint/2010/main" val="17592144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0C429-AE81-8C51-0423-9B85E86ECDEB}"/>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A1BFD69F-B740-EDB8-79B1-41D19327350D}"/>
              </a:ext>
            </a:extLst>
          </p:cNvPr>
          <p:cNvSpPr>
            <a:spLocks noGrp="1"/>
          </p:cNvSpPr>
          <p:nvPr>
            <p:ph idx="1"/>
          </p:nvPr>
        </p:nvSpPr>
        <p:spPr/>
        <p:txBody>
          <a:bodyPr/>
          <a:lstStyle/>
          <a:p>
            <a:r>
              <a:rPr lang="en-US" dirty="0"/>
              <a:t>The type </a:t>
            </a:r>
            <a:r>
              <a:rPr lang="en-US" dirty="0" err="1"/>
              <a:t>size_t</a:t>
            </a:r>
            <a:r>
              <a:rPr lang="en-US" dirty="0"/>
              <a:t> is defined in the standard library and is commonly used to represent an unsigned integer that is the size of, or an index into, an array, vector, or string. </a:t>
            </a:r>
          </a:p>
          <a:p>
            <a:r>
              <a:rPr lang="en-US" dirty="0"/>
              <a:t>For example, an attempt to convert the string </a:t>
            </a:r>
            <a:r>
              <a:rPr lang="en-US" b="1" dirty="0"/>
              <a:t>"−34is even" </a:t>
            </a:r>
            <a:r>
              <a:rPr lang="en-US" dirty="0"/>
              <a:t>will succeed and return the integer −34 and set the position of the first character that could not be converted to 3.</a:t>
            </a:r>
          </a:p>
        </p:txBody>
      </p:sp>
    </p:spTree>
    <p:extLst>
      <p:ext uri="{BB962C8B-B14F-4D97-AF65-F5344CB8AC3E}">
        <p14:creationId xmlns:p14="http://schemas.microsoft.com/office/powerpoint/2010/main" val="16383559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CE776-6C10-F4AE-727D-993E89EDE03D}"/>
              </a:ext>
            </a:extLst>
          </p:cNvPr>
          <p:cNvSpPr>
            <a:spLocks noGrp="1"/>
          </p:cNvSpPr>
          <p:nvPr>
            <p:ph type="title"/>
          </p:nvPr>
        </p:nvSpPr>
        <p:spPr/>
        <p:txBody>
          <a:bodyPr/>
          <a:lstStyle/>
          <a:p>
            <a:r>
              <a:rPr lang="en-US" dirty="0"/>
              <a:t>Numeric Conversion Functions</a:t>
            </a:r>
          </a:p>
        </p:txBody>
      </p:sp>
      <p:sp>
        <p:nvSpPr>
          <p:cNvPr id="3" name="Content Placeholder 2">
            <a:extLst>
              <a:ext uri="{FF2B5EF4-FFF2-40B4-BE49-F238E27FC236}">
                <a16:creationId xmlns:a16="http://schemas.microsoft.com/office/drawing/2014/main" id="{9F94EE68-B124-BAEE-B657-1D78D9EE6F04}"/>
              </a:ext>
            </a:extLst>
          </p:cNvPr>
          <p:cNvSpPr>
            <a:spLocks noGrp="1"/>
          </p:cNvSpPr>
          <p:nvPr>
            <p:ph idx="1"/>
          </p:nvPr>
        </p:nvSpPr>
        <p:spPr/>
        <p:txBody>
          <a:bodyPr/>
          <a:lstStyle/>
          <a:p>
            <a:r>
              <a:rPr lang="en-US" dirty="0"/>
              <a:t>The base parameter applies for integral conversions only and indicates the base to be used for the conversion. </a:t>
            </a:r>
          </a:p>
          <a:p>
            <a:r>
              <a:rPr lang="en-US" dirty="0"/>
              <a:t>The pos and base parameters are optional, so they can be omitted. </a:t>
            </a:r>
          </a:p>
          <a:p>
            <a:r>
              <a:rPr lang="en-US" dirty="0"/>
              <a:t>If pos is omitted, the index of the stopping character is not stored; and if base is omitted, it is assumed to be 10. </a:t>
            </a:r>
          </a:p>
          <a:p>
            <a:r>
              <a:rPr lang="en-US" dirty="0"/>
              <a:t>If the string str has an invalid value, such as “is −34 even?", then no conversion can be performed and the function throws an </a:t>
            </a:r>
            <a:r>
              <a:rPr lang="en-US" dirty="0" err="1"/>
              <a:t>invalid_argument</a:t>
            </a:r>
            <a:r>
              <a:rPr lang="en-US" dirty="0"/>
              <a:t> exception</a:t>
            </a:r>
          </a:p>
        </p:txBody>
      </p:sp>
    </p:spTree>
    <p:extLst>
      <p:ext uri="{BB962C8B-B14F-4D97-AF65-F5344CB8AC3E}">
        <p14:creationId xmlns:p14="http://schemas.microsoft.com/office/powerpoint/2010/main" val="15977631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1D11-135D-A266-E147-2AD305ABE53D}"/>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0DB957FC-AB60-6B8D-E3BE-C6D9942602B6}"/>
              </a:ext>
            </a:extLst>
          </p:cNvPr>
          <p:cNvPicPr>
            <a:picLocks noChangeAspect="1"/>
          </p:cNvPicPr>
          <p:nvPr/>
        </p:nvPicPr>
        <p:blipFill>
          <a:blip r:embed="rId2"/>
          <a:stretch>
            <a:fillRect/>
          </a:stretch>
        </p:blipFill>
        <p:spPr>
          <a:xfrm>
            <a:off x="250370" y="1690688"/>
            <a:ext cx="5237797" cy="4252912"/>
          </a:xfrm>
          <a:prstGeom prst="rect">
            <a:avLst/>
          </a:prstGeom>
        </p:spPr>
      </p:pic>
      <p:pic>
        <p:nvPicPr>
          <p:cNvPr id="5" name="Picture 4">
            <a:extLst>
              <a:ext uri="{FF2B5EF4-FFF2-40B4-BE49-F238E27FC236}">
                <a16:creationId xmlns:a16="http://schemas.microsoft.com/office/drawing/2014/main" id="{05B616CA-0C01-3F69-9C6E-5DD44CBBFCDF}"/>
              </a:ext>
            </a:extLst>
          </p:cNvPr>
          <p:cNvPicPr>
            <a:picLocks noChangeAspect="1"/>
          </p:cNvPicPr>
          <p:nvPr/>
        </p:nvPicPr>
        <p:blipFill>
          <a:blip r:embed="rId3"/>
          <a:stretch>
            <a:fillRect/>
          </a:stretch>
        </p:blipFill>
        <p:spPr>
          <a:xfrm>
            <a:off x="5717721" y="179332"/>
            <a:ext cx="4306265" cy="3467382"/>
          </a:xfrm>
          <a:prstGeom prst="rect">
            <a:avLst/>
          </a:prstGeom>
        </p:spPr>
      </p:pic>
      <p:pic>
        <p:nvPicPr>
          <p:cNvPr id="7" name="Picture 6">
            <a:extLst>
              <a:ext uri="{FF2B5EF4-FFF2-40B4-BE49-F238E27FC236}">
                <a16:creationId xmlns:a16="http://schemas.microsoft.com/office/drawing/2014/main" id="{0666D059-A60A-65C4-4E52-047D0290E00F}"/>
              </a:ext>
            </a:extLst>
          </p:cNvPr>
          <p:cNvPicPr>
            <a:picLocks noChangeAspect="1"/>
          </p:cNvPicPr>
          <p:nvPr/>
        </p:nvPicPr>
        <p:blipFill>
          <a:blip r:embed="rId4"/>
          <a:stretch>
            <a:fillRect/>
          </a:stretch>
        </p:blipFill>
        <p:spPr>
          <a:xfrm>
            <a:off x="6966857" y="3860800"/>
            <a:ext cx="4495800" cy="2997200"/>
          </a:xfrm>
          <a:prstGeom prst="rect">
            <a:avLst/>
          </a:prstGeom>
        </p:spPr>
      </p:pic>
    </p:spTree>
    <p:extLst>
      <p:ext uri="{BB962C8B-B14F-4D97-AF65-F5344CB8AC3E}">
        <p14:creationId xmlns:p14="http://schemas.microsoft.com/office/powerpoint/2010/main" val="34572455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DDD7D-5EF6-634D-5927-34F45E7B6472}"/>
              </a:ext>
            </a:extLst>
          </p:cNvPr>
          <p:cNvSpPr>
            <a:spLocks noGrp="1"/>
          </p:cNvSpPr>
          <p:nvPr>
            <p:ph type="title"/>
          </p:nvPr>
        </p:nvSpPr>
        <p:spPr/>
        <p:txBody>
          <a:bodyPr/>
          <a:lstStyle/>
          <a:p>
            <a:r>
              <a:rPr lang="en-US" dirty="0"/>
              <a:t>Writing Your Own C-String Handling Functions</a:t>
            </a:r>
          </a:p>
        </p:txBody>
      </p:sp>
      <p:sp>
        <p:nvSpPr>
          <p:cNvPr id="3" name="Content Placeholder 2">
            <a:extLst>
              <a:ext uri="{FF2B5EF4-FFF2-40B4-BE49-F238E27FC236}">
                <a16:creationId xmlns:a16="http://schemas.microsoft.com/office/drawing/2014/main" id="{C7AC8C81-7163-126A-D880-C26935400216}"/>
              </a:ext>
            </a:extLst>
          </p:cNvPr>
          <p:cNvSpPr>
            <a:spLocks noGrp="1"/>
          </p:cNvSpPr>
          <p:nvPr>
            <p:ph idx="1"/>
          </p:nvPr>
        </p:nvSpPr>
        <p:spPr>
          <a:xfrm>
            <a:off x="152400" y="1836509"/>
            <a:ext cx="6948685" cy="4814661"/>
          </a:xfrm>
        </p:spPr>
        <p:txBody>
          <a:bodyPr>
            <a:normAutofit fontScale="92500" lnSpcReduction="20000"/>
          </a:bodyPr>
          <a:lstStyle/>
          <a:p>
            <a:r>
              <a:rPr lang="en-US" dirty="0"/>
              <a:t>You can design your own specialized functions for manipulating strings.</a:t>
            </a:r>
          </a:p>
          <a:p>
            <a:r>
              <a:rPr lang="en-US" dirty="0"/>
              <a:t>Notice that here the function </a:t>
            </a:r>
            <a:r>
              <a:rPr lang="en-US" dirty="0" err="1">
                <a:solidFill>
                  <a:srgbClr val="FF0000"/>
                </a:solidFill>
              </a:rPr>
              <a:t>stringCopy</a:t>
            </a:r>
            <a:r>
              <a:rPr lang="en-US" dirty="0"/>
              <a:t> does not accept an argument indicating the size of the arrays.</a:t>
            </a:r>
          </a:p>
          <a:p>
            <a:r>
              <a:rPr lang="en-US" dirty="0"/>
              <a:t> It simply copies the characters from the source string to the destination until it encounters a null terminator in the source string. </a:t>
            </a:r>
          </a:p>
          <a:p>
            <a:r>
              <a:rPr lang="en-US" dirty="0"/>
              <a:t>When the null terminator is found, the loop has reached the end of the C-string. =</a:t>
            </a:r>
          </a:p>
          <a:p>
            <a:r>
              <a:rPr lang="en-US" dirty="0"/>
              <a:t>The last statement in the function assigns a null terminator (the '\0' character) to the end of string2, so it is properly terminated.</a:t>
            </a:r>
          </a:p>
        </p:txBody>
      </p:sp>
      <p:pic>
        <p:nvPicPr>
          <p:cNvPr id="4" name="Picture 3">
            <a:extLst>
              <a:ext uri="{FF2B5EF4-FFF2-40B4-BE49-F238E27FC236}">
                <a16:creationId xmlns:a16="http://schemas.microsoft.com/office/drawing/2014/main" id="{CD50BDA0-2E19-34CA-AF42-D7D5AC83DAE6}"/>
              </a:ext>
            </a:extLst>
          </p:cNvPr>
          <p:cNvPicPr>
            <a:picLocks noChangeAspect="1"/>
          </p:cNvPicPr>
          <p:nvPr/>
        </p:nvPicPr>
        <p:blipFill>
          <a:blip r:embed="rId2"/>
          <a:stretch>
            <a:fillRect/>
          </a:stretch>
        </p:blipFill>
        <p:spPr>
          <a:xfrm>
            <a:off x="6948685" y="2195738"/>
            <a:ext cx="5243315" cy="3160033"/>
          </a:xfrm>
          <a:prstGeom prst="rect">
            <a:avLst/>
          </a:prstGeom>
        </p:spPr>
      </p:pic>
    </p:spTree>
    <p:extLst>
      <p:ext uri="{BB962C8B-B14F-4D97-AF65-F5344CB8AC3E}">
        <p14:creationId xmlns:p14="http://schemas.microsoft.com/office/powerpoint/2010/main" val="24850910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5ACF-495B-314C-C02E-F1CAC93F7D2B}"/>
              </a:ext>
            </a:extLst>
          </p:cNvPr>
          <p:cNvSpPr>
            <a:spLocks noGrp="1"/>
          </p:cNvSpPr>
          <p:nvPr>
            <p:ph type="title"/>
          </p:nvPr>
        </p:nvSpPr>
        <p:spPr/>
        <p:txBody>
          <a:bodyPr/>
          <a:lstStyle/>
          <a:p>
            <a:r>
              <a:rPr lang="en-US" dirty="0"/>
              <a:t>Using Pointers to Pass C-String Arguments</a:t>
            </a:r>
          </a:p>
        </p:txBody>
      </p:sp>
      <p:sp>
        <p:nvSpPr>
          <p:cNvPr id="3" name="Content Placeholder 2">
            <a:extLst>
              <a:ext uri="{FF2B5EF4-FFF2-40B4-BE49-F238E27FC236}">
                <a16:creationId xmlns:a16="http://schemas.microsoft.com/office/drawing/2014/main" id="{1E091D94-00FC-835D-5CC3-A0FB227F938C}"/>
              </a:ext>
            </a:extLst>
          </p:cNvPr>
          <p:cNvSpPr>
            <a:spLocks noGrp="1"/>
          </p:cNvSpPr>
          <p:nvPr>
            <p:ph idx="1"/>
          </p:nvPr>
        </p:nvSpPr>
        <p:spPr/>
        <p:txBody>
          <a:bodyPr/>
          <a:lstStyle/>
          <a:p>
            <a:r>
              <a:rPr lang="en-US" dirty="0"/>
              <a:t>Pointers are extremely useful for writing functions that process C-strings. </a:t>
            </a:r>
          </a:p>
          <a:p>
            <a:r>
              <a:rPr lang="en-US" dirty="0"/>
              <a:t>If the starting address of a string is passed into a pointer parameter variable, it can be assumed that all the characters, from that address up to the byte that holds the null terminator are part of the string. </a:t>
            </a:r>
          </a:p>
          <a:p>
            <a:r>
              <a:rPr lang="en-US" dirty="0"/>
              <a:t>So, it isn’t necessary to know the length of the array that holds the string.)</a:t>
            </a:r>
          </a:p>
        </p:txBody>
      </p:sp>
    </p:spTree>
    <p:extLst>
      <p:ext uri="{BB962C8B-B14F-4D97-AF65-F5344CB8AC3E}">
        <p14:creationId xmlns:p14="http://schemas.microsoft.com/office/powerpoint/2010/main" val="37065651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AB406-FCDA-B2D0-EAAA-34691286A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8FC74-45EB-4BBE-549D-501C4E69F1B1}"/>
              </a:ext>
            </a:extLst>
          </p:cNvPr>
          <p:cNvSpPr>
            <a:spLocks noGrp="1"/>
          </p:cNvSpPr>
          <p:nvPr>
            <p:ph type="title"/>
          </p:nvPr>
        </p:nvSpPr>
        <p:spPr/>
        <p:txBody>
          <a:bodyPr/>
          <a:lstStyle/>
          <a:p>
            <a:r>
              <a:rPr lang="en-US" dirty="0"/>
              <a:t>Using Pointers to Pass C-String Arguments</a:t>
            </a:r>
          </a:p>
        </p:txBody>
      </p:sp>
      <p:sp>
        <p:nvSpPr>
          <p:cNvPr id="3" name="Content Placeholder 2">
            <a:extLst>
              <a:ext uri="{FF2B5EF4-FFF2-40B4-BE49-F238E27FC236}">
                <a16:creationId xmlns:a16="http://schemas.microsoft.com/office/drawing/2014/main" id="{C5C0C92C-3205-A31F-CA83-64EB054FB3EC}"/>
              </a:ext>
            </a:extLst>
          </p:cNvPr>
          <p:cNvSpPr>
            <a:spLocks noGrp="1"/>
          </p:cNvSpPr>
          <p:nvPr>
            <p:ph idx="1"/>
          </p:nvPr>
        </p:nvSpPr>
        <p:spPr>
          <a:xfrm>
            <a:off x="838200" y="1825625"/>
            <a:ext cx="4680857" cy="4351338"/>
          </a:xfrm>
        </p:spPr>
        <p:txBody>
          <a:bodyPr>
            <a:normAutofit/>
          </a:bodyPr>
          <a:lstStyle/>
          <a:p>
            <a:r>
              <a:rPr lang="en-US" dirty="0"/>
              <a:t>In the function </a:t>
            </a:r>
            <a:r>
              <a:rPr lang="en-US" dirty="0" err="1">
                <a:solidFill>
                  <a:srgbClr val="FF0000"/>
                </a:solidFill>
              </a:rPr>
              <a:t>countChars</a:t>
            </a:r>
            <a:r>
              <a:rPr lang="en-US" dirty="0"/>
              <a:t>, </a:t>
            </a:r>
            <a:r>
              <a:rPr lang="en-US" dirty="0" err="1">
                <a:solidFill>
                  <a:srgbClr val="FF0000"/>
                </a:solidFill>
              </a:rPr>
              <a:t>strPtr</a:t>
            </a:r>
            <a:r>
              <a:rPr lang="en-US" dirty="0"/>
              <a:t> points to the C-string that is to be searched and </a:t>
            </a:r>
            <a:r>
              <a:rPr lang="en-US" dirty="0" err="1">
                <a:solidFill>
                  <a:srgbClr val="FF0000"/>
                </a:solidFill>
              </a:rPr>
              <a:t>ch</a:t>
            </a:r>
            <a:r>
              <a:rPr lang="en-US" dirty="0"/>
              <a:t> contains the character to look for. </a:t>
            </a:r>
          </a:p>
          <a:p>
            <a:r>
              <a:rPr lang="en-US" dirty="0"/>
              <a:t>The while loop repeats as long the character </a:t>
            </a:r>
            <a:r>
              <a:rPr lang="en-US" dirty="0" err="1"/>
              <a:t>strPtr</a:t>
            </a:r>
            <a:r>
              <a:rPr lang="en-US" dirty="0"/>
              <a:t> points to is not the null terminator</a:t>
            </a:r>
          </a:p>
        </p:txBody>
      </p:sp>
      <p:pic>
        <p:nvPicPr>
          <p:cNvPr id="4" name="Picture 3">
            <a:extLst>
              <a:ext uri="{FF2B5EF4-FFF2-40B4-BE49-F238E27FC236}">
                <a16:creationId xmlns:a16="http://schemas.microsoft.com/office/drawing/2014/main" id="{BCAB1CA3-3355-A108-9C1B-41B1BAAFF405}"/>
              </a:ext>
            </a:extLst>
          </p:cNvPr>
          <p:cNvPicPr>
            <a:picLocks noChangeAspect="1"/>
          </p:cNvPicPr>
          <p:nvPr/>
        </p:nvPicPr>
        <p:blipFill>
          <a:blip r:embed="rId2"/>
          <a:stretch>
            <a:fillRect/>
          </a:stretch>
        </p:blipFill>
        <p:spPr>
          <a:xfrm>
            <a:off x="5834744" y="1690688"/>
            <a:ext cx="5761264" cy="4594426"/>
          </a:xfrm>
          <a:prstGeom prst="rect">
            <a:avLst/>
          </a:prstGeom>
        </p:spPr>
      </p:pic>
    </p:spTree>
    <p:extLst>
      <p:ext uri="{BB962C8B-B14F-4D97-AF65-F5344CB8AC3E}">
        <p14:creationId xmlns:p14="http://schemas.microsoft.com/office/powerpoint/2010/main" val="16400503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B734-A560-0997-DFA2-352D32562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18660-9BBE-A50B-B5A5-02F8947F3262}"/>
              </a:ext>
            </a:extLst>
          </p:cNvPr>
          <p:cNvSpPr>
            <a:spLocks noGrp="1"/>
          </p:cNvSpPr>
          <p:nvPr>
            <p:ph type="title"/>
          </p:nvPr>
        </p:nvSpPr>
        <p:spPr/>
        <p:txBody>
          <a:bodyPr/>
          <a:lstStyle/>
          <a:p>
            <a:r>
              <a:rPr lang="en-US" dirty="0"/>
              <a:t>Using Pointers to Pass C-String Arguments</a:t>
            </a:r>
          </a:p>
        </p:txBody>
      </p:sp>
      <p:sp>
        <p:nvSpPr>
          <p:cNvPr id="3" name="Content Placeholder 2">
            <a:extLst>
              <a:ext uri="{FF2B5EF4-FFF2-40B4-BE49-F238E27FC236}">
                <a16:creationId xmlns:a16="http://schemas.microsoft.com/office/drawing/2014/main" id="{0D706E2D-E9C2-F598-79F7-EB1A3729355B}"/>
              </a:ext>
            </a:extLst>
          </p:cNvPr>
          <p:cNvSpPr>
            <a:spLocks noGrp="1"/>
          </p:cNvSpPr>
          <p:nvPr>
            <p:ph idx="1"/>
          </p:nvPr>
        </p:nvSpPr>
        <p:spPr>
          <a:xfrm>
            <a:off x="838200" y="1825625"/>
            <a:ext cx="4865913" cy="4351338"/>
          </a:xfrm>
        </p:spPr>
        <p:txBody>
          <a:bodyPr>
            <a:normAutofit lnSpcReduction="10000"/>
          </a:bodyPr>
          <a:lstStyle/>
          <a:p>
            <a:r>
              <a:rPr lang="en-US" dirty="0"/>
              <a:t>Inside the loop, the following if statement compares the character that </a:t>
            </a:r>
            <a:r>
              <a:rPr lang="en-US" dirty="0" err="1"/>
              <a:t>strPtr</a:t>
            </a:r>
            <a:r>
              <a:rPr lang="en-US" dirty="0"/>
              <a:t> points to with the character in </a:t>
            </a:r>
            <a:r>
              <a:rPr lang="en-US" dirty="0" err="1"/>
              <a:t>ch</a:t>
            </a:r>
            <a:r>
              <a:rPr lang="en-US" dirty="0"/>
              <a:t>: </a:t>
            </a:r>
            <a:br>
              <a:rPr lang="en-US" dirty="0"/>
            </a:br>
            <a:r>
              <a:rPr lang="en-US" b="1" i="1" dirty="0">
                <a:solidFill>
                  <a:srgbClr val="FF0000"/>
                </a:solidFill>
                <a:effectLst/>
              </a:rPr>
              <a:t>if</a:t>
            </a:r>
            <a:r>
              <a:rPr lang="en-US" i="1" dirty="0">
                <a:solidFill>
                  <a:srgbClr val="FF0000"/>
                </a:solidFill>
              </a:rPr>
              <a:t> (*</a:t>
            </a:r>
            <a:r>
              <a:rPr lang="en-US" i="1" dirty="0" err="1">
                <a:solidFill>
                  <a:srgbClr val="FF0000"/>
                </a:solidFill>
              </a:rPr>
              <a:t>strPtr</a:t>
            </a:r>
            <a:r>
              <a:rPr lang="en-US" i="1" dirty="0">
                <a:solidFill>
                  <a:srgbClr val="FF0000"/>
                </a:solidFill>
              </a:rPr>
              <a:t> == </a:t>
            </a:r>
            <a:r>
              <a:rPr lang="en-US" i="1" dirty="0" err="1">
                <a:solidFill>
                  <a:srgbClr val="FF0000"/>
                </a:solidFill>
              </a:rPr>
              <a:t>ch</a:t>
            </a:r>
            <a:r>
              <a:rPr lang="en-US" i="1" dirty="0">
                <a:solidFill>
                  <a:srgbClr val="FF0000"/>
                </a:solidFill>
              </a:rPr>
              <a:t>) </a:t>
            </a:r>
          </a:p>
          <a:p>
            <a:pPr algn="l"/>
            <a:r>
              <a:rPr lang="en-US" dirty="0">
                <a:effectLst/>
              </a:rPr>
              <a:t>If the two are equal, the variable count is incremented. (count keeps a running total of the number of times the character appears.)</a:t>
            </a:r>
            <a:endParaRPr lang="en-US" i="1" dirty="0">
              <a:solidFill>
                <a:srgbClr val="FF0000"/>
              </a:solidFill>
            </a:endParaRPr>
          </a:p>
          <a:p>
            <a:endParaRPr lang="en-US" i="1" dirty="0">
              <a:solidFill>
                <a:srgbClr val="FF0000"/>
              </a:solidFill>
            </a:endParaRPr>
          </a:p>
        </p:txBody>
      </p:sp>
      <p:pic>
        <p:nvPicPr>
          <p:cNvPr id="4" name="Picture 3">
            <a:extLst>
              <a:ext uri="{FF2B5EF4-FFF2-40B4-BE49-F238E27FC236}">
                <a16:creationId xmlns:a16="http://schemas.microsoft.com/office/drawing/2014/main" id="{4EC791B2-9852-7821-CEFD-23C2733975BF}"/>
              </a:ext>
            </a:extLst>
          </p:cNvPr>
          <p:cNvPicPr>
            <a:picLocks noChangeAspect="1"/>
          </p:cNvPicPr>
          <p:nvPr/>
        </p:nvPicPr>
        <p:blipFill>
          <a:blip r:embed="rId2"/>
          <a:stretch>
            <a:fillRect/>
          </a:stretch>
        </p:blipFill>
        <p:spPr>
          <a:xfrm>
            <a:off x="5976257" y="1690688"/>
            <a:ext cx="5652407" cy="4507616"/>
          </a:xfrm>
          <a:prstGeom prst="rect">
            <a:avLst/>
          </a:prstGeom>
        </p:spPr>
      </p:pic>
    </p:spTree>
    <p:extLst>
      <p:ext uri="{BB962C8B-B14F-4D97-AF65-F5344CB8AC3E}">
        <p14:creationId xmlns:p14="http://schemas.microsoft.com/office/powerpoint/2010/main" val="33154859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A8F87-1ACF-AF53-680B-484AFF349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6F1B08-1F10-6E63-C47A-328C4EAD2337}"/>
              </a:ext>
            </a:extLst>
          </p:cNvPr>
          <p:cNvSpPr>
            <a:spLocks noGrp="1"/>
          </p:cNvSpPr>
          <p:nvPr>
            <p:ph type="title"/>
          </p:nvPr>
        </p:nvSpPr>
        <p:spPr/>
        <p:txBody>
          <a:bodyPr/>
          <a:lstStyle/>
          <a:p>
            <a:r>
              <a:rPr lang="en-US" dirty="0"/>
              <a:t>Using Pointers to Pass C-String Arguments</a:t>
            </a:r>
          </a:p>
        </p:txBody>
      </p:sp>
      <p:sp>
        <p:nvSpPr>
          <p:cNvPr id="3" name="Content Placeholder 2">
            <a:extLst>
              <a:ext uri="{FF2B5EF4-FFF2-40B4-BE49-F238E27FC236}">
                <a16:creationId xmlns:a16="http://schemas.microsoft.com/office/drawing/2014/main" id="{2AFAA2FF-2E0D-9985-6EC6-641EE70F21F6}"/>
              </a:ext>
            </a:extLst>
          </p:cNvPr>
          <p:cNvSpPr>
            <a:spLocks noGrp="1"/>
          </p:cNvSpPr>
          <p:nvPr>
            <p:ph idx="1"/>
          </p:nvPr>
        </p:nvSpPr>
        <p:spPr>
          <a:xfrm>
            <a:off x="454478" y="1690688"/>
            <a:ext cx="6022521" cy="4667250"/>
          </a:xfrm>
        </p:spPr>
        <p:txBody>
          <a:bodyPr>
            <a:normAutofit lnSpcReduction="10000"/>
          </a:bodyPr>
          <a:lstStyle/>
          <a:p>
            <a:r>
              <a:rPr lang="en-US" dirty="0">
                <a:effectLst/>
              </a:rPr>
              <a:t>The last statement in the loop is </a:t>
            </a:r>
            <a:r>
              <a:rPr lang="en-US" i="1" dirty="0" err="1">
                <a:solidFill>
                  <a:srgbClr val="FF0000"/>
                </a:solidFill>
              </a:rPr>
              <a:t>strPtr</a:t>
            </a:r>
            <a:r>
              <a:rPr lang="en-US" i="1" dirty="0">
                <a:solidFill>
                  <a:srgbClr val="FF0000"/>
                </a:solidFill>
              </a:rPr>
              <a:t>++; </a:t>
            </a:r>
          </a:p>
          <a:p>
            <a:r>
              <a:rPr lang="en-US" dirty="0"/>
              <a:t>This statement increments the address in </a:t>
            </a:r>
            <a:r>
              <a:rPr lang="en-US" dirty="0" err="1"/>
              <a:t>strPtr</a:t>
            </a:r>
            <a:r>
              <a:rPr lang="en-US" dirty="0"/>
              <a:t>. </a:t>
            </a:r>
          </a:p>
          <a:p>
            <a:r>
              <a:rPr lang="en-US" dirty="0"/>
              <a:t>This causes </a:t>
            </a:r>
            <a:r>
              <a:rPr lang="en-US" dirty="0" err="1"/>
              <a:t>strPtr</a:t>
            </a:r>
            <a:r>
              <a:rPr lang="en-US" dirty="0"/>
              <a:t> to point to the next character in the string. </a:t>
            </a:r>
          </a:p>
          <a:p>
            <a:r>
              <a:rPr lang="en-US" dirty="0"/>
              <a:t>Then the loop starts over. When </a:t>
            </a:r>
            <a:r>
              <a:rPr lang="en-US" dirty="0" err="1"/>
              <a:t>strPtr</a:t>
            </a:r>
            <a:r>
              <a:rPr lang="en-US" dirty="0"/>
              <a:t> finally reaches the null terminator, the loop terminates and the function returns the value in count.</a:t>
            </a:r>
            <a:endParaRPr lang="en-US" i="1" dirty="0">
              <a:solidFill>
                <a:srgbClr val="FF0000"/>
              </a:solidFill>
            </a:endParaRPr>
          </a:p>
          <a:p>
            <a:endParaRPr lang="en-US" i="1" dirty="0">
              <a:solidFill>
                <a:srgbClr val="FF0000"/>
              </a:solidFill>
            </a:endParaRPr>
          </a:p>
          <a:p>
            <a:endParaRPr lang="en-US" i="1" dirty="0">
              <a:solidFill>
                <a:srgbClr val="FF0000"/>
              </a:solidFill>
            </a:endParaRPr>
          </a:p>
        </p:txBody>
      </p:sp>
      <p:pic>
        <p:nvPicPr>
          <p:cNvPr id="4" name="Picture 3">
            <a:extLst>
              <a:ext uri="{FF2B5EF4-FFF2-40B4-BE49-F238E27FC236}">
                <a16:creationId xmlns:a16="http://schemas.microsoft.com/office/drawing/2014/main" id="{C8F54E14-0401-FE24-32FB-A86940A919D9}"/>
              </a:ext>
            </a:extLst>
          </p:cNvPr>
          <p:cNvPicPr>
            <a:picLocks noChangeAspect="1"/>
          </p:cNvPicPr>
          <p:nvPr/>
        </p:nvPicPr>
        <p:blipFill>
          <a:blip r:embed="rId2"/>
          <a:stretch>
            <a:fillRect/>
          </a:stretch>
        </p:blipFill>
        <p:spPr>
          <a:xfrm>
            <a:off x="6368145" y="1690688"/>
            <a:ext cx="5652407" cy="4507616"/>
          </a:xfrm>
          <a:prstGeom prst="rect">
            <a:avLst/>
          </a:prstGeom>
        </p:spPr>
      </p:pic>
    </p:spTree>
    <p:extLst>
      <p:ext uri="{BB962C8B-B14F-4D97-AF65-F5344CB8AC3E}">
        <p14:creationId xmlns:p14="http://schemas.microsoft.com/office/powerpoint/2010/main" val="15921706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BB880-CD80-0B90-C69C-72AFCAF2BF0E}"/>
              </a:ext>
            </a:extLst>
          </p:cNvPr>
          <p:cNvSpPr>
            <a:spLocks noGrp="1"/>
          </p:cNvSpPr>
          <p:nvPr>
            <p:ph type="title"/>
          </p:nvPr>
        </p:nvSpPr>
        <p:spPr/>
        <p:txBody>
          <a:bodyPr/>
          <a:lstStyle/>
          <a:p>
            <a:r>
              <a:rPr lang="en-US" dirty="0">
                <a:effectLst/>
              </a:rPr>
              <a:t>More about the C++ string Class</a:t>
            </a:r>
            <a:br>
              <a:rPr lang="en-US" b="1" dirty="0">
                <a:effectLst/>
              </a:rPr>
            </a:br>
            <a:endParaRPr lang="en-US" dirty="0"/>
          </a:p>
        </p:txBody>
      </p:sp>
      <p:sp>
        <p:nvSpPr>
          <p:cNvPr id="3" name="Content Placeholder 2">
            <a:extLst>
              <a:ext uri="{FF2B5EF4-FFF2-40B4-BE49-F238E27FC236}">
                <a16:creationId xmlns:a16="http://schemas.microsoft.com/office/drawing/2014/main" id="{0241810D-8568-2EC1-278C-7C59E4F15964}"/>
              </a:ext>
            </a:extLst>
          </p:cNvPr>
          <p:cNvSpPr>
            <a:spLocks noGrp="1"/>
          </p:cNvSpPr>
          <p:nvPr>
            <p:ph idx="1"/>
          </p:nvPr>
        </p:nvSpPr>
        <p:spPr/>
        <p:txBody>
          <a:bodyPr/>
          <a:lstStyle/>
          <a:p>
            <a:r>
              <a:rPr lang="en-US" dirty="0"/>
              <a:t>From an ease-of-programming point of view, the standard library string class offers several advantages over C-strings. </a:t>
            </a:r>
          </a:p>
          <a:p>
            <a:r>
              <a:rPr lang="en-US" dirty="0"/>
              <a:t>As you have seen throughout this text, the string class has several member functions and overloaded operators. </a:t>
            </a:r>
          </a:p>
          <a:p>
            <a:r>
              <a:rPr lang="en-US" dirty="0"/>
              <a:t>These simplify tasks, such as locating a character or string within a string, that are difficult and tedious to perform with C-strings. </a:t>
            </a:r>
          </a:p>
          <a:p>
            <a:r>
              <a:rPr lang="en-US" dirty="0"/>
              <a:t>We will now review some basic operations with strings, then discuss more of the string class’s member functions</a:t>
            </a:r>
          </a:p>
        </p:txBody>
      </p:sp>
    </p:spTree>
    <p:extLst>
      <p:ext uri="{BB962C8B-B14F-4D97-AF65-F5344CB8AC3E}">
        <p14:creationId xmlns:p14="http://schemas.microsoft.com/office/powerpoint/2010/main" val="38248233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195A-7C70-8C4A-9B2C-482125C42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E4A0A-E1B5-C6A8-4DBD-DD4BCA1FABFF}"/>
              </a:ext>
            </a:extLst>
          </p:cNvPr>
          <p:cNvSpPr>
            <a:spLocks noGrp="1"/>
          </p:cNvSpPr>
          <p:nvPr>
            <p:ph type="title"/>
          </p:nvPr>
        </p:nvSpPr>
        <p:spPr/>
        <p:txBody>
          <a:bodyPr/>
          <a:lstStyle/>
          <a:p>
            <a:r>
              <a:rPr lang="en-US" dirty="0">
                <a:effectLst/>
              </a:rPr>
              <a:t>More about the C++ string Class</a:t>
            </a:r>
            <a:br>
              <a:rPr lang="en-US" b="1" dirty="0">
                <a:effectLst/>
              </a:rPr>
            </a:br>
            <a:endParaRPr lang="en-US" dirty="0"/>
          </a:p>
        </p:txBody>
      </p:sp>
      <p:sp>
        <p:nvSpPr>
          <p:cNvPr id="3" name="Content Placeholder 2">
            <a:extLst>
              <a:ext uri="{FF2B5EF4-FFF2-40B4-BE49-F238E27FC236}">
                <a16:creationId xmlns:a16="http://schemas.microsoft.com/office/drawing/2014/main" id="{A9B9D179-A272-5945-0B98-36788090E56E}"/>
              </a:ext>
            </a:extLst>
          </p:cNvPr>
          <p:cNvSpPr>
            <a:spLocks noGrp="1"/>
          </p:cNvSpPr>
          <p:nvPr>
            <p:ph idx="1"/>
          </p:nvPr>
        </p:nvSpPr>
        <p:spPr>
          <a:xfrm>
            <a:off x="838200" y="1690688"/>
            <a:ext cx="4561114" cy="4351338"/>
          </a:xfrm>
        </p:spPr>
        <p:txBody>
          <a:bodyPr/>
          <a:lstStyle/>
          <a:p>
            <a:r>
              <a:rPr lang="en-US" dirty="0"/>
              <a:t>Any program using the string class must #include the string header file. </a:t>
            </a:r>
          </a:p>
          <a:p>
            <a:r>
              <a:rPr lang="en-US" dirty="0"/>
              <a:t>String objects may then be created using any of the constructors shown in this table</a:t>
            </a:r>
          </a:p>
        </p:txBody>
      </p:sp>
      <p:pic>
        <p:nvPicPr>
          <p:cNvPr id="4" name="Picture 3">
            <a:extLst>
              <a:ext uri="{FF2B5EF4-FFF2-40B4-BE49-F238E27FC236}">
                <a16:creationId xmlns:a16="http://schemas.microsoft.com/office/drawing/2014/main" id="{CBC8E4BA-E251-AAB3-C485-D2175729793A}"/>
              </a:ext>
            </a:extLst>
          </p:cNvPr>
          <p:cNvPicPr>
            <a:picLocks noChangeAspect="1"/>
          </p:cNvPicPr>
          <p:nvPr/>
        </p:nvPicPr>
        <p:blipFill>
          <a:blip r:embed="rId2"/>
          <a:stretch>
            <a:fillRect/>
          </a:stretch>
        </p:blipFill>
        <p:spPr>
          <a:xfrm>
            <a:off x="5399314" y="1506310"/>
            <a:ext cx="6568374" cy="3860800"/>
          </a:xfrm>
          <a:prstGeom prst="rect">
            <a:avLst/>
          </a:prstGeom>
        </p:spPr>
      </p:pic>
    </p:spTree>
    <p:extLst>
      <p:ext uri="{BB962C8B-B14F-4D97-AF65-F5344CB8AC3E}">
        <p14:creationId xmlns:p14="http://schemas.microsoft.com/office/powerpoint/2010/main" val="38968094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B573A-4ABB-2CF4-C47F-E1D746CAC6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AEC3F-CFC5-0A57-63A0-77E99625FA53}"/>
              </a:ext>
            </a:extLst>
          </p:cNvPr>
          <p:cNvSpPr>
            <a:spLocks noGrp="1"/>
          </p:cNvSpPr>
          <p:nvPr>
            <p:ph type="title"/>
          </p:nvPr>
        </p:nvSpPr>
        <p:spPr/>
        <p:txBody>
          <a:bodyPr/>
          <a:lstStyle/>
          <a:p>
            <a:r>
              <a:rPr lang="en-US" dirty="0">
                <a:effectLst/>
              </a:rPr>
              <a:t>More about the C++ string Class</a:t>
            </a:r>
            <a:br>
              <a:rPr lang="en-US" b="1" dirty="0">
                <a:effectLst/>
              </a:rPr>
            </a:br>
            <a:endParaRPr lang="en-US" dirty="0"/>
          </a:p>
        </p:txBody>
      </p:sp>
      <p:sp>
        <p:nvSpPr>
          <p:cNvPr id="3" name="Content Placeholder 2">
            <a:extLst>
              <a:ext uri="{FF2B5EF4-FFF2-40B4-BE49-F238E27FC236}">
                <a16:creationId xmlns:a16="http://schemas.microsoft.com/office/drawing/2014/main" id="{FC9B726B-2795-EC8D-7FFD-57D5DCFC131C}"/>
              </a:ext>
            </a:extLst>
          </p:cNvPr>
          <p:cNvSpPr>
            <a:spLocks noGrp="1"/>
          </p:cNvSpPr>
          <p:nvPr>
            <p:ph idx="1"/>
          </p:nvPr>
        </p:nvSpPr>
        <p:spPr>
          <a:xfrm>
            <a:off x="838200" y="1499053"/>
            <a:ext cx="10515600" cy="4351338"/>
          </a:xfrm>
        </p:spPr>
        <p:txBody>
          <a:bodyPr/>
          <a:lstStyle/>
          <a:p>
            <a:r>
              <a:rPr lang="en-US" dirty="0"/>
              <a:t>The string class overloads the operators shown in the following table</a:t>
            </a:r>
          </a:p>
        </p:txBody>
      </p:sp>
      <p:pic>
        <p:nvPicPr>
          <p:cNvPr id="5" name="Picture 4">
            <a:extLst>
              <a:ext uri="{FF2B5EF4-FFF2-40B4-BE49-F238E27FC236}">
                <a16:creationId xmlns:a16="http://schemas.microsoft.com/office/drawing/2014/main" id="{D1F73D7B-4809-4FE6-44D1-6AACD41CF80C}"/>
              </a:ext>
            </a:extLst>
          </p:cNvPr>
          <p:cNvPicPr>
            <a:picLocks noChangeAspect="1"/>
          </p:cNvPicPr>
          <p:nvPr/>
        </p:nvPicPr>
        <p:blipFill>
          <a:blip r:embed="rId2"/>
          <a:stretch>
            <a:fillRect/>
          </a:stretch>
        </p:blipFill>
        <p:spPr>
          <a:xfrm>
            <a:off x="2701551" y="2241550"/>
            <a:ext cx="6788897" cy="4616450"/>
          </a:xfrm>
          <a:prstGeom prst="rect">
            <a:avLst/>
          </a:prstGeom>
        </p:spPr>
      </p:pic>
    </p:spTree>
    <p:extLst>
      <p:ext uri="{BB962C8B-B14F-4D97-AF65-F5344CB8AC3E}">
        <p14:creationId xmlns:p14="http://schemas.microsoft.com/office/powerpoint/2010/main" val="11939893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4397F-3F3E-3820-B47E-529FDC063D2D}"/>
              </a:ext>
            </a:extLst>
          </p:cNvPr>
          <p:cNvSpPr>
            <a:spLocks noGrp="1"/>
          </p:cNvSpPr>
          <p:nvPr>
            <p:ph type="title"/>
          </p:nvPr>
        </p:nvSpPr>
        <p:spPr/>
        <p:txBody>
          <a:bodyPr/>
          <a:lstStyle/>
          <a:p>
            <a:r>
              <a:rPr lang="en-US" dirty="0">
                <a:effectLst/>
              </a:rPr>
              <a:t>More about the C++ string Class</a:t>
            </a:r>
            <a:endParaRPr lang="en-US" dirty="0"/>
          </a:p>
        </p:txBody>
      </p:sp>
      <p:sp>
        <p:nvSpPr>
          <p:cNvPr id="3" name="Content Placeholder 2">
            <a:extLst>
              <a:ext uri="{FF2B5EF4-FFF2-40B4-BE49-F238E27FC236}">
                <a16:creationId xmlns:a16="http://schemas.microsoft.com/office/drawing/2014/main" id="{CBC7399D-0CFB-7181-A12D-64288EDA7502}"/>
              </a:ext>
            </a:extLst>
          </p:cNvPr>
          <p:cNvSpPr>
            <a:spLocks noGrp="1"/>
          </p:cNvSpPr>
          <p:nvPr>
            <p:ph idx="1"/>
          </p:nvPr>
        </p:nvSpPr>
        <p:spPr/>
        <p:txBody>
          <a:bodyPr/>
          <a:lstStyle/>
          <a:p>
            <a:r>
              <a:rPr lang="en-US" dirty="0"/>
              <a:t>The string class also has several member functions. </a:t>
            </a:r>
          </a:p>
          <a:p>
            <a:r>
              <a:rPr lang="en-US" b="1" u="sng" dirty="0"/>
              <a:t>List1 : </a:t>
            </a:r>
          </a:p>
        </p:txBody>
      </p:sp>
      <p:pic>
        <p:nvPicPr>
          <p:cNvPr id="4" name="Picture 3">
            <a:extLst>
              <a:ext uri="{FF2B5EF4-FFF2-40B4-BE49-F238E27FC236}">
                <a16:creationId xmlns:a16="http://schemas.microsoft.com/office/drawing/2014/main" id="{70A476E8-8664-D0C7-B116-F1FE22780435}"/>
              </a:ext>
            </a:extLst>
          </p:cNvPr>
          <p:cNvPicPr>
            <a:picLocks noChangeAspect="1"/>
          </p:cNvPicPr>
          <p:nvPr/>
        </p:nvPicPr>
        <p:blipFill>
          <a:blip r:embed="rId2"/>
          <a:stretch>
            <a:fillRect/>
          </a:stretch>
        </p:blipFill>
        <p:spPr>
          <a:xfrm>
            <a:off x="3557814" y="2506663"/>
            <a:ext cx="5758486" cy="4351337"/>
          </a:xfrm>
          <a:prstGeom prst="rect">
            <a:avLst/>
          </a:prstGeom>
        </p:spPr>
      </p:pic>
    </p:spTree>
    <p:extLst>
      <p:ext uri="{BB962C8B-B14F-4D97-AF65-F5344CB8AC3E}">
        <p14:creationId xmlns:p14="http://schemas.microsoft.com/office/powerpoint/2010/main" val="40952852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BC622-8548-1D43-3FF0-F660C9905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47A7B-DC86-DC11-2D97-528E582DE90B}"/>
              </a:ext>
            </a:extLst>
          </p:cNvPr>
          <p:cNvSpPr>
            <a:spLocks noGrp="1"/>
          </p:cNvSpPr>
          <p:nvPr>
            <p:ph type="title"/>
          </p:nvPr>
        </p:nvSpPr>
        <p:spPr/>
        <p:txBody>
          <a:bodyPr/>
          <a:lstStyle/>
          <a:p>
            <a:r>
              <a:rPr lang="en-US" dirty="0">
                <a:effectLst/>
              </a:rPr>
              <a:t>More about the C++ string Class</a:t>
            </a:r>
            <a:endParaRPr lang="en-US" dirty="0"/>
          </a:p>
        </p:txBody>
      </p:sp>
      <p:sp>
        <p:nvSpPr>
          <p:cNvPr id="3" name="Content Placeholder 2">
            <a:extLst>
              <a:ext uri="{FF2B5EF4-FFF2-40B4-BE49-F238E27FC236}">
                <a16:creationId xmlns:a16="http://schemas.microsoft.com/office/drawing/2014/main" id="{83447CF4-1781-CA2B-0DAA-5596F047F3DD}"/>
              </a:ext>
            </a:extLst>
          </p:cNvPr>
          <p:cNvSpPr>
            <a:spLocks noGrp="1"/>
          </p:cNvSpPr>
          <p:nvPr>
            <p:ph idx="1"/>
          </p:nvPr>
        </p:nvSpPr>
        <p:spPr/>
        <p:txBody>
          <a:bodyPr/>
          <a:lstStyle/>
          <a:p>
            <a:r>
              <a:rPr lang="en-US" b="1" dirty="0"/>
              <a:t>List 2: </a:t>
            </a:r>
          </a:p>
        </p:txBody>
      </p:sp>
      <p:pic>
        <p:nvPicPr>
          <p:cNvPr id="5" name="Picture 4">
            <a:extLst>
              <a:ext uri="{FF2B5EF4-FFF2-40B4-BE49-F238E27FC236}">
                <a16:creationId xmlns:a16="http://schemas.microsoft.com/office/drawing/2014/main" id="{0B327EEF-4789-BEEC-36B0-0A0C1042CDCA}"/>
              </a:ext>
            </a:extLst>
          </p:cNvPr>
          <p:cNvPicPr>
            <a:picLocks noChangeAspect="1"/>
          </p:cNvPicPr>
          <p:nvPr/>
        </p:nvPicPr>
        <p:blipFill>
          <a:blip r:embed="rId2"/>
          <a:srcRect t="3012"/>
          <a:stretch/>
        </p:blipFill>
        <p:spPr>
          <a:xfrm>
            <a:off x="2759448" y="2405743"/>
            <a:ext cx="6673104" cy="3993923"/>
          </a:xfrm>
          <a:prstGeom prst="rect">
            <a:avLst/>
          </a:prstGeom>
        </p:spPr>
      </p:pic>
    </p:spTree>
    <p:extLst>
      <p:ext uri="{BB962C8B-B14F-4D97-AF65-F5344CB8AC3E}">
        <p14:creationId xmlns:p14="http://schemas.microsoft.com/office/powerpoint/2010/main" val="2788884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30813-C355-6A46-895F-65B8CABA9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5C996-BA27-2310-05C6-4D5056D0987A}"/>
              </a:ext>
            </a:extLst>
          </p:cNvPr>
          <p:cNvSpPr>
            <a:spLocks noGrp="1"/>
          </p:cNvSpPr>
          <p:nvPr>
            <p:ph type="title"/>
          </p:nvPr>
        </p:nvSpPr>
        <p:spPr>
          <a:xfrm>
            <a:off x="838200" y="365125"/>
            <a:ext cx="3984171" cy="1325563"/>
          </a:xfrm>
        </p:spPr>
        <p:txBody>
          <a:bodyPr/>
          <a:lstStyle/>
          <a:p>
            <a:r>
              <a:rPr lang="en-US" dirty="0">
                <a:effectLst/>
              </a:rPr>
              <a:t>More about the C++ string Class</a:t>
            </a:r>
            <a:endParaRPr lang="en-US" dirty="0"/>
          </a:p>
        </p:txBody>
      </p:sp>
      <p:sp>
        <p:nvSpPr>
          <p:cNvPr id="3" name="Content Placeholder 2">
            <a:extLst>
              <a:ext uri="{FF2B5EF4-FFF2-40B4-BE49-F238E27FC236}">
                <a16:creationId xmlns:a16="http://schemas.microsoft.com/office/drawing/2014/main" id="{2A1B547B-5897-7660-7FC5-E95A333FD142}"/>
              </a:ext>
            </a:extLst>
          </p:cNvPr>
          <p:cNvSpPr>
            <a:spLocks noGrp="1"/>
          </p:cNvSpPr>
          <p:nvPr>
            <p:ph idx="1"/>
          </p:nvPr>
        </p:nvSpPr>
        <p:spPr/>
        <p:txBody>
          <a:bodyPr/>
          <a:lstStyle/>
          <a:p>
            <a:r>
              <a:rPr lang="en-US" b="1" dirty="0"/>
              <a:t>List 3: </a:t>
            </a:r>
          </a:p>
        </p:txBody>
      </p:sp>
      <p:pic>
        <p:nvPicPr>
          <p:cNvPr id="4" name="Picture 3">
            <a:extLst>
              <a:ext uri="{FF2B5EF4-FFF2-40B4-BE49-F238E27FC236}">
                <a16:creationId xmlns:a16="http://schemas.microsoft.com/office/drawing/2014/main" id="{706E31A8-E70B-78DB-26FB-8389AD750F3B}"/>
              </a:ext>
            </a:extLst>
          </p:cNvPr>
          <p:cNvPicPr>
            <a:picLocks noChangeAspect="1"/>
          </p:cNvPicPr>
          <p:nvPr/>
        </p:nvPicPr>
        <p:blipFill>
          <a:blip r:embed="rId2"/>
          <a:stretch>
            <a:fillRect/>
          </a:stretch>
        </p:blipFill>
        <p:spPr>
          <a:xfrm>
            <a:off x="5337673" y="0"/>
            <a:ext cx="6354441" cy="6858000"/>
          </a:xfrm>
          <a:prstGeom prst="rect">
            <a:avLst/>
          </a:prstGeom>
        </p:spPr>
      </p:pic>
    </p:spTree>
    <p:extLst>
      <p:ext uri="{BB962C8B-B14F-4D97-AF65-F5344CB8AC3E}">
        <p14:creationId xmlns:p14="http://schemas.microsoft.com/office/powerpoint/2010/main" val="2463212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1098</TotalTime>
  <Words>4308</Words>
  <Application>Microsoft Macintosh PowerPoint</Application>
  <PresentationFormat>Widescreen</PresentationFormat>
  <Paragraphs>302</Paragraphs>
  <Slides>77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77</vt:i4>
      </vt:variant>
    </vt:vector>
  </HeadingPairs>
  <TitlesOfParts>
    <vt:vector size="81" baseType="lpstr">
      <vt:lpstr>Aptos</vt:lpstr>
      <vt:lpstr>Aptos Display</vt:lpstr>
      <vt:lpstr>Arial</vt:lpstr>
      <vt:lpstr>Office Theme</vt:lpstr>
      <vt:lpstr>CS 331</vt:lpstr>
      <vt:lpstr>Character Testing</vt:lpstr>
      <vt:lpstr>Character Testing</vt:lpstr>
      <vt:lpstr>Character-Testing Functions in &lt;cctype&gt;</vt:lpstr>
      <vt:lpstr>Example</vt:lpstr>
      <vt:lpstr>Example</vt:lpstr>
      <vt:lpstr>Example</vt:lpstr>
      <vt:lpstr>Example</vt:lpstr>
      <vt:lpstr>Example</vt:lpstr>
      <vt:lpstr>Complete Example</vt:lpstr>
      <vt:lpstr>Character Case Conversion</vt:lpstr>
      <vt:lpstr>Character Case Conversion</vt:lpstr>
      <vt:lpstr>Character Case Conversion</vt:lpstr>
      <vt:lpstr>Character Case Conversion</vt:lpstr>
      <vt:lpstr>Example</vt:lpstr>
      <vt:lpstr>C-Strings</vt:lpstr>
      <vt:lpstr>C-Strings</vt:lpstr>
      <vt:lpstr>C-Strings</vt:lpstr>
      <vt:lpstr>C-Strings</vt:lpstr>
      <vt:lpstr>C-Strings</vt:lpstr>
      <vt:lpstr>String Literals</vt:lpstr>
      <vt:lpstr>Example</vt:lpstr>
      <vt:lpstr>Programmer-Defined Arrays of Character</vt:lpstr>
      <vt:lpstr>Programmer-Defined Arrays of Character</vt:lpstr>
      <vt:lpstr>Programmer-Defined Arrays of Character</vt:lpstr>
      <vt:lpstr>Programmer-Defined Arrays of Character</vt:lpstr>
      <vt:lpstr>Programmer-Defined Arrays of Character</vt:lpstr>
      <vt:lpstr>Programmer-Defined Arrays of Character</vt:lpstr>
      <vt:lpstr>Example</vt:lpstr>
      <vt:lpstr>Pointers to char</vt:lpstr>
      <vt:lpstr>Pointers to char</vt:lpstr>
      <vt:lpstr>Pointers to char</vt:lpstr>
      <vt:lpstr>Example</vt:lpstr>
      <vt:lpstr>Library Functions for Working with C-Strings</vt:lpstr>
      <vt:lpstr>Passing C-String Arguments</vt:lpstr>
      <vt:lpstr>The strlen Function</vt:lpstr>
      <vt:lpstr>The strcat Function</vt:lpstr>
      <vt:lpstr>The strcat Function</vt:lpstr>
      <vt:lpstr>The strcat Function (contd.)</vt:lpstr>
      <vt:lpstr>The strcpy Function</vt:lpstr>
      <vt:lpstr>Comparing C-Strings</vt:lpstr>
      <vt:lpstr>The strcmp Function</vt:lpstr>
      <vt:lpstr>The strcmp Function</vt:lpstr>
      <vt:lpstr>Example</vt:lpstr>
      <vt:lpstr>The strcmp Function</vt:lpstr>
      <vt:lpstr>Example</vt:lpstr>
      <vt:lpstr>Using ! with strcmp</vt:lpstr>
      <vt:lpstr>Sorting Strings</vt:lpstr>
      <vt:lpstr>Example</vt:lpstr>
      <vt:lpstr>Summary table</vt:lpstr>
      <vt:lpstr>Conversions Between Numbers and Strings</vt:lpstr>
      <vt:lpstr>Conversions Between Numbers and Strings</vt:lpstr>
      <vt:lpstr>Conversions Between Numbers and Strings</vt:lpstr>
      <vt:lpstr>Interesting fact</vt:lpstr>
      <vt:lpstr>Using String Stream Objects for Numeric Conversions</vt:lpstr>
      <vt:lpstr>Using String Stream Objects for Numeric Conversions</vt:lpstr>
      <vt:lpstr>Using String Stream Objects for Numeric Conversions</vt:lpstr>
      <vt:lpstr>Example</vt:lpstr>
      <vt:lpstr>Using String Stream Objects for Numeric Conversions</vt:lpstr>
      <vt:lpstr>Numeric Conversion Functions</vt:lpstr>
      <vt:lpstr>Numeric Conversion Functions</vt:lpstr>
      <vt:lpstr>Numeric Conversion Functions</vt:lpstr>
      <vt:lpstr>Numeric Conversion Functions</vt:lpstr>
      <vt:lpstr>Numeric Conversion Functions</vt:lpstr>
      <vt:lpstr>Numeric Conversion Functions</vt:lpstr>
      <vt:lpstr>Example</vt:lpstr>
      <vt:lpstr>Writing Your Own C-String Handling Functions</vt:lpstr>
      <vt:lpstr>Using Pointers to Pass C-String Arguments</vt:lpstr>
      <vt:lpstr>Using Pointers to Pass C-String Arguments</vt:lpstr>
      <vt:lpstr>Using Pointers to Pass C-String Arguments</vt:lpstr>
      <vt:lpstr>Using Pointers to Pass C-String Arguments</vt:lpstr>
      <vt:lpstr>More about the C++ string Class </vt:lpstr>
      <vt:lpstr>More about the C++ string Class </vt:lpstr>
      <vt:lpstr>More about the C++ string Class </vt:lpstr>
      <vt:lpstr>More about the C++ string Class</vt:lpstr>
      <vt:lpstr>More about the C++ string Class</vt:lpstr>
      <vt:lpstr>More about the C++ string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15</cp:revision>
  <dcterms:created xsi:type="dcterms:W3CDTF">2024-11-14T10:47:34Z</dcterms:created>
  <dcterms:modified xsi:type="dcterms:W3CDTF">2024-11-21T13:10:34Z</dcterms:modified>
</cp:coreProperties>
</file>