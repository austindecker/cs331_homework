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7"/>
  </p:notesMasterIdLst>
  <p:handoutMasterIdLst>
    <p:handoutMasterId r:id="rId48"/>
  </p:handoutMasterIdLst>
  <p:sldIdLst>
    <p:sldId id="257" r:id="rId2"/>
    <p:sldId id="681" r:id="rId3"/>
    <p:sldId id="720" r:id="rId4"/>
    <p:sldId id="741" r:id="rId5"/>
    <p:sldId id="687" r:id="rId6"/>
    <p:sldId id="688" r:id="rId7"/>
    <p:sldId id="722" r:id="rId8"/>
    <p:sldId id="750" r:id="rId9"/>
    <p:sldId id="751" r:id="rId10"/>
    <p:sldId id="728" r:id="rId11"/>
    <p:sldId id="732" r:id="rId12"/>
    <p:sldId id="733" r:id="rId13"/>
    <p:sldId id="734" r:id="rId14"/>
    <p:sldId id="735" r:id="rId15"/>
    <p:sldId id="708" r:id="rId16"/>
    <p:sldId id="709" r:id="rId17"/>
    <p:sldId id="710" r:id="rId18"/>
    <p:sldId id="711" r:id="rId19"/>
    <p:sldId id="712" r:id="rId20"/>
    <p:sldId id="713" r:id="rId21"/>
    <p:sldId id="714" r:id="rId22"/>
    <p:sldId id="715" r:id="rId23"/>
    <p:sldId id="716" r:id="rId24"/>
    <p:sldId id="717" r:id="rId25"/>
    <p:sldId id="736" r:id="rId26"/>
    <p:sldId id="744" r:id="rId27"/>
    <p:sldId id="745" r:id="rId28"/>
    <p:sldId id="765" r:id="rId29"/>
    <p:sldId id="766" r:id="rId30"/>
    <p:sldId id="743" r:id="rId31"/>
    <p:sldId id="746" r:id="rId32"/>
    <p:sldId id="752" r:id="rId33"/>
    <p:sldId id="753" r:id="rId34"/>
    <p:sldId id="754" r:id="rId35"/>
    <p:sldId id="755" r:id="rId36"/>
    <p:sldId id="756" r:id="rId37"/>
    <p:sldId id="757" r:id="rId38"/>
    <p:sldId id="758" r:id="rId39"/>
    <p:sldId id="739" r:id="rId40"/>
    <p:sldId id="759" r:id="rId41"/>
    <p:sldId id="760" r:id="rId42"/>
    <p:sldId id="761" r:id="rId43"/>
    <p:sldId id="762" r:id="rId44"/>
    <p:sldId id="763" r:id="rId45"/>
    <p:sldId id="764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6" autoAdjust="0"/>
    <p:restoredTop sz="94694"/>
  </p:normalViewPr>
  <p:slideViewPr>
    <p:cSldViewPr>
      <p:cViewPr>
        <p:scale>
          <a:sx n="119" d="100"/>
          <a:sy n="119" d="100"/>
        </p:scale>
        <p:origin x="164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288407A5-9CC5-1FFF-C804-37FF44450D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57F7439-6E47-FEAE-6487-744107C748B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01DFEB37-2445-8877-273B-7BA5F102B6C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626FBEDD-04A1-D0B2-7135-FF2D1BD4D08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3A2E3453-4318-C144-B267-E7D6178D62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B83C498D-EAAA-36C9-1D48-512CB85980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3D2EA705-8DB4-C6A7-3F56-019FA416A38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07592B15-67CE-5E8D-660E-F153FDE13E6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6789" name="Rectangle 5">
            <a:extLst>
              <a:ext uri="{FF2B5EF4-FFF2-40B4-BE49-F238E27FC236}">
                <a16:creationId xmlns:a16="http://schemas.microsoft.com/office/drawing/2014/main" id="{53B1E6A3-71CF-236E-9B8F-B74DCB41DE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6790" name="Rectangle 6">
            <a:extLst>
              <a:ext uri="{FF2B5EF4-FFF2-40B4-BE49-F238E27FC236}">
                <a16:creationId xmlns:a16="http://schemas.microsoft.com/office/drawing/2014/main" id="{03949103-CF0A-9758-C709-FB3F4A3863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6791" name="Rectangle 7">
            <a:extLst>
              <a:ext uri="{FF2B5EF4-FFF2-40B4-BE49-F238E27FC236}">
                <a16:creationId xmlns:a16="http://schemas.microsoft.com/office/drawing/2014/main" id="{5BC7561D-BF05-83B2-B7DE-D0952E2B9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924BCC7F-9249-F04C-BF90-FCB05A4751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5603C75-F37E-182C-B83C-726A61A147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3965EE6-F34C-E943-B330-772DC8C7700F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E3019F5-6B30-06A7-6FD2-445190D71B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A2578A5-8C76-4F9B-8477-696194158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6FD7745-336E-9753-D2B1-88883AD3B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1D13FB7-4BC7-E94D-B9E3-4ED7FA9425AA}" type="slidenum">
              <a:rPr lang="en-US" altLang="en-US"/>
              <a:pPr eaLnBrk="1" hangingPunct="1"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3878902-9889-3D4B-37FC-359D8BD43B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5D52314-0AE8-462D-F26F-C21774EEF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690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0C67749F-66AF-5FFB-2E96-712B1A7EA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FE2A79BE-F140-B18F-7413-7F2AC630A5FB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E75FBC2A-D334-566D-50B3-008741241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366BECE4-CADC-642A-F121-8ABC96613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0BBDB505-B9C0-1531-68D7-9DD8025B6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65FA29F5-8268-1331-4561-533EF0F6D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95F86F33-88E0-C902-0BBF-9F1F6AB95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1C96B225-7EF2-3DD6-DA54-F768C99C6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4C861165-492D-4418-5E9C-CE8A5E087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8944F288-AA55-65BC-5ACA-05B7E8ED2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7101FBDC-B75F-0175-0F84-D323F5BFB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7F17F9A6-EE90-D5C0-C26A-63534171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6A20090-91CD-2ACB-0DB8-202A6568F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FB3FF18B-3902-B097-F158-A104E9D9C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3BF2F723-1BDA-73F2-779C-8F6DD1862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E722468-5DFF-EB5F-B7F2-6FAD22810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495FD5E1-C10A-87DF-4702-72282B41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F1D2B833-8AB9-9086-8C90-A23696570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5A1CD3B8-F2C9-F1F8-9B0B-CA5F79501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6914AB5E-825E-2E37-B087-0E8F600B1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7CFD393F-F71B-71F2-7FD2-97A12E67C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5304429A-6479-E40D-C543-A5B5D7F81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1B9A0CDC-F353-6FB8-C4DA-F19EF946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355990C9-11AC-EBAE-7B86-772837AB1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C11EC471-ED00-0496-E9FA-35AE23216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DF4E410B-DC36-DE6F-258D-2303EB335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2D73A9E6-FC8D-A51F-AB8C-834E26D62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EB6B403E-4875-3ABF-D9C2-5BE6E3035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1C29F496-9865-CD1F-EC4F-22FFA5EF7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285BCA03-AB05-AB9E-E8EB-D5AD2EE92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B3DEA2B5-0519-97DF-DF23-EA383499F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846447B4-E204-7677-3D67-FB887CEE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BCB306E3-1B71-79B6-D986-F4802EFBF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20136D-7A93-5361-F7B7-7BEFD9689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B16A8CC-2D0D-C631-194F-8EA137A1A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BBFB8042-C333-39F7-9D44-ED9A4C7D90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7423155E-A4F6-CE89-1E9C-DD69EC469A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fld id="{E3D611CF-3808-944F-8692-0DCB74DF6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38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91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721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152900" cy="5138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719263"/>
            <a:ext cx="4152900" cy="5138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038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33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822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15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47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85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083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22238"/>
            <a:ext cx="2114550" cy="6735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191250" cy="6735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789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152900" cy="513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719263"/>
            <a:ext cx="4152900" cy="513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4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24745D2C-C287-F265-871B-0DE600BB9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9F6484-2511-59D3-3C9A-846725722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95313C8-78EF-50E0-3E48-239D2769D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458200" cy="513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9" name="Group 8">
            <a:extLst>
              <a:ext uri="{FF2B5EF4-FFF2-40B4-BE49-F238E27FC236}">
                <a16:creationId xmlns:a16="http://schemas.microsoft.com/office/drawing/2014/main" id="{9B0220E3-03ED-EEC9-D98C-9D7B24E57BE6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0" name="Oval 9">
              <a:extLst>
                <a:ext uri="{FF2B5EF4-FFF2-40B4-BE49-F238E27FC236}">
                  <a16:creationId xmlns:a16="http://schemas.microsoft.com/office/drawing/2014/main" id="{41BB0630-5220-FC5F-1432-6250AC99E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1" name="Oval 10">
              <a:extLst>
                <a:ext uri="{FF2B5EF4-FFF2-40B4-BE49-F238E27FC236}">
                  <a16:creationId xmlns:a16="http://schemas.microsoft.com/office/drawing/2014/main" id="{5E9957AA-619E-C3B0-D306-95533FE08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2" name="Oval 11">
              <a:extLst>
                <a:ext uri="{FF2B5EF4-FFF2-40B4-BE49-F238E27FC236}">
                  <a16:creationId xmlns:a16="http://schemas.microsoft.com/office/drawing/2014/main" id="{A4D1C4DF-7513-66A7-E4D3-EC33BE5F7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3" name="Oval 12">
              <a:extLst>
                <a:ext uri="{FF2B5EF4-FFF2-40B4-BE49-F238E27FC236}">
                  <a16:creationId xmlns:a16="http://schemas.microsoft.com/office/drawing/2014/main" id="{1F348732-F3B0-6A02-7817-E5C98B31C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3">
              <a:extLst>
                <a:ext uri="{FF2B5EF4-FFF2-40B4-BE49-F238E27FC236}">
                  <a16:creationId xmlns:a16="http://schemas.microsoft.com/office/drawing/2014/main" id="{C07D4607-B76E-040F-F242-32409CD2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4">
              <a:extLst>
                <a:ext uri="{FF2B5EF4-FFF2-40B4-BE49-F238E27FC236}">
                  <a16:creationId xmlns:a16="http://schemas.microsoft.com/office/drawing/2014/main" id="{BBC89E52-E9F3-CDB2-3F77-984DFC6BA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5">
              <a:extLst>
                <a:ext uri="{FF2B5EF4-FFF2-40B4-BE49-F238E27FC236}">
                  <a16:creationId xmlns:a16="http://schemas.microsoft.com/office/drawing/2014/main" id="{D2EE5190-BAE5-7968-936D-CB24DCDB6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6">
              <a:extLst>
                <a:ext uri="{FF2B5EF4-FFF2-40B4-BE49-F238E27FC236}">
                  <a16:creationId xmlns:a16="http://schemas.microsoft.com/office/drawing/2014/main" id="{2EA68B3A-1CB2-1F59-ECDA-3C5BC3483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7">
              <a:extLst>
                <a:ext uri="{FF2B5EF4-FFF2-40B4-BE49-F238E27FC236}">
                  <a16:creationId xmlns:a16="http://schemas.microsoft.com/office/drawing/2014/main" id="{125CFE37-9C2B-A8BA-4F44-FF9335C27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8">
              <a:extLst>
                <a:ext uri="{FF2B5EF4-FFF2-40B4-BE49-F238E27FC236}">
                  <a16:creationId xmlns:a16="http://schemas.microsoft.com/office/drawing/2014/main" id="{B5B7FE1B-C440-D4ED-13C0-670511B17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9">
              <a:extLst>
                <a:ext uri="{FF2B5EF4-FFF2-40B4-BE49-F238E27FC236}">
                  <a16:creationId xmlns:a16="http://schemas.microsoft.com/office/drawing/2014/main" id="{49743DED-A0B2-351E-9E56-C8B596F4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20">
              <a:extLst>
                <a:ext uri="{FF2B5EF4-FFF2-40B4-BE49-F238E27FC236}">
                  <a16:creationId xmlns:a16="http://schemas.microsoft.com/office/drawing/2014/main" id="{E8421E02-58C0-8F6A-F0A9-CDBEF8CCF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21">
              <a:extLst>
                <a:ext uri="{FF2B5EF4-FFF2-40B4-BE49-F238E27FC236}">
                  <a16:creationId xmlns:a16="http://schemas.microsoft.com/office/drawing/2014/main" id="{7A3E2B28-C6CF-2F79-2505-5829BAE2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22">
              <a:extLst>
                <a:ext uri="{FF2B5EF4-FFF2-40B4-BE49-F238E27FC236}">
                  <a16:creationId xmlns:a16="http://schemas.microsoft.com/office/drawing/2014/main" id="{CE4959DF-CEE0-E9AC-9082-30B707851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3">
              <a:extLst>
                <a:ext uri="{FF2B5EF4-FFF2-40B4-BE49-F238E27FC236}">
                  <a16:creationId xmlns:a16="http://schemas.microsoft.com/office/drawing/2014/main" id="{8163F363-0D41-6D76-068B-6B1937877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4">
              <a:extLst>
                <a:ext uri="{FF2B5EF4-FFF2-40B4-BE49-F238E27FC236}">
                  <a16:creationId xmlns:a16="http://schemas.microsoft.com/office/drawing/2014/main" id="{F16E3439-CDE7-B832-3962-5D9125C8D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5">
              <a:extLst>
                <a:ext uri="{FF2B5EF4-FFF2-40B4-BE49-F238E27FC236}">
                  <a16:creationId xmlns:a16="http://schemas.microsoft.com/office/drawing/2014/main" id="{F374F8E4-3C6E-0B54-1032-42EF330B8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6">
              <a:extLst>
                <a:ext uri="{FF2B5EF4-FFF2-40B4-BE49-F238E27FC236}">
                  <a16:creationId xmlns:a16="http://schemas.microsoft.com/office/drawing/2014/main" id="{CDDE6A26-E539-EC0C-1720-EC59682D6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7">
              <a:extLst>
                <a:ext uri="{FF2B5EF4-FFF2-40B4-BE49-F238E27FC236}">
                  <a16:creationId xmlns:a16="http://schemas.microsoft.com/office/drawing/2014/main" id="{7B8DBE7D-DE65-4F6A-4564-E3278FE1E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8">
              <a:extLst>
                <a:ext uri="{FF2B5EF4-FFF2-40B4-BE49-F238E27FC236}">
                  <a16:creationId xmlns:a16="http://schemas.microsoft.com/office/drawing/2014/main" id="{6638503B-DD3F-A29C-889E-EEE04E785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9">
              <a:extLst>
                <a:ext uri="{FF2B5EF4-FFF2-40B4-BE49-F238E27FC236}">
                  <a16:creationId xmlns:a16="http://schemas.microsoft.com/office/drawing/2014/main" id="{874D8A1C-7A21-DE6E-CA90-32EEEFD6A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30">
              <a:extLst>
                <a:ext uri="{FF2B5EF4-FFF2-40B4-BE49-F238E27FC236}">
                  <a16:creationId xmlns:a16="http://schemas.microsoft.com/office/drawing/2014/main" id="{1E63519A-D8BA-FF7C-FEDB-50F6AE24C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31">
              <a:extLst>
                <a:ext uri="{FF2B5EF4-FFF2-40B4-BE49-F238E27FC236}">
                  <a16:creationId xmlns:a16="http://schemas.microsoft.com/office/drawing/2014/main" id="{AC6C66EB-BE5A-07A3-0A88-A5F8FD413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32">
              <a:extLst>
                <a:ext uri="{FF2B5EF4-FFF2-40B4-BE49-F238E27FC236}">
                  <a16:creationId xmlns:a16="http://schemas.microsoft.com/office/drawing/2014/main" id="{C21ADF22-8008-E8DD-3EFD-52E8D43FC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3">
              <a:extLst>
                <a:ext uri="{FF2B5EF4-FFF2-40B4-BE49-F238E27FC236}">
                  <a16:creationId xmlns:a16="http://schemas.microsoft.com/office/drawing/2014/main" id="{FCEA5F63-425E-F0F2-8467-40EC2599E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4">
              <a:extLst>
                <a:ext uri="{FF2B5EF4-FFF2-40B4-BE49-F238E27FC236}">
                  <a16:creationId xmlns:a16="http://schemas.microsoft.com/office/drawing/2014/main" id="{92CC53E9-913F-4A1B-E835-7C5DE0686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5">
              <a:extLst>
                <a:ext uri="{FF2B5EF4-FFF2-40B4-BE49-F238E27FC236}">
                  <a16:creationId xmlns:a16="http://schemas.microsoft.com/office/drawing/2014/main" id="{F66595F7-5CB9-EB4D-71D3-5BB367E69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6">
              <a:extLst>
                <a:ext uri="{FF2B5EF4-FFF2-40B4-BE49-F238E27FC236}">
                  <a16:creationId xmlns:a16="http://schemas.microsoft.com/office/drawing/2014/main" id="{764305F4-9222-FFC1-D2C3-8C5D5EA75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7">
              <a:extLst>
                <a:ext uri="{FF2B5EF4-FFF2-40B4-BE49-F238E27FC236}">
                  <a16:creationId xmlns:a16="http://schemas.microsoft.com/office/drawing/2014/main" id="{489D9D05-CBE5-C4BA-D234-0D1F47317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8">
              <a:extLst>
                <a:ext uri="{FF2B5EF4-FFF2-40B4-BE49-F238E27FC236}">
                  <a16:creationId xmlns:a16="http://schemas.microsoft.com/office/drawing/2014/main" id="{A576CFC9-CD58-25EA-BF1A-9D71D3F46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9">
              <a:extLst>
                <a:ext uri="{FF2B5EF4-FFF2-40B4-BE49-F238E27FC236}">
                  <a16:creationId xmlns:a16="http://schemas.microsoft.com/office/drawing/2014/main" id="{FDF8F9E9-7184-E14F-B26D-820A455FA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400" b="1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400" b="1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C770D12-F4A8-23E6-7C00-C4FB2BA0F1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Lecture </a:t>
            </a:r>
            <a:r>
              <a:rPr lang="en-US" altLang="en-US">
                <a:ea typeface="굴림" panose="020B0600000101010101" pitchFamily="34" charset="-127"/>
              </a:rPr>
              <a:t>2</a:t>
            </a:r>
            <a:br>
              <a:rPr lang="en-US" altLang="ko-KR">
                <a:ea typeface="굴림" panose="020B0600000101010101" pitchFamily="34" charset="-127"/>
              </a:rPr>
            </a:br>
            <a:r>
              <a:rPr lang="en-US" altLang="ko-KR">
                <a:ea typeface="굴림" panose="020B0600000101010101" pitchFamily="34" charset="-127"/>
              </a:rPr>
              <a:t> </a:t>
            </a:r>
            <a:r>
              <a:rPr lang="en-US" altLang="en-US" sz="4600"/>
              <a:t>C++ Functions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B68F7DB-42AF-7EBF-C37F-97A6F380C5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CS331 Introduction to C++ and Object</a:t>
            </a:r>
            <a:r>
              <a:rPr lang="en-US" altLang="ko-KR" dirty="0">
                <a:ea typeface="굴림" panose="020B0600000101010101" pitchFamily="34" charset="-127"/>
              </a:rPr>
              <a:t> </a:t>
            </a:r>
            <a:r>
              <a:rPr lang="en-US" altLang="en-US" dirty="0"/>
              <a:t>Oriented Programming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51DF85-2B9C-34D1-8150-5BEF59B2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C++ Functions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613735F-4CFA-2754-DF44-BA2FBA8DA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C++ functions are typically implemented in two parts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Function prototype </a:t>
            </a:r>
          </a:p>
          <a:p>
            <a:pPr marL="742950" lvl="1" indent="-285750" eaLnBrk="1" hangingPunct="1"/>
            <a:r>
              <a:rPr lang="en-US" altLang="ko-KR">
                <a:ea typeface="굴림" panose="020B0600000101010101" pitchFamily="34" charset="-127"/>
              </a:rPr>
              <a:t>D</a:t>
            </a:r>
            <a:r>
              <a:rPr lang="en-US" altLang="en-US"/>
              <a:t>efines the interface to the function</a:t>
            </a:r>
          </a:p>
          <a:p>
            <a:pPr marL="742950" lvl="1" indent="-285750" eaLnBrk="1" hangingPunct="1"/>
            <a:r>
              <a:rPr lang="en-US" altLang="ko-KR">
                <a:ea typeface="굴림" panose="020B0600000101010101" pitchFamily="34" charset="-127"/>
              </a:rPr>
              <a:t>U</a:t>
            </a:r>
            <a:r>
              <a:rPr lang="en-US" altLang="en-US"/>
              <a:t>sed by the compiler to validate function calls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Function definition </a:t>
            </a:r>
          </a:p>
          <a:p>
            <a:pPr marL="742950" lvl="1" indent="-285750" eaLnBrk="1" hangingPunct="1"/>
            <a:r>
              <a:rPr lang="en-US" altLang="ko-KR">
                <a:ea typeface="굴림" panose="020B0600000101010101" pitchFamily="34" charset="-127"/>
              </a:rPr>
              <a:t>S</a:t>
            </a:r>
            <a:r>
              <a:rPr lang="en-US" altLang="en-US"/>
              <a:t>pecifies the computation performed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F5AC0C-3334-A4ED-EA74-DC6181B1B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Function Prototypes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29C125B-2660-A50F-2EBE-D7A7D5F6B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return-value-type </a:t>
            </a:r>
            <a:br>
              <a:rPr lang="en-US" altLang="en-US" dirty="0"/>
            </a:br>
            <a:r>
              <a:rPr lang="en-US" altLang="en-US" dirty="0"/>
              <a:t>  </a:t>
            </a:r>
            <a:r>
              <a:rPr lang="en-US" altLang="ko-KR" dirty="0">
                <a:ea typeface="굴림" panose="020B0600000101010101" pitchFamily="34" charset="-127"/>
              </a:rPr>
              <a:t>			</a:t>
            </a:r>
            <a:r>
              <a:rPr lang="en-US" altLang="en-US" dirty="0"/>
              <a:t>function-name(parameter-list);</a:t>
            </a:r>
          </a:p>
          <a:p>
            <a:pPr eaLnBrk="1" hangingPunct="1"/>
            <a:endParaRPr lang="en-US" altLang="en-US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dirty="0">
                <a:latin typeface="Courier New" panose="02070309020205020404" pitchFamily="49" charset="0"/>
              </a:rPr>
              <a:t>int max(int x, int y);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B2FAF07-6CF2-D504-9AD6-39960AA4A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Function Prototype/Definition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6ECF06D-6FBE-F990-4BD4-AC5194F67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 not need to specify the variable name at   function prototype</a:t>
            </a:r>
          </a:p>
          <a:p>
            <a:pPr marL="742950" lvl="1" indent="-285750" eaLnBrk="1" hangingPunct="1"/>
            <a:r>
              <a:rPr lang="en-US" altLang="en-US">
                <a:latin typeface="Courier New" panose="02070309020205020404" pitchFamily="49" charset="0"/>
              </a:rPr>
              <a:t>int square(int, int, float);</a:t>
            </a:r>
          </a:p>
          <a:p>
            <a:pPr eaLnBrk="1" hangingPunct="1"/>
            <a:r>
              <a:rPr lang="en-US" altLang="en-US"/>
              <a:t>Not require function prototype, if function definition appears before function call </a:t>
            </a:r>
            <a:r>
              <a:rPr lang="en-US" altLang="en-US">
                <a:solidFill>
                  <a:schemeClr val="tx2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6B33AD-4C71-D6B6-913C-A6D34742D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Placement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8DB9DF2-3ED3-208D-6A3A-D5C378969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Function prototype must always precede function call</a:t>
            </a:r>
          </a:p>
          <a:p>
            <a:pPr marL="742950" lvl="1" indent="-285750" eaLnBrk="1" hangingPunct="1">
              <a:buFont typeface="Wingdings" pitchFamily="2" charset="2"/>
              <a:buNone/>
            </a:pPr>
            <a:endParaRPr lang="en-US" altLang="en-US" sz="2800">
              <a:latin typeface="Courier New" panose="02070309020205020404" pitchFamily="49" charset="0"/>
            </a:endParaRPr>
          </a:p>
          <a:p>
            <a:pPr marL="742950" lvl="1" indent="-285750" eaLnBrk="1" hangingPunct="1">
              <a:buFont typeface="Wingdings" pitchFamily="2" charset="2"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int f1( int, int );</a:t>
            </a:r>
          </a:p>
          <a:p>
            <a:pPr marL="742950" lvl="1" indent="-285750" eaLnBrk="1" hangingPunct="1">
              <a:buFont typeface="Wingdings" pitchFamily="2" charset="2"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float f2(float);</a:t>
            </a:r>
          </a:p>
          <a:p>
            <a:pPr marL="742950" lvl="1" indent="-285750" eaLnBrk="1" hangingPunct="1">
              <a:buFont typeface="Wingdings" pitchFamily="2" charset="2"/>
              <a:buNone/>
            </a:pPr>
            <a:endParaRPr lang="en-US" altLang="en-US" sz="2800">
              <a:latin typeface="Courier New" panose="02070309020205020404" pitchFamily="49" charset="0"/>
            </a:endParaRPr>
          </a:p>
          <a:p>
            <a:pPr marL="742950" lvl="1" indent="-285750" eaLnBrk="1" hangingPunct="1">
              <a:buFont typeface="Wingdings" pitchFamily="2" charset="2"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int main() </a:t>
            </a:r>
            <a:r>
              <a:rPr lang="en-US" altLang="ko-KR" sz="2800">
                <a:latin typeface="Courier New" panose="02070309020205020404" pitchFamily="49" charset="0"/>
                <a:ea typeface="굴림" panose="020B0600000101010101" pitchFamily="34" charset="-127"/>
              </a:rPr>
              <a:t>{ }</a:t>
            </a:r>
            <a:endParaRPr lang="en-US" altLang="en-US" sz="2800">
              <a:latin typeface="Courier New" panose="02070309020205020404" pitchFamily="49" charset="0"/>
            </a:endParaRP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287BAF6-0CDA-1116-727F-559C92E30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Placement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136B24F-3BB9-D04E-AAFE-0EA43CA1B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In a header file (file name ends with .h)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3200" dirty="0"/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max.h</a:t>
            </a:r>
            <a:r>
              <a:rPr lang="en-US" altLang="en-US" dirty="0">
                <a:latin typeface="Courier New" panose="02070309020205020404" pitchFamily="49" charset="0"/>
              </a:rPr>
              <a:t>			</a:t>
            </a:r>
            <a:r>
              <a:rPr lang="en-US" altLang="ko-KR" dirty="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endParaRPr lang="en-US" altLang="en-US" dirty="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int max(int a1, int a2);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float f2(float f1);</a:t>
            </a:r>
            <a:r>
              <a:rPr lang="en-US" altLang="en-US" dirty="0"/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>
              <a:solidFill>
                <a:schemeClr val="tx2"/>
              </a:solidFill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main.cpp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endParaRPr lang="en-US" altLang="ko-KR" dirty="0">
              <a:solidFill>
                <a:schemeClr val="tx2"/>
              </a:solidFill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dirty="0">
                <a:latin typeface="Courier New" panose="02070309020205020404" pitchFamily="49" charset="0"/>
              </a:rPr>
              <a:t>#include &lt;iostream&gt;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  <a:t>	</a:t>
            </a:r>
            <a:r>
              <a:rPr lang="en-US" altLang="en-US" dirty="0"/>
              <a:t>(Standard library)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FF0000"/>
                </a:solidFill>
                <a:ea typeface="굴림" panose="020B0600000101010101" pitchFamily="34" charset="-127"/>
              </a:rPr>
              <a:t>	</a:t>
            </a:r>
            <a:r>
              <a:rPr lang="en-US" altLang="en-US" dirty="0">
                <a:latin typeface="Courier New" panose="02070309020205020404" pitchFamily="49" charset="0"/>
              </a:rPr>
              <a:t>#include "</a:t>
            </a:r>
            <a:r>
              <a:rPr lang="en-US" altLang="en-US" dirty="0" err="1">
                <a:latin typeface="Courier New" panose="02070309020205020404" pitchFamily="49" charset="0"/>
              </a:rPr>
              <a:t>max.h</a:t>
            </a:r>
            <a:r>
              <a:rPr lang="en-US" altLang="en-US" dirty="0">
                <a:latin typeface="Courier New" panose="02070309020205020404" pitchFamily="49" charset="0"/>
              </a:rPr>
              <a:t>" </a:t>
            </a:r>
            <a:r>
              <a:rPr lang="en-US" altLang="ko-KR" dirty="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dirty="0"/>
              <a:t>(User-defined)</a:t>
            </a:r>
            <a:r>
              <a:rPr lang="en-US" altLang="en-US" dirty="0">
                <a:solidFill>
                  <a:schemeClr val="tx2"/>
                </a:solidFill>
              </a:rPr>
              <a:t>		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5958F1A-364C-EE04-A2B8-A33D79F0B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Function Definition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E0569F0-C6C3-2B4C-D6D2-608D475D2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Courier New" panose="02070309020205020404" pitchFamily="49" charset="0"/>
              </a:rPr>
              <a:t>return_type</a:t>
            </a:r>
            <a:r>
              <a:rPr lang="en-US" altLang="en-US" sz="2400" dirty="0">
                <a:latin typeface="Courier New" panose="02070309020205020404" pitchFamily="49" charset="0"/>
              </a:rPr>
              <a:t> </a:t>
            </a:r>
            <a:r>
              <a:rPr lang="en-US" altLang="en-US" sz="2400" dirty="0" err="1">
                <a:latin typeface="Courier New" panose="02070309020205020404" pitchFamily="49" charset="0"/>
              </a:rPr>
              <a:t>function_name</a:t>
            </a:r>
            <a:endParaRPr lang="en-US" altLang="ko-KR" sz="2400" dirty="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	</a:t>
            </a:r>
            <a:r>
              <a:rPr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sz="2400" dirty="0">
                <a:latin typeface="Courier New" panose="02070309020205020404" pitchFamily="49" charset="0"/>
              </a:rPr>
              <a:t>(type arg1, type arg2, ..., type </a:t>
            </a:r>
            <a:r>
              <a:rPr lang="en-US" altLang="en-US" sz="2400" dirty="0" err="1">
                <a:latin typeface="Courier New" panose="02070309020205020404" pitchFamily="49" charset="0"/>
              </a:rPr>
              <a:t>argN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	</a:t>
            </a:r>
            <a:r>
              <a:rPr lang="en-US" altLang="en-US" sz="2400" dirty="0" err="1">
                <a:latin typeface="Courier New" panose="02070309020205020404" pitchFamily="49" charset="0"/>
              </a:rPr>
              <a:t>function_body</a:t>
            </a: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  <a:endParaRPr lang="en-US" altLang="en-US" sz="2400" b="0" dirty="0">
              <a:latin typeface="Courier New" panose="02070309020205020404" pitchFamily="49" charset="0"/>
            </a:endParaRPr>
          </a:p>
          <a:p>
            <a:pPr eaLnBrk="1" hangingPunct="1"/>
            <a:endParaRPr lang="en-US" altLang="en-US" sz="2400" b="0" dirty="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int square( int y )</a:t>
            </a:r>
            <a:r>
              <a:rPr lang="en-US" alt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400" dirty="0">
                <a:latin typeface="Courier New" panose="02070309020205020404" pitchFamily="49" charset="0"/>
              </a:rPr>
              <a:t>   </a:t>
            </a:r>
            <a:r>
              <a:rPr lang="en-US" altLang="en-US" sz="2400" dirty="0"/>
              <a:t>// prototype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int square( int y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{		return y * y;	}</a:t>
            </a:r>
          </a:p>
          <a:p>
            <a:pPr eaLnBrk="1" hangingPunct="1"/>
            <a:endParaRPr lang="en-US" altLang="en-US" sz="2400" b="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2A2A-841A-38DB-1FBB-42A0C249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DE7B-282F-1E66-1CAC-C503E9D44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Function_name</a:t>
            </a:r>
            <a:r>
              <a:rPr lang="en-US" dirty="0"/>
              <a:t> (parameters)</a:t>
            </a:r>
          </a:p>
          <a:p>
            <a:pPr marL="0" indent="0"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int square( int y )</a:t>
            </a:r>
            <a:r>
              <a:rPr lang="en-US" altLang="en-US" sz="2800" dirty="0">
                <a:solidFill>
                  <a:srgbClr val="0000FF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dirty="0">
                <a:latin typeface="Courier New" panose="02070309020205020404" pitchFamily="49" charset="0"/>
              </a:rPr>
              <a:t>   </a:t>
            </a:r>
            <a:r>
              <a:rPr lang="en-US" altLang="en-US" sz="2800" dirty="0"/>
              <a:t>// prototype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800" dirty="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int square( int y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{		return y * y;	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Square (5);     // function call</a:t>
            </a:r>
          </a:p>
        </p:txBody>
      </p:sp>
    </p:spTree>
    <p:extLst>
      <p:ext uri="{BB962C8B-B14F-4D97-AF65-F5344CB8AC3E}">
        <p14:creationId xmlns:p14="http://schemas.microsoft.com/office/powerpoint/2010/main" val="281595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2A2A-841A-38DB-1FBB-42A0C249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DE7B-282F-1E66-1CAC-C503E9D44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Function_name</a:t>
            </a:r>
            <a:r>
              <a:rPr lang="en-US" dirty="0"/>
              <a:t> (parameters)</a:t>
            </a:r>
          </a:p>
          <a:p>
            <a:pPr marL="0" indent="0"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int square( int y )</a:t>
            </a:r>
            <a:r>
              <a:rPr lang="en-US" altLang="en-US" sz="2800" dirty="0">
                <a:solidFill>
                  <a:srgbClr val="0000FF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dirty="0">
                <a:latin typeface="Courier New" panose="02070309020205020404" pitchFamily="49" charset="0"/>
              </a:rPr>
              <a:t>   </a:t>
            </a:r>
            <a:r>
              <a:rPr lang="en-US" altLang="en-US" sz="2800" dirty="0"/>
              <a:t>// prototype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800" dirty="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int square( int y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{		return y * y;	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sq</a:t>
            </a:r>
          </a:p>
          <a:p>
            <a:pPr marL="0" indent="0">
              <a:buNone/>
            </a:pPr>
            <a:r>
              <a:rPr lang="en-US" dirty="0"/>
              <a:t>Sq = Square (5);     // function call</a:t>
            </a:r>
          </a:p>
        </p:txBody>
      </p:sp>
    </p:spTree>
    <p:extLst>
      <p:ext uri="{BB962C8B-B14F-4D97-AF65-F5344CB8AC3E}">
        <p14:creationId xmlns:p14="http://schemas.microsoft.com/office/powerpoint/2010/main" val="269061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73230A8-7BF6-1B3B-AEC0-D93E9F6293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Incorporation into main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056EFEA-A1CF-0A1F-108B-206BD29DC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double volume( double radius, double height 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display( double volume);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double radius;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double height;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 &lt;&lt; “Enter radius and height of cylinder: “;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</a:rPr>
              <a:t>cin</a:t>
            </a:r>
            <a:r>
              <a:rPr lang="en-US" altLang="en-US" sz="2000" dirty="0">
                <a:latin typeface="Courier New" panose="02070309020205020404" pitchFamily="49" charset="0"/>
              </a:rPr>
              <a:t> &gt;&gt; radius &gt;&gt; height;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display( volume(radius, height) 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return 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// Function definitions go here in either 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A0492DE-D072-9C40-4892-6CAE8FC0A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Modifying Arguments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5159D53-7904-48CA-2242-483CA17A7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By default, all arguments are passed by value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Call-by-value</a:t>
            </a:r>
            <a:r>
              <a:rPr lang="en-US" altLang="en-US"/>
              <a:t>: Copy of arg’s value is passed to function</a:t>
            </a:r>
          </a:p>
          <a:p>
            <a:pPr eaLnBrk="1" hangingPunct="1"/>
            <a:r>
              <a:rPr lang="en-US" altLang="en-US"/>
              <a:t>C++ supports a pass-by-reference mechanism 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Call-by-reference</a:t>
            </a:r>
            <a:r>
              <a:rPr lang="en-US" altLang="en-US"/>
              <a:t>: Called function can access/modify caller’s data directly</a:t>
            </a:r>
          </a:p>
          <a:p>
            <a:pPr eaLnBrk="1" hangingPunct="1"/>
            <a:r>
              <a:rPr lang="en-US" altLang="en-US"/>
              <a:t>Call-by-value</a:t>
            </a:r>
          </a:p>
          <a:p>
            <a:pPr marL="742950" lvl="1" indent="-285750" eaLnBrk="1" hangingPunct="1"/>
            <a:r>
              <a:rPr lang="en-US" altLang="en-US"/>
              <a:t>Disadv.: For larger data, copying data takes large execution time</a:t>
            </a:r>
          </a:p>
          <a:p>
            <a:pPr marL="742950" lvl="1" indent="-285750" eaLnBrk="1" hangingPunct="1"/>
            <a:r>
              <a:rPr lang="en-US" altLang="en-US"/>
              <a:t>Adv.: Prevent side effect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26F3031-C5A1-8E54-2375-4B13C3780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Pass-by-Reference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0730A87-B0E7-2B4C-7B0E-CC0BDD620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solidFill>
                  <a:srgbClr val="0000FF"/>
                </a:solidFill>
                <a:latin typeface="Courier New" panose="02070309020205020404" pitchFamily="49" charset="0"/>
              </a:rPr>
              <a:t>return_type function_name(type &amp; arg);</a:t>
            </a:r>
          </a:p>
          <a:p>
            <a:pPr eaLnBrk="1" hangingPunct="1"/>
            <a:r>
              <a:rPr lang="en-US" altLang="en-US"/>
              <a:t>arg now becomes a synonym for the corresponding argument</a:t>
            </a:r>
          </a:p>
          <a:p>
            <a:pPr eaLnBrk="1" hangingPunct="1"/>
            <a:r>
              <a:rPr lang="en-US" altLang="en-US"/>
              <a:t>Any change made to arg will be made to the corresponding argument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CC01946-CF3F-9884-C33B-17F1AB884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Modifying Arguments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4EFAB91-13C7-7C11-B0ED-4EAAF2D8E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Call-by-reference</a:t>
            </a:r>
          </a:p>
          <a:p>
            <a:pPr marL="742950" lvl="1" indent="-285750" eaLnBrk="1" hangingPunct="1"/>
            <a:r>
              <a:rPr lang="en-US" altLang="en-US" dirty="0"/>
              <a:t>Adv. : 	Eliminate copying overhead</a:t>
            </a:r>
          </a:p>
          <a:p>
            <a:pPr marL="1038225" lvl="2" indent="-285750" eaLnBrk="1" hangingPunct="1">
              <a:buFont typeface="Wingdings" pitchFamily="2" charset="2"/>
              <a:buNone/>
            </a:pPr>
            <a:r>
              <a:rPr lang="en-US" altLang="en-US" dirty="0"/>
              <a:t>		More than one value can be returned</a:t>
            </a:r>
          </a:p>
          <a:p>
            <a:pPr marL="742950" lvl="1" indent="-285750" eaLnBrk="1" hangingPunct="1"/>
            <a:r>
              <a:rPr lang="en-US" altLang="en-US" dirty="0" err="1"/>
              <a:t>Disadv</a:t>
            </a:r>
            <a:r>
              <a:rPr lang="en-US" altLang="en-US" dirty="0"/>
              <a:t>. : Accidentally can change caller’s data</a:t>
            </a:r>
          </a:p>
          <a:p>
            <a:pPr eaLnBrk="1" hangingPunct="1"/>
            <a:r>
              <a:rPr lang="en-US" altLang="en-US" dirty="0">
                <a:solidFill>
                  <a:srgbClr val="0000FF"/>
                </a:solidFill>
              </a:rPr>
              <a:t>Solution: use const reference</a:t>
            </a:r>
          </a:p>
          <a:p>
            <a:pPr marL="742950" lvl="1" indent="-285750" eaLnBrk="1" hangingPunct="1"/>
            <a:r>
              <a:rPr lang="en-US" alt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const int &amp;</a:t>
            </a:r>
          </a:p>
          <a:p>
            <a:pPr marL="742950" lvl="1" indent="-285750" eaLnBrk="1" hangingPunct="1"/>
            <a:r>
              <a:rPr lang="en-US" altLang="en-US" dirty="0"/>
              <a:t>No copying overhead and prevent side effect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D17BF38-EEE6-BDAC-828F-06CF38897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1</a:t>
            </a:r>
          </a:p>
        </p:txBody>
      </p:sp>
      <p:sp>
        <p:nvSpPr>
          <p:cNvPr id="27651" name="Rectangle 4">
            <a:extLst>
              <a:ext uri="{FF2B5EF4-FFF2-40B4-BE49-F238E27FC236}">
                <a16:creationId xmlns:a16="http://schemas.microsoft.com/office/drawing/2014/main" id="{01E19DB9-2A4D-264E-2BCF-314A15948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48000"/>
            <a:ext cx="4143375" cy="16129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max3(int &amp;max, int x)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if (x &gt; max)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{  max = x;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AB732CB8-814A-98D9-1288-B561A6D49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363" y="1905000"/>
            <a:ext cx="4448175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max3( int &amp;max, int 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int 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int biggest =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for(;;)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</a:t>
            </a:r>
            <a:r>
              <a:rPr lang="en-US" altLang="en-US" sz="2000" dirty="0" err="1">
                <a:latin typeface="Courier New" panose="02070309020205020404" pitchFamily="49" charset="0"/>
              </a:rPr>
              <a:t>cin</a:t>
            </a:r>
            <a:r>
              <a:rPr lang="en-US" altLang="en-US" sz="2000" dirty="0">
                <a:latin typeface="Courier New" panose="02070309020205020404" pitchFamily="49" charset="0"/>
              </a:rPr>
              <a:t> &gt;&gt; 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if (n == 999)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max3(biggest, n);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</a:t>
            </a:r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 &lt;&lt; biggest &lt;&lt; </a:t>
            </a:r>
            <a:r>
              <a:rPr lang="en-US" altLang="en-US" sz="2000" dirty="0" err="1">
                <a:latin typeface="Courier New" panose="02070309020205020404" pitchFamily="49" charset="0"/>
              </a:rPr>
              <a:t>endl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F46959B-DCFB-21D5-58C1-E285FB40C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2</a:t>
            </a:r>
            <a:endParaRPr lang="en-US" altLang="en-US">
              <a:solidFill>
                <a:srgbClr val="FF0066"/>
              </a:solidFill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9CF8CDE-25EE-A318-4308-EFB36E385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43200"/>
            <a:ext cx="3838575" cy="2527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swap(float &amp;a,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float &amp;b)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float temp;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temp =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a =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b = temp;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FC49CDA0-648B-484D-1114-75B032526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981200"/>
            <a:ext cx="4448175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swap(float &amp;, float &amp;);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float f1, f2, f3;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</a:t>
            </a:r>
            <a:r>
              <a:rPr lang="en-US" altLang="en-US" sz="2000" dirty="0" err="1">
                <a:latin typeface="Courier New" panose="02070309020205020404" pitchFamily="49" charset="0"/>
              </a:rPr>
              <a:t>cin</a:t>
            </a:r>
            <a:r>
              <a:rPr lang="en-US" altLang="en-US" sz="2000" dirty="0">
                <a:latin typeface="Courier New" panose="02070309020205020404" pitchFamily="49" charset="0"/>
              </a:rPr>
              <a:t> &gt;&gt; f1 &gt;&gt; f2 &gt;&gt; f3;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if (f2 &lt; f1)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swap(f1, f2);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if (f3 &lt; f1)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swap(f1, f3);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if (f3 &lt; f2)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swap(f2, f3);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4A428F5-E033-1679-C819-A3CA723B8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3a Main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EBF4039-B2EB-E05F-486D-93A4FD7DA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54175"/>
            <a:ext cx="76200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#include &lt;</a:t>
            </a:r>
            <a:r>
              <a:rPr lang="en-US" altLang="en-US" sz="2400" dirty="0" err="1">
                <a:latin typeface="Courier New" panose="02070309020205020404" pitchFamily="49" charset="0"/>
              </a:rPr>
              <a:t>iostream.h</a:t>
            </a:r>
            <a:r>
              <a:rPr lang="en-US" altLang="en-US" sz="2400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inc1( int &amp;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inc2( int &amp;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int x =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before call of inc1 is “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inc1(x);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after call of inc1 is “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E6AE740-233E-1084-BA87-58198BDE4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3a Functions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D687D3B-B56E-04ED-034C-5F8265804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78486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inc1( int &amp; x 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x++;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before call of inc2 is “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 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inc2(x);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after call of inc2 is “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 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inc2( int &amp; x 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x++;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in inc2 is " &lt;&lt; x &lt;&lt; 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BF006C7-D019-B52B-A153-27DAD6BF7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3a Output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BD7282C-1242-60EF-A655-76E16188B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97138"/>
            <a:ext cx="46482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before call of inc1 is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before call of inc2 is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in inc2 is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after call of inc2 is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after call of inc1 is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D846336-E69F-65C9-E87C-94EF2A8DF0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3b Main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25F6389-81C9-DB12-278B-9D2987025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8800"/>
            <a:ext cx="80010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#include &lt;</a:t>
            </a:r>
            <a:r>
              <a:rPr lang="en-US" altLang="en-US" sz="2400" dirty="0" err="1">
                <a:latin typeface="Courier New" panose="02070309020205020404" pitchFamily="49" charset="0"/>
              </a:rPr>
              <a:t>iostream.h</a:t>
            </a:r>
            <a:r>
              <a:rPr lang="en-US" altLang="en-US" sz="2400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inc1( int 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inc2( int &amp;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int x =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before call of inc1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inc1(x);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after call of inc1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8D0F9D9-5F5D-BF3F-BF6E-BE7BF09C1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3b Functions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F752252-07D3-2B7B-95D6-EE42577F2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44700"/>
            <a:ext cx="80772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inc1( int  x 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x++;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before call of inc2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inc2(x);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after call of inc2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inc2( int &amp; x 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x++;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in inc2 is " 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2B87601-405A-23FE-B0E7-BD912C5FB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3b Output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8295C47-52C8-A4B0-D6F9-247946623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97138"/>
            <a:ext cx="3636963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before call of inc1 is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before call of inc2 is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in inc2 is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after call of inc2 is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after call of inc1 is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28E253F-867D-642C-FB9A-5D978643B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3c Main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4B063AA-D1C3-D806-AE13-34CFBCCB9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54175"/>
            <a:ext cx="79248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#include &lt;</a:t>
            </a:r>
            <a:r>
              <a:rPr lang="en-US" altLang="en-US" sz="2400" dirty="0" err="1">
                <a:latin typeface="Courier New" panose="02070309020205020404" pitchFamily="49" charset="0"/>
              </a:rPr>
              <a:t>iostream.h</a:t>
            </a:r>
            <a:r>
              <a:rPr lang="en-US" altLang="en-US" sz="2400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inc1( int &amp;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inc2( int  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int x =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before call of inc1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inc1(x);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after call of inc1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6A3CE01-AC15-8626-622B-B0734A5DF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3c Functions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A044222-2338-6CB4-9A67-589AE76F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78486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inc1( int  &amp; x 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x++;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before call of inc2 is “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inc2(x);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after call of inc2 is "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&lt;&lt; x &lt;&lt;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void inc2( int  x 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x++;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"x in inc2 is " &lt;&lt; x &lt;&lt; 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DE85BF5-D4A6-0664-E257-72B2BF696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3c Output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7CDF085-1828-9D9C-D7CD-5FF323D5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420938"/>
            <a:ext cx="3636963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before call of inc1 is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before call of inc2 is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in inc2 is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after call of inc2 is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x after call of inc1 is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1C647C6-2205-45C1-21B7-845FEA9E5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Return reference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D8D5F18-A3CB-CA92-2B35-9EE5CD4AF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Function can return references </a:t>
            </a:r>
          </a:p>
          <a:p>
            <a:pPr eaLnBrk="1" hangingPunct="1"/>
            <a:r>
              <a:rPr lang="en-US" altLang="en-US" dirty="0"/>
              <a:t>Can be dangerous</a:t>
            </a:r>
          </a:p>
          <a:p>
            <a:pPr eaLnBrk="1" hangingPunct="1"/>
            <a:r>
              <a:rPr lang="en-US" altLang="en-US" dirty="0"/>
              <a:t>Automatic variable will be discarded when the function terminates</a:t>
            </a:r>
          </a:p>
          <a:p>
            <a:pPr eaLnBrk="1" hangingPunct="1"/>
            <a:r>
              <a:rPr lang="en-US" altLang="en-US" dirty="0">
                <a:solidFill>
                  <a:srgbClr val="0000FF"/>
                </a:solidFill>
              </a:rPr>
              <a:t>Dangling reference</a:t>
            </a:r>
          </a:p>
          <a:p>
            <a:pPr eaLnBrk="1" hangingPunct="1"/>
            <a:r>
              <a:rPr lang="en-US" altLang="en-US" dirty="0"/>
              <a:t>If the variable is declared as a static type, we can avoid the dangling reference problem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0A6E16D-D7D5-DB55-80B3-41AAF15BD8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Default Function Arguments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2FC3CCC-690A-099A-5818-B010586983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May supply default values for  arguments in function prototype</a:t>
            </a:r>
          </a:p>
          <a:p>
            <a:r>
              <a:rPr lang="en-US" altLang="en-US">
                <a:solidFill>
                  <a:srgbClr val="0000FF"/>
                </a:solidFill>
              </a:rPr>
              <a:t>When a default arg is omitted in a function call, the default value of that arg will be used</a:t>
            </a:r>
          </a:p>
          <a:p>
            <a:r>
              <a:rPr lang="en-US" altLang="en-US"/>
              <a:t>Values must be literals, enums, or certain other “constant” types</a:t>
            </a:r>
          </a:p>
          <a:p>
            <a:pPr lvl="1"/>
            <a:r>
              <a:rPr lang="en-US" altLang="en-US"/>
              <a:t>Not allow the value of variable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FAE9A80-2B2D-54A7-A698-8C86476ACD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Default Function Arguments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B45E3DB-AF81-A85F-5C81-8BE2147A06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FF"/>
                </a:solidFill>
              </a:rPr>
              <a:t>Default arg should be specified with the first occurrence of the function name </a:t>
            </a:r>
            <a:endParaRPr lang="en-US" altLang="ko-KR">
              <a:solidFill>
                <a:srgbClr val="0000FF"/>
              </a:solidFill>
              <a:ea typeface="굴림" panose="020B0600000101010101" pitchFamily="34" charset="-127"/>
            </a:endParaRPr>
          </a:p>
          <a:p>
            <a:pPr marL="742950" lvl="1" indent="-285750"/>
            <a:r>
              <a:rPr lang="en-US" altLang="ko-KR">
                <a:ea typeface="굴림" panose="020B0600000101010101" pitchFamily="34" charset="-127"/>
              </a:rPr>
              <a:t>Specified at the f</a:t>
            </a:r>
            <a:r>
              <a:rPr lang="en-US" altLang="en-US"/>
              <a:t>unction prototype</a:t>
            </a:r>
          </a:p>
          <a:p>
            <a:r>
              <a:rPr lang="en-US" altLang="en-US"/>
              <a:t>Calling a function with more than two args</a:t>
            </a:r>
            <a:endParaRPr lang="en-US" altLang="ko-KR">
              <a:ea typeface="굴림" panose="020B0600000101010101" pitchFamily="34" charset="-127"/>
            </a:endParaRPr>
          </a:p>
          <a:p>
            <a:pPr marL="742950" lvl="1" indent="-285750"/>
            <a:r>
              <a:rPr lang="en-US" altLang="en-US"/>
              <a:t>If an omitted arg is not the rightmost arg in the arg list,</a:t>
            </a:r>
            <a:r>
              <a:rPr lang="en-US" altLang="ko-KR">
                <a:ea typeface="굴림" panose="020B0600000101010101" pitchFamily="34" charset="-127"/>
              </a:rPr>
              <a:t> a</a:t>
            </a:r>
            <a:r>
              <a:rPr lang="en-US" altLang="en-US"/>
              <a:t>ll args to the right of that arg must be omitted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FAE9A80-2B2D-54A7-A698-8C86476ACD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Function Overloading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B45E3DB-AF81-A85F-5C81-8BE2147A06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/>
              <a:t>Function overloading allows multiple functions in the same scope to share the same name. </a:t>
            </a:r>
          </a:p>
          <a:p>
            <a:r>
              <a:rPr lang="en-US" dirty="0"/>
              <a:t>They need to have different parameter lists (either in the number, type, or order of parameters). </a:t>
            </a:r>
          </a:p>
          <a:p>
            <a:r>
              <a:rPr lang="en-US" dirty="0"/>
              <a:t>This enables the same function name to be used for different operations based on the argument types or number.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7888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FAE9A80-2B2D-54A7-A698-8C86476ACD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Function Overloading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B45E3DB-AF81-A85F-5C81-8BE2147A06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dirty="0"/>
              <a:t>Advantage – </a:t>
            </a:r>
          </a:p>
          <a:p>
            <a:r>
              <a:rPr lang="en-US" dirty="0"/>
              <a:t>The correct function is selected by the compiler based on the arguments passed, making the code more readable and flexible without sacrificing performance.</a:t>
            </a:r>
          </a:p>
          <a:p>
            <a:r>
              <a:rPr lang="en-US" dirty="0"/>
              <a:t>It enhances code maintainability by grouping related functionalities under a single function name.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2471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1CBEC72-1AB0-A748-E082-6398D6BB7B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Inline functions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633B9DF-76C4-05B0-978F-CD2C52BE68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458200" cy="4986337"/>
          </a:xfrm>
        </p:spPr>
        <p:txBody>
          <a:bodyPr/>
          <a:lstStyle/>
          <a:p>
            <a:r>
              <a:rPr lang="en-US" altLang="en-US" sz="2400">
                <a:solidFill>
                  <a:srgbClr val="0000FF"/>
                </a:solidFill>
              </a:rPr>
              <a:t>Function calls : Execution overhead</a:t>
            </a:r>
          </a:p>
          <a:p>
            <a:r>
              <a:rPr lang="en-US" altLang="en-US" sz="2400"/>
              <a:t>Syntax</a:t>
            </a:r>
          </a:p>
          <a:p>
            <a:pPr marL="742950" lvl="1" indent="-285750">
              <a:buFont typeface="Wingdings" pitchFamily="2" charset="2"/>
              <a:buNone/>
            </a:pP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inline </a:t>
            </a:r>
            <a:r>
              <a:rPr lang="en-US" altLang="ko-KR" sz="200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	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return_type method(args)</a:t>
            </a:r>
            <a:endParaRPr lang="en-US" altLang="ko-KR" sz="2000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marL="742950" lvl="1" indent="-285750"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	</a:t>
            </a:r>
            <a:r>
              <a:rPr lang="en-US" altLang="en-US" sz="2000">
                <a:latin typeface="Courier New" panose="02070309020205020404" pitchFamily="49" charset="0"/>
              </a:rPr>
              <a:t>{statement(s)}</a:t>
            </a:r>
          </a:p>
          <a:p>
            <a:r>
              <a:rPr lang="en-US" altLang="en-US" sz="2400"/>
              <a:t>Compiler generate a copy of function’s code in place</a:t>
            </a:r>
          </a:p>
          <a:p>
            <a:r>
              <a:rPr lang="en-US" altLang="en-US" sz="2400"/>
              <a:t>Adv: </a:t>
            </a:r>
            <a:r>
              <a:rPr lang="en-US" altLang="en-US" sz="2000"/>
              <a:t>Performance gain</a:t>
            </a:r>
          </a:p>
          <a:p>
            <a:r>
              <a:rPr lang="en-US" altLang="en-US" sz="2400"/>
              <a:t>Disadv. </a:t>
            </a:r>
          </a:p>
          <a:p>
            <a:pPr marL="742950" lvl="1" indent="-285750"/>
            <a:r>
              <a:rPr lang="en-US" altLang="en-US" sz="2000"/>
              <a:t>Larger program size (multiple copy)</a:t>
            </a:r>
          </a:p>
          <a:p>
            <a:pPr marL="742950" lvl="1" indent="-285750"/>
            <a:r>
              <a:rPr lang="en-US" altLang="en-US" sz="2000"/>
              <a:t>Violating info hiding</a:t>
            </a:r>
          </a:p>
          <a:p>
            <a:r>
              <a:rPr lang="en-US" altLang="en-US" sz="2400">
                <a:solidFill>
                  <a:srgbClr val="0000FF"/>
                </a:solidFill>
              </a:rPr>
              <a:t>If an inline code in the interface is changed, the source code including the inline code must be recompile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526CB7A-CBA6-0575-E72A-316B3660CB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FDBA5F6-80BC-54B1-072C-E6F34CFF5F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9263"/>
            <a:ext cx="8839200" cy="5138737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inline double cube(const double side)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return side * side * side;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int main()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double </a:t>
            </a:r>
            <a:r>
              <a:rPr lang="en-US" altLang="en-US" sz="2000" dirty="0" err="1">
                <a:latin typeface="Courier New" panose="02070309020205020404" pitchFamily="49" charset="0"/>
              </a:rPr>
              <a:t>sidevalue</a:t>
            </a:r>
            <a:r>
              <a:rPr lang="en-US" altLang="en-US" sz="2000" dirty="0">
                <a:latin typeface="Courier New" panose="02070309020205020404" pitchFamily="49" charset="0"/>
              </a:rPr>
              <a:t>;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std::</a:t>
            </a:r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 &lt;&lt; "Enter the side length of your cube: ";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std::</a:t>
            </a:r>
            <a:r>
              <a:rPr lang="en-US" altLang="en-US" sz="2000" dirty="0" err="1">
                <a:latin typeface="Courier New" panose="02070309020205020404" pitchFamily="49" charset="0"/>
              </a:rPr>
              <a:t>cin</a:t>
            </a:r>
            <a:r>
              <a:rPr lang="en-US" altLang="en-US" sz="2000" dirty="0">
                <a:latin typeface="Courier New" panose="02070309020205020404" pitchFamily="49" charset="0"/>
              </a:rPr>
              <a:t> 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sidevalue</a:t>
            </a:r>
            <a:r>
              <a:rPr lang="en-US" altLang="en-US" sz="2000" dirty="0">
                <a:latin typeface="Courier New" panose="02070309020205020404" pitchFamily="49" charset="0"/>
              </a:rPr>
              <a:t>;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std::</a:t>
            </a:r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 &lt;&lt; "The volume of the cube with side "     &lt;&lt; </a:t>
            </a:r>
            <a:r>
              <a:rPr lang="en-US" altLang="en-US" sz="2000" dirty="0" err="1">
                <a:latin typeface="Courier New" panose="02070309020205020404" pitchFamily="49" charset="0"/>
              </a:rPr>
              <a:t>sidevalue</a:t>
            </a:r>
            <a:r>
              <a:rPr lang="en-US" altLang="en-US" sz="2000" dirty="0">
                <a:latin typeface="Courier New" panose="02070309020205020404" pitchFamily="49" charset="0"/>
              </a:rPr>
              <a:t> &lt;&lt; " is " &lt;&lt; cube(</a:t>
            </a:r>
            <a:r>
              <a:rPr lang="en-US" altLang="en-US" sz="2000" dirty="0" err="1">
                <a:latin typeface="Courier New" panose="02070309020205020404" pitchFamily="49" charset="0"/>
              </a:rPr>
              <a:t>sidevalue</a:t>
            </a:r>
            <a:r>
              <a:rPr lang="en-US" altLang="en-US" sz="2000" dirty="0">
                <a:latin typeface="Courier New" panose="02070309020205020404" pitchFamily="49" charset="0"/>
              </a:rPr>
              <a:t>) &lt;&lt; std::</a:t>
            </a:r>
            <a:r>
              <a:rPr lang="en-US" altLang="en-US" sz="2000" dirty="0" err="1">
                <a:latin typeface="Courier New" panose="02070309020205020404" pitchFamily="49" charset="0"/>
              </a:rPr>
              <a:t>endl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return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0E2559B-6517-FE0C-C116-51AFD96F1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Picking Lottery Numbers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CB9993E-F953-869D-2B9D-EE1DA8A15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Hoosier POWERBall customers may either pick their own numbers or have those numbers be picked at random (quick pick)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POWERBall entry consists of five numbers in the range 1-49 and one number (the power ball number) in the range 1-42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Construct a C++ program that generates quick pick POWERBall entries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608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FEB6005-1CEA-2839-9FC8-1753ED4A9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Approach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D54EE0B-0078-D88B-C257-635D17CED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Utilize two support functions: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/>
              <a:t>whiteBall() – Generate random number </a:t>
            </a:r>
          </a:p>
          <a:p>
            <a:pPr marL="742950" lvl="1" indent="-28575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				in range 1-49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/>
              <a:t>powerBall() – Generate random number </a:t>
            </a:r>
          </a:p>
          <a:p>
            <a:pPr marL="742950" lvl="1" indent="-28575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				in range 1-42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Main function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/>
              <a:t>Generate and display lottery entry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/>
              <a:t>Ask user if another entry is desired</a:t>
            </a:r>
          </a:p>
        </p:txBody>
      </p:sp>
    </p:spTree>
    <p:extLst>
      <p:ext uri="{BB962C8B-B14F-4D97-AF65-F5344CB8AC3E}">
        <p14:creationId xmlns:p14="http://schemas.microsoft.com/office/powerpoint/2010/main" val="4000779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9FFCABA-7233-B337-C1F7-55591B3D3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Library Usage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1299C35-0641-DAEB-5897-E4723C9F3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&lt;cstdlib&gt;</a:t>
            </a:r>
          </a:p>
          <a:p>
            <a:pPr marL="742950" lvl="1" indent="-285750" eaLnBrk="1" hangingPunct="1"/>
            <a:r>
              <a:rPr lang="en-US" altLang="en-US">
                <a:latin typeface="Courier New" panose="02070309020205020404" pitchFamily="49" charset="0"/>
              </a:rPr>
              <a:t>rand()</a:t>
            </a:r>
            <a:r>
              <a:rPr lang="en-US" altLang="en-US"/>
              <a:t> – Generates unsigned int in range 0..RAND_MAX (32767)</a:t>
            </a:r>
          </a:p>
          <a:p>
            <a:pPr marL="742950" lvl="1" indent="-285750" eaLnBrk="1" hangingPunct="1"/>
            <a:r>
              <a:rPr lang="en-US" altLang="en-US"/>
              <a:t>Pseudo random number for debugging</a:t>
            </a:r>
          </a:p>
          <a:p>
            <a:pPr marL="742950" lvl="1" indent="-285750" eaLnBrk="1" hangingPunct="1"/>
            <a:r>
              <a:rPr lang="en-US" altLang="en-US"/>
              <a:t>Integers range 0..5  :  </a:t>
            </a:r>
            <a:r>
              <a:rPr lang="en-US" altLang="en-US">
                <a:latin typeface="Courier New" panose="02070309020205020404" pitchFamily="49" charset="0"/>
              </a:rPr>
              <a:t>rand() % 6</a:t>
            </a:r>
          </a:p>
          <a:p>
            <a:pPr marL="742950" lvl="1" indent="-285750" eaLnBrk="1" hangingPunct="1"/>
            <a:r>
              <a:rPr lang="en-US" altLang="en-US"/>
              <a:t>Integers range 1..</a:t>
            </a:r>
            <a:r>
              <a:rPr lang="en-US" altLang="ko-KR">
                <a:ea typeface="굴림" panose="020B0600000101010101" pitchFamily="34" charset="-127"/>
              </a:rPr>
              <a:t>6</a:t>
            </a:r>
            <a:r>
              <a:rPr lang="en-US" altLang="en-US"/>
              <a:t>  :  </a:t>
            </a:r>
            <a:r>
              <a:rPr lang="en-US" altLang="en-US">
                <a:latin typeface="Courier New" panose="02070309020205020404" pitchFamily="49" charset="0"/>
              </a:rPr>
              <a:t>1 + rand() % 6</a:t>
            </a:r>
          </a:p>
          <a:p>
            <a:pPr marL="742950" lvl="1" indent="-285750" eaLnBrk="1" hangingPunct="1"/>
            <a:endParaRPr lang="en-US" altLang="en-US"/>
          </a:p>
          <a:p>
            <a:pPr marL="742950" lvl="1" indent="-285750" eaLnBrk="1" hangingPunct="1"/>
            <a:r>
              <a:rPr lang="en-US" altLang="en-US"/>
              <a:t>N = shift_value + rand() % scaling_factor</a:t>
            </a:r>
          </a:p>
        </p:txBody>
      </p:sp>
    </p:spTree>
    <p:extLst>
      <p:ext uri="{BB962C8B-B14F-4D97-AF65-F5344CB8AC3E}">
        <p14:creationId xmlns:p14="http://schemas.microsoft.com/office/powerpoint/2010/main" val="953808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90E8954-CADF-0F38-5D39-847CFF48B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Library Usage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46C4B62-EF49-C4FB-8150-1745D70A0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srand(unsigned int) – Randomizes generator</a:t>
            </a:r>
          </a:p>
          <a:p>
            <a:pPr eaLnBrk="1" hangingPunct="1"/>
            <a:r>
              <a:rPr lang="en-US" altLang="en-US"/>
              <a:t>Need be called once</a:t>
            </a:r>
          </a:p>
          <a:p>
            <a:pPr marL="742950" lvl="1" indent="-285750" eaLnBrk="1" hangingPunct="1"/>
            <a:r>
              <a:rPr lang="en-US" altLang="en-US">
                <a:latin typeface="Courier New" panose="02070309020205020404" pitchFamily="49" charset="0"/>
              </a:rPr>
              <a:t>srand(seed);</a:t>
            </a:r>
            <a:r>
              <a:rPr lang="en-US" altLang="en-US"/>
              <a:t>		&lt;= No return</a:t>
            </a:r>
          </a:p>
          <a:p>
            <a:pPr marL="742950" lvl="1" indent="-285750" eaLnBrk="1" hangingPunct="1"/>
            <a:r>
              <a:rPr lang="en-US" altLang="en-US"/>
              <a:t>N = a + rand() % b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&lt;ctime&gt;</a:t>
            </a:r>
          </a:p>
          <a:p>
            <a:pPr marL="742950" lvl="1" indent="-285750" eaLnBrk="1" hangingPunct="1"/>
            <a:r>
              <a:rPr lang="en-US" altLang="en-US">
                <a:latin typeface="Courier New" panose="02070309020205020404" pitchFamily="49" charset="0"/>
              </a:rPr>
              <a:t>srand(time(0));</a:t>
            </a:r>
            <a:r>
              <a:rPr lang="en-US" altLang="en-US"/>
              <a:t> </a:t>
            </a:r>
          </a:p>
          <a:p>
            <a:pPr marL="742950" lvl="1" indent="-285750" eaLnBrk="1" hangingPunct="1"/>
            <a:r>
              <a:rPr lang="en-US" altLang="en-US"/>
              <a:t>time(unsigned int) – returns current time</a:t>
            </a:r>
          </a:p>
          <a:p>
            <a:pPr marL="742950" lvl="1" indent="-285750" eaLnBrk="1" hangingPunct="1"/>
            <a:r>
              <a:rPr lang="en-US" altLang="en-US">
                <a:latin typeface="Courier New" panose="02070309020205020404" pitchFamily="49" charset="0"/>
              </a:rPr>
              <a:t>time(0);</a:t>
            </a:r>
            <a:r>
              <a:rPr lang="en-US" altLang="en-US"/>
              <a:t> </a:t>
            </a:r>
          </a:p>
          <a:p>
            <a:pPr marL="1038225" lvl="2" indent="-285750" eaLnBrk="1" hangingPunct="1"/>
            <a:r>
              <a:rPr lang="en-US" altLang="en-US" sz="2000">
                <a:solidFill>
                  <a:srgbClr val="000000"/>
                </a:solidFill>
              </a:rPr>
              <a:t>Returns the current time as the number of seconds since January 1, 1970, at midnight Greenwich Mean Time (GMT).</a:t>
            </a:r>
            <a:endParaRPr lang="en-US" altLang="en-US" sz="2000"/>
          </a:p>
          <a:p>
            <a:pPr marL="1038225" lvl="2" indent="-285750" eaLnBrk="1" hangingPunct="1"/>
            <a:endParaRPr lang="en-US" altLang="en-US" sz="2200"/>
          </a:p>
        </p:txBody>
      </p:sp>
    </p:spTree>
    <p:extLst>
      <p:ext uri="{BB962C8B-B14F-4D97-AF65-F5344CB8AC3E}">
        <p14:creationId xmlns:p14="http://schemas.microsoft.com/office/powerpoint/2010/main" val="3571702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ED1F889-6AE3-C0C1-31F2-7DD28DA9F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Header File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47CF46B-0BF7-3E33-8C67-B33949D7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&lt;iomanip&gt;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&lt;cstdlib&gt; 	&lt;= rand()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&lt;ctime&gt;	&lt;= time(0)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whiteBall();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powerBall();</a:t>
            </a:r>
          </a:p>
        </p:txBody>
      </p:sp>
    </p:spTree>
    <p:extLst>
      <p:ext uri="{BB962C8B-B14F-4D97-AF65-F5344CB8AC3E}">
        <p14:creationId xmlns:p14="http://schemas.microsoft.com/office/powerpoint/2010/main" val="42384034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CDC19DD-858D-B28D-E0A8-DEA1B6466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Main Function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C54E509-6D43-7DA5-B991-EDF220E0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#include "powerball.cpp"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int main()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int i;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char ans;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srand( time(0) 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do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for (i=1; i&lt;=5; i++)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</a:t>
            </a: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  </a:t>
            </a:r>
            <a:r>
              <a:rPr lang="en-US" altLang="en-US" sz="2000">
                <a:latin typeface="Courier New" panose="02070309020205020404" pitchFamily="49" charset="0"/>
              </a:rPr>
              <a:t>cout &lt;&lt; setw(4) &lt;&lt;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whiteBall();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cout &lt;&lt; " PB " &lt;&lt;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powerBall()</a:t>
            </a:r>
            <a:r>
              <a:rPr lang="en-US" altLang="en-US" sz="2000">
                <a:latin typeface="Courier New" panose="02070309020205020404" pitchFamily="49" charset="0"/>
              </a:rPr>
              <a:t> &lt;&lt; endl;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cout &lt;&lt; "Would you like ...?";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cin &gt;&gt; ans;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} while ( ans == 'y' 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return 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9188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A905997-8A69-B9FA-33DB-B9C20612A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Supporting Functions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BC30DB-D419-2DF2-C0E7-3BE3A6804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#include “MyHeader.h”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int whiteBall()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  return 1 + rand() % 49;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int powerBall()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  return 1 + rand() % 42;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9849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84ECC6F-93DA-77B1-6788-D7D97E7B1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Standard Librarie</a:t>
            </a:r>
            <a:r>
              <a:rPr lang="en-US" altLang="ko-KR">
                <a:ea typeface="굴림" panose="020B0600000101010101" pitchFamily="34" charset="-127"/>
              </a:rPr>
              <a:t>s</a:t>
            </a:r>
            <a:endParaRPr lang="en-US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6FE8DF8-AF31-2B6B-36E1-CBB72ADF7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700"/>
              <a:t>C++ standard library has a rich collection of functions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More complete list may be found on pp. 213-214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&lt;iostream&gt; -- </a:t>
            </a:r>
            <a:r>
              <a:rPr lang="en-US" altLang="ko-KR" sz="2700">
                <a:ea typeface="굴림" panose="020B0600000101010101" pitchFamily="34" charset="-127"/>
              </a:rPr>
              <a:t>S</a:t>
            </a:r>
            <a:r>
              <a:rPr lang="en-US" altLang="en-US" sz="2700"/>
              <a:t>tream i/o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&lt;cmath&gt; -- </a:t>
            </a:r>
            <a:r>
              <a:rPr lang="en-US" altLang="ko-KR" sz="2700">
                <a:ea typeface="굴림" panose="020B0600000101010101" pitchFamily="34" charset="-127"/>
              </a:rPr>
              <a:t>C</a:t>
            </a:r>
            <a:r>
              <a:rPr lang="en-US" altLang="en-US" sz="2700"/>
              <a:t>ommonly used math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&lt;cctype&gt; -- </a:t>
            </a:r>
            <a:r>
              <a:rPr lang="en-US" altLang="ko-KR" sz="2700">
                <a:ea typeface="굴림" panose="020B0600000101010101" pitchFamily="34" charset="-127"/>
              </a:rPr>
              <a:t>T</a:t>
            </a:r>
            <a:r>
              <a:rPr lang="en-US" altLang="en-US" sz="2700"/>
              <a:t>est characters for certain properties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&lt;cstdlib&gt; -- </a:t>
            </a:r>
            <a:r>
              <a:rPr lang="en-US" altLang="ko-KR" sz="2700">
                <a:ea typeface="굴림" panose="020B0600000101010101" pitchFamily="34" charset="-127"/>
              </a:rPr>
              <a:t>C</a:t>
            </a:r>
            <a:r>
              <a:rPr lang="en-US" altLang="en-US" sz="2700"/>
              <a:t>onversions of numbers to text, text to numbers, memory alloc, random numbers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&lt;cstring&gt; -- </a:t>
            </a:r>
            <a:r>
              <a:rPr lang="en-US" altLang="ko-KR" sz="2700">
                <a:ea typeface="굴림" panose="020B0600000101010101" pitchFamily="34" charset="-127"/>
              </a:rPr>
              <a:t>S</a:t>
            </a:r>
            <a:r>
              <a:rPr lang="en-US" altLang="en-US" sz="2700"/>
              <a:t>tring processing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&lt;ctime&gt; -- </a:t>
            </a:r>
            <a:r>
              <a:rPr lang="en-US" altLang="ko-KR" sz="2700">
                <a:ea typeface="굴림" panose="020B0600000101010101" pitchFamily="34" charset="-127"/>
              </a:rPr>
              <a:t>T</a:t>
            </a:r>
            <a:r>
              <a:rPr lang="en-US" altLang="en-US" sz="2700"/>
              <a:t>ime and date functions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578671E-FE23-7B88-22C5-4AEDBD417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C++ Executable Creation</a:t>
            </a:r>
            <a:endParaRPr lang="en-US" alt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4F18754-5DFE-8BAA-BCF3-3A0AE39D9B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/>
            <a:r>
              <a:rPr lang="en-US" altLang="ko-KR" dirty="0">
                <a:ea typeface="굴림" panose="020B0600000101010101" pitchFamily="34" charset="-127"/>
              </a:rPr>
              <a:t>Program development</a:t>
            </a:r>
          </a:p>
          <a:p>
            <a:pPr eaLnBrk="1" hangingPunct="1"/>
            <a:r>
              <a:rPr lang="en-US" altLang="ko-KR" dirty="0">
                <a:ea typeface="굴림" panose="020B0600000101010101" pitchFamily="34" charset="-127"/>
              </a:rPr>
              <a:t>Preprocessor handles preprocessor directives</a:t>
            </a:r>
          </a:p>
          <a:p>
            <a:pPr eaLnBrk="1" hangingPunct="1"/>
            <a:r>
              <a:rPr lang="en-US" altLang="ko-KR" dirty="0">
                <a:ea typeface="굴림" panose="020B0600000101010101" pitchFamily="34" charset="-127"/>
              </a:rPr>
              <a:t>Compiler creates object code</a:t>
            </a:r>
          </a:p>
          <a:p>
            <a:pPr eaLnBrk="1" hangingPunct="1"/>
            <a:r>
              <a:rPr lang="en-US" altLang="ko-KR" dirty="0">
                <a:ea typeface="굴림" panose="020B0600000101010101" pitchFamily="34" charset="-127"/>
              </a:rPr>
              <a:t>Linker links the object code with the libraries, creates an executable</a:t>
            </a:r>
          </a:p>
          <a:p>
            <a:pPr eaLnBrk="1" hangingPunct="1"/>
            <a:endParaRPr lang="en-US" altLang="ko-KR" dirty="0">
              <a:ea typeface="굴림" panose="020B0600000101010101" pitchFamily="34" charset="-127"/>
            </a:endParaRPr>
          </a:p>
          <a:p>
            <a:pPr lvl="2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4996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B7E0536-B359-9673-26E7-582A6547AC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Creating an Executable</a:t>
            </a:r>
          </a:p>
        </p:txBody>
      </p:sp>
      <p:grpSp>
        <p:nvGrpSpPr>
          <p:cNvPr id="19459" name="Group 5">
            <a:extLst>
              <a:ext uri="{FF2B5EF4-FFF2-40B4-BE49-F238E27FC236}">
                <a16:creationId xmlns:a16="http://schemas.microsoft.com/office/drawing/2014/main" id="{AE6780ED-6372-6807-DC32-8165BF41E044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2216150"/>
            <a:ext cx="1358900" cy="1511300"/>
            <a:chOff x="340" y="1300"/>
            <a:chExt cx="856" cy="952"/>
          </a:xfrm>
        </p:grpSpPr>
        <p:sp>
          <p:nvSpPr>
            <p:cNvPr id="19479" name="Rectangle 6">
              <a:extLst>
                <a:ext uri="{FF2B5EF4-FFF2-40B4-BE49-F238E27FC236}">
                  <a16:creationId xmlns:a16="http://schemas.microsoft.com/office/drawing/2014/main" id="{84686706-303F-4407-66F2-5C076966D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300"/>
              <a:ext cx="856" cy="95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200">
                <a:latin typeface="Courier New" panose="02070309020205020404" pitchFamily="49" charset="0"/>
              </a:endParaRPr>
            </a:p>
          </p:txBody>
        </p:sp>
        <p:sp>
          <p:nvSpPr>
            <p:cNvPr id="19480" name="Rectangle 7">
              <a:extLst>
                <a:ext uri="{FF2B5EF4-FFF2-40B4-BE49-F238E27FC236}">
                  <a16:creationId xmlns:a16="http://schemas.microsoft.com/office/drawing/2014/main" id="{97335459-41C4-E1F0-EB15-A7FF43D74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" y="1586"/>
              <a:ext cx="67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time.h</a:t>
              </a:r>
            </a:p>
          </p:txBody>
        </p:sp>
      </p:grpSp>
      <p:sp>
        <p:nvSpPr>
          <p:cNvPr id="19460" name="Rectangle 8">
            <a:extLst>
              <a:ext uri="{FF2B5EF4-FFF2-40B4-BE49-F238E27FC236}">
                <a16:creationId xmlns:a16="http://schemas.microsoft.com/office/drawing/2014/main" id="{F312CEBF-1660-B25A-328B-BE27E0622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2216150"/>
            <a:ext cx="1358900" cy="1511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19461" name="Rectangle 9">
            <a:extLst>
              <a:ext uri="{FF2B5EF4-FFF2-40B4-BE49-F238E27FC236}">
                <a16:creationId xmlns:a16="http://schemas.microsoft.com/office/drawing/2014/main" id="{B58D13E8-9478-CCBF-2049-89CA4B021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2670175"/>
            <a:ext cx="14335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time.cpp</a:t>
            </a:r>
          </a:p>
        </p:txBody>
      </p:sp>
      <p:sp>
        <p:nvSpPr>
          <p:cNvPr id="19462" name="Rectangle 10">
            <a:extLst>
              <a:ext uri="{FF2B5EF4-FFF2-40B4-BE49-F238E27FC236}">
                <a16:creationId xmlns:a16="http://schemas.microsoft.com/office/drawing/2014/main" id="{ED55C6AD-2BB6-DCCB-462A-64B9A7337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4349750"/>
            <a:ext cx="1358900" cy="1511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19463" name="Rectangle 11">
            <a:extLst>
              <a:ext uri="{FF2B5EF4-FFF2-40B4-BE49-F238E27FC236}">
                <a16:creationId xmlns:a16="http://schemas.microsoft.com/office/drawing/2014/main" id="{10EA301C-D140-FD81-AE05-235C2A9B7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803775"/>
            <a:ext cx="15176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main.cpp</a:t>
            </a:r>
          </a:p>
        </p:txBody>
      </p:sp>
      <p:sp>
        <p:nvSpPr>
          <p:cNvPr id="19464" name="Rectangle 12">
            <a:extLst>
              <a:ext uri="{FF2B5EF4-FFF2-40B4-BE49-F238E27FC236}">
                <a16:creationId xmlns:a16="http://schemas.microsoft.com/office/drawing/2014/main" id="{4E5ABF05-0452-6CD1-F128-E115A97D6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2216150"/>
            <a:ext cx="1358900" cy="1511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19465" name="Rectangle 13">
            <a:extLst>
              <a:ext uri="{FF2B5EF4-FFF2-40B4-BE49-F238E27FC236}">
                <a16:creationId xmlns:a16="http://schemas.microsoft.com/office/drawing/2014/main" id="{0113097B-BC01-4DEB-C790-0555EB51C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50" y="4349750"/>
            <a:ext cx="1358900" cy="1511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19466" name="Rectangle 14">
            <a:extLst>
              <a:ext uri="{FF2B5EF4-FFF2-40B4-BE49-F238E27FC236}">
                <a16:creationId xmlns:a16="http://schemas.microsoft.com/office/drawing/2014/main" id="{74125F56-A402-FBC0-94AC-BE544C8A9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150" y="3359150"/>
            <a:ext cx="1358900" cy="1511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19467" name="Line 15">
            <a:extLst>
              <a:ext uri="{FF2B5EF4-FFF2-40B4-BE49-F238E27FC236}">
                <a16:creationId xmlns:a16="http://schemas.microsoft.com/office/drawing/2014/main" id="{4C13A2C6-42D0-2BE5-3A75-FC9B6B09D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9625" y="2971800"/>
            <a:ext cx="873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6">
            <a:extLst>
              <a:ext uri="{FF2B5EF4-FFF2-40B4-BE49-F238E27FC236}">
                <a16:creationId xmlns:a16="http://schemas.microsoft.com/office/drawing/2014/main" id="{4CFCA0D8-D7AD-6FC0-0000-787FFAB4B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2971800"/>
            <a:ext cx="873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17">
            <a:extLst>
              <a:ext uri="{FF2B5EF4-FFF2-40B4-BE49-F238E27FC236}">
                <a16:creationId xmlns:a16="http://schemas.microsoft.com/office/drawing/2014/main" id="{48EBC625-BCDF-D7CB-FC5B-D745C6441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825" y="3756025"/>
            <a:ext cx="1558925" cy="14065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8">
            <a:extLst>
              <a:ext uri="{FF2B5EF4-FFF2-40B4-BE49-F238E27FC236}">
                <a16:creationId xmlns:a16="http://schemas.microsoft.com/office/drawing/2014/main" id="{AF299335-33C6-22A1-02ED-9389F885F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5105400"/>
            <a:ext cx="873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Line 19">
            <a:extLst>
              <a:ext uri="{FF2B5EF4-FFF2-40B4-BE49-F238E27FC236}">
                <a16:creationId xmlns:a16="http://schemas.microsoft.com/office/drawing/2014/main" id="{02FC0602-50DF-CDDD-C83E-6941DD97D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1625" y="2994025"/>
            <a:ext cx="873125" cy="873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20">
            <a:extLst>
              <a:ext uri="{FF2B5EF4-FFF2-40B4-BE49-F238E27FC236}">
                <a16:creationId xmlns:a16="http://schemas.microsoft.com/office/drawing/2014/main" id="{9304F206-DF3F-79A8-8E99-F3C0A3A39F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0038" y="4249738"/>
            <a:ext cx="873125" cy="873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Rectangle 21">
            <a:extLst>
              <a:ext uri="{FF2B5EF4-FFF2-40B4-BE49-F238E27FC236}">
                <a16:creationId xmlns:a16="http://schemas.microsoft.com/office/drawing/2014/main" id="{609ADED7-8308-23E0-0876-7B1B89484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013" y="3736975"/>
            <a:ext cx="12461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include</a:t>
            </a:r>
          </a:p>
        </p:txBody>
      </p:sp>
      <p:sp>
        <p:nvSpPr>
          <p:cNvPr id="19474" name="Rectangle 22">
            <a:extLst>
              <a:ext uri="{FF2B5EF4-FFF2-40B4-BE49-F238E27FC236}">
                <a16:creationId xmlns:a16="http://schemas.microsoft.com/office/drawing/2014/main" id="{4BE9456B-9103-10AB-95CF-20F071FAB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736975"/>
            <a:ext cx="13319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compile</a:t>
            </a:r>
          </a:p>
        </p:txBody>
      </p:sp>
      <p:sp>
        <p:nvSpPr>
          <p:cNvPr id="19475" name="Rectangle 23">
            <a:extLst>
              <a:ext uri="{FF2B5EF4-FFF2-40B4-BE49-F238E27FC236}">
                <a16:creationId xmlns:a16="http://schemas.microsoft.com/office/drawing/2014/main" id="{535B3CC0-0792-3806-D876-051541D3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2593975"/>
            <a:ext cx="9064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build</a:t>
            </a:r>
          </a:p>
        </p:txBody>
      </p:sp>
      <p:sp>
        <p:nvSpPr>
          <p:cNvPr id="19476" name="Rectangle 24">
            <a:extLst>
              <a:ext uri="{FF2B5EF4-FFF2-40B4-BE49-F238E27FC236}">
                <a16:creationId xmlns:a16="http://schemas.microsoft.com/office/drawing/2014/main" id="{01B6AA31-09BF-AFF7-61CA-A1DBA056C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213" y="2670175"/>
            <a:ext cx="10779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time.o</a:t>
            </a:r>
          </a:p>
        </p:txBody>
      </p:sp>
      <p:sp>
        <p:nvSpPr>
          <p:cNvPr id="19477" name="Rectangle 25">
            <a:extLst>
              <a:ext uri="{FF2B5EF4-FFF2-40B4-BE49-F238E27FC236}">
                <a16:creationId xmlns:a16="http://schemas.microsoft.com/office/drawing/2014/main" id="{CFFD8670-E649-8A26-C251-A15993906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213" y="4803775"/>
            <a:ext cx="11620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main.o</a:t>
            </a:r>
          </a:p>
        </p:txBody>
      </p:sp>
      <p:sp>
        <p:nvSpPr>
          <p:cNvPr id="19478" name="Rectangle 26">
            <a:extLst>
              <a:ext uri="{FF2B5EF4-FFF2-40B4-BE49-F238E27FC236}">
                <a16:creationId xmlns:a16="http://schemas.microsoft.com/office/drawing/2014/main" id="{5D355F14-3158-C074-AC34-2FFD33A68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3736975"/>
            <a:ext cx="14859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main.exe</a:t>
            </a:r>
          </a:p>
        </p:txBody>
      </p:sp>
    </p:spTree>
    <p:extLst>
      <p:ext uri="{BB962C8B-B14F-4D97-AF65-F5344CB8AC3E}">
        <p14:creationId xmlns:p14="http://schemas.microsoft.com/office/powerpoint/2010/main" val="4166125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9BD0663-167A-CFE4-026B-4DBE178610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/>
              <a:t>Program Organization w/ Classes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89A74A4-FAC5-898E-AC1E-B7A93A753D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FF"/>
                </a:solidFill>
              </a:rPr>
              <a:t>To prevent multiple inclusion of header file, use preprocessor command</a:t>
            </a:r>
          </a:p>
          <a:p>
            <a:pPr marL="742950" lvl="1" indent="-285750"/>
            <a:r>
              <a:rPr lang="en-US" altLang="en-US">
                <a:latin typeface="Courier New" panose="02070309020205020404" pitchFamily="49" charset="0"/>
              </a:rPr>
              <a:t>#if</a:t>
            </a:r>
            <a:r>
              <a:rPr lang="en-US" altLang="ko-KR">
                <a:latin typeface="Courier New" panose="02070309020205020404" pitchFamily="49" charset="0"/>
                <a:ea typeface="굴림" panose="020B0600000101010101" pitchFamily="34" charset="-127"/>
              </a:rPr>
              <a:t>n</a:t>
            </a:r>
            <a:r>
              <a:rPr lang="en-US" altLang="en-US">
                <a:latin typeface="Courier New" panose="02070309020205020404" pitchFamily="49" charset="0"/>
              </a:rPr>
              <a:t>def TIME_H</a:t>
            </a:r>
            <a:r>
              <a:rPr lang="en-US" altLang="ko-KR">
                <a:latin typeface="Courier New" panose="02070309020205020404" pitchFamily="49" charset="0"/>
                <a:ea typeface="굴림" panose="020B0600000101010101" pitchFamily="34" charset="-127"/>
              </a:rPr>
              <a:t>	 </a:t>
            </a:r>
            <a:r>
              <a:rPr lang="en-US" altLang="ko-KR" sz="2000">
                <a:ea typeface="굴림" panose="020B0600000101010101" pitchFamily="34" charset="-127"/>
              </a:rPr>
              <a:t>// </a:t>
            </a:r>
            <a:r>
              <a:rPr lang="en-US" altLang="en-US" sz="2000"/>
              <a:t>“if not defined”</a:t>
            </a:r>
          </a:p>
          <a:p>
            <a:pPr marL="742950" lvl="1" indent="-285750">
              <a:buFont typeface="Wingdings" pitchFamily="2" charset="2"/>
              <a:buNone/>
            </a:pPr>
            <a:r>
              <a:rPr lang="en-US" altLang="ko-KR">
                <a:latin typeface="Courier New" panose="02070309020205020404" pitchFamily="49" charset="0"/>
                <a:ea typeface="굴림" panose="020B0600000101010101" pitchFamily="34" charset="-127"/>
              </a:rPr>
              <a:t>				</a:t>
            </a:r>
            <a:r>
              <a:rPr lang="en-US" altLang="ko-KR" sz="2000">
                <a:latin typeface="Lucida Console" panose="020B0609040504020204" pitchFamily="49" charset="0"/>
                <a:ea typeface="굴림" panose="020B0600000101010101" pitchFamily="34" charset="-127"/>
              </a:rPr>
              <a:t>// </a:t>
            </a:r>
            <a:r>
              <a:rPr lang="en-US" altLang="en-US" sz="2000"/>
              <a:t>Define </a:t>
            </a:r>
            <a:r>
              <a:rPr lang="en-US" altLang="ko-KR" sz="2000">
                <a:ea typeface="굴림" panose="020B0600000101010101" pitchFamily="34" charset="-127"/>
              </a:rPr>
              <a:t>it </a:t>
            </a:r>
            <a:r>
              <a:rPr lang="en-US" altLang="en-US" sz="2000"/>
              <a:t>so </a:t>
            </a:r>
            <a:r>
              <a:rPr lang="en-US" altLang="ko-KR" sz="2000">
                <a:ea typeface="굴림" panose="020B0600000101010101" pitchFamily="34" charset="-127"/>
              </a:rPr>
              <a:t>that it </a:t>
            </a:r>
            <a:r>
              <a:rPr lang="en-US" altLang="en-US" sz="2000"/>
              <a:t>will not be included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marL="742950" lvl="1" indent="-285750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#define TIME_H</a:t>
            </a:r>
          </a:p>
          <a:p>
            <a:pPr marL="742950" lvl="1" indent="-285750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…</a:t>
            </a:r>
          </a:p>
          <a:p>
            <a:pPr marL="742950" lvl="1" indent="-285750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#endif</a:t>
            </a:r>
          </a:p>
          <a:p>
            <a:r>
              <a:rPr lang="en-US" altLang="en-US"/>
              <a:t>Member function can be defined in the interface: automatic inline function</a:t>
            </a:r>
          </a:p>
        </p:txBody>
      </p:sp>
    </p:spTree>
    <p:extLst>
      <p:ext uri="{BB962C8B-B14F-4D97-AF65-F5344CB8AC3E}">
        <p14:creationId xmlns:p14="http://schemas.microsoft.com/office/powerpoint/2010/main" val="42335823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E27054B-7B4C-172F-7850-CB1C9C7E16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/>
              <a:t>Program Organization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6B45994-8144-BC91-EA0E-FEF897D3FCC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sz="2400"/>
              <a:t>File “Header.h” </a:t>
            </a:r>
          </a:p>
          <a:p>
            <a:pPr>
              <a:buFont typeface="Wingdings" pitchFamily="2" charset="2"/>
              <a:buNone/>
            </a:pPr>
            <a:r>
              <a:rPr lang="en-US" altLang="en-US" sz="2400"/>
              <a:t>	</a:t>
            </a:r>
            <a:r>
              <a:rPr lang="en-US" altLang="en-US" sz="2400">
                <a:solidFill>
                  <a:srgbClr val="0000FF"/>
                </a:solidFill>
              </a:rPr>
              <a:t>// Don’t need to add VS Project solution</a:t>
            </a:r>
          </a:p>
          <a:p>
            <a:pPr>
              <a:buFont typeface="Wingdings" pitchFamily="2" charset="2"/>
              <a:buNone/>
            </a:pPr>
            <a:endParaRPr lang="en-US" altLang="en-US" sz="2000"/>
          </a:p>
          <a:p>
            <a:pPr>
              <a:buFont typeface="Wingdings" pitchFamily="2" charset="2"/>
              <a:buNone/>
            </a:pPr>
            <a:r>
              <a:rPr lang="en-US" altLang="en-US" sz="2000"/>
              <a:t>#include &lt;iostream&gt;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#include &lt;cstdlib&gt; 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solidFill>
                <a:srgbClr val="0000F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#ifndef HEAD_H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#define HEAD_H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int  createZipcode(void);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int  correctionDigitOf(int);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void extract(int, int&amp;, int&amp;, int&amp;, int&amp;, int&amp;);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#endif </a:t>
            </a:r>
          </a:p>
        </p:txBody>
      </p:sp>
    </p:spTree>
    <p:extLst>
      <p:ext uri="{BB962C8B-B14F-4D97-AF65-F5344CB8AC3E}">
        <p14:creationId xmlns:p14="http://schemas.microsoft.com/office/powerpoint/2010/main" val="41099480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840F143-1C7B-08D1-C860-DA07264161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/>
              <a:t>Program Organization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B5E9FE9-E877-D4EC-5376-FFA4DD2205E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File “Implementation.cpp” 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#include "Header.h“</a:t>
            </a:r>
          </a:p>
          <a:p>
            <a:pPr>
              <a:buFont typeface="Wingdings" pitchFamily="2" charset="2"/>
              <a:buNone/>
            </a:pPr>
            <a:endParaRPr lang="en-US" altLang="en-US" sz="2000"/>
          </a:p>
          <a:p>
            <a:pPr>
              <a:buFont typeface="Wingdings" pitchFamily="2" charset="2"/>
              <a:buNone/>
            </a:pPr>
            <a:r>
              <a:rPr lang="en-US" altLang="en-US" sz="2000"/>
              <a:t>int createZipcode(void)  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{ return 1; }</a:t>
            </a:r>
          </a:p>
          <a:p>
            <a:pPr>
              <a:buFont typeface="Wingdings" pitchFamily="2" charset="2"/>
              <a:buNone/>
            </a:pPr>
            <a:endParaRPr lang="en-US" altLang="en-US" sz="2000"/>
          </a:p>
          <a:p>
            <a:pPr>
              <a:buFont typeface="Wingdings" pitchFamily="2" charset="2"/>
              <a:buNone/>
            </a:pPr>
            <a:r>
              <a:rPr lang="en-US" altLang="en-US" sz="2000"/>
              <a:t>int correctionDigitOf(int zip)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{ return 1; }</a:t>
            </a:r>
          </a:p>
          <a:p>
            <a:pPr>
              <a:buFont typeface="Wingdings" pitchFamily="2" charset="2"/>
              <a:buNone/>
            </a:pPr>
            <a:endParaRPr lang="en-US" altLang="en-US" sz="2000"/>
          </a:p>
          <a:p>
            <a:pPr>
              <a:buFont typeface="Wingdings" pitchFamily="2" charset="2"/>
              <a:buNone/>
            </a:pPr>
            <a:r>
              <a:rPr lang="en-US" altLang="en-US" sz="2000"/>
              <a:t>void extract(int zip, int&amp; c1, int&amp; c2, int&amp; c3, int&amp; c4, int&amp; c5)</a:t>
            </a:r>
          </a:p>
          <a:p>
            <a:pPr>
              <a:buFont typeface="Wingdings" pitchFamily="2" charset="2"/>
              <a:buNone/>
            </a:pPr>
            <a:r>
              <a:rPr lang="en-US" altLang="en-US" sz="2000"/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1671385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FB56854-A26E-FED0-EEBB-07732EC566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/>
              <a:t>Program Organization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74540F6-4D6E-4F9C-3D7F-8F96B941A0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File “Driver.cpp” 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solidFill>
                <a:srgbClr val="0000F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00FF"/>
                </a:solidFill>
              </a:rPr>
              <a:t>// Recommended way, Don’t need to add header file to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00FF"/>
                </a:solidFill>
              </a:rPr>
              <a:t>// the VS Project solution </a:t>
            </a:r>
          </a:p>
          <a:p>
            <a:pPr>
              <a:buFont typeface="Wingdings" pitchFamily="2" charset="2"/>
              <a:buNone/>
            </a:pPr>
            <a:r>
              <a:rPr lang="en-US" altLang="en-US" sz="2400"/>
              <a:t>#include "Header.h"</a:t>
            </a:r>
          </a:p>
          <a:p>
            <a:pPr>
              <a:buFont typeface="Wingdings" pitchFamily="2" charset="2"/>
              <a:buNone/>
            </a:pPr>
            <a:endParaRPr lang="en-US" altLang="en-US" sz="1200"/>
          </a:p>
          <a:p>
            <a:pPr>
              <a:buFont typeface="Wingdings" pitchFamily="2" charset="2"/>
              <a:buNone/>
            </a:pPr>
            <a:r>
              <a:rPr lang="en-US" altLang="en-US" sz="2400"/>
              <a:t>#include "Implementation.cpp" 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00FF"/>
                </a:solidFill>
              </a:rPr>
              <a:t>// Do not add "implementation.cpp" to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00FF"/>
                </a:solidFill>
              </a:rPr>
              <a:t>// the VS Project solution</a:t>
            </a:r>
          </a:p>
          <a:p>
            <a:pPr>
              <a:buFont typeface="Wingdings" pitchFamily="2" charset="2"/>
              <a:buNone/>
            </a:pPr>
            <a:endParaRPr lang="en-US" altLang="en-US" sz="1200"/>
          </a:p>
          <a:p>
            <a:pPr>
              <a:buFont typeface="Wingdings" pitchFamily="2" charset="2"/>
              <a:buNone/>
            </a:pPr>
            <a:r>
              <a:rPr lang="en-US" altLang="en-US" sz="2400"/>
              <a:t>int main()</a:t>
            </a:r>
          </a:p>
          <a:p>
            <a:pPr>
              <a:buFont typeface="Wingdings" pitchFamily="2" charset="2"/>
              <a:buNone/>
            </a:pPr>
            <a:r>
              <a:rPr lang="en-US" altLang="en-US" sz="2400"/>
              <a:t>{	return 0;   }</a:t>
            </a:r>
          </a:p>
        </p:txBody>
      </p:sp>
    </p:spTree>
    <p:extLst>
      <p:ext uri="{BB962C8B-B14F-4D97-AF65-F5344CB8AC3E}">
        <p14:creationId xmlns:p14="http://schemas.microsoft.com/office/powerpoint/2010/main" val="1889130668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4411</TotalTime>
  <Words>2559</Words>
  <Application>Microsoft Macintosh PowerPoint</Application>
  <PresentationFormat>On-screen Show (4:3)</PresentationFormat>
  <Paragraphs>426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Wingdings</vt:lpstr>
      <vt:lpstr>굴림</vt:lpstr>
      <vt:lpstr>Courier New</vt:lpstr>
      <vt:lpstr>Lucida Console</vt:lpstr>
      <vt:lpstr>Times New Roman</vt:lpstr>
      <vt:lpstr>Network</vt:lpstr>
      <vt:lpstr>Lecture 2  C++ Functions</vt:lpstr>
      <vt:lpstr>C++ Functions</vt:lpstr>
      <vt:lpstr>Function Prototypes</vt:lpstr>
      <vt:lpstr>Function Prototype/Definition</vt:lpstr>
      <vt:lpstr>Placement</vt:lpstr>
      <vt:lpstr>Placement</vt:lpstr>
      <vt:lpstr>Function Definition</vt:lpstr>
      <vt:lpstr>Function call</vt:lpstr>
      <vt:lpstr>Function call</vt:lpstr>
      <vt:lpstr>Incorporation into main</vt:lpstr>
      <vt:lpstr>Modifying Arguments</vt:lpstr>
      <vt:lpstr>Pass-by-Reference</vt:lpstr>
      <vt:lpstr>Modifying Arguments</vt:lpstr>
      <vt:lpstr>Example 1</vt:lpstr>
      <vt:lpstr>Example 2</vt:lpstr>
      <vt:lpstr>Example 3a Main</vt:lpstr>
      <vt:lpstr>Example 3a Functions</vt:lpstr>
      <vt:lpstr>Example 3a Output</vt:lpstr>
      <vt:lpstr>Example 3b Main</vt:lpstr>
      <vt:lpstr>Example 3b Functions</vt:lpstr>
      <vt:lpstr>Example 3b Output</vt:lpstr>
      <vt:lpstr>Example 3c Main</vt:lpstr>
      <vt:lpstr>Example 3c Functions</vt:lpstr>
      <vt:lpstr>Example 3c Output</vt:lpstr>
      <vt:lpstr>Return reference</vt:lpstr>
      <vt:lpstr>Default Function Arguments</vt:lpstr>
      <vt:lpstr>Default Function Arguments</vt:lpstr>
      <vt:lpstr>Function Overloading</vt:lpstr>
      <vt:lpstr>Function Overloading</vt:lpstr>
      <vt:lpstr>Inline functions</vt:lpstr>
      <vt:lpstr>Examples</vt:lpstr>
      <vt:lpstr>Picking Lottery Numbers</vt:lpstr>
      <vt:lpstr>Approach</vt:lpstr>
      <vt:lpstr>Library Usage</vt:lpstr>
      <vt:lpstr>Library Usage</vt:lpstr>
      <vt:lpstr>Header File</vt:lpstr>
      <vt:lpstr>Main Function</vt:lpstr>
      <vt:lpstr>Supporting Functions</vt:lpstr>
      <vt:lpstr>Standard Libraries</vt:lpstr>
      <vt:lpstr>C++ Executable Creation</vt:lpstr>
      <vt:lpstr>Creating an Executable</vt:lpstr>
      <vt:lpstr>Program Organization w/ Classes</vt:lpstr>
      <vt:lpstr>Program Organization</vt:lpstr>
      <vt:lpstr>Program Organization</vt:lpstr>
      <vt:lpstr>Program Organization</vt:lpstr>
    </vt:vector>
  </TitlesOfParts>
  <Company>IPFW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BKim</dc:creator>
  <cp:lastModifiedBy>MD Romael Haque</cp:lastModifiedBy>
  <cp:revision>292</cp:revision>
  <dcterms:created xsi:type="dcterms:W3CDTF">2005-01-06T19:26:35Z</dcterms:created>
  <dcterms:modified xsi:type="dcterms:W3CDTF">2024-09-03T13:26:40Z</dcterms:modified>
</cp:coreProperties>
</file>