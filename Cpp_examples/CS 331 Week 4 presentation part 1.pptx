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1" r:id="rId27"/>
    <p:sldId id="292" r:id="rId28"/>
    <p:sldId id="293" r:id="rId29"/>
    <p:sldId id="281" r:id="rId30"/>
    <p:sldId id="282" r:id="rId31"/>
    <p:sldId id="283" r:id="rId32"/>
    <p:sldId id="284" r:id="rId33"/>
    <p:sldId id="285" r:id="rId34"/>
    <p:sldId id="286" r:id="rId35"/>
    <p:sldId id="287" r:id="rId36"/>
    <p:sldId id="288" r:id="rId37"/>
    <p:sldId id="294" r:id="rId38"/>
    <p:sldId id="295" r:id="rId39"/>
    <p:sldId id="29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60"/>
    <p:restoredTop sz="94694"/>
  </p:normalViewPr>
  <p:slideViewPr>
    <p:cSldViewPr snapToGrid="0">
      <p:cViewPr varScale="1">
        <p:scale>
          <a:sx n="121" d="100"/>
          <a:sy n="121" d="100"/>
        </p:scale>
        <p:origin x="440" y="17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976"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BB810-CABD-8A4D-BF23-1B5DE36F57EB}" type="datetimeFigureOut">
              <a:rPr lang="en-US" smtClean="0"/>
              <a:t>9/17/24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63651-6F64-D74E-8B33-4BB409A04043}" type="slidenum">
              <a:rPr lang="en-US" smtClean="0"/>
              <a:t>‹#›</a:t>
            </a:fld>
            <a:endParaRPr lang="en-US"/>
          </a:p>
        </p:txBody>
      </p:sp>
    </p:spTree>
    <p:extLst>
      <p:ext uri="{BB962C8B-B14F-4D97-AF65-F5344CB8AC3E}">
        <p14:creationId xmlns:p14="http://schemas.microsoft.com/office/powerpoint/2010/main" val="3244391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7677-C14F-2271-93CD-D804F0045E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E6D5E7-3B66-F570-986F-B15661D7F6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108E8-FB5B-029E-1254-B4D074680107}"/>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77AF3D96-3588-6D71-E5E8-5BA612CE8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80347-97CD-8EDC-D264-7CD72F049EB6}"/>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167940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4526C-D4F8-BB4D-902F-141483E2BF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9BD409-5A46-8F52-0630-FADED2B545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A0714-2BBE-26FA-A188-59BB8A426EDA}"/>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72FA424E-6DE5-D2F4-84A6-EA4C73E31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D36AC-66E0-9621-CF46-C58C52994D3B}"/>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3370276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25C7-7991-8E5F-A18A-92F8FE0026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551660-C9CB-E322-BFAC-E8D125EBC0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DF6DF-0441-7FE8-4538-F39DC76218AC}"/>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BBF32D2C-FEC3-225E-C9AA-434DBDF89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CA40F-65B9-2DF8-5307-189EEB6ACF73}"/>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2819980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BA03-3143-3792-665C-8BFBC8026E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75D075-F4F9-DDCC-746C-3696EC0F57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5517A-BC7C-4D74-1037-CCEFAA8E58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45ABC9-4B7A-DCF3-9DC2-D1697C44CB09}"/>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6" name="Footer Placeholder 5">
            <a:extLst>
              <a:ext uri="{FF2B5EF4-FFF2-40B4-BE49-F238E27FC236}">
                <a16:creationId xmlns:a16="http://schemas.microsoft.com/office/drawing/2014/main" id="{4C4CD896-D0C8-A7C3-8682-E8ECF838FA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642BC-0196-7D93-E61B-7F1CCE5DFC33}"/>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237408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DD7DF-5844-FB7D-4F21-C9C8A2529D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4F2B1D-65FB-B86F-7237-74F05E1D7C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853444-B4D4-B3D4-BD1E-CD7648FB8D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969FB7-A6B7-F032-16AD-4AC9527AF1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CA27C3-05CC-9010-9FDE-6283BD842B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1CC1F8-AF04-CA93-D273-15EB225A12CA}"/>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8" name="Footer Placeholder 7">
            <a:extLst>
              <a:ext uri="{FF2B5EF4-FFF2-40B4-BE49-F238E27FC236}">
                <a16:creationId xmlns:a16="http://schemas.microsoft.com/office/drawing/2014/main" id="{A0012FCA-0537-8E82-A8D0-84F7A803AC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865119-1B34-6C3B-F407-AF2AB0EAF3BD}"/>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406334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84A63-8FFF-C556-3E67-127D767A7C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4E9546-20BF-1445-B96F-01FA78886028}"/>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4" name="Footer Placeholder 3">
            <a:extLst>
              <a:ext uri="{FF2B5EF4-FFF2-40B4-BE49-F238E27FC236}">
                <a16:creationId xmlns:a16="http://schemas.microsoft.com/office/drawing/2014/main" id="{74A41475-9ABB-6C70-3B45-24F66C835E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C9B9AE-EAD8-5518-D838-32E38FEDF86B}"/>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1460645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99C22-375C-EA91-C9F9-E583B786098C}"/>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3" name="Footer Placeholder 2">
            <a:extLst>
              <a:ext uri="{FF2B5EF4-FFF2-40B4-BE49-F238E27FC236}">
                <a16:creationId xmlns:a16="http://schemas.microsoft.com/office/drawing/2014/main" id="{353A1B1B-792D-47CA-FE34-60FA741EB0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74C042-6D7E-2BEE-EAF5-25D5BF503381}"/>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3659798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1DEAC-691C-3A43-B654-1AF10DFAEA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89F44F-5CC7-C25C-DD09-9C24B5648D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911921-5D2C-9120-EDEE-802850F97A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408466-F607-B20D-60EF-241616FD5DB4}"/>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6" name="Footer Placeholder 5">
            <a:extLst>
              <a:ext uri="{FF2B5EF4-FFF2-40B4-BE49-F238E27FC236}">
                <a16:creationId xmlns:a16="http://schemas.microsoft.com/office/drawing/2014/main" id="{2B51BF3D-0358-0CB3-D8BB-292520C514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2B5D53-FF70-26B2-05D8-3B165BEAA5E5}"/>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3839303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17CE-FC1E-F417-B251-4C9F8B7BB9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6F53EF-224C-3C94-2D63-EABB96E2BF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FDC2AE-BE01-9ED3-CBD3-7A6E2ED1D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1E9BCA-8FF7-E6F8-96FA-D841ED3B8BB6}"/>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6" name="Footer Placeholder 5">
            <a:extLst>
              <a:ext uri="{FF2B5EF4-FFF2-40B4-BE49-F238E27FC236}">
                <a16:creationId xmlns:a16="http://schemas.microsoft.com/office/drawing/2014/main" id="{25882799-767D-73AE-EB7B-9D8666ED3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AC736F-8EA4-9D6F-F18A-6278E80E1342}"/>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2600043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75DF-7BDD-2E71-7D61-7F2E5072D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21BE65-6A96-7130-6329-0BE536BA03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BB2FA2-1D97-6D9E-24F3-FBD01613757C}"/>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2E20E849-9D38-1197-5F7C-D7AC6F5942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22418A-A228-0D69-7316-3522B400C6B8}"/>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317556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FFC53A-9F22-2F7D-BAE5-D88CEAD658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B3034C-134D-4749-6E43-5521EC1A8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AD411-255F-29A3-AC02-7BBAD5FA13F5}"/>
              </a:ext>
            </a:extLst>
          </p:cNvPr>
          <p:cNvSpPr>
            <a:spLocks noGrp="1"/>
          </p:cNvSpPr>
          <p:nvPr>
            <p:ph type="dt" sz="half" idx="10"/>
          </p:nvPr>
        </p:nvSpPr>
        <p:spPr/>
        <p:txBody>
          <a:body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88761D49-29B5-AE76-7FF3-36C4764A3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6F7781-460B-CE38-C8CD-657DEE03E076}"/>
              </a:ext>
            </a:extLst>
          </p:cNvPr>
          <p:cNvSpPr>
            <a:spLocks noGrp="1"/>
          </p:cNvSpPr>
          <p:nvPr>
            <p:ph type="sldNum" sz="quarter" idx="12"/>
          </p:nvPr>
        </p:nvSpPr>
        <p:spPr/>
        <p:txBody>
          <a:bodyPr/>
          <a:lstStyle/>
          <a:p>
            <a:fld id="{E4F277FA-061F-3540-9EDD-234019D3E792}" type="slidenum">
              <a:rPr lang="en-US" smtClean="0"/>
              <a:t>‹#›</a:t>
            </a:fld>
            <a:endParaRPr lang="en-US"/>
          </a:p>
        </p:txBody>
      </p:sp>
    </p:spTree>
    <p:extLst>
      <p:ext uri="{BB962C8B-B14F-4D97-AF65-F5344CB8AC3E}">
        <p14:creationId xmlns:p14="http://schemas.microsoft.com/office/powerpoint/2010/main" val="2906438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8118E4-7855-60D2-BEDF-CB13316F8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1073B0-A10B-6F99-8E4B-BDD12E3F2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17EA0F-8167-985E-370D-3DD475DD32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779912-7276-B049-90D8-3411F49A5D92}" type="datetimeFigureOut">
              <a:rPr lang="en-US" smtClean="0"/>
              <a:t>9/17/24</a:t>
            </a:fld>
            <a:endParaRPr lang="en-US"/>
          </a:p>
        </p:txBody>
      </p:sp>
      <p:sp>
        <p:nvSpPr>
          <p:cNvPr id="5" name="Footer Placeholder 4">
            <a:extLst>
              <a:ext uri="{FF2B5EF4-FFF2-40B4-BE49-F238E27FC236}">
                <a16:creationId xmlns:a16="http://schemas.microsoft.com/office/drawing/2014/main" id="{6B9535D6-B604-16FA-4DD2-DA2DEA0AE6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0AD380-3141-EFFD-704C-FE11EC5711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F277FA-061F-3540-9EDD-234019D3E792}" type="slidenum">
              <a:rPr lang="en-US" smtClean="0"/>
              <a:t>‹#›</a:t>
            </a:fld>
            <a:endParaRPr lang="en-US"/>
          </a:p>
        </p:txBody>
      </p:sp>
    </p:spTree>
    <p:extLst>
      <p:ext uri="{BB962C8B-B14F-4D97-AF65-F5344CB8AC3E}">
        <p14:creationId xmlns:p14="http://schemas.microsoft.com/office/powerpoint/2010/main" val="3428052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plus.pearson.com/products/38bfda0e-08b5-4b34-9a14-38c88560fefb/pages/urn:pearson:entity:eb466cc1-3164-4ea3-ab84-a31a2c5d4c3e?userPreferredType=content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add239e8-0717-43bf-adf5-84ab64e7235d?userPreferredType=rea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E272-F4DE-B3F3-F0E4-A75B298EBFC7}"/>
              </a:ext>
            </a:extLst>
          </p:cNvPr>
          <p:cNvSpPr>
            <a:spLocks noGrp="1"/>
          </p:cNvSpPr>
          <p:nvPr>
            <p:ph type="ctrTitle"/>
          </p:nvPr>
        </p:nvSpPr>
        <p:spPr/>
        <p:txBody>
          <a:bodyPr/>
          <a:lstStyle/>
          <a:p>
            <a:r>
              <a:rPr lang="en-US" dirty="0"/>
              <a:t>Week 4</a:t>
            </a:r>
            <a:br>
              <a:rPr lang="en-US" dirty="0"/>
            </a:br>
            <a:r>
              <a:rPr lang="en-US" sz="4500" dirty="0"/>
              <a:t>Control Statements Part 1</a:t>
            </a:r>
          </a:p>
        </p:txBody>
      </p:sp>
      <p:sp>
        <p:nvSpPr>
          <p:cNvPr id="3" name="Subtitle 2">
            <a:extLst>
              <a:ext uri="{FF2B5EF4-FFF2-40B4-BE49-F238E27FC236}">
                <a16:creationId xmlns:a16="http://schemas.microsoft.com/office/drawing/2014/main" id="{D67EB2CD-BBF5-CD54-69DE-215E7648999E}"/>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p:txBody>
      </p:sp>
    </p:spTree>
    <p:extLst>
      <p:ext uri="{BB962C8B-B14F-4D97-AF65-F5344CB8AC3E}">
        <p14:creationId xmlns:p14="http://schemas.microsoft.com/office/powerpoint/2010/main" val="3017602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CF6B-D04C-7C51-2FCC-B9C96AF66522}"/>
              </a:ext>
            </a:extLst>
          </p:cNvPr>
          <p:cNvSpPr>
            <a:spLocks noGrp="1"/>
          </p:cNvSpPr>
          <p:nvPr>
            <p:ph type="title"/>
          </p:nvPr>
        </p:nvSpPr>
        <p:spPr/>
        <p:txBody>
          <a:bodyPr/>
          <a:lstStyle/>
          <a:p>
            <a:r>
              <a:rPr lang="en-US" dirty="0"/>
              <a:t>Relational Operators</a:t>
            </a:r>
          </a:p>
        </p:txBody>
      </p:sp>
      <p:sp>
        <p:nvSpPr>
          <p:cNvPr id="3" name="Content Placeholder 2">
            <a:extLst>
              <a:ext uri="{FF2B5EF4-FFF2-40B4-BE49-F238E27FC236}">
                <a16:creationId xmlns:a16="http://schemas.microsoft.com/office/drawing/2014/main" id="{DF0B0908-1906-8070-5798-E8CC67A3E686}"/>
              </a:ext>
            </a:extLst>
          </p:cNvPr>
          <p:cNvSpPr>
            <a:spLocks noGrp="1"/>
          </p:cNvSpPr>
          <p:nvPr>
            <p:ph idx="1"/>
          </p:nvPr>
        </p:nvSpPr>
        <p:spPr/>
        <p:txBody>
          <a:bodyPr/>
          <a:lstStyle/>
          <a:p>
            <a:r>
              <a:rPr lang="en-US" dirty="0"/>
              <a:t>Relational operators allow you to compare numeric and char values and determine whether one is greater than, less than, equal to, or not equal to another.</a:t>
            </a:r>
          </a:p>
        </p:txBody>
      </p:sp>
      <p:pic>
        <p:nvPicPr>
          <p:cNvPr id="4" name="Picture 3">
            <a:extLst>
              <a:ext uri="{FF2B5EF4-FFF2-40B4-BE49-F238E27FC236}">
                <a16:creationId xmlns:a16="http://schemas.microsoft.com/office/drawing/2014/main" id="{214B1E9B-8FE9-CCAB-A031-726083FE99FA}"/>
              </a:ext>
            </a:extLst>
          </p:cNvPr>
          <p:cNvPicPr>
            <a:picLocks noChangeAspect="1"/>
          </p:cNvPicPr>
          <p:nvPr/>
        </p:nvPicPr>
        <p:blipFill>
          <a:blip r:embed="rId2"/>
          <a:stretch>
            <a:fillRect/>
          </a:stretch>
        </p:blipFill>
        <p:spPr>
          <a:xfrm>
            <a:off x="2190440" y="3104712"/>
            <a:ext cx="7811120" cy="3464254"/>
          </a:xfrm>
          <a:prstGeom prst="rect">
            <a:avLst/>
          </a:prstGeom>
        </p:spPr>
      </p:pic>
    </p:spTree>
    <p:extLst>
      <p:ext uri="{BB962C8B-B14F-4D97-AF65-F5344CB8AC3E}">
        <p14:creationId xmlns:p14="http://schemas.microsoft.com/office/powerpoint/2010/main" val="195994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A38A-A91B-7B5D-0319-43EAB243524C}"/>
              </a:ext>
            </a:extLst>
          </p:cNvPr>
          <p:cNvSpPr>
            <a:spLocks noGrp="1"/>
          </p:cNvSpPr>
          <p:nvPr>
            <p:ph type="title"/>
          </p:nvPr>
        </p:nvSpPr>
        <p:spPr/>
        <p:txBody>
          <a:bodyPr/>
          <a:lstStyle/>
          <a:p>
            <a:r>
              <a:rPr lang="en-US" dirty="0"/>
              <a:t>Boolean expressions</a:t>
            </a:r>
          </a:p>
        </p:txBody>
      </p:sp>
      <p:sp>
        <p:nvSpPr>
          <p:cNvPr id="3" name="Content Placeholder 2">
            <a:extLst>
              <a:ext uri="{FF2B5EF4-FFF2-40B4-BE49-F238E27FC236}">
                <a16:creationId xmlns:a16="http://schemas.microsoft.com/office/drawing/2014/main" id="{D68EEB9B-B57A-B53F-1737-7617E101FE4C}"/>
              </a:ext>
            </a:extLst>
          </p:cNvPr>
          <p:cNvSpPr>
            <a:spLocks noGrp="1"/>
          </p:cNvSpPr>
          <p:nvPr>
            <p:ph idx="1"/>
          </p:nvPr>
        </p:nvSpPr>
        <p:spPr/>
        <p:txBody>
          <a:bodyPr/>
          <a:lstStyle/>
          <a:p>
            <a:r>
              <a:rPr lang="en-US" b="1" dirty="0"/>
              <a:t>X&gt;Y</a:t>
            </a:r>
            <a:r>
              <a:rPr lang="en-US" dirty="0"/>
              <a:t>: This expression is called a relational expression.</a:t>
            </a:r>
          </a:p>
          <a:p>
            <a:r>
              <a:rPr lang="en-US" dirty="0"/>
              <a:t>Relational expressions are </a:t>
            </a:r>
            <a:r>
              <a:rPr lang="en-US" b="1" dirty="0"/>
              <a:t>Boolean expressions</a:t>
            </a:r>
            <a:r>
              <a:rPr lang="en-US" dirty="0"/>
              <a:t>, which means their value can only be </a:t>
            </a:r>
            <a:r>
              <a:rPr lang="en-US" i="1" dirty="0"/>
              <a:t>true</a:t>
            </a:r>
            <a:r>
              <a:rPr lang="en-US" dirty="0"/>
              <a:t> or </a:t>
            </a:r>
            <a:r>
              <a:rPr lang="en-US" i="1" dirty="0"/>
              <a:t>false</a:t>
            </a:r>
            <a:r>
              <a:rPr lang="en-US" dirty="0"/>
              <a:t>. If x is greater than y, the expression x &gt; y will be true and the expression x &lt; y will be false.</a:t>
            </a:r>
          </a:p>
          <a:p>
            <a:r>
              <a:rPr lang="en-US" dirty="0"/>
              <a:t>Two of the relational operators actually test for a pair of relationships. The &gt;= operator determines whether the operand on its left is greater than </a:t>
            </a:r>
            <a:r>
              <a:rPr lang="en-US" i="1" dirty="0"/>
              <a:t>or</a:t>
            </a:r>
            <a:r>
              <a:rPr lang="en-US" dirty="0"/>
              <a:t> equal to the operand on the right.</a:t>
            </a:r>
          </a:p>
        </p:txBody>
      </p:sp>
    </p:spTree>
    <p:extLst>
      <p:ext uri="{BB962C8B-B14F-4D97-AF65-F5344CB8AC3E}">
        <p14:creationId xmlns:p14="http://schemas.microsoft.com/office/powerpoint/2010/main" val="3134427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6404-1465-B7B8-4E8D-9510B7158884}"/>
              </a:ext>
            </a:extLst>
          </p:cNvPr>
          <p:cNvSpPr>
            <a:spLocks noGrp="1"/>
          </p:cNvSpPr>
          <p:nvPr>
            <p:ph type="title"/>
          </p:nvPr>
        </p:nvSpPr>
        <p:spPr/>
        <p:txBody>
          <a:bodyPr/>
          <a:lstStyle/>
          <a:p>
            <a:r>
              <a:rPr lang="en-US" dirty="0"/>
              <a:t>Examples</a:t>
            </a:r>
          </a:p>
        </p:txBody>
      </p:sp>
      <p:pic>
        <p:nvPicPr>
          <p:cNvPr id="4" name="Content Placeholder 3">
            <a:extLst>
              <a:ext uri="{FF2B5EF4-FFF2-40B4-BE49-F238E27FC236}">
                <a16:creationId xmlns:a16="http://schemas.microsoft.com/office/drawing/2014/main" id="{1CC9E7D0-ACA2-D396-59BD-53BC5A82D9AA}"/>
              </a:ext>
            </a:extLst>
          </p:cNvPr>
          <p:cNvPicPr>
            <a:picLocks noGrp="1" noChangeAspect="1"/>
          </p:cNvPicPr>
          <p:nvPr>
            <p:ph idx="1"/>
          </p:nvPr>
        </p:nvPicPr>
        <p:blipFill>
          <a:blip r:embed="rId2"/>
          <a:stretch>
            <a:fillRect/>
          </a:stretch>
        </p:blipFill>
        <p:spPr>
          <a:xfrm>
            <a:off x="1292772" y="2188505"/>
            <a:ext cx="9378734" cy="3539633"/>
          </a:xfrm>
          <a:prstGeom prst="rect">
            <a:avLst/>
          </a:prstGeom>
        </p:spPr>
      </p:pic>
    </p:spTree>
    <p:extLst>
      <p:ext uri="{BB962C8B-B14F-4D97-AF65-F5344CB8AC3E}">
        <p14:creationId xmlns:p14="http://schemas.microsoft.com/office/powerpoint/2010/main" val="1781229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09A1A-2806-2862-1E4B-C8FDE8E6F4C4}"/>
              </a:ext>
            </a:extLst>
          </p:cNvPr>
          <p:cNvSpPr>
            <a:spLocks noGrp="1"/>
          </p:cNvSpPr>
          <p:nvPr>
            <p:ph type="title"/>
          </p:nvPr>
        </p:nvSpPr>
        <p:spPr/>
        <p:txBody>
          <a:bodyPr/>
          <a:lstStyle/>
          <a:p>
            <a:r>
              <a:rPr lang="en-US" dirty="0"/>
              <a:t>What is truth?</a:t>
            </a:r>
          </a:p>
        </p:txBody>
      </p:sp>
      <p:sp>
        <p:nvSpPr>
          <p:cNvPr id="3" name="Content Placeholder 2">
            <a:extLst>
              <a:ext uri="{FF2B5EF4-FFF2-40B4-BE49-F238E27FC236}">
                <a16:creationId xmlns:a16="http://schemas.microsoft.com/office/drawing/2014/main" id="{72FC3127-8F4B-A086-4AD7-A6E9695F5F4F}"/>
              </a:ext>
            </a:extLst>
          </p:cNvPr>
          <p:cNvSpPr>
            <a:spLocks noGrp="1"/>
          </p:cNvSpPr>
          <p:nvPr>
            <p:ph idx="1"/>
          </p:nvPr>
        </p:nvSpPr>
        <p:spPr/>
        <p:txBody>
          <a:bodyPr/>
          <a:lstStyle/>
          <a:p>
            <a:r>
              <a:rPr lang="en-US" dirty="0"/>
              <a:t>If a relational expression can evaluate to either true or false, how are those values represented internally in a program? How does a computer store </a:t>
            </a:r>
            <a:r>
              <a:rPr lang="en-US" i="1" dirty="0"/>
              <a:t>true</a:t>
            </a:r>
            <a:r>
              <a:rPr lang="en-US" dirty="0"/>
              <a:t> in memory? How does it store </a:t>
            </a:r>
            <a:r>
              <a:rPr lang="en-US" i="1" dirty="0"/>
              <a:t>false</a:t>
            </a:r>
            <a:r>
              <a:rPr lang="en-US" dirty="0"/>
              <a:t>?</a:t>
            </a:r>
          </a:p>
          <a:p>
            <a:r>
              <a:rPr lang="en-US" dirty="0"/>
              <a:t>The C++ keyword false is stored as 0, and the keyword true is stored as 1. And when a relational expression is false, it evaluates to 0.</a:t>
            </a:r>
          </a:p>
          <a:p>
            <a:r>
              <a:rPr lang="en-US" dirty="0"/>
              <a:t>However, when a relational expression is true, it does not always evaluate to 1. Though it usually does, it can actually evaluate to any nonzero value.</a:t>
            </a:r>
          </a:p>
        </p:txBody>
      </p:sp>
    </p:spTree>
    <p:extLst>
      <p:ext uri="{BB962C8B-B14F-4D97-AF65-F5344CB8AC3E}">
        <p14:creationId xmlns:p14="http://schemas.microsoft.com/office/powerpoint/2010/main" val="3168990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09A1A-2806-2862-1E4B-C8FDE8E6F4C4}"/>
              </a:ext>
            </a:extLst>
          </p:cNvPr>
          <p:cNvSpPr>
            <a:spLocks noGrp="1"/>
          </p:cNvSpPr>
          <p:nvPr>
            <p:ph type="title"/>
          </p:nvPr>
        </p:nvSpPr>
        <p:spPr/>
        <p:txBody>
          <a:bodyPr/>
          <a:lstStyle/>
          <a:p>
            <a:r>
              <a:rPr lang="en-US" dirty="0"/>
              <a:t>What is truth?</a:t>
            </a:r>
          </a:p>
        </p:txBody>
      </p:sp>
      <p:pic>
        <p:nvPicPr>
          <p:cNvPr id="6" name="Picture 5">
            <a:extLst>
              <a:ext uri="{FF2B5EF4-FFF2-40B4-BE49-F238E27FC236}">
                <a16:creationId xmlns:a16="http://schemas.microsoft.com/office/drawing/2014/main" id="{ABAAD4E4-9E9B-3F93-309F-CA4625DF748F}"/>
              </a:ext>
            </a:extLst>
          </p:cNvPr>
          <p:cNvPicPr>
            <a:picLocks noChangeAspect="1"/>
          </p:cNvPicPr>
          <p:nvPr/>
        </p:nvPicPr>
        <p:blipFill>
          <a:blip r:embed="rId2"/>
          <a:stretch>
            <a:fillRect/>
          </a:stretch>
        </p:blipFill>
        <p:spPr>
          <a:xfrm>
            <a:off x="4681701" y="203580"/>
            <a:ext cx="6185996" cy="6450840"/>
          </a:xfrm>
          <a:prstGeom prst="rect">
            <a:avLst/>
          </a:prstGeom>
        </p:spPr>
      </p:pic>
    </p:spTree>
    <p:extLst>
      <p:ext uri="{BB962C8B-B14F-4D97-AF65-F5344CB8AC3E}">
        <p14:creationId xmlns:p14="http://schemas.microsoft.com/office/powerpoint/2010/main" val="4048076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FE6F-48BF-7453-D1DD-C580FD34BB0F}"/>
              </a:ext>
            </a:extLst>
          </p:cNvPr>
          <p:cNvSpPr>
            <a:spLocks noGrp="1"/>
          </p:cNvSpPr>
          <p:nvPr>
            <p:ph type="title"/>
          </p:nvPr>
        </p:nvSpPr>
        <p:spPr/>
        <p:txBody>
          <a:bodyPr/>
          <a:lstStyle/>
          <a:p>
            <a:r>
              <a:rPr lang="en-US" dirty="0"/>
              <a:t>Precedence in RA</a:t>
            </a:r>
          </a:p>
        </p:txBody>
      </p:sp>
      <p:sp>
        <p:nvSpPr>
          <p:cNvPr id="3" name="Content Placeholder 2">
            <a:extLst>
              <a:ext uri="{FF2B5EF4-FFF2-40B4-BE49-F238E27FC236}">
                <a16:creationId xmlns:a16="http://schemas.microsoft.com/office/drawing/2014/main" id="{15EAA908-A7CE-9AFB-C1CC-DF783D909736}"/>
              </a:ext>
            </a:extLst>
          </p:cNvPr>
          <p:cNvSpPr>
            <a:spLocks noGrp="1"/>
          </p:cNvSpPr>
          <p:nvPr>
            <p:ph idx="1"/>
          </p:nvPr>
        </p:nvSpPr>
        <p:spPr>
          <a:xfrm>
            <a:off x="838200" y="1825625"/>
            <a:ext cx="5594131" cy="4351338"/>
          </a:xfrm>
        </p:spPr>
        <p:txBody>
          <a:bodyPr/>
          <a:lstStyle/>
          <a:p>
            <a:r>
              <a:rPr lang="en-US" dirty="0"/>
              <a:t>Arithmetic operators have a higher precedence than relational operators.</a:t>
            </a:r>
          </a:p>
          <a:p>
            <a:r>
              <a:rPr lang="en-US" dirty="0"/>
              <a:t>It is always a good idea to place parentheses around an arithmetic expression when its result will be used in a relational expression.</a:t>
            </a:r>
          </a:p>
        </p:txBody>
      </p:sp>
      <p:pic>
        <p:nvPicPr>
          <p:cNvPr id="4" name="Picture 3">
            <a:extLst>
              <a:ext uri="{FF2B5EF4-FFF2-40B4-BE49-F238E27FC236}">
                <a16:creationId xmlns:a16="http://schemas.microsoft.com/office/drawing/2014/main" id="{86525C0E-9420-08DC-9594-E7409A59018E}"/>
              </a:ext>
            </a:extLst>
          </p:cNvPr>
          <p:cNvPicPr>
            <a:picLocks noChangeAspect="1"/>
          </p:cNvPicPr>
          <p:nvPr/>
        </p:nvPicPr>
        <p:blipFill>
          <a:blip r:embed="rId2"/>
          <a:stretch>
            <a:fillRect/>
          </a:stretch>
        </p:blipFill>
        <p:spPr>
          <a:xfrm>
            <a:off x="7263104" y="1825625"/>
            <a:ext cx="3368337" cy="3765988"/>
          </a:xfrm>
          <a:prstGeom prst="rect">
            <a:avLst/>
          </a:prstGeom>
        </p:spPr>
      </p:pic>
    </p:spTree>
    <p:extLst>
      <p:ext uri="{BB962C8B-B14F-4D97-AF65-F5344CB8AC3E}">
        <p14:creationId xmlns:p14="http://schemas.microsoft.com/office/powerpoint/2010/main" val="166950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96E65-90EF-2D42-0FC5-0728F687AA24}"/>
              </a:ext>
            </a:extLst>
          </p:cNvPr>
          <p:cNvSpPr>
            <a:spLocks noGrp="1"/>
          </p:cNvSpPr>
          <p:nvPr>
            <p:ph type="title"/>
          </p:nvPr>
        </p:nvSpPr>
        <p:spPr/>
        <p:txBody>
          <a:bodyPr/>
          <a:lstStyle/>
          <a:p>
            <a:r>
              <a:rPr lang="en-US" dirty="0"/>
              <a:t>Precedence in RA</a:t>
            </a:r>
          </a:p>
        </p:txBody>
      </p:sp>
      <p:pic>
        <p:nvPicPr>
          <p:cNvPr id="4" name="Content Placeholder 3">
            <a:extLst>
              <a:ext uri="{FF2B5EF4-FFF2-40B4-BE49-F238E27FC236}">
                <a16:creationId xmlns:a16="http://schemas.microsoft.com/office/drawing/2014/main" id="{0469447D-6213-D42C-12E6-9AC29A862222}"/>
              </a:ext>
            </a:extLst>
          </p:cNvPr>
          <p:cNvPicPr>
            <a:picLocks noGrp="1" noChangeAspect="1"/>
          </p:cNvPicPr>
          <p:nvPr>
            <p:ph idx="1"/>
          </p:nvPr>
        </p:nvPicPr>
        <p:blipFill>
          <a:blip r:embed="rId2"/>
          <a:stretch>
            <a:fillRect/>
          </a:stretch>
        </p:blipFill>
        <p:spPr>
          <a:xfrm>
            <a:off x="1460061" y="1690687"/>
            <a:ext cx="8969867" cy="4258167"/>
          </a:xfrm>
          <a:prstGeom prst="rect">
            <a:avLst/>
          </a:prstGeom>
        </p:spPr>
      </p:pic>
    </p:spTree>
    <p:extLst>
      <p:ext uri="{BB962C8B-B14F-4D97-AF65-F5344CB8AC3E}">
        <p14:creationId xmlns:p14="http://schemas.microsoft.com/office/powerpoint/2010/main" val="274091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D1E63-578C-72BC-F6A4-A4B89CEFD9CE}"/>
              </a:ext>
            </a:extLst>
          </p:cNvPr>
          <p:cNvSpPr>
            <a:spLocks noGrp="1"/>
          </p:cNvSpPr>
          <p:nvPr>
            <p:ph type="title"/>
          </p:nvPr>
        </p:nvSpPr>
        <p:spPr/>
        <p:txBody>
          <a:bodyPr/>
          <a:lstStyle/>
          <a:p>
            <a:r>
              <a:rPr lang="en-US" dirty="0"/>
              <a:t>Precedence in RA</a:t>
            </a:r>
          </a:p>
        </p:txBody>
      </p:sp>
      <p:pic>
        <p:nvPicPr>
          <p:cNvPr id="4" name="Content Placeholder 3">
            <a:extLst>
              <a:ext uri="{FF2B5EF4-FFF2-40B4-BE49-F238E27FC236}">
                <a16:creationId xmlns:a16="http://schemas.microsoft.com/office/drawing/2014/main" id="{A38D2CBE-D15D-88D3-B5D0-010DA68F2928}"/>
              </a:ext>
            </a:extLst>
          </p:cNvPr>
          <p:cNvPicPr>
            <a:picLocks noGrp="1" noChangeAspect="1"/>
          </p:cNvPicPr>
          <p:nvPr>
            <p:ph idx="1"/>
          </p:nvPr>
        </p:nvPicPr>
        <p:blipFill>
          <a:blip r:embed="rId2"/>
          <a:stretch>
            <a:fillRect/>
          </a:stretch>
        </p:blipFill>
        <p:spPr>
          <a:xfrm>
            <a:off x="2412732" y="4352322"/>
            <a:ext cx="7366536" cy="1333774"/>
          </a:xfrm>
          <a:prstGeom prst="rect">
            <a:avLst/>
          </a:prstGeom>
        </p:spPr>
      </p:pic>
      <p:sp>
        <p:nvSpPr>
          <p:cNvPr id="6" name="TextBox 5">
            <a:extLst>
              <a:ext uri="{FF2B5EF4-FFF2-40B4-BE49-F238E27FC236}">
                <a16:creationId xmlns:a16="http://schemas.microsoft.com/office/drawing/2014/main" id="{754376DA-7261-47C8-0C3A-DE5E03090E25}"/>
              </a:ext>
            </a:extLst>
          </p:cNvPr>
          <p:cNvSpPr txBox="1"/>
          <p:nvPr/>
        </p:nvSpPr>
        <p:spPr>
          <a:xfrm>
            <a:off x="838199" y="1690688"/>
            <a:ext cx="10418379"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Relational operators also have a precedence order among themselves. </a:t>
            </a:r>
          </a:p>
          <a:p>
            <a:pPr marL="285750" indent="-285750">
              <a:buFont typeface="Arial" panose="020B0604020202020204" pitchFamily="34" charset="0"/>
              <a:buChar char="•"/>
            </a:pPr>
            <a:r>
              <a:rPr lang="en-US" sz="2400" dirty="0"/>
              <a:t>The two operators that test for equality or lack of equality (== and !=) have the same precedence as each other. </a:t>
            </a:r>
          </a:p>
          <a:p>
            <a:pPr marL="285750" indent="-285750">
              <a:buFont typeface="Arial" panose="020B0604020202020204" pitchFamily="34" charset="0"/>
              <a:buChar char="•"/>
            </a:pPr>
            <a:r>
              <a:rPr lang="en-US" sz="2400" dirty="0"/>
              <a:t>The four other relational operators, which test relative size, have the same precedence as each other. These four relative relational operators have a higher precedence than the two equality relational operators.</a:t>
            </a:r>
          </a:p>
        </p:txBody>
      </p:sp>
      <p:sp>
        <p:nvSpPr>
          <p:cNvPr id="7" name="TextBox 6">
            <a:extLst>
              <a:ext uri="{FF2B5EF4-FFF2-40B4-BE49-F238E27FC236}">
                <a16:creationId xmlns:a16="http://schemas.microsoft.com/office/drawing/2014/main" id="{B0EB9765-0851-0E29-66C6-75C2CDE69AD1}"/>
              </a:ext>
            </a:extLst>
          </p:cNvPr>
          <p:cNvSpPr txBox="1"/>
          <p:nvPr/>
        </p:nvSpPr>
        <p:spPr>
          <a:xfrm>
            <a:off x="2659117" y="5822730"/>
            <a:ext cx="6252609" cy="923330"/>
          </a:xfrm>
          <a:prstGeom prst="rect">
            <a:avLst/>
          </a:prstGeom>
          <a:noFill/>
        </p:spPr>
        <p:txBody>
          <a:bodyPr wrap="none" rtlCol="0">
            <a:spAutoFit/>
          </a:bodyPr>
          <a:lstStyle/>
          <a:p>
            <a:pPr algn="l"/>
            <a:r>
              <a:rPr lang="en-US" dirty="0">
                <a:effectLst/>
              </a:rPr>
              <a:t>If a = 9, b = 24, and c = 0, the following statement displays a 1.</a:t>
            </a:r>
          </a:p>
          <a:p>
            <a:pPr rtl="0"/>
            <a:r>
              <a:rPr lang="en-US" b="1" dirty="0" err="1"/>
              <a:t>cout</a:t>
            </a:r>
            <a:r>
              <a:rPr lang="en-US" b="1" dirty="0"/>
              <a:t> &lt;&lt; (c == a &gt; b); </a:t>
            </a:r>
          </a:p>
          <a:p>
            <a:endParaRPr lang="en-US" dirty="0"/>
          </a:p>
        </p:txBody>
      </p:sp>
    </p:spTree>
    <p:extLst>
      <p:ext uri="{BB962C8B-B14F-4D97-AF65-F5344CB8AC3E}">
        <p14:creationId xmlns:p14="http://schemas.microsoft.com/office/powerpoint/2010/main" val="2236099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4E4B-7FA0-00DA-4CF7-0C735BEE368C}"/>
              </a:ext>
            </a:extLst>
          </p:cNvPr>
          <p:cNvSpPr>
            <a:spLocks noGrp="1"/>
          </p:cNvSpPr>
          <p:nvPr>
            <p:ph type="title"/>
          </p:nvPr>
        </p:nvSpPr>
        <p:spPr/>
        <p:txBody>
          <a:bodyPr/>
          <a:lstStyle/>
          <a:p>
            <a:r>
              <a:rPr lang="en-US" dirty="0"/>
              <a:t>The if Statement</a:t>
            </a:r>
          </a:p>
        </p:txBody>
      </p:sp>
      <p:pic>
        <p:nvPicPr>
          <p:cNvPr id="4" name="Content Placeholder 3">
            <a:extLst>
              <a:ext uri="{FF2B5EF4-FFF2-40B4-BE49-F238E27FC236}">
                <a16:creationId xmlns:a16="http://schemas.microsoft.com/office/drawing/2014/main" id="{587E847A-3198-DDA3-2892-3D52201F1C16}"/>
              </a:ext>
            </a:extLst>
          </p:cNvPr>
          <p:cNvPicPr>
            <a:picLocks noGrp="1" noChangeAspect="1"/>
          </p:cNvPicPr>
          <p:nvPr>
            <p:ph idx="1"/>
          </p:nvPr>
        </p:nvPicPr>
        <p:blipFill>
          <a:blip r:embed="rId2"/>
          <a:stretch>
            <a:fillRect/>
          </a:stretch>
        </p:blipFill>
        <p:spPr>
          <a:xfrm>
            <a:off x="3056868" y="1850040"/>
            <a:ext cx="6078263" cy="4135898"/>
          </a:xfrm>
          <a:prstGeom prst="rect">
            <a:avLst/>
          </a:prstGeom>
        </p:spPr>
      </p:pic>
    </p:spTree>
    <p:extLst>
      <p:ext uri="{BB962C8B-B14F-4D97-AF65-F5344CB8AC3E}">
        <p14:creationId xmlns:p14="http://schemas.microsoft.com/office/powerpoint/2010/main" val="2477269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4E4B-7FA0-00DA-4CF7-0C735BEE368C}"/>
              </a:ext>
            </a:extLst>
          </p:cNvPr>
          <p:cNvSpPr>
            <a:spLocks noGrp="1"/>
          </p:cNvSpPr>
          <p:nvPr>
            <p:ph type="title"/>
          </p:nvPr>
        </p:nvSpPr>
        <p:spPr/>
        <p:txBody>
          <a:bodyPr/>
          <a:lstStyle/>
          <a:p>
            <a:r>
              <a:rPr lang="en-US" dirty="0"/>
              <a:t>The if Statement</a:t>
            </a:r>
          </a:p>
        </p:txBody>
      </p:sp>
      <p:pic>
        <p:nvPicPr>
          <p:cNvPr id="6" name="Content Placeholder 5">
            <a:extLst>
              <a:ext uri="{FF2B5EF4-FFF2-40B4-BE49-F238E27FC236}">
                <a16:creationId xmlns:a16="http://schemas.microsoft.com/office/drawing/2014/main" id="{41D448F5-8760-27AC-AE0B-11870B75E2E1}"/>
              </a:ext>
            </a:extLst>
          </p:cNvPr>
          <p:cNvPicPr>
            <a:picLocks noGrp="1" noChangeAspect="1"/>
          </p:cNvPicPr>
          <p:nvPr>
            <p:ph idx="1"/>
          </p:nvPr>
        </p:nvPicPr>
        <p:blipFill>
          <a:blip r:embed="rId2"/>
          <a:stretch>
            <a:fillRect/>
          </a:stretch>
        </p:blipFill>
        <p:spPr>
          <a:xfrm>
            <a:off x="977102" y="1690687"/>
            <a:ext cx="3063017" cy="4802187"/>
          </a:xfrm>
          <a:prstGeom prst="rect">
            <a:avLst/>
          </a:prstGeom>
        </p:spPr>
      </p:pic>
      <p:pic>
        <p:nvPicPr>
          <p:cNvPr id="7" name="Picture 6">
            <a:extLst>
              <a:ext uri="{FF2B5EF4-FFF2-40B4-BE49-F238E27FC236}">
                <a16:creationId xmlns:a16="http://schemas.microsoft.com/office/drawing/2014/main" id="{7FC51011-BA30-83B3-E86C-3297E339F6C1}"/>
              </a:ext>
            </a:extLst>
          </p:cNvPr>
          <p:cNvPicPr>
            <a:picLocks noChangeAspect="1"/>
          </p:cNvPicPr>
          <p:nvPr/>
        </p:nvPicPr>
        <p:blipFill>
          <a:blip r:embed="rId3"/>
          <a:stretch>
            <a:fillRect/>
          </a:stretch>
        </p:blipFill>
        <p:spPr>
          <a:xfrm>
            <a:off x="4559019" y="2238046"/>
            <a:ext cx="7185728" cy="3101209"/>
          </a:xfrm>
          <a:prstGeom prst="rect">
            <a:avLst/>
          </a:prstGeom>
        </p:spPr>
      </p:pic>
    </p:spTree>
    <p:extLst>
      <p:ext uri="{BB962C8B-B14F-4D97-AF65-F5344CB8AC3E}">
        <p14:creationId xmlns:p14="http://schemas.microsoft.com/office/powerpoint/2010/main" val="4021422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4E4B-7FA0-00DA-4CF7-0C735BEE368C}"/>
              </a:ext>
            </a:extLst>
          </p:cNvPr>
          <p:cNvSpPr>
            <a:spLocks noGrp="1"/>
          </p:cNvSpPr>
          <p:nvPr>
            <p:ph type="title"/>
          </p:nvPr>
        </p:nvSpPr>
        <p:spPr/>
        <p:txBody>
          <a:bodyPr/>
          <a:lstStyle/>
          <a:p>
            <a:r>
              <a:rPr lang="en-US" dirty="0"/>
              <a:t>The if Statement</a:t>
            </a:r>
          </a:p>
        </p:txBody>
      </p:sp>
      <p:pic>
        <p:nvPicPr>
          <p:cNvPr id="5" name="Picture 4">
            <a:extLst>
              <a:ext uri="{FF2B5EF4-FFF2-40B4-BE49-F238E27FC236}">
                <a16:creationId xmlns:a16="http://schemas.microsoft.com/office/drawing/2014/main" id="{F3C5B061-E858-E6D7-9ABA-93CCE9BFBF39}"/>
              </a:ext>
            </a:extLst>
          </p:cNvPr>
          <p:cNvPicPr>
            <a:picLocks noChangeAspect="1"/>
          </p:cNvPicPr>
          <p:nvPr/>
        </p:nvPicPr>
        <p:blipFill>
          <a:blip r:embed="rId2"/>
          <a:stretch>
            <a:fillRect/>
          </a:stretch>
        </p:blipFill>
        <p:spPr>
          <a:xfrm>
            <a:off x="1690655" y="2291584"/>
            <a:ext cx="8810690" cy="3846458"/>
          </a:xfrm>
          <a:prstGeom prst="rect">
            <a:avLst/>
          </a:prstGeom>
        </p:spPr>
      </p:pic>
    </p:spTree>
    <p:extLst>
      <p:ext uri="{BB962C8B-B14F-4D97-AF65-F5344CB8AC3E}">
        <p14:creationId xmlns:p14="http://schemas.microsoft.com/office/powerpoint/2010/main" val="293475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58338-999E-4CE6-467D-C08A10FD3745}"/>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A42A68DF-316A-FEE3-CE94-07130F629D5A}"/>
              </a:ext>
            </a:extLst>
          </p:cNvPr>
          <p:cNvSpPr>
            <a:spLocks noGrp="1"/>
          </p:cNvSpPr>
          <p:nvPr>
            <p:ph idx="1"/>
          </p:nvPr>
        </p:nvSpPr>
        <p:spPr/>
        <p:txBody>
          <a:bodyPr/>
          <a:lstStyle/>
          <a:p>
            <a:r>
              <a:rPr lang="en-US" dirty="0"/>
              <a:t>The user enters three test scores and the program calculates their average. If the average equals 100, the program congratulates the user on earning a perfect score.</a:t>
            </a:r>
          </a:p>
        </p:txBody>
      </p:sp>
    </p:spTree>
    <p:extLst>
      <p:ext uri="{BB962C8B-B14F-4D97-AF65-F5344CB8AC3E}">
        <p14:creationId xmlns:p14="http://schemas.microsoft.com/office/powerpoint/2010/main" val="126578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E098-ACC5-F55A-5F1D-B2D3EDE8A327}"/>
              </a:ext>
            </a:extLst>
          </p:cNvPr>
          <p:cNvSpPr>
            <a:spLocks noGrp="1"/>
          </p:cNvSpPr>
          <p:nvPr>
            <p:ph type="title"/>
          </p:nvPr>
        </p:nvSpPr>
        <p:spPr/>
        <p:txBody>
          <a:bodyPr/>
          <a:lstStyle/>
          <a:p>
            <a:r>
              <a:rPr lang="en-US" dirty="0"/>
              <a:t>Programming Style and the if Statement</a:t>
            </a:r>
          </a:p>
        </p:txBody>
      </p:sp>
      <p:sp>
        <p:nvSpPr>
          <p:cNvPr id="3" name="Content Placeholder 2">
            <a:extLst>
              <a:ext uri="{FF2B5EF4-FFF2-40B4-BE49-F238E27FC236}">
                <a16:creationId xmlns:a16="http://schemas.microsoft.com/office/drawing/2014/main" id="{7C5D0E36-3700-70EC-6263-098E22A14D3E}"/>
              </a:ext>
            </a:extLst>
          </p:cNvPr>
          <p:cNvSpPr>
            <a:spLocks noGrp="1"/>
          </p:cNvSpPr>
          <p:nvPr>
            <p:ph idx="1"/>
          </p:nvPr>
        </p:nvSpPr>
        <p:spPr/>
        <p:txBody>
          <a:bodyPr/>
          <a:lstStyle/>
          <a:p>
            <a:r>
              <a:rPr lang="en-US" dirty="0"/>
              <a:t>Even though if statements usually span more than one line, they are technically one long statement. For instance, the following if statements are identical except in style:</a:t>
            </a:r>
          </a:p>
        </p:txBody>
      </p:sp>
      <p:pic>
        <p:nvPicPr>
          <p:cNvPr id="4" name="Picture 3">
            <a:extLst>
              <a:ext uri="{FF2B5EF4-FFF2-40B4-BE49-F238E27FC236}">
                <a16:creationId xmlns:a16="http://schemas.microsoft.com/office/drawing/2014/main" id="{96EA5C78-8BCA-AFC3-086C-17C479FE45E5}"/>
              </a:ext>
            </a:extLst>
          </p:cNvPr>
          <p:cNvPicPr>
            <a:picLocks noChangeAspect="1"/>
          </p:cNvPicPr>
          <p:nvPr/>
        </p:nvPicPr>
        <p:blipFill>
          <a:blip r:embed="rId2"/>
          <a:stretch>
            <a:fillRect/>
          </a:stretch>
        </p:blipFill>
        <p:spPr>
          <a:xfrm>
            <a:off x="2483873" y="3753534"/>
            <a:ext cx="7224253" cy="1564700"/>
          </a:xfrm>
          <a:prstGeom prst="rect">
            <a:avLst/>
          </a:prstGeom>
        </p:spPr>
      </p:pic>
    </p:spTree>
    <p:extLst>
      <p:ext uri="{BB962C8B-B14F-4D97-AF65-F5344CB8AC3E}">
        <p14:creationId xmlns:p14="http://schemas.microsoft.com/office/powerpoint/2010/main" val="1121641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E098-ACC5-F55A-5F1D-B2D3EDE8A327}"/>
              </a:ext>
            </a:extLst>
          </p:cNvPr>
          <p:cNvSpPr>
            <a:spLocks noGrp="1"/>
          </p:cNvSpPr>
          <p:nvPr>
            <p:ph type="title"/>
          </p:nvPr>
        </p:nvSpPr>
        <p:spPr/>
        <p:txBody>
          <a:bodyPr/>
          <a:lstStyle/>
          <a:p>
            <a:r>
              <a:rPr lang="en-US" dirty="0"/>
              <a:t>Programming Style and the if Statement</a:t>
            </a:r>
          </a:p>
        </p:txBody>
      </p:sp>
      <p:sp>
        <p:nvSpPr>
          <p:cNvPr id="3" name="Content Placeholder 2">
            <a:extLst>
              <a:ext uri="{FF2B5EF4-FFF2-40B4-BE49-F238E27FC236}">
                <a16:creationId xmlns:a16="http://schemas.microsoft.com/office/drawing/2014/main" id="{7C5D0E36-3700-70EC-6263-098E22A14D3E}"/>
              </a:ext>
            </a:extLst>
          </p:cNvPr>
          <p:cNvSpPr>
            <a:spLocks noGrp="1"/>
          </p:cNvSpPr>
          <p:nvPr>
            <p:ph idx="1"/>
          </p:nvPr>
        </p:nvSpPr>
        <p:spPr>
          <a:xfrm>
            <a:off x="838200" y="1825625"/>
            <a:ext cx="5762297" cy="4837934"/>
          </a:xfrm>
        </p:spPr>
        <p:txBody>
          <a:bodyPr>
            <a:normAutofit/>
          </a:bodyPr>
          <a:lstStyle/>
          <a:p>
            <a:r>
              <a:rPr lang="en-US" b="1" dirty="0"/>
              <a:t>Standard practice:</a:t>
            </a:r>
          </a:p>
          <a:p>
            <a:pPr lvl="1"/>
            <a:r>
              <a:rPr lang="en-US" dirty="0"/>
              <a:t>The conditionally executed statement(s) should begin on the line after the if statement.</a:t>
            </a:r>
          </a:p>
          <a:p>
            <a:pPr lvl="1"/>
            <a:r>
              <a:rPr lang="en-US" dirty="0"/>
              <a:t>The conditionally executed statement(s) should be indented one “level” from the if statement.</a:t>
            </a:r>
          </a:p>
          <a:p>
            <a:pPr marL="0" indent="0">
              <a:buNone/>
            </a:pPr>
            <a:endParaRPr lang="en-US" dirty="0"/>
          </a:p>
          <a:p>
            <a:r>
              <a:rPr lang="en-US" dirty="0"/>
              <a:t>Three Common Errors to Watch Out For </a:t>
            </a:r>
          </a:p>
          <a:p>
            <a:pPr lvl="1"/>
            <a:r>
              <a:rPr lang="en-US" b="1" dirty="0"/>
              <a:t>Misplaced semicolons; Missing braces; Confusing = with ==</a:t>
            </a:r>
          </a:p>
          <a:p>
            <a:pPr lvl="1"/>
            <a:endParaRPr lang="en-US" dirty="0"/>
          </a:p>
          <a:p>
            <a:pPr lvl="1"/>
            <a:endParaRPr lang="en-US" dirty="0"/>
          </a:p>
          <a:p>
            <a:pPr lvl="1"/>
            <a:endParaRPr lang="en-US" dirty="0"/>
          </a:p>
        </p:txBody>
      </p:sp>
      <p:pic>
        <p:nvPicPr>
          <p:cNvPr id="6" name="Picture 5">
            <a:extLst>
              <a:ext uri="{FF2B5EF4-FFF2-40B4-BE49-F238E27FC236}">
                <a16:creationId xmlns:a16="http://schemas.microsoft.com/office/drawing/2014/main" id="{D5225398-DF45-E97A-9E60-3C9E764A8A47}"/>
              </a:ext>
            </a:extLst>
          </p:cNvPr>
          <p:cNvPicPr>
            <a:picLocks noChangeAspect="1"/>
          </p:cNvPicPr>
          <p:nvPr/>
        </p:nvPicPr>
        <p:blipFill>
          <a:blip r:embed="rId2"/>
          <a:stretch>
            <a:fillRect/>
          </a:stretch>
        </p:blipFill>
        <p:spPr>
          <a:xfrm>
            <a:off x="7152745" y="1898158"/>
            <a:ext cx="3741208" cy="1603375"/>
          </a:xfrm>
          <a:prstGeom prst="rect">
            <a:avLst/>
          </a:prstGeom>
        </p:spPr>
      </p:pic>
      <p:pic>
        <p:nvPicPr>
          <p:cNvPr id="7" name="Picture 6">
            <a:extLst>
              <a:ext uri="{FF2B5EF4-FFF2-40B4-BE49-F238E27FC236}">
                <a16:creationId xmlns:a16="http://schemas.microsoft.com/office/drawing/2014/main" id="{C352C176-71BA-E566-7F9D-4B7FBDFC11B4}"/>
              </a:ext>
            </a:extLst>
          </p:cNvPr>
          <p:cNvPicPr>
            <a:picLocks noChangeAspect="1"/>
          </p:cNvPicPr>
          <p:nvPr/>
        </p:nvPicPr>
        <p:blipFill>
          <a:blip r:embed="rId3"/>
          <a:stretch>
            <a:fillRect/>
          </a:stretch>
        </p:blipFill>
        <p:spPr>
          <a:xfrm>
            <a:off x="7152745" y="4252747"/>
            <a:ext cx="4463395" cy="1075997"/>
          </a:xfrm>
          <a:prstGeom prst="rect">
            <a:avLst/>
          </a:prstGeom>
        </p:spPr>
      </p:pic>
    </p:spTree>
    <p:extLst>
      <p:ext uri="{BB962C8B-B14F-4D97-AF65-F5344CB8AC3E}">
        <p14:creationId xmlns:p14="http://schemas.microsoft.com/office/powerpoint/2010/main" val="898990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22B0F-83C4-EC5B-87D1-F571E7B5929F}"/>
              </a:ext>
            </a:extLst>
          </p:cNvPr>
          <p:cNvSpPr>
            <a:spLocks noGrp="1"/>
          </p:cNvSpPr>
          <p:nvPr>
            <p:ph type="title"/>
          </p:nvPr>
        </p:nvSpPr>
        <p:spPr/>
        <p:txBody>
          <a:bodyPr/>
          <a:lstStyle/>
          <a:p>
            <a:r>
              <a:rPr lang="en-US" dirty="0"/>
              <a:t>More about Truth</a:t>
            </a:r>
          </a:p>
        </p:txBody>
      </p:sp>
      <p:pic>
        <p:nvPicPr>
          <p:cNvPr id="4" name="Content Placeholder 3">
            <a:extLst>
              <a:ext uri="{FF2B5EF4-FFF2-40B4-BE49-F238E27FC236}">
                <a16:creationId xmlns:a16="http://schemas.microsoft.com/office/drawing/2014/main" id="{D0309F0B-4F71-1D8C-57BD-3B60435B04EB}"/>
              </a:ext>
            </a:extLst>
          </p:cNvPr>
          <p:cNvPicPr>
            <a:picLocks noGrp="1" noChangeAspect="1"/>
          </p:cNvPicPr>
          <p:nvPr>
            <p:ph idx="1"/>
          </p:nvPr>
        </p:nvPicPr>
        <p:blipFill>
          <a:blip r:embed="rId2"/>
          <a:stretch>
            <a:fillRect/>
          </a:stretch>
        </p:blipFill>
        <p:spPr>
          <a:xfrm>
            <a:off x="986876" y="1789522"/>
            <a:ext cx="3206473" cy="2782477"/>
          </a:xfrm>
          <a:prstGeom prst="rect">
            <a:avLst/>
          </a:prstGeom>
        </p:spPr>
      </p:pic>
      <p:pic>
        <p:nvPicPr>
          <p:cNvPr id="5" name="Picture 4">
            <a:extLst>
              <a:ext uri="{FF2B5EF4-FFF2-40B4-BE49-F238E27FC236}">
                <a16:creationId xmlns:a16="http://schemas.microsoft.com/office/drawing/2014/main" id="{F8FC10BB-21FA-E570-0530-528E39C6430B}"/>
              </a:ext>
            </a:extLst>
          </p:cNvPr>
          <p:cNvPicPr>
            <a:picLocks noChangeAspect="1"/>
          </p:cNvPicPr>
          <p:nvPr/>
        </p:nvPicPr>
        <p:blipFill>
          <a:blip r:embed="rId3"/>
          <a:stretch>
            <a:fillRect/>
          </a:stretch>
        </p:blipFill>
        <p:spPr>
          <a:xfrm>
            <a:off x="5022850" y="1789522"/>
            <a:ext cx="4655826" cy="2782476"/>
          </a:xfrm>
          <a:prstGeom prst="rect">
            <a:avLst/>
          </a:prstGeom>
        </p:spPr>
      </p:pic>
    </p:spTree>
    <p:extLst>
      <p:ext uri="{BB962C8B-B14F-4D97-AF65-F5344CB8AC3E}">
        <p14:creationId xmlns:p14="http://schemas.microsoft.com/office/powerpoint/2010/main" val="2038870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708C-9A33-1CA1-C0DB-BDFC88F0C2BB}"/>
              </a:ext>
            </a:extLst>
          </p:cNvPr>
          <p:cNvSpPr>
            <a:spLocks noGrp="1"/>
          </p:cNvSpPr>
          <p:nvPr>
            <p:ph type="title"/>
          </p:nvPr>
        </p:nvSpPr>
        <p:spPr/>
        <p:txBody>
          <a:bodyPr/>
          <a:lstStyle/>
          <a:p>
            <a:r>
              <a:rPr lang="en-US" dirty="0"/>
              <a:t>Flags</a:t>
            </a:r>
          </a:p>
        </p:txBody>
      </p:sp>
      <p:sp>
        <p:nvSpPr>
          <p:cNvPr id="3" name="Content Placeholder 2">
            <a:extLst>
              <a:ext uri="{FF2B5EF4-FFF2-40B4-BE49-F238E27FC236}">
                <a16:creationId xmlns:a16="http://schemas.microsoft.com/office/drawing/2014/main" id="{F2845B6C-45F8-94F6-9CC2-8E01908B91BB}"/>
              </a:ext>
            </a:extLst>
          </p:cNvPr>
          <p:cNvSpPr>
            <a:spLocks noGrp="1"/>
          </p:cNvSpPr>
          <p:nvPr>
            <p:ph idx="1"/>
          </p:nvPr>
        </p:nvSpPr>
        <p:spPr>
          <a:xfrm>
            <a:off x="838200" y="1825625"/>
            <a:ext cx="7170683" cy="4351338"/>
          </a:xfrm>
        </p:spPr>
        <p:txBody>
          <a:bodyPr/>
          <a:lstStyle/>
          <a:p>
            <a:r>
              <a:rPr lang="en-US" dirty="0"/>
              <a:t>A flag is a variable that signals whether or not some condition currently exists in a program. </a:t>
            </a:r>
          </a:p>
          <a:p>
            <a:r>
              <a:rPr lang="en-US" dirty="0"/>
              <a:t>Because bool variables hold the values true and false, they are the perfect type of variables to use for flags. </a:t>
            </a:r>
          </a:p>
          <a:p>
            <a:r>
              <a:rPr lang="en-US" dirty="0"/>
              <a:t>When the flag variable is set to true, it means the condition does exist. When the flag variable is set to false, it means that the condition does not exist, at least not yet.</a:t>
            </a:r>
          </a:p>
        </p:txBody>
      </p:sp>
      <p:pic>
        <p:nvPicPr>
          <p:cNvPr id="4" name="Picture 3">
            <a:extLst>
              <a:ext uri="{FF2B5EF4-FFF2-40B4-BE49-F238E27FC236}">
                <a16:creationId xmlns:a16="http://schemas.microsoft.com/office/drawing/2014/main" id="{2CB55DD4-0468-26F3-5B70-9BC8979FFD69}"/>
              </a:ext>
            </a:extLst>
          </p:cNvPr>
          <p:cNvPicPr>
            <a:picLocks noChangeAspect="1"/>
          </p:cNvPicPr>
          <p:nvPr/>
        </p:nvPicPr>
        <p:blipFill>
          <a:blip r:embed="rId2"/>
          <a:stretch>
            <a:fillRect/>
          </a:stretch>
        </p:blipFill>
        <p:spPr>
          <a:xfrm>
            <a:off x="8477250" y="2048040"/>
            <a:ext cx="3201942" cy="884346"/>
          </a:xfrm>
          <a:prstGeom prst="rect">
            <a:avLst/>
          </a:prstGeom>
        </p:spPr>
      </p:pic>
      <p:pic>
        <p:nvPicPr>
          <p:cNvPr id="5" name="Picture 4">
            <a:extLst>
              <a:ext uri="{FF2B5EF4-FFF2-40B4-BE49-F238E27FC236}">
                <a16:creationId xmlns:a16="http://schemas.microsoft.com/office/drawing/2014/main" id="{751728C9-3360-CE48-FFFD-668DDED33F03}"/>
              </a:ext>
            </a:extLst>
          </p:cNvPr>
          <p:cNvPicPr>
            <a:picLocks noChangeAspect="1"/>
          </p:cNvPicPr>
          <p:nvPr/>
        </p:nvPicPr>
        <p:blipFill>
          <a:blip r:embed="rId3"/>
          <a:stretch>
            <a:fillRect/>
          </a:stretch>
        </p:blipFill>
        <p:spPr>
          <a:xfrm>
            <a:off x="8064062" y="3609825"/>
            <a:ext cx="3920146" cy="631579"/>
          </a:xfrm>
          <a:prstGeom prst="rect">
            <a:avLst/>
          </a:prstGeom>
        </p:spPr>
      </p:pic>
    </p:spTree>
    <p:extLst>
      <p:ext uri="{BB962C8B-B14F-4D97-AF65-F5344CB8AC3E}">
        <p14:creationId xmlns:p14="http://schemas.microsoft.com/office/powerpoint/2010/main" val="3586082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F1D5-DC9E-BC95-4DAD-0C23EA245472}"/>
              </a:ext>
            </a:extLst>
          </p:cNvPr>
          <p:cNvSpPr>
            <a:spLocks noGrp="1"/>
          </p:cNvSpPr>
          <p:nvPr>
            <p:ph type="title"/>
          </p:nvPr>
        </p:nvSpPr>
        <p:spPr/>
        <p:txBody>
          <a:bodyPr/>
          <a:lstStyle/>
          <a:p>
            <a:r>
              <a:rPr lang="en-US" dirty="0"/>
              <a:t>The if/else Statement</a:t>
            </a:r>
          </a:p>
        </p:txBody>
      </p:sp>
      <p:sp>
        <p:nvSpPr>
          <p:cNvPr id="3" name="Content Placeholder 2">
            <a:extLst>
              <a:ext uri="{FF2B5EF4-FFF2-40B4-BE49-F238E27FC236}">
                <a16:creationId xmlns:a16="http://schemas.microsoft.com/office/drawing/2014/main" id="{058B6E37-7789-1B7E-4D48-2F8FB0A8F13F}"/>
              </a:ext>
            </a:extLst>
          </p:cNvPr>
          <p:cNvSpPr>
            <a:spLocks noGrp="1"/>
          </p:cNvSpPr>
          <p:nvPr>
            <p:ph idx="1"/>
          </p:nvPr>
        </p:nvSpPr>
        <p:spPr/>
        <p:txBody>
          <a:bodyPr/>
          <a:lstStyle/>
          <a:p>
            <a:r>
              <a:rPr lang="en-US" dirty="0"/>
              <a:t>The if/else statement executes one set of statements when the if condition is true and another set when the condition is false.</a:t>
            </a:r>
          </a:p>
        </p:txBody>
      </p:sp>
      <p:pic>
        <p:nvPicPr>
          <p:cNvPr id="4" name="Picture 3">
            <a:extLst>
              <a:ext uri="{FF2B5EF4-FFF2-40B4-BE49-F238E27FC236}">
                <a16:creationId xmlns:a16="http://schemas.microsoft.com/office/drawing/2014/main" id="{95AAB009-50B7-9A9B-D101-C291FC3A1975}"/>
              </a:ext>
            </a:extLst>
          </p:cNvPr>
          <p:cNvPicPr>
            <a:picLocks noChangeAspect="1"/>
          </p:cNvPicPr>
          <p:nvPr/>
        </p:nvPicPr>
        <p:blipFill>
          <a:blip r:embed="rId2"/>
          <a:stretch>
            <a:fillRect/>
          </a:stretch>
        </p:blipFill>
        <p:spPr>
          <a:xfrm>
            <a:off x="3124267" y="3101865"/>
            <a:ext cx="5943465" cy="2783928"/>
          </a:xfrm>
          <a:prstGeom prst="rect">
            <a:avLst/>
          </a:prstGeom>
        </p:spPr>
      </p:pic>
    </p:spTree>
    <p:extLst>
      <p:ext uri="{BB962C8B-B14F-4D97-AF65-F5344CB8AC3E}">
        <p14:creationId xmlns:p14="http://schemas.microsoft.com/office/powerpoint/2010/main" val="4015485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D2F9-0F5E-715C-0BA3-FFC5B51FEF7C}"/>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FBC22D95-1FA6-441F-FD32-7CE9E6FC8EDF}"/>
              </a:ext>
            </a:extLst>
          </p:cNvPr>
          <p:cNvPicPr>
            <a:picLocks noGrp="1" noChangeAspect="1"/>
          </p:cNvPicPr>
          <p:nvPr>
            <p:ph idx="1"/>
          </p:nvPr>
        </p:nvPicPr>
        <p:blipFill>
          <a:blip r:embed="rId2"/>
          <a:stretch>
            <a:fillRect/>
          </a:stretch>
        </p:blipFill>
        <p:spPr>
          <a:xfrm>
            <a:off x="4002033" y="187133"/>
            <a:ext cx="5093572" cy="6413364"/>
          </a:xfrm>
          <a:prstGeom prst="rect">
            <a:avLst/>
          </a:prstGeom>
        </p:spPr>
      </p:pic>
    </p:spTree>
    <p:extLst>
      <p:ext uri="{BB962C8B-B14F-4D97-AF65-F5344CB8AC3E}">
        <p14:creationId xmlns:p14="http://schemas.microsoft.com/office/powerpoint/2010/main" val="2745260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1F3B0-1E1D-9F7E-4E3C-CEC9D57E47EA}"/>
              </a:ext>
            </a:extLst>
          </p:cNvPr>
          <p:cNvSpPr>
            <a:spLocks noGrp="1"/>
          </p:cNvSpPr>
          <p:nvPr>
            <p:ph type="title"/>
          </p:nvPr>
        </p:nvSpPr>
        <p:spPr/>
        <p:txBody>
          <a:bodyPr/>
          <a:lstStyle/>
          <a:p>
            <a:r>
              <a:rPr lang="en-US" dirty="0"/>
              <a:t>Comparing Floating-Point Numbers</a:t>
            </a:r>
          </a:p>
        </p:txBody>
      </p:sp>
      <p:pic>
        <p:nvPicPr>
          <p:cNvPr id="4" name="Content Placeholder 3">
            <a:extLst>
              <a:ext uri="{FF2B5EF4-FFF2-40B4-BE49-F238E27FC236}">
                <a16:creationId xmlns:a16="http://schemas.microsoft.com/office/drawing/2014/main" id="{E6A48C99-3DDE-1C30-F8EE-B85B7F2F9B31}"/>
              </a:ext>
            </a:extLst>
          </p:cNvPr>
          <p:cNvPicPr>
            <a:picLocks noGrp="1" noChangeAspect="1"/>
          </p:cNvPicPr>
          <p:nvPr>
            <p:ph idx="1"/>
          </p:nvPr>
        </p:nvPicPr>
        <p:blipFill>
          <a:blip r:embed="rId2"/>
          <a:stretch>
            <a:fillRect/>
          </a:stretch>
        </p:blipFill>
        <p:spPr>
          <a:xfrm>
            <a:off x="922282" y="1690688"/>
            <a:ext cx="4311869" cy="4996293"/>
          </a:xfrm>
          <a:prstGeom prst="rect">
            <a:avLst/>
          </a:prstGeom>
        </p:spPr>
      </p:pic>
      <p:pic>
        <p:nvPicPr>
          <p:cNvPr id="5" name="Picture 4">
            <a:extLst>
              <a:ext uri="{FF2B5EF4-FFF2-40B4-BE49-F238E27FC236}">
                <a16:creationId xmlns:a16="http://schemas.microsoft.com/office/drawing/2014/main" id="{B800B73A-A99C-A627-27BE-A16BF8B12FCD}"/>
              </a:ext>
            </a:extLst>
          </p:cNvPr>
          <p:cNvPicPr>
            <a:picLocks noChangeAspect="1"/>
          </p:cNvPicPr>
          <p:nvPr/>
        </p:nvPicPr>
        <p:blipFill>
          <a:blip r:embed="rId3"/>
          <a:stretch>
            <a:fillRect/>
          </a:stretch>
        </p:blipFill>
        <p:spPr>
          <a:xfrm>
            <a:off x="7236591" y="1766255"/>
            <a:ext cx="4033127" cy="4920726"/>
          </a:xfrm>
          <a:prstGeom prst="rect">
            <a:avLst/>
          </a:prstGeom>
        </p:spPr>
      </p:pic>
      <p:sp>
        <p:nvSpPr>
          <p:cNvPr id="6" name="TextBox 5">
            <a:extLst>
              <a:ext uri="{FF2B5EF4-FFF2-40B4-BE49-F238E27FC236}">
                <a16:creationId xmlns:a16="http://schemas.microsoft.com/office/drawing/2014/main" id="{8DF20ECB-C793-2735-8402-9E1F43C33517}"/>
              </a:ext>
            </a:extLst>
          </p:cNvPr>
          <p:cNvSpPr txBox="1"/>
          <p:nvPr/>
        </p:nvSpPr>
        <p:spPr>
          <a:xfrm>
            <a:off x="8653669" y="1396923"/>
            <a:ext cx="1069524" cy="369332"/>
          </a:xfrm>
          <a:prstGeom prst="rect">
            <a:avLst/>
          </a:prstGeom>
          <a:noFill/>
        </p:spPr>
        <p:txBody>
          <a:bodyPr wrap="none" rtlCol="0">
            <a:spAutoFit/>
          </a:bodyPr>
          <a:lstStyle/>
          <a:p>
            <a:r>
              <a:rPr lang="en-US" b="1" dirty="0">
                <a:solidFill>
                  <a:srgbClr val="FF0000"/>
                </a:solidFill>
              </a:rPr>
              <a:t>Solution</a:t>
            </a:r>
          </a:p>
        </p:txBody>
      </p:sp>
    </p:spTree>
    <p:extLst>
      <p:ext uri="{BB962C8B-B14F-4D97-AF65-F5344CB8AC3E}">
        <p14:creationId xmlns:p14="http://schemas.microsoft.com/office/powerpoint/2010/main" val="295669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246E4-728D-D381-4818-DA7067623D68}"/>
              </a:ext>
            </a:extLst>
          </p:cNvPr>
          <p:cNvSpPr>
            <a:spLocks noGrp="1"/>
          </p:cNvSpPr>
          <p:nvPr>
            <p:ph type="title"/>
          </p:nvPr>
        </p:nvSpPr>
        <p:spPr/>
        <p:txBody>
          <a:bodyPr/>
          <a:lstStyle/>
          <a:p>
            <a:r>
              <a:rPr lang="en-US" dirty="0">
                <a:effectLst/>
              </a:rPr>
              <a:t>The if/else if Statement</a:t>
            </a:r>
            <a:endParaRPr lang="en-US" dirty="0"/>
          </a:p>
        </p:txBody>
      </p:sp>
      <p:sp>
        <p:nvSpPr>
          <p:cNvPr id="3" name="Content Placeholder 2">
            <a:extLst>
              <a:ext uri="{FF2B5EF4-FFF2-40B4-BE49-F238E27FC236}">
                <a16:creationId xmlns:a16="http://schemas.microsoft.com/office/drawing/2014/main" id="{EDFD53BD-481C-4655-B137-E7EC3FBA88F8}"/>
              </a:ext>
            </a:extLst>
          </p:cNvPr>
          <p:cNvSpPr>
            <a:spLocks noGrp="1"/>
          </p:cNvSpPr>
          <p:nvPr>
            <p:ph idx="1"/>
          </p:nvPr>
        </p:nvSpPr>
        <p:spPr>
          <a:xfrm>
            <a:off x="838200" y="1825625"/>
            <a:ext cx="3985591" cy="4351338"/>
          </a:xfrm>
        </p:spPr>
        <p:txBody>
          <a:bodyPr/>
          <a:lstStyle/>
          <a:p>
            <a:r>
              <a:rPr lang="en-US" dirty="0"/>
              <a:t>The if/else if statement is a chain of if statements. They perform their tests, one after the other, until one of them is found to be true.</a:t>
            </a:r>
          </a:p>
        </p:txBody>
      </p:sp>
      <p:pic>
        <p:nvPicPr>
          <p:cNvPr id="4" name="Picture 3">
            <a:extLst>
              <a:ext uri="{FF2B5EF4-FFF2-40B4-BE49-F238E27FC236}">
                <a16:creationId xmlns:a16="http://schemas.microsoft.com/office/drawing/2014/main" id="{21CCB418-46E1-BD22-02FA-050865584952}"/>
              </a:ext>
            </a:extLst>
          </p:cNvPr>
          <p:cNvPicPr>
            <a:picLocks noChangeAspect="1"/>
          </p:cNvPicPr>
          <p:nvPr/>
        </p:nvPicPr>
        <p:blipFill>
          <a:blip r:embed="rId2"/>
          <a:stretch>
            <a:fillRect/>
          </a:stretch>
        </p:blipFill>
        <p:spPr>
          <a:xfrm>
            <a:off x="5410476" y="1690688"/>
            <a:ext cx="5457782" cy="4590842"/>
          </a:xfrm>
          <a:prstGeom prst="rect">
            <a:avLst/>
          </a:prstGeom>
        </p:spPr>
      </p:pic>
    </p:spTree>
    <p:extLst>
      <p:ext uri="{BB962C8B-B14F-4D97-AF65-F5344CB8AC3E}">
        <p14:creationId xmlns:p14="http://schemas.microsoft.com/office/powerpoint/2010/main" val="1114317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682F5-40D4-5180-C7AB-C589E2846F2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3E9E39E7-14A6-4D3B-39DD-821CEC2CFFD4}"/>
              </a:ext>
            </a:extLst>
          </p:cNvPr>
          <p:cNvPicPr>
            <a:picLocks noChangeAspect="1"/>
          </p:cNvPicPr>
          <p:nvPr/>
        </p:nvPicPr>
        <p:blipFill>
          <a:blip r:embed="rId2"/>
          <a:stretch>
            <a:fillRect/>
          </a:stretch>
        </p:blipFill>
        <p:spPr>
          <a:xfrm>
            <a:off x="4557918" y="365125"/>
            <a:ext cx="3790951" cy="6425039"/>
          </a:xfrm>
          <a:prstGeom prst="rect">
            <a:avLst/>
          </a:prstGeom>
        </p:spPr>
      </p:pic>
    </p:spTree>
    <p:extLst>
      <p:ext uri="{BB962C8B-B14F-4D97-AF65-F5344CB8AC3E}">
        <p14:creationId xmlns:p14="http://schemas.microsoft.com/office/powerpoint/2010/main" val="3461173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EA49A-7D34-5796-4D7C-15C904509EA4}"/>
              </a:ext>
            </a:extLst>
          </p:cNvPr>
          <p:cNvSpPr>
            <a:spLocks noGrp="1"/>
          </p:cNvSpPr>
          <p:nvPr>
            <p:ph type="title"/>
          </p:nvPr>
        </p:nvSpPr>
        <p:spPr/>
        <p:txBody>
          <a:bodyPr/>
          <a:lstStyle/>
          <a:p>
            <a:r>
              <a:rPr lang="en-US" dirty="0"/>
              <a:t>Using a Trailing else</a:t>
            </a:r>
          </a:p>
        </p:txBody>
      </p:sp>
      <p:pic>
        <p:nvPicPr>
          <p:cNvPr id="4" name="Content Placeholder 3">
            <a:extLst>
              <a:ext uri="{FF2B5EF4-FFF2-40B4-BE49-F238E27FC236}">
                <a16:creationId xmlns:a16="http://schemas.microsoft.com/office/drawing/2014/main" id="{2F251837-FECE-E188-A243-9C56C4CAC1C8}"/>
              </a:ext>
            </a:extLst>
          </p:cNvPr>
          <p:cNvPicPr>
            <a:picLocks noGrp="1" noChangeAspect="1"/>
          </p:cNvPicPr>
          <p:nvPr>
            <p:ph idx="1"/>
          </p:nvPr>
        </p:nvPicPr>
        <p:blipFill>
          <a:blip r:embed="rId2"/>
          <a:stretch>
            <a:fillRect/>
          </a:stretch>
        </p:blipFill>
        <p:spPr>
          <a:xfrm>
            <a:off x="5706440" y="365125"/>
            <a:ext cx="4974811" cy="6313212"/>
          </a:xfrm>
          <a:prstGeom prst="rect">
            <a:avLst/>
          </a:prstGeom>
        </p:spPr>
      </p:pic>
    </p:spTree>
    <p:extLst>
      <p:ext uri="{BB962C8B-B14F-4D97-AF65-F5344CB8AC3E}">
        <p14:creationId xmlns:p14="http://schemas.microsoft.com/office/powerpoint/2010/main" val="3064206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AFC5B-F985-29AB-5FBF-A5D93BB8AF5C}"/>
              </a:ext>
            </a:extLst>
          </p:cNvPr>
          <p:cNvSpPr>
            <a:spLocks noGrp="1"/>
          </p:cNvSpPr>
          <p:nvPr>
            <p:ph type="title"/>
          </p:nvPr>
        </p:nvSpPr>
        <p:spPr/>
        <p:txBody>
          <a:bodyPr/>
          <a:lstStyle/>
          <a:p>
            <a:r>
              <a:rPr lang="en-US" dirty="0"/>
              <a:t>Menu-Driven Programs</a:t>
            </a:r>
          </a:p>
        </p:txBody>
      </p:sp>
      <p:sp>
        <p:nvSpPr>
          <p:cNvPr id="3" name="Content Placeholder 2">
            <a:extLst>
              <a:ext uri="{FF2B5EF4-FFF2-40B4-BE49-F238E27FC236}">
                <a16:creationId xmlns:a16="http://schemas.microsoft.com/office/drawing/2014/main" id="{BD342A6E-633E-25EF-600A-31BEC1D1CCF7}"/>
              </a:ext>
            </a:extLst>
          </p:cNvPr>
          <p:cNvSpPr>
            <a:spLocks noGrp="1"/>
          </p:cNvSpPr>
          <p:nvPr>
            <p:ph idx="1"/>
          </p:nvPr>
        </p:nvSpPr>
        <p:spPr/>
        <p:txBody>
          <a:bodyPr/>
          <a:lstStyle/>
          <a:p>
            <a:r>
              <a:rPr lang="en-US" dirty="0"/>
              <a:t>A </a:t>
            </a:r>
            <a:r>
              <a:rPr lang="en-US" dirty="0">
                <a:hlinkClick r:id="rId2">
                  <a:extLst>
                    <a:ext uri="{A12FA001-AC4F-418D-AE19-62706E023703}">
                      <ahyp:hlinkClr xmlns:ahyp="http://schemas.microsoft.com/office/drawing/2018/hyperlinkcolor" val="tx"/>
                    </a:ext>
                  </a:extLst>
                </a:hlinkClick>
              </a:rPr>
              <a:t>menu</a:t>
            </a:r>
            <a:r>
              <a:rPr lang="en-US" dirty="0"/>
              <a:t> is a set of choices presented to the user. A </a:t>
            </a:r>
            <a:r>
              <a:rPr lang="en-US" dirty="0">
                <a:hlinkClick r:id="rId2">
                  <a:extLst>
                    <a:ext uri="{A12FA001-AC4F-418D-AE19-62706E023703}">
                      <ahyp:hlinkClr xmlns:ahyp="http://schemas.microsoft.com/office/drawing/2018/hyperlinkcolor" val="tx"/>
                    </a:ext>
                  </a:extLst>
                </a:hlinkClick>
              </a:rPr>
              <a:t>menu-driven program</a:t>
            </a:r>
            <a:r>
              <a:rPr lang="en-US" dirty="0"/>
              <a:t> allows the user to determine the course of action by selecting it from the menu.</a:t>
            </a:r>
          </a:p>
        </p:txBody>
      </p:sp>
      <p:pic>
        <p:nvPicPr>
          <p:cNvPr id="4" name="Picture 3">
            <a:extLst>
              <a:ext uri="{FF2B5EF4-FFF2-40B4-BE49-F238E27FC236}">
                <a16:creationId xmlns:a16="http://schemas.microsoft.com/office/drawing/2014/main" id="{67378ADF-27D8-A877-1A55-D20AF2F654BD}"/>
              </a:ext>
            </a:extLst>
          </p:cNvPr>
          <p:cNvPicPr>
            <a:picLocks noChangeAspect="1"/>
          </p:cNvPicPr>
          <p:nvPr/>
        </p:nvPicPr>
        <p:blipFill>
          <a:blip r:embed="rId3"/>
          <a:stretch>
            <a:fillRect/>
          </a:stretch>
        </p:blipFill>
        <p:spPr>
          <a:xfrm>
            <a:off x="3381512" y="3405533"/>
            <a:ext cx="4380611" cy="2906367"/>
          </a:xfrm>
          <a:prstGeom prst="rect">
            <a:avLst/>
          </a:prstGeom>
        </p:spPr>
      </p:pic>
    </p:spTree>
    <p:extLst>
      <p:ext uri="{BB962C8B-B14F-4D97-AF65-F5344CB8AC3E}">
        <p14:creationId xmlns:p14="http://schemas.microsoft.com/office/powerpoint/2010/main" val="1487840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85FE-2E19-C742-B27E-75C2FE953387}"/>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88CB5C7B-D7F6-E0DE-AEA8-BA91ED68FB3A}"/>
              </a:ext>
            </a:extLst>
          </p:cNvPr>
          <p:cNvSpPr>
            <a:spLocks noGrp="1"/>
          </p:cNvSpPr>
          <p:nvPr>
            <p:ph idx="1"/>
          </p:nvPr>
        </p:nvSpPr>
        <p:spPr/>
        <p:txBody>
          <a:bodyPr/>
          <a:lstStyle/>
          <a:p>
            <a:r>
              <a:rPr lang="en-US" dirty="0"/>
              <a:t>Suppose you are required to calculate the charges for membership in a health club. The club has three membership packages to choose from: standard adult membership, child membership, and senior citizen membership. The program presents a menu that allows the user to choose the desired package and then calculates the cost of the membership.</a:t>
            </a:r>
          </a:p>
        </p:txBody>
      </p:sp>
    </p:spTree>
    <p:extLst>
      <p:ext uri="{BB962C8B-B14F-4D97-AF65-F5344CB8AC3E}">
        <p14:creationId xmlns:p14="http://schemas.microsoft.com/office/powerpoint/2010/main" val="3113242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9A11-232E-9F6E-7768-AA641F8F841E}"/>
              </a:ext>
            </a:extLst>
          </p:cNvPr>
          <p:cNvSpPr>
            <a:spLocks noGrp="1"/>
          </p:cNvSpPr>
          <p:nvPr>
            <p:ph type="title"/>
          </p:nvPr>
        </p:nvSpPr>
        <p:spPr/>
        <p:txBody>
          <a:bodyPr/>
          <a:lstStyle/>
          <a:p>
            <a:r>
              <a:rPr lang="en-US" dirty="0"/>
              <a:t>Nested if Statements</a:t>
            </a:r>
          </a:p>
        </p:txBody>
      </p:sp>
      <p:sp>
        <p:nvSpPr>
          <p:cNvPr id="3" name="Content Placeholder 2">
            <a:extLst>
              <a:ext uri="{FF2B5EF4-FFF2-40B4-BE49-F238E27FC236}">
                <a16:creationId xmlns:a16="http://schemas.microsoft.com/office/drawing/2014/main" id="{8B6471D7-B914-9412-C0CB-02A9E8DACB40}"/>
              </a:ext>
            </a:extLst>
          </p:cNvPr>
          <p:cNvSpPr>
            <a:spLocks noGrp="1"/>
          </p:cNvSpPr>
          <p:nvPr>
            <p:ph idx="1"/>
          </p:nvPr>
        </p:nvSpPr>
        <p:spPr/>
        <p:txBody>
          <a:bodyPr/>
          <a:lstStyle/>
          <a:p>
            <a:r>
              <a:rPr lang="en-US" dirty="0"/>
              <a:t>To test more than one condition, an if statement can be nested inside another if statement.</a:t>
            </a:r>
          </a:p>
          <a:p>
            <a:r>
              <a:rPr lang="en-US" dirty="0"/>
              <a:t>It is possible for one if statement or if/else statement to be placed inside another one. This construct, called a </a:t>
            </a:r>
            <a:r>
              <a:rPr lang="en-US" dirty="0">
                <a:hlinkClick r:id="rId2"/>
              </a:rPr>
              <a:t>nested if</a:t>
            </a:r>
            <a:r>
              <a:rPr lang="en-US" dirty="0"/>
              <a:t>, allows you to test more than one condition to determine which block of code should be executed</a:t>
            </a:r>
          </a:p>
          <a:p>
            <a:endParaRPr lang="en-US" dirty="0"/>
          </a:p>
        </p:txBody>
      </p:sp>
    </p:spTree>
    <p:extLst>
      <p:ext uri="{BB962C8B-B14F-4D97-AF65-F5344CB8AC3E}">
        <p14:creationId xmlns:p14="http://schemas.microsoft.com/office/powerpoint/2010/main" val="2768829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C458-4527-076E-BDC5-801E6ECA7AB5}"/>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CA8055DF-2F57-BB5D-6B63-DFDA426E772F}"/>
              </a:ext>
            </a:extLst>
          </p:cNvPr>
          <p:cNvSpPr>
            <a:spLocks noGrp="1"/>
          </p:cNvSpPr>
          <p:nvPr>
            <p:ph idx="1"/>
          </p:nvPr>
        </p:nvSpPr>
        <p:spPr/>
        <p:txBody>
          <a:bodyPr/>
          <a:lstStyle/>
          <a:p>
            <a:pPr algn="l"/>
            <a:r>
              <a:rPr lang="en-US" dirty="0">
                <a:effectLst/>
              </a:rPr>
              <a:t>For example, consider a banking program that determines whether a bank customer qualifies for a special low interest rate on a loan. To qualify, two conditions must exist:</a:t>
            </a:r>
          </a:p>
          <a:p>
            <a:pPr>
              <a:buFont typeface="+mj-lt"/>
              <a:buAutoNum type="arabicPeriod"/>
            </a:pPr>
            <a:r>
              <a:rPr lang="en-US" dirty="0"/>
              <a:t>The customer must be currently employed.</a:t>
            </a:r>
          </a:p>
          <a:p>
            <a:pPr>
              <a:buFont typeface="+mj-lt"/>
              <a:buAutoNum type="arabicPeriod"/>
            </a:pPr>
            <a:r>
              <a:rPr lang="en-US" dirty="0"/>
              <a:t>The customer must have recently graduated from college (in the past two years).</a:t>
            </a:r>
          </a:p>
          <a:p>
            <a:endParaRPr lang="en-US" dirty="0"/>
          </a:p>
        </p:txBody>
      </p:sp>
    </p:spTree>
    <p:extLst>
      <p:ext uri="{BB962C8B-B14F-4D97-AF65-F5344CB8AC3E}">
        <p14:creationId xmlns:p14="http://schemas.microsoft.com/office/powerpoint/2010/main" val="3334614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B61D-5B93-F95C-0B3D-D16456A780F2}"/>
              </a:ext>
            </a:extLst>
          </p:cNvPr>
          <p:cNvSpPr>
            <a:spLocks noGrp="1"/>
          </p:cNvSpPr>
          <p:nvPr>
            <p:ph type="title"/>
          </p:nvPr>
        </p:nvSpPr>
        <p:spPr/>
        <p:txBody>
          <a:bodyPr/>
          <a:lstStyle/>
          <a:p>
            <a:r>
              <a:rPr lang="en-US" dirty="0"/>
              <a:t>Exercise</a:t>
            </a:r>
          </a:p>
        </p:txBody>
      </p:sp>
      <p:pic>
        <p:nvPicPr>
          <p:cNvPr id="4" name="Content Placeholder 3">
            <a:extLst>
              <a:ext uri="{FF2B5EF4-FFF2-40B4-BE49-F238E27FC236}">
                <a16:creationId xmlns:a16="http://schemas.microsoft.com/office/drawing/2014/main" id="{D4ED5B9A-079E-9F65-60DB-108904C0593A}"/>
              </a:ext>
            </a:extLst>
          </p:cNvPr>
          <p:cNvPicPr>
            <a:picLocks noGrp="1" noChangeAspect="1"/>
          </p:cNvPicPr>
          <p:nvPr>
            <p:ph idx="1"/>
          </p:nvPr>
        </p:nvPicPr>
        <p:blipFill>
          <a:blip r:embed="rId2"/>
          <a:stretch>
            <a:fillRect/>
          </a:stretch>
        </p:blipFill>
        <p:spPr>
          <a:xfrm>
            <a:off x="3213100" y="1937544"/>
            <a:ext cx="5765800" cy="4127500"/>
          </a:xfrm>
          <a:prstGeom prst="rect">
            <a:avLst/>
          </a:prstGeom>
        </p:spPr>
      </p:pic>
    </p:spTree>
    <p:extLst>
      <p:ext uri="{BB962C8B-B14F-4D97-AF65-F5344CB8AC3E}">
        <p14:creationId xmlns:p14="http://schemas.microsoft.com/office/powerpoint/2010/main" val="321967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F1C6-1784-1E64-4005-61EDA119AA63}"/>
              </a:ext>
            </a:extLst>
          </p:cNvPr>
          <p:cNvSpPr>
            <a:spLocks noGrp="1"/>
          </p:cNvSpPr>
          <p:nvPr>
            <p:ph type="title"/>
          </p:nvPr>
        </p:nvSpPr>
        <p:spPr/>
        <p:txBody>
          <a:bodyPr/>
          <a:lstStyle/>
          <a:p>
            <a:r>
              <a:rPr lang="en-US" dirty="0"/>
              <a:t>Logical Operators</a:t>
            </a:r>
          </a:p>
        </p:txBody>
      </p:sp>
      <p:sp>
        <p:nvSpPr>
          <p:cNvPr id="3" name="Content Placeholder 2">
            <a:extLst>
              <a:ext uri="{FF2B5EF4-FFF2-40B4-BE49-F238E27FC236}">
                <a16:creationId xmlns:a16="http://schemas.microsoft.com/office/drawing/2014/main" id="{83752283-58C4-0D91-44DC-10E7DAF4D423}"/>
              </a:ext>
            </a:extLst>
          </p:cNvPr>
          <p:cNvSpPr>
            <a:spLocks noGrp="1"/>
          </p:cNvSpPr>
          <p:nvPr>
            <p:ph idx="1"/>
          </p:nvPr>
        </p:nvSpPr>
        <p:spPr/>
        <p:txBody>
          <a:bodyPr/>
          <a:lstStyle/>
          <a:p>
            <a:r>
              <a:rPr lang="en-US" dirty="0"/>
              <a:t>Logical operators connect two or more relational expressions into one or reverse the logic of an expression.</a:t>
            </a:r>
          </a:p>
        </p:txBody>
      </p:sp>
      <p:pic>
        <p:nvPicPr>
          <p:cNvPr id="4" name="Picture 3">
            <a:extLst>
              <a:ext uri="{FF2B5EF4-FFF2-40B4-BE49-F238E27FC236}">
                <a16:creationId xmlns:a16="http://schemas.microsoft.com/office/drawing/2014/main" id="{805E5012-3ECE-FDA3-453A-82420A75652E}"/>
              </a:ext>
            </a:extLst>
          </p:cNvPr>
          <p:cNvPicPr>
            <a:picLocks noChangeAspect="1"/>
          </p:cNvPicPr>
          <p:nvPr/>
        </p:nvPicPr>
        <p:blipFill>
          <a:blip r:embed="rId2"/>
          <a:stretch>
            <a:fillRect/>
          </a:stretch>
        </p:blipFill>
        <p:spPr>
          <a:xfrm>
            <a:off x="2640575" y="2973180"/>
            <a:ext cx="6910849" cy="2884280"/>
          </a:xfrm>
          <a:prstGeom prst="rect">
            <a:avLst/>
          </a:prstGeom>
        </p:spPr>
      </p:pic>
    </p:spTree>
    <p:extLst>
      <p:ext uri="{BB962C8B-B14F-4D97-AF65-F5344CB8AC3E}">
        <p14:creationId xmlns:p14="http://schemas.microsoft.com/office/powerpoint/2010/main" val="2759063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167B-C1A1-4076-8D4C-5B6D5D00087C}"/>
              </a:ext>
            </a:extLst>
          </p:cNvPr>
          <p:cNvSpPr>
            <a:spLocks noGrp="1"/>
          </p:cNvSpPr>
          <p:nvPr>
            <p:ph type="title"/>
          </p:nvPr>
        </p:nvSpPr>
        <p:spPr/>
        <p:txBody>
          <a:bodyPr/>
          <a:lstStyle/>
          <a:p>
            <a:r>
              <a:rPr lang="en-US" dirty="0"/>
              <a:t>Examples</a:t>
            </a:r>
          </a:p>
        </p:txBody>
      </p:sp>
      <p:pic>
        <p:nvPicPr>
          <p:cNvPr id="5" name="Content Placeholder 4">
            <a:extLst>
              <a:ext uri="{FF2B5EF4-FFF2-40B4-BE49-F238E27FC236}">
                <a16:creationId xmlns:a16="http://schemas.microsoft.com/office/drawing/2014/main" id="{907033DA-545B-6CCB-2EC1-DC027294E58A}"/>
              </a:ext>
            </a:extLst>
          </p:cNvPr>
          <p:cNvPicPr>
            <a:picLocks noGrp="1" noChangeAspect="1"/>
          </p:cNvPicPr>
          <p:nvPr>
            <p:ph idx="1"/>
          </p:nvPr>
        </p:nvPicPr>
        <p:blipFill>
          <a:blip r:embed="rId2"/>
          <a:stretch>
            <a:fillRect/>
          </a:stretch>
        </p:blipFill>
        <p:spPr>
          <a:xfrm>
            <a:off x="1041951" y="1690687"/>
            <a:ext cx="8399335" cy="1158529"/>
          </a:xfrm>
          <a:prstGeom prst="rect">
            <a:avLst/>
          </a:prstGeom>
        </p:spPr>
      </p:pic>
      <p:pic>
        <p:nvPicPr>
          <p:cNvPr id="6" name="Picture 5">
            <a:extLst>
              <a:ext uri="{FF2B5EF4-FFF2-40B4-BE49-F238E27FC236}">
                <a16:creationId xmlns:a16="http://schemas.microsoft.com/office/drawing/2014/main" id="{2A395EDE-F13B-3381-0AF4-F561E8B576F6}"/>
              </a:ext>
            </a:extLst>
          </p:cNvPr>
          <p:cNvPicPr>
            <a:picLocks noChangeAspect="1"/>
          </p:cNvPicPr>
          <p:nvPr/>
        </p:nvPicPr>
        <p:blipFill>
          <a:blip r:embed="rId3"/>
          <a:stretch>
            <a:fillRect/>
          </a:stretch>
        </p:blipFill>
        <p:spPr>
          <a:xfrm>
            <a:off x="1041951" y="3098800"/>
            <a:ext cx="8688960" cy="1158528"/>
          </a:xfrm>
          <a:prstGeom prst="rect">
            <a:avLst/>
          </a:prstGeom>
        </p:spPr>
      </p:pic>
      <p:pic>
        <p:nvPicPr>
          <p:cNvPr id="7" name="Picture 6">
            <a:extLst>
              <a:ext uri="{FF2B5EF4-FFF2-40B4-BE49-F238E27FC236}">
                <a16:creationId xmlns:a16="http://schemas.microsoft.com/office/drawing/2014/main" id="{60B778A0-795B-4BF2-E384-BCC0F75115C1}"/>
              </a:ext>
            </a:extLst>
          </p:cNvPr>
          <p:cNvPicPr>
            <a:picLocks noChangeAspect="1"/>
          </p:cNvPicPr>
          <p:nvPr/>
        </p:nvPicPr>
        <p:blipFill>
          <a:blip r:embed="rId4"/>
          <a:stretch>
            <a:fillRect/>
          </a:stretch>
        </p:blipFill>
        <p:spPr>
          <a:xfrm>
            <a:off x="1041951" y="4720534"/>
            <a:ext cx="7902842" cy="944905"/>
          </a:xfrm>
          <a:prstGeom prst="rect">
            <a:avLst/>
          </a:prstGeom>
        </p:spPr>
      </p:pic>
    </p:spTree>
    <p:extLst>
      <p:ext uri="{BB962C8B-B14F-4D97-AF65-F5344CB8AC3E}">
        <p14:creationId xmlns:p14="http://schemas.microsoft.com/office/powerpoint/2010/main" val="3565465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428F3-E7CA-2880-9B73-D31C5CEA7F64}"/>
              </a:ext>
            </a:extLst>
          </p:cNvPr>
          <p:cNvSpPr>
            <a:spLocks noGrp="1"/>
          </p:cNvSpPr>
          <p:nvPr>
            <p:ph type="title"/>
          </p:nvPr>
        </p:nvSpPr>
        <p:spPr/>
        <p:txBody>
          <a:bodyPr/>
          <a:lstStyle/>
          <a:p>
            <a:r>
              <a:rPr lang="en-US" dirty="0"/>
              <a:t>Boolean Variables and the ! Operator</a:t>
            </a:r>
          </a:p>
        </p:txBody>
      </p:sp>
      <p:pic>
        <p:nvPicPr>
          <p:cNvPr id="4" name="Content Placeholder 3">
            <a:extLst>
              <a:ext uri="{FF2B5EF4-FFF2-40B4-BE49-F238E27FC236}">
                <a16:creationId xmlns:a16="http://schemas.microsoft.com/office/drawing/2014/main" id="{D63D0162-0349-ADC4-1549-81D3BFA6D4A1}"/>
              </a:ext>
            </a:extLst>
          </p:cNvPr>
          <p:cNvPicPr>
            <a:picLocks noGrp="1" noChangeAspect="1"/>
          </p:cNvPicPr>
          <p:nvPr>
            <p:ph idx="1"/>
          </p:nvPr>
        </p:nvPicPr>
        <p:blipFill>
          <a:blip r:embed="rId2"/>
          <a:stretch>
            <a:fillRect/>
          </a:stretch>
        </p:blipFill>
        <p:spPr>
          <a:xfrm>
            <a:off x="1315277" y="2314342"/>
            <a:ext cx="3018183" cy="2582223"/>
          </a:xfrm>
          <a:prstGeom prst="rect">
            <a:avLst/>
          </a:prstGeom>
        </p:spPr>
      </p:pic>
      <p:pic>
        <p:nvPicPr>
          <p:cNvPr id="5" name="Picture 4">
            <a:extLst>
              <a:ext uri="{FF2B5EF4-FFF2-40B4-BE49-F238E27FC236}">
                <a16:creationId xmlns:a16="http://schemas.microsoft.com/office/drawing/2014/main" id="{1689A9B3-DFE9-F8BB-0BEF-40C74377EE16}"/>
              </a:ext>
            </a:extLst>
          </p:cNvPr>
          <p:cNvPicPr>
            <a:picLocks noChangeAspect="1"/>
          </p:cNvPicPr>
          <p:nvPr/>
        </p:nvPicPr>
        <p:blipFill>
          <a:blip r:embed="rId3"/>
          <a:stretch>
            <a:fillRect/>
          </a:stretch>
        </p:blipFill>
        <p:spPr>
          <a:xfrm>
            <a:off x="5562600" y="2314342"/>
            <a:ext cx="3098666" cy="2582222"/>
          </a:xfrm>
          <a:prstGeom prst="rect">
            <a:avLst/>
          </a:prstGeom>
        </p:spPr>
      </p:pic>
    </p:spTree>
    <p:extLst>
      <p:ext uri="{BB962C8B-B14F-4D97-AF65-F5344CB8AC3E}">
        <p14:creationId xmlns:p14="http://schemas.microsoft.com/office/powerpoint/2010/main" val="1559580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5A70-44F5-8D38-D1FC-9477801CE9F5}"/>
              </a:ext>
            </a:extLst>
          </p:cNvPr>
          <p:cNvSpPr>
            <a:spLocks noGrp="1"/>
          </p:cNvSpPr>
          <p:nvPr>
            <p:ph type="title"/>
          </p:nvPr>
        </p:nvSpPr>
        <p:spPr/>
        <p:txBody>
          <a:bodyPr/>
          <a:lstStyle/>
          <a:p>
            <a:r>
              <a:rPr lang="en-US" dirty="0"/>
              <a:t>Precedence and Associativity of Logical Operators</a:t>
            </a:r>
          </a:p>
        </p:txBody>
      </p:sp>
      <p:pic>
        <p:nvPicPr>
          <p:cNvPr id="4" name="Content Placeholder 3">
            <a:extLst>
              <a:ext uri="{FF2B5EF4-FFF2-40B4-BE49-F238E27FC236}">
                <a16:creationId xmlns:a16="http://schemas.microsoft.com/office/drawing/2014/main" id="{60182756-60EE-CD09-C635-5D8BDE134D07}"/>
              </a:ext>
            </a:extLst>
          </p:cNvPr>
          <p:cNvPicPr>
            <a:picLocks noGrp="1" noChangeAspect="1"/>
          </p:cNvPicPr>
          <p:nvPr>
            <p:ph idx="1"/>
          </p:nvPr>
        </p:nvPicPr>
        <p:blipFill>
          <a:blip r:embed="rId2"/>
          <a:stretch>
            <a:fillRect/>
          </a:stretch>
        </p:blipFill>
        <p:spPr>
          <a:xfrm>
            <a:off x="983974" y="2592973"/>
            <a:ext cx="5508882" cy="2018783"/>
          </a:xfrm>
          <a:prstGeom prst="rect">
            <a:avLst/>
          </a:prstGeom>
        </p:spPr>
      </p:pic>
      <p:pic>
        <p:nvPicPr>
          <p:cNvPr id="5" name="Picture 4">
            <a:extLst>
              <a:ext uri="{FF2B5EF4-FFF2-40B4-BE49-F238E27FC236}">
                <a16:creationId xmlns:a16="http://schemas.microsoft.com/office/drawing/2014/main" id="{501C9AC9-FCC0-2184-2042-C83BA558E611}"/>
              </a:ext>
            </a:extLst>
          </p:cNvPr>
          <p:cNvPicPr>
            <a:picLocks noChangeAspect="1"/>
          </p:cNvPicPr>
          <p:nvPr/>
        </p:nvPicPr>
        <p:blipFill>
          <a:blip r:embed="rId3"/>
          <a:stretch>
            <a:fillRect/>
          </a:stretch>
        </p:blipFill>
        <p:spPr>
          <a:xfrm>
            <a:off x="7155622" y="1875164"/>
            <a:ext cx="4074966" cy="3902784"/>
          </a:xfrm>
          <a:prstGeom prst="rect">
            <a:avLst/>
          </a:prstGeom>
        </p:spPr>
      </p:pic>
    </p:spTree>
    <p:extLst>
      <p:ext uri="{BB962C8B-B14F-4D97-AF65-F5344CB8AC3E}">
        <p14:creationId xmlns:p14="http://schemas.microsoft.com/office/powerpoint/2010/main" val="3940553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5A70-44F5-8D38-D1FC-9477801CE9F5}"/>
              </a:ext>
            </a:extLst>
          </p:cNvPr>
          <p:cNvSpPr>
            <a:spLocks noGrp="1"/>
          </p:cNvSpPr>
          <p:nvPr>
            <p:ph type="title"/>
          </p:nvPr>
        </p:nvSpPr>
        <p:spPr/>
        <p:txBody>
          <a:bodyPr/>
          <a:lstStyle/>
          <a:p>
            <a:r>
              <a:rPr lang="en-US" dirty="0"/>
              <a:t>Validating User Input</a:t>
            </a:r>
          </a:p>
        </p:txBody>
      </p:sp>
      <p:sp>
        <p:nvSpPr>
          <p:cNvPr id="6" name="Content Placeholder 5">
            <a:extLst>
              <a:ext uri="{FF2B5EF4-FFF2-40B4-BE49-F238E27FC236}">
                <a16:creationId xmlns:a16="http://schemas.microsoft.com/office/drawing/2014/main" id="{617D300B-4115-711A-79A6-A49FE13A0EA7}"/>
              </a:ext>
            </a:extLst>
          </p:cNvPr>
          <p:cNvSpPr>
            <a:spLocks noGrp="1"/>
          </p:cNvSpPr>
          <p:nvPr>
            <p:ph idx="1"/>
          </p:nvPr>
        </p:nvSpPr>
        <p:spPr>
          <a:xfrm>
            <a:off x="838200" y="1753773"/>
            <a:ext cx="10515600" cy="4351338"/>
          </a:xfrm>
        </p:spPr>
        <p:txBody>
          <a:bodyPr>
            <a:normAutofit lnSpcReduction="10000"/>
          </a:bodyPr>
          <a:lstStyle/>
          <a:p>
            <a:r>
              <a:rPr lang="en-US" dirty="0"/>
              <a:t>Numbers are checked to ensure they are within a range of possible values. For example, there are 168 hours in a week. It is not possible for a person to be at work longer than 168 hours in one week. </a:t>
            </a:r>
          </a:p>
          <a:p>
            <a:r>
              <a:rPr lang="en-US" dirty="0"/>
              <a:t>Values are checked for their “reasonableness.” Although it might be possible for a person to be at work for 168 hours per week, it is not probable.</a:t>
            </a:r>
          </a:p>
          <a:p>
            <a:r>
              <a:rPr lang="en-US" dirty="0"/>
              <a:t>Items selected from a menu or some other set of choices are checked to ensure they are available options.</a:t>
            </a:r>
          </a:p>
          <a:p>
            <a:r>
              <a:rPr lang="en-US" dirty="0"/>
              <a:t>Variables are checked for values that might cause problems, such as division by zero</a:t>
            </a:r>
          </a:p>
        </p:txBody>
      </p:sp>
    </p:spTree>
    <p:extLst>
      <p:ext uri="{BB962C8B-B14F-4D97-AF65-F5344CB8AC3E}">
        <p14:creationId xmlns:p14="http://schemas.microsoft.com/office/powerpoint/2010/main" val="2368841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2932-8403-137B-DE2A-5FF0D4320C29}"/>
              </a:ext>
            </a:extLst>
          </p:cNvPr>
          <p:cNvSpPr>
            <a:spLocks noGrp="1"/>
          </p:cNvSpPr>
          <p:nvPr>
            <p:ph type="title"/>
          </p:nvPr>
        </p:nvSpPr>
        <p:spPr/>
        <p:txBody>
          <a:bodyPr/>
          <a:lstStyle/>
          <a:p>
            <a:r>
              <a:rPr lang="en-US" dirty="0"/>
              <a:t>The Conditional Operator</a:t>
            </a:r>
          </a:p>
        </p:txBody>
      </p:sp>
      <p:sp>
        <p:nvSpPr>
          <p:cNvPr id="3" name="Content Placeholder 2">
            <a:extLst>
              <a:ext uri="{FF2B5EF4-FFF2-40B4-BE49-F238E27FC236}">
                <a16:creationId xmlns:a16="http://schemas.microsoft.com/office/drawing/2014/main" id="{7F75B7C0-767E-6EEE-ECE2-9DA3AABC4EBA}"/>
              </a:ext>
            </a:extLst>
          </p:cNvPr>
          <p:cNvSpPr>
            <a:spLocks noGrp="1"/>
          </p:cNvSpPr>
          <p:nvPr>
            <p:ph idx="1"/>
          </p:nvPr>
        </p:nvSpPr>
        <p:spPr>
          <a:xfrm>
            <a:off x="838200" y="1534078"/>
            <a:ext cx="10515600" cy="4351338"/>
          </a:xfrm>
        </p:spPr>
        <p:txBody>
          <a:bodyPr/>
          <a:lstStyle/>
          <a:p>
            <a:r>
              <a:rPr lang="en-US" dirty="0"/>
              <a:t>You can use the conditional operator to create short expressions that work like if/else statements.</a:t>
            </a:r>
          </a:p>
          <a:p>
            <a:endParaRPr lang="en-US" dirty="0"/>
          </a:p>
        </p:txBody>
      </p:sp>
      <p:pic>
        <p:nvPicPr>
          <p:cNvPr id="4" name="Picture 3">
            <a:extLst>
              <a:ext uri="{FF2B5EF4-FFF2-40B4-BE49-F238E27FC236}">
                <a16:creationId xmlns:a16="http://schemas.microsoft.com/office/drawing/2014/main" id="{2F75C5E2-E31F-CCD0-8368-55D2B10E66D6}"/>
              </a:ext>
            </a:extLst>
          </p:cNvPr>
          <p:cNvPicPr>
            <a:picLocks noChangeAspect="1"/>
          </p:cNvPicPr>
          <p:nvPr/>
        </p:nvPicPr>
        <p:blipFill>
          <a:blip r:embed="rId2"/>
          <a:stretch>
            <a:fillRect/>
          </a:stretch>
        </p:blipFill>
        <p:spPr>
          <a:xfrm>
            <a:off x="1672260" y="2554841"/>
            <a:ext cx="5417654" cy="2003790"/>
          </a:xfrm>
          <a:prstGeom prst="rect">
            <a:avLst/>
          </a:prstGeom>
        </p:spPr>
      </p:pic>
      <p:pic>
        <p:nvPicPr>
          <p:cNvPr id="5" name="Picture 4">
            <a:extLst>
              <a:ext uri="{FF2B5EF4-FFF2-40B4-BE49-F238E27FC236}">
                <a16:creationId xmlns:a16="http://schemas.microsoft.com/office/drawing/2014/main" id="{FAD9684D-E218-804D-3354-FBB52670F4E8}"/>
              </a:ext>
            </a:extLst>
          </p:cNvPr>
          <p:cNvPicPr>
            <a:picLocks noChangeAspect="1"/>
          </p:cNvPicPr>
          <p:nvPr/>
        </p:nvPicPr>
        <p:blipFill>
          <a:blip r:embed="rId3"/>
          <a:stretch>
            <a:fillRect/>
          </a:stretch>
        </p:blipFill>
        <p:spPr>
          <a:xfrm>
            <a:off x="8174935" y="2554841"/>
            <a:ext cx="2623102" cy="2331646"/>
          </a:xfrm>
          <a:prstGeom prst="rect">
            <a:avLst/>
          </a:prstGeom>
        </p:spPr>
      </p:pic>
      <p:pic>
        <p:nvPicPr>
          <p:cNvPr id="6" name="Picture 5">
            <a:extLst>
              <a:ext uri="{FF2B5EF4-FFF2-40B4-BE49-F238E27FC236}">
                <a16:creationId xmlns:a16="http://schemas.microsoft.com/office/drawing/2014/main" id="{9E1E5E25-883A-F2B5-82C8-C9DFFD3188DD}"/>
              </a:ext>
            </a:extLst>
          </p:cNvPr>
          <p:cNvPicPr>
            <a:picLocks noChangeAspect="1"/>
          </p:cNvPicPr>
          <p:nvPr/>
        </p:nvPicPr>
        <p:blipFill>
          <a:blip r:embed="rId4"/>
          <a:stretch>
            <a:fillRect/>
          </a:stretch>
        </p:blipFill>
        <p:spPr>
          <a:xfrm>
            <a:off x="2139951" y="4886487"/>
            <a:ext cx="4472884" cy="1771439"/>
          </a:xfrm>
          <a:prstGeom prst="rect">
            <a:avLst/>
          </a:prstGeom>
        </p:spPr>
      </p:pic>
    </p:spTree>
    <p:extLst>
      <p:ext uri="{BB962C8B-B14F-4D97-AF65-F5344CB8AC3E}">
        <p14:creationId xmlns:p14="http://schemas.microsoft.com/office/powerpoint/2010/main" val="2236293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5B66-49FB-8E13-3A2C-C7A1B36EFF4F}"/>
              </a:ext>
            </a:extLst>
          </p:cNvPr>
          <p:cNvSpPr>
            <a:spLocks noGrp="1"/>
          </p:cNvSpPr>
          <p:nvPr>
            <p:ph type="title"/>
          </p:nvPr>
        </p:nvSpPr>
        <p:spPr/>
        <p:txBody>
          <a:bodyPr/>
          <a:lstStyle/>
          <a:p>
            <a:r>
              <a:rPr lang="en-US" dirty="0"/>
              <a:t>The switch Statement</a:t>
            </a:r>
          </a:p>
        </p:txBody>
      </p:sp>
      <p:sp>
        <p:nvSpPr>
          <p:cNvPr id="3" name="Content Placeholder 2">
            <a:extLst>
              <a:ext uri="{FF2B5EF4-FFF2-40B4-BE49-F238E27FC236}">
                <a16:creationId xmlns:a16="http://schemas.microsoft.com/office/drawing/2014/main" id="{29F84103-95E5-06FA-4DF8-B0F7FF6DE387}"/>
              </a:ext>
            </a:extLst>
          </p:cNvPr>
          <p:cNvSpPr>
            <a:spLocks noGrp="1"/>
          </p:cNvSpPr>
          <p:nvPr>
            <p:ph idx="1"/>
          </p:nvPr>
        </p:nvSpPr>
        <p:spPr>
          <a:xfrm>
            <a:off x="957470" y="1690688"/>
            <a:ext cx="10515600" cy="4351338"/>
          </a:xfrm>
        </p:spPr>
        <p:txBody>
          <a:bodyPr/>
          <a:lstStyle/>
          <a:p>
            <a:r>
              <a:rPr lang="en-US" dirty="0"/>
              <a:t>The switch statement uses the value of a variable or expression to determine where the program will branch to</a:t>
            </a:r>
          </a:p>
        </p:txBody>
      </p:sp>
      <p:pic>
        <p:nvPicPr>
          <p:cNvPr id="4" name="Picture 3">
            <a:extLst>
              <a:ext uri="{FF2B5EF4-FFF2-40B4-BE49-F238E27FC236}">
                <a16:creationId xmlns:a16="http://schemas.microsoft.com/office/drawing/2014/main" id="{3647E653-340B-D8DA-9393-AEBEB937F8A1}"/>
              </a:ext>
            </a:extLst>
          </p:cNvPr>
          <p:cNvPicPr>
            <a:picLocks noChangeAspect="1"/>
          </p:cNvPicPr>
          <p:nvPr/>
        </p:nvPicPr>
        <p:blipFill>
          <a:blip r:embed="rId2"/>
          <a:stretch>
            <a:fillRect/>
          </a:stretch>
        </p:blipFill>
        <p:spPr>
          <a:xfrm>
            <a:off x="3155950" y="2895946"/>
            <a:ext cx="4782102" cy="3415787"/>
          </a:xfrm>
          <a:prstGeom prst="rect">
            <a:avLst/>
          </a:prstGeom>
        </p:spPr>
      </p:pic>
    </p:spTree>
    <p:extLst>
      <p:ext uri="{BB962C8B-B14F-4D97-AF65-F5344CB8AC3E}">
        <p14:creationId xmlns:p14="http://schemas.microsoft.com/office/powerpoint/2010/main" val="2922006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5B66-49FB-8E13-3A2C-C7A1B36EFF4F}"/>
              </a:ext>
            </a:extLst>
          </p:cNvPr>
          <p:cNvSpPr>
            <a:spLocks noGrp="1"/>
          </p:cNvSpPr>
          <p:nvPr>
            <p:ph type="title"/>
          </p:nvPr>
        </p:nvSpPr>
        <p:spPr/>
        <p:txBody>
          <a:bodyPr/>
          <a:lstStyle/>
          <a:p>
            <a:r>
              <a:rPr lang="en-US" dirty="0"/>
              <a:t>The switch Statement: Example</a:t>
            </a:r>
          </a:p>
        </p:txBody>
      </p:sp>
      <p:pic>
        <p:nvPicPr>
          <p:cNvPr id="5" name="Content Placeholder 4">
            <a:extLst>
              <a:ext uri="{FF2B5EF4-FFF2-40B4-BE49-F238E27FC236}">
                <a16:creationId xmlns:a16="http://schemas.microsoft.com/office/drawing/2014/main" id="{F9C949F9-BF63-C8FA-290A-3DB2605CF06D}"/>
              </a:ext>
            </a:extLst>
          </p:cNvPr>
          <p:cNvPicPr>
            <a:picLocks noGrp="1" noChangeAspect="1"/>
          </p:cNvPicPr>
          <p:nvPr>
            <p:ph idx="1"/>
          </p:nvPr>
        </p:nvPicPr>
        <p:blipFill>
          <a:blip r:embed="rId2"/>
          <a:stretch>
            <a:fillRect/>
          </a:stretch>
        </p:blipFill>
        <p:spPr>
          <a:xfrm>
            <a:off x="3684512" y="1690688"/>
            <a:ext cx="4822976" cy="4802187"/>
          </a:xfrm>
          <a:prstGeom prst="rect">
            <a:avLst/>
          </a:prstGeom>
        </p:spPr>
      </p:pic>
    </p:spTree>
    <p:extLst>
      <p:ext uri="{BB962C8B-B14F-4D97-AF65-F5344CB8AC3E}">
        <p14:creationId xmlns:p14="http://schemas.microsoft.com/office/powerpoint/2010/main" val="2149255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5B66-49FB-8E13-3A2C-C7A1B36EFF4F}"/>
              </a:ext>
            </a:extLst>
          </p:cNvPr>
          <p:cNvSpPr>
            <a:spLocks noGrp="1"/>
          </p:cNvSpPr>
          <p:nvPr>
            <p:ph type="title"/>
          </p:nvPr>
        </p:nvSpPr>
        <p:spPr/>
        <p:txBody>
          <a:bodyPr/>
          <a:lstStyle/>
          <a:p>
            <a:r>
              <a:rPr lang="en-US" dirty="0"/>
              <a:t>The switch Statement: Example</a:t>
            </a:r>
          </a:p>
        </p:txBody>
      </p:sp>
      <p:pic>
        <p:nvPicPr>
          <p:cNvPr id="6" name="Content Placeholder 5">
            <a:extLst>
              <a:ext uri="{FF2B5EF4-FFF2-40B4-BE49-F238E27FC236}">
                <a16:creationId xmlns:a16="http://schemas.microsoft.com/office/drawing/2014/main" id="{874BBEEF-9FAB-40B5-FFD6-16DB39092B44}"/>
              </a:ext>
            </a:extLst>
          </p:cNvPr>
          <p:cNvPicPr>
            <a:picLocks noGrp="1" noChangeAspect="1"/>
          </p:cNvPicPr>
          <p:nvPr>
            <p:ph idx="1"/>
          </p:nvPr>
        </p:nvPicPr>
        <p:blipFill>
          <a:blip r:embed="rId2"/>
          <a:stretch>
            <a:fillRect/>
          </a:stretch>
        </p:blipFill>
        <p:spPr>
          <a:xfrm>
            <a:off x="838200" y="1426230"/>
            <a:ext cx="4419316" cy="5320343"/>
          </a:xfrm>
          <a:prstGeom prst="rect">
            <a:avLst/>
          </a:prstGeom>
        </p:spPr>
      </p:pic>
      <p:pic>
        <p:nvPicPr>
          <p:cNvPr id="7" name="Picture 6">
            <a:extLst>
              <a:ext uri="{FF2B5EF4-FFF2-40B4-BE49-F238E27FC236}">
                <a16:creationId xmlns:a16="http://schemas.microsoft.com/office/drawing/2014/main" id="{22FCC11B-7739-ECB0-F102-C7EE83670A19}"/>
              </a:ext>
            </a:extLst>
          </p:cNvPr>
          <p:cNvPicPr>
            <a:picLocks noChangeAspect="1"/>
          </p:cNvPicPr>
          <p:nvPr/>
        </p:nvPicPr>
        <p:blipFill>
          <a:blip r:embed="rId3"/>
          <a:stretch>
            <a:fillRect/>
          </a:stretch>
        </p:blipFill>
        <p:spPr>
          <a:xfrm>
            <a:off x="7222578" y="1911557"/>
            <a:ext cx="3960429" cy="3714609"/>
          </a:xfrm>
          <a:prstGeom prst="rect">
            <a:avLst/>
          </a:prstGeom>
        </p:spPr>
      </p:pic>
    </p:spTree>
    <p:extLst>
      <p:ext uri="{BB962C8B-B14F-4D97-AF65-F5344CB8AC3E}">
        <p14:creationId xmlns:p14="http://schemas.microsoft.com/office/powerpoint/2010/main" val="1851298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5B66-49FB-8E13-3A2C-C7A1B36EFF4F}"/>
              </a:ext>
            </a:extLst>
          </p:cNvPr>
          <p:cNvSpPr>
            <a:spLocks noGrp="1"/>
          </p:cNvSpPr>
          <p:nvPr>
            <p:ph type="title"/>
          </p:nvPr>
        </p:nvSpPr>
        <p:spPr/>
        <p:txBody>
          <a:bodyPr/>
          <a:lstStyle/>
          <a:p>
            <a:r>
              <a:rPr lang="en-US" dirty="0"/>
              <a:t>The switch Statement: Example</a:t>
            </a:r>
          </a:p>
        </p:txBody>
      </p:sp>
      <p:pic>
        <p:nvPicPr>
          <p:cNvPr id="5" name="Picture 4">
            <a:extLst>
              <a:ext uri="{FF2B5EF4-FFF2-40B4-BE49-F238E27FC236}">
                <a16:creationId xmlns:a16="http://schemas.microsoft.com/office/drawing/2014/main" id="{E8253829-2E85-4FA5-5C3C-A4FE661E01EB}"/>
              </a:ext>
            </a:extLst>
          </p:cNvPr>
          <p:cNvPicPr>
            <a:picLocks noChangeAspect="1"/>
          </p:cNvPicPr>
          <p:nvPr/>
        </p:nvPicPr>
        <p:blipFill>
          <a:blip r:embed="rId2"/>
          <a:stretch>
            <a:fillRect/>
          </a:stretch>
        </p:blipFill>
        <p:spPr>
          <a:xfrm>
            <a:off x="1179218" y="1450210"/>
            <a:ext cx="3876259" cy="5187072"/>
          </a:xfrm>
          <a:prstGeom prst="rect">
            <a:avLst/>
          </a:prstGeom>
        </p:spPr>
      </p:pic>
      <p:pic>
        <p:nvPicPr>
          <p:cNvPr id="8" name="Picture 7">
            <a:extLst>
              <a:ext uri="{FF2B5EF4-FFF2-40B4-BE49-F238E27FC236}">
                <a16:creationId xmlns:a16="http://schemas.microsoft.com/office/drawing/2014/main" id="{DE96BCBE-C45E-83E7-05C3-0C29BED46CAC}"/>
              </a:ext>
            </a:extLst>
          </p:cNvPr>
          <p:cNvPicPr>
            <a:picLocks noChangeAspect="1"/>
          </p:cNvPicPr>
          <p:nvPr/>
        </p:nvPicPr>
        <p:blipFill>
          <a:blip r:embed="rId3"/>
          <a:stretch>
            <a:fillRect/>
          </a:stretch>
        </p:blipFill>
        <p:spPr>
          <a:xfrm>
            <a:off x="6637721" y="2478105"/>
            <a:ext cx="4156403" cy="3131281"/>
          </a:xfrm>
          <a:prstGeom prst="rect">
            <a:avLst/>
          </a:prstGeom>
        </p:spPr>
      </p:pic>
    </p:spTree>
    <p:extLst>
      <p:ext uri="{BB962C8B-B14F-4D97-AF65-F5344CB8AC3E}">
        <p14:creationId xmlns:p14="http://schemas.microsoft.com/office/powerpoint/2010/main" val="3636323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5B66-49FB-8E13-3A2C-C7A1B36EFF4F}"/>
              </a:ext>
            </a:extLst>
          </p:cNvPr>
          <p:cNvSpPr>
            <a:spLocks noGrp="1"/>
          </p:cNvSpPr>
          <p:nvPr>
            <p:ph type="title"/>
          </p:nvPr>
        </p:nvSpPr>
        <p:spPr/>
        <p:txBody>
          <a:bodyPr/>
          <a:lstStyle/>
          <a:p>
            <a:r>
              <a:rPr lang="en-US" dirty="0"/>
              <a:t>The switch Statement: menu-driven program</a:t>
            </a:r>
          </a:p>
        </p:txBody>
      </p:sp>
      <p:sp>
        <p:nvSpPr>
          <p:cNvPr id="3" name="TextBox 2">
            <a:extLst>
              <a:ext uri="{FF2B5EF4-FFF2-40B4-BE49-F238E27FC236}">
                <a16:creationId xmlns:a16="http://schemas.microsoft.com/office/drawing/2014/main" id="{325D9A5B-8442-701E-D2F8-1E783952DB67}"/>
              </a:ext>
            </a:extLst>
          </p:cNvPr>
          <p:cNvSpPr txBox="1"/>
          <p:nvPr/>
        </p:nvSpPr>
        <p:spPr>
          <a:xfrm>
            <a:off x="1912883" y="2427891"/>
            <a:ext cx="8366233" cy="3539430"/>
          </a:xfrm>
          <a:prstGeom prst="rect">
            <a:avLst/>
          </a:prstGeom>
          <a:noFill/>
        </p:spPr>
        <p:txBody>
          <a:bodyPr wrap="square" rtlCol="0">
            <a:spAutoFit/>
          </a:bodyPr>
          <a:lstStyle/>
          <a:p>
            <a:pPr algn="ctr"/>
            <a:r>
              <a:rPr lang="en-US" sz="2800" dirty="0"/>
              <a:t>Suppose you are required to calculate the charges for membership in a health club. The club has three membership packages to choose from: standard adult membership, child membership, and senior citizen membership. The program presents a menu that allows the user to choose the desired package and then calculates the cost of the membership. </a:t>
            </a:r>
            <a:r>
              <a:rPr lang="en-US" sz="2800" dirty="0">
                <a:solidFill>
                  <a:srgbClr val="FF0000"/>
                </a:solidFill>
              </a:rPr>
              <a:t>Use the switch statement.</a:t>
            </a:r>
          </a:p>
        </p:txBody>
      </p:sp>
    </p:spTree>
    <p:extLst>
      <p:ext uri="{BB962C8B-B14F-4D97-AF65-F5344CB8AC3E}">
        <p14:creationId xmlns:p14="http://schemas.microsoft.com/office/powerpoint/2010/main" val="2141179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1183</Words>
  <Application>Microsoft Macintosh PowerPoint</Application>
  <PresentationFormat>Widescreen</PresentationFormat>
  <Paragraphs>86</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Aptos Display</vt:lpstr>
      <vt:lpstr>Arial</vt:lpstr>
      <vt:lpstr>Office Theme</vt:lpstr>
      <vt:lpstr>Week 4 Control Statements Part 1</vt:lpstr>
      <vt:lpstr>Relational Operators</vt:lpstr>
      <vt:lpstr>Boolean expressions</vt:lpstr>
      <vt:lpstr>Examples</vt:lpstr>
      <vt:lpstr>What is truth?</vt:lpstr>
      <vt:lpstr>What is truth?</vt:lpstr>
      <vt:lpstr>Precedence in RA</vt:lpstr>
      <vt:lpstr>Precedence in RA</vt:lpstr>
      <vt:lpstr>Precedence in RA</vt:lpstr>
      <vt:lpstr>The if Statement</vt:lpstr>
      <vt:lpstr>The if Statement</vt:lpstr>
      <vt:lpstr>The if Statement</vt:lpstr>
      <vt:lpstr>Exercise</vt:lpstr>
      <vt:lpstr>Programming Style and the if Statement</vt:lpstr>
      <vt:lpstr>Programming Style and the if Statement</vt:lpstr>
      <vt:lpstr>More about Truth</vt:lpstr>
      <vt:lpstr>Flags</vt:lpstr>
      <vt:lpstr>The if/else Statement</vt:lpstr>
      <vt:lpstr>Example</vt:lpstr>
      <vt:lpstr>Comparing Floating-Point Numbers</vt:lpstr>
      <vt:lpstr>The if/else if Statement</vt:lpstr>
      <vt:lpstr>Example</vt:lpstr>
      <vt:lpstr>Using a Trailing else</vt:lpstr>
      <vt:lpstr>Menu-Driven Programs</vt:lpstr>
      <vt:lpstr>Exercise</vt:lpstr>
      <vt:lpstr>Nested if Statements</vt:lpstr>
      <vt:lpstr>Exercise</vt:lpstr>
      <vt:lpstr>Exercise</vt:lpstr>
      <vt:lpstr>Logical Operators</vt:lpstr>
      <vt:lpstr>Examples</vt:lpstr>
      <vt:lpstr>Boolean Variables and the ! Operator</vt:lpstr>
      <vt:lpstr>Precedence and Associativity of Logical Operators</vt:lpstr>
      <vt:lpstr>Validating User Input</vt:lpstr>
      <vt:lpstr>The Conditional Operator</vt:lpstr>
      <vt:lpstr>The switch Statement</vt:lpstr>
      <vt:lpstr>The switch Statement: Example</vt:lpstr>
      <vt:lpstr>The switch Statement: Example</vt:lpstr>
      <vt:lpstr>The switch Statement: Example</vt:lpstr>
      <vt:lpstr>The switch Statement: menu-driven program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5</cp:revision>
  <dcterms:created xsi:type="dcterms:W3CDTF">2024-09-16T12:55:45Z</dcterms:created>
  <dcterms:modified xsi:type="dcterms:W3CDTF">2024-09-17T12:53:39Z</dcterms:modified>
</cp:coreProperties>
</file>