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349" r:id="rId3"/>
    <p:sldId id="350" r:id="rId4"/>
    <p:sldId id="351" r:id="rId5"/>
    <p:sldId id="352" r:id="rId6"/>
    <p:sldId id="353" r:id="rId7"/>
    <p:sldId id="354" r:id="rId8"/>
    <p:sldId id="355" r:id="rId9"/>
    <p:sldId id="356" r:id="rId10"/>
    <p:sldId id="357" r:id="rId11"/>
    <p:sldId id="358" r:id="rId12"/>
    <p:sldId id="359" r:id="rId13"/>
    <p:sldId id="360" r:id="rId14"/>
    <p:sldId id="361" r:id="rId15"/>
    <p:sldId id="362" r:id="rId16"/>
    <p:sldId id="363" r:id="rId17"/>
    <p:sldId id="364" r:id="rId18"/>
    <p:sldId id="365" r:id="rId19"/>
    <p:sldId id="366" r:id="rId20"/>
    <p:sldId id="367" r:id="rId21"/>
    <p:sldId id="368" r:id="rId22"/>
    <p:sldId id="369" r:id="rId23"/>
    <p:sldId id="370" r:id="rId24"/>
    <p:sldId id="371" r:id="rId25"/>
    <p:sldId id="372" r:id="rId26"/>
    <p:sldId id="373" r:id="rId27"/>
    <p:sldId id="374" r:id="rId28"/>
    <p:sldId id="375" r:id="rId29"/>
    <p:sldId id="376" r:id="rId30"/>
    <p:sldId id="377" r:id="rId31"/>
    <p:sldId id="378" r:id="rId32"/>
    <p:sldId id="379" r:id="rId33"/>
    <p:sldId id="380" r:id="rId34"/>
    <p:sldId id="381" r:id="rId35"/>
    <p:sldId id="382" r:id="rId36"/>
    <p:sldId id="383" r:id="rId37"/>
    <p:sldId id="384" r:id="rId38"/>
    <p:sldId id="385" r:id="rId39"/>
    <p:sldId id="386" r:id="rId40"/>
    <p:sldId id="387" r:id="rId41"/>
    <p:sldId id="389" r:id="rId42"/>
    <p:sldId id="388" r:id="rId43"/>
    <p:sldId id="390" r:id="rId44"/>
    <p:sldId id="391" r:id="rId45"/>
    <p:sldId id="392" r:id="rId46"/>
    <p:sldId id="393" r:id="rId47"/>
    <p:sldId id="394" r:id="rId48"/>
    <p:sldId id="395" r:id="rId49"/>
    <p:sldId id="396" r:id="rId50"/>
    <p:sldId id="397" r:id="rId51"/>
    <p:sldId id="398" r:id="rId52"/>
    <p:sldId id="399" r:id="rId53"/>
    <p:sldId id="400"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2602"/>
    <p:restoredTop sz="94733"/>
  </p:normalViewPr>
  <p:slideViewPr>
    <p:cSldViewPr snapToGrid="0">
      <p:cViewPr varScale="1">
        <p:scale>
          <a:sx n="120" d="100"/>
          <a:sy n="120" d="100"/>
        </p:scale>
        <p:origin x="208" y="202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56C011-2B12-A349-B423-75820124C188}" type="datetimeFigureOut">
              <a:rPr lang="en-US" smtClean="0"/>
              <a:t>11/5/24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3771B0-8F24-4B48-82A1-68205750A15E}" type="slidenum">
              <a:rPr lang="en-US" smtClean="0"/>
              <a:t>‹#›</a:t>
            </a:fld>
            <a:endParaRPr lang="en-US"/>
          </a:p>
        </p:txBody>
      </p:sp>
    </p:spTree>
    <p:extLst>
      <p:ext uri="{BB962C8B-B14F-4D97-AF65-F5344CB8AC3E}">
        <p14:creationId xmlns:p14="http://schemas.microsoft.com/office/powerpoint/2010/main" val="264270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33</a:t>
            </a:fld>
            <a:endParaRPr lang="en-US"/>
          </a:p>
        </p:txBody>
      </p:sp>
    </p:spTree>
    <p:extLst>
      <p:ext uri="{BB962C8B-B14F-4D97-AF65-F5344CB8AC3E}">
        <p14:creationId xmlns:p14="http://schemas.microsoft.com/office/powerpoint/2010/main" val="1649200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7505D-6CD9-DFAD-853B-9D122A161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8A972-16C7-C6A9-642D-EAB71A8224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2A4B43-E5B5-54C2-FFAE-D7160B7C15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DAE497-EDB3-7D10-ED76-718EF3FA8A25}"/>
              </a:ext>
            </a:extLst>
          </p:cNvPr>
          <p:cNvSpPr>
            <a:spLocks noGrp="1"/>
          </p:cNvSpPr>
          <p:nvPr>
            <p:ph type="sldNum" sz="quarter" idx="5"/>
          </p:nvPr>
        </p:nvSpPr>
        <p:spPr/>
        <p:txBody>
          <a:bodyPr/>
          <a:lstStyle/>
          <a:p>
            <a:fld id="{703771B0-8F24-4B48-82A1-68205750A15E}" type="slidenum">
              <a:rPr lang="en-US" smtClean="0"/>
              <a:t>34</a:t>
            </a:fld>
            <a:endParaRPr lang="en-US"/>
          </a:p>
        </p:txBody>
      </p:sp>
    </p:spTree>
    <p:extLst>
      <p:ext uri="{BB962C8B-B14F-4D97-AF65-F5344CB8AC3E}">
        <p14:creationId xmlns:p14="http://schemas.microsoft.com/office/powerpoint/2010/main" val="1894379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F723B-E897-253C-8E2E-59741A4492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402135-899B-706D-25DC-850977D48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66FC2A-0C33-11BE-D663-C82A532BA3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57714D-25F1-04CF-E85C-539798EB96C8}"/>
              </a:ext>
            </a:extLst>
          </p:cNvPr>
          <p:cNvSpPr>
            <a:spLocks noGrp="1"/>
          </p:cNvSpPr>
          <p:nvPr>
            <p:ph type="sldNum" sz="quarter" idx="5"/>
          </p:nvPr>
        </p:nvSpPr>
        <p:spPr/>
        <p:txBody>
          <a:bodyPr/>
          <a:lstStyle/>
          <a:p>
            <a:fld id="{703771B0-8F24-4B48-82A1-68205750A15E}" type="slidenum">
              <a:rPr lang="en-US" smtClean="0"/>
              <a:t>35</a:t>
            </a:fld>
            <a:endParaRPr lang="en-US"/>
          </a:p>
        </p:txBody>
      </p:sp>
    </p:spTree>
    <p:extLst>
      <p:ext uri="{BB962C8B-B14F-4D97-AF65-F5344CB8AC3E}">
        <p14:creationId xmlns:p14="http://schemas.microsoft.com/office/powerpoint/2010/main" val="396931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CC81F-A7F9-D0CF-15FB-29DD1A28F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88BA0A-5251-41EC-5CB7-2EEB260CCC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9370F8-6C56-7CED-C44A-436951FC94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14A190-0FF3-4FBD-F643-D87682163B1A}"/>
              </a:ext>
            </a:extLst>
          </p:cNvPr>
          <p:cNvSpPr>
            <a:spLocks noGrp="1"/>
          </p:cNvSpPr>
          <p:nvPr>
            <p:ph type="sldNum" sz="quarter" idx="5"/>
          </p:nvPr>
        </p:nvSpPr>
        <p:spPr/>
        <p:txBody>
          <a:bodyPr/>
          <a:lstStyle/>
          <a:p>
            <a:fld id="{703771B0-8F24-4B48-82A1-68205750A15E}" type="slidenum">
              <a:rPr lang="en-US" smtClean="0"/>
              <a:t>36</a:t>
            </a:fld>
            <a:endParaRPr lang="en-US"/>
          </a:p>
        </p:txBody>
      </p:sp>
    </p:spTree>
    <p:extLst>
      <p:ext uri="{BB962C8B-B14F-4D97-AF65-F5344CB8AC3E}">
        <p14:creationId xmlns:p14="http://schemas.microsoft.com/office/powerpoint/2010/main" val="1290791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9E67D-581B-756B-BC0C-4EB815572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0F4AF-7744-D0FF-353C-CAE58E677A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CC8166-4A22-C9EC-31F4-0559CFA3EB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1F4627-2564-B0FB-EBE9-B1B8AEA15790}"/>
              </a:ext>
            </a:extLst>
          </p:cNvPr>
          <p:cNvSpPr>
            <a:spLocks noGrp="1"/>
          </p:cNvSpPr>
          <p:nvPr>
            <p:ph type="sldNum" sz="quarter" idx="5"/>
          </p:nvPr>
        </p:nvSpPr>
        <p:spPr/>
        <p:txBody>
          <a:bodyPr/>
          <a:lstStyle/>
          <a:p>
            <a:fld id="{703771B0-8F24-4B48-82A1-68205750A15E}" type="slidenum">
              <a:rPr lang="en-US" smtClean="0"/>
              <a:t>37</a:t>
            </a:fld>
            <a:endParaRPr lang="en-US"/>
          </a:p>
        </p:txBody>
      </p:sp>
    </p:spTree>
    <p:extLst>
      <p:ext uri="{BB962C8B-B14F-4D97-AF65-F5344CB8AC3E}">
        <p14:creationId xmlns:p14="http://schemas.microsoft.com/office/powerpoint/2010/main" val="1782812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20A9D-347A-41B1-44A6-FDCCDF13B7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64C37-3202-B62E-1FDB-6893B7B9BC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63644B-ECE1-BDE5-0FE1-935809C9C4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D60CE9-EEA7-96B7-1624-F91F6F5B29B0}"/>
              </a:ext>
            </a:extLst>
          </p:cNvPr>
          <p:cNvSpPr>
            <a:spLocks noGrp="1"/>
          </p:cNvSpPr>
          <p:nvPr>
            <p:ph type="sldNum" sz="quarter" idx="5"/>
          </p:nvPr>
        </p:nvSpPr>
        <p:spPr/>
        <p:txBody>
          <a:bodyPr/>
          <a:lstStyle/>
          <a:p>
            <a:fld id="{703771B0-8F24-4B48-82A1-68205750A15E}" type="slidenum">
              <a:rPr lang="en-US" smtClean="0"/>
              <a:t>38</a:t>
            </a:fld>
            <a:endParaRPr lang="en-US"/>
          </a:p>
        </p:txBody>
      </p:sp>
    </p:spTree>
    <p:extLst>
      <p:ext uri="{BB962C8B-B14F-4D97-AF65-F5344CB8AC3E}">
        <p14:creationId xmlns:p14="http://schemas.microsoft.com/office/powerpoint/2010/main" val="28216401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40</a:t>
            </a:fld>
            <a:endParaRPr lang="en-US"/>
          </a:p>
        </p:txBody>
      </p:sp>
    </p:spTree>
    <p:extLst>
      <p:ext uri="{BB962C8B-B14F-4D97-AF65-F5344CB8AC3E}">
        <p14:creationId xmlns:p14="http://schemas.microsoft.com/office/powerpoint/2010/main" val="1855893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50A39-008C-636D-853B-C4B7BC718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DB015-11CF-4928-5027-99EEBEAEA3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1EA62-6922-423C-620C-40EFE1F171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9D4DB3-B2ED-4AE0-007F-3BD801F8EAC3}"/>
              </a:ext>
            </a:extLst>
          </p:cNvPr>
          <p:cNvSpPr>
            <a:spLocks noGrp="1"/>
          </p:cNvSpPr>
          <p:nvPr>
            <p:ph type="sldNum" sz="quarter" idx="5"/>
          </p:nvPr>
        </p:nvSpPr>
        <p:spPr/>
        <p:txBody>
          <a:bodyPr/>
          <a:lstStyle/>
          <a:p>
            <a:fld id="{703771B0-8F24-4B48-82A1-68205750A15E}" type="slidenum">
              <a:rPr lang="en-US" smtClean="0"/>
              <a:t>42</a:t>
            </a:fld>
            <a:endParaRPr lang="en-US"/>
          </a:p>
        </p:txBody>
      </p:sp>
    </p:spTree>
    <p:extLst>
      <p:ext uri="{BB962C8B-B14F-4D97-AF65-F5344CB8AC3E}">
        <p14:creationId xmlns:p14="http://schemas.microsoft.com/office/powerpoint/2010/main" val="2477225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67497-2233-5CF0-D049-3FFE529D28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94D115-F585-35D3-86C8-CE06BA1A1B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996EB9-ED37-4522-F71D-A51F84C88D9A}"/>
              </a:ext>
            </a:extLst>
          </p:cNvPr>
          <p:cNvSpPr>
            <a:spLocks noGrp="1"/>
          </p:cNvSpPr>
          <p:nvPr>
            <p:ph type="dt" sz="half" idx="10"/>
          </p:nvPr>
        </p:nvSpPr>
        <p:spPr/>
        <p:txBody>
          <a:bodyPr/>
          <a:lstStyle/>
          <a:p>
            <a:fld id="{AB0FC227-1C15-4A43-BEB2-13798C94F5EF}" type="datetimeFigureOut">
              <a:rPr lang="en-US" smtClean="0"/>
              <a:t>11/5/24</a:t>
            </a:fld>
            <a:endParaRPr lang="en-US"/>
          </a:p>
        </p:txBody>
      </p:sp>
      <p:sp>
        <p:nvSpPr>
          <p:cNvPr id="5" name="Footer Placeholder 4">
            <a:extLst>
              <a:ext uri="{FF2B5EF4-FFF2-40B4-BE49-F238E27FC236}">
                <a16:creationId xmlns:a16="http://schemas.microsoft.com/office/drawing/2014/main" id="{668D73EB-6B6D-514E-46B4-AC8E2A7ED1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70961-F70B-DCDF-5938-603A6023FACF}"/>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187009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DA4DE-2D31-0C7A-A721-701831C83E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ED0C0D-979C-4AB8-6686-C9351CC22C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6C67E4-650A-56FF-41C3-1B46C3CB540F}"/>
              </a:ext>
            </a:extLst>
          </p:cNvPr>
          <p:cNvSpPr>
            <a:spLocks noGrp="1"/>
          </p:cNvSpPr>
          <p:nvPr>
            <p:ph type="dt" sz="half" idx="10"/>
          </p:nvPr>
        </p:nvSpPr>
        <p:spPr/>
        <p:txBody>
          <a:bodyPr/>
          <a:lstStyle/>
          <a:p>
            <a:fld id="{AB0FC227-1C15-4A43-BEB2-13798C94F5EF}" type="datetimeFigureOut">
              <a:rPr lang="en-US" smtClean="0"/>
              <a:t>11/5/24</a:t>
            </a:fld>
            <a:endParaRPr lang="en-US"/>
          </a:p>
        </p:txBody>
      </p:sp>
      <p:sp>
        <p:nvSpPr>
          <p:cNvPr id="5" name="Footer Placeholder 4">
            <a:extLst>
              <a:ext uri="{FF2B5EF4-FFF2-40B4-BE49-F238E27FC236}">
                <a16:creationId xmlns:a16="http://schemas.microsoft.com/office/drawing/2014/main" id="{C271C418-59A5-361F-42A4-E3195CC565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858B9A-FAF1-FAEB-3795-06FB6CD79B36}"/>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869738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259E4-332F-B0C5-9ADD-446A2A66BC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2DC95D-4EE4-FE1E-E538-C9EF981D31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B25E69-010B-BEE4-B7A9-B36D23D612C9}"/>
              </a:ext>
            </a:extLst>
          </p:cNvPr>
          <p:cNvSpPr>
            <a:spLocks noGrp="1"/>
          </p:cNvSpPr>
          <p:nvPr>
            <p:ph type="dt" sz="half" idx="10"/>
          </p:nvPr>
        </p:nvSpPr>
        <p:spPr/>
        <p:txBody>
          <a:bodyPr/>
          <a:lstStyle/>
          <a:p>
            <a:fld id="{AB0FC227-1C15-4A43-BEB2-13798C94F5EF}" type="datetimeFigureOut">
              <a:rPr lang="en-US" smtClean="0"/>
              <a:t>11/5/24</a:t>
            </a:fld>
            <a:endParaRPr lang="en-US"/>
          </a:p>
        </p:txBody>
      </p:sp>
      <p:sp>
        <p:nvSpPr>
          <p:cNvPr id="5" name="Footer Placeholder 4">
            <a:extLst>
              <a:ext uri="{FF2B5EF4-FFF2-40B4-BE49-F238E27FC236}">
                <a16:creationId xmlns:a16="http://schemas.microsoft.com/office/drawing/2014/main" id="{F70576AA-DCF5-179A-5EF8-DB0C5D62AA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6DF326-798F-9EBB-37FC-6826A11179D6}"/>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927158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74D5F-9258-DF13-DCEF-218C81B182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FA7483-54CF-CB1C-6F5C-CF86CA1B94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BF5A2F-DF1A-A79D-BC75-8F70F087C3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468058-E579-F920-BD66-6AF61C39332C}"/>
              </a:ext>
            </a:extLst>
          </p:cNvPr>
          <p:cNvSpPr>
            <a:spLocks noGrp="1"/>
          </p:cNvSpPr>
          <p:nvPr>
            <p:ph type="dt" sz="half" idx="10"/>
          </p:nvPr>
        </p:nvSpPr>
        <p:spPr/>
        <p:txBody>
          <a:bodyPr/>
          <a:lstStyle/>
          <a:p>
            <a:fld id="{AB0FC227-1C15-4A43-BEB2-13798C94F5EF}" type="datetimeFigureOut">
              <a:rPr lang="en-US" smtClean="0"/>
              <a:t>11/5/24</a:t>
            </a:fld>
            <a:endParaRPr lang="en-US"/>
          </a:p>
        </p:txBody>
      </p:sp>
      <p:sp>
        <p:nvSpPr>
          <p:cNvPr id="6" name="Footer Placeholder 5">
            <a:extLst>
              <a:ext uri="{FF2B5EF4-FFF2-40B4-BE49-F238E27FC236}">
                <a16:creationId xmlns:a16="http://schemas.microsoft.com/office/drawing/2014/main" id="{2422F2A9-A4C6-0C5C-6645-32929077A3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3FC57C-92E4-F87D-E113-E8026EC4261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59076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788BF-5473-99A1-0999-2A058B6D0C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D4B2D7-B13D-4E6A-A7CB-45FE4391BA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4FE831-2105-FC35-6CBC-C1A8A437B2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50A41-473F-AB64-B608-38AC9065D3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AFA31D-95BF-E042-532F-63CF23591F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A18247-8390-2DAA-D575-263969C46CFF}"/>
              </a:ext>
            </a:extLst>
          </p:cNvPr>
          <p:cNvSpPr>
            <a:spLocks noGrp="1"/>
          </p:cNvSpPr>
          <p:nvPr>
            <p:ph type="dt" sz="half" idx="10"/>
          </p:nvPr>
        </p:nvSpPr>
        <p:spPr/>
        <p:txBody>
          <a:bodyPr/>
          <a:lstStyle/>
          <a:p>
            <a:fld id="{AB0FC227-1C15-4A43-BEB2-13798C94F5EF}" type="datetimeFigureOut">
              <a:rPr lang="en-US" smtClean="0"/>
              <a:t>11/5/24</a:t>
            </a:fld>
            <a:endParaRPr lang="en-US"/>
          </a:p>
        </p:txBody>
      </p:sp>
      <p:sp>
        <p:nvSpPr>
          <p:cNvPr id="8" name="Footer Placeholder 7">
            <a:extLst>
              <a:ext uri="{FF2B5EF4-FFF2-40B4-BE49-F238E27FC236}">
                <a16:creationId xmlns:a16="http://schemas.microsoft.com/office/drawing/2014/main" id="{7BA1577C-D833-D373-A105-6149F46EAA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1DA587-16E4-3EC3-9080-0DEDCC317F0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506450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1D489-8375-52EB-A2BC-C499B78945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245771-1C57-1C89-9263-F224DDBEEA95}"/>
              </a:ext>
            </a:extLst>
          </p:cNvPr>
          <p:cNvSpPr>
            <a:spLocks noGrp="1"/>
          </p:cNvSpPr>
          <p:nvPr>
            <p:ph type="dt" sz="half" idx="10"/>
          </p:nvPr>
        </p:nvSpPr>
        <p:spPr/>
        <p:txBody>
          <a:bodyPr/>
          <a:lstStyle/>
          <a:p>
            <a:fld id="{AB0FC227-1C15-4A43-BEB2-13798C94F5EF}" type="datetimeFigureOut">
              <a:rPr lang="en-US" smtClean="0"/>
              <a:t>11/5/24</a:t>
            </a:fld>
            <a:endParaRPr lang="en-US"/>
          </a:p>
        </p:txBody>
      </p:sp>
      <p:sp>
        <p:nvSpPr>
          <p:cNvPr id="4" name="Footer Placeholder 3">
            <a:extLst>
              <a:ext uri="{FF2B5EF4-FFF2-40B4-BE49-F238E27FC236}">
                <a16:creationId xmlns:a16="http://schemas.microsoft.com/office/drawing/2014/main" id="{1D65A188-9973-35EB-9077-12DDBED8D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3F0DC9-B6C9-3145-FC44-19D0EB210BE7}"/>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1476119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673EAA-7F14-9166-7C72-F01F84FEFCEF}"/>
              </a:ext>
            </a:extLst>
          </p:cNvPr>
          <p:cNvSpPr>
            <a:spLocks noGrp="1"/>
          </p:cNvSpPr>
          <p:nvPr>
            <p:ph type="dt" sz="half" idx="10"/>
          </p:nvPr>
        </p:nvSpPr>
        <p:spPr/>
        <p:txBody>
          <a:bodyPr/>
          <a:lstStyle/>
          <a:p>
            <a:fld id="{AB0FC227-1C15-4A43-BEB2-13798C94F5EF}" type="datetimeFigureOut">
              <a:rPr lang="en-US" smtClean="0"/>
              <a:t>11/5/24</a:t>
            </a:fld>
            <a:endParaRPr lang="en-US"/>
          </a:p>
        </p:txBody>
      </p:sp>
      <p:sp>
        <p:nvSpPr>
          <p:cNvPr id="3" name="Footer Placeholder 2">
            <a:extLst>
              <a:ext uri="{FF2B5EF4-FFF2-40B4-BE49-F238E27FC236}">
                <a16:creationId xmlns:a16="http://schemas.microsoft.com/office/drawing/2014/main" id="{030751A4-47E3-CDB6-8894-9AF86C7E79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A304F-1503-1D29-5814-B8DECC3764BA}"/>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4101643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9920A-6A00-5561-7691-62B039253F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EB7932-359D-59CA-2D49-88EA741FF8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0CEEBE-F16C-AA7F-04CD-DDE66660C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2EFDA-8312-C3FD-A13A-9D9C5938515B}"/>
              </a:ext>
            </a:extLst>
          </p:cNvPr>
          <p:cNvSpPr>
            <a:spLocks noGrp="1"/>
          </p:cNvSpPr>
          <p:nvPr>
            <p:ph type="dt" sz="half" idx="10"/>
          </p:nvPr>
        </p:nvSpPr>
        <p:spPr/>
        <p:txBody>
          <a:bodyPr/>
          <a:lstStyle/>
          <a:p>
            <a:fld id="{AB0FC227-1C15-4A43-BEB2-13798C94F5EF}" type="datetimeFigureOut">
              <a:rPr lang="en-US" smtClean="0"/>
              <a:t>11/5/24</a:t>
            </a:fld>
            <a:endParaRPr lang="en-US"/>
          </a:p>
        </p:txBody>
      </p:sp>
      <p:sp>
        <p:nvSpPr>
          <p:cNvPr id="6" name="Footer Placeholder 5">
            <a:extLst>
              <a:ext uri="{FF2B5EF4-FFF2-40B4-BE49-F238E27FC236}">
                <a16:creationId xmlns:a16="http://schemas.microsoft.com/office/drawing/2014/main" id="{2F7E43B2-AA34-EC21-F0C0-603309F721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0F55F5-7423-0242-5A2F-09B40472387D}"/>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894448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9EE61-E3C2-EA97-A111-262A8FDBD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872FFB-1CB2-ABC5-4969-9FAFA70423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F19B23-2D62-B991-5FB7-A1DD3A621F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CBC6B-C59D-6BDA-29D9-5FAC341F8588}"/>
              </a:ext>
            </a:extLst>
          </p:cNvPr>
          <p:cNvSpPr>
            <a:spLocks noGrp="1"/>
          </p:cNvSpPr>
          <p:nvPr>
            <p:ph type="dt" sz="half" idx="10"/>
          </p:nvPr>
        </p:nvSpPr>
        <p:spPr/>
        <p:txBody>
          <a:bodyPr/>
          <a:lstStyle/>
          <a:p>
            <a:fld id="{AB0FC227-1C15-4A43-BEB2-13798C94F5EF}" type="datetimeFigureOut">
              <a:rPr lang="en-US" smtClean="0"/>
              <a:t>11/5/24</a:t>
            </a:fld>
            <a:endParaRPr lang="en-US"/>
          </a:p>
        </p:txBody>
      </p:sp>
      <p:sp>
        <p:nvSpPr>
          <p:cNvPr id="6" name="Footer Placeholder 5">
            <a:extLst>
              <a:ext uri="{FF2B5EF4-FFF2-40B4-BE49-F238E27FC236}">
                <a16:creationId xmlns:a16="http://schemas.microsoft.com/office/drawing/2014/main" id="{D8F245B9-8BDF-B1B5-8CE5-B3AC592FA5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DCD5E7-9497-5282-8256-9591208A113C}"/>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9860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4E768-A793-6624-FED1-9F422AEFDC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72B71F-51DC-3C01-BEB7-1AB58B161C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C81B14-3A7D-295C-274D-4E49DDF4206B}"/>
              </a:ext>
            </a:extLst>
          </p:cNvPr>
          <p:cNvSpPr>
            <a:spLocks noGrp="1"/>
          </p:cNvSpPr>
          <p:nvPr>
            <p:ph type="dt" sz="half" idx="10"/>
          </p:nvPr>
        </p:nvSpPr>
        <p:spPr/>
        <p:txBody>
          <a:bodyPr/>
          <a:lstStyle/>
          <a:p>
            <a:fld id="{AB0FC227-1C15-4A43-BEB2-13798C94F5EF}" type="datetimeFigureOut">
              <a:rPr lang="en-US" smtClean="0"/>
              <a:t>11/5/24</a:t>
            </a:fld>
            <a:endParaRPr lang="en-US"/>
          </a:p>
        </p:txBody>
      </p:sp>
      <p:sp>
        <p:nvSpPr>
          <p:cNvPr id="5" name="Footer Placeholder 4">
            <a:extLst>
              <a:ext uri="{FF2B5EF4-FFF2-40B4-BE49-F238E27FC236}">
                <a16:creationId xmlns:a16="http://schemas.microsoft.com/office/drawing/2014/main" id="{C9E405A0-2609-8DB4-3682-FE6423E70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21D1E-0B56-2D31-63FA-16ECCC4E5521}"/>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504371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47ADB8-4CAC-F675-02CB-5F65CFA10C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FA8541-0C6C-AA22-D374-80870AF150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811942-24E3-70CB-5920-73AC5FD9C4E7}"/>
              </a:ext>
            </a:extLst>
          </p:cNvPr>
          <p:cNvSpPr>
            <a:spLocks noGrp="1"/>
          </p:cNvSpPr>
          <p:nvPr>
            <p:ph type="dt" sz="half" idx="10"/>
          </p:nvPr>
        </p:nvSpPr>
        <p:spPr/>
        <p:txBody>
          <a:bodyPr/>
          <a:lstStyle/>
          <a:p>
            <a:fld id="{AB0FC227-1C15-4A43-BEB2-13798C94F5EF}" type="datetimeFigureOut">
              <a:rPr lang="en-US" smtClean="0"/>
              <a:t>11/5/24</a:t>
            </a:fld>
            <a:endParaRPr lang="en-US"/>
          </a:p>
        </p:txBody>
      </p:sp>
      <p:sp>
        <p:nvSpPr>
          <p:cNvPr id="5" name="Footer Placeholder 4">
            <a:extLst>
              <a:ext uri="{FF2B5EF4-FFF2-40B4-BE49-F238E27FC236}">
                <a16:creationId xmlns:a16="http://schemas.microsoft.com/office/drawing/2014/main" id="{41D0E9CF-C281-ED40-0225-DFAEFE0D9D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D0D6DC-533F-C171-BD27-F6902641CA2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1598449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894179-025D-BD23-9799-BAE5EF15BA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62D5CB-8C7A-30FD-22E2-AFEABE0A71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F3CC61-648A-B2B0-A5D7-454AF72170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0FC227-1C15-4A43-BEB2-13798C94F5EF}" type="datetimeFigureOut">
              <a:rPr lang="en-US" smtClean="0"/>
              <a:t>11/5/24</a:t>
            </a:fld>
            <a:endParaRPr lang="en-US"/>
          </a:p>
        </p:txBody>
      </p:sp>
      <p:sp>
        <p:nvSpPr>
          <p:cNvPr id="5" name="Footer Placeholder 4">
            <a:extLst>
              <a:ext uri="{FF2B5EF4-FFF2-40B4-BE49-F238E27FC236}">
                <a16:creationId xmlns:a16="http://schemas.microsoft.com/office/drawing/2014/main" id="{B9EB0CF4-EDD5-7B2F-27EE-13E5B7269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C55604-2777-5B4B-4679-40C254EEC8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BA0F0C-220E-F745-AF73-56D3AD921199}" type="slidenum">
              <a:rPr lang="en-US" smtClean="0"/>
              <a:t>‹#›</a:t>
            </a:fld>
            <a:endParaRPr lang="en-US"/>
          </a:p>
        </p:txBody>
      </p:sp>
    </p:spTree>
    <p:extLst>
      <p:ext uri="{BB962C8B-B14F-4D97-AF65-F5344CB8AC3E}">
        <p14:creationId xmlns:p14="http://schemas.microsoft.com/office/powerpoint/2010/main" val="1323111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114b2afb-760d-4821-bca4-1bf62127ed1d?userPreferredType=read"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plus.pearson.com/products/38bfda0e-08b5-4b34-9a14-38c88560fefb/pages/urn:pearson:entity:114b2afb-760d-4821-bca4-1bf62127ed1d?userPreferredType=read"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484c9c69-bfd7-48ff-921c-feff26a53377?userPreferredType=read"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plus.pearson.com/products/38bfda0e-08b5-4b34-9a14-38c88560fefb/pages/urn:pearson:entity:6a720cd6-df25-4ead-aa51-8f68547c5f89?userPreferredType=read"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2ACEA-34DD-C4AE-91D6-A79F7CA59153}"/>
              </a:ext>
            </a:extLst>
          </p:cNvPr>
          <p:cNvSpPr>
            <a:spLocks noGrp="1"/>
          </p:cNvSpPr>
          <p:nvPr>
            <p:ph type="ctrTitle"/>
          </p:nvPr>
        </p:nvSpPr>
        <p:spPr/>
        <p:txBody>
          <a:bodyPr/>
          <a:lstStyle/>
          <a:p>
            <a:r>
              <a:rPr lang="en-US" dirty="0"/>
              <a:t>CS 331</a:t>
            </a:r>
          </a:p>
        </p:txBody>
      </p:sp>
      <p:sp>
        <p:nvSpPr>
          <p:cNvPr id="3" name="Subtitle 2">
            <a:extLst>
              <a:ext uri="{FF2B5EF4-FFF2-40B4-BE49-F238E27FC236}">
                <a16:creationId xmlns:a16="http://schemas.microsoft.com/office/drawing/2014/main" id="{64FF1D7F-4059-C104-E5D6-F9234CEE0B98}"/>
              </a:ext>
            </a:extLst>
          </p:cNvPr>
          <p:cNvSpPr>
            <a:spLocks noGrp="1"/>
          </p:cNvSpPr>
          <p:nvPr>
            <p:ph type="subTitle" idx="1"/>
          </p:nvPr>
        </p:nvSpPr>
        <p:spPr/>
        <p:txBody>
          <a:bodyPr/>
          <a:lstStyle/>
          <a:p>
            <a:r>
              <a:rPr lang="en-US" sz="3000" b="1" dirty="0"/>
              <a:t>Operator Overloading</a:t>
            </a:r>
          </a:p>
          <a:p>
            <a:r>
              <a:rPr lang="en-US" dirty="0"/>
              <a:t>MD Romael Haque</a:t>
            </a:r>
          </a:p>
        </p:txBody>
      </p:sp>
    </p:spTree>
    <p:extLst>
      <p:ext uri="{BB962C8B-B14F-4D97-AF65-F5344CB8AC3E}">
        <p14:creationId xmlns:p14="http://schemas.microsoft.com/office/powerpoint/2010/main" val="670017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AC5B3-0C74-68A5-9E95-78FC77939ADB}"/>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0E28CD14-F625-ABFD-E7D8-6E538FE07E2E}"/>
              </a:ext>
            </a:extLst>
          </p:cNvPr>
          <p:cNvSpPr>
            <a:spLocks noGrp="1"/>
          </p:cNvSpPr>
          <p:nvPr>
            <p:ph idx="1"/>
          </p:nvPr>
        </p:nvSpPr>
        <p:spPr/>
        <p:txBody>
          <a:bodyPr>
            <a:normAutofit/>
          </a:bodyPr>
          <a:lstStyle/>
          <a:p>
            <a:r>
              <a:rPr lang="en-US" dirty="0"/>
              <a:t>As we have seen, copy constructors are designed to solve problems that arise when an object containing a pointer is initialized with the data of another object of the same class using </a:t>
            </a:r>
            <a:r>
              <a:rPr lang="en-US" dirty="0" err="1"/>
              <a:t>memberwise</a:t>
            </a:r>
            <a:r>
              <a:rPr lang="en-US" dirty="0"/>
              <a:t> assignment.</a:t>
            </a:r>
          </a:p>
          <a:p>
            <a:r>
              <a:rPr lang="en-US" dirty="0"/>
              <a:t>Similar problems arise in object assignment. </a:t>
            </a:r>
          </a:p>
        </p:txBody>
      </p:sp>
    </p:spTree>
    <p:extLst>
      <p:ext uri="{BB962C8B-B14F-4D97-AF65-F5344CB8AC3E}">
        <p14:creationId xmlns:p14="http://schemas.microsoft.com/office/powerpoint/2010/main" val="3320492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0DB66-3051-8E08-5E1E-D83BC083B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B9247-13C9-A6B8-4D9D-C3B1CCBD608D}"/>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8D17F76D-E7AD-2C14-F8A6-02EF8AE491CD}"/>
              </a:ext>
            </a:extLst>
          </p:cNvPr>
          <p:cNvSpPr>
            <a:spLocks noGrp="1"/>
          </p:cNvSpPr>
          <p:nvPr>
            <p:ph idx="1"/>
          </p:nvPr>
        </p:nvSpPr>
        <p:spPr/>
        <p:txBody>
          <a:bodyPr>
            <a:normAutofit lnSpcReduction="10000"/>
          </a:bodyPr>
          <a:lstStyle/>
          <a:p>
            <a:r>
              <a:rPr lang="en-US" dirty="0"/>
              <a:t>For example, with the </a:t>
            </a:r>
            <a:r>
              <a:rPr lang="en-US" dirty="0" err="1"/>
              <a:t>NumberArray</a:t>
            </a:r>
            <a:r>
              <a:rPr lang="en-US" dirty="0"/>
              <a:t> class of the previous section, we may have a program that has defined two objects of that class:</a:t>
            </a:r>
          </a:p>
          <a:p>
            <a:pPr lvl="1"/>
            <a:r>
              <a:rPr lang="en-US" i="1" dirty="0" err="1">
                <a:solidFill>
                  <a:srgbClr val="FF0000"/>
                </a:solidFill>
              </a:rPr>
              <a:t>NumberArray</a:t>
            </a:r>
            <a:r>
              <a:rPr lang="en-US" i="1" dirty="0">
                <a:solidFill>
                  <a:srgbClr val="FF0000"/>
                </a:solidFill>
              </a:rPr>
              <a:t> </a:t>
            </a:r>
            <a:r>
              <a:rPr lang="en-US" b="1" i="1" dirty="0">
                <a:solidFill>
                  <a:srgbClr val="FF0000"/>
                </a:solidFill>
                <a:effectLst/>
              </a:rPr>
              <a:t>first</a:t>
            </a:r>
            <a:r>
              <a:rPr lang="en-US" i="1" dirty="0">
                <a:solidFill>
                  <a:srgbClr val="FF0000"/>
                </a:solidFill>
              </a:rPr>
              <a:t>(</a:t>
            </a:r>
            <a:r>
              <a:rPr lang="en-US" i="1" dirty="0">
                <a:solidFill>
                  <a:srgbClr val="FF0000"/>
                </a:solidFill>
                <a:effectLst/>
              </a:rPr>
              <a:t>3</a:t>
            </a:r>
            <a:r>
              <a:rPr lang="en-US" i="1" dirty="0">
                <a:solidFill>
                  <a:srgbClr val="FF0000"/>
                </a:solidFill>
              </a:rPr>
              <a:t>, </a:t>
            </a:r>
            <a:r>
              <a:rPr lang="en-US" i="1" dirty="0">
                <a:solidFill>
                  <a:srgbClr val="FF0000"/>
                </a:solidFill>
                <a:effectLst/>
              </a:rPr>
              <a:t>10.5</a:t>
            </a:r>
            <a:r>
              <a:rPr lang="en-US" i="1" dirty="0">
                <a:solidFill>
                  <a:srgbClr val="FF0000"/>
                </a:solidFill>
              </a:rPr>
              <a:t>); </a:t>
            </a:r>
          </a:p>
          <a:p>
            <a:pPr lvl="1"/>
            <a:r>
              <a:rPr lang="en-US" i="1" dirty="0" err="1">
                <a:solidFill>
                  <a:srgbClr val="FF0000"/>
                </a:solidFill>
              </a:rPr>
              <a:t>NumberArray</a:t>
            </a:r>
            <a:r>
              <a:rPr lang="en-US" i="1" dirty="0">
                <a:solidFill>
                  <a:srgbClr val="FF0000"/>
                </a:solidFill>
              </a:rPr>
              <a:t> </a:t>
            </a:r>
            <a:r>
              <a:rPr lang="en-US" b="1" i="1" dirty="0">
                <a:solidFill>
                  <a:srgbClr val="FF0000"/>
                </a:solidFill>
                <a:effectLst/>
              </a:rPr>
              <a:t>second</a:t>
            </a:r>
            <a:r>
              <a:rPr lang="en-US" i="1" dirty="0">
                <a:solidFill>
                  <a:srgbClr val="FF0000"/>
                </a:solidFill>
              </a:rPr>
              <a:t>(</a:t>
            </a:r>
            <a:r>
              <a:rPr lang="en-US" i="1" dirty="0">
                <a:solidFill>
                  <a:srgbClr val="FF0000"/>
                </a:solidFill>
                <a:effectLst/>
              </a:rPr>
              <a:t>5</a:t>
            </a:r>
            <a:r>
              <a:rPr lang="en-US" i="1" dirty="0">
                <a:solidFill>
                  <a:srgbClr val="FF0000"/>
                </a:solidFill>
              </a:rPr>
              <a:t>, </a:t>
            </a:r>
            <a:r>
              <a:rPr lang="en-US" i="1" dirty="0">
                <a:solidFill>
                  <a:srgbClr val="FF0000"/>
                </a:solidFill>
                <a:effectLst/>
              </a:rPr>
              <a:t>20.5</a:t>
            </a:r>
            <a:r>
              <a:rPr lang="en-US" i="1" dirty="0">
                <a:solidFill>
                  <a:srgbClr val="FF0000"/>
                </a:solidFill>
              </a:rPr>
              <a:t>); </a:t>
            </a:r>
          </a:p>
          <a:p>
            <a:pPr lvl="1"/>
            <a:r>
              <a:rPr lang="en-US" i="1" dirty="0">
                <a:solidFill>
                  <a:srgbClr val="FF0000"/>
                </a:solidFill>
              </a:rPr>
              <a:t>first = second;</a:t>
            </a:r>
          </a:p>
          <a:p>
            <a:endParaRPr lang="en-US" dirty="0"/>
          </a:p>
          <a:p>
            <a:r>
              <a:rPr lang="en-US" dirty="0"/>
              <a:t>If we want to set the first object to exactly the same value as the second. </a:t>
            </a:r>
          </a:p>
          <a:p>
            <a:r>
              <a:rPr lang="en-US" dirty="0"/>
              <a:t>At this point, C++ will once again perform a </a:t>
            </a:r>
            <a:r>
              <a:rPr lang="en-US" dirty="0" err="1"/>
              <a:t>memberwise</a:t>
            </a:r>
            <a:r>
              <a:rPr lang="en-US" dirty="0"/>
              <a:t> copy from the second to the first object, </a:t>
            </a:r>
            <a:r>
              <a:rPr lang="en-US" b="1" dirty="0"/>
              <a:t>leaving pointers in both objects pointing to the same memory.</a:t>
            </a:r>
          </a:p>
        </p:txBody>
      </p:sp>
    </p:spTree>
    <p:extLst>
      <p:ext uri="{BB962C8B-B14F-4D97-AF65-F5344CB8AC3E}">
        <p14:creationId xmlns:p14="http://schemas.microsoft.com/office/powerpoint/2010/main" val="3871847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308B4-1253-3252-EBC8-1A59CED72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B635F-CA84-6704-E0CB-BE2C8214AF84}"/>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C28409E1-9BDF-880A-D9D1-C05E0ED11DE2}"/>
              </a:ext>
            </a:extLst>
          </p:cNvPr>
          <p:cNvSpPr>
            <a:spLocks noGrp="1"/>
          </p:cNvSpPr>
          <p:nvPr>
            <p:ph idx="1"/>
          </p:nvPr>
        </p:nvSpPr>
        <p:spPr/>
        <p:txBody>
          <a:bodyPr>
            <a:normAutofit/>
          </a:bodyPr>
          <a:lstStyle/>
          <a:p>
            <a:r>
              <a:rPr lang="en-US" dirty="0"/>
              <a:t>Because the default object assignment encounters the same problem as the default copy constructor, we might think that a programmer-defined copy constructor can be used to solve the problem caused by the default assignment, but this is not so.</a:t>
            </a:r>
          </a:p>
          <a:p>
            <a:r>
              <a:rPr lang="en-US" dirty="0"/>
              <a:t>Copy constructors only come into play when an object is being </a:t>
            </a:r>
            <a:r>
              <a:rPr lang="en-US" i="1" dirty="0">
                <a:solidFill>
                  <a:srgbClr val="FF0000"/>
                </a:solidFill>
              </a:rPr>
              <a:t>initialized</a:t>
            </a:r>
            <a:r>
              <a:rPr lang="en-US" dirty="0"/>
              <a:t> at creation time. </a:t>
            </a:r>
          </a:p>
          <a:p>
            <a:r>
              <a:rPr lang="en-US" dirty="0"/>
              <a:t>In particular, copy constructors are not called in an </a:t>
            </a:r>
            <a:r>
              <a:rPr lang="en-US" i="1" dirty="0">
                <a:solidFill>
                  <a:srgbClr val="FF0000"/>
                </a:solidFill>
              </a:rPr>
              <a:t>assignment</a:t>
            </a:r>
            <a:r>
              <a:rPr lang="en-US" dirty="0">
                <a:solidFill>
                  <a:srgbClr val="FF0000"/>
                </a:solidFill>
              </a:rPr>
              <a:t>.</a:t>
            </a:r>
            <a:endParaRPr lang="en-US" b="1" dirty="0">
              <a:solidFill>
                <a:srgbClr val="FF0000"/>
              </a:solidFill>
            </a:endParaRPr>
          </a:p>
        </p:txBody>
      </p:sp>
    </p:spTree>
    <p:extLst>
      <p:ext uri="{BB962C8B-B14F-4D97-AF65-F5344CB8AC3E}">
        <p14:creationId xmlns:p14="http://schemas.microsoft.com/office/powerpoint/2010/main" val="2756855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069D8-1665-6F22-4490-017A8A310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C36E2-FA03-4904-93F4-CB88239478A2}"/>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8318CCB8-4CD3-807B-7886-7606263114EA}"/>
              </a:ext>
            </a:extLst>
          </p:cNvPr>
          <p:cNvSpPr>
            <a:spLocks noGrp="1"/>
          </p:cNvSpPr>
          <p:nvPr>
            <p:ph idx="1"/>
          </p:nvPr>
        </p:nvSpPr>
        <p:spPr>
          <a:xfrm>
            <a:off x="838200" y="1825625"/>
            <a:ext cx="10515600" cy="4795308"/>
          </a:xfrm>
        </p:spPr>
        <p:txBody>
          <a:bodyPr>
            <a:normAutofit lnSpcReduction="10000"/>
          </a:bodyPr>
          <a:lstStyle/>
          <a:p>
            <a:r>
              <a:rPr lang="en-US" dirty="0"/>
              <a:t>To see the difference between initialization and assignment, suppose that the object first has already been created. </a:t>
            </a:r>
          </a:p>
          <a:p>
            <a:r>
              <a:rPr lang="en-US" dirty="0"/>
              <a:t>Then the statement - </a:t>
            </a:r>
          </a:p>
          <a:p>
            <a:pPr lvl="1"/>
            <a:r>
              <a:rPr lang="en-US" i="1" dirty="0" err="1">
                <a:solidFill>
                  <a:srgbClr val="FF0000"/>
                </a:solidFill>
              </a:rPr>
              <a:t>NumberArray</a:t>
            </a:r>
            <a:r>
              <a:rPr lang="en-US" i="1" dirty="0">
                <a:solidFill>
                  <a:srgbClr val="FF0000"/>
                </a:solidFill>
              </a:rPr>
              <a:t> second = first; </a:t>
            </a:r>
            <a:r>
              <a:rPr lang="en-US" i="1" dirty="0">
                <a:solidFill>
                  <a:schemeClr val="tx1">
                    <a:lumMod val="50000"/>
                    <a:lumOff val="50000"/>
                  </a:schemeClr>
                </a:solidFill>
                <a:effectLst/>
              </a:rPr>
              <a:t>// copy constructor called </a:t>
            </a:r>
          </a:p>
          <a:p>
            <a:r>
              <a:rPr lang="en-US" dirty="0"/>
              <a:t>which creates second and initializes it with the value of first, is an </a:t>
            </a:r>
            <a:r>
              <a:rPr lang="en-US" i="1" dirty="0"/>
              <a:t>initialization</a:t>
            </a:r>
            <a:r>
              <a:rPr lang="en-US" dirty="0"/>
              <a:t> and causes the copy constructor to be called to perform the initialization. </a:t>
            </a:r>
          </a:p>
          <a:p>
            <a:r>
              <a:rPr lang="en-US" dirty="0"/>
              <a:t>However, the statement – </a:t>
            </a:r>
          </a:p>
          <a:p>
            <a:pPr lvl="1"/>
            <a:r>
              <a:rPr lang="en-US" i="1" dirty="0">
                <a:solidFill>
                  <a:srgbClr val="FF0000"/>
                </a:solidFill>
              </a:rPr>
              <a:t>second = first; </a:t>
            </a:r>
            <a:r>
              <a:rPr lang="en-US" i="1" dirty="0">
                <a:solidFill>
                  <a:schemeClr val="tx1">
                    <a:lumMod val="50000"/>
                    <a:lumOff val="50000"/>
                  </a:schemeClr>
                </a:solidFill>
                <a:effectLst/>
              </a:rPr>
              <a:t>// copy constructor not called </a:t>
            </a:r>
          </a:p>
          <a:p>
            <a:r>
              <a:rPr lang="en-US" dirty="0"/>
              <a:t>which assumes that both objects have previously been created, is an </a:t>
            </a:r>
            <a:r>
              <a:rPr lang="en-US" i="1" dirty="0"/>
              <a:t>assignment</a:t>
            </a:r>
            <a:r>
              <a:rPr lang="en-US" dirty="0"/>
              <a:t>, and therefore no constructor is invoked.</a:t>
            </a:r>
            <a:endParaRPr lang="en-US" b="1" i="1" dirty="0">
              <a:solidFill>
                <a:srgbClr val="FF0000"/>
              </a:solidFill>
            </a:endParaRPr>
          </a:p>
        </p:txBody>
      </p:sp>
    </p:spTree>
    <p:extLst>
      <p:ext uri="{BB962C8B-B14F-4D97-AF65-F5344CB8AC3E}">
        <p14:creationId xmlns:p14="http://schemas.microsoft.com/office/powerpoint/2010/main" val="967508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C7A6B-D6C8-0F36-E7D8-C3AE0676C412}"/>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8DDE879C-4FD9-B89D-F8A6-1BA72AD5B77B}"/>
              </a:ext>
            </a:extLst>
          </p:cNvPr>
          <p:cNvSpPr>
            <a:spLocks noGrp="1"/>
          </p:cNvSpPr>
          <p:nvPr>
            <p:ph idx="1"/>
          </p:nvPr>
        </p:nvSpPr>
        <p:spPr/>
        <p:txBody>
          <a:bodyPr/>
          <a:lstStyle/>
          <a:p>
            <a:r>
              <a:rPr lang="en-US" dirty="0"/>
              <a:t>To address the problems that result from </a:t>
            </a:r>
            <a:r>
              <a:rPr lang="en-US" dirty="0" err="1"/>
              <a:t>memberwise</a:t>
            </a:r>
            <a:r>
              <a:rPr lang="en-US" dirty="0"/>
              <a:t> assignment of objects, we need to modify the behavior of the assignment operator so that it does something other than </a:t>
            </a:r>
            <a:r>
              <a:rPr lang="en-US" dirty="0" err="1"/>
              <a:t>memberwise</a:t>
            </a:r>
            <a:r>
              <a:rPr lang="en-US" dirty="0"/>
              <a:t> assignment when it is applied to objects of classes that have pointer members.</a:t>
            </a:r>
          </a:p>
          <a:p>
            <a:r>
              <a:rPr lang="en-US" dirty="0"/>
              <a:t>In effect we are supplying a different version of the assignment operator to be used for objects of that class. </a:t>
            </a:r>
          </a:p>
          <a:p>
            <a:r>
              <a:rPr lang="en-US" dirty="0"/>
              <a:t>In so doing, we say that we are </a:t>
            </a:r>
            <a:r>
              <a:rPr lang="en-US" dirty="0">
                <a:solidFill>
                  <a:srgbClr val="FF0000"/>
                </a:solidFill>
                <a:hlinkClick r:id="rId2">
                  <a:extLst>
                    <a:ext uri="{A12FA001-AC4F-418D-AE19-62706E023703}">
                      <ahyp:hlinkClr xmlns:ahyp="http://schemas.microsoft.com/office/drawing/2018/hyperlinkcolor" val="tx"/>
                    </a:ext>
                  </a:extLst>
                </a:hlinkClick>
              </a:rPr>
              <a:t>overloading</a:t>
            </a:r>
            <a:r>
              <a:rPr lang="en-US" dirty="0">
                <a:solidFill>
                  <a:srgbClr val="FF0000"/>
                </a:solidFill>
              </a:rPr>
              <a:t> </a:t>
            </a:r>
            <a:r>
              <a:rPr lang="en-US" dirty="0"/>
              <a:t>the assignment operator.</a:t>
            </a:r>
          </a:p>
        </p:txBody>
      </p:sp>
    </p:spTree>
    <p:extLst>
      <p:ext uri="{BB962C8B-B14F-4D97-AF65-F5344CB8AC3E}">
        <p14:creationId xmlns:p14="http://schemas.microsoft.com/office/powerpoint/2010/main" val="191362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6150B-A267-AFA5-AE42-AA556F36D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FE1C5-1A0D-7A97-9E24-C8A7D622FEC7}"/>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B0313173-4524-9EF4-3C36-D03F29CEAAE2}"/>
              </a:ext>
            </a:extLst>
          </p:cNvPr>
          <p:cNvSpPr>
            <a:spLocks noGrp="1"/>
          </p:cNvSpPr>
          <p:nvPr>
            <p:ph idx="1"/>
          </p:nvPr>
        </p:nvSpPr>
        <p:spPr>
          <a:xfrm>
            <a:off x="838200" y="1825625"/>
            <a:ext cx="3831771" cy="4351338"/>
          </a:xfrm>
        </p:spPr>
        <p:txBody>
          <a:bodyPr/>
          <a:lstStyle/>
          <a:p>
            <a:r>
              <a:rPr lang="en-US" dirty="0"/>
              <a:t>One way to overload the assignment operator for a given class is to define an </a:t>
            </a:r>
            <a:r>
              <a:rPr lang="en-US" b="1" dirty="0">
                <a:solidFill>
                  <a:srgbClr val="FF0000"/>
                </a:solidFill>
                <a:hlinkClick r:id="rId2">
                  <a:extLst>
                    <a:ext uri="{A12FA001-AC4F-418D-AE19-62706E023703}">
                      <ahyp:hlinkClr xmlns:ahyp="http://schemas.microsoft.com/office/drawing/2018/hyperlinkcolor" val="tx"/>
                    </a:ext>
                  </a:extLst>
                </a:hlinkClick>
              </a:rPr>
              <a:t>operator function</a:t>
            </a:r>
            <a:r>
              <a:rPr lang="en-US" dirty="0"/>
              <a:t> called operator= as a member function of the class</a:t>
            </a:r>
          </a:p>
        </p:txBody>
      </p:sp>
      <p:pic>
        <p:nvPicPr>
          <p:cNvPr id="4" name="Picture 3">
            <a:extLst>
              <a:ext uri="{FF2B5EF4-FFF2-40B4-BE49-F238E27FC236}">
                <a16:creationId xmlns:a16="http://schemas.microsoft.com/office/drawing/2014/main" id="{2F420CBA-BD8F-6658-FBBE-3FB2D021DF95}"/>
              </a:ext>
            </a:extLst>
          </p:cNvPr>
          <p:cNvPicPr>
            <a:picLocks noChangeAspect="1"/>
          </p:cNvPicPr>
          <p:nvPr/>
        </p:nvPicPr>
        <p:blipFill>
          <a:blip r:embed="rId3"/>
          <a:stretch>
            <a:fillRect/>
          </a:stretch>
        </p:blipFill>
        <p:spPr>
          <a:xfrm>
            <a:off x="5072264" y="1825625"/>
            <a:ext cx="6738736" cy="3700462"/>
          </a:xfrm>
          <a:prstGeom prst="rect">
            <a:avLst/>
          </a:prstGeom>
        </p:spPr>
      </p:pic>
    </p:spTree>
    <p:extLst>
      <p:ext uri="{BB962C8B-B14F-4D97-AF65-F5344CB8AC3E}">
        <p14:creationId xmlns:p14="http://schemas.microsoft.com/office/powerpoint/2010/main" val="3943094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06E2A-EEF2-6421-A3FD-84587E58B357}"/>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EBA3ADCC-B1E9-6358-33FC-A04843CE48B4}"/>
              </a:ext>
            </a:extLst>
          </p:cNvPr>
          <p:cNvSpPr>
            <a:spLocks noGrp="1"/>
          </p:cNvSpPr>
          <p:nvPr>
            <p:ph idx="1"/>
          </p:nvPr>
        </p:nvSpPr>
        <p:spPr/>
        <p:txBody>
          <a:bodyPr/>
          <a:lstStyle/>
          <a:p>
            <a:r>
              <a:rPr lang="en-US" dirty="0"/>
              <a:t>Let’s take a look at the function header, or prototype, before we look at how the operator function itself is implemented. </a:t>
            </a:r>
          </a:p>
        </p:txBody>
      </p:sp>
      <p:pic>
        <p:nvPicPr>
          <p:cNvPr id="4" name="Picture 3">
            <a:extLst>
              <a:ext uri="{FF2B5EF4-FFF2-40B4-BE49-F238E27FC236}">
                <a16:creationId xmlns:a16="http://schemas.microsoft.com/office/drawing/2014/main" id="{AC3C8299-1F25-2E30-0ED8-A8146EAD3383}"/>
              </a:ext>
            </a:extLst>
          </p:cNvPr>
          <p:cNvPicPr>
            <a:picLocks noChangeAspect="1"/>
          </p:cNvPicPr>
          <p:nvPr/>
        </p:nvPicPr>
        <p:blipFill>
          <a:blip r:embed="rId2"/>
          <a:stretch>
            <a:fillRect/>
          </a:stretch>
        </p:blipFill>
        <p:spPr>
          <a:xfrm>
            <a:off x="2755900" y="3206751"/>
            <a:ext cx="6680200" cy="1917700"/>
          </a:xfrm>
          <a:prstGeom prst="rect">
            <a:avLst/>
          </a:prstGeom>
        </p:spPr>
      </p:pic>
    </p:spTree>
    <p:extLst>
      <p:ext uri="{BB962C8B-B14F-4D97-AF65-F5344CB8AC3E}">
        <p14:creationId xmlns:p14="http://schemas.microsoft.com/office/powerpoint/2010/main" val="976150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C19B4-02D0-7456-F922-273D8DA05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93F8F8-235E-103C-F85F-6FA976F0C63F}"/>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82F8A4A1-B18B-44CC-7913-D8F90064D1B8}"/>
              </a:ext>
            </a:extLst>
          </p:cNvPr>
          <p:cNvSpPr>
            <a:spLocks noGrp="1"/>
          </p:cNvSpPr>
          <p:nvPr>
            <p:ph idx="1"/>
          </p:nvPr>
        </p:nvSpPr>
        <p:spPr/>
        <p:txBody>
          <a:bodyPr>
            <a:normAutofit/>
          </a:bodyPr>
          <a:lstStyle/>
          <a:p>
            <a:r>
              <a:rPr lang="en-US" dirty="0"/>
              <a:t>The name of the function is operator=. </a:t>
            </a:r>
          </a:p>
          <a:p>
            <a:r>
              <a:rPr lang="en-US" dirty="0"/>
              <a:t>Since the operator function is an instance member of a class, it can only be called through an object of the class. </a:t>
            </a:r>
          </a:p>
          <a:p>
            <a:r>
              <a:rPr lang="en-US" dirty="0"/>
              <a:t>The object of the class through which it is called is considered the </a:t>
            </a:r>
            <a:r>
              <a:rPr lang="en-US" dirty="0">
                <a:solidFill>
                  <a:srgbClr val="FF0000"/>
                </a:solidFill>
              </a:rPr>
              <a:t>left</a:t>
            </a:r>
            <a:r>
              <a:rPr lang="en-US" dirty="0"/>
              <a:t> operand of the assignment operator, while the parameter passed to the function is considered the </a:t>
            </a:r>
            <a:r>
              <a:rPr lang="en-US" dirty="0">
                <a:solidFill>
                  <a:srgbClr val="FF0000"/>
                </a:solidFill>
              </a:rPr>
              <a:t>right</a:t>
            </a:r>
            <a:r>
              <a:rPr lang="en-US" dirty="0"/>
              <a:t> operand of the assignment operator. </a:t>
            </a:r>
          </a:p>
        </p:txBody>
      </p:sp>
    </p:spTree>
    <p:extLst>
      <p:ext uri="{BB962C8B-B14F-4D97-AF65-F5344CB8AC3E}">
        <p14:creationId xmlns:p14="http://schemas.microsoft.com/office/powerpoint/2010/main" val="1578041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E5A41-7116-FB3D-C4F7-4F73CD437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AED3C5-885E-44D9-867E-F20792B288B6}"/>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B7C8088A-8E64-32D3-014F-1E08BD28DB4C}"/>
              </a:ext>
            </a:extLst>
          </p:cNvPr>
          <p:cNvSpPr>
            <a:spLocks noGrp="1"/>
          </p:cNvSpPr>
          <p:nvPr>
            <p:ph idx="1"/>
          </p:nvPr>
        </p:nvSpPr>
        <p:spPr/>
        <p:txBody>
          <a:bodyPr>
            <a:normAutofit lnSpcReduction="10000"/>
          </a:bodyPr>
          <a:lstStyle/>
          <a:p>
            <a:r>
              <a:rPr lang="en-US" dirty="0"/>
              <a:t>To illustrate, let us suppose that two objects, left and right, have been defined in a program</a:t>
            </a:r>
          </a:p>
          <a:p>
            <a:pPr lvl="1"/>
            <a:r>
              <a:rPr lang="en-US" i="1" dirty="0" err="1">
                <a:solidFill>
                  <a:srgbClr val="FF0000"/>
                </a:solidFill>
              </a:rPr>
              <a:t>NumberArray</a:t>
            </a:r>
            <a:r>
              <a:rPr lang="en-US" i="1" dirty="0">
                <a:solidFill>
                  <a:srgbClr val="FF0000"/>
                </a:solidFill>
              </a:rPr>
              <a:t> </a:t>
            </a:r>
            <a:r>
              <a:rPr lang="en-US" b="1" i="1" dirty="0">
                <a:solidFill>
                  <a:srgbClr val="FF0000"/>
                </a:solidFill>
                <a:effectLst/>
              </a:rPr>
              <a:t>left</a:t>
            </a:r>
            <a:r>
              <a:rPr lang="en-US" i="1" dirty="0">
                <a:solidFill>
                  <a:srgbClr val="FF0000"/>
                </a:solidFill>
              </a:rPr>
              <a:t>(</a:t>
            </a:r>
            <a:r>
              <a:rPr lang="en-US" i="1" dirty="0">
                <a:solidFill>
                  <a:srgbClr val="FF0000"/>
                </a:solidFill>
                <a:effectLst/>
              </a:rPr>
              <a:t>3</a:t>
            </a:r>
            <a:r>
              <a:rPr lang="en-US" i="1" dirty="0">
                <a:solidFill>
                  <a:srgbClr val="FF0000"/>
                </a:solidFill>
              </a:rPr>
              <a:t>,</a:t>
            </a:r>
            <a:r>
              <a:rPr lang="en-US" i="1" dirty="0">
                <a:solidFill>
                  <a:srgbClr val="FF0000"/>
                </a:solidFill>
                <a:effectLst/>
              </a:rPr>
              <a:t>10.5</a:t>
            </a:r>
            <a:r>
              <a:rPr lang="en-US" i="1" dirty="0">
                <a:solidFill>
                  <a:srgbClr val="FF0000"/>
                </a:solidFill>
              </a:rPr>
              <a:t>); </a:t>
            </a:r>
          </a:p>
          <a:p>
            <a:pPr lvl="1"/>
            <a:r>
              <a:rPr lang="en-US" i="1" dirty="0" err="1">
                <a:solidFill>
                  <a:srgbClr val="FF0000"/>
                </a:solidFill>
              </a:rPr>
              <a:t>NumberArray</a:t>
            </a:r>
            <a:r>
              <a:rPr lang="en-US" i="1" dirty="0">
                <a:solidFill>
                  <a:srgbClr val="FF0000"/>
                </a:solidFill>
              </a:rPr>
              <a:t> </a:t>
            </a:r>
            <a:r>
              <a:rPr lang="en-US" b="1" i="1" dirty="0">
                <a:solidFill>
                  <a:srgbClr val="FF0000"/>
                </a:solidFill>
                <a:effectLst/>
              </a:rPr>
              <a:t>right</a:t>
            </a:r>
            <a:r>
              <a:rPr lang="en-US" i="1" dirty="0">
                <a:solidFill>
                  <a:srgbClr val="FF0000"/>
                </a:solidFill>
              </a:rPr>
              <a:t>(</a:t>
            </a:r>
            <a:r>
              <a:rPr lang="en-US" i="1" dirty="0">
                <a:solidFill>
                  <a:srgbClr val="FF0000"/>
                </a:solidFill>
                <a:effectLst/>
              </a:rPr>
              <a:t>5</a:t>
            </a:r>
            <a:r>
              <a:rPr lang="en-US" i="1" dirty="0">
                <a:solidFill>
                  <a:srgbClr val="FF0000"/>
                </a:solidFill>
              </a:rPr>
              <a:t>, </a:t>
            </a:r>
            <a:r>
              <a:rPr lang="en-US" i="1" dirty="0">
                <a:solidFill>
                  <a:srgbClr val="FF0000"/>
                </a:solidFill>
                <a:effectLst/>
              </a:rPr>
              <a:t>20.5</a:t>
            </a:r>
            <a:r>
              <a:rPr lang="en-US" i="1" dirty="0">
                <a:solidFill>
                  <a:srgbClr val="FF0000"/>
                </a:solidFill>
              </a:rPr>
              <a:t>); </a:t>
            </a:r>
          </a:p>
          <a:p>
            <a:r>
              <a:rPr lang="en-US" dirty="0"/>
              <a:t>To assign the value of right to left, we call the member function operator= through the left object, and pass it the right object as parameter: </a:t>
            </a:r>
          </a:p>
          <a:p>
            <a:pPr lvl="1"/>
            <a:r>
              <a:rPr lang="en-US" i="1" dirty="0" err="1">
                <a:solidFill>
                  <a:srgbClr val="FF0000"/>
                </a:solidFill>
              </a:rPr>
              <a:t>left.</a:t>
            </a:r>
            <a:r>
              <a:rPr lang="en-US" b="1" i="1" dirty="0" err="1">
                <a:solidFill>
                  <a:srgbClr val="FF0000"/>
                </a:solidFill>
                <a:effectLst/>
              </a:rPr>
              <a:t>operator</a:t>
            </a:r>
            <a:r>
              <a:rPr lang="en-US" i="1" dirty="0">
                <a:solidFill>
                  <a:srgbClr val="FF0000"/>
                </a:solidFill>
              </a:rPr>
              <a:t>=(right); </a:t>
            </a:r>
          </a:p>
          <a:p>
            <a:r>
              <a:rPr lang="en-US" dirty="0"/>
              <a:t>While you can call operator functions this way, the compiler will also let you use the more conventional notation</a:t>
            </a:r>
          </a:p>
          <a:p>
            <a:pPr lvl="1"/>
            <a:r>
              <a:rPr lang="en-US" i="1" dirty="0">
                <a:solidFill>
                  <a:srgbClr val="FF0000"/>
                </a:solidFill>
              </a:rPr>
              <a:t>left = right; </a:t>
            </a:r>
          </a:p>
        </p:txBody>
      </p:sp>
    </p:spTree>
    <p:extLst>
      <p:ext uri="{BB962C8B-B14F-4D97-AF65-F5344CB8AC3E}">
        <p14:creationId xmlns:p14="http://schemas.microsoft.com/office/powerpoint/2010/main" val="1233274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AF5B3-2E83-F69E-1BB3-027FA61A5C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AA4F1-A2F3-D220-91E8-EC2D06C205D1}"/>
              </a:ext>
            </a:extLst>
          </p:cNvPr>
          <p:cNvSpPr>
            <a:spLocks noGrp="1"/>
          </p:cNvSpPr>
          <p:nvPr>
            <p:ph type="title"/>
          </p:nvPr>
        </p:nvSpPr>
        <p:spPr/>
        <p:txBody>
          <a:bodyPr/>
          <a:lstStyle/>
          <a:p>
            <a:r>
              <a:rPr lang="en-US" dirty="0"/>
              <a:t>Operator Overloading</a:t>
            </a:r>
          </a:p>
        </p:txBody>
      </p:sp>
      <p:sp>
        <p:nvSpPr>
          <p:cNvPr id="3" name="Content Placeholder 2">
            <a:extLst>
              <a:ext uri="{FF2B5EF4-FFF2-40B4-BE49-F238E27FC236}">
                <a16:creationId xmlns:a16="http://schemas.microsoft.com/office/drawing/2014/main" id="{6C0FC40E-0E24-69A3-E086-569D06C14A0E}"/>
              </a:ext>
            </a:extLst>
          </p:cNvPr>
          <p:cNvSpPr>
            <a:spLocks noGrp="1"/>
          </p:cNvSpPr>
          <p:nvPr>
            <p:ph idx="1"/>
          </p:nvPr>
        </p:nvSpPr>
        <p:spPr/>
        <p:txBody>
          <a:bodyPr>
            <a:normAutofit/>
          </a:bodyPr>
          <a:lstStyle/>
          <a:p>
            <a:r>
              <a:rPr lang="en-US" dirty="0"/>
              <a:t>Parameters to operator functions do not have to be passed by reference, nor do they have to be declared const. </a:t>
            </a:r>
          </a:p>
          <a:p>
            <a:r>
              <a:rPr lang="en-US" dirty="0"/>
              <a:t>In the example, we have used a reference parameter for efficiency reasons: 	</a:t>
            </a:r>
          </a:p>
          <a:p>
            <a:pPr lvl="1"/>
            <a:r>
              <a:rPr lang="en-US" dirty="0"/>
              <a:t>Reference parameters avoid the overhead of copying the object being passed as parameter. </a:t>
            </a:r>
          </a:p>
          <a:p>
            <a:pPr lvl="1"/>
            <a:r>
              <a:rPr lang="en-US" dirty="0"/>
              <a:t>The const is used to protect the parameter from change.</a:t>
            </a:r>
            <a:endParaRPr lang="en-US" i="1" dirty="0">
              <a:solidFill>
                <a:srgbClr val="FF0000"/>
              </a:solidFill>
            </a:endParaRPr>
          </a:p>
        </p:txBody>
      </p:sp>
    </p:spTree>
    <p:extLst>
      <p:ext uri="{BB962C8B-B14F-4D97-AF65-F5344CB8AC3E}">
        <p14:creationId xmlns:p14="http://schemas.microsoft.com/office/powerpoint/2010/main" val="1995017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DB648-E0A1-6C78-9F05-2E8257CFB874}"/>
              </a:ext>
            </a:extLst>
          </p:cNvPr>
          <p:cNvSpPr>
            <a:spLocks noGrp="1"/>
          </p:cNvSpPr>
          <p:nvPr>
            <p:ph type="title"/>
          </p:nvPr>
        </p:nvSpPr>
        <p:spPr/>
        <p:txBody>
          <a:bodyPr/>
          <a:lstStyle/>
          <a:p>
            <a:r>
              <a:rPr lang="en-US" dirty="0"/>
              <a:t>Implementation of the Class Assignment Operator</a:t>
            </a:r>
          </a:p>
        </p:txBody>
      </p:sp>
      <p:sp>
        <p:nvSpPr>
          <p:cNvPr id="3" name="Content Placeholder 2">
            <a:extLst>
              <a:ext uri="{FF2B5EF4-FFF2-40B4-BE49-F238E27FC236}">
                <a16:creationId xmlns:a16="http://schemas.microsoft.com/office/drawing/2014/main" id="{78698B4E-39F1-3991-977A-9872329064FC}"/>
              </a:ext>
            </a:extLst>
          </p:cNvPr>
          <p:cNvSpPr>
            <a:spLocks noGrp="1"/>
          </p:cNvSpPr>
          <p:nvPr>
            <p:ph idx="1"/>
          </p:nvPr>
        </p:nvSpPr>
        <p:spPr/>
        <p:txBody>
          <a:bodyPr/>
          <a:lstStyle/>
          <a:p>
            <a:r>
              <a:rPr lang="en-US" dirty="0"/>
              <a:t>Let us now consider the implementation of assignment operator. First notice that there is no need to do any copying if a statement such as </a:t>
            </a:r>
            <a:r>
              <a:rPr lang="en-US" i="1" dirty="0">
                <a:solidFill>
                  <a:srgbClr val="FF0000"/>
                </a:solidFill>
              </a:rPr>
              <a:t>x = x; </a:t>
            </a:r>
          </a:p>
          <a:p>
            <a:r>
              <a:rPr lang="en-US" dirty="0"/>
              <a:t>It is resulting in an object being assigned to itself.</a:t>
            </a:r>
          </a:p>
          <a:p>
            <a:r>
              <a:rPr lang="en-US" dirty="0"/>
              <a:t>We can test for this possibility by checking that the address this of the object on the left side of the assignment is different from the address of the object on the right side like this:</a:t>
            </a:r>
          </a:p>
          <a:p>
            <a:pPr lvl="1"/>
            <a:r>
              <a:rPr lang="en-US" b="1" i="1" dirty="0">
                <a:solidFill>
                  <a:srgbClr val="FF0000"/>
                </a:solidFill>
                <a:effectLst/>
              </a:rPr>
              <a:t>if</a:t>
            </a:r>
            <a:r>
              <a:rPr lang="en-US" i="1" dirty="0">
                <a:solidFill>
                  <a:srgbClr val="FF0000"/>
                </a:solidFill>
              </a:rPr>
              <a:t>(</a:t>
            </a:r>
            <a:r>
              <a:rPr lang="en-US" b="1" i="1" dirty="0">
                <a:solidFill>
                  <a:srgbClr val="FF0000"/>
                </a:solidFill>
                <a:effectLst/>
              </a:rPr>
              <a:t>this</a:t>
            </a:r>
            <a:r>
              <a:rPr lang="en-US" i="1" dirty="0">
                <a:solidFill>
                  <a:srgbClr val="FF0000"/>
                </a:solidFill>
              </a:rPr>
              <a:t> != &amp;right) { </a:t>
            </a:r>
            <a:r>
              <a:rPr lang="en-US" i="1" dirty="0">
                <a:solidFill>
                  <a:srgbClr val="FF0000"/>
                </a:solidFill>
                <a:effectLst/>
              </a:rPr>
              <a:t>/* copy the object …*/</a:t>
            </a:r>
            <a:r>
              <a:rPr lang="en-US" i="1" dirty="0">
                <a:solidFill>
                  <a:srgbClr val="FF0000"/>
                </a:solidFill>
              </a:rPr>
              <a:t> } </a:t>
            </a:r>
          </a:p>
        </p:txBody>
      </p:sp>
    </p:spTree>
    <p:extLst>
      <p:ext uri="{BB962C8B-B14F-4D97-AF65-F5344CB8AC3E}">
        <p14:creationId xmlns:p14="http://schemas.microsoft.com/office/powerpoint/2010/main" val="4250751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91510-DD7D-9456-EFD0-294CEA0456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89A354-523D-6F4E-4C6A-5B1CB33A6AC7}"/>
              </a:ext>
            </a:extLst>
          </p:cNvPr>
          <p:cNvSpPr>
            <a:spLocks noGrp="1"/>
          </p:cNvSpPr>
          <p:nvPr>
            <p:ph type="title"/>
          </p:nvPr>
        </p:nvSpPr>
        <p:spPr/>
        <p:txBody>
          <a:bodyPr/>
          <a:lstStyle/>
          <a:p>
            <a:r>
              <a:rPr lang="en-US" dirty="0"/>
              <a:t>Implementation of the Class Assignment Operator</a:t>
            </a:r>
          </a:p>
        </p:txBody>
      </p:sp>
      <p:sp>
        <p:nvSpPr>
          <p:cNvPr id="3" name="Content Placeholder 2">
            <a:extLst>
              <a:ext uri="{FF2B5EF4-FFF2-40B4-BE49-F238E27FC236}">
                <a16:creationId xmlns:a16="http://schemas.microsoft.com/office/drawing/2014/main" id="{8C99CF75-4708-8D68-7966-7965DB02A6C0}"/>
              </a:ext>
            </a:extLst>
          </p:cNvPr>
          <p:cNvSpPr>
            <a:spLocks noGrp="1"/>
          </p:cNvSpPr>
          <p:nvPr>
            <p:ph idx="1"/>
          </p:nvPr>
        </p:nvSpPr>
        <p:spPr>
          <a:xfrm>
            <a:off x="838200" y="1825625"/>
            <a:ext cx="6036733" cy="4351338"/>
          </a:xfrm>
        </p:spPr>
        <p:txBody>
          <a:bodyPr>
            <a:normAutofit lnSpcReduction="10000"/>
          </a:bodyPr>
          <a:lstStyle/>
          <a:p>
            <a:r>
              <a:rPr lang="en-US" dirty="0"/>
              <a:t>The assignment operator function starts by deleting the memory allocated to pointers in the object being assigned to. </a:t>
            </a:r>
          </a:p>
          <a:p>
            <a:r>
              <a:rPr lang="en-US" dirty="0"/>
              <a:t>After that, it makes a copy of the other object in much the same way as the copy constructor for the class. </a:t>
            </a:r>
          </a:p>
          <a:p>
            <a:r>
              <a:rPr lang="en-US" dirty="0"/>
              <a:t>The last act of the function is to return (by reference) the object *this on the left side of the assignment.</a:t>
            </a:r>
            <a:endParaRPr lang="en-US" i="1" dirty="0">
              <a:solidFill>
                <a:srgbClr val="FF0000"/>
              </a:solidFill>
            </a:endParaRPr>
          </a:p>
        </p:txBody>
      </p:sp>
      <p:pic>
        <p:nvPicPr>
          <p:cNvPr id="4" name="Picture 3">
            <a:extLst>
              <a:ext uri="{FF2B5EF4-FFF2-40B4-BE49-F238E27FC236}">
                <a16:creationId xmlns:a16="http://schemas.microsoft.com/office/drawing/2014/main" id="{D1A9DAD8-E427-B267-8212-D1CC0FDC9A7C}"/>
              </a:ext>
            </a:extLst>
          </p:cNvPr>
          <p:cNvPicPr>
            <a:picLocks noChangeAspect="1"/>
          </p:cNvPicPr>
          <p:nvPr/>
        </p:nvPicPr>
        <p:blipFill>
          <a:blip r:embed="rId2"/>
          <a:stretch>
            <a:fillRect/>
          </a:stretch>
        </p:blipFill>
        <p:spPr>
          <a:xfrm>
            <a:off x="6955977" y="1901824"/>
            <a:ext cx="4973555" cy="3933825"/>
          </a:xfrm>
          <a:prstGeom prst="rect">
            <a:avLst/>
          </a:prstGeom>
        </p:spPr>
      </p:pic>
    </p:spTree>
    <p:extLst>
      <p:ext uri="{BB962C8B-B14F-4D97-AF65-F5344CB8AC3E}">
        <p14:creationId xmlns:p14="http://schemas.microsoft.com/office/powerpoint/2010/main" val="1061681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A4722-0552-4231-1242-55C0914CB228}"/>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B8B493E4-5ADC-9392-F9C6-A513B8F62B7F}"/>
              </a:ext>
            </a:extLst>
          </p:cNvPr>
          <p:cNvPicPr>
            <a:picLocks noChangeAspect="1"/>
          </p:cNvPicPr>
          <p:nvPr/>
        </p:nvPicPr>
        <p:blipFill>
          <a:blip r:embed="rId2"/>
          <a:stretch>
            <a:fillRect/>
          </a:stretch>
        </p:blipFill>
        <p:spPr>
          <a:xfrm>
            <a:off x="0" y="1690688"/>
            <a:ext cx="3807540" cy="3736445"/>
          </a:xfrm>
          <a:prstGeom prst="rect">
            <a:avLst/>
          </a:prstGeom>
        </p:spPr>
      </p:pic>
      <p:pic>
        <p:nvPicPr>
          <p:cNvPr id="5" name="Picture 4">
            <a:extLst>
              <a:ext uri="{FF2B5EF4-FFF2-40B4-BE49-F238E27FC236}">
                <a16:creationId xmlns:a16="http://schemas.microsoft.com/office/drawing/2014/main" id="{050E5E12-6EA1-A284-355C-6578A0F1E267}"/>
              </a:ext>
            </a:extLst>
          </p:cNvPr>
          <p:cNvPicPr>
            <a:picLocks noChangeAspect="1"/>
          </p:cNvPicPr>
          <p:nvPr/>
        </p:nvPicPr>
        <p:blipFill>
          <a:blip r:embed="rId3"/>
          <a:stretch>
            <a:fillRect/>
          </a:stretch>
        </p:blipFill>
        <p:spPr>
          <a:xfrm>
            <a:off x="3939616" y="0"/>
            <a:ext cx="3940233" cy="6858000"/>
          </a:xfrm>
          <a:prstGeom prst="rect">
            <a:avLst/>
          </a:prstGeom>
        </p:spPr>
      </p:pic>
      <p:pic>
        <p:nvPicPr>
          <p:cNvPr id="6" name="Picture 5">
            <a:extLst>
              <a:ext uri="{FF2B5EF4-FFF2-40B4-BE49-F238E27FC236}">
                <a16:creationId xmlns:a16="http://schemas.microsoft.com/office/drawing/2014/main" id="{C7B26546-E6F2-C63B-2E45-8D0CC6C5B339}"/>
              </a:ext>
            </a:extLst>
          </p:cNvPr>
          <p:cNvPicPr>
            <a:picLocks noChangeAspect="1"/>
          </p:cNvPicPr>
          <p:nvPr/>
        </p:nvPicPr>
        <p:blipFill>
          <a:blip r:embed="rId4"/>
          <a:stretch>
            <a:fillRect/>
          </a:stretch>
        </p:blipFill>
        <p:spPr>
          <a:xfrm>
            <a:off x="8039100" y="812800"/>
            <a:ext cx="4152900" cy="5537200"/>
          </a:xfrm>
          <a:prstGeom prst="rect">
            <a:avLst/>
          </a:prstGeom>
        </p:spPr>
      </p:pic>
    </p:spTree>
    <p:extLst>
      <p:ext uri="{BB962C8B-B14F-4D97-AF65-F5344CB8AC3E}">
        <p14:creationId xmlns:p14="http://schemas.microsoft.com/office/powerpoint/2010/main" val="222280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61127-1A9E-D738-630B-127B20F20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C7316-0AC7-E9E2-11C4-5E8871BB1ACE}"/>
              </a:ext>
            </a:extLst>
          </p:cNvPr>
          <p:cNvSpPr>
            <a:spLocks noGrp="1"/>
          </p:cNvSpPr>
          <p:nvPr>
            <p:ph type="title"/>
          </p:nvPr>
        </p:nvSpPr>
        <p:spPr/>
        <p:txBody>
          <a:bodyPr/>
          <a:lstStyle/>
          <a:p>
            <a:r>
              <a:rPr lang="en-US" dirty="0"/>
              <a:t>Example</a:t>
            </a:r>
          </a:p>
        </p:txBody>
      </p:sp>
      <p:pic>
        <p:nvPicPr>
          <p:cNvPr id="3" name="Picture 2">
            <a:extLst>
              <a:ext uri="{FF2B5EF4-FFF2-40B4-BE49-F238E27FC236}">
                <a16:creationId xmlns:a16="http://schemas.microsoft.com/office/drawing/2014/main" id="{1D7DF7FB-8E35-0622-5FCB-1F6FCB96E712}"/>
              </a:ext>
            </a:extLst>
          </p:cNvPr>
          <p:cNvPicPr>
            <a:picLocks noChangeAspect="1"/>
          </p:cNvPicPr>
          <p:nvPr/>
        </p:nvPicPr>
        <p:blipFill>
          <a:blip r:embed="rId2"/>
          <a:stretch>
            <a:fillRect/>
          </a:stretch>
        </p:blipFill>
        <p:spPr>
          <a:xfrm>
            <a:off x="3314751" y="0"/>
            <a:ext cx="4495698" cy="6858000"/>
          </a:xfrm>
          <a:prstGeom prst="rect">
            <a:avLst/>
          </a:prstGeom>
        </p:spPr>
      </p:pic>
      <p:pic>
        <p:nvPicPr>
          <p:cNvPr id="7" name="Picture 6">
            <a:extLst>
              <a:ext uri="{FF2B5EF4-FFF2-40B4-BE49-F238E27FC236}">
                <a16:creationId xmlns:a16="http://schemas.microsoft.com/office/drawing/2014/main" id="{0EE59CA3-1AC5-9DAF-4F5E-97B738A452E9}"/>
              </a:ext>
            </a:extLst>
          </p:cNvPr>
          <p:cNvPicPr>
            <a:picLocks noChangeAspect="1"/>
          </p:cNvPicPr>
          <p:nvPr/>
        </p:nvPicPr>
        <p:blipFill>
          <a:blip r:embed="rId3"/>
          <a:stretch>
            <a:fillRect/>
          </a:stretch>
        </p:blipFill>
        <p:spPr>
          <a:xfrm>
            <a:off x="8134352" y="3064934"/>
            <a:ext cx="4057648" cy="1714499"/>
          </a:xfrm>
          <a:prstGeom prst="rect">
            <a:avLst/>
          </a:prstGeom>
        </p:spPr>
      </p:pic>
    </p:spTree>
    <p:extLst>
      <p:ext uri="{BB962C8B-B14F-4D97-AF65-F5344CB8AC3E}">
        <p14:creationId xmlns:p14="http://schemas.microsoft.com/office/powerpoint/2010/main" val="3694545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263A-911D-DD0E-DD0E-52AD4493640F}"/>
              </a:ext>
            </a:extLst>
          </p:cNvPr>
          <p:cNvSpPr>
            <a:spLocks noGrp="1"/>
          </p:cNvSpPr>
          <p:nvPr>
            <p:ph type="title"/>
          </p:nvPr>
        </p:nvSpPr>
        <p:spPr/>
        <p:txBody>
          <a:bodyPr/>
          <a:lstStyle/>
          <a:p>
            <a:r>
              <a:rPr lang="en-US" dirty="0"/>
              <a:t>Overloading Other Operators</a:t>
            </a:r>
          </a:p>
        </p:txBody>
      </p:sp>
      <p:sp>
        <p:nvSpPr>
          <p:cNvPr id="3" name="Content Placeholder 2">
            <a:extLst>
              <a:ext uri="{FF2B5EF4-FFF2-40B4-BE49-F238E27FC236}">
                <a16:creationId xmlns:a16="http://schemas.microsoft.com/office/drawing/2014/main" id="{7ED8DDE5-A962-831E-66DB-35F34EAF2A97}"/>
              </a:ext>
            </a:extLst>
          </p:cNvPr>
          <p:cNvSpPr>
            <a:spLocks noGrp="1"/>
          </p:cNvSpPr>
          <p:nvPr>
            <p:ph idx="1"/>
          </p:nvPr>
        </p:nvSpPr>
        <p:spPr/>
        <p:txBody>
          <a:bodyPr/>
          <a:lstStyle/>
          <a:p>
            <a:r>
              <a:rPr lang="en-US" dirty="0"/>
              <a:t>C++ allows the programmer to overload other operators besides assignment. </a:t>
            </a:r>
          </a:p>
          <a:p>
            <a:r>
              <a:rPr lang="en-US" dirty="0"/>
              <a:t>There are many times when it is natural to overload some of C++’s built-in operators to make them work with classes that the programmer has defined</a:t>
            </a:r>
          </a:p>
          <a:p>
            <a:r>
              <a:rPr lang="en-US" dirty="0"/>
              <a:t>Let’s look at an example</a:t>
            </a:r>
          </a:p>
        </p:txBody>
      </p:sp>
    </p:spTree>
    <p:extLst>
      <p:ext uri="{BB962C8B-B14F-4D97-AF65-F5344CB8AC3E}">
        <p14:creationId xmlns:p14="http://schemas.microsoft.com/office/powerpoint/2010/main" val="3170306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F2C59-0344-60C6-4533-EE33F1815342}"/>
              </a:ext>
            </a:extLst>
          </p:cNvPr>
          <p:cNvSpPr>
            <a:spLocks noGrp="1"/>
          </p:cNvSpPr>
          <p:nvPr>
            <p:ph type="title"/>
          </p:nvPr>
        </p:nvSpPr>
        <p:spPr/>
        <p:txBody>
          <a:bodyPr/>
          <a:lstStyle/>
          <a:p>
            <a:r>
              <a:rPr lang="en-US" dirty="0"/>
              <a:t>Overloading Other Operators</a:t>
            </a:r>
          </a:p>
        </p:txBody>
      </p:sp>
      <p:sp>
        <p:nvSpPr>
          <p:cNvPr id="3" name="Content Placeholder 2">
            <a:extLst>
              <a:ext uri="{FF2B5EF4-FFF2-40B4-BE49-F238E27FC236}">
                <a16:creationId xmlns:a16="http://schemas.microsoft.com/office/drawing/2014/main" id="{11149F8C-2C5C-AC08-1968-BA4578D32AB9}"/>
              </a:ext>
            </a:extLst>
          </p:cNvPr>
          <p:cNvSpPr>
            <a:spLocks noGrp="1"/>
          </p:cNvSpPr>
          <p:nvPr>
            <p:ph idx="1"/>
          </p:nvPr>
        </p:nvSpPr>
        <p:spPr/>
        <p:txBody>
          <a:bodyPr/>
          <a:lstStyle/>
          <a:p>
            <a:r>
              <a:rPr lang="en-US" dirty="0"/>
              <a:t>Assume that a class named Date exists and that objects of the Date class hold the day, month, and year in member variables.</a:t>
            </a:r>
          </a:p>
          <a:p>
            <a:r>
              <a:rPr lang="en-US" dirty="0"/>
              <a:t>Suppose the Date class has a member function named </a:t>
            </a:r>
            <a:r>
              <a:rPr lang="en-US" dirty="0">
                <a:solidFill>
                  <a:srgbClr val="FF0000"/>
                </a:solidFill>
              </a:rPr>
              <a:t>add. </a:t>
            </a:r>
            <a:r>
              <a:rPr lang="en-US" dirty="0"/>
              <a:t>The add member function adds a number of days to the date and adjusts the member variables if the date goes to another month or year. </a:t>
            </a:r>
          </a:p>
          <a:p>
            <a:r>
              <a:rPr lang="en-US" dirty="0"/>
              <a:t>For example, the following statement adds five days to the date stored in the today object:</a:t>
            </a:r>
          </a:p>
          <a:p>
            <a:pPr lvl="1"/>
            <a:r>
              <a:rPr lang="en-US" i="1" dirty="0" err="1">
                <a:solidFill>
                  <a:srgbClr val="FF0000"/>
                </a:solidFill>
              </a:rPr>
              <a:t>today.</a:t>
            </a:r>
            <a:r>
              <a:rPr lang="en-US" i="1" dirty="0" err="1">
                <a:solidFill>
                  <a:srgbClr val="FF0000"/>
                </a:solidFill>
                <a:effectLst/>
              </a:rPr>
              <a:t>add</a:t>
            </a:r>
            <a:r>
              <a:rPr lang="en-US" i="1" dirty="0">
                <a:solidFill>
                  <a:srgbClr val="FF0000"/>
                </a:solidFill>
              </a:rPr>
              <a:t>(</a:t>
            </a:r>
            <a:r>
              <a:rPr lang="en-US" i="1" dirty="0">
                <a:solidFill>
                  <a:srgbClr val="FF0000"/>
                </a:solidFill>
                <a:effectLst/>
              </a:rPr>
              <a:t>5</a:t>
            </a:r>
            <a:r>
              <a:rPr lang="en-US" i="1" dirty="0">
                <a:solidFill>
                  <a:srgbClr val="FF0000"/>
                </a:solidFill>
              </a:rPr>
              <a:t>); </a:t>
            </a:r>
          </a:p>
        </p:txBody>
      </p:sp>
    </p:spTree>
    <p:extLst>
      <p:ext uri="{BB962C8B-B14F-4D97-AF65-F5344CB8AC3E}">
        <p14:creationId xmlns:p14="http://schemas.microsoft.com/office/powerpoint/2010/main" val="3712327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93080-9679-A009-491B-508A52ED990B}"/>
              </a:ext>
            </a:extLst>
          </p:cNvPr>
          <p:cNvSpPr>
            <a:spLocks noGrp="1"/>
          </p:cNvSpPr>
          <p:nvPr>
            <p:ph type="title"/>
          </p:nvPr>
        </p:nvSpPr>
        <p:spPr/>
        <p:txBody>
          <a:bodyPr/>
          <a:lstStyle/>
          <a:p>
            <a:r>
              <a:rPr lang="en-US" dirty="0"/>
              <a:t>Overloading Other Operators</a:t>
            </a:r>
          </a:p>
        </p:txBody>
      </p:sp>
      <p:sp>
        <p:nvSpPr>
          <p:cNvPr id="3" name="Content Placeholder 2">
            <a:extLst>
              <a:ext uri="{FF2B5EF4-FFF2-40B4-BE49-F238E27FC236}">
                <a16:creationId xmlns:a16="http://schemas.microsoft.com/office/drawing/2014/main" id="{DD0E8B17-F8C8-CF16-47D3-886C924E3F20}"/>
              </a:ext>
            </a:extLst>
          </p:cNvPr>
          <p:cNvSpPr>
            <a:spLocks noGrp="1"/>
          </p:cNvSpPr>
          <p:nvPr>
            <p:ph idx="1"/>
          </p:nvPr>
        </p:nvSpPr>
        <p:spPr/>
        <p:txBody>
          <a:bodyPr/>
          <a:lstStyle/>
          <a:p>
            <a:r>
              <a:rPr lang="en-US" dirty="0"/>
              <a:t>Although it might be obvious that the statement is adding five days to the date stored in today, the use of an operator might be more intuitive. </a:t>
            </a:r>
          </a:p>
          <a:p>
            <a:r>
              <a:rPr lang="en-US" dirty="0"/>
              <a:t>For example, look at the following statement:</a:t>
            </a:r>
          </a:p>
          <a:p>
            <a:pPr lvl="1"/>
            <a:r>
              <a:rPr lang="en-US" i="1" dirty="0">
                <a:solidFill>
                  <a:srgbClr val="FF0000"/>
                </a:solidFill>
              </a:rPr>
              <a:t>today += </a:t>
            </a:r>
            <a:r>
              <a:rPr lang="en-US" i="1" dirty="0">
                <a:solidFill>
                  <a:srgbClr val="FF0000"/>
                </a:solidFill>
                <a:effectLst/>
              </a:rPr>
              <a:t>5</a:t>
            </a:r>
            <a:r>
              <a:rPr lang="en-US" i="1" dirty="0">
                <a:solidFill>
                  <a:srgbClr val="FF0000"/>
                </a:solidFill>
              </a:rPr>
              <a:t>; </a:t>
            </a:r>
          </a:p>
          <a:p>
            <a:endParaRPr lang="en-US" dirty="0"/>
          </a:p>
          <a:p>
            <a:r>
              <a:rPr lang="en-US" dirty="0"/>
              <a:t>This statement uses the standard += operator to add 5 to today.</a:t>
            </a:r>
          </a:p>
          <a:p>
            <a:r>
              <a:rPr lang="en-US" dirty="0"/>
              <a:t>This behavior does not happen automatically, however. </a:t>
            </a:r>
          </a:p>
          <a:p>
            <a:r>
              <a:rPr lang="en-US" dirty="0"/>
              <a:t>The += operator must be overloaded for this action to occur.</a:t>
            </a:r>
          </a:p>
        </p:txBody>
      </p:sp>
    </p:spTree>
    <p:extLst>
      <p:ext uri="{BB962C8B-B14F-4D97-AF65-F5344CB8AC3E}">
        <p14:creationId xmlns:p14="http://schemas.microsoft.com/office/powerpoint/2010/main" val="26703162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F43B7-65C3-0625-0B6F-1979CB05FE1D}"/>
              </a:ext>
            </a:extLst>
          </p:cNvPr>
          <p:cNvSpPr>
            <a:spLocks noGrp="1"/>
          </p:cNvSpPr>
          <p:nvPr>
            <p:ph type="title"/>
          </p:nvPr>
        </p:nvSpPr>
        <p:spPr/>
        <p:txBody>
          <a:bodyPr/>
          <a:lstStyle/>
          <a:p>
            <a:r>
              <a:rPr lang="en-US" dirty="0"/>
              <a:t>General Issues of Operator Overloading</a:t>
            </a:r>
          </a:p>
        </p:txBody>
      </p:sp>
      <p:sp>
        <p:nvSpPr>
          <p:cNvPr id="3" name="Content Placeholder 2">
            <a:extLst>
              <a:ext uri="{FF2B5EF4-FFF2-40B4-BE49-F238E27FC236}">
                <a16:creationId xmlns:a16="http://schemas.microsoft.com/office/drawing/2014/main" id="{F933E05C-FC53-B2FE-BB76-F749222C3D72}"/>
              </a:ext>
            </a:extLst>
          </p:cNvPr>
          <p:cNvSpPr>
            <a:spLocks noGrp="1"/>
          </p:cNvSpPr>
          <p:nvPr>
            <p:ph idx="1"/>
          </p:nvPr>
        </p:nvSpPr>
        <p:spPr>
          <a:xfrm>
            <a:off x="838200" y="1825625"/>
            <a:ext cx="6206067" cy="4351338"/>
          </a:xfrm>
        </p:spPr>
        <p:txBody>
          <a:bodyPr>
            <a:normAutofit fontScale="92500" lnSpcReduction="10000"/>
          </a:bodyPr>
          <a:lstStyle/>
          <a:p>
            <a:r>
              <a:rPr lang="en-US" dirty="0"/>
              <a:t>First, you can change an operator’s entire meaning, if that’s what you wish to do. </a:t>
            </a:r>
          </a:p>
          <a:p>
            <a:r>
              <a:rPr lang="en-US" dirty="0"/>
              <a:t>There is nothing to prevent you from changing the = symbol from an assignment operator to a “display” operator. </a:t>
            </a:r>
          </a:p>
          <a:p>
            <a:r>
              <a:rPr lang="en-US" dirty="0"/>
              <a:t>Although the operator= function overloads the assignment operator, the function doesn’t perform an assignment.</a:t>
            </a:r>
          </a:p>
          <a:p>
            <a:r>
              <a:rPr lang="en-US" dirty="0"/>
              <a:t>All the overloaded operator does is display the contents of </a:t>
            </a:r>
            <a:r>
              <a:rPr lang="en-US" dirty="0" err="1"/>
              <a:t>right.value</a:t>
            </a:r>
            <a:r>
              <a:rPr lang="en-US" dirty="0"/>
              <a:t>. </a:t>
            </a:r>
          </a:p>
        </p:txBody>
      </p:sp>
      <p:pic>
        <p:nvPicPr>
          <p:cNvPr id="4" name="Picture 3">
            <a:extLst>
              <a:ext uri="{FF2B5EF4-FFF2-40B4-BE49-F238E27FC236}">
                <a16:creationId xmlns:a16="http://schemas.microsoft.com/office/drawing/2014/main" id="{FCBBC6F0-3F5A-6198-6762-70273EF3E5B4}"/>
              </a:ext>
            </a:extLst>
          </p:cNvPr>
          <p:cNvPicPr>
            <a:picLocks noChangeAspect="1"/>
          </p:cNvPicPr>
          <p:nvPr/>
        </p:nvPicPr>
        <p:blipFill>
          <a:blip r:embed="rId2"/>
          <a:stretch>
            <a:fillRect/>
          </a:stretch>
        </p:blipFill>
        <p:spPr>
          <a:xfrm>
            <a:off x="7627826" y="1690688"/>
            <a:ext cx="3924300" cy="2844800"/>
          </a:xfrm>
          <a:prstGeom prst="rect">
            <a:avLst/>
          </a:prstGeom>
        </p:spPr>
      </p:pic>
      <p:pic>
        <p:nvPicPr>
          <p:cNvPr id="5" name="Picture 4">
            <a:extLst>
              <a:ext uri="{FF2B5EF4-FFF2-40B4-BE49-F238E27FC236}">
                <a16:creationId xmlns:a16="http://schemas.microsoft.com/office/drawing/2014/main" id="{146445F5-EFA5-475B-53D0-744FBFC763A7}"/>
              </a:ext>
            </a:extLst>
          </p:cNvPr>
          <p:cNvPicPr>
            <a:picLocks noChangeAspect="1"/>
          </p:cNvPicPr>
          <p:nvPr/>
        </p:nvPicPr>
        <p:blipFill>
          <a:blip r:embed="rId3"/>
          <a:stretch>
            <a:fillRect/>
          </a:stretch>
        </p:blipFill>
        <p:spPr>
          <a:xfrm>
            <a:off x="7965016" y="4673600"/>
            <a:ext cx="2070100" cy="762000"/>
          </a:xfrm>
          <a:prstGeom prst="rect">
            <a:avLst/>
          </a:prstGeom>
        </p:spPr>
      </p:pic>
      <p:pic>
        <p:nvPicPr>
          <p:cNvPr id="6" name="Picture 5">
            <a:extLst>
              <a:ext uri="{FF2B5EF4-FFF2-40B4-BE49-F238E27FC236}">
                <a16:creationId xmlns:a16="http://schemas.microsoft.com/office/drawing/2014/main" id="{97FFFD85-9BE2-E94F-3BD7-CFB8886445B9}"/>
              </a:ext>
            </a:extLst>
          </p:cNvPr>
          <p:cNvPicPr>
            <a:picLocks noChangeAspect="1"/>
          </p:cNvPicPr>
          <p:nvPr/>
        </p:nvPicPr>
        <p:blipFill>
          <a:blip r:embed="rId4"/>
          <a:stretch>
            <a:fillRect/>
          </a:stretch>
        </p:blipFill>
        <p:spPr>
          <a:xfrm>
            <a:off x="8310033" y="5626101"/>
            <a:ext cx="625303" cy="550862"/>
          </a:xfrm>
          <a:prstGeom prst="rect">
            <a:avLst/>
          </a:prstGeom>
        </p:spPr>
      </p:pic>
    </p:spTree>
    <p:extLst>
      <p:ext uri="{BB962C8B-B14F-4D97-AF65-F5344CB8AC3E}">
        <p14:creationId xmlns:p14="http://schemas.microsoft.com/office/powerpoint/2010/main" val="1444876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D9AED-A369-1B18-9622-8B2AF0AC6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B5E9F1-3E7D-5798-91EB-4E9287674246}"/>
              </a:ext>
            </a:extLst>
          </p:cNvPr>
          <p:cNvSpPr>
            <a:spLocks noGrp="1"/>
          </p:cNvSpPr>
          <p:nvPr>
            <p:ph type="title"/>
          </p:nvPr>
        </p:nvSpPr>
        <p:spPr/>
        <p:txBody>
          <a:bodyPr/>
          <a:lstStyle/>
          <a:p>
            <a:r>
              <a:rPr lang="en-US" dirty="0"/>
              <a:t>General Issues of Operator Overloading</a:t>
            </a:r>
          </a:p>
        </p:txBody>
      </p:sp>
      <p:sp>
        <p:nvSpPr>
          <p:cNvPr id="3" name="Content Placeholder 2">
            <a:extLst>
              <a:ext uri="{FF2B5EF4-FFF2-40B4-BE49-F238E27FC236}">
                <a16:creationId xmlns:a16="http://schemas.microsoft.com/office/drawing/2014/main" id="{DD6D41BA-E5CC-D7BB-7573-A9C688BDA078}"/>
              </a:ext>
            </a:extLst>
          </p:cNvPr>
          <p:cNvSpPr>
            <a:spLocks noGrp="1"/>
          </p:cNvSpPr>
          <p:nvPr>
            <p:ph idx="1"/>
          </p:nvPr>
        </p:nvSpPr>
        <p:spPr>
          <a:xfrm>
            <a:off x="838200" y="1825625"/>
            <a:ext cx="10168467" cy="4351338"/>
          </a:xfrm>
        </p:spPr>
        <p:txBody>
          <a:bodyPr>
            <a:normAutofit/>
          </a:bodyPr>
          <a:lstStyle/>
          <a:p>
            <a:r>
              <a:rPr lang="en-US" dirty="0"/>
              <a:t>Another operator overloading issue is that you cannot change the number of operands taken by an operator. </a:t>
            </a:r>
          </a:p>
          <a:p>
            <a:r>
              <a:rPr lang="en-US" dirty="0"/>
              <a:t>The = symbol must always be a binary operator. </a:t>
            </a:r>
          </a:p>
          <a:p>
            <a:r>
              <a:rPr lang="en-US" dirty="0"/>
              <a:t>Likewise, ++ and −− must always be unary operators.</a:t>
            </a:r>
          </a:p>
        </p:txBody>
      </p:sp>
    </p:spTree>
    <p:extLst>
      <p:ext uri="{BB962C8B-B14F-4D97-AF65-F5344CB8AC3E}">
        <p14:creationId xmlns:p14="http://schemas.microsoft.com/office/powerpoint/2010/main" val="3926574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A95E1-1267-D6B1-3482-DB7C7269C7C3}"/>
              </a:ext>
            </a:extLst>
          </p:cNvPr>
          <p:cNvSpPr>
            <a:spLocks noGrp="1"/>
          </p:cNvSpPr>
          <p:nvPr>
            <p:ph type="title"/>
          </p:nvPr>
        </p:nvSpPr>
        <p:spPr/>
        <p:txBody>
          <a:bodyPr/>
          <a:lstStyle/>
          <a:p>
            <a:r>
              <a:rPr lang="en-US" dirty="0"/>
              <a:t>General Issues of Operator Overloading</a:t>
            </a:r>
          </a:p>
        </p:txBody>
      </p:sp>
      <p:sp>
        <p:nvSpPr>
          <p:cNvPr id="3" name="Content Placeholder 2">
            <a:extLst>
              <a:ext uri="{FF2B5EF4-FFF2-40B4-BE49-F238E27FC236}">
                <a16:creationId xmlns:a16="http://schemas.microsoft.com/office/drawing/2014/main" id="{29076409-EC3B-6FAB-D8D6-8F640E6DDCB0}"/>
              </a:ext>
            </a:extLst>
          </p:cNvPr>
          <p:cNvSpPr>
            <a:spLocks noGrp="1"/>
          </p:cNvSpPr>
          <p:nvPr>
            <p:ph idx="1"/>
          </p:nvPr>
        </p:nvSpPr>
        <p:spPr/>
        <p:txBody>
          <a:bodyPr/>
          <a:lstStyle/>
          <a:p>
            <a:r>
              <a:rPr lang="en-US" dirty="0"/>
              <a:t>The last issue is that although you may overload most of the C++ operators, you cannot overload all of them</a:t>
            </a:r>
          </a:p>
        </p:txBody>
      </p:sp>
      <p:pic>
        <p:nvPicPr>
          <p:cNvPr id="4" name="Picture 3">
            <a:extLst>
              <a:ext uri="{FF2B5EF4-FFF2-40B4-BE49-F238E27FC236}">
                <a16:creationId xmlns:a16="http://schemas.microsoft.com/office/drawing/2014/main" id="{4ABFD971-FA0E-C64F-F4E1-8E70770363DB}"/>
              </a:ext>
            </a:extLst>
          </p:cNvPr>
          <p:cNvPicPr>
            <a:picLocks noChangeAspect="1"/>
          </p:cNvPicPr>
          <p:nvPr/>
        </p:nvPicPr>
        <p:blipFill>
          <a:blip r:embed="rId2"/>
          <a:srcRect t="1773" b="-1"/>
          <a:stretch/>
        </p:blipFill>
        <p:spPr>
          <a:xfrm>
            <a:off x="2774950" y="2904066"/>
            <a:ext cx="6642100" cy="3517899"/>
          </a:xfrm>
          <a:prstGeom prst="rect">
            <a:avLst/>
          </a:prstGeom>
        </p:spPr>
      </p:pic>
    </p:spTree>
    <p:extLst>
      <p:ext uri="{BB962C8B-B14F-4D97-AF65-F5344CB8AC3E}">
        <p14:creationId xmlns:p14="http://schemas.microsoft.com/office/powerpoint/2010/main" val="3528221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075B7-E0B1-9B52-8051-216A0F1F049D}"/>
              </a:ext>
            </a:extLst>
          </p:cNvPr>
          <p:cNvSpPr>
            <a:spLocks noGrp="1"/>
          </p:cNvSpPr>
          <p:nvPr>
            <p:ph type="title"/>
          </p:nvPr>
        </p:nvSpPr>
        <p:spPr/>
        <p:txBody>
          <a:bodyPr/>
          <a:lstStyle/>
          <a:p>
            <a:r>
              <a:rPr lang="en-US" dirty="0"/>
              <a:t>Approaches to Operator Overloading</a:t>
            </a:r>
          </a:p>
        </p:txBody>
      </p:sp>
      <p:sp>
        <p:nvSpPr>
          <p:cNvPr id="3" name="Content Placeholder 2">
            <a:extLst>
              <a:ext uri="{FF2B5EF4-FFF2-40B4-BE49-F238E27FC236}">
                <a16:creationId xmlns:a16="http://schemas.microsoft.com/office/drawing/2014/main" id="{3C18608C-5581-E7E3-AE50-95710B2F1C87}"/>
              </a:ext>
            </a:extLst>
          </p:cNvPr>
          <p:cNvSpPr>
            <a:spLocks noGrp="1"/>
          </p:cNvSpPr>
          <p:nvPr>
            <p:ph idx="1"/>
          </p:nvPr>
        </p:nvSpPr>
        <p:spPr/>
        <p:txBody>
          <a:bodyPr>
            <a:normAutofit fontScale="92500"/>
          </a:bodyPr>
          <a:lstStyle/>
          <a:p>
            <a:r>
              <a:rPr lang="en-US" dirty="0"/>
              <a:t>There are two approaches you can take to overload an operator:</a:t>
            </a:r>
          </a:p>
          <a:p>
            <a:pPr marL="0" indent="0">
              <a:buNone/>
            </a:pPr>
            <a:r>
              <a:rPr lang="en-US" b="1" i="1" dirty="0"/>
              <a:t>1. Make the overloaded operator a member function of the class</a:t>
            </a:r>
            <a:r>
              <a:rPr lang="en-US" b="1" dirty="0"/>
              <a:t>. </a:t>
            </a:r>
          </a:p>
          <a:p>
            <a:pPr marL="0" indent="0">
              <a:buNone/>
            </a:pPr>
            <a:r>
              <a:rPr lang="en-US" dirty="0"/>
              <a:t>This allows the operator function access to private members of the class. </a:t>
            </a:r>
          </a:p>
          <a:p>
            <a:pPr marL="0" indent="0">
              <a:buNone/>
            </a:pPr>
            <a:r>
              <a:rPr lang="en-US" dirty="0"/>
              <a:t>It also allows the function to use the implicit this pointer parameter to access the calling object.</a:t>
            </a:r>
          </a:p>
          <a:p>
            <a:pPr marL="0" indent="0">
              <a:buNone/>
            </a:pPr>
            <a:r>
              <a:rPr lang="en-US" b="1" i="1" dirty="0"/>
              <a:t>2. Make the overloaded member function a separate, stand-alone function.</a:t>
            </a:r>
            <a:r>
              <a:rPr lang="en-US" b="1" dirty="0"/>
              <a:t> </a:t>
            </a:r>
          </a:p>
          <a:p>
            <a:pPr marL="0" indent="0">
              <a:buNone/>
            </a:pPr>
            <a:r>
              <a:rPr lang="en-US" dirty="0"/>
              <a:t>When overloaded in this manner, the operator function must be declared a friend of the class to have access to the private members of the class.</a:t>
            </a:r>
          </a:p>
        </p:txBody>
      </p:sp>
    </p:spTree>
    <p:extLst>
      <p:ext uri="{BB962C8B-B14F-4D97-AF65-F5344CB8AC3E}">
        <p14:creationId xmlns:p14="http://schemas.microsoft.com/office/powerpoint/2010/main" val="2441288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551C4-0535-57EE-3E77-B8BE80BA7D8D}"/>
              </a:ext>
            </a:extLst>
          </p:cNvPr>
          <p:cNvSpPr>
            <a:spLocks noGrp="1"/>
          </p:cNvSpPr>
          <p:nvPr>
            <p:ph type="title"/>
          </p:nvPr>
        </p:nvSpPr>
        <p:spPr/>
        <p:txBody>
          <a:bodyPr/>
          <a:lstStyle/>
          <a:p>
            <a:r>
              <a:rPr lang="en-US" dirty="0"/>
              <a:t>Approaches to Operator Overloading</a:t>
            </a:r>
          </a:p>
        </p:txBody>
      </p:sp>
      <p:sp>
        <p:nvSpPr>
          <p:cNvPr id="3" name="Content Placeholder 2">
            <a:extLst>
              <a:ext uri="{FF2B5EF4-FFF2-40B4-BE49-F238E27FC236}">
                <a16:creationId xmlns:a16="http://schemas.microsoft.com/office/drawing/2014/main" id="{D6010AB4-4ADE-1506-F604-3C4AF6A96738}"/>
              </a:ext>
            </a:extLst>
          </p:cNvPr>
          <p:cNvSpPr>
            <a:spLocks noGrp="1"/>
          </p:cNvSpPr>
          <p:nvPr>
            <p:ph idx="1"/>
          </p:nvPr>
        </p:nvSpPr>
        <p:spPr>
          <a:xfrm>
            <a:off x="838200" y="1825625"/>
            <a:ext cx="10219267" cy="4351338"/>
          </a:xfrm>
        </p:spPr>
        <p:txBody>
          <a:bodyPr>
            <a:normAutofit/>
          </a:bodyPr>
          <a:lstStyle/>
          <a:p>
            <a:r>
              <a:rPr lang="en-US" dirty="0">
                <a:effectLst/>
              </a:rPr>
              <a:t>Some operators, such as the stream input and output operators &gt;&gt; and &lt;&lt;, must be overloaded as stand-alone functions. </a:t>
            </a:r>
          </a:p>
          <a:p>
            <a:r>
              <a:rPr lang="en-US" dirty="0">
                <a:effectLst/>
              </a:rPr>
              <a:t>Other operators may be overloaded either as member functions or stand-alone functions. </a:t>
            </a:r>
            <a:endParaRPr lang="en-US" dirty="0"/>
          </a:p>
        </p:txBody>
      </p:sp>
    </p:spTree>
    <p:extLst>
      <p:ext uri="{BB962C8B-B14F-4D97-AF65-F5344CB8AC3E}">
        <p14:creationId xmlns:p14="http://schemas.microsoft.com/office/powerpoint/2010/main" val="3430745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F888F-02FD-91D4-B624-CA08F3C33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EF78CB-9F9A-213F-37EE-50D76CAD70DA}"/>
              </a:ext>
            </a:extLst>
          </p:cNvPr>
          <p:cNvSpPr>
            <a:spLocks noGrp="1"/>
          </p:cNvSpPr>
          <p:nvPr>
            <p:ph type="title"/>
          </p:nvPr>
        </p:nvSpPr>
        <p:spPr/>
        <p:txBody>
          <a:bodyPr/>
          <a:lstStyle/>
          <a:p>
            <a:r>
              <a:rPr lang="en-US" dirty="0"/>
              <a:t>Approaches to Operator Overloading</a:t>
            </a:r>
          </a:p>
        </p:txBody>
      </p:sp>
      <p:sp>
        <p:nvSpPr>
          <p:cNvPr id="3" name="Content Placeholder 2">
            <a:extLst>
              <a:ext uri="{FF2B5EF4-FFF2-40B4-BE49-F238E27FC236}">
                <a16:creationId xmlns:a16="http://schemas.microsoft.com/office/drawing/2014/main" id="{DEDC3838-93CC-E494-54BB-F09333AA851A}"/>
              </a:ext>
            </a:extLst>
          </p:cNvPr>
          <p:cNvSpPr>
            <a:spLocks noGrp="1"/>
          </p:cNvSpPr>
          <p:nvPr>
            <p:ph idx="1"/>
          </p:nvPr>
        </p:nvSpPr>
        <p:spPr>
          <a:xfrm>
            <a:off x="838200" y="1825625"/>
            <a:ext cx="6968067" cy="4351338"/>
          </a:xfrm>
        </p:spPr>
        <p:txBody>
          <a:bodyPr>
            <a:normAutofit/>
          </a:bodyPr>
          <a:lstStyle/>
          <a:p>
            <a:r>
              <a:rPr lang="en-US" dirty="0">
                <a:effectLst/>
              </a:rPr>
              <a:t>Consider a class </a:t>
            </a:r>
            <a:r>
              <a:rPr lang="en-US" dirty="0"/>
              <a:t>designed to represent length measurements. </a:t>
            </a:r>
          </a:p>
          <a:p>
            <a:r>
              <a:rPr lang="en-US" dirty="0"/>
              <a:t>The class internally represents the length of an item in inches but allows its clients to specify measurements in feet and inches via a </a:t>
            </a:r>
            <a:r>
              <a:rPr lang="en-US" dirty="0" err="1"/>
              <a:t>setLength</a:t>
            </a:r>
            <a:r>
              <a:rPr lang="en-US" dirty="0"/>
              <a:t>() function. </a:t>
            </a:r>
          </a:p>
          <a:p>
            <a:r>
              <a:rPr lang="en-US" dirty="0"/>
              <a:t>The class also provides member functions </a:t>
            </a:r>
            <a:r>
              <a:rPr lang="en-US" dirty="0" err="1"/>
              <a:t>getFeet</a:t>
            </a:r>
            <a:r>
              <a:rPr lang="en-US" dirty="0"/>
              <a:t>() and </a:t>
            </a:r>
            <a:r>
              <a:rPr lang="en-US" dirty="0" err="1"/>
              <a:t>getInches</a:t>
            </a:r>
            <a:r>
              <a:rPr lang="en-US" dirty="0"/>
              <a:t>() to allow the feet and inch components of a measurement to be separately retrieved.</a:t>
            </a:r>
            <a:endParaRPr lang="en-US" dirty="0">
              <a:effectLst/>
            </a:endParaRPr>
          </a:p>
          <a:p>
            <a:endParaRPr lang="en-US" dirty="0"/>
          </a:p>
        </p:txBody>
      </p:sp>
      <p:pic>
        <p:nvPicPr>
          <p:cNvPr id="4" name="Picture 3">
            <a:extLst>
              <a:ext uri="{FF2B5EF4-FFF2-40B4-BE49-F238E27FC236}">
                <a16:creationId xmlns:a16="http://schemas.microsoft.com/office/drawing/2014/main" id="{87F793AB-FEC2-7D00-FE2D-9F1F95B7B1BD}"/>
              </a:ext>
            </a:extLst>
          </p:cNvPr>
          <p:cNvPicPr>
            <a:picLocks noChangeAspect="1"/>
          </p:cNvPicPr>
          <p:nvPr/>
        </p:nvPicPr>
        <p:blipFill>
          <a:blip r:embed="rId2"/>
          <a:stretch>
            <a:fillRect/>
          </a:stretch>
        </p:blipFill>
        <p:spPr>
          <a:xfrm>
            <a:off x="7806267" y="1825625"/>
            <a:ext cx="4072664" cy="3697817"/>
          </a:xfrm>
          <a:prstGeom prst="rect">
            <a:avLst/>
          </a:prstGeom>
        </p:spPr>
      </p:pic>
    </p:spTree>
    <p:extLst>
      <p:ext uri="{BB962C8B-B14F-4D97-AF65-F5344CB8AC3E}">
        <p14:creationId xmlns:p14="http://schemas.microsoft.com/office/powerpoint/2010/main" val="1617886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9882C-DA75-BF2C-7F81-9FCF126945B6}"/>
              </a:ext>
            </a:extLst>
          </p:cNvPr>
          <p:cNvSpPr>
            <a:spLocks noGrp="1"/>
          </p:cNvSpPr>
          <p:nvPr>
            <p:ph type="title"/>
          </p:nvPr>
        </p:nvSpPr>
        <p:spPr/>
        <p:txBody>
          <a:bodyPr/>
          <a:lstStyle/>
          <a:p>
            <a:r>
              <a:rPr lang="en-US" dirty="0"/>
              <a:t>Overloading the Arithmetic and Relational Operators</a:t>
            </a:r>
          </a:p>
        </p:txBody>
      </p:sp>
      <p:sp>
        <p:nvSpPr>
          <p:cNvPr id="3" name="Content Placeholder 2">
            <a:extLst>
              <a:ext uri="{FF2B5EF4-FFF2-40B4-BE49-F238E27FC236}">
                <a16:creationId xmlns:a16="http://schemas.microsoft.com/office/drawing/2014/main" id="{8F27AD05-05B3-FDFA-5A81-15E02CF58F97}"/>
              </a:ext>
            </a:extLst>
          </p:cNvPr>
          <p:cNvSpPr>
            <a:spLocks noGrp="1"/>
          </p:cNvSpPr>
          <p:nvPr>
            <p:ph idx="1"/>
          </p:nvPr>
        </p:nvSpPr>
        <p:spPr/>
        <p:txBody>
          <a:bodyPr/>
          <a:lstStyle/>
          <a:p>
            <a:r>
              <a:rPr lang="en-US" dirty="0"/>
              <a:t>Clients of the class must be able to add and subtract measurements. </a:t>
            </a:r>
          </a:p>
          <a:p>
            <a:r>
              <a:rPr lang="en-US" dirty="0"/>
              <a:t>In addition, they should be able to compare two measurements to see if they are equal or if one of them is less or greater than the other. </a:t>
            </a:r>
          </a:p>
          <a:p>
            <a:r>
              <a:rPr lang="en-US" dirty="0"/>
              <a:t>We can provide all these capabilities by overloading the operators +, −, &lt;, and == as stand-alone functions.</a:t>
            </a:r>
          </a:p>
        </p:txBody>
      </p:sp>
    </p:spTree>
    <p:extLst>
      <p:ext uri="{BB962C8B-B14F-4D97-AF65-F5344CB8AC3E}">
        <p14:creationId xmlns:p14="http://schemas.microsoft.com/office/powerpoint/2010/main" val="2776672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F6A09-71ED-7DA2-CD12-4D452849D7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79610-A604-0FC8-D3FD-FB25BD9063F2}"/>
              </a:ext>
            </a:extLst>
          </p:cNvPr>
          <p:cNvSpPr>
            <a:spLocks noGrp="1"/>
          </p:cNvSpPr>
          <p:nvPr>
            <p:ph type="title"/>
          </p:nvPr>
        </p:nvSpPr>
        <p:spPr/>
        <p:txBody>
          <a:bodyPr/>
          <a:lstStyle/>
          <a:p>
            <a:r>
              <a:rPr lang="en-US" dirty="0"/>
              <a:t>Overloading the Arithmetic and Relational Operators</a:t>
            </a:r>
          </a:p>
        </p:txBody>
      </p:sp>
      <p:sp>
        <p:nvSpPr>
          <p:cNvPr id="3" name="Content Placeholder 2">
            <a:extLst>
              <a:ext uri="{FF2B5EF4-FFF2-40B4-BE49-F238E27FC236}">
                <a16:creationId xmlns:a16="http://schemas.microsoft.com/office/drawing/2014/main" id="{8DE5E622-0A68-E262-45DF-51AD6C47EC12}"/>
              </a:ext>
            </a:extLst>
          </p:cNvPr>
          <p:cNvSpPr>
            <a:spLocks noGrp="1"/>
          </p:cNvSpPr>
          <p:nvPr>
            <p:ph idx="1"/>
          </p:nvPr>
        </p:nvSpPr>
        <p:spPr/>
        <p:txBody>
          <a:bodyPr>
            <a:normAutofit lnSpcReduction="10000"/>
          </a:bodyPr>
          <a:lstStyle/>
          <a:p>
            <a:r>
              <a:rPr lang="en-US" dirty="0"/>
              <a:t>We start by adding the following declarations to the Length class:</a:t>
            </a:r>
          </a:p>
          <a:p>
            <a:pPr lvl="1"/>
            <a:r>
              <a:rPr lang="en-US" b="1" dirty="0">
                <a:solidFill>
                  <a:srgbClr val="FF0000"/>
                </a:solidFill>
                <a:effectLst/>
              </a:rPr>
              <a:t>friend</a:t>
            </a:r>
            <a:r>
              <a:rPr lang="en-US" dirty="0">
                <a:solidFill>
                  <a:srgbClr val="FF0000"/>
                </a:solidFill>
              </a:rPr>
              <a:t> Length </a:t>
            </a:r>
            <a:r>
              <a:rPr lang="en-US" b="1" dirty="0">
                <a:solidFill>
                  <a:srgbClr val="FF0000"/>
                </a:solidFill>
                <a:effectLst/>
              </a:rPr>
              <a:t>operator</a:t>
            </a:r>
            <a:r>
              <a:rPr lang="en-US" dirty="0">
                <a:solidFill>
                  <a:srgbClr val="FF0000"/>
                </a:solidFill>
              </a:rPr>
              <a:t>+(Length a, Length b); </a:t>
            </a:r>
          </a:p>
          <a:p>
            <a:pPr lvl="1"/>
            <a:r>
              <a:rPr lang="en-US" b="1" dirty="0">
                <a:solidFill>
                  <a:srgbClr val="FF0000"/>
                </a:solidFill>
                <a:effectLst/>
              </a:rPr>
              <a:t>friend</a:t>
            </a:r>
            <a:r>
              <a:rPr lang="en-US" dirty="0">
                <a:solidFill>
                  <a:srgbClr val="FF0000"/>
                </a:solidFill>
              </a:rPr>
              <a:t> Length </a:t>
            </a:r>
            <a:r>
              <a:rPr lang="en-US" b="1" dirty="0">
                <a:solidFill>
                  <a:srgbClr val="FF0000"/>
                </a:solidFill>
                <a:effectLst/>
              </a:rPr>
              <a:t>operator</a:t>
            </a:r>
            <a:r>
              <a:rPr lang="en-US" dirty="0">
                <a:solidFill>
                  <a:srgbClr val="FF0000"/>
                </a:solidFill>
              </a:rPr>
              <a:t>−(Length a, Length b); </a:t>
            </a:r>
          </a:p>
          <a:p>
            <a:pPr lvl="1"/>
            <a:r>
              <a:rPr lang="en-US" b="1" dirty="0">
                <a:solidFill>
                  <a:srgbClr val="FF0000"/>
                </a:solidFill>
                <a:effectLst/>
              </a:rPr>
              <a:t>friend</a:t>
            </a:r>
            <a:r>
              <a:rPr lang="en-US" dirty="0">
                <a:solidFill>
                  <a:srgbClr val="FF0000"/>
                </a:solidFill>
              </a:rPr>
              <a:t> </a:t>
            </a:r>
            <a:r>
              <a:rPr lang="en-US" b="1" dirty="0">
                <a:solidFill>
                  <a:srgbClr val="FF0000"/>
                </a:solidFill>
                <a:effectLst/>
              </a:rPr>
              <a:t>bool</a:t>
            </a:r>
            <a:r>
              <a:rPr lang="en-US" dirty="0">
                <a:solidFill>
                  <a:srgbClr val="FF0000"/>
                </a:solidFill>
              </a:rPr>
              <a:t> </a:t>
            </a:r>
            <a:r>
              <a:rPr lang="en-US" b="1" dirty="0">
                <a:solidFill>
                  <a:srgbClr val="FF0000"/>
                </a:solidFill>
                <a:effectLst/>
              </a:rPr>
              <a:t>operator</a:t>
            </a:r>
            <a:r>
              <a:rPr lang="en-US" dirty="0">
                <a:solidFill>
                  <a:srgbClr val="FF0000"/>
                </a:solidFill>
              </a:rPr>
              <a:t>&lt;(Length a, Length b); </a:t>
            </a:r>
          </a:p>
          <a:p>
            <a:pPr lvl="1"/>
            <a:r>
              <a:rPr lang="en-US" b="1" dirty="0">
                <a:solidFill>
                  <a:srgbClr val="FF0000"/>
                </a:solidFill>
                <a:effectLst/>
              </a:rPr>
              <a:t>friend</a:t>
            </a:r>
            <a:r>
              <a:rPr lang="en-US" dirty="0">
                <a:solidFill>
                  <a:srgbClr val="FF0000"/>
                </a:solidFill>
              </a:rPr>
              <a:t> </a:t>
            </a:r>
            <a:r>
              <a:rPr lang="en-US" b="1" dirty="0">
                <a:solidFill>
                  <a:srgbClr val="FF0000"/>
                </a:solidFill>
                <a:effectLst/>
              </a:rPr>
              <a:t>bool</a:t>
            </a:r>
            <a:r>
              <a:rPr lang="en-US" dirty="0">
                <a:solidFill>
                  <a:srgbClr val="FF0000"/>
                </a:solidFill>
              </a:rPr>
              <a:t> </a:t>
            </a:r>
            <a:r>
              <a:rPr lang="en-US" b="1" dirty="0">
                <a:solidFill>
                  <a:srgbClr val="FF0000"/>
                </a:solidFill>
                <a:effectLst/>
              </a:rPr>
              <a:t>operator</a:t>
            </a:r>
            <a:r>
              <a:rPr lang="en-US" dirty="0">
                <a:solidFill>
                  <a:srgbClr val="FF0000"/>
                </a:solidFill>
              </a:rPr>
              <a:t>==(Length a, Length b); </a:t>
            </a:r>
          </a:p>
          <a:p>
            <a:r>
              <a:rPr lang="en-US" dirty="0"/>
              <a:t>To see how we arrive at these declarations, consider the </a:t>
            </a:r>
            <a:r>
              <a:rPr lang="en-US" i="1" dirty="0"/>
              <a:t>addition</a:t>
            </a:r>
            <a:r>
              <a:rPr lang="en-US" dirty="0"/>
              <a:t> and </a:t>
            </a:r>
            <a:r>
              <a:rPr lang="en-US" i="1" dirty="0"/>
              <a:t>less-than</a:t>
            </a:r>
            <a:r>
              <a:rPr lang="en-US" dirty="0"/>
              <a:t> operators. </a:t>
            </a:r>
          </a:p>
          <a:p>
            <a:r>
              <a:rPr lang="en-US" dirty="0"/>
              <a:t>Addition needs to take two Length objects a and b as parameters and produce </a:t>
            </a:r>
            <a:r>
              <a:rPr lang="en-US" b="1" dirty="0"/>
              <a:t>a third Length object that is the sum of a and b.</a:t>
            </a:r>
          </a:p>
          <a:p>
            <a:r>
              <a:rPr lang="en-US" dirty="0"/>
              <a:t>Similarly, the less-than operator needs to take two Length objects as parameters and </a:t>
            </a:r>
            <a:r>
              <a:rPr lang="en-US" b="1" dirty="0"/>
              <a:t>return a Boolean value.</a:t>
            </a:r>
            <a:endParaRPr lang="en-US" b="1" dirty="0">
              <a:solidFill>
                <a:srgbClr val="FF0000"/>
              </a:solidFill>
            </a:endParaRPr>
          </a:p>
        </p:txBody>
      </p:sp>
    </p:spTree>
    <p:extLst>
      <p:ext uri="{BB962C8B-B14F-4D97-AF65-F5344CB8AC3E}">
        <p14:creationId xmlns:p14="http://schemas.microsoft.com/office/powerpoint/2010/main" val="41288082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6EADF-45D5-C05A-1EEA-30F2C5751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515830-ECD6-C006-F953-A453AB6694DF}"/>
              </a:ext>
            </a:extLst>
          </p:cNvPr>
          <p:cNvSpPr>
            <a:spLocks noGrp="1"/>
          </p:cNvSpPr>
          <p:nvPr>
            <p:ph type="title"/>
          </p:nvPr>
        </p:nvSpPr>
        <p:spPr/>
        <p:txBody>
          <a:bodyPr/>
          <a:lstStyle/>
          <a:p>
            <a:r>
              <a:rPr lang="en-US" dirty="0"/>
              <a:t>Overloading the Arithmetic and Relational Operators</a:t>
            </a:r>
          </a:p>
        </p:txBody>
      </p:sp>
      <p:sp>
        <p:nvSpPr>
          <p:cNvPr id="3" name="Content Placeholder 2">
            <a:extLst>
              <a:ext uri="{FF2B5EF4-FFF2-40B4-BE49-F238E27FC236}">
                <a16:creationId xmlns:a16="http://schemas.microsoft.com/office/drawing/2014/main" id="{33521133-0798-4763-526F-898CA0745F50}"/>
              </a:ext>
            </a:extLst>
          </p:cNvPr>
          <p:cNvSpPr>
            <a:spLocks noGrp="1"/>
          </p:cNvSpPr>
          <p:nvPr>
            <p:ph idx="1"/>
          </p:nvPr>
        </p:nvSpPr>
        <p:spPr>
          <a:xfrm>
            <a:off x="838200" y="1825625"/>
            <a:ext cx="5257800" cy="4351338"/>
          </a:xfrm>
        </p:spPr>
        <p:txBody>
          <a:bodyPr>
            <a:normAutofit/>
          </a:bodyPr>
          <a:lstStyle/>
          <a:p>
            <a:r>
              <a:rPr lang="en-US" dirty="0"/>
              <a:t>To see how to write the code that implements these functions, consider again the addition operator. </a:t>
            </a:r>
          </a:p>
          <a:p>
            <a:r>
              <a:rPr lang="en-US" dirty="0"/>
              <a:t>Given two input parameters a and b, </a:t>
            </a:r>
            <a:r>
              <a:rPr lang="en-US" dirty="0">
                <a:solidFill>
                  <a:srgbClr val="FF0000"/>
                </a:solidFill>
              </a:rPr>
              <a:t>it needs to return a Length object </a:t>
            </a:r>
            <a:r>
              <a:rPr lang="en-US" dirty="0"/>
              <a:t>whose </a:t>
            </a:r>
            <a:r>
              <a:rPr lang="en-US" dirty="0" err="1"/>
              <a:t>len_inches</a:t>
            </a:r>
            <a:r>
              <a:rPr lang="en-US" dirty="0"/>
              <a:t> member is the sum of the </a:t>
            </a:r>
            <a:r>
              <a:rPr lang="en-US" dirty="0" err="1"/>
              <a:t>len_inches</a:t>
            </a:r>
            <a:r>
              <a:rPr lang="en-US" dirty="0"/>
              <a:t> members of a and b. </a:t>
            </a:r>
            <a:endParaRPr lang="en-US" b="1" dirty="0">
              <a:solidFill>
                <a:srgbClr val="FF0000"/>
              </a:solidFill>
            </a:endParaRPr>
          </a:p>
        </p:txBody>
      </p:sp>
      <p:pic>
        <p:nvPicPr>
          <p:cNvPr id="4" name="Picture 3">
            <a:extLst>
              <a:ext uri="{FF2B5EF4-FFF2-40B4-BE49-F238E27FC236}">
                <a16:creationId xmlns:a16="http://schemas.microsoft.com/office/drawing/2014/main" id="{1656483A-2E89-6C22-CBA4-01F66686143D}"/>
              </a:ext>
            </a:extLst>
          </p:cNvPr>
          <p:cNvPicPr>
            <a:picLocks noChangeAspect="1"/>
          </p:cNvPicPr>
          <p:nvPr/>
        </p:nvPicPr>
        <p:blipFill>
          <a:blip r:embed="rId2"/>
          <a:stretch>
            <a:fillRect/>
          </a:stretch>
        </p:blipFill>
        <p:spPr>
          <a:xfrm>
            <a:off x="6836833" y="1968500"/>
            <a:ext cx="4597400" cy="1460500"/>
          </a:xfrm>
          <a:prstGeom prst="rect">
            <a:avLst/>
          </a:prstGeom>
        </p:spPr>
      </p:pic>
      <p:sp>
        <p:nvSpPr>
          <p:cNvPr id="5" name="TextBox 4">
            <a:extLst>
              <a:ext uri="{FF2B5EF4-FFF2-40B4-BE49-F238E27FC236}">
                <a16:creationId xmlns:a16="http://schemas.microsoft.com/office/drawing/2014/main" id="{9B206901-26A3-1468-0C24-C8736EE09BE6}"/>
              </a:ext>
            </a:extLst>
          </p:cNvPr>
          <p:cNvSpPr txBox="1"/>
          <p:nvPr/>
        </p:nvSpPr>
        <p:spPr>
          <a:xfrm>
            <a:off x="8886907" y="3570407"/>
            <a:ext cx="497252" cy="430887"/>
          </a:xfrm>
          <a:prstGeom prst="rect">
            <a:avLst/>
          </a:prstGeom>
          <a:noFill/>
        </p:spPr>
        <p:txBody>
          <a:bodyPr wrap="none" rtlCol="0">
            <a:spAutoFit/>
          </a:bodyPr>
          <a:lstStyle/>
          <a:p>
            <a:r>
              <a:rPr lang="en-US" sz="2200" b="1" dirty="0">
                <a:solidFill>
                  <a:srgbClr val="FF0000"/>
                </a:solidFill>
              </a:rPr>
              <a:t>Or</a:t>
            </a:r>
          </a:p>
        </p:txBody>
      </p:sp>
      <p:pic>
        <p:nvPicPr>
          <p:cNvPr id="6" name="Picture 5">
            <a:extLst>
              <a:ext uri="{FF2B5EF4-FFF2-40B4-BE49-F238E27FC236}">
                <a16:creationId xmlns:a16="http://schemas.microsoft.com/office/drawing/2014/main" id="{A3EE5416-C229-8565-5173-715BFD2B9E79}"/>
              </a:ext>
            </a:extLst>
          </p:cNvPr>
          <p:cNvPicPr>
            <a:picLocks noChangeAspect="1"/>
          </p:cNvPicPr>
          <p:nvPr/>
        </p:nvPicPr>
        <p:blipFill>
          <a:blip r:embed="rId3"/>
          <a:stretch>
            <a:fillRect/>
          </a:stretch>
        </p:blipFill>
        <p:spPr>
          <a:xfrm>
            <a:off x="6891866" y="4669367"/>
            <a:ext cx="4622800" cy="1193800"/>
          </a:xfrm>
          <a:prstGeom prst="rect">
            <a:avLst/>
          </a:prstGeom>
        </p:spPr>
      </p:pic>
    </p:spTree>
    <p:extLst>
      <p:ext uri="{BB962C8B-B14F-4D97-AF65-F5344CB8AC3E}">
        <p14:creationId xmlns:p14="http://schemas.microsoft.com/office/powerpoint/2010/main" val="3089505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3CF1F-6B95-43EC-D5B2-14F484D5E18C}"/>
              </a:ext>
            </a:extLst>
          </p:cNvPr>
          <p:cNvSpPr>
            <a:spLocks noGrp="1"/>
          </p:cNvSpPr>
          <p:nvPr>
            <p:ph type="title"/>
          </p:nvPr>
        </p:nvSpPr>
        <p:spPr/>
        <p:txBody>
          <a:bodyPr/>
          <a:lstStyle/>
          <a:p>
            <a:r>
              <a:rPr lang="en-US" dirty="0"/>
              <a:t>Overloading the Arithmetic and Relational Operators</a:t>
            </a:r>
          </a:p>
        </p:txBody>
      </p:sp>
      <p:sp>
        <p:nvSpPr>
          <p:cNvPr id="3" name="Content Placeholder 2">
            <a:extLst>
              <a:ext uri="{FF2B5EF4-FFF2-40B4-BE49-F238E27FC236}">
                <a16:creationId xmlns:a16="http://schemas.microsoft.com/office/drawing/2014/main" id="{4F19D094-F2EB-D6A7-1008-53B217881B87}"/>
              </a:ext>
            </a:extLst>
          </p:cNvPr>
          <p:cNvSpPr>
            <a:spLocks noGrp="1"/>
          </p:cNvSpPr>
          <p:nvPr>
            <p:ph idx="1"/>
          </p:nvPr>
        </p:nvSpPr>
        <p:spPr/>
        <p:txBody>
          <a:bodyPr/>
          <a:lstStyle/>
          <a:p>
            <a:r>
              <a:rPr lang="en-US" dirty="0"/>
              <a:t>We can reason in a similar manner to work out the definitions of the operator functions −, </a:t>
            </a:r>
            <a:r>
              <a:rPr lang="en-US" b="1" dirty="0"/>
              <a:t>&lt;</a:t>
            </a:r>
            <a:r>
              <a:rPr lang="en-US" dirty="0"/>
              <a:t>, and ==. Here</a:t>
            </a:r>
          </a:p>
          <a:p>
            <a:r>
              <a:rPr lang="en-US" dirty="0"/>
              <a:t>Let’s look at a complete example in the next slide - </a:t>
            </a:r>
          </a:p>
        </p:txBody>
      </p:sp>
    </p:spTree>
    <p:extLst>
      <p:ext uri="{BB962C8B-B14F-4D97-AF65-F5344CB8AC3E}">
        <p14:creationId xmlns:p14="http://schemas.microsoft.com/office/powerpoint/2010/main" val="747862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27751-621D-7087-C09C-32B5E2D6D049}"/>
              </a:ext>
            </a:extLst>
          </p:cNvPr>
          <p:cNvSpPr>
            <a:spLocks noGrp="1"/>
          </p:cNvSpPr>
          <p:nvPr>
            <p:ph type="title"/>
          </p:nvPr>
        </p:nvSpPr>
        <p:spPr>
          <a:xfrm>
            <a:off x="278162" y="390525"/>
            <a:ext cx="2404533" cy="1325563"/>
          </a:xfrm>
        </p:spPr>
        <p:txBody>
          <a:bodyPr/>
          <a:lstStyle/>
          <a:p>
            <a:r>
              <a:rPr lang="en-US" dirty="0"/>
              <a:t>Example</a:t>
            </a:r>
          </a:p>
        </p:txBody>
      </p:sp>
      <p:pic>
        <p:nvPicPr>
          <p:cNvPr id="4" name="Picture 3">
            <a:extLst>
              <a:ext uri="{FF2B5EF4-FFF2-40B4-BE49-F238E27FC236}">
                <a16:creationId xmlns:a16="http://schemas.microsoft.com/office/drawing/2014/main" id="{7ABA1763-73C1-DE61-F45A-8744024912AE}"/>
              </a:ext>
            </a:extLst>
          </p:cNvPr>
          <p:cNvPicPr>
            <a:picLocks noChangeAspect="1"/>
          </p:cNvPicPr>
          <p:nvPr/>
        </p:nvPicPr>
        <p:blipFill>
          <a:blip r:embed="rId2"/>
          <a:stretch>
            <a:fillRect/>
          </a:stretch>
        </p:blipFill>
        <p:spPr>
          <a:xfrm>
            <a:off x="2682695" y="0"/>
            <a:ext cx="4862344" cy="6858000"/>
          </a:xfrm>
          <a:prstGeom prst="rect">
            <a:avLst/>
          </a:prstGeom>
        </p:spPr>
      </p:pic>
      <p:pic>
        <p:nvPicPr>
          <p:cNvPr id="5" name="Picture 4">
            <a:extLst>
              <a:ext uri="{FF2B5EF4-FFF2-40B4-BE49-F238E27FC236}">
                <a16:creationId xmlns:a16="http://schemas.microsoft.com/office/drawing/2014/main" id="{268BADB9-9A35-2EA9-7156-205E5D7F6373}"/>
              </a:ext>
            </a:extLst>
          </p:cNvPr>
          <p:cNvPicPr>
            <a:picLocks noChangeAspect="1"/>
          </p:cNvPicPr>
          <p:nvPr/>
        </p:nvPicPr>
        <p:blipFill>
          <a:blip r:embed="rId3"/>
          <a:stretch>
            <a:fillRect/>
          </a:stretch>
        </p:blipFill>
        <p:spPr>
          <a:xfrm>
            <a:off x="8037053" y="0"/>
            <a:ext cx="3551626" cy="6858000"/>
          </a:xfrm>
          <a:prstGeom prst="rect">
            <a:avLst/>
          </a:prstGeom>
        </p:spPr>
      </p:pic>
    </p:spTree>
    <p:extLst>
      <p:ext uri="{BB962C8B-B14F-4D97-AF65-F5344CB8AC3E}">
        <p14:creationId xmlns:p14="http://schemas.microsoft.com/office/powerpoint/2010/main" val="36078805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719C7-287E-3CF3-3952-9BBC27C61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99337-09ED-EF0C-32F1-0C2102631B1D}"/>
              </a:ext>
            </a:extLst>
          </p:cNvPr>
          <p:cNvSpPr>
            <a:spLocks noGrp="1"/>
          </p:cNvSpPr>
          <p:nvPr>
            <p:ph type="title"/>
          </p:nvPr>
        </p:nvSpPr>
        <p:spPr>
          <a:xfrm>
            <a:off x="211666" y="390524"/>
            <a:ext cx="2404533" cy="1325563"/>
          </a:xfrm>
        </p:spPr>
        <p:txBody>
          <a:bodyPr/>
          <a:lstStyle/>
          <a:p>
            <a:r>
              <a:rPr lang="en-US" dirty="0"/>
              <a:t>Example</a:t>
            </a:r>
          </a:p>
        </p:txBody>
      </p:sp>
      <p:pic>
        <p:nvPicPr>
          <p:cNvPr id="3" name="Picture 2">
            <a:extLst>
              <a:ext uri="{FF2B5EF4-FFF2-40B4-BE49-F238E27FC236}">
                <a16:creationId xmlns:a16="http://schemas.microsoft.com/office/drawing/2014/main" id="{510B20EC-B372-539D-CEA8-C4DD48E1CD01}"/>
              </a:ext>
            </a:extLst>
          </p:cNvPr>
          <p:cNvPicPr>
            <a:picLocks noChangeAspect="1"/>
          </p:cNvPicPr>
          <p:nvPr/>
        </p:nvPicPr>
        <p:blipFill>
          <a:blip r:embed="rId2"/>
          <a:stretch>
            <a:fillRect/>
          </a:stretch>
        </p:blipFill>
        <p:spPr>
          <a:xfrm>
            <a:off x="2751486" y="0"/>
            <a:ext cx="3962759" cy="6858000"/>
          </a:xfrm>
          <a:prstGeom prst="rect">
            <a:avLst/>
          </a:prstGeom>
        </p:spPr>
      </p:pic>
      <p:pic>
        <p:nvPicPr>
          <p:cNvPr id="6" name="Picture 5">
            <a:extLst>
              <a:ext uri="{FF2B5EF4-FFF2-40B4-BE49-F238E27FC236}">
                <a16:creationId xmlns:a16="http://schemas.microsoft.com/office/drawing/2014/main" id="{57178F00-E012-ED65-CC71-E2AF6FC372F4}"/>
              </a:ext>
            </a:extLst>
          </p:cNvPr>
          <p:cNvPicPr>
            <a:picLocks noChangeAspect="1"/>
          </p:cNvPicPr>
          <p:nvPr/>
        </p:nvPicPr>
        <p:blipFill>
          <a:blip r:embed="rId3"/>
          <a:stretch>
            <a:fillRect/>
          </a:stretch>
        </p:blipFill>
        <p:spPr>
          <a:xfrm>
            <a:off x="7061198" y="2565399"/>
            <a:ext cx="4912701" cy="2250017"/>
          </a:xfrm>
          <a:prstGeom prst="rect">
            <a:avLst/>
          </a:prstGeom>
        </p:spPr>
      </p:pic>
    </p:spTree>
    <p:extLst>
      <p:ext uri="{BB962C8B-B14F-4D97-AF65-F5344CB8AC3E}">
        <p14:creationId xmlns:p14="http://schemas.microsoft.com/office/powerpoint/2010/main" val="2848711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9286-8377-D701-B0CB-C8A005A4EE52}"/>
              </a:ext>
            </a:extLst>
          </p:cNvPr>
          <p:cNvSpPr>
            <a:spLocks noGrp="1"/>
          </p:cNvSpPr>
          <p:nvPr>
            <p:ph type="title"/>
          </p:nvPr>
        </p:nvSpPr>
        <p:spPr/>
        <p:txBody>
          <a:bodyPr/>
          <a:lstStyle/>
          <a:p>
            <a:r>
              <a:rPr lang="en-US" dirty="0"/>
              <a:t>Choosing Between Stand-Alone and Member-Function Operators</a:t>
            </a:r>
          </a:p>
        </p:txBody>
      </p:sp>
      <p:sp>
        <p:nvSpPr>
          <p:cNvPr id="3" name="Content Placeholder 2">
            <a:extLst>
              <a:ext uri="{FF2B5EF4-FFF2-40B4-BE49-F238E27FC236}">
                <a16:creationId xmlns:a16="http://schemas.microsoft.com/office/drawing/2014/main" id="{355EE3B7-4734-4447-0090-972065F0AFCA}"/>
              </a:ext>
            </a:extLst>
          </p:cNvPr>
          <p:cNvSpPr>
            <a:spLocks noGrp="1"/>
          </p:cNvSpPr>
          <p:nvPr>
            <p:ph idx="1"/>
          </p:nvPr>
        </p:nvSpPr>
        <p:spPr/>
        <p:txBody>
          <a:bodyPr>
            <a:normAutofit/>
          </a:bodyPr>
          <a:lstStyle/>
          <a:p>
            <a:r>
              <a:rPr lang="en-US" dirty="0"/>
              <a:t>Given the stand-alone overloads we have written - </a:t>
            </a:r>
          </a:p>
          <a:p>
            <a:pPr lvl="1"/>
            <a:r>
              <a:rPr lang="en-US" dirty="0">
                <a:solidFill>
                  <a:srgbClr val="FF0000"/>
                </a:solidFill>
              </a:rPr>
              <a:t>Length </a:t>
            </a:r>
            <a:r>
              <a:rPr lang="en-US" b="1" dirty="0">
                <a:solidFill>
                  <a:srgbClr val="FF0000"/>
                </a:solidFill>
                <a:effectLst/>
              </a:rPr>
              <a:t>a</a:t>
            </a:r>
            <a:r>
              <a:rPr lang="en-US" dirty="0">
                <a:solidFill>
                  <a:srgbClr val="FF0000"/>
                </a:solidFill>
              </a:rPr>
              <a:t>(</a:t>
            </a:r>
            <a:r>
              <a:rPr lang="en-US" dirty="0">
                <a:solidFill>
                  <a:srgbClr val="FF0000"/>
                </a:solidFill>
                <a:effectLst/>
              </a:rPr>
              <a:t>4</a:t>
            </a:r>
            <a:r>
              <a:rPr lang="en-US" dirty="0">
                <a:solidFill>
                  <a:srgbClr val="FF0000"/>
                </a:solidFill>
              </a:rPr>
              <a:t>, </a:t>
            </a:r>
            <a:r>
              <a:rPr lang="en-US" dirty="0">
                <a:solidFill>
                  <a:srgbClr val="FF0000"/>
                </a:solidFill>
                <a:effectLst/>
              </a:rPr>
              <a:t>2</a:t>
            </a:r>
            <a:r>
              <a:rPr lang="en-US" dirty="0">
                <a:solidFill>
                  <a:srgbClr val="FF0000"/>
                </a:solidFill>
              </a:rPr>
              <a:t>), </a:t>
            </a:r>
            <a:r>
              <a:rPr lang="en-US" b="1" dirty="0">
                <a:solidFill>
                  <a:srgbClr val="FF0000"/>
                </a:solidFill>
                <a:effectLst/>
              </a:rPr>
              <a:t>b</a:t>
            </a:r>
            <a:r>
              <a:rPr lang="en-US" dirty="0">
                <a:solidFill>
                  <a:srgbClr val="FF0000"/>
                </a:solidFill>
              </a:rPr>
              <a:t>(</a:t>
            </a:r>
            <a:r>
              <a:rPr lang="en-US" dirty="0">
                <a:solidFill>
                  <a:srgbClr val="FF0000"/>
                </a:solidFill>
                <a:effectLst/>
              </a:rPr>
              <a:t>1</a:t>
            </a:r>
            <a:r>
              <a:rPr lang="en-US" dirty="0">
                <a:solidFill>
                  <a:srgbClr val="FF0000"/>
                </a:solidFill>
              </a:rPr>
              <a:t>, </a:t>
            </a:r>
            <a:r>
              <a:rPr lang="en-US" dirty="0">
                <a:solidFill>
                  <a:srgbClr val="FF0000"/>
                </a:solidFill>
                <a:effectLst/>
              </a:rPr>
              <a:t>8</a:t>
            </a:r>
            <a:r>
              <a:rPr lang="en-US" dirty="0">
                <a:solidFill>
                  <a:srgbClr val="FF0000"/>
                </a:solidFill>
              </a:rPr>
              <a:t>), </a:t>
            </a:r>
            <a:r>
              <a:rPr lang="en-US" b="1" dirty="0">
                <a:solidFill>
                  <a:srgbClr val="FF0000"/>
                </a:solidFill>
                <a:effectLst/>
              </a:rPr>
              <a:t>c</a:t>
            </a:r>
            <a:r>
              <a:rPr lang="en-US" dirty="0">
                <a:solidFill>
                  <a:srgbClr val="FF0000"/>
                </a:solidFill>
              </a:rPr>
              <a:t>(</a:t>
            </a:r>
            <a:r>
              <a:rPr lang="en-US" dirty="0">
                <a:solidFill>
                  <a:srgbClr val="FF0000"/>
                </a:solidFill>
                <a:effectLst/>
              </a:rPr>
              <a:t>0</a:t>
            </a:r>
            <a:r>
              <a:rPr lang="en-US" dirty="0">
                <a:solidFill>
                  <a:srgbClr val="FF0000"/>
                </a:solidFill>
              </a:rPr>
              <a:t>); </a:t>
            </a:r>
          </a:p>
          <a:p>
            <a:pPr lvl="1"/>
            <a:r>
              <a:rPr lang="en-US" dirty="0">
                <a:solidFill>
                  <a:srgbClr val="FF0000"/>
                </a:solidFill>
              </a:rPr>
              <a:t>c = a + b; </a:t>
            </a:r>
          </a:p>
          <a:p>
            <a:r>
              <a:rPr lang="en-US" dirty="0">
                <a:effectLst/>
              </a:rPr>
              <a:t>It is interpreted by the compiler as being</a:t>
            </a:r>
          </a:p>
          <a:p>
            <a:pPr lvl="1"/>
            <a:r>
              <a:rPr lang="en-US" dirty="0">
                <a:solidFill>
                  <a:srgbClr val="FF0000"/>
                </a:solidFill>
              </a:rPr>
              <a:t>Length </a:t>
            </a:r>
            <a:r>
              <a:rPr lang="en-US" b="1" dirty="0">
                <a:solidFill>
                  <a:srgbClr val="FF0000"/>
                </a:solidFill>
                <a:effectLst/>
              </a:rPr>
              <a:t>a</a:t>
            </a:r>
            <a:r>
              <a:rPr lang="en-US" dirty="0">
                <a:solidFill>
                  <a:srgbClr val="FF0000"/>
                </a:solidFill>
              </a:rPr>
              <a:t>(</a:t>
            </a:r>
            <a:r>
              <a:rPr lang="en-US" dirty="0">
                <a:solidFill>
                  <a:srgbClr val="FF0000"/>
                </a:solidFill>
                <a:effectLst/>
              </a:rPr>
              <a:t>4</a:t>
            </a:r>
            <a:r>
              <a:rPr lang="en-US" dirty="0">
                <a:solidFill>
                  <a:srgbClr val="FF0000"/>
                </a:solidFill>
              </a:rPr>
              <a:t>, </a:t>
            </a:r>
            <a:r>
              <a:rPr lang="en-US" dirty="0">
                <a:solidFill>
                  <a:srgbClr val="FF0000"/>
                </a:solidFill>
                <a:effectLst/>
              </a:rPr>
              <a:t>2</a:t>
            </a:r>
            <a:r>
              <a:rPr lang="en-US" dirty="0">
                <a:solidFill>
                  <a:srgbClr val="FF0000"/>
                </a:solidFill>
              </a:rPr>
              <a:t>), </a:t>
            </a:r>
            <a:r>
              <a:rPr lang="en-US" b="1" dirty="0">
                <a:solidFill>
                  <a:srgbClr val="FF0000"/>
                </a:solidFill>
                <a:effectLst/>
              </a:rPr>
              <a:t>b</a:t>
            </a:r>
            <a:r>
              <a:rPr lang="en-US" dirty="0">
                <a:solidFill>
                  <a:srgbClr val="FF0000"/>
                </a:solidFill>
              </a:rPr>
              <a:t>(</a:t>
            </a:r>
            <a:r>
              <a:rPr lang="en-US" dirty="0">
                <a:solidFill>
                  <a:srgbClr val="FF0000"/>
                </a:solidFill>
                <a:effectLst/>
              </a:rPr>
              <a:t>1</a:t>
            </a:r>
            <a:r>
              <a:rPr lang="en-US" dirty="0">
                <a:solidFill>
                  <a:srgbClr val="FF0000"/>
                </a:solidFill>
              </a:rPr>
              <a:t>, </a:t>
            </a:r>
            <a:r>
              <a:rPr lang="en-US" dirty="0">
                <a:solidFill>
                  <a:srgbClr val="FF0000"/>
                </a:solidFill>
                <a:effectLst/>
              </a:rPr>
              <a:t>8</a:t>
            </a:r>
            <a:r>
              <a:rPr lang="en-US" dirty="0">
                <a:solidFill>
                  <a:srgbClr val="FF0000"/>
                </a:solidFill>
              </a:rPr>
              <a:t>), </a:t>
            </a:r>
            <a:r>
              <a:rPr lang="en-US" b="1" dirty="0">
                <a:solidFill>
                  <a:srgbClr val="FF0000"/>
                </a:solidFill>
                <a:effectLst/>
              </a:rPr>
              <a:t>c</a:t>
            </a:r>
            <a:r>
              <a:rPr lang="en-US" dirty="0">
                <a:solidFill>
                  <a:srgbClr val="FF0000"/>
                </a:solidFill>
              </a:rPr>
              <a:t>(</a:t>
            </a:r>
            <a:r>
              <a:rPr lang="en-US" dirty="0">
                <a:solidFill>
                  <a:srgbClr val="FF0000"/>
                </a:solidFill>
                <a:effectLst/>
              </a:rPr>
              <a:t>0</a:t>
            </a:r>
            <a:r>
              <a:rPr lang="en-US" dirty="0">
                <a:solidFill>
                  <a:srgbClr val="FF0000"/>
                </a:solidFill>
              </a:rPr>
              <a:t>); </a:t>
            </a:r>
          </a:p>
          <a:p>
            <a:pPr lvl="1"/>
            <a:r>
              <a:rPr lang="en-US" dirty="0">
                <a:solidFill>
                  <a:srgbClr val="FF0000"/>
                </a:solidFill>
              </a:rPr>
              <a:t>c = </a:t>
            </a:r>
            <a:r>
              <a:rPr lang="en-US" b="1" dirty="0">
                <a:solidFill>
                  <a:srgbClr val="FF0000"/>
                </a:solidFill>
                <a:effectLst/>
              </a:rPr>
              <a:t>operator</a:t>
            </a:r>
            <a:r>
              <a:rPr lang="en-US" dirty="0">
                <a:solidFill>
                  <a:srgbClr val="FF0000"/>
                </a:solidFill>
              </a:rPr>
              <a:t>+(a, b);</a:t>
            </a:r>
            <a:endParaRPr lang="en-US" dirty="0">
              <a:solidFill>
                <a:srgbClr val="FF0000"/>
              </a:solidFill>
              <a:effectLst/>
            </a:endParaRPr>
          </a:p>
          <a:p>
            <a:r>
              <a:rPr lang="en-US" dirty="0"/>
              <a:t>The compiler allows the programmer to use the friendly </a:t>
            </a:r>
            <a:r>
              <a:rPr lang="en-US" b="1" dirty="0"/>
              <a:t>infix notation. </a:t>
            </a:r>
          </a:p>
          <a:p>
            <a:r>
              <a:rPr lang="en-US" dirty="0"/>
              <a:t>Internally, however, it sees the operator as just an ordinary function whose name is </a:t>
            </a:r>
            <a:r>
              <a:rPr lang="en-US" b="1" dirty="0"/>
              <a:t>operator+.</a:t>
            </a:r>
            <a:endParaRPr lang="en-US" b="1" dirty="0">
              <a:effectLst/>
            </a:endParaRPr>
          </a:p>
          <a:p>
            <a:endParaRPr lang="en-US" dirty="0">
              <a:solidFill>
                <a:srgbClr val="FF0000"/>
              </a:solidFill>
            </a:endParaRPr>
          </a:p>
        </p:txBody>
      </p:sp>
    </p:spTree>
    <p:extLst>
      <p:ext uri="{BB962C8B-B14F-4D97-AF65-F5344CB8AC3E}">
        <p14:creationId xmlns:p14="http://schemas.microsoft.com/office/powerpoint/2010/main" val="27601223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C7EC0-32EF-D944-1BF8-4F5FE3801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7DDCB1-1E2A-BDBC-D1DE-498E8F9E0305}"/>
              </a:ext>
            </a:extLst>
          </p:cNvPr>
          <p:cNvSpPr>
            <a:spLocks noGrp="1"/>
          </p:cNvSpPr>
          <p:nvPr>
            <p:ph type="title"/>
          </p:nvPr>
        </p:nvSpPr>
        <p:spPr/>
        <p:txBody>
          <a:bodyPr/>
          <a:lstStyle/>
          <a:p>
            <a:r>
              <a:rPr lang="en-US" dirty="0"/>
              <a:t>Choosing Between Stand-Alone and Member-Function Operators</a:t>
            </a:r>
          </a:p>
        </p:txBody>
      </p:sp>
      <p:sp>
        <p:nvSpPr>
          <p:cNvPr id="3" name="Content Placeholder 2">
            <a:extLst>
              <a:ext uri="{FF2B5EF4-FFF2-40B4-BE49-F238E27FC236}">
                <a16:creationId xmlns:a16="http://schemas.microsoft.com/office/drawing/2014/main" id="{FE52F950-42BD-D68B-0E7D-F73BEF4D91F5}"/>
              </a:ext>
            </a:extLst>
          </p:cNvPr>
          <p:cNvSpPr>
            <a:spLocks noGrp="1"/>
          </p:cNvSpPr>
          <p:nvPr>
            <p:ph idx="1"/>
          </p:nvPr>
        </p:nvSpPr>
        <p:spPr/>
        <p:txBody>
          <a:bodyPr>
            <a:normAutofit/>
          </a:bodyPr>
          <a:lstStyle/>
          <a:p>
            <a:r>
              <a:rPr lang="en-US" dirty="0"/>
              <a:t>This has an implication that is not immediately obvious.</a:t>
            </a:r>
          </a:p>
          <a:p>
            <a:r>
              <a:rPr lang="en-US" dirty="0"/>
              <a:t>The statement: </a:t>
            </a:r>
            <a:r>
              <a:rPr lang="en-US" i="1" dirty="0">
                <a:solidFill>
                  <a:srgbClr val="FF0000"/>
                </a:solidFill>
              </a:rPr>
              <a:t>c = </a:t>
            </a:r>
            <a:r>
              <a:rPr lang="en-US" i="1" dirty="0">
                <a:solidFill>
                  <a:srgbClr val="FF0000"/>
                </a:solidFill>
                <a:effectLst/>
              </a:rPr>
              <a:t>2</a:t>
            </a:r>
            <a:r>
              <a:rPr lang="en-US" i="1" dirty="0">
                <a:solidFill>
                  <a:srgbClr val="FF0000"/>
                </a:solidFill>
              </a:rPr>
              <a:t> + a; </a:t>
            </a:r>
          </a:p>
          <a:p>
            <a:r>
              <a:rPr lang="en-US" dirty="0"/>
              <a:t>Is equivalent to </a:t>
            </a:r>
            <a:r>
              <a:rPr lang="en-US" i="1" dirty="0">
                <a:solidFill>
                  <a:srgbClr val="FF0000"/>
                </a:solidFill>
              </a:rPr>
              <a:t>c = </a:t>
            </a:r>
            <a:r>
              <a:rPr lang="en-US" b="1" i="1" dirty="0">
                <a:solidFill>
                  <a:srgbClr val="FF0000"/>
                </a:solidFill>
                <a:effectLst/>
              </a:rPr>
              <a:t>operator</a:t>
            </a:r>
            <a:r>
              <a:rPr lang="en-US" i="1" dirty="0">
                <a:solidFill>
                  <a:srgbClr val="FF0000"/>
                </a:solidFill>
              </a:rPr>
              <a:t>+(</a:t>
            </a:r>
            <a:r>
              <a:rPr lang="en-US" i="1" dirty="0">
                <a:solidFill>
                  <a:srgbClr val="FF0000"/>
                </a:solidFill>
                <a:effectLst/>
              </a:rPr>
              <a:t>2</a:t>
            </a:r>
            <a:r>
              <a:rPr lang="en-US" i="1" dirty="0">
                <a:solidFill>
                  <a:srgbClr val="FF0000"/>
                </a:solidFill>
              </a:rPr>
              <a:t>, b); </a:t>
            </a:r>
          </a:p>
          <a:p>
            <a:r>
              <a:rPr lang="en-US" dirty="0"/>
              <a:t>Both of these statements compile and execute correctly because the </a:t>
            </a:r>
            <a:r>
              <a:rPr lang="en-US" b="1" dirty="0">
                <a:hlinkClick r:id="rId2">
                  <a:extLst>
                    <a:ext uri="{A12FA001-AC4F-418D-AE19-62706E023703}">
                      <ahyp:hlinkClr xmlns:ahyp="http://schemas.microsoft.com/office/drawing/2018/hyperlinkcolor" val="tx"/>
                    </a:ext>
                  </a:extLst>
                </a:hlinkClick>
              </a:rPr>
              <a:t>convert constructor</a:t>
            </a:r>
            <a:r>
              <a:rPr lang="en-US" b="1" dirty="0"/>
              <a:t> </a:t>
            </a:r>
            <a:r>
              <a:rPr lang="en-US" dirty="0"/>
              <a:t>of the Length class is able to create a Length object out of the integer parameter 2.</a:t>
            </a:r>
          </a:p>
          <a:p>
            <a:r>
              <a:rPr lang="en-US" dirty="0"/>
              <a:t>You will learn about convert constructors later.</a:t>
            </a:r>
            <a:endParaRPr lang="en-US" i="1" dirty="0">
              <a:solidFill>
                <a:srgbClr val="FF0000"/>
              </a:solidFill>
            </a:endParaRPr>
          </a:p>
        </p:txBody>
      </p:sp>
    </p:spTree>
    <p:extLst>
      <p:ext uri="{BB962C8B-B14F-4D97-AF65-F5344CB8AC3E}">
        <p14:creationId xmlns:p14="http://schemas.microsoft.com/office/powerpoint/2010/main" val="1910404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DE6B0-1F29-F38A-A10B-9558CA054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36477-335E-B8F3-C4F3-B90E508FACFB}"/>
              </a:ext>
            </a:extLst>
          </p:cNvPr>
          <p:cNvSpPr>
            <a:spLocks noGrp="1"/>
          </p:cNvSpPr>
          <p:nvPr>
            <p:ph type="title"/>
          </p:nvPr>
        </p:nvSpPr>
        <p:spPr/>
        <p:txBody>
          <a:bodyPr/>
          <a:lstStyle/>
          <a:p>
            <a:r>
              <a:rPr lang="en-US" dirty="0"/>
              <a:t>Choosing Between Stand-Alone and Member-Function Operators</a:t>
            </a:r>
          </a:p>
        </p:txBody>
      </p:sp>
      <p:sp>
        <p:nvSpPr>
          <p:cNvPr id="3" name="Content Placeholder 2">
            <a:extLst>
              <a:ext uri="{FF2B5EF4-FFF2-40B4-BE49-F238E27FC236}">
                <a16:creationId xmlns:a16="http://schemas.microsoft.com/office/drawing/2014/main" id="{8C34593B-2672-1D19-438E-7284E8FA455E}"/>
              </a:ext>
            </a:extLst>
          </p:cNvPr>
          <p:cNvSpPr>
            <a:spLocks noGrp="1"/>
          </p:cNvSpPr>
          <p:nvPr>
            <p:ph idx="1"/>
          </p:nvPr>
        </p:nvSpPr>
        <p:spPr>
          <a:xfrm>
            <a:off x="838200" y="1825625"/>
            <a:ext cx="6163733" cy="4351338"/>
          </a:xfrm>
        </p:spPr>
        <p:txBody>
          <a:bodyPr>
            <a:normAutofit/>
          </a:bodyPr>
          <a:lstStyle/>
          <a:p>
            <a:r>
              <a:rPr lang="en-US" dirty="0"/>
              <a:t>We could just as easily have overloaded the arithmetic and relational operators as member functions. </a:t>
            </a:r>
          </a:p>
          <a:p>
            <a:r>
              <a:rPr lang="en-US" dirty="0"/>
              <a:t>Here is how to do so for the addition operator. </a:t>
            </a:r>
          </a:p>
          <a:p>
            <a:r>
              <a:rPr lang="en-US" dirty="0"/>
              <a:t>First, modify the in-class declaration to make the operator a member function:</a:t>
            </a:r>
            <a:endParaRPr lang="en-US" i="1" dirty="0"/>
          </a:p>
        </p:txBody>
      </p:sp>
      <p:pic>
        <p:nvPicPr>
          <p:cNvPr id="4" name="Picture 3">
            <a:extLst>
              <a:ext uri="{FF2B5EF4-FFF2-40B4-BE49-F238E27FC236}">
                <a16:creationId xmlns:a16="http://schemas.microsoft.com/office/drawing/2014/main" id="{FC763625-7A6E-6A6E-33B4-14DFFC881A42}"/>
              </a:ext>
            </a:extLst>
          </p:cNvPr>
          <p:cNvPicPr>
            <a:picLocks noChangeAspect="1"/>
          </p:cNvPicPr>
          <p:nvPr/>
        </p:nvPicPr>
        <p:blipFill>
          <a:blip r:embed="rId3"/>
          <a:stretch>
            <a:fillRect/>
          </a:stretch>
        </p:blipFill>
        <p:spPr>
          <a:xfrm>
            <a:off x="7289800" y="1707621"/>
            <a:ext cx="4064000" cy="2565400"/>
          </a:xfrm>
          <a:prstGeom prst="rect">
            <a:avLst/>
          </a:prstGeom>
        </p:spPr>
      </p:pic>
    </p:spTree>
    <p:extLst>
      <p:ext uri="{BB962C8B-B14F-4D97-AF65-F5344CB8AC3E}">
        <p14:creationId xmlns:p14="http://schemas.microsoft.com/office/powerpoint/2010/main" val="664090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5155-3ED8-083D-2D38-390C2DDF72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78A21-4698-BF7B-976F-07A201B2773A}"/>
              </a:ext>
            </a:extLst>
          </p:cNvPr>
          <p:cNvSpPr>
            <a:spLocks noGrp="1"/>
          </p:cNvSpPr>
          <p:nvPr>
            <p:ph type="title"/>
          </p:nvPr>
        </p:nvSpPr>
        <p:spPr/>
        <p:txBody>
          <a:bodyPr/>
          <a:lstStyle/>
          <a:p>
            <a:r>
              <a:rPr lang="en-US" dirty="0"/>
              <a:t>Choosing Between Stand-Alone and Member-Function Operators</a:t>
            </a:r>
          </a:p>
        </p:txBody>
      </p:sp>
      <p:sp>
        <p:nvSpPr>
          <p:cNvPr id="3" name="Content Placeholder 2">
            <a:extLst>
              <a:ext uri="{FF2B5EF4-FFF2-40B4-BE49-F238E27FC236}">
                <a16:creationId xmlns:a16="http://schemas.microsoft.com/office/drawing/2014/main" id="{7C9DBDA4-DB8D-DD64-AD08-0E8DC92A0E2D}"/>
              </a:ext>
            </a:extLst>
          </p:cNvPr>
          <p:cNvSpPr>
            <a:spLocks noGrp="1"/>
          </p:cNvSpPr>
          <p:nvPr>
            <p:ph idx="1"/>
          </p:nvPr>
        </p:nvSpPr>
        <p:spPr>
          <a:xfrm>
            <a:off x="838200" y="1825625"/>
            <a:ext cx="6163733" cy="4351338"/>
          </a:xfrm>
        </p:spPr>
        <p:txBody>
          <a:bodyPr>
            <a:normAutofit/>
          </a:bodyPr>
          <a:lstStyle/>
          <a:p>
            <a:r>
              <a:rPr lang="en-US" dirty="0"/>
              <a:t>Notice that the operator is now declared as taking a single operator of type </a:t>
            </a:r>
            <a:r>
              <a:rPr lang="en-US" b="1" i="1" dirty="0"/>
              <a:t>Length. </a:t>
            </a:r>
          </a:p>
          <a:p>
            <a:r>
              <a:rPr lang="en-US" dirty="0"/>
              <a:t>This is because as a member function, the operator is automatically passed a Length object through the implicit parameter </a:t>
            </a:r>
            <a:r>
              <a:rPr lang="en-US" b="1" i="1" dirty="0"/>
              <a:t>this.</a:t>
            </a:r>
          </a:p>
        </p:txBody>
      </p:sp>
      <p:pic>
        <p:nvPicPr>
          <p:cNvPr id="4" name="Picture 3">
            <a:extLst>
              <a:ext uri="{FF2B5EF4-FFF2-40B4-BE49-F238E27FC236}">
                <a16:creationId xmlns:a16="http://schemas.microsoft.com/office/drawing/2014/main" id="{ED7B4DCA-DB3E-24B3-6638-9AA119CABE63}"/>
              </a:ext>
            </a:extLst>
          </p:cNvPr>
          <p:cNvPicPr>
            <a:picLocks noChangeAspect="1"/>
          </p:cNvPicPr>
          <p:nvPr/>
        </p:nvPicPr>
        <p:blipFill>
          <a:blip r:embed="rId3"/>
          <a:stretch>
            <a:fillRect/>
          </a:stretch>
        </p:blipFill>
        <p:spPr>
          <a:xfrm>
            <a:off x="7289800" y="1707621"/>
            <a:ext cx="4064000" cy="2565400"/>
          </a:xfrm>
          <a:prstGeom prst="rect">
            <a:avLst/>
          </a:prstGeom>
        </p:spPr>
      </p:pic>
    </p:spTree>
    <p:extLst>
      <p:ext uri="{BB962C8B-B14F-4D97-AF65-F5344CB8AC3E}">
        <p14:creationId xmlns:p14="http://schemas.microsoft.com/office/powerpoint/2010/main" val="3128099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14939-DE4B-5477-BF12-963E421F51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E13295-DD73-9D6C-B36C-DF506B26FB0A}"/>
              </a:ext>
            </a:extLst>
          </p:cNvPr>
          <p:cNvSpPr>
            <a:spLocks noGrp="1"/>
          </p:cNvSpPr>
          <p:nvPr>
            <p:ph type="title"/>
          </p:nvPr>
        </p:nvSpPr>
        <p:spPr/>
        <p:txBody>
          <a:bodyPr/>
          <a:lstStyle/>
          <a:p>
            <a:r>
              <a:rPr lang="en-US" dirty="0"/>
              <a:t>Choosing Between Stand-Alone and Member-Function Operators</a:t>
            </a:r>
          </a:p>
        </p:txBody>
      </p:sp>
      <p:sp>
        <p:nvSpPr>
          <p:cNvPr id="3" name="Content Placeholder 2">
            <a:extLst>
              <a:ext uri="{FF2B5EF4-FFF2-40B4-BE49-F238E27FC236}">
                <a16:creationId xmlns:a16="http://schemas.microsoft.com/office/drawing/2014/main" id="{C143B714-5873-424E-22F8-B7B860610980}"/>
              </a:ext>
            </a:extLst>
          </p:cNvPr>
          <p:cNvSpPr>
            <a:spLocks noGrp="1"/>
          </p:cNvSpPr>
          <p:nvPr>
            <p:ph idx="1"/>
          </p:nvPr>
        </p:nvSpPr>
        <p:spPr>
          <a:xfrm>
            <a:off x="838200" y="1825625"/>
            <a:ext cx="10414000" cy="4351338"/>
          </a:xfrm>
        </p:spPr>
        <p:txBody>
          <a:bodyPr>
            <a:normAutofit/>
          </a:bodyPr>
          <a:lstStyle/>
          <a:p>
            <a:r>
              <a:rPr lang="en-US" dirty="0"/>
              <a:t>When we write – </a:t>
            </a:r>
          </a:p>
          <a:p>
            <a:pPr lvl="1"/>
            <a:r>
              <a:rPr lang="en-US" i="1" dirty="0">
                <a:solidFill>
                  <a:srgbClr val="FF0000"/>
                </a:solidFill>
              </a:rPr>
              <a:t>Length </a:t>
            </a:r>
            <a:r>
              <a:rPr lang="en-US" b="1" i="1" dirty="0">
                <a:solidFill>
                  <a:srgbClr val="FF0000"/>
                </a:solidFill>
                <a:effectLst/>
              </a:rPr>
              <a:t>a</a:t>
            </a:r>
            <a:r>
              <a:rPr lang="en-US" i="1" dirty="0">
                <a:solidFill>
                  <a:srgbClr val="FF0000"/>
                </a:solidFill>
              </a:rPr>
              <a:t>(</a:t>
            </a:r>
            <a:r>
              <a:rPr lang="en-US" i="1" dirty="0">
                <a:solidFill>
                  <a:srgbClr val="FF0000"/>
                </a:solidFill>
                <a:effectLst/>
              </a:rPr>
              <a:t>4</a:t>
            </a:r>
            <a:r>
              <a:rPr lang="en-US" i="1" dirty="0">
                <a:solidFill>
                  <a:srgbClr val="FF0000"/>
                </a:solidFill>
              </a:rPr>
              <a:t>, </a:t>
            </a:r>
            <a:r>
              <a:rPr lang="en-US" i="1" dirty="0">
                <a:solidFill>
                  <a:srgbClr val="FF0000"/>
                </a:solidFill>
                <a:effectLst/>
              </a:rPr>
              <a:t>2</a:t>
            </a:r>
            <a:r>
              <a:rPr lang="en-US" i="1" dirty="0">
                <a:solidFill>
                  <a:srgbClr val="FF0000"/>
                </a:solidFill>
              </a:rPr>
              <a:t>), </a:t>
            </a:r>
            <a:r>
              <a:rPr lang="en-US" b="1" i="1" dirty="0">
                <a:solidFill>
                  <a:srgbClr val="FF0000"/>
                </a:solidFill>
                <a:effectLst/>
              </a:rPr>
              <a:t>b</a:t>
            </a:r>
            <a:r>
              <a:rPr lang="en-US" i="1" dirty="0">
                <a:solidFill>
                  <a:srgbClr val="FF0000"/>
                </a:solidFill>
              </a:rPr>
              <a:t>(</a:t>
            </a:r>
            <a:r>
              <a:rPr lang="en-US" i="1" dirty="0">
                <a:solidFill>
                  <a:srgbClr val="FF0000"/>
                </a:solidFill>
                <a:effectLst/>
              </a:rPr>
              <a:t>1</a:t>
            </a:r>
            <a:r>
              <a:rPr lang="en-US" i="1" dirty="0">
                <a:solidFill>
                  <a:srgbClr val="FF0000"/>
                </a:solidFill>
              </a:rPr>
              <a:t>, </a:t>
            </a:r>
            <a:r>
              <a:rPr lang="en-US" i="1" dirty="0">
                <a:solidFill>
                  <a:srgbClr val="FF0000"/>
                </a:solidFill>
                <a:effectLst/>
              </a:rPr>
              <a:t>8</a:t>
            </a:r>
            <a:r>
              <a:rPr lang="en-US" i="1" dirty="0">
                <a:solidFill>
                  <a:srgbClr val="FF0000"/>
                </a:solidFill>
              </a:rPr>
              <a:t>), </a:t>
            </a:r>
            <a:r>
              <a:rPr lang="en-US" b="1" i="1" dirty="0">
                <a:solidFill>
                  <a:srgbClr val="FF0000"/>
                </a:solidFill>
                <a:effectLst/>
              </a:rPr>
              <a:t>c</a:t>
            </a:r>
            <a:r>
              <a:rPr lang="en-US" i="1" dirty="0">
                <a:solidFill>
                  <a:srgbClr val="FF0000"/>
                </a:solidFill>
              </a:rPr>
              <a:t>(</a:t>
            </a:r>
            <a:r>
              <a:rPr lang="en-US" i="1" dirty="0">
                <a:solidFill>
                  <a:srgbClr val="FF0000"/>
                </a:solidFill>
                <a:effectLst/>
              </a:rPr>
              <a:t>0</a:t>
            </a:r>
            <a:r>
              <a:rPr lang="en-US" i="1" dirty="0">
                <a:solidFill>
                  <a:srgbClr val="FF0000"/>
                </a:solidFill>
              </a:rPr>
              <a:t>); </a:t>
            </a:r>
          </a:p>
          <a:p>
            <a:pPr lvl="1"/>
            <a:r>
              <a:rPr lang="en-US" i="1" dirty="0">
                <a:solidFill>
                  <a:srgbClr val="FF0000"/>
                </a:solidFill>
              </a:rPr>
              <a:t>c = a + b; </a:t>
            </a:r>
          </a:p>
          <a:p>
            <a:r>
              <a:rPr lang="en-US" dirty="0"/>
              <a:t>The compiler sees this as</a:t>
            </a:r>
          </a:p>
          <a:p>
            <a:pPr lvl="1"/>
            <a:r>
              <a:rPr lang="en-US" i="1" dirty="0">
                <a:solidFill>
                  <a:srgbClr val="FF0000"/>
                </a:solidFill>
              </a:rPr>
              <a:t>Length </a:t>
            </a:r>
            <a:r>
              <a:rPr lang="en-US" b="1" i="1" dirty="0">
                <a:solidFill>
                  <a:srgbClr val="FF0000"/>
                </a:solidFill>
                <a:effectLst/>
              </a:rPr>
              <a:t>a</a:t>
            </a:r>
            <a:r>
              <a:rPr lang="en-US" i="1" dirty="0">
                <a:solidFill>
                  <a:srgbClr val="FF0000"/>
                </a:solidFill>
              </a:rPr>
              <a:t>(</a:t>
            </a:r>
            <a:r>
              <a:rPr lang="en-US" i="1" dirty="0">
                <a:solidFill>
                  <a:srgbClr val="FF0000"/>
                </a:solidFill>
                <a:effectLst/>
              </a:rPr>
              <a:t>4</a:t>
            </a:r>
            <a:r>
              <a:rPr lang="en-US" i="1" dirty="0">
                <a:solidFill>
                  <a:srgbClr val="FF0000"/>
                </a:solidFill>
              </a:rPr>
              <a:t>, </a:t>
            </a:r>
            <a:r>
              <a:rPr lang="en-US" i="1" dirty="0">
                <a:solidFill>
                  <a:srgbClr val="FF0000"/>
                </a:solidFill>
                <a:effectLst/>
              </a:rPr>
              <a:t>2</a:t>
            </a:r>
            <a:r>
              <a:rPr lang="en-US" i="1" dirty="0">
                <a:solidFill>
                  <a:srgbClr val="FF0000"/>
                </a:solidFill>
              </a:rPr>
              <a:t>), </a:t>
            </a:r>
            <a:r>
              <a:rPr lang="en-US" b="1" i="1" dirty="0">
                <a:solidFill>
                  <a:srgbClr val="FF0000"/>
                </a:solidFill>
                <a:effectLst/>
              </a:rPr>
              <a:t>b</a:t>
            </a:r>
            <a:r>
              <a:rPr lang="en-US" i="1" dirty="0">
                <a:solidFill>
                  <a:srgbClr val="FF0000"/>
                </a:solidFill>
              </a:rPr>
              <a:t>(</a:t>
            </a:r>
            <a:r>
              <a:rPr lang="en-US" i="1" dirty="0">
                <a:solidFill>
                  <a:srgbClr val="FF0000"/>
                </a:solidFill>
                <a:effectLst/>
              </a:rPr>
              <a:t>1</a:t>
            </a:r>
            <a:r>
              <a:rPr lang="en-US" i="1" dirty="0">
                <a:solidFill>
                  <a:srgbClr val="FF0000"/>
                </a:solidFill>
              </a:rPr>
              <a:t>, </a:t>
            </a:r>
            <a:r>
              <a:rPr lang="en-US" i="1" dirty="0">
                <a:solidFill>
                  <a:srgbClr val="FF0000"/>
                </a:solidFill>
                <a:effectLst/>
              </a:rPr>
              <a:t>8</a:t>
            </a:r>
            <a:r>
              <a:rPr lang="en-US" i="1" dirty="0">
                <a:solidFill>
                  <a:srgbClr val="FF0000"/>
                </a:solidFill>
              </a:rPr>
              <a:t>), </a:t>
            </a:r>
            <a:r>
              <a:rPr lang="en-US" b="1" i="1" dirty="0">
                <a:solidFill>
                  <a:srgbClr val="FF0000"/>
                </a:solidFill>
                <a:effectLst/>
              </a:rPr>
              <a:t>c</a:t>
            </a:r>
            <a:r>
              <a:rPr lang="en-US" i="1" dirty="0">
                <a:solidFill>
                  <a:srgbClr val="FF0000"/>
                </a:solidFill>
              </a:rPr>
              <a:t>(</a:t>
            </a:r>
            <a:r>
              <a:rPr lang="en-US" i="1" dirty="0">
                <a:solidFill>
                  <a:srgbClr val="FF0000"/>
                </a:solidFill>
                <a:effectLst/>
              </a:rPr>
              <a:t>0</a:t>
            </a:r>
            <a:r>
              <a:rPr lang="en-US" i="1" dirty="0">
                <a:solidFill>
                  <a:srgbClr val="FF0000"/>
                </a:solidFill>
              </a:rPr>
              <a:t>); </a:t>
            </a:r>
          </a:p>
          <a:p>
            <a:pPr lvl="1"/>
            <a:r>
              <a:rPr lang="en-US" i="1" dirty="0">
                <a:solidFill>
                  <a:srgbClr val="FF0000"/>
                </a:solidFill>
              </a:rPr>
              <a:t>c = </a:t>
            </a:r>
            <a:r>
              <a:rPr lang="en-US" i="1" dirty="0" err="1">
                <a:solidFill>
                  <a:srgbClr val="FF0000"/>
                </a:solidFill>
              </a:rPr>
              <a:t>a.</a:t>
            </a:r>
            <a:r>
              <a:rPr lang="en-US" b="1" i="1" dirty="0" err="1">
                <a:solidFill>
                  <a:srgbClr val="FF0000"/>
                </a:solidFill>
                <a:effectLst/>
              </a:rPr>
              <a:t>operator</a:t>
            </a:r>
            <a:r>
              <a:rPr lang="en-US" i="1" dirty="0">
                <a:solidFill>
                  <a:srgbClr val="FF0000"/>
                </a:solidFill>
              </a:rPr>
              <a:t>+(b); </a:t>
            </a:r>
          </a:p>
          <a:p>
            <a:pPr marL="457200" lvl="1" indent="0">
              <a:buNone/>
            </a:pPr>
            <a:endParaRPr lang="en-US" i="1" dirty="0">
              <a:solidFill>
                <a:srgbClr val="FF0000"/>
              </a:solidFill>
            </a:endParaRPr>
          </a:p>
          <a:p>
            <a:r>
              <a:rPr lang="en-US" dirty="0"/>
              <a:t>When you write a + b, the left operand of the overloaded + operator becomes the object through which the member function is called, and the right operand becomes the explicit parameter.</a:t>
            </a:r>
          </a:p>
        </p:txBody>
      </p:sp>
    </p:spTree>
    <p:extLst>
      <p:ext uri="{BB962C8B-B14F-4D97-AF65-F5344CB8AC3E}">
        <p14:creationId xmlns:p14="http://schemas.microsoft.com/office/powerpoint/2010/main" val="11845929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16236-9785-9A49-97BC-D5D3232B7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26432D-F1E5-08FC-F80B-4D55F06B9FBE}"/>
              </a:ext>
            </a:extLst>
          </p:cNvPr>
          <p:cNvSpPr>
            <a:spLocks noGrp="1"/>
          </p:cNvSpPr>
          <p:nvPr>
            <p:ph type="title"/>
          </p:nvPr>
        </p:nvSpPr>
        <p:spPr/>
        <p:txBody>
          <a:bodyPr/>
          <a:lstStyle/>
          <a:p>
            <a:r>
              <a:rPr lang="en-US" dirty="0"/>
              <a:t>Choosing Between Stand-Alone and Member-Function Operators</a:t>
            </a:r>
          </a:p>
        </p:txBody>
      </p:sp>
      <p:sp>
        <p:nvSpPr>
          <p:cNvPr id="3" name="Content Placeholder 2">
            <a:extLst>
              <a:ext uri="{FF2B5EF4-FFF2-40B4-BE49-F238E27FC236}">
                <a16:creationId xmlns:a16="http://schemas.microsoft.com/office/drawing/2014/main" id="{DD513B3F-C78E-4670-2BAD-46AF4E22F8C5}"/>
              </a:ext>
            </a:extLst>
          </p:cNvPr>
          <p:cNvSpPr>
            <a:spLocks noGrp="1"/>
          </p:cNvSpPr>
          <p:nvPr>
            <p:ph idx="1"/>
          </p:nvPr>
        </p:nvSpPr>
        <p:spPr>
          <a:xfrm>
            <a:off x="838200" y="1825625"/>
            <a:ext cx="10414000" cy="4351338"/>
          </a:xfrm>
        </p:spPr>
        <p:txBody>
          <a:bodyPr>
            <a:normAutofit/>
          </a:bodyPr>
          <a:lstStyle/>
          <a:p>
            <a:r>
              <a:rPr lang="en-US" dirty="0">
                <a:effectLst/>
              </a:rPr>
              <a:t>With these changes, the body of the operator is written as follows:</a:t>
            </a:r>
          </a:p>
          <a:p>
            <a:endParaRPr lang="en-US" dirty="0"/>
          </a:p>
        </p:txBody>
      </p:sp>
      <p:pic>
        <p:nvPicPr>
          <p:cNvPr id="4" name="Picture 3">
            <a:extLst>
              <a:ext uri="{FF2B5EF4-FFF2-40B4-BE49-F238E27FC236}">
                <a16:creationId xmlns:a16="http://schemas.microsoft.com/office/drawing/2014/main" id="{9AE4C4AB-8C62-B77B-6BCB-3999E3B03E6F}"/>
              </a:ext>
            </a:extLst>
          </p:cNvPr>
          <p:cNvPicPr>
            <a:picLocks noChangeAspect="1"/>
          </p:cNvPicPr>
          <p:nvPr/>
        </p:nvPicPr>
        <p:blipFill>
          <a:blip r:embed="rId3"/>
          <a:stretch>
            <a:fillRect/>
          </a:stretch>
        </p:blipFill>
        <p:spPr>
          <a:xfrm>
            <a:off x="3244850" y="3242733"/>
            <a:ext cx="5600700" cy="1371600"/>
          </a:xfrm>
          <a:prstGeom prst="rect">
            <a:avLst/>
          </a:prstGeom>
        </p:spPr>
      </p:pic>
    </p:spTree>
    <p:extLst>
      <p:ext uri="{BB962C8B-B14F-4D97-AF65-F5344CB8AC3E}">
        <p14:creationId xmlns:p14="http://schemas.microsoft.com/office/powerpoint/2010/main" val="30410169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A2A3F-744F-E308-230B-2E3B9A5677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BED76-2679-7D7C-3F8E-EA84D17811ED}"/>
              </a:ext>
            </a:extLst>
          </p:cNvPr>
          <p:cNvSpPr>
            <a:spLocks noGrp="1"/>
          </p:cNvSpPr>
          <p:nvPr>
            <p:ph type="title"/>
          </p:nvPr>
        </p:nvSpPr>
        <p:spPr/>
        <p:txBody>
          <a:bodyPr/>
          <a:lstStyle/>
          <a:p>
            <a:r>
              <a:rPr lang="en-US" dirty="0"/>
              <a:t>Choosing Between Stand-Alone and Member-Function Operators</a:t>
            </a:r>
          </a:p>
        </p:txBody>
      </p:sp>
      <p:sp>
        <p:nvSpPr>
          <p:cNvPr id="3" name="Content Placeholder 2">
            <a:extLst>
              <a:ext uri="{FF2B5EF4-FFF2-40B4-BE49-F238E27FC236}">
                <a16:creationId xmlns:a16="http://schemas.microsoft.com/office/drawing/2014/main" id="{AEAC748C-7D32-3F4E-4A99-5B2B1D2D594D}"/>
              </a:ext>
            </a:extLst>
          </p:cNvPr>
          <p:cNvSpPr>
            <a:spLocks noGrp="1"/>
          </p:cNvSpPr>
          <p:nvPr>
            <p:ph idx="1"/>
          </p:nvPr>
        </p:nvSpPr>
        <p:spPr>
          <a:xfrm>
            <a:off x="838200" y="1825625"/>
            <a:ext cx="10414000" cy="4351338"/>
          </a:xfrm>
        </p:spPr>
        <p:txBody>
          <a:bodyPr>
            <a:normAutofit/>
          </a:bodyPr>
          <a:lstStyle/>
          <a:p>
            <a:r>
              <a:rPr lang="en-US" dirty="0"/>
              <a:t>To sum up, the addition operator (as well as other arithmetic and relational operators) can be overloaded equally well as member functions or as stand-alone functions. </a:t>
            </a:r>
          </a:p>
          <a:p>
            <a:r>
              <a:rPr lang="en-US" dirty="0"/>
              <a:t>It is generally better to overload binary operators that take parameters of the same type as stand-alone functions. </a:t>
            </a:r>
          </a:p>
        </p:txBody>
      </p:sp>
    </p:spTree>
    <p:extLst>
      <p:ext uri="{BB962C8B-B14F-4D97-AF65-F5344CB8AC3E}">
        <p14:creationId xmlns:p14="http://schemas.microsoft.com/office/powerpoint/2010/main" val="28871422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18103-5EAD-0B42-5576-C6C4C3F7A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C825E7-1F67-1F6C-9D17-58014F6B81DF}"/>
              </a:ext>
            </a:extLst>
          </p:cNvPr>
          <p:cNvSpPr>
            <a:spLocks noGrp="1"/>
          </p:cNvSpPr>
          <p:nvPr>
            <p:ph type="title"/>
          </p:nvPr>
        </p:nvSpPr>
        <p:spPr/>
        <p:txBody>
          <a:bodyPr/>
          <a:lstStyle/>
          <a:p>
            <a:r>
              <a:rPr lang="en-US" dirty="0"/>
              <a:t>Choosing Between Stand-Alone and Member-Function Operators</a:t>
            </a:r>
          </a:p>
        </p:txBody>
      </p:sp>
      <p:sp>
        <p:nvSpPr>
          <p:cNvPr id="3" name="Content Placeholder 2">
            <a:extLst>
              <a:ext uri="{FF2B5EF4-FFF2-40B4-BE49-F238E27FC236}">
                <a16:creationId xmlns:a16="http://schemas.microsoft.com/office/drawing/2014/main" id="{1CA0EA58-7042-EEAF-089D-AA96A2E66C61}"/>
              </a:ext>
            </a:extLst>
          </p:cNvPr>
          <p:cNvSpPr>
            <a:spLocks noGrp="1"/>
          </p:cNvSpPr>
          <p:nvPr>
            <p:ph idx="1"/>
          </p:nvPr>
        </p:nvSpPr>
        <p:spPr>
          <a:xfrm>
            <a:off x="838200" y="1825625"/>
            <a:ext cx="10414000" cy="4351338"/>
          </a:xfrm>
        </p:spPr>
        <p:txBody>
          <a:bodyPr>
            <a:normAutofit/>
          </a:bodyPr>
          <a:lstStyle/>
          <a:p>
            <a:r>
              <a:rPr lang="en-US" dirty="0"/>
              <a:t>This is because, unlike stand-alone operator overloading, member-function overloading introduces an artificial distinction between the two parameters by making the left parameter implicit. </a:t>
            </a:r>
          </a:p>
          <a:p>
            <a:r>
              <a:rPr lang="en-US" dirty="0"/>
              <a:t>This allows convert constructors to apply to the right parameter but not to the left, creating situations where changing the order of parameters causes a compiler error in an otherwise correct program:</a:t>
            </a:r>
          </a:p>
        </p:txBody>
      </p:sp>
      <p:pic>
        <p:nvPicPr>
          <p:cNvPr id="4" name="Picture 3">
            <a:extLst>
              <a:ext uri="{FF2B5EF4-FFF2-40B4-BE49-F238E27FC236}">
                <a16:creationId xmlns:a16="http://schemas.microsoft.com/office/drawing/2014/main" id="{B6D35DBE-4AED-B878-4634-43DCA99899A3}"/>
              </a:ext>
            </a:extLst>
          </p:cNvPr>
          <p:cNvPicPr>
            <a:picLocks noChangeAspect="1"/>
          </p:cNvPicPr>
          <p:nvPr/>
        </p:nvPicPr>
        <p:blipFill>
          <a:blip r:embed="rId3"/>
          <a:stretch>
            <a:fillRect/>
          </a:stretch>
        </p:blipFill>
        <p:spPr>
          <a:xfrm>
            <a:off x="2940050" y="5313363"/>
            <a:ext cx="6311900" cy="863600"/>
          </a:xfrm>
          <a:prstGeom prst="rect">
            <a:avLst/>
          </a:prstGeom>
        </p:spPr>
      </p:pic>
    </p:spTree>
    <p:extLst>
      <p:ext uri="{BB962C8B-B14F-4D97-AF65-F5344CB8AC3E}">
        <p14:creationId xmlns:p14="http://schemas.microsoft.com/office/powerpoint/2010/main" val="21931105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D0BB8-E660-FBC2-78BA-F2D3943A1CB7}"/>
              </a:ext>
            </a:extLst>
          </p:cNvPr>
          <p:cNvSpPr>
            <a:spLocks noGrp="1"/>
          </p:cNvSpPr>
          <p:nvPr>
            <p:ph type="title"/>
          </p:nvPr>
        </p:nvSpPr>
        <p:spPr/>
        <p:txBody>
          <a:bodyPr/>
          <a:lstStyle/>
          <a:p>
            <a:r>
              <a:rPr lang="en-US" dirty="0"/>
              <a:t>Overloading the Prefix ++ Operator</a:t>
            </a:r>
          </a:p>
        </p:txBody>
      </p:sp>
      <p:sp>
        <p:nvSpPr>
          <p:cNvPr id="3" name="Content Placeholder 2">
            <a:extLst>
              <a:ext uri="{FF2B5EF4-FFF2-40B4-BE49-F238E27FC236}">
                <a16:creationId xmlns:a16="http://schemas.microsoft.com/office/drawing/2014/main" id="{890EE3E6-B3FC-C135-C449-4F561A940653}"/>
              </a:ext>
            </a:extLst>
          </p:cNvPr>
          <p:cNvSpPr>
            <a:spLocks noGrp="1"/>
          </p:cNvSpPr>
          <p:nvPr>
            <p:ph idx="1"/>
          </p:nvPr>
        </p:nvSpPr>
        <p:spPr/>
        <p:txBody>
          <a:bodyPr/>
          <a:lstStyle/>
          <a:p>
            <a:r>
              <a:rPr lang="en-US" dirty="0"/>
              <a:t>We want to overload the prefix operator for the Length class so that the expression ++b increments the object b by adding 1 inch to its length and returns the resulting object. </a:t>
            </a:r>
          </a:p>
          <a:p>
            <a:r>
              <a:rPr lang="en-US" dirty="0"/>
              <a:t>We overload this operator as a member function. </a:t>
            </a:r>
          </a:p>
          <a:p>
            <a:r>
              <a:rPr lang="en-US" dirty="0"/>
              <a:t>This makes its single parameter implicit, so the overloaded operator needs no parameters. </a:t>
            </a:r>
          </a:p>
        </p:txBody>
      </p:sp>
    </p:spTree>
    <p:extLst>
      <p:ext uri="{BB962C8B-B14F-4D97-AF65-F5344CB8AC3E}">
        <p14:creationId xmlns:p14="http://schemas.microsoft.com/office/powerpoint/2010/main" val="39982865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88C5A-E95B-D0B2-9B7B-75BC159E9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E55B6-2226-F48E-F41F-F8CB0875398D}"/>
              </a:ext>
            </a:extLst>
          </p:cNvPr>
          <p:cNvSpPr>
            <a:spLocks noGrp="1"/>
          </p:cNvSpPr>
          <p:nvPr>
            <p:ph type="title"/>
          </p:nvPr>
        </p:nvSpPr>
        <p:spPr/>
        <p:txBody>
          <a:bodyPr/>
          <a:lstStyle/>
          <a:p>
            <a:r>
              <a:rPr lang="en-US" dirty="0"/>
              <a:t>Overloading the Prefix ++ Operator</a:t>
            </a:r>
          </a:p>
        </p:txBody>
      </p:sp>
      <p:sp>
        <p:nvSpPr>
          <p:cNvPr id="3" name="Content Placeholder 2">
            <a:extLst>
              <a:ext uri="{FF2B5EF4-FFF2-40B4-BE49-F238E27FC236}">
                <a16:creationId xmlns:a16="http://schemas.microsoft.com/office/drawing/2014/main" id="{3E946262-0403-6193-CBC9-DD4F066A74D6}"/>
              </a:ext>
            </a:extLst>
          </p:cNvPr>
          <p:cNvSpPr>
            <a:spLocks noGrp="1"/>
          </p:cNvSpPr>
          <p:nvPr>
            <p:ph idx="1"/>
          </p:nvPr>
        </p:nvSpPr>
        <p:spPr>
          <a:xfrm>
            <a:off x="838200" y="1825625"/>
            <a:ext cx="4656667" cy="4351338"/>
          </a:xfrm>
        </p:spPr>
        <p:txBody>
          <a:bodyPr/>
          <a:lstStyle/>
          <a:p>
            <a:r>
              <a:rPr lang="en-US" dirty="0"/>
              <a:t>Here is the portion of the Length class that shows the operator declaration:</a:t>
            </a:r>
          </a:p>
        </p:txBody>
      </p:sp>
      <p:pic>
        <p:nvPicPr>
          <p:cNvPr id="4" name="Picture 3">
            <a:extLst>
              <a:ext uri="{FF2B5EF4-FFF2-40B4-BE49-F238E27FC236}">
                <a16:creationId xmlns:a16="http://schemas.microsoft.com/office/drawing/2014/main" id="{D4C584DD-4219-9013-A2B8-B877B9740D1A}"/>
              </a:ext>
            </a:extLst>
          </p:cNvPr>
          <p:cNvPicPr>
            <a:picLocks noChangeAspect="1"/>
          </p:cNvPicPr>
          <p:nvPr/>
        </p:nvPicPr>
        <p:blipFill>
          <a:blip r:embed="rId3"/>
          <a:stretch>
            <a:fillRect/>
          </a:stretch>
        </p:blipFill>
        <p:spPr>
          <a:xfrm>
            <a:off x="1111250" y="3318933"/>
            <a:ext cx="4127500" cy="2590800"/>
          </a:xfrm>
          <a:prstGeom prst="rect">
            <a:avLst/>
          </a:prstGeom>
        </p:spPr>
      </p:pic>
      <p:pic>
        <p:nvPicPr>
          <p:cNvPr id="5" name="Picture 4">
            <a:extLst>
              <a:ext uri="{FF2B5EF4-FFF2-40B4-BE49-F238E27FC236}">
                <a16:creationId xmlns:a16="http://schemas.microsoft.com/office/drawing/2014/main" id="{2C2BC70C-64A3-C99C-1B83-8C5EDA18D92F}"/>
              </a:ext>
            </a:extLst>
          </p:cNvPr>
          <p:cNvPicPr>
            <a:picLocks noChangeAspect="1"/>
          </p:cNvPicPr>
          <p:nvPr/>
        </p:nvPicPr>
        <p:blipFill>
          <a:blip r:embed="rId4"/>
          <a:stretch>
            <a:fillRect/>
          </a:stretch>
        </p:blipFill>
        <p:spPr>
          <a:xfrm>
            <a:off x="5767917" y="3640666"/>
            <a:ext cx="3543300" cy="1524000"/>
          </a:xfrm>
          <a:prstGeom prst="rect">
            <a:avLst/>
          </a:prstGeom>
        </p:spPr>
      </p:pic>
      <p:sp>
        <p:nvSpPr>
          <p:cNvPr id="6" name="TextBox 5">
            <a:extLst>
              <a:ext uri="{FF2B5EF4-FFF2-40B4-BE49-F238E27FC236}">
                <a16:creationId xmlns:a16="http://schemas.microsoft.com/office/drawing/2014/main" id="{6E5D5C22-56DE-DF35-A13D-09C415714BD2}"/>
              </a:ext>
            </a:extLst>
          </p:cNvPr>
          <p:cNvSpPr txBox="1"/>
          <p:nvPr/>
        </p:nvSpPr>
        <p:spPr>
          <a:xfrm>
            <a:off x="5767917" y="2228671"/>
            <a:ext cx="3543300" cy="1200329"/>
          </a:xfrm>
          <a:prstGeom prst="rect">
            <a:avLst/>
          </a:prstGeom>
          <a:noFill/>
        </p:spPr>
        <p:txBody>
          <a:bodyPr wrap="square" rtlCol="0">
            <a:spAutoFit/>
          </a:bodyPr>
          <a:lstStyle/>
          <a:p>
            <a:r>
              <a:rPr lang="en-US" dirty="0"/>
              <a:t>Here is the implementation of the operator—it increases the number of inches by 1 and returns the modified object:</a:t>
            </a:r>
          </a:p>
        </p:txBody>
      </p:sp>
      <p:sp>
        <p:nvSpPr>
          <p:cNvPr id="7" name="TextBox 6">
            <a:extLst>
              <a:ext uri="{FF2B5EF4-FFF2-40B4-BE49-F238E27FC236}">
                <a16:creationId xmlns:a16="http://schemas.microsoft.com/office/drawing/2014/main" id="{871B698F-9142-A834-C4EF-F24345271693}"/>
              </a:ext>
            </a:extLst>
          </p:cNvPr>
          <p:cNvSpPr txBox="1"/>
          <p:nvPr/>
        </p:nvSpPr>
        <p:spPr>
          <a:xfrm>
            <a:off x="5960533" y="5569545"/>
            <a:ext cx="5647267" cy="923330"/>
          </a:xfrm>
          <a:prstGeom prst="rect">
            <a:avLst/>
          </a:prstGeom>
          <a:noFill/>
        </p:spPr>
        <p:txBody>
          <a:bodyPr wrap="square" rtlCol="0">
            <a:spAutoFit/>
          </a:bodyPr>
          <a:lstStyle/>
          <a:p>
            <a:pPr marL="285750" indent="-285750">
              <a:buFont typeface="Arial" panose="020B0604020202020204" pitchFamily="34" charset="0"/>
              <a:buChar char="•"/>
            </a:pPr>
            <a:r>
              <a:rPr lang="en-US" dirty="0"/>
              <a:t>Given this overload, the user-friendly notation ++b is equivalent to the call </a:t>
            </a:r>
            <a:r>
              <a:rPr lang="en-US" b="1" dirty="0" err="1">
                <a:solidFill>
                  <a:srgbClr val="FF0000"/>
                </a:solidFill>
              </a:rPr>
              <a:t>b.operator</a:t>
            </a:r>
            <a:r>
              <a:rPr lang="en-US" b="1" dirty="0">
                <a:solidFill>
                  <a:srgbClr val="FF0000"/>
                </a:solidFill>
              </a:rPr>
              <a:t>++(). </a:t>
            </a:r>
          </a:p>
          <a:p>
            <a:pPr marL="285750" indent="-285750">
              <a:buFont typeface="Arial" panose="020B0604020202020204" pitchFamily="34" charset="0"/>
              <a:buChar char="•"/>
            </a:pPr>
            <a:r>
              <a:rPr lang="en-US" dirty="0"/>
              <a:t>Either notation may be used in your program.</a:t>
            </a:r>
          </a:p>
        </p:txBody>
      </p:sp>
    </p:spTree>
    <p:extLst>
      <p:ext uri="{BB962C8B-B14F-4D97-AF65-F5344CB8AC3E}">
        <p14:creationId xmlns:p14="http://schemas.microsoft.com/office/powerpoint/2010/main" val="30448770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140BC-4D8A-6E22-BFEF-564AA1CB83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441B2D-F052-F9E1-3407-D2534BF95488}"/>
              </a:ext>
            </a:extLst>
          </p:cNvPr>
          <p:cNvSpPr>
            <a:spLocks noGrp="1"/>
          </p:cNvSpPr>
          <p:nvPr>
            <p:ph type="title"/>
          </p:nvPr>
        </p:nvSpPr>
        <p:spPr/>
        <p:txBody>
          <a:bodyPr/>
          <a:lstStyle/>
          <a:p>
            <a:r>
              <a:rPr lang="en-US" dirty="0"/>
              <a:t>Overloading the Postfix ++ Operator</a:t>
            </a:r>
          </a:p>
        </p:txBody>
      </p:sp>
      <p:sp>
        <p:nvSpPr>
          <p:cNvPr id="3" name="Content Placeholder 2">
            <a:extLst>
              <a:ext uri="{FF2B5EF4-FFF2-40B4-BE49-F238E27FC236}">
                <a16:creationId xmlns:a16="http://schemas.microsoft.com/office/drawing/2014/main" id="{9C2D07E9-64FD-91BF-EF08-0A5101614B20}"/>
              </a:ext>
            </a:extLst>
          </p:cNvPr>
          <p:cNvSpPr>
            <a:spLocks noGrp="1"/>
          </p:cNvSpPr>
          <p:nvPr>
            <p:ph idx="1"/>
          </p:nvPr>
        </p:nvSpPr>
        <p:spPr/>
        <p:txBody>
          <a:bodyPr/>
          <a:lstStyle/>
          <a:p>
            <a:r>
              <a:rPr lang="en-US" dirty="0"/>
              <a:t>The postfix increment operator b++ also increments the length of </a:t>
            </a:r>
            <a:r>
              <a:rPr lang="en-US" dirty="0">
                <a:solidFill>
                  <a:srgbClr val="FF0000"/>
                </a:solidFill>
              </a:rPr>
              <a:t>b</a:t>
            </a:r>
            <a:r>
              <a:rPr lang="en-US" dirty="0"/>
              <a:t> but differs from the prefix version in that </a:t>
            </a:r>
            <a:r>
              <a:rPr lang="en-US" b="1" dirty="0"/>
              <a:t>it returns the value that the object had </a:t>
            </a:r>
            <a:r>
              <a:rPr lang="en-US" b="1" i="1" dirty="0"/>
              <a:t>prior</a:t>
            </a:r>
            <a:r>
              <a:rPr lang="en-US" b="1" dirty="0"/>
              <a:t> to being incremented. </a:t>
            </a:r>
          </a:p>
          <a:p>
            <a:r>
              <a:rPr lang="en-US" dirty="0"/>
              <a:t>Overloading the postfix operator is only slightly different from overloading the prefix version.</a:t>
            </a:r>
          </a:p>
        </p:txBody>
      </p:sp>
    </p:spTree>
    <p:extLst>
      <p:ext uri="{BB962C8B-B14F-4D97-AF65-F5344CB8AC3E}">
        <p14:creationId xmlns:p14="http://schemas.microsoft.com/office/powerpoint/2010/main" val="3742934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8E666-CC49-FA33-A325-C17EBF142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1D643-28CE-8A67-5CB8-8E2D59F3BB38}"/>
              </a:ext>
            </a:extLst>
          </p:cNvPr>
          <p:cNvSpPr>
            <a:spLocks noGrp="1"/>
          </p:cNvSpPr>
          <p:nvPr>
            <p:ph type="title"/>
          </p:nvPr>
        </p:nvSpPr>
        <p:spPr/>
        <p:txBody>
          <a:bodyPr/>
          <a:lstStyle/>
          <a:p>
            <a:r>
              <a:rPr lang="en-US" dirty="0"/>
              <a:t>Overloading the Postfix ++ Operator</a:t>
            </a:r>
          </a:p>
        </p:txBody>
      </p:sp>
      <p:sp>
        <p:nvSpPr>
          <p:cNvPr id="3" name="Content Placeholder 2">
            <a:extLst>
              <a:ext uri="{FF2B5EF4-FFF2-40B4-BE49-F238E27FC236}">
                <a16:creationId xmlns:a16="http://schemas.microsoft.com/office/drawing/2014/main" id="{AA6ACC90-28D0-D13B-8250-97FB9DE675E2}"/>
              </a:ext>
            </a:extLst>
          </p:cNvPr>
          <p:cNvSpPr>
            <a:spLocks noGrp="1"/>
          </p:cNvSpPr>
          <p:nvPr>
            <p:ph idx="1"/>
          </p:nvPr>
        </p:nvSpPr>
        <p:spPr>
          <a:xfrm>
            <a:off x="838199" y="1825624"/>
            <a:ext cx="6731001" cy="4752975"/>
          </a:xfrm>
        </p:spPr>
        <p:txBody>
          <a:bodyPr>
            <a:normAutofit fontScale="92500" lnSpcReduction="10000"/>
          </a:bodyPr>
          <a:lstStyle/>
          <a:p>
            <a:r>
              <a:rPr lang="en-US" dirty="0"/>
              <a:t>The first difference you will notice is that the function has a </a:t>
            </a:r>
            <a:r>
              <a:rPr lang="en-US" b="1" dirty="0">
                <a:hlinkClick r:id="rId3">
                  <a:extLst>
                    <a:ext uri="{A12FA001-AC4F-418D-AE19-62706E023703}">
                      <ahyp:hlinkClr xmlns:ahyp="http://schemas.microsoft.com/office/drawing/2018/hyperlinkcolor" val="tx"/>
                    </a:ext>
                  </a:extLst>
                </a:hlinkClick>
              </a:rPr>
              <a:t>dummy parameter</a:t>
            </a:r>
            <a:r>
              <a:rPr lang="en-US" b="1" dirty="0"/>
              <a:t> </a:t>
            </a:r>
            <a:r>
              <a:rPr lang="en-US" dirty="0"/>
              <a:t>of type int that is never used in the body of the function. </a:t>
            </a:r>
          </a:p>
          <a:p>
            <a:r>
              <a:rPr lang="en-US" dirty="0"/>
              <a:t>This is a convention that tells the compiler that the increment operator is being overloaded in postfix mode. </a:t>
            </a:r>
          </a:p>
          <a:p>
            <a:r>
              <a:rPr lang="en-US" dirty="0"/>
              <a:t>The second difference is the use of a temporary local variable temp to capture the value of the object before it is incremented. </a:t>
            </a:r>
          </a:p>
          <a:p>
            <a:r>
              <a:rPr lang="en-US" dirty="0"/>
              <a:t>This value is saved and is later returned by the function.</a:t>
            </a:r>
          </a:p>
        </p:txBody>
      </p:sp>
      <p:pic>
        <p:nvPicPr>
          <p:cNvPr id="8" name="Picture 7">
            <a:extLst>
              <a:ext uri="{FF2B5EF4-FFF2-40B4-BE49-F238E27FC236}">
                <a16:creationId xmlns:a16="http://schemas.microsoft.com/office/drawing/2014/main" id="{6157D115-2354-43F9-BC9E-ED2BF211AB1C}"/>
              </a:ext>
            </a:extLst>
          </p:cNvPr>
          <p:cNvPicPr>
            <a:picLocks noChangeAspect="1"/>
          </p:cNvPicPr>
          <p:nvPr/>
        </p:nvPicPr>
        <p:blipFill>
          <a:blip r:embed="rId4"/>
          <a:stretch>
            <a:fillRect/>
          </a:stretch>
        </p:blipFill>
        <p:spPr>
          <a:xfrm>
            <a:off x="8119533" y="3145366"/>
            <a:ext cx="3302000" cy="1739900"/>
          </a:xfrm>
          <a:prstGeom prst="rect">
            <a:avLst/>
          </a:prstGeom>
        </p:spPr>
      </p:pic>
    </p:spTree>
    <p:extLst>
      <p:ext uri="{BB962C8B-B14F-4D97-AF65-F5344CB8AC3E}">
        <p14:creationId xmlns:p14="http://schemas.microsoft.com/office/powerpoint/2010/main" val="20270799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A5B4E-B4DB-1257-9AC8-A1CB8D10B62C}"/>
              </a:ext>
            </a:extLst>
          </p:cNvPr>
          <p:cNvSpPr>
            <a:spLocks noGrp="1"/>
          </p:cNvSpPr>
          <p:nvPr>
            <p:ph type="title"/>
          </p:nvPr>
        </p:nvSpPr>
        <p:spPr/>
        <p:txBody>
          <a:bodyPr/>
          <a:lstStyle/>
          <a:p>
            <a:r>
              <a:rPr lang="en-US" dirty="0"/>
              <a:t>Overloading the Stream Insertion and Extraction Operators</a:t>
            </a:r>
          </a:p>
        </p:txBody>
      </p:sp>
      <p:sp>
        <p:nvSpPr>
          <p:cNvPr id="3" name="Content Placeholder 2">
            <a:extLst>
              <a:ext uri="{FF2B5EF4-FFF2-40B4-BE49-F238E27FC236}">
                <a16:creationId xmlns:a16="http://schemas.microsoft.com/office/drawing/2014/main" id="{426A8FDF-2CA2-D9C9-686A-40301E72830D}"/>
              </a:ext>
            </a:extLst>
          </p:cNvPr>
          <p:cNvSpPr>
            <a:spLocks noGrp="1"/>
          </p:cNvSpPr>
          <p:nvPr>
            <p:ph idx="1"/>
          </p:nvPr>
        </p:nvSpPr>
        <p:spPr/>
        <p:txBody>
          <a:bodyPr/>
          <a:lstStyle/>
          <a:p>
            <a:r>
              <a:rPr lang="en-US" dirty="0"/>
              <a:t>Overloading the stream insertion operator &lt;&lt; is convenient because it allows values of objects to be converted into text and output to </a:t>
            </a:r>
            <a:r>
              <a:rPr lang="en-US" i="1" dirty="0" err="1">
                <a:solidFill>
                  <a:srgbClr val="FF0000"/>
                </a:solidFill>
              </a:rPr>
              <a:t>cout</a:t>
            </a:r>
            <a:r>
              <a:rPr lang="en-US" dirty="0"/>
              <a:t>, to a file object, or to any object of a class that derives from </a:t>
            </a:r>
            <a:r>
              <a:rPr lang="en-US" dirty="0" err="1"/>
              <a:t>ostream</a:t>
            </a:r>
            <a:r>
              <a:rPr lang="en-US" dirty="0"/>
              <a:t>.</a:t>
            </a:r>
          </a:p>
        </p:txBody>
      </p:sp>
    </p:spTree>
    <p:extLst>
      <p:ext uri="{BB962C8B-B14F-4D97-AF65-F5344CB8AC3E}">
        <p14:creationId xmlns:p14="http://schemas.microsoft.com/office/powerpoint/2010/main" val="4360040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0AE78-F67F-BE79-6146-056AEC45AA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28D2A-43C9-11BC-A0DC-E1225382B62A}"/>
              </a:ext>
            </a:extLst>
          </p:cNvPr>
          <p:cNvSpPr>
            <a:spLocks noGrp="1"/>
          </p:cNvSpPr>
          <p:nvPr>
            <p:ph type="title"/>
          </p:nvPr>
        </p:nvSpPr>
        <p:spPr/>
        <p:txBody>
          <a:bodyPr/>
          <a:lstStyle/>
          <a:p>
            <a:r>
              <a:rPr lang="en-US" dirty="0"/>
              <a:t>Overloading the Stream Insertion and Extraction Operators</a:t>
            </a:r>
          </a:p>
        </p:txBody>
      </p:sp>
      <p:sp>
        <p:nvSpPr>
          <p:cNvPr id="3" name="Content Placeholder 2">
            <a:extLst>
              <a:ext uri="{FF2B5EF4-FFF2-40B4-BE49-F238E27FC236}">
                <a16:creationId xmlns:a16="http://schemas.microsoft.com/office/drawing/2014/main" id="{1C0F4083-3529-EC6F-BB50-3B3548A80D19}"/>
              </a:ext>
            </a:extLst>
          </p:cNvPr>
          <p:cNvSpPr>
            <a:spLocks noGrp="1"/>
          </p:cNvSpPr>
          <p:nvPr>
            <p:ph idx="1"/>
          </p:nvPr>
        </p:nvSpPr>
        <p:spPr/>
        <p:txBody>
          <a:bodyPr/>
          <a:lstStyle/>
          <a:p>
            <a:r>
              <a:rPr lang="en-US" dirty="0"/>
              <a:t>In the presence of appropriate overloads, the statements</a:t>
            </a:r>
          </a:p>
          <a:p>
            <a:endParaRPr lang="en-US" dirty="0"/>
          </a:p>
          <a:p>
            <a:endParaRPr lang="en-US" dirty="0"/>
          </a:p>
          <a:p>
            <a:endParaRPr lang="en-US" dirty="0"/>
          </a:p>
          <a:p>
            <a:endParaRPr lang="en-US" dirty="0"/>
          </a:p>
          <a:p>
            <a:r>
              <a:rPr lang="en-US" dirty="0"/>
              <a:t>appear to the compiler as</a:t>
            </a:r>
          </a:p>
        </p:txBody>
      </p:sp>
      <p:pic>
        <p:nvPicPr>
          <p:cNvPr id="4" name="Picture 3">
            <a:extLst>
              <a:ext uri="{FF2B5EF4-FFF2-40B4-BE49-F238E27FC236}">
                <a16:creationId xmlns:a16="http://schemas.microsoft.com/office/drawing/2014/main" id="{9FD6041B-E8CD-4F0A-2249-16720837307F}"/>
              </a:ext>
            </a:extLst>
          </p:cNvPr>
          <p:cNvPicPr>
            <a:picLocks noChangeAspect="1"/>
          </p:cNvPicPr>
          <p:nvPr/>
        </p:nvPicPr>
        <p:blipFill>
          <a:blip r:embed="rId2"/>
          <a:stretch>
            <a:fillRect/>
          </a:stretch>
        </p:blipFill>
        <p:spPr>
          <a:xfrm>
            <a:off x="4743450" y="2643716"/>
            <a:ext cx="2705100" cy="1079500"/>
          </a:xfrm>
          <a:prstGeom prst="rect">
            <a:avLst/>
          </a:prstGeom>
        </p:spPr>
      </p:pic>
      <p:pic>
        <p:nvPicPr>
          <p:cNvPr id="6" name="Picture 5">
            <a:extLst>
              <a:ext uri="{FF2B5EF4-FFF2-40B4-BE49-F238E27FC236}">
                <a16:creationId xmlns:a16="http://schemas.microsoft.com/office/drawing/2014/main" id="{DDB97F3D-F8D5-77A9-4A9A-E3DEC6F66235}"/>
              </a:ext>
            </a:extLst>
          </p:cNvPr>
          <p:cNvPicPr>
            <a:picLocks noChangeAspect="1"/>
          </p:cNvPicPr>
          <p:nvPr/>
        </p:nvPicPr>
        <p:blipFill>
          <a:blip r:embed="rId3"/>
          <a:stretch>
            <a:fillRect/>
          </a:stretch>
        </p:blipFill>
        <p:spPr>
          <a:xfrm>
            <a:off x="4781550" y="5084233"/>
            <a:ext cx="2628900" cy="990600"/>
          </a:xfrm>
          <a:prstGeom prst="rect">
            <a:avLst/>
          </a:prstGeom>
        </p:spPr>
      </p:pic>
    </p:spTree>
    <p:extLst>
      <p:ext uri="{BB962C8B-B14F-4D97-AF65-F5344CB8AC3E}">
        <p14:creationId xmlns:p14="http://schemas.microsoft.com/office/powerpoint/2010/main" val="13184292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D0AAB-9347-A351-178D-7E77FECCC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43897-6600-3A1C-CB65-07B3E9682D9E}"/>
              </a:ext>
            </a:extLst>
          </p:cNvPr>
          <p:cNvSpPr>
            <a:spLocks noGrp="1"/>
          </p:cNvSpPr>
          <p:nvPr>
            <p:ph type="title"/>
          </p:nvPr>
        </p:nvSpPr>
        <p:spPr/>
        <p:txBody>
          <a:bodyPr/>
          <a:lstStyle/>
          <a:p>
            <a:r>
              <a:rPr lang="en-US" dirty="0"/>
              <a:t>Overloading the Stream Insertion and Extraction Operators</a:t>
            </a:r>
          </a:p>
        </p:txBody>
      </p:sp>
      <p:sp>
        <p:nvSpPr>
          <p:cNvPr id="3" name="Content Placeholder 2">
            <a:extLst>
              <a:ext uri="{FF2B5EF4-FFF2-40B4-BE49-F238E27FC236}">
                <a16:creationId xmlns:a16="http://schemas.microsoft.com/office/drawing/2014/main" id="{9853C8C4-0DC5-6127-AB9A-57AB5A4D7B2A}"/>
              </a:ext>
            </a:extLst>
          </p:cNvPr>
          <p:cNvSpPr>
            <a:spLocks noGrp="1"/>
          </p:cNvSpPr>
          <p:nvPr>
            <p:ph idx="1"/>
          </p:nvPr>
        </p:nvSpPr>
        <p:spPr/>
        <p:txBody>
          <a:bodyPr>
            <a:normAutofit lnSpcReduction="10000"/>
          </a:bodyPr>
          <a:lstStyle/>
          <a:p>
            <a:pPr algn="l"/>
            <a:r>
              <a:rPr lang="en-US" dirty="0">
                <a:effectLst/>
              </a:rPr>
              <a:t>This equivalence has the following implications:</a:t>
            </a:r>
          </a:p>
          <a:p>
            <a:pPr lvl="1">
              <a:buFont typeface="+mj-lt"/>
              <a:buAutoNum type="arabicPeriod"/>
            </a:pPr>
            <a:r>
              <a:rPr lang="en-US" dirty="0"/>
              <a:t>The overloaded operator &lt;&lt; takes two parameters, the first of which is an </a:t>
            </a:r>
            <a:r>
              <a:rPr lang="en-US" dirty="0" err="1"/>
              <a:t>ostream</a:t>
            </a:r>
            <a:r>
              <a:rPr lang="en-US" dirty="0"/>
              <a:t> object and the second of which is an object of the class for which the operator is being overloaded. </a:t>
            </a:r>
            <a:br>
              <a:rPr lang="en-US" dirty="0"/>
            </a:br>
            <a:r>
              <a:rPr lang="en-US" dirty="0"/>
              <a:t>For the Length class, the prototype would be </a:t>
            </a:r>
            <a:br>
              <a:rPr lang="en-US" dirty="0"/>
            </a:br>
            <a:r>
              <a:rPr lang="en-US" i="1" dirty="0">
                <a:solidFill>
                  <a:srgbClr val="FF0000"/>
                </a:solidFill>
              </a:rPr>
              <a:t>operator&lt;&lt;(</a:t>
            </a:r>
            <a:r>
              <a:rPr lang="en-US" i="1" dirty="0" err="1">
                <a:solidFill>
                  <a:srgbClr val="FF0000"/>
                </a:solidFill>
              </a:rPr>
              <a:t>ostream</a:t>
            </a:r>
            <a:r>
              <a:rPr lang="en-US" i="1" dirty="0">
                <a:solidFill>
                  <a:srgbClr val="FF0000"/>
                </a:solidFill>
              </a:rPr>
              <a:t> &amp;</a:t>
            </a:r>
            <a:r>
              <a:rPr lang="en-US" i="1" dirty="0" err="1">
                <a:solidFill>
                  <a:srgbClr val="FF0000"/>
                </a:solidFill>
              </a:rPr>
              <a:t>strm</a:t>
            </a:r>
            <a:r>
              <a:rPr lang="en-US" i="1" dirty="0">
                <a:solidFill>
                  <a:srgbClr val="FF0000"/>
                </a:solidFill>
              </a:rPr>
              <a:t>, Length a)</a:t>
            </a:r>
            <a:br>
              <a:rPr lang="en-US" dirty="0"/>
            </a:br>
            <a:endParaRPr lang="en-US" dirty="0"/>
          </a:p>
          <a:p>
            <a:pPr lvl="1">
              <a:buFont typeface="+mj-lt"/>
              <a:buAutoNum type="arabicPeriod"/>
            </a:pPr>
            <a:r>
              <a:rPr lang="en-US" dirty="0"/>
              <a:t>To allow expressions (such as b + c) in the second parameter, the second parameter should be passed by value. </a:t>
            </a:r>
            <a:br>
              <a:rPr lang="en-US" dirty="0"/>
            </a:br>
            <a:br>
              <a:rPr lang="en-US" dirty="0"/>
            </a:br>
            <a:r>
              <a:rPr lang="en-US" dirty="0"/>
              <a:t>The first parameter should be passed by reference because </a:t>
            </a:r>
            <a:r>
              <a:rPr lang="en-US" dirty="0" err="1"/>
              <a:t>ostream</a:t>
            </a:r>
            <a:r>
              <a:rPr lang="en-US" dirty="0"/>
              <a:t> parameters should never be passed by value because of efficiency and preservation.</a:t>
            </a:r>
          </a:p>
          <a:p>
            <a:endParaRPr lang="en-US" dirty="0"/>
          </a:p>
        </p:txBody>
      </p:sp>
    </p:spTree>
    <p:extLst>
      <p:ext uri="{BB962C8B-B14F-4D97-AF65-F5344CB8AC3E}">
        <p14:creationId xmlns:p14="http://schemas.microsoft.com/office/powerpoint/2010/main" val="9139592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7EE0-02EC-9E4A-E10D-5FCED99133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E1C2E9-CD26-EABA-8762-66C0EE39A407}"/>
              </a:ext>
            </a:extLst>
          </p:cNvPr>
          <p:cNvSpPr>
            <a:spLocks noGrp="1"/>
          </p:cNvSpPr>
          <p:nvPr>
            <p:ph type="title"/>
          </p:nvPr>
        </p:nvSpPr>
        <p:spPr/>
        <p:txBody>
          <a:bodyPr/>
          <a:lstStyle/>
          <a:p>
            <a:r>
              <a:rPr lang="en-US" dirty="0"/>
              <a:t>Overloading the Stream Insertion and Extraction Operators</a:t>
            </a:r>
          </a:p>
        </p:txBody>
      </p:sp>
      <p:sp>
        <p:nvSpPr>
          <p:cNvPr id="3" name="Content Placeholder 2">
            <a:extLst>
              <a:ext uri="{FF2B5EF4-FFF2-40B4-BE49-F238E27FC236}">
                <a16:creationId xmlns:a16="http://schemas.microsoft.com/office/drawing/2014/main" id="{BE8ADD61-CF36-9A11-5214-406DC0BF4436}"/>
              </a:ext>
            </a:extLst>
          </p:cNvPr>
          <p:cNvSpPr>
            <a:spLocks noGrp="1"/>
          </p:cNvSpPr>
          <p:nvPr>
            <p:ph idx="1"/>
          </p:nvPr>
        </p:nvSpPr>
        <p:spPr/>
        <p:txBody>
          <a:bodyPr>
            <a:normAutofit/>
          </a:bodyPr>
          <a:lstStyle/>
          <a:p>
            <a:r>
              <a:rPr lang="en-US" dirty="0"/>
              <a:t>In addition, the stream insertion operator should return its stream parameter so that several output expressions can be chained together, as in – </a:t>
            </a:r>
          </a:p>
          <a:p>
            <a:endParaRPr lang="en-US" dirty="0"/>
          </a:p>
          <a:p>
            <a:pPr marL="0" indent="0">
              <a:buNone/>
            </a:pPr>
            <a:endParaRPr lang="en-US" dirty="0"/>
          </a:p>
          <a:p>
            <a:r>
              <a:rPr lang="en-US" dirty="0"/>
              <a:t>Putting all of this together, we see that the stream insertion operator should be written as </a:t>
            </a:r>
          </a:p>
        </p:txBody>
      </p:sp>
      <p:pic>
        <p:nvPicPr>
          <p:cNvPr id="4" name="Picture 3">
            <a:extLst>
              <a:ext uri="{FF2B5EF4-FFF2-40B4-BE49-F238E27FC236}">
                <a16:creationId xmlns:a16="http://schemas.microsoft.com/office/drawing/2014/main" id="{47A8F428-3BC1-FA82-861C-EB33AFC04C53}"/>
              </a:ext>
            </a:extLst>
          </p:cNvPr>
          <p:cNvPicPr>
            <a:picLocks noChangeAspect="1"/>
          </p:cNvPicPr>
          <p:nvPr/>
        </p:nvPicPr>
        <p:blipFill>
          <a:blip r:embed="rId2"/>
          <a:stretch>
            <a:fillRect/>
          </a:stretch>
        </p:blipFill>
        <p:spPr>
          <a:xfrm>
            <a:off x="3922527" y="2771256"/>
            <a:ext cx="3990575" cy="950137"/>
          </a:xfrm>
          <a:prstGeom prst="rect">
            <a:avLst/>
          </a:prstGeom>
        </p:spPr>
      </p:pic>
      <p:pic>
        <p:nvPicPr>
          <p:cNvPr id="5" name="Picture 4">
            <a:extLst>
              <a:ext uri="{FF2B5EF4-FFF2-40B4-BE49-F238E27FC236}">
                <a16:creationId xmlns:a16="http://schemas.microsoft.com/office/drawing/2014/main" id="{6DF89A50-836C-A665-94B2-F89122D98FF4}"/>
              </a:ext>
            </a:extLst>
          </p:cNvPr>
          <p:cNvPicPr>
            <a:picLocks noChangeAspect="1"/>
          </p:cNvPicPr>
          <p:nvPr/>
        </p:nvPicPr>
        <p:blipFill>
          <a:blip r:embed="rId3"/>
          <a:stretch>
            <a:fillRect/>
          </a:stretch>
        </p:blipFill>
        <p:spPr>
          <a:xfrm>
            <a:off x="2990850" y="5095875"/>
            <a:ext cx="6210300" cy="1397000"/>
          </a:xfrm>
          <a:prstGeom prst="rect">
            <a:avLst/>
          </a:prstGeom>
        </p:spPr>
      </p:pic>
    </p:spTree>
    <p:extLst>
      <p:ext uri="{BB962C8B-B14F-4D97-AF65-F5344CB8AC3E}">
        <p14:creationId xmlns:p14="http://schemas.microsoft.com/office/powerpoint/2010/main" val="28245581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99B8F-C639-784B-9ABE-5E0259649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EE12B-D9FE-4015-E405-929E8C9B77D4}"/>
              </a:ext>
            </a:extLst>
          </p:cNvPr>
          <p:cNvSpPr>
            <a:spLocks noGrp="1"/>
          </p:cNvSpPr>
          <p:nvPr>
            <p:ph type="title"/>
          </p:nvPr>
        </p:nvSpPr>
        <p:spPr/>
        <p:txBody>
          <a:bodyPr/>
          <a:lstStyle/>
          <a:p>
            <a:r>
              <a:rPr lang="en-US" dirty="0"/>
              <a:t>Overloading the Stream Insertion and Extraction Operators</a:t>
            </a:r>
          </a:p>
        </p:txBody>
      </p:sp>
      <p:sp>
        <p:nvSpPr>
          <p:cNvPr id="3" name="Content Placeholder 2">
            <a:extLst>
              <a:ext uri="{FF2B5EF4-FFF2-40B4-BE49-F238E27FC236}">
                <a16:creationId xmlns:a16="http://schemas.microsoft.com/office/drawing/2014/main" id="{631FA084-31AF-4FC0-5E71-59DE950B82C6}"/>
              </a:ext>
            </a:extLst>
          </p:cNvPr>
          <p:cNvSpPr>
            <a:spLocks noGrp="1"/>
          </p:cNvSpPr>
          <p:nvPr>
            <p:ph idx="1"/>
          </p:nvPr>
        </p:nvSpPr>
        <p:spPr/>
        <p:txBody>
          <a:bodyPr>
            <a:normAutofit/>
          </a:bodyPr>
          <a:lstStyle/>
          <a:p>
            <a:r>
              <a:rPr lang="en-US" dirty="0">
                <a:effectLst/>
              </a:rPr>
              <a:t>Overloading the stream output operator is useful because it allows for the various fields of a complex class to be labeled during output.</a:t>
            </a:r>
          </a:p>
          <a:p>
            <a:r>
              <a:rPr lang="en-US" dirty="0">
                <a:effectLst/>
                <a:latin typeface="Helvetica Neue" panose="02000503000000020004" pitchFamily="2" charset="0"/>
              </a:rPr>
              <a:t>For example, if you have a complex class with multiple fields, such as a Person class with fields for name, age, and address, overloading &lt;&lt; lets you specify how each field should be displayed, including adding labels.</a:t>
            </a:r>
            <a:endParaRPr lang="en-US" dirty="0">
              <a:effectLst/>
            </a:endParaRPr>
          </a:p>
          <a:p>
            <a:pPr lvl="1"/>
            <a:r>
              <a:rPr lang="en-US" i="1" dirty="0">
                <a:solidFill>
                  <a:srgbClr val="FF0000"/>
                </a:solidFill>
              </a:rPr>
              <a:t>std::</a:t>
            </a:r>
            <a:r>
              <a:rPr lang="en-US" i="1" dirty="0" err="1">
                <a:solidFill>
                  <a:srgbClr val="FF0000"/>
                </a:solidFill>
              </a:rPr>
              <a:t>cout</a:t>
            </a:r>
            <a:r>
              <a:rPr lang="en-US" i="1" dirty="0">
                <a:solidFill>
                  <a:srgbClr val="FF0000"/>
                </a:solidFill>
              </a:rPr>
              <a:t> &lt;&lt; person; // where person is an object of class Person</a:t>
            </a:r>
            <a:endParaRPr lang="en-US" dirty="0"/>
          </a:p>
          <a:p>
            <a:r>
              <a:rPr lang="en-US" dirty="0"/>
              <a:t>By overloading the &lt;&lt; operator, the output might appear as:</a:t>
            </a:r>
          </a:p>
          <a:p>
            <a:pPr lvl="1"/>
            <a:r>
              <a:rPr lang="en-US" i="1" dirty="0">
                <a:solidFill>
                  <a:srgbClr val="FF0000"/>
                </a:solidFill>
              </a:rPr>
              <a:t>Name: John Doe, Age: 30, Address: 123 Main St</a:t>
            </a:r>
            <a:endParaRPr lang="en-US" i="1" dirty="0">
              <a:solidFill>
                <a:srgbClr val="FF0000"/>
              </a:solidFill>
              <a:effectLst/>
            </a:endParaRPr>
          </a:p>
          <a:p>
            <a:pPr marL="0" indent="0">
              <a:buNone/>
            </a:pPr>
            <a:endParaRPr lang="en-US" dirty="0"/>
          </a:p>
        </p:txBody>
      </p:sp>
    </p:spTree>
    <p:extLst>
      <p:ext uri="{BB962C8B-B14F-4D97-AF65-F5344CB8AC3E}">
        <p14:creationId xmlns:p14="http://schemas.microsoft.com/office/powerpoint/2010/main" val="12253283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8433C-127F-E0D7-C7CD-0768C93648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301722-6D26-5163-B21B-A586F3D00259}"/>
              </a:ext>
            </a:extLst>
          </p:cNvPr>
          <p:cNvSpPr>
            <a:spLocks noGrp="1"/>
          </p:cNvSpPr>
          <p:nvPr>
            <p:ph type="title"/>
          </p:nvPr>
        </p:nvSpPr>
        <p:spPr/>
        <p:txBody>
          <a:bodyPr/>
          <a:lstStyle/>
          <a:p>
            <a:r>
              <a:rPr lang="en-US" dirty="0"/>
              <a:t>Overloading the Stream Insertion and Extraction Operators</a:t>
            </a:r>
          </a:p>
        </p:txBody>
      </p:sp>
      <p:sp>
        <p:nvSpPr>
          <p:cNvPr id="3" name="Content Placeholder 2">
            <a:extLst>
              <a:ext uri="{FF2B5EF4-FFF2-40B4-BE49-F238E27FC236}">
                <a16:creationId xmlns:a16="http://schemas.microsoft.com/office/drawing/2014/main" id="{06C82A62-FAE8-34D9-3D91-E3D0AE9DBDAB}"/>
              </a:ext>
            </a:extLst>
          </p:cNvPr>
          <p:cNvSpPr>
            <a:spLocks noGrp="1"/>
          </p:cNvSpPr>
          <p:nvPr>
            <p:ph idx="1"/>
          </p:nvPr>
        </p:nvSpPr>
        <p:spPr/>
        <p:txBody>
          <a:bodyPr>
            <a:normAutofit/>
          </a:bodyPr>
          <a:lstStyle/>
          <a:p>
            <a:r>
              <a:rPr lang="en-US" dirty="0"/>
              <a:t>Overloading the stream input operator is similar, except that the class parameter signifying the object to be read into must be passed by reference. Thus, the header for the stream input operator looks like this:</a:t>
            </a:r>
          </a:p>
          <a:p>
            <a:pPr lvl="1"/>
            <a:r>
              <a:rPr lang="en-US" i="1" dirty="0" err="1">
                <a:solidFill>
                  <a:srgbClr val="FF0000"/>
                </a:solidFill>
              </a:rPr>
              <a:t>istream</a:t>
            </a:r>
            <a:r>
              <a:rPr lang="en-US" i="1" dirty="0">
                <a:solidFill>
                  <a:srgbClr val="FF0000"/>
                </a:solidFill>
              </a:rPr>
              <a:t> &amp;</a:t>
            </a:r>
            <a:r>
              <a:rPr lang="en-US" b="1" i="1" dirty="0">
                <a:solidFill>
                  <a:srgbClr val="FF0000"/>
                </a:solidFill>
                <a:effectLst/>
              </a:rPr>
              <a:t>operator</a:t>
            </a:r>
            <a:r>
              <a:rPr lang="en-US" i="1" dirty="0">
                <a:solidFill>
                  <a:srgbClr val="FF0000"/>
                </a:solidFill>
              </a:rPr>
              <a:t>&gt;&gt;(</a:t>
            </a:r>
            <a:r>
              <a:rPr lang="en-US" i="1" dirty="0" err="1">
                <a:solidFill>
                  <a:srgbClr val="FF0000"/>
                </a:solidFill>
              </a:rPr>
              <a:t>istream</a:t>
            </a:r>
            <a:r>
              <a:rPr lang="en-US" i="1" dirty="0">
                <a:solidFill>
                  <a:srgbClr val="FF0000"/>
                </a:solidFill>
              </a:rPr>
              <a:t> &amp;in, Length &amp;a); </a:t>
            </a:r>
          </a:p>
        </p:txBody>
      </p:sp>
    </p:spTree>
    <p:extLst>
      <p:ext uri="{BB962C8B-B14F-4D97-AF65-F5344CB8AC3E}">
        <p14:creationId xmlns:p14="http://schemas.microsoft.com/office/powerpoint/2010/main" val="17807656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E72846-307E-F481-FB83-A91B2C463658}"/>
              </a:ext>
            </a:extLst>
          </p:cNvPr>
          <p:cNvPicPr>
            <a:picLocks noChangeAspect="1"/>
          </p:cNvPicPr>
          <p:nvPr/>
        </p:nvPicPr>
        <p:blipFill>
          <a:blip r:embed="rId2"/>
          <a:stretch>
            <a:fillRect/>
          </a:stretch>
        </p:blipFill>
        <p:spPr>
          <a:xfrm>
            <a:off x="0" y="0"/>
            <a:ext cx="4218950" cy="6858000"/>
          </a:xfrm>
          <a:prstGeom prst="rect">
            <a:avLst/>
          </a:prstGeom>
        </p:spPr>
      </p:pic>
      <p:pic>
        <p:nvPicPr>
          <p:cNvPr id="5" name="Picture 4">
            <a:extLst>
              <a:ext uri="{FF2B5EF4-FFF2-40B4-BE49-F238E27FC236}">
                <a16:creationId xmlns:a16="http://schemas.microsoft.com/office/drawing/2014/main" id="{0E7A2430-4738-898C-728B-6EFF332A36A4}"/>
              </a:ext>
            </a:extLst>
          </p:cNvPr>
          <p:cNvPicPr>
            <a:picLocks noChangeAspect="1"/>
          </p:cNvPicPr>
          <p:nvPr/>
        </p:nvPicPr>
        <p:blipFill>
          <a:blip r:embed="rId3"/>
          <a:stretch>
            <a:fillRect/>
          </a:stretch>
        </p:blipFill>
        <p:spPr>
          <a:xfrm>
            <a:off x="4338827" y="0"/>
            <a:ext cx="4494654" cy="6858000"/>
          </a:xfrm>
          <a:prstGeom prst="rect">
            <a:avLst/>
          </a:prstGeom>
        </p:spPr>
      </p:pic>
      <p:pic>
        <p:nvPicPr>
          <p:cNvPr id="6" name="Picture 5">
            <a:extLst>
              <a:ext uri="{FF2B5EF4-FFF2-40B4-BE49-F238E27FC236}">
                <a16:creationId xmlns:a16="http://schemas.microsoft.com/office/drawing/2014/main" id="{E09BD29A-2A7A-2891-A28A-C7F91B36A117}"/>
              </a:ext>
            </a:extLst>
          </p:cNvPr>
          <p:cNvPicPr>
            <a:picLocks noChangeAspect="1"/>
          </p:cNvPicPr>
          <p:nvPr/>
        </p:nvPicPr>
        <p:blipFill>
          <a:blip r:embed="rId4"/>
          <a:stretch>
            <a:fillRect/>
          </a:stretch>
        </p:blipFill>
        <p:spPr>
          <a:xfrm>
            <a:off x="9135014" y="0"/>
            <a:ext cx="3056986" cy="6858000"/>
          </a:xfrm>
          <a:prstGeom prst="rect">
            <a:avLst/>
          </a:prstGeom>
        </p:spPr>
      </p:pic>
    </p:spTree>
    <p:extLst>
      <p:ext uri="{BB962C8B-B14F-4D97-AF65-F5344CB8AC3E}">
        <p14:creationId xmlns:p14="http://schemas.microsoft.com/office/powerpoint/2010/main" val="10082133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C848-37BF-8B2E-4A8D-54FB0B578F9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6BAC7F4-BA02-F8E6-C12A-FC8E44C0EB1D}"/>
              </a:ext>
            </a:extLst>
          </p:cNvPr>
          <p:cNvPicPr>
            <a:picLocks noChangeAspect="1"/>
          </p:cNvPicPr>
          <p:nvPr/>
        </p:nvPicPr>
        <p:blipFill>
          <a:blip r:embed="rId2"/>
          <a:stretch>
            <a:fillRect/>
          </a:stretch>
        </p:blipFill>
        <p:spPr>
          <a:xfrm>
            <a:off x="634173" y="0"/>
            <a:ext cx="5461827" cy="6858000"/>
          </a:xfrm>
          <a:prstGeom prst="rect">
            <a:avLst/>
          </a:prstGeom>
        </p:spPr>
      </p:pic>
      <p:pic>
        <p:nvPicPr>
          <p:cNvPr id="3" name="Picture 2">
            <a:extLst>
              <a:ext uri="{FF2B5EF4-FFF2-40B4-BE49-F238E27FC236}">
                <a16:creationId xmlns:a16="http://schemas.microsoft.com/office/drawing/2014/main" id="{DA419F5D-4965-FEF6-91AC-D3E283F1909C}"/>
              </a:ext>
            </a:extLst>
          </p:cNvPr>
          <p:cNvPicPr>
            <a:picLocks noChangeAspect="1"/>
          </p:cNvPicPr>
          <p:nvPr/>
        </p:nvPicPr>
        <p:blipFill>
          <a:blip r:embed="rId3"/>
          <a:stretch>
            <a:fillRect/>
          </a:stretch>
        </p:blipFill>
        <p:spPr>
          <a:xfrm>
            <a:off x="7047685" y="1337192"/>
            <a:ext cx="4732597" cy="4183616"/>
          </a:xfrm>
          <a:prstGeom prst="rect">
            <a:avLst/>
          </a:prstGeom>
        </p:spPr>
      </p:pic>
    </p:spTree>
    <p:extLst>
      <p:ext uri="{BB962C8B-B14F-4D97-AF65-F5344CB8AC3E}">
        <p14:creationId xmlns:p14="http://schemas.microsoft.com/office/powerpoint/2010/main" val="7332142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5987E-0E63-C4F2-6D0A-5220E66C2D28}"/>
              </a:ext>
            </a:extLst>
          </p:cNvPr>
          <p:cNvSpPr>
            <a:spLocks noGrp="1"/>
          </p:cNvSpPr>
          <p:nvPr>
            <p:ph type="title"/>
          </p:nvPr>
        </p:nvSpPr>
        <p:spPr/>
        <p:txBody>
          <a:bodyPr/>
          <a:lstStyle/>
          <a:p>
            <a:r>
              <a:rPr lang="en-US" dirty="0"/>
              <a:t>Overloading the [] Operator</a:t>
            </a:r>
          </a:p>
        </p:txBody>
      </p:sp>
      <p:sp>
        <p:nvSpPr>
          <p:cNvPr id="3" name="Content Placeholder 2">
            <a:extLst>
              <a:ext uri="{FF2B5EF4-FFF2-40B4-BE49-F238E27FC236}">
                <a16:creationId xmlns:a16="http://schemas.microsoft.com/office/drawing/2014/main" id="{2266815D-6196-1432-C456-981975067BCC}"/>
              </a:ext>
            </a:extLst>
          </p:cNvPr>
          <p:cNvSpPr>
            <a:spLocks noGrp="1"/>
          </p:cNvSpPr>
          <p:nvPr>
            <p:ph idx="1"/>
          </p:nvPr>
        </p:nvSpPr>
        <p:spPr/>
        <p:txBody>
          <a:bodyPr/>
          <a:lstStyle/>
          <a:p>
            <a:r>
              <a:rPr lang="en-US" dirty="0"/>
              <a:t>Any C++ class can overload the array indexing operator [ ] to make its objects have array-like behavior. </a:t>
            </a:r>
          </a:p>
          <a:p>
            <a:r>
              <a:rPr lang="en-US" dirty="0"/>
              <a:t>To give a simple example, suppose we want to write a Name class to represent the full name of a person. For such a name object, we want name[1] to be the first name and name[2] to be the last name. </a:t>
            </a:r>
          </a:p>
          <a:p>
            <a:r>
              <a:rPr lang="en-US" dirty="0"/>
              <a:t>Furthermore, we want an attempt to index such an object with any integer other than 1 and 2 to terminate the program with an error message. </a:t>
            </a:r>
          </a:p>
        </p:txBody>
      </p:sp>
    </p:spTree>
    <p:extLst>
      <p:ext uri="{BB962C8B-B14F-4D97-AF65-F5344CB8AC3E}">
        <p14:creationId xmlns:p14="http://schemas.microsoft.com/office/powerpoint/2010/main" val="31661261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5C800-BABE-5804-A2B5-B5EFE4ECA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D03E3A-713D-A6F7-7023-8009D2CBC52A}"/>
              </a:ext>
            </a:extLst>
          </p:cNvPr>
          <p:cNvSpPr>
            <a:spLocks noGrp="1"/>
          </p:cNvSpPr>
          <p:nvPr>
            <p:ph type="title"/>
          </p:nvPr>
        </p:nvSpPr>
        <p:spPr/>
        <p:txBody>
          <a:bodyPr/>
          <a:lstStyle/>
          <a:p>
            <a:r>
              <a:rPr lang="en-US" dirty="0"/>
              <a:t>Example</a:t>
            </a:r>
          </a:p>
        </p:txBody>
      </p:sp>
      <p:sp>
        <p:nvSpPr>
          <p:cNvPr id="5" name="Content Placeholder 4">
            <a:extLst>
              <a:ext uri="{FF2B5EF4-FFF2-40B4-BE49-F238E27FC236}">
                <a16:creationId xmlns:a16="http://schemas.microsoft.com/office/drawing/2014/main" id="{AA7D6F55-0CF3-0C7D-13B3-77D3C9DA2071}"/>
              </a:ext>
            </a:extLst>
          </p:cNvPr>
          <p:cNvSpPr>
            <a:spLocks noGrp="1"/>
          </p:cNvSpPr>
          <p:nvPr>
            <p:ph idx="1"/>
          </p:nvPr>
        </p:nvSpPr>
        <p:spPr>
          <a:xfrm>
            <a:off x="838200" y="1825625"/>
            <a:ext cx="6189921" cy="4351338"/>
          </a:xfrm>
        </p:spPr>
        <p:txBody>
          <a:bodyPr>
            <a:normAutofit lnSpcReduction="10000"/>
          </a:bodyPr>
          <a:lstStyle/>
          <a:p>
            <a:r>
              <a:rPr lang="en-US" dirty="0"/>
              <a:t>Notice that the operator [ ] function takes an int parameter and returns a reference to a string variable. </a:t>
            </a:r>
          </a:p>
          <a:p>
            <a:r>
              <a:rPr lang="en-US" dirty="0"/>
              <a:t>If name is an object of this class and k is an integer, the call </a:t>
            </a:r>
            <a:r>
              <a:rPr lang="en-US" dirty="0" err="1"/>
              <a:t>name.operator</a:t>
            </a:r>
            <a:r>
              <a:rPr lang="en-US" dirty="0"/>
              <a:t>[ ](k) will be equivalent to name[k]. </a:t>
            </a:r>
          </a:p>
          <a:p>
            <a:r>
              <a:rPr lang="en-US" dirty="0"/>
              <a:t>Basically, name[1] will return a reference to the member variable </a:t>
            </a:r>
            <a:r>
              <a:rPr lang="en-US" dirty="0" err="1"/>
              <a:t>first_name</a:t>
            </a:r>
            <a:r>
              <a:rPr lang="en-US" dirty="0"/>
              <a:t>, and name[2] will return a reference to </a:t>
            </a:r>
            <a:r>
              <a:rPr lang="en-US" dirty="0" err="1"/>
              <a:t>last_name</a:t>
            </a:r>
            <a:r>
              <a:rPr lang="en-US" dirty="0"/>
              <a:t>. </a:t>
            </a:r>
            <a:endParaRPr lang="en-US" b="1" dirty="0"/>
          </a:p>
        </p:txBody>
      </p:sp>
      <p:pic>
        <p:nvPicPr>
          <p:cNvPr id="7" name="Picture 6">
            <a:extLst>
              <a:ext uri="{FF2B5EF4-FFF2-40B4-BE49-F238E27FC236}">
                <a16:creationId xmlns:a16="http://schemas.microsoft.com/office/drawing/2014/main" id="{AA9A1966-A330-AFFF-039F-1D37B9528B69}"/>
              </a:ext>
            </a:extLst>
          </p:cNvPr>
          <p:cNvPicPr>
            <a:picLocks noChangeAspect="1"/>
          </p:cNvPicPr>
          <p:nvPr/>
        </p:nvPicPr>
        <p:blipFill>
          <a:blip r:embed="rId2"/>
          <a:stretch>
            <a:fillRect/>
          </a:stretch>
        </p:blipFill>
        <p:spPr>
          <a:xfrm>
            <a:off x="7482362" y="0"/>
            <a:ext cx="4542476" cy="6858000"/>
          </a:xfrm>
          <a:prstGeom prst="rect">
            <a:avLst/>
          </a:prstGeom>
        </p:spPr>
      </p:pic>
    </p:spTree>
    <p:extLst>
      <p:ext uri="{BB962C8B-B14F-4D97-AF65-F5344CB8AC3E}">
        <p14:creationId xmlns:p14="http://schemas.microsoft.com/office/powerpoint/2010/main" val="3574245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E5531-3803-179D-6DC4-D64962399CF2}"/>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BA22A441-DE9E-6AC5-E3A4-7B455D340F13}"/>
              </a:ext>
            </a:extLst>
          </p:cNvPr>
          <p:cNvPicPr>
            <a:picLocks noChangeAspect="1"/>
          </p:cNvPicPr>
          <p:nvPr/>
        </p:nvPicPr>
        <p:blipFill>
          <a:blip r:embed="rId2"/>
          <a:stretch>
            <a:fillRect/>
          </a:stretch>
        </p:blipFill>
        <p:spPr>
          <a:xfrm>
            <a:off x="3966830" y="903768"/>
            <a:ext cx="5168888" cy="5211430"/>
          </a:xfrm>
          <a:prstGeom prst="rect">
            <a:avLst/>
          </a:prstGeom>
        </p:spPr>
      </p:pic>
    </p:spTree>
    <p:extLst>
      <p:ext uri="{BB962C8B-B14F-4D97-AF65-F5344CB8AC3E}">
        <p14:creationId xmlns:p14="http://schemas.microsoft.com/office/powerpoint/2010/main" val="15484610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456</TotalTime>
  <Words>3098</Words>
  <Application>Microsoft Macintosh PowerPoint</Application>
  <PresentationFormat>Widescreen</PresentationFormat>
  <Paragraphs>226</Paragraphs>
  <Slides>53</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Aptos</vt:lpstr>
      <vt:lpstr>Aptos Display</vt:lpstr>
      <vt:lpstr>Arial</vt:lpstr>
      <vt:lpstr>Helvetica Neue</vt:lpstr>
      <vt:lpstr>Office Theme</vt:lpstr>
      <vt:lpstr>CS 331</vt:lpstr>
      <vt:lpstr>Operator Overloading</vt:lpstr>
      <vt:lpstr>Operator Overloading</vt:lpstr>
      <vt:lpstr>Operator Overloading</vt:lpstr>
      <vt:lpstr>Operator Overloading</vt:lpstr>
      <vt:lpstr>Operator Overloading</vt:lpstr>
      <vt:lpstr>Operator Overloading</vt:lpstr>
      <vt:lpstr>Operator Overloading</vt:lpstr>
      <vt:lpstr>Operator Overloading</vt:lpstr>
      <vt:lpstr>Operator Overloading</vt:lpstr>
      <vt:lpstr>Operator Overloading</vt:lpstr>
      <vt:lpstr>Implementation of the Class Assignment Operator</vt:lpstr>
      <vt:lpstr>Implementation of the Class Assignment Operator</vt:lpstr>
      <vt:lpstr>Example</vt:lpstr>
      <vt:lpstr>Example</vt:lpstr>
      <vt:lpstr>Overloading Other Operators</vt:lpstr>
      <vt:lpstr>Overloading Other Operators</vt:lpstr>
      <vt:lpstr>Overloading Other Operators</vt:lpstr>
      <vt:lpstr>General Issues of Operator Overloading</vt:lpstr>
      <vt:lpstr>General Issues of Operator Overloading</vt:lpstr>
      <vt:lpstr>General Issues of Operator Overloading</vt:lpstr>
      <vt:lpstr>Approaches to Operator Overloading</vt:lpstr>
      <vt:lpstr>Approaches to Operator Overloading</vt:lpstr>
      <vt:lpstr>Approaches to Operator Overloading</vt:lpstr>
      <vt:lpstr>Overloading the Arithmetic and Relational Operators</vt:lpstr>
      <vt:lpstr>Overloading the Arithmetic and Relational Operators</vt:lpstr>
      <vt:lpstr>Overloading the Arithmetic and Relational Operators</vt:lpstr>
      <vt:lpstr>Overloading the Arithmetic and Relational Operators</vt:lpstr>
      <vt:lpstr>Example</vt:lpstr>
      <vt:lpstr>Example</vt:lpstr>
      <vt:lpstr>Choosing Between Stand-Alone and Member-Function Operators</vt:lpstr>
      <vt:lpstr>Choosing Between Stand-Alone and Member-Function Operators</vt:lpstr>
      <vt:lpstr>Choosing Between Stand-Alone and Member-Function Operators</vt:lpstr>
      <vt:lpstr>Choosing Between Stand-Alone and Member-Function Operators</vt:lpstr>
      <vt:lpstr>Choosing Between Stand-Alone and Member-Function Operators</vt:lpstr>
      <vt:lpstr>Choosing Between Stand-Alone and Member-Function Operators</vt:lpstr>
      <vt:lpstr>Choosing Between Stand-Alone and Member-Function Operators</vt:lpstr>
      <vt:lpstr>Choosing Between Stand-Alone and Member-Function Operators</vt:lpstr>
      <vt:lpstr>Overloading the Prefix ++ Operator</vt:lpstr>
      <vt:lpstr>Overloading the Prefix ++ Operator</vt:lpstr>
      <vt:lpstr>Overloading the Postfix ++ Operator</vt:lpstr>
      <vt:lpstr>Overloading the Postfix ++ Operator</vt:lpstr>
      <vt:lpstr>Overloading the Stream Insertion and Extraction Operators</vt:lpstr>
      <vt:lpstr>Overloading the Stream Insertion and Extraction Operators</vt:lpstr>
      <vt:lpstr>Overloading the Stream Insertion and Extraction Operators</vt:lpstr>
      <vt:lpstr>Overloading the Stream Insertion and Extraction Operators</vt:lpstr>
      <vt:lpstr>Overloading the Stream Insertion and Extraction Operators</vt:lpstr>
      <vt:lpstr>Overloading the Stream Insertion and Extraction Operators</vt:lpstr>
      <vt:lpstr>PowerPoint Presentation</vt:lpstr>
      <vt:lpstr>PowerPoint Presentation</vt:lpstr>
      <vt:lpstr>Overloading the [] Operator</vt:lpstr>
      <vt:lpstr>Example</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11</cp:revision>
  <dcterms:created xsi:type="dcterms:W3CDTF">2024-10-24T09:12:51Z</dcterms:created>
  <dcterms:modified xsi:type="dcterms:W3CDTF">2024-11-05T12:54:05Z</dcterms:modified>
</cp:coreProperties>
</file>