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6"/>
    <p:sldId id="263" r:id="rId7"/>
    <p:sldId id="264" r:id="rId8"/>
    <p:sldId id="265" r:id="rId9"/>
    <p:sldId id="266" r:id="rId10"/>
    <p:sldId id="260" r:id="rId11"/>
    <p:sldId id="261"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36"/>
    <p:restoredTop sz="94679"/>
  </p:normalViewPr>
  <p:slideViewPr>
    <p:cSldViewPr snapToGrid="0">
      <p:cViewPr varScale="1">
        <p:scale>
          <a:sx n="146" d="100"/>
          <a:sy n="146" d="100"/>
        </p:scale>
        <p:origin x="184" y="132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5511-DB31-326E-399A-02AE9A8804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7FE8A4-53E2-7FCD-886D-F8725C1D6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4F905-2F28-E323-F7DB-AEC08560072D}"/>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5" name="Footer Placeholder 4">
            <a:extLst>
              <a:ext uri="{FF2B5EF4-FFF2-40B4-BE49-F238E27FC236}">
                <a16:creationId xmlns:a16="http://schemas.microsoft.com/office/drawing/2014/main" id="{D1979DE4-80A9-8C58-66F0-42F2A10B9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8A3A5-214E-67C2-140C-174B13E0C1D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808922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C748-833B-7880-80DF-5C90B957D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1AB2F4-C2CF-969D-6E9A-1D7B28048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C6E4C7-3BC9-AFD7-B05B-0692CAD2AA08}"/>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5" name="Footer Placeholder 4">
            <a:extLst>
              <a:ext uri="{FF2B5EF4-FFF2-40B4-BE49-F238E27FC236}">
                <a16:creationId xmlns:a16="http://schemas.microsoft.com/office/drawing/2014/main" id="{540ADAF5-7A70-6779-13B2-A7B604FEA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E0105-EF09-4244-DDAB-F228A8FDA263}"/>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3527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2788C-8FFC-9D02-2F63-27886ED476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DA6C6E-33F9-7288-9EA4-BD8F31C9DB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C9DF32-1C75-F93C-D122-2878C5D5CB81}"/>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5" name="Footer Placeholder 4">
            <a:extLst>
              <a:ext uri="{FF2B5EF4-FFF2-40B4-BE49-F238E27FC236}">
                <a16:creationId xmlns:a16="http://schemas.microsoft.com/office/drawing/2014/main" id="{996F073C-1AA8-8992-F4B7-37790235A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5BD98-34ED-5934-1066-400483BDC94A}"/>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254733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9CFB9-75C3-8099-BD3D-8C3F788CCE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8928DD-12D5-E6AF-9B04-87F6D3CD58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AFCF32-0321-6646-2CAF-1DCABCF3B8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7906DE-F9EF-D232-A923-1837FEA8B96B}"/>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6" name="Footer Placeholder 5">
            <a:extLst>
              <a:ext uri="{FF2B5EF4-FFF2-40B4-BE49-F238E27FC236}">
                <a16:creationId xmlns:a16="http://schemas.microsoft.com/office/drawing/2014/main" id="{2A024A25-5594-72CB-92DC-95D36DC18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B09B14-8D70-15D2-274A-11DABD4CB1D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354524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10F9-90EB-26DA-7467-FDD1942FCF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C95C83-8C12-21A8-333A-D0266A2111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99EEF4-68A7-5AC1-9AFE-2E6AE17EAF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402387-1C90-E208-1283-357B5B76D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00205E-5DF7-C868-0E01-C6183EC764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73E94-01CC-4227-54D4-F95D3C17C576}"/>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8" name="Footer Placeholder 7">
            <a:extLst>
              <a:ext uri="{FF2B5EF4-FFF2-40B4-BE49-F238E27FC236}">
                <a16:creationId xmlns:a16="http://schemas.microsoft.com/office/drawing/2014/main" id="{68778635-8BD2-23C1-7E62-6AF7D4A2EC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FE19B-9974-605B-0B28-AC95304D8198}"/>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986436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A2B3-7B56-A526-F0A6-5DCD8669C4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56661F-CD7B-5327-694A-618392545692}"/>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4" name="Footer Placeholder 3">
            <a:extLst>
              <a:ext uri="{FF2B5EF4-FFF2-40B4-BE49-F238E27FC236}">
                <a16:creationId xmlns:a16="http://schemas.microsoft.com/office/drawing/2014/main" id="{1127053B-3B2B-3228-6302-BC402F58CE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5A3758-F701-1B94-5FFF-31A5800CB1D5}"/>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478351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9C2289-AC04-9D0C-074D-AC99B03C12F5}"/>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3" name="Footer Placeholder 2">
            <a:extLst>
              <a:ext uri="{FF2B5EF4-FFF2-40B4-BE49-F238E27FC236}">
                <a16:creationId xmlns:a16="http://schemas.microsoft.com/office/drawing/2014/main" id="{A6EDA553-FBB9-0E78-B0EA-0E7BEE03F0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A3716-124B-A37D-1DB2-5EB85BFBD89C}"/>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23165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929C9-02EE-96B2-5157-3358ED77DC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6FDDE9-8B80-9FC0-D3ED-52A432D8C7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B44577-036C-34A6-7D96-F79809ACF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8DD4E9-534E-3D62-10DC-40779F95A29E}"/>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6" name="Footer Placeholder 5">
            <a:extLst>
              <a:ext uri="{FF2B5EF4-FFF2-40B4-BE49-F238E27FC236}">
                <a16:creationId xmlns:a16="http://schemas.microsoft.com/office/drawing/2014/main" id="{242BBB1B-AFCA-25E9-EE7B-20A36FEFF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9893FB-5E8D-6E72-464E-C090B01F2DAA}"/>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81071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91FE-F596-0A3C-F573-BE82C359FE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BBE5C7-8B55-6217-6F0B-AE7D95A7B8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C43BC0-7307-5AB3-957E-CB91145D5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A1BCD-7C4E-88F7-4B15-EC2AB1793A95}"/>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6" name="Footer Placeholder 5">
            <a:extLst>
              <a:ext uri="{FF2B5EF4-FFF2-40B4-BE49-F238E27FC236}">
                <a16:creationId xmlns:a16="http://schemas.microsoft.com/office/drawing/2014/main" id="{FA215552-5170-7C65-D47F-D01D68A1DD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66E66-2D4D-F68A-7291-F08A1B06D82C}"/>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595903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DCCC-E064-14FB-6144-2576D7CF49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8E1986-188C-5843-C0ED-C149BA3DA9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DCAD7-59D2-7D67-1F7E-21C935FE9768}"/>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5" name="Footer Placeholder 4">
            <a:extLst>
              <a:ext uri="{FF2B5EF4-FFF2-40B4-BE49-F238E27FC236}">
                <a16:creationId xmlns:a16="http://schemas.microsoft.com/office/drawing/2014/main" id="{65C271E6-B1FC-A858-AF3C-346FFA2C6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9752C-51B1-9525-A5AF-A072582070CE}"/>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106067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6C07EE-F465-1FEF-52C6-CCFB223F39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59F677-0FC6-91FA-BB02-F2F8F359E5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9CF52D-CC1B-CC79-195D-A249A79B8CDB}"/>
              </a:ext>
            </a:extLst>
          </p:cNvPr>
          <p:cNvSpPr>
            <a:spLocks noGrp="1"/>
          </p:cNvSpPr>
          <p:nvPr>
            <p:ph type="dt" sz="half" idx="10"/>
          </p:nvPr>
        </p:nvSpPr>
        <p:spPr/>
        <p:txBody>
          <a:bodyPr/>
          <a:lstStyle/>
          <a:p>
            <a:fld id="{CA04CA06-6EC4-5F46-A802-374C19351989}" type="datetimeFigureOut">
              <a:rPr lang="en-US" smtClean="0"/>
              <a:t>11/14/24</a:t>
            </a:fld>
            <a:endParaRPr lang="en-US"/>
          </a:p>
        </p:txBody>
      </p:sp>
      <p:sp>
        <p:nvSpPr>
          <p:cNvPr id="5" name="Footer Placeholder 4">
            <a:extLst>
              <a:ext uri="{FF2B5EF4-FFF2-40B4-BE49-F238E27FC236}">
                <a16:creationId xmlns:a16="http://schemas.microsoft.com/office/drawing/2014/main" id="{067316FC-6D2E-507E-87B9-5232B21BD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D92E8-22C7-DB2F-8A68-6DD2AFE4392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3129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E46B24-AB7C-9DC9-AC26-51E3748843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D91739-D012-26B6-DB9F-6D9A0878E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0D82A-DA1B-059E-432D-B1D055FF1D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04CA06-6EC4-5F46-A802-374C19351989}" type="datetimeFigureOut">
              <a:rPr lang="en-US" smtClean="0"/>
              <a:t>11/14/24</a:t>
            </a:fld>
            <a:endParaRPr lang="en-US"/>
          </a:p>
        </p:txBody>
      </p:sp>
      <p:sp>
        <p:nvSpPr>
          <p:cNvPr id="5" name="Footer Placeholder 4">
            <a:extLst>
              <a:ext uri="{FF2B5EF4-FFF2-40B4-BE49-F238E27FC236}">
                <a16:creationId xmlns:a16="http://schemas.microsoft.com/office/drawing/2014/main" id="{D963A45C-6F14-49BF-57EB-C84CE674C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D50D68-7B98-3BEA-CA53-4DBCEE6BDD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AB1FB0-8E40-FF42-929D-3D944DFE8885}" type="slidenum">
              <a:rPr lang="en-US" smtClean="0"/>
              <a:t>‹#›</a:t>
            </a:fld>
            <a:endParaRPr lang="en-US"/>
          </a:p>
        </p:txBody>
      </p:sp>
    </p:spTree>
    <p:extLst>
      <p:ext uri="{BB962C8B-B14F-4D97-AF65-F5344CB8AC3E}">
        <p14:creationId xmlns:p14="http://schemas.microsoft.com/office/powerpoint/2010/main" val="394562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3d52d0d8-88da-477c-b22c-80855cc3ed01?userPreferredType=stud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06286275-fb8c-40ca-b69d-f0e1890f948c?userPreferredType=stud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06286275-fb8c-40ca-b69d-f0e1890f948c?userPreferredType=study"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f348ae1-2c46-4a8e-a826-c29293cbad55?userPreferredType=study"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f348ae1-2c46-4a8e-a826-c29293cbad55?userPreferredType=study"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f348ae1-2c46-4a8e-a826-c29293cbad55?userPreferredType=study"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Polymorphism and Virtual Functions Part 1</a:t>
            </a:r>
          </a:p>
          <a:p>
            <a:r>
              <a:rPr lang="en-US" dirty="0"/>
              <a:t>MD Romael Haque</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CB552-3C71-14D6-767D-377465E199A2}"/>
              </a:ext>
            </a:extLst>
          </p:cNvPr>
          <p:cNvSpPr>
            <a:spLocks noGrp="1"/>
          </p:cNvSpPr>
          <p:nvPr>
            <p:ph type="title"/>
          </p:nvPr>
        </p:nvSpPr>
        <p:spPr/>
        <p:txBody>
          <a:bodyPr/>
          <a:lstStyle/>
          <a:p>
            <a:r>
              <a:rPr lang="en-US" dirty="0"/>
              <a:t>Type Compatibility in Inheritance Hierarchies</a:t>
            </a:r>
          </a:p>
        </p:txBody>
      </p:sp>
      <p:sp>
        <p:nvSpPr>
          <p:cNvPr id="3" name="Content Placeholder 2">
            <a:extLst>
              <a:ext uri="{FF2B5EF4-FFF2-40B4-BE49-F238E27FC236}">
                <a16:creationId xmlns:a16="http://schemas.microsoft.com/office/drawing/2014/main" id="{4C47438F-F02F-7137-F176-BFA00BBA8BD4}"/>
              </a:ext>
            </a:extLst>
          </p:cNvPr>
          <p:cNvSpPr>
            <a:spLocks noGrp="1"/>
          </p:cNvSpPr>
          <p:nvPr>
            <p:ph idx="1"/>
          </p:nvPr>
        </p:nvSpPr>
        <p:spPr/>
        <p:txBody>
          <a:bodyPr/>
          <a:lstStyle/>
          <a:p>
            <a:r>
              <a:rPr lang="en-US" dirty="0"/>
              <a:t>So far we’ve learned that it often makes sense to create a new class based on an existing class if the new class is a special version of the existing one. </a:t>
            </a:r>
          </a:p>
          <a:p>
            <a:r>
              <a:rPr lang="en-US" dirty="0"/>
              <a:t>The derived class can then itself serve as the base class for other classes, resulting in an </a:t>
            </a:r>
            <a:r>
              <a:rPr lang="en-US" b="1" dirty="0">
                <a:hlinkClick r:id="rId2">
                  <a:extLst>
                    <a:ext uri="{A12FA001-AC4F-418D-AE19-62706E023703}">
                      <ahyp:hlinkClr xmlns:ahyp="http://schemas.microsoft.com/office/drawing/2018/hyperlinkcolor" val="tx"/>
                    </a:ext>
                  </a:extLst>
                </a:hlinkClick>
              </a:rPr>
              <a:t>inheritance hierarchy</a:t>
            </a:r>
            <a:r>
              <a:rPr lang="en-US" b="1" dirty="0"/>
              <a:t>.</a:t>
            </a:r>
          </a:p>
        </p:txBody>
      </p:sp>
    </p:spTree>
    <p:extLst>
      <p:ext uri="{BB962C8B-B14F-4D97-AF65-F5344CB8AC3E}">
        <p14:creationId xmlns:p14="http://schemas.microsoft.com/office/powerpoint/2010/main" val="259249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E5C0-7906-2947-6E78-090C52C2B8B8}"/>
              </a:ext>
            </a:extLst>
          </p:cNvPr>
          <p:cNvSpPr>
            <a:spLocks noGrp="1"/>
          </p:cNvSpPr>
          <p:nvPr>
            <p:ph type="title"/>
          </p:nvPr>
        </p:nvSpPr>
        <p:spPr/>
        <p:txBody>
          <a:bodyPr/>
          <a:lstStyle/>
          <a:p>
            <a:r>
              <a:rPr lang="en-US" dirty="0"/>
              <a:t>Type Compatibility in Inheritance Hierarchies</a:t>
            </a:r>
          </a:p>
        </p:txBody>
      </p:sp>
      <p:sp>
        <p:nvSpPr>
          <p:cNvPr id="3" name="Content Placeholder 2">
            <a:extLst>
              <a:ext uri="{FF2B5EF4-FFF2-40B4-BE49-F238E27FC236}">
                <a16:creationId xmlns:a16="http://schemas.microsoft.com/office/drawing/2014/main" id="{8897AFAE-06FD-F6CF-052C-99530C503BE7}"/>
              </a:ext>
            </a:extLst>
          </p:cNvPr>
          <p:cNvSpPr>
            <a:spLocks noGrp="1"/>
          </p:cNvSpPr>
          <p:nvPr>
            <p:ph idx="1"/>
          </p:nvPr>
        </p:nvSpPr>
        <p:spPr>
          <a:xfrm>
            <a:off x="838200" y="1825625"/>
            <a:ext cx="6659880" cy="4351338"/>
          </a:xfrm>
        </p:spPr>
        <p:txBody>
          <a:bodyPr/>
          <a:lstStyle/>
          <a:p>
            <a:r>
              <a:rPr lang="en-US" dirty="0"/>
              <a:t>In our previous example- we used the process of inheritance to create a hierarchy of several classes: </a:t>
            </a:r>
            <a:r>
              <a:rPr lang="en-US" b="1" i="1" dirty="0"/>
              <a:t>Person, Student, Faculty, and </a:t>
            </a:r>
            <a:r>
              <a:rPr lang="en-US" b="1" i="1" dirty="0" err="1"/>
              <a:t>TFaculty</a:t>
            </a:r>
            <a:r>
              <a:rPr lang="en-US" dirty="0"/>
              <a:t>. </a:t>
            </a:r>
          </a:p>
          <a:p>
            <a:r>
              <a:rPr lang="en-US" dirty="0"/>
              <a:t>The relationship of inheritance is normally depicted using rectangles to represent the classes and arrows pointing from the derived class to the base class</a:t>
            </a:r>
          </a:p>
        </p:txBody>
      </p:sp>
      <p:pic>
        <p:nvPicPr>
          <p:cNvPr id="4" name="Picture 3">
            <a:extLst>
              <a:ext uri="{FF2B5EF4-FFF2-40B4-BE49-F238E27FC236}">
                <a16:creationId xmlns:a16="http://schemas.microsoft.com/office/drawing/2014/main" id="{9E239A61-A9DC-537C-458B-EB2160688DA5}"/>
              </a:ext>
            </a:extLst>
          </p:cNvPr>
          <p:cNvPicPr>
            <a:picLocks noChangeAspect="1"/>
          </p:cNvPicPr>
          <p:nvPr/>
        </p:nvPicPr>
        <p:blipFill>
          <a:blip r:embed="rId2"/>
          <a:stretch>
            <a:fillRect/>
          </a:stretch>
        </p:blipFill>
        <p:spPr>
          <a:xfrm>
            <a:off x="7244377" y="2557351"/>
            <a:ext cx="4356595" cy="2178298"/>
          </a:xfrm>
          <a:prstGeom prst="rect">
            <a:avLst/>
          </a:prstGeom>
        </p:spPr>
      </p:pic>
    </p:spTree>
    <p:extLst>
      <p:ext uri="{BB962C8B-B14F-4D97-AF65-F5344CB8AC3E}">
        <p14:creationId xmlns:p14="http://schemas.microsoft.com/office/powerpoint/2010/main" val="3441834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AE15D-497D-DD31-A188-3915182BC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58A93-EDA0-70EB-102D-5C039AFC420B}"/>
              </a:ext>
            </a:extLst>
          </p:cNvPr>
          <p:cNvSpPr>
            <a:spLocks noGrp="1"/>
          </p:cNvSpPr>
          <p:nvPr>
            <p:ph type="title"/>
          </p:nvPr>
        </p:nvSpPr>
        <p:spPr/>
        <p:txBody>
          <a:bodyPr/>
          <a:lstStyle/>
          <a:p>
            <a:r>
              <a:rPr lang="en-US" dirty="0"/>
              <a:t>Type Compatibility in Inheritance Hierarchies</a:t>
            </a:r>
          </a:p>
        </p:txBody>
      </p:sp>
      <p:sp>
        <p:nvSpPr>
          <p:cNvPr id="3" name="Content Placeholder 2">
            <a:extLst>
              <a:ext uri="{FF2B5EF4-FFF2-40B4-BE49-F238E27FC236}">
                <a16:creationId xmlns:a16="http://schemas.microsoft.com/office/drawing/2014/main" id="{26823ABF-2B59-25EA-8297-2A81B2C40B84}"/>
              </a:ext>
            </a:extLst>
          </p:cNvPr>
          <p:cNvSpPr>
            <a:spLocks noGrp="1"/>
          </p:cNvSpPr>
          <p:nvPr>
            <p:ph idx="1"/>
          </p:nvPr>
        </p:nvSpPr>
        <p:spPr>
          <a:xfrm>
            <a:off x="838200" y="1825624"/>
            <a:ext cx="6659880" cy="4630259"/>
          </a:xfrm>
        </p:spPr>
        <p:txBody>
          <a:bodyPr>
            <a:normAutofit fontScale="92500"/>
          </a:bodyPr>
          <a:lstStyle/>
          <a:p>
            <a:r>
              <a:rPr lang="en-US" dirty="0"/>
              <a:t>In our previous example- we used the process of inheritance to create a hierarchy of several classes: </a:t>
            </a:r>
            <a:r>
              <a:rPr lang="en-US" b="1" i="1" dirty="0"/>
              <a:t>Person, Student, Faculty, and </a:t>
            </a:r>
            <a:r>
              <a:rPr lang="en-US" b="1" i="1" dirty="0" err="1"/>
              <a:t>TFaculty</a:t>
            </a:r>
            <a:r>
              <a:rPr lang="en-US" dirty="0"/>
              <a:t>. </a:t>
            </a:r>
          </a:p>
          <a:p>
            <a:r>
              <a:rPr lang="en-US" dirty="0"/>
              <a:t>This hierarchy may of course be extended. For example, the Student class might itself be used as a base class for two other derived classes, </a:t>
            </a:r>
            <a:r>
              <a:rPr lang="en-US" dirty="0" err="1"/>
              <a:t>CStudent</a:t>
            </a:r>
            <a:r>
              <a:rPr lang="en-US" dirty="0"/>
              <a:t> and </a:t>
            </a:r>
            <a:r>
              <a:rPr lang="en-US" dirty="0" err="1"/>
              <a:t>RStudent</a:t>
            </a:r>
            <a:r>
              <a:rPr lang="en-US" dirty="0"/>
              <a:t>.</a:t>
            </a:r>
          </a:p>
          <a:p>
            <a:r>
              <a:rPr lang="en-US" dirty="0"/>
              <a:t>These last two classes might be used to represent a type of student that commutes and another type of student that is resident on campus.</a:t>
            </a:r>
          </a:p>
        </p:txBody>
      </p:sp>
      <p:pic>
        <p:nvPicPr>
          <p:cNvPr id="4" name="Picture 3">
            <a:extLst>
              <a:ext uri="{FF2B5EF4-FFF2-40B4-BE49-F238E27FC236}">
                <a16:creationId xmlns:a16="http://schemas.microsoft.com/office/drawing/2014/main" id="{233B948D-2372-C807-8474-6B8D804FD640}"/>
              </a:ext>
            </a:extLst>
          </p:cNvPr>
          <p:cNvPicPr>
            <a:picLocks noChangeAspect="1"/>
          </p:cNvPicPr>
          <p:nvPr/>
        </p:nvPicPr>
        <p:blipFill>
          <a:blip r:embed="rId2"/>
          <a:stretch>
            <a:fillRect/>
          </a:stretch>
        </p:blipFill>
        <p:spPr>
          <a:xfrm>
            <a:off x="7672297" y="1896552"/>
            <a:ext cx="4001493" cy="2000747"/>
          </a:xfrm>
          <a:prstGeom prst="rect">
            <a:avLst/>
          </a:prstGeom>
        </p:spPr>
      </p:pic>
      <p:sp>
        <p:nvSpPr>
          <p:cNvPr id="5" name="Content Placeholder 2">
            <a:extLst>
              <a:ext uri="{FF2B5EF4-FFF2-40B4-BE49-F238E27FC236}">
                <a16:creationId xmlns:a16="http://schemas.microsoft.com/office/drawing/2014/main" id="{374926F8-D5FF-4016-D9A3-BE232CFACD5A}"/>
              </a:ext>
            </a:extLst>
          </p:cNvPr>
          <p:cNvSpPr txBox="1">
            <a:spLocks/>
          </p:cNvSpPr>
          <p:nvPr/>
        </p:nvSpPr>
        <p:spPr>
          <a:xfrm>
            <a:off x="7794169" y="4103163"/>
            <a:ext cx="3757748" cy="23527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t>The relationship of inheritance is normally depicted using rectangles to represent the classes and arrows pointing from the derived class to the base class</a:t>
            </a:r>
          </a:p>
        </p:txBody>
      </p:sp>
    </p:spTree>
    <p:extLst>
      <p:ext uri="{BB962C8B-B14F-4D97-AF65-F5344CB8AC3E}">
        <p14:creationId xmlns:p14="http://schemas.microsoft.com/office/powerpoint/2010/main" val="511884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7CBD-DDA4-9618-ACCF-F3013D3DA94B}"/>
              </a:ext>
            </a:extLst>
          </p:cNvPr>
          <p:cNvSpPr>
            <a:spLocks noGrp="1"/>
          </p:cNvSpPr>
          <p:nvPr>
            <p:ph type="title"/>
          </p:nvPr>
        </p:nvSpPr>
        <p:spPr/>
        <p:txBody>
          <a:bodyPr/>
          <a:lstStyle/>
          <a:p>
            <a:r>
              <a:rPr lang="en-US" dirty="0"/>
              <a:t>Type Casting</a:t>
            </a:r>
          </a:p>
        </p:txBody>
      </p:sp>
      <p:sp>
        <p:nvSpPr>
          <p:cNvPr id="3" name="Content Placeholder 2">
            <a:extLst>
              <a:ext uri="{FF2B5EF4-FFF2-40B4-BE49-F238E27FC236}">
                <a16:creationId xmlns:a16="http://schemas.microsoft.com/office/drawing/2014/main" id="{B2976D85-9B3B-9C49-A233-BCE8B4565197}"/>
              </a:ext>
            </a:extLst>
          </p:cNvPr>
          <p:cNvSpPr>
            <a:spLocks noGrp="1"/>
          </p:cNvSpPr>
          <p:nvPr>
            <p:ph idx="1"/>
          </p:nvPr>
        </p:nvSpPr>
        <p:spPr/>
        <p:txBody>
          <a:bodyPr/>
          <a:lstStyle/>
          <a:p>
            <a:r>
              <a:rPr lang="en-US" dirty="0"/>
              <a:t>A </a:t>
            </a:r>
            <a:r>
              <a:rPr lang="en-US" b="1" dirty="0"/>
              <a:t>type cast</a:t>
            </a:r>
            <a:r>
              <a:rPr lang="en-US" dirty="0"/>
              <a:t> is a way to explicitly convert a variable from one data type to another. </a:t>
            </a:r>
          </a:p>
          <a:p>
            <a:r>
              <a:rPr lang="en-US" dirty="0"/>
              <a:t>In object-oriented programming, particularly in languages like C++, type casting is used to convert pointers or references from one class type to another, especially within inheritance hierarchies. </a:t>
            </a:r>
          </a:p>
          <a:p>
            <a:r>
              <a:rPr lang="en-US" dirty="0"/>
              <a:t>Type casting can also be applied to basic data types, like converting an integer to a floating-point number (We’ve seen that).</a:t>
            </a:r>
          </a:p>
        </p:txBody>
      </p:sp>
    </p:spTree>
    <p:extLst>
      <p:ext uri="{BB962C8B-B14F-4D97-AF65-F5344CB8AC3E}">
        <p14:creationId xmlns:p14="http://schemas.microsoft.com/office/powerpoint/2010/main" val="296641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DD3F4-0649-B1C6-4E3A-2EC19E4A7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738AD-7607-5411-EB98-AEB15858FA44}"/>
              </a:ext>
            </a:extLst>
          </p:cNvPr>
          <p:cNvSpPr>
            <a:spLocks noGrp="1"/>
          </p:cNvSpPr>
          <p:nvPr>
            <p:ph type="title"/>
          </p:nvPr>
        </p:nvSpPr>
        <p:spPr/>
        <p:txBody>
          <a:bodyPr/>
          <a:lstStyle/>
          <a:p>
            <a:r>
              <a:rPr lang="en-US" dirty="0"/>
              <a:t>Implicit Casting (Automatic Type Conversion)</a:t>
            </a:r>
          </a:p>
        </p:txBody>
      </p:sp>
      <p:sp>
        <p:nvSpPr>
          <p:cNvPr id="3" name="Content Placeholder 2">
            <a:extLst>
              <a:ext uri="{FF2B5EF4-FFF2-40B4-BE49-F238E27FC236}">
                <a16:creationId xmlns:a16="http://schemas.microsoft.com/office/drawing/2014/main" id="{F759A252-5E6A-1F66-932B-9951339C31A4}"/>
              </a:ext>
            </a:extLst>
          </p:cNvPr>
          <p:cNvSpPr>
            <a:spLocks noGrp="1"/>
          </p:cNvSpPr>
          <p:nvPr>
            <p:ph idx="1"/>
          </p:nvPr>
        </p:nvSpPr>
        <p:spPr/>
        <p:txBody>
          <a:bodyPr/>
          <a:lstStyle/>
          <a:p>
            <a:pPr>
              <a:buFont typeface="Arial" panose="020B0604020202020204" pitchFamily="34" charset="0"/>
              <a:buChar char="•"/>
            </a:pPr>
            <a:r>
              <a:rPr lang="en-US" dirty="0"/>
              <a:t>The compiler automatically performs certain conversions when the target type can safely hold the original type’s value.</a:t>
            </a:r>
          </a:p>
          <a:p>
            <a:pPr>
              <a:buFont typeface="Arial" panose="020B0604020202020204" pitchFamily="34" charset="0"/>
              <a:buChar char="•"/>
            </a:pPr>
            <a:r>
              <a:rPr lang="en-US" b="1" dirty="0"/>
              <a:t>Example:</a:t>
            </a:r>
            <a:r>
              <a:rPr lang="en-US" dirty="0"/>
              <a:t> Assigning an int to a double (e.g., int a = 5; double b = a;). Here, a is implicitly converted to a double.</a:t>
            </a:r>
          </a:p>
        </p:txBody>
      </p:sp>
    </p:spTree>
    <p:extLst>
      <p:ext uri="{BB962C8B-B14F-4D97-AF65-F5344CB8AC3E}">
        <p14:creationId xmlns:p14="http://schemas.microsoft.com/office/powerpoint/2010/main" val="1205575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0FA4-D775-87BF-1998-3083083BEBC2}"/>
              </a:ext>
            </a:extLst>
          </p:cNvPr>
          <p:cNvSpPr>
            <a:spLocks noGrp="1"/>
          </p:cNvSpPr>
          <p:nvPr>
            <p:ph type="title"/>
          </p:nvPr>
        </p:nvSpPr>
        <p:spPr/>
        <p:txBody>
          <a:bodyPr/>
          <a:lstStyle/>
          <a:p>
            <a:r>
              <a:rPr lang="en-US" dirty="0"/>
              <a:t>Explicit Casting (Manual Type Conversion)</a:t>
            </a:r>
          </a:p>
        </p:txBody>
      </p:sp>
      <p:sp>
        <p:nvSpPr>
          <p:cNvPr id="3" name="Content Placeholder 2">
            <a:extLst>
              <a:ext uri="{FF2B5EF4-FFF2-40B4-BE49-F238E27FC236}">
                <a16:creationId xmlns:a16="http://schemas.microsoft.com/office/drawing/2014/main" id="{0E2734AA-22F3-7291-D4DD-C8F06F6F8985}"/>
              </a:ext>
            </a:extLst>
          </p:cNvPr>
          <p:cNvSpPr>
            <a:spLocks noGrp="1"/>
          </p:cNvSpPr>
          <p:nvPr>
            <p:ph idx="1"/>
          </p:nvPr>
        </p:nvSpPr>
        <p:spPr/>
        <p:txBody>
          <a:bodyPr/>
          <a:lstStyle/>
          <a:p>
            <a:r>
              <a:rPr lang="en-US" dirty="0"/>
              <a:t>You, the programmer, tell the compiler to convert a type explicitly using different forms of casting. </a:t>
            </a:r>
          </a:p>
          <a:p>
            <a:r>
              <a:rPr lang="en-US" dirty="0"/>
              <a:t>In C++, there are specific type cast operators:</a:t>
            </a:r>
            <a:br>
              <a:rPr lang="en-US" dirty="0"/>
            </a:br>
            <a:endParaRPr lang="en-US" dirty="0"/>
          </a:p>
          <a:p>
            <a:pPr lvl="1"/>
            <a:r>
              <a:rPr lang="en-US" b="1" dirty="0"/>
              <a:t>Static Cast</a:t>
            </a:r>
          </a:p>
          <a:p>
            <a:pPr lvl="1"/>
            <a:r>
              <a:rPr lang="en-US" b="1" dirty="0"/>
              <a:t>Dynamic Cast</a:t>
            </a:r>
          </a:p>
          <a:p>
            <a:pPr lvl="1"/>
            <a:r>
              <a:rPr lang="en-US" dirty="0"/>
              <a:t>Const Cast</a:t>
            </a:r>
          </a:p>
          <a:p>
            <a:pPr lvl="1"/>
            <a:r>
              <a:rPr lang="en-US" dirty="0"/>
              <a:t>Reinterpret Cast</a:t>
            </a:r>
          </a:p>
        </p:txBody>
      </p:sp>
    </p:spTree>
    <p:extLst>
      <p:ext uri="{BB962C8B-B14F-4D97-AF65-F5344CB8AC3E}">
        <p14:creationId xmlns:p14="http://schemas.microsoft.com/office/powerpoint/2010/main" val="3887742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0EA3-3E16-31D5-FD4B-C3537F618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77A95-EC39-7969-3AFF-A8309AF96C20}"/>
              </a:ext>
            </a:extLst>
          </p:cNvPr>
          <p:cNvSpPr>
            <a:spLocks noGrp="1"/>
          </p:cNvSpPr>
          <p:nvPr>
            <p:ph type="title"/>
          </p:nvPr>
        </p:nvSpPr>
        <p:spPr/>
        <p:txBody>
          <a:bodyPr/>
          <a:lstStyle/>
          <a:p>
            <a:r>
              <a:rPr lang="en-US" dirty="0"/>
              <a:t>Explicit Casting: Static Cast</a:t>
            </a:r>
          </a:p>
        </p:txBody>
      </p:sp>
      <p:sp>
        <p:nvSpPr>
          <p:cNvPr id="3" name="Content Placeholder 2">
            <a:extLst>
              <a:ext uri="{FF2B5EF4-FFF2-40B4-BE49-F238E27FC236}">
                <a16:creationId xmlns:a16="http://schemas.microsoft.com/office/drawing/2014/main" id="{6877E407-46C2-7F1E-7B8C-CE6198C6490A}"/>
              </a:ext>
            </a:extLst>
          </p:cNvPr>
          <p:cNvSpPr>
            <a:spLocks noGrp="1"/>
          </p:cNvSpPr>
          <p:nvPr>
            <p:ph idx="1"/>
          </p:nvPr>
        </p:nvSpPr>
        <p:spPr/>
        <p:txBody>
          <a:bodyPr/>
          <a:lstStyle/>
          <a:p>
            <a:pPr>
              <a:buFont typeface="Arial" panose="020B0604020202020204" pitchFamily="34" charset="0"/>
              <a:buChar char="•"/>
            </a:pPr>
            <a:r>
              <a:rPr lang="en-US" dirty="0"/>
              <a:t>Used for conversions that are known at compile time and where the programmer is confident in the type being cast.</a:t>
            </a:r>
          </a:p>
          <a:p>
            <a:pPr>
              <a:buFont typeface="Arial" panose="020B0604020202020204" pitchFamily="34" charset="0"/>
              <a:buChar char="•"/>
            </a:pPr>
            <a:r>
              <a:rPr lang="en-US" dirty="0"/>
              <a:t>Example: </a:t>
            </a:r>
          </a:p>
          <a:p>
            <a:pPr lvl="1"/>
            <a:r>
              <a:rPr lang="en-US" i="1" dirty="0">
                <a:solidFill>
                  <a:srgbClr val="FF0000"/>
                </a:solidFill>
              </a:rPr>
              <a:t>double d = 9.7; </a:t>
            </a:r>
          </a:p>
          <a:p>
            <a:pPr lvl="1"/>
            <a:r>
              <a:rPr lang="en-US" i="1" dirty="0">
                <a:solidFill>
                  <a:srgbClr val="FF0000"/>
                </a:solidFill>
              </a:rPr>
              <a:t>int a = </a:t>
            </a:r>
            <a:r>
              <a:rPr lang="en-US" i="1" dirty="0" err="1">
                <a:solidFill>
                  <a:srgbClr val="FF0000"/>
                </a:solidFill>
              </a:rPr>
              <a:t>static_cast</a:t>
            </a:r>
            <a:r>
              <a:rPr lang="en-US" i="1" dirty="0">
                <a:solidFill>
                  <a:srgbClr val="FF0000"/>
                </a:solidFill>
              </a:rPr>
              <a:t>&lt;int&gt;(d); (converts double to int by truncating).</a:t>
            </a:r>
          </a:p>
          <a:p>
            <a:endParaRPr lang="en-US" dirty="0"/>
          </a:p>
        </p:txBody>
      </p:sp>
    </p:spTree>
    <p:extLst>
      <p:ext uri="{BB962C8B-B14F-4D97-AF65-F5344CB8AC3E}">
        <p14:creationId xmlns:p14="http://schemas.microsoft.com/office/powerpoint/2010/main" val="1805051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1F42-5FEE-3ABA-087E-ADEC3A3D9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7A379-622D-75AE-2028-A62C2666BD18}"/>
              </a:ext>
            </a:extLst>
          </p:cNvPr>
          <p:cNvSpPr>
            <a:spLocks noGrp="1"/>
          </p:cNvSpPr>
          <p:nvPr>
            <p:ph type="title"/>
          </p:nvPr>
        </p:nvSpPr>
        <p:spPr/>
        <p:txBody>
          <a:bodyPr/>
          <a:lstStyle/>
          <a:p>
            <a:r>
              <a:rPr lang="en-US" dirty="0"/>
              <a:t>Explicit Casting: Dynamic Cast</a:t>
            </a:r>
          </a:p>
        </p:txBody>
      </p:sp>
      <p:sp>
        <p:nvSpPr>
          <p:cNvPr id="3" name="Content Placeholder 2">
            <a:extLst>
              <a:ext uri="{FF2B5EF4-FFF2-40B4-BE49-F238E27FC236}">
                <a16:creationId xmlns:a16="http://schemas.microsoft.com/office/drawing/2014/main" id="{6C7E1419-CFC7-7603-1F22-B5CEC817E752}"/>
              </a:ext>
            </a:extLst>
          </p:cNvPr>
          <p:cNvSpPr>
            <a:spLocks noGrp="1"/>
          </p:cNvSpPr>
          <p:nvPr>
            <p:ph idx="1"/>
          </p:nvPr>
        </p:nvSpPr>
        <p:spPr/>
        <p:txBody>
          <a:bodyPr/>
          <a:lstStyle/>
          <a:p>
            <a:pPr>
              <a:buFont typeface="Arial" panose="020B0604020202020204" pitchFamily="34" charset="0"/>
              <a:buChar char="•"/>
            </a:pPr>
            <a:r>
              <a:rPr lang="en-US" dirty="0" err="1"/>
              <a:t>dynamic_cast</a:t>
            </a:r>
            <a:r>
              <a:rPr lang="en-US" dirty="0"/>
              <a:t> performs a runtime check to ensure that the object being cast is of the correct derived type. </a:t>
            </a:r>
          </a:p>
          <a:p>
            <a:pPr>
              <a:buFont typeface="Arial" panose="020B0604020202020204" pitchFamily="34" charset="0"/>
              <a:buChar char="•"/>
            </a:pPr>
            <a:r>
              <a:rPr lang="en-US" dirty="0"/>
              <a:t>If not, it returns </a:t>
            </a:r>
            <a:r>
              <a:rPr lang="en-US" i="1" dirty="0" err="1">
                <a:solidFill>
                  <a:srgbClr val="FF0000"/>
                </a:solidFill>
              </a:rPr>
              <a:t>nullptr</a:t>
            </a:r>
            <a:r>
              <a:rPr lang="en-US" dirty="0"/>
              <a:t> for pointers or throws an exception for references.</a:t>
            </a:r>
          </a:p>
          <a:p>
            <a:r>
              <a:rPr lang="en-US" dirty="0"/>
              <a:t>Example: </a:t>
            </a:r>
          </a:p>
          <a:p>
            <a:pPr lvl="1"/>
            <a:r>
              <a:rPr lang="en-US" i="1" dirty="0">
                <a:solidFill>
                  <a:srgbClr val="FF0000"/>
                </a:solidFill>
              </a:rPr>
              <a:t>Base* </a:t>
            </a:r>
            <a:r>
              <a:rPr lang="en-US" i="1" dirty="0" err="1">
                <a:solidFill>
                  <a:srgbClr val="FF0000"/>
                </a:solidFill>
              </a:rPr>
              <a:t>basePtr</a:t>
            </a:r>
            <a:r>
              <a:rPr lang="en-US" i="1" dirty="0">
                <a:solidFill>
                  <a:srgbClr val="FF0000"/>
                </a:solidFill>
              </a:rPr>
              <a:t> = new Derived(); </a:t>
            </a:r>
          </a:p>
          <a:p>
            <a:pPr lvl="1"/>
            <a:r>
              <a:rPr lang="en-US" i="1" dirty="0">
                <a:solidFill>
                  <a:srgbClr val="FF0000"/>
                </a:solidFill>
              </a:rPr>
              <a:t>Derived* </a:t>
            </a:r>
            <a:r>
              <a:rPr lang="en-US" i="1" dirty="0" err="1">
                <a:solidFill>
                  <a:srgbClr val="FF0000"/>
                </a:solidFill>
              </a:rPr>
              <a:t>derivedPtr</a:t>
            </a:r>
            <a:r>
              <a:rPr lang="en-US" i="1" dirty="0">
                <a:solidFill>
                  <a:srgbClr val="FF0000"/>
                </a:solidFill>
              </a:rPr>
              <a:t> = </a:t>
            </a:r>
            <a:r>
              <a:rPr lang="en-US" i="1" dirty="0" err="1">
                <a:solidFill>
                  <a:srgbClr val="FF0000"/>
                </a:solidFill>
              </a:rPr>
              <a:t>dynamic_cast</a:t>
            </a:r>
            <a:r>
              <a:rPr lang="en-US" i="1" dirty="0">
                <a:solidFill>
                  <a:srgbClr val="FF0000"/>
                </a:solidFill>
              </a:rPr>
              <a:t>&lt;Derived*&gt;(</a:t>
            </a:r>
            <a:r>
              <a:rPr lang="en-US" i="1" dirty="0" err="1">
                <a:solidFill>
                  <a:srgbClr val="FF0000"/>
                </a:solidFill>
              </a:rPr>
              <a:t>basePtr</a:t>
            </a:r>
            <a:r>
              <a:rPr lang="en-US" i="1" dirty="0">
                <a:solidFill>
                  <a:srgbClr val="FF0000"/>
                </a:solidFill>
              </a:rPr>
              <a:t>);</a:t>
            </a:r>
          </a:p>
        </p:txBody>
      </p:sp>
    </p:spTree>
    <p:extLst>
      <p:ext uri="{BB962C8B-B14F-4D97-AF65-F5344CB8AC3E}">
        <p14:creationId xmlns:p14="http://schemas.microsoft.com/office/powerpoint/2010/main" val="3517980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47BC-306B-418E-190D-D49F3A8EAE2B}"/>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FCC1F60D-C004-5E79-3ED1-329073F2A558}"/>
              </a:ext>
            </a:extLst>
          </p:cNvPr>
          <p:cNvSpPr>
            <a:spLocks noGrp="1"/>
          </p:cNvSpPr>
          <p:nvPr>
            <p:ph idx="1"/>
          </p:nvPr>
        </p:nvSpPr>
        <p:spPr/>
        <p:txBody>
          <a:bodyPr>
            <a:normAutofit/>
          </a:bodyPr>
          <a:lstStyle/>
          <a:p>
            <a:pPr algn="l"/>
            <a:r>
              <a:rPr lang="en-US" dirty="0"/>
              <a:t>In an inheritance hierarchy, type compatibility refers to how objects of different classes relate to each other, especially when it comes to assigning pointers.</a:t>
            </a:r>
          </a:p>
          <a:p>
            <a:r>
              <a:rPr lang="en-US" dirty="0">
                <a:effectLst/>
              </a:rPr>
              <a:t>Certain type compatibility relationships hold among different classes in an inheritance hierarchy. </a:t>
            </a:r>
          </a:p>
          <a:p>
            <a:pPr algn="l"/>
            <a:r>
              <a:rPr lang="en-US" dirty="0">
                <a:effectLst/>
              </a:rPr>
              <a:t>Because objects in an inheritance hierarchy are commonly accessed through pointers, we need to understand a few rules in terms of pointers.</a:t>
            </a:r>
          </a:p>
          <a:p>
            <a:endParaRPr lang="en-US" dirty="0"/>
          </a:p>
        </p:txBody>
      </p:sp>
    </p:spTree>
    <p:extLst>
      <p:ext uri="{BB962C8B-B14F-4D97-AF65-F5344CB8AC3E}">
        <p14:creationId xmlns:p14="http://schemas.microsoft.com/office/powerpoint/2010/main" val="2387536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E049-9F61-45C5-0672-AA5F2FC51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9ED96-0005-2DA5-23B8-3F22053ABE9D}"/>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15AD4815-E528-215F-DBDE-81DFC28401B5}"/>
              </a:ext>
            </a:extLst>
          </p:cNvPr>
          <p:cNvSpPr>
            <a:spLocks noGrp="1"/>
          </p:cNvSpPr>
          <p:nvPr>
            <p:ph idx="1"/>
          </p:nvPr>
        </p:nvSpPr>
        <p:spPr/>
        <p:txBody>
          <a:bodyPr>
            <a:normAutofit/>
          </a:bodyPr>
          <a:lstStyle/>
          <a:p>
            <a:r>
              <a:rPr lang="en-US" b="1" dirty="0"/>
              <a:t>Rule 1: </a:t>
            </a:r>
            <a:r>
              <a:rPr lang="en-US" b="1" i="1" dirty="0"/>
              <a:t>A derived class pointer can always be assigned to a base class pointer</a:t>
            </a:r>
            <a:r>
              <a:rPr lang="en-US" b="1" dirty="0"/>
              <a:t>. </a:t>
            </a:r>
          </a:p>
          <a:p>
            <a:r>
              <a:rPr lang="en-US" dirty="0"/>
              <a:t>A pointer to a derived class can be assigned to a pointer of its base class without any type casting.</a:t>
            </a:r>
          </a:p>
          <a:p>
            <a:r>
              <a:rPr lang="en-US" dirty="0"/>
              <a:t>This is because a derived class is an extension of its base class, so it is always safe for a base class pointer to refer to a derived class object.</a:t>
            </a:r>
          </a:p>
          <a:p>
            <a:r>
              <a:rPr lang="en-US" dirty="0"/>
              <a:t>Example: Given </a:t>
            </a:r>
            <a:r>
              <a:rPr lang="en-US" i="1" dirty="0">
                <a:solidFill>
                  <a:srgbClr val="FF0000"/>
                </a:solidFill>
              </a:rPr>
              <a:t>class Dog : public Animal</a:t>
            </a:r>
            <a:r>
              <a:rPr lang="en-US" dirty="0"/>
              <a:t>, if we create a Dog object, a Animal* pointer can safely point to it, since Dog "is an" Animal.</a:t>
            </a:r>
          </a:p>
        </p:txBody>
      </p:sp>
    </p:spTree>
    <p:extLst>
      <p:ext uri="{BB962C8B-B14F-4D97-AF65-F5344CB8AC3E}">
        <p14:creationId xmlns:p14="http://schemas.microsoft.com/office/powerpoint/2010/main" val="3152279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285E-CC90-7DF1-F401-E7940BA9CD39}"/>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8AEE5910-6A28-3D07-964F-B6E0D5162439}"/>
              </a:ext>
            </a:extLst>
          </p:cNvPr>
          <p:cNvSpPr>
            <a:spLocks noGrp="1"/>
          </p:cNvSpPr>
          <p:nvPr>
            <p:ph idx="1"/>
          </p:nvPr>
        </p:nvSpPr>
        <p:spPr>
          <a:xfrm>
            <a:off x="838199" y="1825625"/>
            <a:ext cx="10630989" cy="4351338"/>
          </a:xfrm>
        </p:spPr>
        <p:txBody>
          <a:bodyPr/>
          <a:lstStyle/>
          <a:p>
            <a:r>
              <a:rPr lang="en-US" dirty="0"/>
              <a:t>Rule 2: </a:t>
            </a:r>
            <a:r>
              <a:rPr lang="en-US" b="1" i="1" dirty="0"/>
              <a:t>A type cast is required to perform the opposite assignment of a base class pointer to a derived class pointer</a:t>
            </a:r>
            <a:r>
              <a:rPr lang="en-US" b="1" dirty="0"/>
              <a:t>. </a:t>
            </a:r>
          </a:p>
          <a:p>
            <a:r>
              <a:rPr lang="en-US" dirty="0"/>
              <a:t>An error may result at run time if the base class pointer does not actually point to a derived class object. </a:t>
            </a:r>
          </a:p>
          <a:p>
            <a:r>
              <a:rPr lang="en-US" dirty="0"/>
              <a:t>Assigning a base class pointer to a derived class pointer is not directly allowed, as it is potentially unsafe. </a:t>
            </a:r>
          </a:p>
          <a:p>
            <a:r>
              <a:rPr lang="en-US" dirty="0"/>
              <a:t>A base class may not contain all the details of a derived class.</a:t>
            </a:r>
          </a:p>
        </p:txBody>
      </p:sp>
    </p:spTree>
    <p:extLst>
      <p:ext uri="{BB962C8B-B14F-4D97-AF65-F5344CB8AC3E}">
        <p14:creationId xmlns:p14="http://schemas.microsoft.com/office/powerpoint/2010/main" val="3721131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78A08-FFF3-49AA-3BCD-3F092B48CBFE}"/>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EBE8A2B3-465C-7FE8-6058-D3022E9C2A97}"/>
              </a:ext>
            </a:extLst>
          </p:cNvPr>
          <p:cNvSpPr>
            <a:spLocks noGrp="1"/>
          </p:cNvSpPr>
          <p:nvPr>
            <p:ph idx="1"/>
          </p:nvPr>
        </p:nvSpPr>
        <p:spPr/>
        <p:txBody>
          <a:bodyPr/>
          <a:lstStyle/>
          <a:p>
            <a:r>
              <a:rPr lang="en-US" dirty="0"/>
              <a:t>A type cast (e.g., using </a:t>
            </a:r>
            <a:r>
              <a:rPr lang="en-US" dirty="0" err="1"/>
              <a:t>static_cast</a:t>
            </a:r>
            <a:r>
              <a:rPr lang="en-US" dirty="0"/>
              <a:t> or </a:t>
            </a:r>
            <a:r>
              <a:rPr lang="en-US" dirty="0" err="1"/>
              <a:t>dynamic_cast</a:t>
            </a:r>
            <a:r>
              <a:rPr lang="en-US" dirty="0"/>
              <a:t>) is required to tell the compiler you intend to treat the base class pointer as a derived class pointer.</a:t>
            </a:r>
          </a:p>
          <a:p>
            <a:r>
              <a:rPr lang="en-US" b="1" dirty="0"/>
              <a:t>Example:</a:t>
            </a:r>
            <a:r>
              <a:rPr lang="en-US" dirty="0"/>
              <a:t> If you have a pointer Animal* </a:t>
            </a:r>
            <a:r>
              <a:rPr lang="en-US" dirty="0" err="1"/>
              <a:t>animalPtr</a:t>
            </a:r>
            <a:r>
              <a:rPr lang="en-US" dirty="0"/>
              <a:t>, and you know it actually points to a Dog object, you would use </a:t>
            </a:r>
          </a:p>
          <a:p>
            <a:pPr lvl="1"/>
            <a:r>
              <a:rPr lang="en-US" i="1" dirty="0">
                <a:solidFill>
                  <a:srgbClr val="FF0000"/>
                </a:solidFill>
              </a:rPr>
              <a:t>Dog* </a:t>
            </a:r>
            <a:r>
              <a:rPr lang="en-US" i="1" dirty="0" err="1">
                <a:solidFill>
                  <a:srgbClr val="FF0000"/>
                </a:solidFill>
              </a:rPr>
              <a:t>dogPtr</a:t>
            </a:r>
            <a:r>
              <a:rPr lang="en-US" i="1" dirty="0">
                <a:solidFill>
                  <a:srgbClr val="FF0000"/>
                </a:solidFill>
              </a:rPr>
              <a:t> = </a:t>
            </a:r>
            <a:r>
              <a:rPr lang="en-US" i="1" dirty="0" err="1">
                <a:solidFill>
                  <a:srgbClr val="FF0000"/>
                </a:solidFill>
              </a:rPr>
              <a:t>dynamic_cast</a:t>
            </a:r>
            <a:r>
              <a:rPr lang="en-US" i="1" dirty="0">
                <a:solidFill>
                  <a:srgbClr val="FF0000"/>
                </a:solidFill>
              </a:rPr>
              <a:t>&lt;Dog*&gt;(</a:t>
            </a:r>
            <a:r>
              <a:rPr lang="en-US" i="1" dirty="0" err="1">
                <a:solidFill>
                  <a:srgbClr val="FF0000"/>
                </a:solidFill>
              </a:rPr>
              <a:t>animalPtr</a:t>
            </a:r>
            <a:r>
              <a:rPr lang="en-US" i="1" dirty="0">
                <a:solidFill>
                  <a:srgbClr val="FF0000"/>
                </a:solidFill>
              </a:rPr>
              <a:t>);</a:t>
            </a:r>
          </a:p>
          <a:p>
            <a:r>
              <a:rPr lang="en-US" dirty="0"/>
              <a:t>However, if </a:t>
            </a:r>
            <a:r>
              <a:rPr lang="en-US" dirty="0" err="1"/>
              <a:t>animalPtr</a:t>
            </a:r>
            <a:r>
              <a:rPr lang="en-US" dirty="0"/>
              <a:t> does not point to a Dog object (e.g., it points to a Cat object), this casting could cause runtime errors or undefined behavior.</a:t>
            </a:r>
          </a:p>
        </p:txBody>
      </p:sp>
    </p:spTree>
    <p:extLst>
      <p:ext uri="{BB962C8B-B14F-4D97-AF65-F5344CB8AC3E}">
        <p14:creationId xmlns:p14="http://schemas.microsoft.com/office/powerpoint/2010/main" val="932681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C7635-971B-0E20-6D8A-C7340B6A1B7B}"/>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D14BB3BC-974F-6A5D-92EF-272C2126B3FB}"/>
              </a:ext>
            </a:extLst>
          </p:cNvPr>
          <p:cNvSpPr>
            <a:spLocks noGrp="1"/>
          </p:cNvSpPr>
          <p:nvPr>
            <p:ph idx="1"/>
          </p:nvPr>
        </p:nvSpPr>
        <p:spPr/>
        <p:txBody>
          <a:bodyPr/>
          <a:lstStyle/>
          <a:p>
            <a:r>
              <a:rPr lang="en-US" dirty="0"/>
              <a:t>Let’s look at an example to show how these rules work with both raw and smart pointers.</a:t>
            </a:r>
          </a:p>
        </p:txBody>
      </p:sp>
      <p:pic>
        <p:nvPicPr>
          <p:cNvPr id="4" name="Picture 3">
            <a:extLst>
              <a:ext uri="{FF2B5EF4-FFF2-40B4-BE49-F238E27FC236}">
                <a16:creationId xmlns:a16="http://schemas.microsoft.com/office/drawing/2014/main" id="{B4A4D466-CE06-0B70-6477-25470408A517}"/>
              </a:ext>
            </a:extLst>
          </p:cNvPr>
          <p:cNvPicPr>
            <a:picLocks noChangeAspect="1"/>
          </p:cNvPicPr>
          <p:nvPr/>
        </p:nvPicPr>
        <p:blipFill>
          <a:blip r:embed="rId2"/>
          <a:stretch>
            <a:fillRect/>
          </a:stretch>
        </p:blipFill>
        <p:spPr>
          <a:xfrm>
            <a:off x="3695700" y="2849563"/>
            <a:ext cx="4800600" cy="3327400"/>
          </a:xfrm>
          <a:prstGeom prst="rect">
            <a:avLst/>
          </a:prstGeom>
        </p:spPr>
      </p:pic>
    </p:spTree>
    <p:extLst>
      <p:ext uri="{BB962C8B-B14F-4D97-AF65-F5344CB8AC3E}">
        <p14:creationId xmlns:p14="http://schemas.microsoft.com/office/powerpoint/2010/main" val="1337302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37EFB-6173-11DE-BBE9-D3D51E5C3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142D5-108B-CFF4-32B7-9702D2CF6797}"/>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614569ED-44E3-9DDC-8D84-8FE570E72BCB}"/>
              </a:ext>
            </a:extLst>
          </p:cNvPr>
          <p:cNvSpPr>
            <a:spLocks noGrp="1"/>
          </p:cNvSpPr>
          <p:nvPr>
            <p:ph idx="1"/>
          </p:nvPr>
        </p:nvSpPr>
        <p:spPr/>
        <p:txBody>
          <a:bodyPr/>
          <a:lstStyle/>
          <a:p>
            <a:r>
              <a:rPr lang="en-US" dirty="0"/>
              <a:t>Given these classes, we can have raw and smart pointers to both base and derived class objects:</a:t>
            </a:r>
          </a:p>
        </p:txBody>
      </p:sp>
      <p:pic>
        <p:nvPicPr>
          <p:cNvPr id="4" name="Picture 3">
            <a:extLst>
              <a:ext uri="{FF2B5EF4-FFF2-40B4-BE49-F238E27FC236}">
                <a16:creationId xmlns:a16="http://schemas.microsoft.com/office/drawing/2014/main" id="{23235DA4-A6BD-1AB5-F579-E29431D3C80A}"/>
              </a:ext>
            </a:extLst>
          </p:cNvPr>
          <p:cNvPicPr>
            <a:picLocks noChangeAspect="1"/>
          </p:cNvPicPr>
          <p:nvPr/>
        </p:nvPicPr>
        <p:blipFill>
          <a:blip r:embed="rId2"/>
          <a:stretch>
            <a:fillRect/>
          </a:stretch>
        </p:blipFill>
        <p:spPr>
          <a:xfrm>
            <a:off x="1231175" y="2849563"/>
            <a:ext cx="4800600" cy="3327400"/>
          </a:xfrm>
          <a:prstGeom prst="rect">
            <a:avLst/>
          </a:prstGeom>
        </p:spPr>
      </p:pic>
      <p:pic>
        <p:nvPicPr>
          <p:cNvPr id="5" name="Picture 4">
            <a:extLst>
              <a:ext uri="{FF2B5EF4-FFF2-40B4-BE49-F238E27FC236}">
                <a16:creationId xmlns:a16="http://schemas.microsoft.com/office/drawing/2014/main" id="{CAA47249-C0DF-B3F1-8385-B78723072AD1}"/>
              </a:ext>
            </a:extLst>
          </p:cNvPr>
          <p:cNvPicPr>
            <a:picLocks noChangeAspect="1"/>
          </p:cNvPicPr>
          <p:nvPr/>
        </p:nvPicPr>
        <p:blipFill>
          <a:blip r:embed="rId3"/>
          <a:stretch>
            <a:fillRect/>
          </a:stretch>
        </p:blipFill>
        <p:spPr>
          <a:xfrm>
            <a:off x="6552475" y="3429000"/>
            <a:ext cx="5194300" cy="1714500"/>
          </a:xfrm>
          <a:prstGeom prst="rect">
            <a:avLst/>
          </a:prstGeom>
        </p:spPr>
      </p:pic>
    </p:spTree>
    <p:extLst>
      <p:ext uri="{BB962C8B-B14F-4D97-AF65-F5344CB8AC3E}">
        <p14:creationId xmlns:p14="http://schemas.microsoft.com/office/powerpoint/2010/main" val="2493726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91F0-9A7B-2A4A-6321-3F77A3235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CB945-0EEF-6B9E-17FA-1090B8357179}"/>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9E87A64A-C19F-16EA-620E-65E8D1DF2333}"/>
              </a:ext>
            </a:extLst>
          </p:cNvPr>
          <p:cNvSpPr>
            <a:spLocks noGrp="1"/>
          </p:cNvSpPr>
          <p:nvPr>
            <p:ph idx="1"/>
          </p:nvPr>
        </p:nvSpPr>
        <p:spPr/>
        <p:txBody>
          <a:bodyPr/>
          <a:lstStyle/>
          <a:p>
            <a:r>
              <a:rPr lang="en-US" dirty="0"/>
              <a:t>The first rule says we can assign derived class pointers to base class pointers. Thus we can write:</a:t>
            </a:r>
          </a:p>
        </p:txBody>
      </p:sp>
      <p:pic>
        <p:nvPicPr>
          <p:cNvPr id="5" name="Picture 4">
            <a:extLst>
              <a:ext uri="{FF2B5EF4-FFF2-40B4-BE49-F238E27FC236}">
                <a16:creationId xmlns:a16="http://schemas.microsoft.com/office/drawing/2014/main" id="{A953B6F7-56A3-7377-CF66-95A7A094BDD8}"/>
              </a:ext>
            </a:extLst>
          </p:cNvPr>
          <p:cNvPicPr>
            <a:picLocks noChangeAspect="1"/>
          </p:cNvPicPr>
          <p:nvPr/>
        </p:nvPicPr>
        <p:blipFill>
          <a:blip r:embed="rId2"/>
          <a:stretch>
            <a:fillRect/>
          </a:stretch>
        </p:blipFill>
        <p:spPr>
          <a:xfrm>
            <a:off x="6552475" y="3429000"/>
            <a:ext cx="5194300" cy="1714500"/>
          </a:xfrm>
          <a:prstGeom prst="rect">
            <a:avLst/>
          </a:prstGeom>
        </p:spPr>
      </p:pic>
      <p:pic>
        <p:nvPicPr>
          <p:cNvPr id="7" name="Picture 6">
            <a:extLst>
              <a:ext uri="{FF2B5EF4-FFF2-40B4-BE49-F238E27FC236}">
                <a16:creationId xmlns:a16="http://schemas.microsoft.com/office/drawing/2014/main" id="{5BEA97BD-12A4-DFC7-CB49-DA5B9BEFE1E4}"/>
              </a:ext>
            </a:extLst>
          </p:cNvPr>
          <p:cNvPicPr>
            <a:picLocks noChangeAspect="1"/>
          </p:cNvPicPr>
          <p:nvPr/>
        </p:nvPicPr>
        <p:blipFill>
          <a:blip r:embed="rId3"/>
          <a:stretch>
            <a:fillRect/>
          </a:stretch>
        </p:blipFill>
        <p:spPr>
          <a:xfrm>
            <a:off x="1028700" y="3403600"/>
            <a:ext cx="5067300" cy="1765300"/>
          </a:xfrm>
          <a:prstGeom prst="rect">
            <a:avLst/>
          </a:prstGeom>
        </p:spPr>
      </p:pic>
    </p:spTree>
    <p:extLst>
      <p:ext uri="{BB962C8B-B14F-4D97-AF65-F5344CB8AC3E}">
        <p14:creationId xmlns:p14="http://schemas.microsoft.com/office/powerpoint/2010/main" val="3425289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44F6-AD21-551A-7B51-E5248CBA3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2B57D-C89C-F6DA-21F4-3484F61649C4}"/>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E74AEF29-D47F-AB6D-8F47-B09BA934A3BD}"/>
              </a:ext>
            </a:extLst>
          </p:cNvPr>
          <p:cNvSpPr>
            <a:spLocks noGrp="1"/>
          </p:cNvSpPr>
          <p:nvPr>
            <p:ph idx="1"/>
          </p:nvPr>
        </p:nvSpPr>
        <p:spPr/>
        <p:txBody>
          <a:bodyPr>
            <a:normAutofit fontScale="92500" lnSpcReduction="10000"/>
          </a:bodyPr>
          <a:lstStyle/>
          <a:p>
            <a:r>
              <a:rPr lang="en-US" dirty="0"/>
              <a:t>The second rule says we can assign a base class pointer to a derived class pointer if we use a type cast. </a:t>
            </a:r>
          </a:p>
          <a:p>
            <a:r>
              <a:rPr lang="en-US" dirty="0"/>
              <a:t>With raw pointers, the appropriate cast is </a:t>
            </a:r>
            <a:r>
              <a:rPr lang="en-US" dirty="0" err="1"/>
              <a:t>static_cast</a:t>
            </a:r>
            <a:r>
              <a:rPr lang="en-US" dirty="0"/>
              <a:t>. For </a:t>
            </a:r>
            <a:r>
              <a:rPr lang="en-US" dirty="0" err="1"/>
              <a:t>shared_ptr</a:t>
            </a:r>
            <a:r>
              <a:rPr lang="en-US" dirty="0"/>
              <a:t>, you must use </a:t>
            </a:r>
            <a:r>
              <a:rPr lang="en-US" dirty="0" err="1"/>
              <a:t>static_pointer_cast</a:t>
            </a:r>
            <a:r>
              <a:rPr lang="en-US" dirty="0"/>
              <a:t>:</a:t>
            </a:r>
          </a:p>
          <a:p>
            <a:endParaRPr lang="en-US" dirty="0"/>
          </a:p>
          <a:p>
            <a:endParaRPr lang="en-US" dirty="0"/>
          </a:p>
          <a:p>
            <a:r>
              <a:rPr lang="en-US" dirty="0">
                <a:effectLst/>
              </a:rPr>
              <a:t>Assuming that the base pointers were previously pointing to derived class objects, these assignments will leave pd1 and raw_pd1 pointing to derived class objects. </a:t>
            </a:r>
          </a:p>
          <a:p>
            <a:r>
              <a:rPr lang="en-US" dirty="0">
                <a:effectLst/>
              </a:rPr>
              <a:t>Subsequently, you will be able to use those pointers to access derived class members:</a:t>
            </a:r>
          </a:p>
          <a:p>
            <a:endParaRPr lang="en-US" dirty="0"/>
          </a:p>
        </p:txBody>
      </p:sp>
      <p:pic>
        <p:nvPicPr>
          <p:cNvPr id="4" name="Picture 3">
            <a:extLst>
              <a:ext uri="{FF2B5EF4-FFF2-40B4-BE49-F238E27FC236}">
                <a16:creationId xmlns:a16="http://schemas.microsoft.com/office/drawing/2014/main" id="{61BD80CC-74D9-6D78-26BB-3585E27DCDD1}"/>
              </a:ext>
            </a:extLst>
          </p:cNvPr>
          <p:cNvPicPr>
            <a:picLocks noChangeAspect="1"/>
          </p:cNvPicPr>
          <p:nvPr/>
        </p:nvPicPr>
        <p:blipFill>
          <a:blip r:embed="rId2"/>
          <a:stretch>
            <a:fillRect/>
          </a:stretch>
        </p:blipFill>
        <p:spPr>
          <a:xfrm>
            <a:off x="2993209" y="3429000"/>
            <a:ext cx="5613400" cy="546100"/>
          </a:xfrm>
          <a:prstGeom prst="rect">
            <a:avLst/>
          </a:prstGeom>
        </p:spPr>
      </p:pic>
      <p:pic>
        <p:nvPicPr>
          <p:cNvPr id="9" name="Picture 8">
            <a:extLst>
              <a:ext uri="{FF2B5EF4-FFF2-40B4-BE49-F238E27FC236}">
                <a16:creationId xmlns:a16="http://schemas.microsoft.com/office/drawing/2014/main" id="{B55C2FB6-9DF3-ED19-A39D-2C0FB669DE58}"/>
              </a:ext>
            </a:extLst>
          </p:cNvPr>
          <p:cNvPicPr>
            <a:picLocks noChangeAspect="1"/>
          </p:cNvPicPr>
          <p:nvPr/>
        </p:nvPicPr>
        <p:blipFill>
          <a:blip r:embed="rId3"/>
          <a:stretch>
            <a:fillRect/>
          </a:stretch>
        </p:blipFill>
        <p:spPr>
          <a:xfrm>
            <a:off x="4206059" y="6000750"/>
            <a:ext cx="3187700" cy="622300"/>
          </a:xfrm>
          <a:prstGeom prst="rect">
            <a:avLst/>
          </a:prstGeom>
        </p:spPr>
      </p:pic>
    </p:spTree>
    <p:extLst>
      <p:ext uri="{BB962C8B-B14F-4D97-AF65-F5344CB8AC3E}">
        <p14:creationId xmlns:p14="http://schemas.microsoft.com/office/powerpoint/2010/main" val="34944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ED616-FDE6-AB4B-CC05-CD5D8E9C6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967EA-9311-A703-A9DF-C4BA88C96595}"/>
              </a:ext>
            </a:extLst>
          </p:cNvPr>
          <p:cNvSpPr>
            <a:spLocks noGrp="1"/>
          </p:cNvSpPr>
          <p:nvPr>
            <p:ph type="title"/>
          </p:nvPr>
        </p:nvSpPr>
        <p:spPr/>
        <p:txBody>
          <a:bodyPr/>
          <a:lstStyle/>
          <a:p>
            <a:r>
              <a:rPr lang="en-US" dirty="0"/>
              <a:t>Type Compatibility in Inheritance</a:t>
            </a:r>
          </a:p>
        </p:txBody>
      </p:sp>
      <p:sp>
        <p:nvSpPr>
          <p:cNvPr id="3" name="Content Placeholder 2">
            <a:extLst>
              <a:ext uri="{FF2B5EF4-FFF2-40B4-BE49-F238E27FC236}">
                <a16:creationId xmlns:a16="http://schemas.microsoft.com/office/drawing/2014/main" id="{EAF4AB07-1BAF-1FD2-2470-5A25097339C0}"/>
              </a:ext>
            </a:extLst>
          </p:cNvPr>
          <p:cNvSpPr>
            <a:spLocks noGrp="1"/>
          </p:cNvSpPr>
          <p:nvPr>
            <p:ph idx="1"/>
          </p:nvPr>
        </p:nvSpPr>
        <p:spPr/>
        <p:txBody>
          <a:bodyPr>
            <a:normAutofit lnSpcReduction="10000"/>
          </a:bodyPr>
          <a:lstStyle/>
          <a:p>
            <a:r>
              <a:rPr lang="en-US" dirty="0"/>
              <a:t>Consider now a scenario in which a base class pointer that is pointing to a base class object is assigned to a derived class pointer using a type cast:</a:t>
            </a:r>
          </a:p>
          <a:p>
            <a:endParaRPr lang="en-US" dirty="0"/>
          </a:p>
          <a:p>
            <a:endParaRPr lang="en-US" dirty="0"/>
          </a:p>
          <a:p>
            <a:r>
              <a:rPr lang="en-US" dirty="0"/>
              <a:t>The statement compiles correctly but will cause an error when it is executed. </a:t>
            </a:r>
          </a:p>
          <a:p>
            <a:r>
              <a:rPr lang="en-US" dirty="0"/>
              <a:t>After such an assignment, an attempt such as to access Derived class members will fail, because the Base class object pointed to by </a:t>
            </a:r>
            <a:r>
              <a:rPr lang="en-US" dirty="0" err="1"/>
              <a:t>raw_pd</a:t>
            </a:r>
            <a:r>
              <a:rPr lang="en-US" dirty="0"/>
              <a:t> (or pd) does not have the member d.</a:t>
            </a:r>
          </a:p>
          <a:p>
            <a:endParaRPr lang="en-US" dirty="0"/>
          </a:p>
          <a:p>
            <a:endParaRPr lang="en-US" dirty="0"/>
          </a:p>
        </p:txBody>
      </p:sp>
      <p:pic>
        <p:nvPicPr>
          <p:cNvPr id="5" name="Picture 4">
            <a:extLst>
              <a:ext uri="{FF2B5EF4-FFF2-40B4-BE49-F238E27FC236}">
                <a16:creationId xmlns:a16="http://schemas.microsoft.com/office/drawing/2014/main" id="{1D790B5B-7356-B2D4-F462-DACF674A5367}"/>
              </a:ext>
            </a:extLst>
          </p:cNvPr>
          <p:cNvPicPr>
            <a:picLocks noChangeAspect="1"/>
          </p:cNvPicPr>
          <p:nvPr/>
        </p:nvPicPr>
        <p:blipFill>
          <a:blip r:embed="rId2"/>
          <a:stretch>
            <a:fillRect/>
          </a:stretch>
        </p:blipFill>
        <p:spPr>
          <a:xfrm>
            <a:off x="4133850" y="3188494"/>
            <a:ext cx="3924300" cy="647700"/>
          </a:xfrm>
          <a:prstGeom prst="rect">
            <a:avLst/>
          </a:prstGeom>
        </p:spPr>
      </p:pic>
      <p:pic>
        <p:nvPicPr>
          <p:cNvPr id="6" name="Picture 5">
            <a:extLst>
              <a:ext uri="{FF2B5EF4-FFF2-40B4-BE49-F238E27FC236}">
                <a16:creationId xmlns:a16="http://schemas.microsoft.com/office/drawing/2014/main" id="{455B50C4-088F-2DB2-197C-B6B60243EC0D}"/>
              </a:ext>
            </a:extLst>
          </p:cNvPr>
          <p:cNvPicPr>
            <a:picLocks noChangeAspect="1"/>
          </p:cNvPicPr>
          <p:nvPr/>
        </p:nvPicPr>
        <p:blipFill>
          <a:blip r:embed="rId3"/>
          <a:stretch>
            <a:fillRect/>
          </a:stretch>
        </p:blipFill>
        <p:spPr>
          <a:xfrm>
            <a:off x="5067300" y="5981700"/>
            <a:ext cx="2057400" cy="660400"/>
          </a:xfrm>
          <a:prstGeom prst="rect">
            <a:avLst/>
          </a:prstGeom>
        </p:spPr>
      </p:pic>
    </p:spTree>
    <p:extLst>
      <p:ext uri="{BB962C8B-B14F-4D97-AF65-F5344CB8AC3E}">
        <p14:creationId xmlns:p14="http://schemas.microsoft.com/office/powerpoint/2010/main" val="4288033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4B42-9594-DDC7-536A-C035CF80A9A1}"/>
              </a:ext>
            </a:extLst>
          </p:cNvPr>
          <p:cNvSpPr>
            <a:spLocks noGrp="1"/>
          </p:cNvSpPr>
          <p:nvPr>
            <p:ph type="title"/>
          </p:nvPr>
        </p:nvSpPr>
        <p:spPr/>
        <p:txBody>
          <a:bodyPr/>
          <a:lstStyle/>
          <a:p>
            <a:r>
              <a:rPr lang="en-US" dirty="0"/>
              <a:t>Type Casting of Base Class Pointers</a:t>
            </a:r>
          </a:p>
        </p:txBody>
      </p:sp>
      <p:sp>
        <p:nvSpPr>
          <p:cNvPr id="3" name="Content Placeholder 2">
            <a:extLst>
              <a:ext uri="{FF2B5EF4-FFF2-40B4-BE49-F238E27FC236}">
                <a16:creationId xmlns:a16="http://schemas.microsoft.com/office/drawing/2014/main" id="{391B5AB7-BA1A-2543-328B-1C4B354C8083}"/>
              </a:ext>
            </a:extLst>
          </p:cNvPr>
          <p:cNvSpPr>
            <a:spLocks noGrp="1"/>
          </p:cNvSpPr>
          <p:nvPr>
            <p:ph idx="1"/>
          </p:nvPr>
        </p:nvSpPr>
        <p:spPr/>
        <p:txBody>
          <a:bodyPr>
            <a:normAutofit lnSpcReduction="10000"/>
          </a:bodyPr>
          <a:lstStyle/>
          <a:p>
            <a:r>
              <a:rPr lang="en-US" dirty="0"/>
              <a:t>We have seen that a pointer to a particular class may actually be pointing to an object of a derived class. </a:t>
            </a:r>
          </a:p>
          <a:p>
            <a:r>
              <a:rPr lang="en-US" dirty="0"/>
              <a:t>In this case, the class type of the pointer will be different from the class type of the object. </a:t>
            </a:r>
          </a:p>
          <a:p>
            <a:r>
              <a:rPr lang="en-US" dirty="0"/>
              <a:t>As an example, consider the statement</a:t>
            </a:r>
          </a:p>
          <a:p>
            <a:endParaRPr lang="en-US" dirty="0"/>
          </a:p>
          <a:p>
            <a:endParaRPr lang="en-US" dirty="0"/>
          </a:p>
          <a:p>
            <a:r>
              <a:rPr lang="en-US" dirty="0"/>
              <a:t>Even though this assignment is legal, the </a:t>
            </a:r>
            <a:r>
              <a:rPr lang="en-US" dirty="0" err="1"/>
              <a:t>pPerson</a:t>
            </a:r>
            <a:r>
              <a:rPr lang="en-US" dirty="0"/>
              <a:t> pointer is not aware of Faculty class members other than those inherited from Person.</a:t>
            </a:r>
          </a:p>
        </p:txBody>
      </p:sp>
      <p:pic>
        <p:nvPicPr>
          <p:cNvPr id="4" name="Picture 3">
            <a:extLst>
              <a:ext uri="{FF2B5EF4-FFF2-40B4-BE49-F238E27FC236}">
                <a16:creationId xmlns:a16="http://schemas.microsoft.com/office/drawing/2014/main" id="{0C8498A9-C7D5-A432-D8E5-DBA389F7C961}"/>
              </a:ext>
            </a:extLst>
          </p:cNvPr>
          <p:cNvPicPr>
            <a:picLocks noChangeAspect="1"/>
          </p:cNvPicPr>
          <p:nvPr/>
        </p:nvPicPr>
        <p:blipFill>
          <a:blip r:embed="rId2"/>
          <a:stretch>
            <a:fillRect/>
          </a:stretch>
        </p:blipFill>
        <p:spPr>
          <a:xfrm>
            <a:off x="2901950" y="4070962"/>
            <a:ext cx="6388100" cy="622300"/>
          </a:xfrm>
          <a:prstGeom prst="rect">
            <a:avLst/>
          </a:prstGeom>
        </p:spPr>
      </p:pic>
    </p:spTree>
    <p:extLst>
      <p:ext uri="{BB962C8B-B14F-4D97-AF65-F5344CB8AC3E}">
        <p14:creationId xmlns:p14="http://schemas.microsoft.com/office/powerpoint/2010/main" val="2269505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1FB2-469B-62C4-CDF2-62F3AC190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D1D9C-AFE4-2087-B901-997B86AC9191}"/>
              </a:ext>
            </a:extLst>
          </p:cNvPr>
          <p:cNvSpPr>
            <a:spLocks noGrp="1"/>
          </p:cNvSpPr>
          <p:nvPr>
            <p:ph type="title"/>
          </p:nvPr>
        </p:nvSpPr>
        <p:spPr/>
        <p:txBody>
          <a:bodyPr/>
          <a:lstStyle/>
          <a:p>
            <a:r>
              <a:rPr lang="en-US" dirty="0"/>
              <a:t>Type Casting of Base Class Pointers</a:t>
            </a:r>
          </a:p>
        </p:txBody>
      </p:sp>
      <p:sp>
        <p:nvSpPr>
          <p:cNvPr id="3" name="Content Placeholder 2">
            <a:extLst>
              <a:ext uri="{FF2B5EF4-FFF2-40B4-BE49-F238E27FC236}">
                <a16:creationId xmlns:a16="http://schemas.microsoft.com/office/drawing/2014/main" id="{0C8BDCDB-1F29-D072-2FC2-C83E36709783}"/>
              </a:ext>
            </a:extLst>
          </p:cNvPr>
          <p:cNvSpPr>
            <a:spLocks noGrp="1"/>
          </p:cNvSpPr>
          <p:nvPr>
            <p:ph idx="1"/>
          </p:nvPr>
        </p:nvSpPr>
        <p:spPr>
          <a:xfrm>
            <a:off x="838200" y="1825624"/>
            <a:ext cx="10515600" cy="4819015"/>
          </a:xfrm>
        </p:spPr>
        <p:txBody>
          <a:bodyPr>
            <a:normAutofit fontScale="92500" lnSpcReduction="10000"/>
          </a:bodyPr>
          <a:lstStyle/>
          <a:p>
            <a:r>
              <a:rPr lang="en-US" dirty="0"/>
              <a:t>Consequently, an attempt to access non-inherited members of the Faculty class through </a:t>
            </a:r>
            <a:r>
              <a:rPr lang="en-US" dirty="0" err="1"/>
              <a:t>pPerson</a:t>
            </a:r>
            <a:r>
              <a:rPr lang="en-US" dirty="0"/>
              <a:t> is rejected by the compiler:</a:t>
            </a:r>
          </a:p>
          <a:p>
            <a:endParaRPr lang="en-US" dirty="0"/>
          </a:p>
          <a:p>
            <a:endParaRPr lang="en-US" dirty="0"/>
          </a:p>
          <a:p>
            <a:endParaRPr lang="en-US" dirty="0"/>
          </a:p>
          <a:p>
            <a:r>
              <a:rPr lang="en-US" dirty="0"/>
              <a:t>If we do know that </a:t>
            </a:r>
            <a:r>
              <a:rPr lang="en-US" dirty="0" err="1"/>
              <a:t>pPerson</a:t>
            </a:r>
            <a:r>
              <a:rPr lang="en-US" dirty="0"/>
              <a:t> actually points to a Faculty object, we can use a type cast to coax the compiler to accept the statement:</a:t>
            </a:r>
          </a:p>
          <a:p>
            <a:endParaRPr lang="en-US" dirty="0"/>
          </a:p>
          <a:p>
            <a:endParaRPr lang="en-US" dirty="0"/>
          </a:p>
          <a:p>
            <a:r>
              <a:rPr lang="en-US" dirty="0"/>
              <a:t>The type cast informs the compiler that </a:t>
            </a:r>
            <a:r>
              <a:rPr lang="en-US" dirty="0" err="1"/>
              <a:t>pPerson</a:t>
            </a:r>
            <a:r>
              <a:rPr lang="en-US" dirty="0"/>
              <a:t> is actually pointing to a Faculty object.</a:t>
            </a:r>
          </a:p>
        </p:txBody>
      </p:sp>
      <p:pic>
        <p:nvPicPr>
          <p:cNvPr id="5" name="Picture 4">
            <a:extLst>
              <a:ext uri="{FF2B5EF4-FFF2-40B4-BE49-F238E27FC236}">
                <a16:creationId xmlns:a16="http://schemas.microsoft.com/office/drawing/2014/main" id="{8BA9744E-C6C4-816B-460E-22F8C4679109}"/>
              </a:ext>
            </a:extLst>
          </p:cNvPr>
          <p:cNvPicPr>
            <a:picLocks noChangeAspect="1"/>
          </p:cNvPicPr>
          <p:nvPr/>
        </p:nvPicPr>
        <p:blipFill>
          <a:blip r:embed="rId2"/>
          <a:stretch>
            <a:fillRect/>
          </a:stretch>
        </p:blipFill>
        <p:spPr>
          <a:xfrm>
            <a:off x="3384550" y="2895600"/>
            <a:ext cx="5422900" cy="533400"/>
          </a:xfrm>
          <a:prstGeom prst="rect">
            <a:avLst/>
          </a:prstGeom>
        </p:spPr>
      </p:pic>
      <p:pic>
        <p:nvPicPr>
          <p:cNvPr id="6" name="Picture 5">
            <a:extLst>
              <a:ext uri="{FF2B5EF4-FFF2-40B4-BE49-F238E27FC236}">
                <a16:creationId xmlns:a16="http://schemas.microsoft.com/office/drawing/2014/main" id="{4F622B32-F2CC-04CE-2A9B-D122604C056A}"/>
              </a:ext>
            </a:extLst>
          </p:cNvPr>
          <p:cNvPicPr>
            <a:picLocks noChangeAspect="1"/>
          </p:cNvPicPr>
          <p:nvPr/>
        </p:nvPicPr>
        <p:blipFill>
          <a:blip r:embed="rId3"/>
          <a:stretch>
            <a:fillRect/>
          </a:stretch>
        </p:blipFill>
        <p:spPr>
          <a:xfrm>
            <a:off x="3676650" y="4846319"/>
            <a:ext cx="4838700" cy="647700"/>
          </a:xfrm>
          <a:prstGeom prst="rect">
            <a:avLst/>
          </a:prstGeom>
        </p:spPr>
      </p:pic>
    </p:spTree>
    <p:extLst>
      <p:ext uri="{BB962C8B-B14F-4D97-AF65-F5344CB8AC3E}">
        <p14:creationId xmlns:p14="http://schemas.microsoft.com/office/powerpoint/2010/main" val="4185018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AFD3-F247-4231-334B-D6A540B2E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E4124-8B0F-A996-C33E-1B4BC61BE861}"/>
              </a:ext>
            </a:extLst>
          </p:cNvPr>
          <p:cNvSpPr>
            <a:spLocks noGrp="1"/>
          </p:cNvSpPr>
          <p:nvPr>
            <p:ph type="title"/>
          </p:nvPr>
        </p:nvSpPr>
        <p:spPr/>
        <p:txBody>
          <a:bodyPr/>
          <a:lstStyle/>
          <a:p>
            <a:r>
              <a:rPr lang="en-US" dirty="0"/>
              <a:t>Type Casting of Base Class Pointers</a:t>
            </a:r>
          </a:p>
        </p:txBody>
      </p:sp>
      <p:sp>
        <p:nvSpPr>
          <p:cNvPr id="3" name="Content Placeholder 2">
            <a:extLst>
              <a:ext uri="{FF2B5EF4-FFF2-40B4-BE49-F238E27FC236}">
                <a16:creationId xmlns:a16="http://schemas.microsoft.com/office/drawing/2014/main" id="{B885BAC4-DF19-44E4-E509-C2414D68C057}"/>
              </a:ext>
            </a:extLst>
          </p:cNvPr>
          <p:cNvSpPr>
            <a:spLocks noGrp="1"/>
          </p:cNvSpPr>
          <p:nvPr>
            <p:ph idx="1"/>
          </p:nvPr>
        </p:nvSpPr>
        <p:spPr>
          <a:xfrm>
            <a:off x="838200" y="1825624"/>
            <a:ext cx="10515600" cy="4819015"/>
          </a:xfrm>
        </p:spPr>
        <p:txBody>
          <a:bodyPr>
            <a:normAutofit/>
          </a:bodyPr>
          <a:lstStyle/>
          <a:p>
            <a:r>
              <a:rPr lang="en-US" dirty="0"/>
              <a:t>Alternatively, we can first cast </a:t>
            </a:r>
            <a:r>
              <a:rPr lang="en-US" dirty="0" err="1"/>
              <a:t>pPerson</a:t>
            </a:r>
            <a:r>
              <a:rPr lang="en-US" dirty="0"/>
              <a:t> to a pointer to Faculty stored in </a:t>
            </a:r>
            <a:r>
              <a:rPr lang="en-US" dirty="0" err="1"/>
              <a:t>pFaculty</a:t>
            </a:r>
            <a:r>
              <a:rPr lang="en-US" dirty="0"/>
              <a:t> and then use that to access Faculty-specific members:</a:t>
            </a: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FE6D6C2E-0A4D-68B3-EFE4-9815E0281683}"/>
              </a:ext>
            </a:extLst>
          </p:cNvPr>
          <p:cNvPicPr>
            <a:picLocks noChangeAspect="1"/>
          </p:cNvPicPr>
          <p:nvPr/>
        </p:nvPicPr>
        <p:blipFill>
          <a:blip r:embed="rId2"/>
          <a:stretch>
            <a:fillRect/>
          </a:stretch>
        </p:blipFill>
        <p:spPr>
          <a:xfrm>
            <a:off x="2832100" y="3124200"/>
            <a:ext cx="6527800" cy="609600"/>
          </a:xfrm>
          <a:prstGeom prst="rect">
            <a:avLst/>
          </a:prstGeom>
        </p:spPr>
      </p:pic>
    </p:spTree>
    <p:extLst>
      <p:ext uri="{BB962C8B-B14F-4D97-AF65-F5344CB8AC3E}">
        <p14:creationId xmlns:p14="http://schemas.microsoft.com/office/powerpoint/2010/main" val="3426845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5EB3-2AE6-00A7-4611-EBCE96C7CFE1}"/>
              </a:ext>
            </a:extLst>
          </p:cNvPr>
          <p:cNvSpPr>
            <a:spLocks noGrp="1"/>
          </p:cNvSpPr>
          <p:nvPr>
            <p:ph type="title"/>
          </p:nvPr>
        </p:nvSpPr>
        <p:spPr/>
        <p:txBody>
          <a:bodyPr/>
          <a:lstStyle/>
          <a:p>
            <a:r>
              <a:rPr lang="en-US" dirty="0"/>
              <a:t>Type Casting of Base Class Pointers</a:t>
            </a:r>
          </a:p>
        </p:txBody>
      </p:sp>
      <p:sp>
        <p:nvSpPr>
          <p:cNvPr id="3" name="Content Placeholder 2">
            <a:extLst>
              <a:ext uri="{FF2B5EF4-FFF2-40B4-BE49-F238E27FC236}">
                <a16:creationId xmlns:a16="http://schemas.microsoft.com/office/drawing/2014/main" id="{D3B2C619-37E2-9BAB-C984-9611B1743898}"/>
              </a:ext>
            </a:extLst>
          </p:cNvPr>
          <p:cNvSpPr>
            <a:spLocks noGrp="1"/>
          </p:cNvSpPr>
          <p:nvPr>
            <p:ph idx="1"/>
          </p:nvPr>
        </p:nvSpPr>
        <p:spPr/>
        <p:txBody>
          <a:bodyPr/>
          <a:lstStyle/>
          <a:p>
            <a:r>
              <a:rPr lang="en-US" dirty="0"/>
              <a:t>In general, a pointer to a base class that actually points to a derived class object must be appropriately cast before the additional features of the derived class can be used. </a:t>
            </a:r>
          </a:p>
          <a:p>
            <a:r>
              <a:rPr lang="en-US" dirty="0"/>
              <a:t>We know, derived class may override member functions that are defined in its base class. </a:t>
            </a:r>
          </a:p>
          <a:p>
            <a:r>
              <a:rPr lang="en-US" dirty="0"/>
              <a:t>When a pointer to a base class is being used to access a member function that has been overridden by the derived class, </a:t>
            </a:r>
            <a:r>
              <a:rPr lang="en-US" b="1" dirty="0"/>
              <a:t>the default C++ behavior is to use the version of the function that is defined in the class of the pointer rather than in the class of the object.</a:t>
            </a:r>
          </a:p>
        </p:txBody>
      </p:sp>
    </p:spTree>
    <p:extLst>
      <p:ext uri="{BB962C8B-B14F-4D97-AF65-F5344CB8AC3E}">
        <p14:creationId xmlns:p14="http://schemas.microsoft.com/office/powerpoint/2010/main" val="3293204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4E511-EE1D-4028-0965-B4E734D6D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E90F8-98A2-6EBB-8632-35E27B720F1C}"/>
              </a:ext>
            </a:extLst>
          </p:cNvPr>
          <p:cNvSpPr>
            <a:spLocks noGrp="1"/>
          </p:cNvSpPr>
          <p:nvPr>
            <p:ph type="title"/>
          </p:nvPr>
        </p:nvSpPr>
        <p:spPr/>
        <p:txBody>
          <a:bodyPr/>
          <a:lstStyle/>
          <a:p>
            <a:r>
              <a:rPr lang="en-US" dirty="0"/>
              <a:t>Type Casting of Base Class Pointers</a:t>
            </a:r>
          </a:p>
        </p:txBody>
      </p:sp>
      <p:sp>
        <p:nvSpPr>
          <p:cNvPr id="3" name="Content Placeholder 2">
            <a:extLst>
              <a:ext uri="{FF2B5EF4-FFF2-40B4-BE49-F238E27FC236}">
                <a16:creationId xmlns:a16="http://schemas.microsoft.com/office/drawing/2014/main" id="{DA004F67-9BE0-21CB-5FC0-A12BDA5641F5}"/>
              </a:ext>
            </a:extLst>
          </p:cNvPr>
          <p:cNvSpPr>
            <a:spLocks noGrp="1"/>
          </p:cNvSpPr>
          <p:nvPr>
            <p:ph idx="1"/>
          </p:nvPr>
        </p:nvSpPr>
        <p:spPr>
          <a:xfrm>
            <a:off x="838200" y="1825625"/>
            <a:ext cx="10515600" cy="4749346"/>
          </a:xfrm>
        </p:spPr>
        <p:txBody>
          <a:bodyPr>
            <a:normAutofit fontScale="92500" lnSpcReduction="10000"/>
          </a:bodyPr>
          <a:lstStyle/>
          <a:p>
            <a:r>
              <a:rPr lang="en-US" dirty="0"/>
              <a:t>For example, this code sets </a:t>
            </a:r>
            <a:r>
              <a:rPr lang="en-US" dirty="0" err="1"/>
              <a:t>pP</a:t>
            </a:r>
            <a:r>
              <a:rPr lang="en-US" dirty="0"/>
              <a:t>, which is a pointer to the base class </a:t>
            </a:r>
            <a:r>
              <a:rPr lang="en-US" i="1" dirty="0">
                <a:solidFill>
                  <a:srgbClr val="FF0000"/>
                </a:solidFill>
              </a:rPr>
              <a:t>Person</a:t>
            </a:r>
            <a:r>
              <a:rPr lang="en-US" dirty="0"/>
              <a:t>, to point to a </a:t>
            </a:r>
            <a:r>
              <a:rPr lang="en-US" i="1" dirty="0" err="1">
                <a:solidFill>
                  <a:srgbClr val="FF0000"/>
                </a:solidFill>
              </a:rPr>
              <a:t>TFaculty</a:t>
            </a:r>
            <a:r>
              <a:rPr lang="en-US" dirty="0"/>
              <a:t> object.</a:t>
            </a:r>
            <a:endParaRPr lang="en-US" b="1" dirty="0"/>
          </a:p>
          <a:p>
            <a:endParaRPr lang="en-US" b="1" dirty="0"/>
          </a:p>
          <a:p>
            <a:endParaRPr lang="en-US" b="1" dirty="0"/>
          </a:p>
          <a:p>
            <a:r>
              <a:rPr lang="en-US" dirty="0"/>
              <a:t>Note that </a:t>
            </a:r>
            <a:r>
              <a:rPr lang="en-US" i="1" dirty="0" err="1">
                <a:solidFill>
                  <a:srgbClr val="FF0000"/>
                </a:solidFill>
              </a:rPr>
              <a:t>TFaculty</a:t>
            </a:r>
            <a:r>
              <a:rPr lang="en-US" dirty="0"/>
              <a:t> overrides the </a:t>
            </a:r>
            <a:r>
              <a:rPr lang="en-US" i="1" dirty="0" err="1">
                <a:solidFill>
                  <a:srgbClr val="FF0000"/>
                </a:solidFill>
              </a:rPr>
              <a:t>getName</a:t>
            </a:r>
            <a:r>
              <a:rPr lang="en-US" dirty="0"/>
              <a:t> function defined in Person.</a:t>
            </a:r>
            <a:endParaRPr lang="en-US" b="1" dirty="0"/>
          </a:p>
          <a:p>
            <a:r>
              <a:rPr lang="en-US" dirty="0"/>
              <a:t>In executing the statement - </a:t>
            </a:r>
            <a:r>
              <a:rPr lang="en-US" i="1" dirty="0" err="1">
                <a:solidFill>
                  <a:srgbClr val="FF0000"/>
                </a:solidFill>
              </a:rPr>
              <a:t>cout</a:t>
            </a:r>
            <a:r>
              <a:rPr lang="en-US" i="1" dirty="0">
                <a:solidFill>
                  <a:srgbClr val="FF0000"/>
                </a:solidFill>
              </a:rPr>
              <a:t> &lt;&lt; </a:t>
            </a:r>
            <a:r>
              <a:rPr lang="en-US" i="1" dirty="0" err="1">
                <a:solidFill>
                  <a:srgbClr val="FF0000"/>
                </a:solidFill>
              </a:rPr>
              <a:t>pP</a:t>
            </a:r>
            <a:r>
              <a:rPr lang="en-US" i="1" dirty="0">
                <a:solidFill>
                  <a:srgbClr val="FF0000"/>
                </a:solidFill>
              </a:rPr>
              <a:t>−&gt;</a:t>
            </a:r>
            <a:r>
              <a:rPr lang="en-US" i="1" dirty="0" err="1">
                <a:solidFill>
                  <a:srgbClr val="FF0000"/>
                </a:solidFill>
                <a:effectLst/>
              </a:rPr>
              <a:t>getName</a:t>
            </a:r>
            <a:r>
              <a:rPr lang="en-US" i="1" dirty="0">
                <a:solidFill>
                  <a:srgbClr val="FF0000"/>
                </a:solidFill>
              </a:rPr>
              <a:t>(); </a:t>
            </a:r>
          </a:p>
          <a:p>
            <a:r>
              <a:rPr lang="en-US" dirty="0"/>
              <a:t>The compiler is not aware that the actual class type of the object is </a:t>
            </a:r>
            <a:r>
              <a:rPr lang="en-US" i="1" dirty="0" err="1">
                <a:solidFill>
                  <a:srgbClr val="FF0000"/>
                </a:solidFill>
              </a:rPr>
              <a:t>TFaculty</a:t>
            </a:r>
            <a:r>
              <a:rPr lang="en-US" dirty="0"/>
              <a:t>.</a:t>
            </a:r>
          </a:p>
          <a:p>
            <a:r>
              <a:rPr lang="en-US" dirty="0"/>
              <a:t>The compiler sees the class type of the pointer and assumes that the class type of the object is the same as that of the pointer. </a:t>
            </a:r>
          </a:p>
          <a:p>
            <a:r>
              <a:rPr lang="en-US" dirty="0"/>
              <a:t>Therefore, it calls the version of </a:t>
            </a:r>
            <a:r>
              <a:rPr lang="en-US" i="1" dirty="0" err="1">
                <a:solidFill>
                  <a:srgbClr val="FF0000"/>
                </a:solidFill>
              </a:rPr>
              <a:t>getName</a:t>
            </a:r>
            <a:r>
              <a:rPr lang="en-US" dirty="0">
                <a:solidFill>
                  <a:srgbClr val="FF0000"/>
                </a:solidFill>
              </a:rPr>
              <a:t> </a:t>
            </a:r>
            <a:r>
              <a:rPr lang="en-US" dirty="0"/>
              <a:t>defined in the </a:t>
            </a:r>
            <a:r>
              <a:rPr lang="en-US" i="1" dirty="0">
                <a:solidFill>
                  <a:srgbClr val="FF0000"/>
                </a:solidFill>
              </a:rPr>
              <a:t>Person</a:t>
            </a:r>
            <a:r>
              <a:rPr lang="en-US" dirty="0"/>
              <a:t> class.</a:t>
            </a:r>
            <a:endParaRPr lang="en-US" i="1" dirty="0">
              <a:solidFill>
                <a:srgbClr val="FF0000"/>
              </a:solidFill>
            </a:endParaRPr>
          </a:p>
        </p:txBody>
      </p:sp>
      <p:pic>
        <p:nvPicPr>
          <p:cNvPr id="4" name="Picture 3">
            <a:extLst>
              <a:ext uri="{FF2B5EF4-FFF2-40B4-BE49-F238E27FC236}">
                <a16:creationId xmlns:a16="http://schemas.microsoft.com/office/drawing/2014/main" id="{2D3A3477-A3C3-54C5-5CF2-1D3B758D3065}"/>
              </a:ext>
            </a:extLst>
          </p:cNvPr>
          <p:cNvPicPr>
            <a:picLocks noChangeAspect="1"/>
          </p:cNvPicPr>
          <p:nvPr/>
        </p:nvPicPr>
        <p:blipFill>
          <a:blip r:embed="rId2"/>
          <a:stretch>
            <a:fillRect/>
          </a:stretch>
        </p:blipFill>
        <p:spPr>
          <a:xfrm>
            <a:off x="2800350" y="2604770"/>
            <a:ext cx="6591300" cy="673100"/>
          </a:xfrm>
          <a:prstGeom prst="rect">
            <a:avLst/>
          </a:prstGeom>
        </p:spPr>
      </p:pic>
    </p:spTree>
    <p:extLst>
      <p:ext uri="{BB962C8B-B14F-4D97-AF65-F5344CB8AC3E}">
        <p14:creationId xmlns:p14="http://schemas.microsoft.com/office/powerpoint/2010/main" val="523447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CE93-AFEC-B7A1-67F4-BF3C8DD7AB1D}"/>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14CCB00D-F5D1-AF59-0667-30234F01A5E0}"/>
              </a:ext>
            </a:extLst>
          </p:cNvPr>
          <p:cNvSpPr>
            <a:spLocks noGrp="1"/>
          </p:cNvSpPr>
          <p:nvPr>
            <p:ph idx="1"/>
          </p:nvPr>
        </p:nvSpPr>
        <p:spPr/>
        <p:txBody>
          <a:bodyPr/>
          <a:lstStyle/>
          <a:p>
            <a:r>
              <a:rPr lang="en-US" dirty="0"/>
              <a:t>A piece of code is said to be</a:t>
            </a:r>
            <a:r>
              <a:rPr lang="en-US" b="1" dirty="0"/>
              <a:t> </a:t>
            </a:r>
            <a:r>
              <a:rPr lang="en-US" b="1" dirty="0">
                <a:hlinkClick r:id="rId2">
                  <a:extLst>
                    <a:ext uri="{A12FA001-AC4F-418D-AE19-62706E023703}">
                      <ahyp:hlinkClr xmlns:ahyp="http://schemas.microsoft.com/office/drawing/2018/hyperlinkcolor" val="tx"/>
                    </a:ext>
                  </a:extLst>
                </a:hlinkClick>
              </a:rPr>
              <a:t>polymorphic</a:t>
            </a:r>
            <a:r>
              <a:rPr lang="en-US" b="1" dirty="0"/>
              <a:t> </a:t>
            </a:r>
            <a:r>
              <a:rPr lang="en-US" dirty="0"/>
              <a:t>if executing the code with different types of data produces different behavior. </a:t>
            </a:r>
          </a:p>
          <a:p>
            <a:r>
              <a:rPr lang="en-US" dirty="0"/>
              <a:t>For example, a function would be called polymorphic if it executes differently when it is passed different types of parameters.</a:t>
            </a:r>
          </a:p>
        </p:txBody>
      </p:sp>
    </p:spTree>
    <p:extLst>
      <p:ext uri="{BB962C8B-B14F-4D97-AF65-F5344CB8AC3E}">
        <p14:creationId xmlns:p14="http://schemas.microsoft.com/office/powerpoint/2010/main" val="3348572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4C9BD-7D90-1C93-9446-F8AB50BC0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C1716-0FFD-ED74-2308-9CFB6232C059}"/>
              </a:ext>
            </a:extLst>
          </p:cNvPr>
          <p:cNvSpPr>
            <a:spLocks noGrp="1"/>
          </p:cNvSpPr>
          <p:nvPr>
            <p:ph type="title"/>
          </p:nvPr>
        </p:nvSpPr>
        <p:spPr>
          <a:xfrm>
            <a:off x="838200" y="365125"/>
            <a:ext cx="5710646" cy="1325563"/>
          </a:xfrm>
        </p:spPr>
        <p:txBody>
          <a:bodyPr>
            <a:normAutofit fontScale="90000"/>
          </a:bodyPr>
          <a:lstStyle/>
          <a:p>
            <a:r>
              <a:rPr lang="en-US" dirty="0"/>
              <a:t>Polymorphism and Virtual Member Functions</a:t>
            </a:r>
          </a:p>
        </p:txBody>
      </p:sp>
      <p:sp>
        <p:nvSpPr>
          <p:cNvPr id="3" name="Content Placeholder 2">
            <a:extLst>
              <a:ext uri="{FF2B5EF4-FFF2-40B4-BE49-F238E27FC236}">
                <a16:creationId xmlns:a16="http://schemas.microsoft.com/office/drawing/2014/main" id="{3892C564-CC0B-E058-EC10-89436DD2CC9B}"/>
              </a:ext>
            </a:extLst>
          </p:cNvPr>
          <p:cNvSpPr>
            <a:spLocks noGrp="1"/>
          </p:cNvSpPr>
          <p:nvPr>
            <p:ph idx="1"/>
          </p:nvPr>
        </p:nvSpPr>
        <p:spPr>
          <a:xfrm>
            <a:off x="838200" y="1825625"/>
            <a:ext cx="5397137" cy="4351338"/>
          </a:xfrm>
        </p:spPr>
        <p:txBody>
          <a:bodyPr>
            <a:normAutofit/>
          </a:bodyPr>
          <a:lstStyle/>
          <a:p>
            <a:r>
              <a:rPr lang="en-US" dirty="0"/>
              <a:t>To illustrate polymorphism, consider this program. </a:t>
            </a:r>
          </a:p>
          <a:p>
            <a:r>
              <a:rPr lang="en-US" dirty="0"/>
              <a:t>The program creates a vector of (pointers to) Person objects of type Student, Faculty, and </a:t>
            </a:r>
            <a:r>
              <a:rPr lang="en-US" dirty="0" err="1"/>
              <a:t>TFaculty</a:t>
            </a:r>
            <a:r>
              <a:rPr lang="en-US" dirty="0"/>
              <a:t>. </a:t>
            </a:r>
          </a:p>
          <a:p>
            <a:r>
              <a:rPr lang="en-US" dirty="0"/>
              <a:t>It then prints the names in all the objects using the same code.</a:t>
            </a:r>
          </a:p>
        </p:txBody>
      </p:sp>
      <p:pic>
        <p:nvPicPr>
          <p:cNvPr id="4" name="Picture 3">
            <a:extLst>
              <a:ext uri="{FF2B5EF4-FFF2-40B4-BE49-F238E27FC236}">
                <a16:creationId xmlns:a16="http://schemas.microsoft.com/office/drawing/2014/main" id="{C20F6477-F492-2BE3-9931-B0BD8F831E5E}"/>
              </a:ext>
            </a:extLst>
          </p:cNvPr>
          <p:cNvPicPr>
            <a:picLocks noChangeAspect="1"/>
          </p:cNvPicPr>
          <p:nvPr/>
        </p:nvPicPr>
        <p:blipFill>
          <a:blip r:embed="rId2"/>
          <a:stretch>
            <a:fillRect/>
          </a:stretch>
        </p:blipFill>
        <p:spPr>
          <a:xfrm>
            <a:off x="7517827" y="0"/>
            <a:ext cx="3914197" cy="6858000"/>
          </a:xfrm>
          <a:prstGeom prst="rect">
            <a:avLst/>
          </a:prstGeom>
        </p:spPr>
      </p:pic>
    </p:spTree>
    <p:extLst>
      <p:ext uri="{BB962C8B-B14F-4D97-AF65-F5344CB8AC3E}">
        <p14:creationId xmlns:p14="http://schemas.microsoft.com/office/powerpoint/2010/main" val="981577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35C3-CA86-3167-30DE-330143154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F340B-5902-4996-3D72-D04D73395F46}"/>
              </a:ext>
            </a:extLst>
          </p:cNvPr>
          <p:cNvSpPr>
            <a:spLocks noGrp="1"/>
          </p:cNvSpPr>
          <p:nvPr>
            <p:ph type="title"/>
          </p:nvPr>
        </p:nvSpPr>
        <p:spPr>
          <a:xfrm>
            <a:off x="838200" y="365125"/>
            <a:ext cx="5710646" cy="1325563"/>
          </a:xfrm>
        </p:spPr>
        <p:txBody>
          <a:bodyPr>
            <a:normAutofit fontScale="90000"/>
          </a:bodyPr>
          <a:lstStyle/>
          <a:p>
            <a:r>
              <a:rPr lang="en-US" dirty="0"/>
              <a:t>Polymorphism and Virtual Member Functions</a:t>
            </a:r>
          </a:p>
        </p:txBody>
      </p:sp>
      <p:sp>
        <p:nvSpPr>
          <p:cNvPr id="3" name="Content Placeholder 2">
            <a:extLst>
              <a:ext uri="{FF2B5EF4-FFF2-40B4-BE49-F238E27FC236}">
                <a16:creationId xmlns:a16="http://schemas.microsoft.com/office/drawing/2014/main" id="{54CE9969-55F0-A2BF-8957-9BBEF7128A6C}"/>
              </a:ext>
            </a:extLst>
          </p:cNvPr>
          <p:cNvSpPr>
            <a:spLocks noGrp="1"/>
          </p:cNvSpPr>
          <p:nvPr>
            <p:ph idx="1"/>
          </p:nvPr>
        </p:nvSpPr>
        <p:spPr>
          <a:xfrm>
            <a:off x="838200" y="1825625"/>
            <a:ext cx="5867400" cy="4351338"/>
          </a:xfrm>
        </p:spPr>
        <p:txBody>
          <a:bodyPr>
            <a:normAutofit fontScale="92500" lnSpcReduction="10000"/>
          </a:bodyPr>
          <a:lstStyle/>
          <a:p>
            <a:r>
              <a:rPr lang="en-US" dirty="0"/>
              <a:t>Notice that the program calls the Person version of the </a:t>
            </a:r>
            <a:r>
              <a:rPr lang="en-US" i="1" dirty="0" err="1">
                <a:solidFill>
                  <a:srgbClr val="FF0000"/>
                </a:solidFill>
              </a:rPr>
              <a:t>getName</a:t>
            </a:r>
            <a:r>
              <a:rPr lang="en-US" dirty="0"/>
              <a:t> function for all objects in the array, even though the </a:t>
            </a:r>
            <a:r>
              <a:rPr lang="en-US" i="1" dirty="0" err="1">
                <a:solidFill>
                  <a:srgbClr val="FF0000"/>
                </a:solidFill>
              </a:rPr>
              <a:t>TFaculty</a:t>
            </a:r>
            <a:r>
              <a:rPr lang="en-US" dirty="0"/>
              <a:t> objects have their own, more specialized version. </a:t>
            </a:r>
          </a:p>
          <a:p>
            <a:r>
              <a:rPr lang="en-US" dirty="0"/>
              <a:t>This code is obviously not polymorphic, for it executes the same member function for each object, regardless of its type. </a:t>
            </a:r>
          </a:p>
          <a:p>
            <a:r>
              <a:rPr lang="en-US" dirty="0"/>
              <a:t>In other words, it does not behave differently for different types of objects.</a:t>
            </a:r>
          </a:p>
        </p:txBody>
      </p:sp>
      <p:pic>
        <p:nvPicPr>
          <p:cNvPr id="4" name="Picture 3">
            <a:extLst>
              <a:ext uri="{FF2B5EF4-FFF2-40B4-BE49-F238E27FC236}">
                <a16:creationId xmlns:a16="http://schemas.microsoft.com/office/drawing/2014/main" id="{78155A79-ACA0-B1E3-2C37-86CFD2C4A470}"/>
              </a:ext>
            </a:extLst>
          </p:cNvPr>
          <p:cNvPicPr>
            <a:picLocks noChangeAspect="1"/>
          </p:cNvPicPr>
          <p:nvPr/>
        </p:nvPicPr>
        <p:blipFill>
          <a:blip r:embed="rId2"/>
          <a:stretch>
            <a:fillRect/>
          </a:stretch>
        </p:blipFill>
        <p:spPr>
          <a:xfrm>
            <a:off x="7517827" y="0"/>
            <a:ext cx="3914197" cy="6858000"/>
          </a:xfrm>
          <a:prstGeom prst="rect">
            <a:avLst/>
          </a:prstGeom>
        </p:spPr>
      </p:pic>
    </p:spTree>
    <p:extLst>
      <p:ext uri="{BB962C8B-B14F-4D97-AF65-F5344CB8AC3E}">
        <p14:creationId xmlns:p14="http://schemas.microsoft.com/office/powerpoint/2010/main" val="2079457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76AC3-CC27-05AC-C008-5FEAB8F0F1DF}"/>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75549D94-5FD6-0A8F-C79B-20CB3FDD187C}"/>
              </a:ext>
            </a:extLst>
          </p:cNvPr>
          <p:cNvSpPr>
            <a:spLocks noGrp="1"/>
          </p:cNvSpPr>
          <p:nvPr>
            <p:ph idx="1"/>
          </p:nvPr>
        </p:nvSpPr>
        <p:spPr>
          <a:xfrm>
            <a:off x="838200" y="1825625"/>
            <a:ext cx="10515600" cy="4766764"/>
          </a:xfrm>
        </p:spPr>
        <p:txBody>
          <a:bodyPr>
            <a:normAutofit/>
          </a:bodyPr>
          <a:lstStyle/>
          <a:p>
            <a:pPr algn="l"/>
            <a:r>
              <a:rPr lang="en-US" dirty="0">
                <a:effectLst/>
              </a:rPr>
              <a:t>To better understand what is happening, we need to take a closer look at each of the five calls </a:t>
            </a:r>
            <a:r>
              <a:rPr lang="en-US" dirty="0"/>
              <a:t>used to retrieve the name to be printed</a:t>
            </a:r>
            <a:r>
              <a:rPr lang="en-US" dirty="0">
                <a:effectLst/>
              </a:rPr>
              <a:t>: </a:t>
            </a:r>
            <a:r>
              <a:rPr lang="en-US" i="1" dirty="0">
                <a:solidFill>
                  <a:srgbClr val="FF0000"/>
                </a:solidFill>
              </a:rPr>
              <a:t>people[k]−&gt;</a:t>
            </a:r>
            <a:r>
              <a:rPr lang="en-US" i="1" dirty="0" err="1">
                <a:solidFill>
                  <a:srgbClr val="FF0000"/>
                </a:solidFill>
                <a:effectLst/>
              </a:rPr>
              <a:t>getName</a:t>
            </a:r>
            <a:r>
              <a:rPr lang="en-US" i="1" dirty="0">
                <a:solidFill>
                  <a:srgbClr val="FF0000"/>
                </a:solidFill>
              </a:rPr>
              <a:t>() </a:t>
            </a:r>
          </a:p>
          <a:p>
            <a:r>
              <a:rPr lang="en-US" dirty="0">
                <a:effectLst/>
              </a:rPr>
              <a:t>In each of these calls, a pointer </a:t>
            </a:r>
            <a:r>
              <a:rPr lang="en-US" i="1" dirty="0">
                <a:solidFill>
                  <a:srgbClr val="FF0000"/>
                </a:solidFill>
                <a:effectLst/>
              </a:rPr>
              <a:t>people[k] </a:t>
            </a:r>
            <a:r>
              <a:rPr lang="en-US" dirty="0">
                <a:effectLst/>
              </a:rPr>
              <a:t>to the base class Person is used to invoke the </a:t>
            </a:r>
            <a:r>
              <a:rPr lang="en-US" i="1" dirty="0" err="1">
                <a:solidFill>
                  <a:srgbClr val="FF0000"/>
                </a:solidFill>
                <a:effectLst/>
              </a:rPr>
              <a:t>getName</a:t>
            </a:r>
            <a:r>
              <a:rPr lang="en-US" dirty="0">
                <a:effectLst/>
              </a:rPr>
              <a:t> function in objects of different derived classes. </a:t>
            </a:r>
          </a:p>
          <a:p>
            <a:r>
              <a:rPr lang="en-US" dirty="0">
                <a:effectLst/>
              </a:rPr>
              <a:t>Some of these classes, like </a:t>
            </a:r>
            <a:r>
              <a:rPr lang="en-US" i="1" dirty="0" err="1">
                <a:solidFill>
                  <a:srgbClr val="FF0000"/>
                </a:solidFill>
                <a:effectLst/>
              </a:rPr>
              <a:t>TFaculty</a:t>
            </a:r>
            <a:r>
              <a:rPr lang="en-US" dirty="0">
                <a:effectLst/>
              </a:rPr>
              <a:t>, override </a:t>
            </a:r>
            <a:r>
              <a:rPr lang="en-US" i="1" dirty="0" err="1">
                <a:solidFill>
                  <a:srgbClr val="FF0000"/>
                </a:solidFill>
                <a:effectLst/>
              </a:rPr>
              <a:t>getName</a:t>
            </a:r>
            <a:r>
              <a:rPr lang="en-US" dirty="0">
                <a:effectLst/>
              </a:rPr>
              <a:t> to provide a more specialized version of that function. </a:t>
            </a:r>
          </a:p>
          <a:p>
            <a:pPr algn="l"/>
            <a:endParaRPr lang="en-US" i="1" dirty="0">
              <a:solidFill>
                <a:srgbClr val="FF0000"/>
              </a:solidFill>
            </a:endParaRPr>
          </a:p>
          <a:p>
            <a:pPr algn="l"/>
            <a:endParaRPr lang="en-US" i="1" dirty="0">
              <a:solidFill>
                <a:srgbClr val="FF0000"/>
              </a:solidFill>
            </a:endParaRPr>
          </a:p>
          <a:p>
            <a:endParaRPr lang="en-US" dirty="0"/>
          </a:p>
        </p:txBody>
      </p:sp>
    </p:spTree>
    <p:extLst>
      <p:ext uri="{BB962C8B-B14F-4D97-AF65-F5344CB8AC3E}">
        <p14:creationId xmlns:p14="http://schemas.microsoft.com/office/powerpoint/2010/main" val="126048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0DA50-25EB-786C-BA01-E673255A0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4F37E-6431-6946-6D57-E36A051F24ED}"/>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463B1D37-B229-B2EA-86F8-F020ED5B5593}"/>
              </a:ext>
            </a:extLst>
          </p:cNvPr>
          <p:cNvSpPr>
            <a:spLocks noGrp="1"/>
          </p:cNvSpPr>
          <p:nvPr>
            <p:ph idx="1"/>
          </p:nvPr>
        </p:nvSpPr>
        <p:spPr>
          <a:xfrm>
            <a:off x="838200" y="1825625"/>
            <a:ext cx="10515600" cy="4766764"/>
          </a:xfrm>
        </p:spPr>
        <p:txBody>
          <a:bodyPr>
            <a:normAutofit/>
          </a:bodyPr>
          <a:lstStyle/>
          <a:p>
            <a:r>
              <a:rPr lang="en-US" dirty="0">
                <a:effectLst/>
              </a:rPr>
              <a:t>When people[k] is pointing to a </a:t>
            </a:r>
            <a:r>
              <a:rPr lang="en-US" i="1" dirty="0" err="1">
                <a:solidFill>
                  <a:srgbClr val="FF0000"/>
                </a:solidFill>
                <a:effectLst/>
              </a:rPr>
              <a:t>TFaculty</a:t>
            </a:r>
            <a:r>
              <a:rPr lang="en-US" dirty="0">
                <a:effectLst/>
              </a:rPr>
              <a:t> object, the compiler must choose between the </a:t>
            </a:r>
            <a:r>
              <a:rPr lang="en-US" dirty="0" err="1">
                <a:effectLst/>
              </a:rPr>
              <a:t>getName</a:t>
            </a:r>
            <a:r>
              <a:rPr lang="en-US" dirty="0">
                <a:effectLst/>
              </a:rPr>
              <a:t> defined in Person, the class of the pointer, and the </a:t>
            </a:r>
            <a:r>
              <a:rPr lang="en-US" i="1" dirty="0" err="1">
                <a:solidFill>
                  <a:srgbClr val="FF0000"/>
                </a:solidFill>
                <a:effectLst/>
              </a:rPr>
              <a:t>getName</a:t>
            </a:r>
            <a:r>
              <a:rPr lang="en-US" dirty="0">
                <a:effectLst/>
              </a:rPr>
              <a:t> defined in </a:t>
            </a:r>
            <a:r>
              <a:rPr lang="en-US" i="1" dirty="0" err="1">
                <a:solidFill>
                  <a:srgbClr val="FF0000"/>
                </a:solidFill>
                <a:effectLst/>
              </a:rPr>
              <a:t>TFaculty</a:t>
            </a:r>
            <a:r>
              <a:rPr lang="en-US" dirty="0">
                <a:effectLst/>
              </a:rPr>
              <a:t>, the class that the object actually belongs to.</a:t>
            </a:r>
          </a:p>
          <a:p>
            <a:r>
              <a:rPr lang="en-US" dirty="0">
                <a:effectLst/>
              </a:rPr>
              <a:t>The default C++ behavior is to use the class type of the pointer rather than that of the object to determine which version of an overridden function to call.</a:t>
            </a:r>
          </a:p>
          <a:p>
            <a:pPr algn="l"/>
            <a:endParaRPr lang="en-US" i="1" dirty="0">
              <a:solidFill>
                <a:srgbClr val="FF0000"/>
              </a:solidFill>
            </a:endParaRPr>
          </a:p>
          <a:p>
            <a:pPr algn="l"/>
            <a:endParaRPr lang="en-US" i="1" dirty="0">
              <a:solidFill>
                <a:srgbClr val="FF0000"/>
              </a:solidFill>
            </a:endParaRPr>
          </a:p>
          <a:p>
            <a:endParaRPr lang="en-US" dirty="0"/>
          </a:p>
        </p:txBody>
      </p:sp>
    </p:spTree>
    <p:extLst>
      <p:ext uri="{BB962C8B-B14F-4D97-AF65-F5344CB8AC3E}">
        <p14:creationId xmlns:p14="http://schemas.microsoft.com/office/powerpoint/2010/main" val="2470115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D8E5-D3EE-55AF-BED4-A1C1D355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2143B-DB21-DD58-F25B-6B72C9A99E53}"/>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F2E92F94-642D-41F3-8377-A88BDF9344F4}"/>
              </a:ext>
            </a:extLst>
          </p:cNvPr>
          <p:cNvSpPr>
            <a:spLocks noGrp="1"/>
          </p:cNvSpPr>
          <p:nvPr>
            <p:ph idx="1"/>
          </p:nvPr>
        </p:nvSpPr>
        <p:spPr>
          <a:xfrm>
            <a:off x="838200" y="1825625"/>
            <a:ext cx="5606143" cy="4766764"/>
          </a:xfrm>
        </p:spPr>
        <p:txBody>
          <a:bodyPr>
            <a:normAutofit/>
          </a:bodyPr>
          <a:lstStyle/>
          <a:p>
            <a:r>
              <a:rPr lang="en-US" dirty="0"/>
              <a:t>The scenario of invoking a member function of a derived class object through a base class pointer is a common occurrence in object-oriented programming. </a:t>
            </a:r>
          </a:p>
          <a:p>
            <a:r>
              <a:rPr lang="en-US" dirty="0"/>
              <a:t>Let us say that we have a base class B with a member function </a:t>
            </a:r>
            <a:r>
              <a:rPr lang="en-US" dirty="0" err="1">
                <a:solidFill>
                  <a:srgbClr val="FF0000"/>
                </a:solidFill>
              </a:rPr>
              <a:t>mfun</a:t>
            </a:r>
            <a:r>
              <a:rPr lang="en-US" dirty="0">
                <a:solidFill>
                  <a:srgbClr val="FF0000"/>
                </a:solidFill>
              </a:rPr>
              <a:t>() </a:t>
            </a:r>
            <a:r>
              <a:rPr lang="en-US" dirty="0"/>
              <a:t>and a base class pointer </a:t>
            </a:r>
            <a:r>
              <a:rPr lang="en-US" dirty="0" err="1">
                <a:solidFill>
                  <a:srgbClr val="FF0000"/>
                </a:solidFill>
              </a:rPr>
              <a:t>ptr</a:t>
            </a:r>
            <a:r>
              <a:rPr lang="en-US" dirty="0"/>
              <a:t> that is pointing to an object of a derived class D.</a:t>
            </a:r>
            <a:endParaRPr lang="en-US" i="1" dirty="0">
              <a:solidFill>
                <a:srgbClr val="FF0000"/>
              </a:solidFill>
            </a:endParaRPr>
          </a:p>
          <a:p>
            <a:pPr algn="l"/>
            <a:endParaRPr lang="en-US" i="1" dirty="0">
              <a:solidFill>
                <a:srgbClr val="FF0000"/>
              </a:solidFill>
            </a:endParaRPr>
          </a:p>
          <a:p>
            <a:endParaRPr lang="en-US" dirty="0"/>
          </a:p>
        </p:txBody>
      </p:sp>
      <p:pic>
        <p:nvPicPr>
          <p:cNvPr id="4" name="Picture 3">
            <a:extLst>
              <a:ext uri="{FF2B5EF4-FFF2-40B4-BE49-F238E27FC236}">
                <a16:creationId xmlns:a16="http://schemas.microsoft.com/office/drawing/2014/main" id="{D84B7B07-A984-D419-984F-B7C71ED0E56E}"/>
              </a:ext>
            </a:extLst>
          </p:cNvPr>
          <p:cNvPicPr>
            <a:picLocks noChangeAspect="1"/>
          </p:cNvPicPr>
          <p:nvPr/>
        </p:nvPicPr>
        <p:blipFill>
          <a:blip r:embed="rId2"/>
          <a:stretch>
            <a:fillRect/>
          </a:stretch>
        </p:blipFill>
        <p:spPr>
          <a:xfrm>
            <a:off x="7257741" y="1690688"/>
            <a:ext cx="3898900" cy="4584700"/>
          </a:xfrm>
          <a:prstGeom prst="rect">
            <a:avLst/>
          </a:prstGeom>
        </p:spPr>
      </p:pic>
    </p:spTree>
    <p:extLst>
      <p:ext uri="{BB962C8B-B14F-4D97-AF65-F5344CB8AC3E}">
        <p14:creationId xmlns:p14="http://schemas.microsoft.com/office/powerpoint/2010/main" val="3856291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0C5D-F7B6-490D-6583-A54D35EAC485}"/>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A8560D43-4F62-5DD5-5693-FF40AC135632}"/>
              </a:ext>
            </a:extLst>
          </p:cNvPr>
          <p:cNvSpPr>
            <a:spLocks noGrp="1"/>
          </p:cNvSpPr>
          <p:nvPr>
            <p:ph idx="1"/>
          </p:nvPr>
        </p:nvSpPr>
        <p:spPr/>
        <p:txBody>
          <a:bodyPr/>
          <a:lstStyle/>
          <a:p>
            <a:pPr algn="l"/>
            <a:r>
              <a:rPr lang="en-US" dirty="0">
                <a:effectLst/>
              </a:rPr>
              <a:t>We want to tell the compiler that whenever we write</a:t>
            </a:r>
          </a:p>
          <a:p>
            <a:pPr lvl="1"/>
            <a:r>
              <a:rPr lang="en-US" i="1" dirty="0" err="1">
                <a:solidFill>
                  <a:srgbClr val="FF0000"/>
                </a:solidFill>
              </a:rPr>
              <a:t>ptr</a:t>
            </a:r>
            <a:r>
              <a:rPr lang="en-US" i="1" dirty="0">
                <a:solidFill>
                  <a:srgbClr val="FF0000"/>
                </a:solidFill>
              </a:rPr>
              <a:t>−&gt;</a:t>
            </a:r>
            <a:r>
              <a:rPr lang="en-US" i="1" dirty="0" err="1">
                <a:solidFill>
                  <a:srgbClr val="FF0000"/>
                </a:solidFill>
                <a:effectLst/>
              </a:rPr>
              <a:t>mfun</a:t>
            </a:r>
            <a:r>
              <a:rPr lang="en-US" i="1" dirty="0">
                <a:solidFill>
                  <a:srgbClr val="FF0000"/>
                </a:solidFill>
              </a:rPr>
              <a:t>() </a:t>
            </a:r>
          </a:p>
          <a:p>
            <a:pPr algn="l"/>
            <a:r>
              <a:rPr lang="en-US" dirty="0">
                <a:effectLst/>
              </a:rPr>
              <a:t>the compiler should select the more specialized version of </a:t>
            </a:r>
            <a:r>
              <a:rPr lang="en-US" dirty="0" err="1">
                <a:solidFill>
                  <a:srgbClr val="FF0000"/>
                </a:solidFill>
                <a:effectLst/>
              </a:rPr>
              <a:t>mfun</a:t>
            </a:r>
            <a:r>
              <a:rPr lang="en-US" dirty="0">
                <a:solidFill>
                  <a:srgbClr val="FF0000"/>
                </a:solidFill>
                <a:effectLst/>
              </a:rPr>
              <a:t>() </a:t>
            </a:r>
            <a:r>
              <a:rPr lang="en-US" dirty="0">
                <a:effectLst/>
              </a:rPr>
              <a:t>in the derived class. </a:t>
            </a:r>
          </a:p>
          <a:p>
            <a:pPr algn="l"/>
            <a:r>
              <a:rPr lang="en-US" dirty="0">
                <a:effectLst/>
              </a:rPr>
              <a:t>We can do this in C++ by declaring </a:t>
            </a:r>
            <a:r>
              <a:rPr lang="en-US" dirty="0" err="1">
                <a:solidFill>
                  <a:srgbClr val="FF0000"/>
                </a:solidFill>
                <a:effectLst/>
              </a:rPr>
              <a:t>mfun</a:t>
            </a:r>
            <a:r>
              <a:rPr lang="en-US" dirty="0">
                <a:solidFill>
                  <a:srgbClr val="FF0000"/>
                </a:solidFill>
                <a:effectLst/>
              </a:rPr>
              <a:t>() </a:t>
            </a:r>
            <a:r>
              <a:rPr lang="en-US" dirty="0">
                <a:effectLst/>
              </a:rPr>
              <a:t>to be a </a:t>
            </a:r>
            <a:r>
              <a:rPr lang="en-US" b="1" dirty="0">
                <a:effectLst/>
                <a:hlinkClick r:id="rId2"/>
              </a:rPr>
              <a:t>virtual</a:t>
            </a:r>
            <a:r>
              <a:rPr lang="en-US" dirty="0">
                <a:effectLst/>
              </a:rPr>
              <a:t> function in the base class. </a:t>
            </a:r>
          </a:p>
          <a:p>
            <a:pPr algn="l"/>
            <a:r>
              <a:rPr lang="en-US" dirty="0">
                <a:effectLst/>
              </a:rPr>
              <a:t>Virtual functions are used in C++ to support polymorphic behavior. </a:t>
            </a:r>
          </a:p>
          <a:p>
            <a:endParaRPr lang="en-US" dirty="0"/>
          </a:p>
        </p:txBody>
      </p:sp>
    </p:spTree>
    <p:extLst>
      <p:ext uri="{BB962C8B-B14F-4D97-AF65-F5344CB8AC3E}">
        <p14:creationId xmlns:p14="http://schemas.microsoft.com/office/powerpoint/2010/main" val="477389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34C8A-52CF-732C-4798-EB6146290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D7E18-DFB1-37A8-90F0-A8B62094034A}"/>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86DEDF61-8A3F-0461-686F-A9582AFBCA38}"/>
              </a:ext>
            </a:extLst>
          </p:cNvPr>
          <p:cNvSpPr>
            <a:spLocks noGrp="1"/>
          </p:cNvSpPr>
          <p:nvPr>
            <p:ph idx="1"/>
          </p:nvPr>
        </p:nvSpPr>
        <p:spPr/>
        <p:txBody>
          <a:bodyPr/>
          <a:lstStyle/>
          <a:p>
            <a:pPr algn="l"/>
            <a:r>
              <a:rPr lang="en-US" dirty="0"/>
              <a:t>Thus, to achieve polymorphic behavior for </a:t>
            </a:r>
            <a:r>
              <a:rPr lang="en-US" dirty="0" err="1"/>
              <a:t>mfun</a:t>
            </a:r>
            <a:r>
              <a:rPr lang="en-US" dirty="0"/>
              <a:t>() in the class B and all of its derived classes, we must modify the definition of B as follows:</a:t>
            </a:r>
          </a:p>
        </p:txBody>
      </p:sp>
      <p:pic>
        <p:nvPicPr>
          <p:cNvPr id="4" name="Picture 3">
            <a:extLst>
              <a:ext uri="{FF2B5EF4-FFF2-40B4-BE49-F238E27FC236}">
                <a16:creationId xmlns:a16="http://schemas.microsoft.com/office/drawing/2014/main" id="{F062BEDC-8371-66BD-8874-CB2360F9684B}"/>
              </a:ext>
            </a:extLst>
          </p:cNvPr>
          <p:cNvPicPr>
            <a:picLocks noChangeAspect="1"/>
          </p:cNvPicPr>
          <p:nvPr/>
        </p:nvPicPr>
        <p:blipFill>
          <a:blip r:embed="rId2"/>
          <a:stretch>
            <a:fillRect/>
          </a:stretch>
        </p:blipFill>
        <p:spPr>
          <a:xfrm>
            <a:off x="4337050" y="3055439"/>
            <a:ext cx="3517900" cy="2349500"/>
          </a:xfrm>
          <a:prstGeom prst="rect">
            <a:avLst/>
          </a:prstGeom>
        </p:spPr>
      </p:pic>
    </p:spTree>
    <p:extLst>
      <p:ext uri="{BB962C8B-B14F-4D97-AF65-F5344CB8AC3E}">
        <p14:creationId xmlns:p14="http://schemas.microsoft.com/office/powerpoint/2010/main" val="3113570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2CDF-21AC-8080-5250-970F61F1E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B0772-4C38-4DFA-BF2A-A6384ACCD928}"/>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77BDF6F0-0BE1-9481-DA05-C7A5E3D187E2}"/>
              </a:ext>
            </a:extLst>
          </p:cNvPr>
          <p:cNvSpPr>
            <a:spLocks noGrp="1"/>
          </p:cNvSpPr>
          <p:nvPr>
            <p:ph idx="1"/>
          </p:nvPr>
        </p:nvSpPr>
        <p:spPr/>
        <p:txBody>
          <a:bodyPr/>
          <a:lstStyle/>
          <a:p>
            <a:pPr algn="l"/>
            <a:r>
              <a:rPr lang="en-US" dirty="0"/>
              <a:t>The virtual characteristic is inherited: That is, if a member function of a derived class overrides a virtual function in the base class, then that member function is automatically virtual itself. </a:t>
            </a:r>
          </a:p>
          <a:p>
            <a:pPr algn="l"/>
            <a:r>
              <a:rPr lang="en-US" dirty="0"/>
              <a:t>Thus, the declaration of </a:t>
            </a:r>
            <a:r>
              <a:rPr lang="en-US" dirty="0" err="1"/>
              <a:t>mfun</a:t>
            </a:r>
            <a:r>
              <a:rPr lang="en-US" dirty="0"/>
              <a:t> as virtual in B makes </a:t>
            </a:r>
            <a:r>
              <a:rPr lang="en-US" dirty="0" err="1"/>
              <a:t>mfun</a:t>
            </a:r>
            <a:r>
              <a:rPr lang="en-US" dirty="0"/>
              <a:t> virtual in D and in all classes derived from D.</a:t>
            </a:r>
          </a:p>
          <a:p>
            <a:pPr algn="l"/>
            <a:r>
              <a:rPr lang="en-US" dirty="0"/>
              <a:t>In our example, the virtual function has been defined inside the class declaration. </a:t>
            </a:r>
          </a:p>
          <a:p>
            <a:pPr algn="l"/>
            <a:r>
              <a:rPr lang="en-US" dirty="0"/>
              <a:t>If a virtual member function is defined outside of the class declaration, the virtual key word goes on its declaration inside the class but not on the definition.</a:t>
            </a:r>
          </a:p>
        </p:txBody>
      </p:sp>
    </p:spTree>
    <p:extLst>
      <p:ext uri="{BB962C8B-B14F-4D97-AF65-F5344CB8AC3E}">
        <p14:creationId xmlns:p14="http://schemas.microsoft.com/office/powerpoint/2010/main" val="2052364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904D3-3155-6C36-14A3-E383CCFA7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33935-44EC-6C0B-A3C7-D3BBF94D768C}"/>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CA9ED19E-9E5C-C382-1A7F-B4A7936A2E56}"/>
              </a:ext>
            </a:extLst>
          </p:cNvPr>
          <p:cNvSpPr>
            <a:spLocks noGrp="1"/>
          </p:cNvSpPr>
          <p:nvPr>
            <p:ph idx="1"/>
          </p:nvPr>
        </p:nvSpPr>
        <p:spPr/>
        <p:txBody>
          <a:bodyPr/>
          <a:lstStyle/>
          <a:p>
            <a:pPr algn="l"/>
            <a:r>
              <a:rPr lang="en-US" dirty="0"/>
              <a:t>Although it is not necessary, many programmers tag all virtual functions with the key word virtual to make it easer to identify them. </a:t>
            </a:r>
          </a:p>
          <a:p>
            <a:pPr algn="l"/>
            <a:r>
              <a:rPr lang="en-US" dirty="0"/>
              <a:t>This is good practice, and accordingly, the definition of D should be written as follows:</a:t>
            </a:r>
          </a:p>
        </p:txBody>
      </p:sp>
      <p:pic>
        <p:nvPicPr>
          <p:cNvPr id="4" name="Picture 3">
            <a:extLst>
              <a:ext uri="{FF2B5EF4-FFF2-40B4-BE49-F238E27FC236}">
                <a16:creationId xmlns:a16="http://schemas.microsoft.com/office/drawing/2014/main" id="{107AA3A5-5E25-6252-4006-7304557E3172}"/>
              </a:ext>
            </a:extLst>
          </p:cNvPr>
          <p:cNvPicPr>
            <a:picLocks noChangeAspect="1"/>
          </p:cNvPicPr>
          <p:nvPr/>
        </p:nvPicPr>
        <p:blipFill>
          <a:blip r:embed="rId2"/>
          <a:stretch>
            <a:fillRect/>
          </a:stretch>
        </p:blipFill>
        <p:spPr>
          <a:xfrm>
            <a:off x="4032250" y="4089400"/>
            <a:ext cx="4127500" cy="2222500"/>
          </a:xfrm>
          <a:prstGeom prst="rect">
            <a:avLst/>
          </a:prstGeom>
        </p:spPr>
      </p:pic>
    </p:spTree>
    <p:extLst>
      <p:ext uri="{BB962C8B-B14F-4D97-AF65-F5344CB8AC3E}">
        <p14:creationId xmlns:p14="http://schemas.microsoft.com/office/powerpoint/2010/main" val="3894320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13644-5E0F-A1A6-23D8-8F9F245DEBC9}"/>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4038A95C-81D6-55F8-886F-CB856B112FF8}"/>
              </a:ext>
            </a:extLst>
          </p:cNvPr>
          <p:cNvPicPr>
            <a:picLocks noChangeAspect="1"/>
          </p:cNvPicPr>
          <p:nvPr/>
        </p:nvPicPr>
        <p:blipFill>
          <a:blip r:embed="rId2"/>
          <a:stretch>
            <a:fillRect/>
          </a:stretch>
        </p:blipFill>
        <p:spPr>
          <a:xfrm>
            <a:off x="838200" y="1690688"/>
            <a:ext cx="5003758" cy="4562566"/>
          </a:xfrm>
          <a:prstGeom prst="rect">
            <a:avLst/>
          </a:prstGeom>
        </p:spPr>
      </p:pic>
      <p:pic>
        <p:nvPicPr>
          <p:cNvPr id="5" name="Picture 4">
            <a:extLst>
              <a:ext uri="{FF2B5EF4-FFF2-40B4-BE49-F238E27FC236}">
                <a16:creationId xmlns:a16="http://schemas.microsoft.com/office/drawing/2014/main" id="{40B47BA7-1378-3293-7A6E-DF2284FB8485}"/>
              </a:ext>
            </a:extLst>
          </p:cNvPr>
          <p:cNvPicPr>
            <a:picLocks noChangeAspect="1"/>
          </p:cNvPicPr>
          <p:nvPr/>
        </p:nvPicPr>
        <p:blipFill>
          <a:blip r:embed="rId3"/>
          <a:stretch>
            <a:fillRect/>
          </a:stretch>
        </p:blipFill>
        <p:spPr>
          <a:xfrm>
            <a:off x="6654453" y="1690688"/>
            <a:ext cx="5266661" cy="4448856"/>
          </a:xfrm>
          <a:prstGeom prst="rect">
            <a:avLst/>
          </a:prstGeom>
        </p:spPr>
      </p:pic>
    </p:spTree>
    <p:extLst>
      <p:ext uri="{BB962C8B-B14F-4D97-AF65-F5344CB8AC3E}">
        <p14:creationId xmlns:p14="http://schemas.microsoft.com/office/powerpoint/2010/main" val="114016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6FEA-FB3F-BD77-6140-B437EF477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26D94-EA84-93B3-8E25-BA0BF46BC370}"/>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F70944B0-2814-391D-7F00-29034D9923BD}"/>
              </a:ext>
            </a:extLst>
          </p:cNvPr>
          <p:cNvPicPr>
            <a:picLocks noChangeAspect="1"/>
          </p:cNvPicPr>
          <p:nvPr/>
        </p:nvPicPr>
        <p:blipFill>
          <a:blip r:embed="rId2"/>
          <a:stretch>
            <a:fillRect/>
          </a:stretch>
        </p:blipFill>
        <p:spPr>
          <a:xfrm>
            <a:off x="5347843" y="69908"/>
            <a:ext cx="4997940" cy="6788092"/>
          </a:xfrm>
          <a:prstGeom prst="rect">
            <a:avLst/>
          </a:prstGeom>
        </p:spPr>
      </p:pic>
      <p:pic>
        <p:nvPicPr>
          <p:cNvPr id="6" name="Picture 5">
            <a:extLst>
              <a:ext uri="{FF2B5EF4-FFF2-40B4-BE49-F238E27FC236}">
                <a16:creationId xmlns:a16="http://schemas.microsoft.com/office/drawing/2014/main" id="{1748A2B1-F2AD-1233-0230-FC1DC6709888}"/>
              </a:ext>
            </a:extLst>
          </p:cNvPr>
          <p:cNvPicPr>
            <a:picLocks noChangeAspect="1"/>
          </p:cNvPicPr>
          <p:nvPr/>
        </p:nvPicPr>
        <p:blipFill>
          <a:blip r:embed="rId3"/>
          <a:stretch>
            <a:fillRect/>
          </a:stretch>
        </p:blipFill>
        <p:spPr>
          <a:xfrm>
            <a:off x="1097280" y="2187604"/>
            <a:ext cx="3048000" cy="2552700"/>
          </a:xfrm>
          <a:prstGeom prst="rect">
            <a:avLst/>
          </a:prstGeom>
        </p:spPr>
      </p:pic>
    </p:spTree>
    <p:extLst>
      <p:ext uri="{BB962C8B-B14F-4D97-AF65-F5344CB8AC3E}">
        <p14:creationId xmlns:p14="http://schemas.microsoft.com/office/powerpoint/2010/main" val="1159987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4D63-0D52-F0F0-EB74-3F5CE0FF2AB0}"/>
              </a:ext>
            </a:extLst>
          </p:cNvPr>
          <p:cNvSpPr>
            <a:spLocks noGrp="1"/>
          </p:cNvSpPr>
          <p:nvPr>
            <p:ph type="title"/>
          </p:nvPr>
        </p:nvSpPr>
        <p:spPr/>
        <p:txBody>
          <a:bodyPr/>
          <a:lstStyle/>
          <a:p>
            <a:r>
              <a:rPr lang="en-US" dirty="0"/>
              <a:t>Dynamic and Static Binding</a:t>
            </a:r>
          </a:p>
        </p:txBody>
      </p:sp>
      <p:sp>
        <p:nvSpPr>
          <p:cNvPr id="3" name="Content Placeholder 2">
            <a:extLst>
              <a:ext uri="{FF2B5EF4-FFF2-40B4-BE49-F238E27FC236}">
                <a16:creationId xmlns:a16="http://schemas.microsoft.com/office/drawing/2014/main" id="{29401183-954E-7E50-6FF9-B4A36A75C505}"/>
              </a:ext>
            </a:extLst>
          </p:cNvPr>
          <p:cNvSpPr>
            <a:spLocks noGrp="1"/>
          </p:cNvSpPr>
          <p:nvPr>
            <p:ph idx="1"/>
          </p:nvPr>
        </p:nvSpPr>
        <p:spPr/>
        <p:txBody>
          <a:bodyPr/>
          <a:lstStyle/>
          <a:p>
            <a:r>
              <a:rPr lang="en-US" dirty="0"/>
              <a:t>The compiler is said to </a:t>
            </a:r>
            <a:r>
              <a:rPr lang="en-US" b="1" dirty="0">
                <a:hlinkClick r:id="rId2">
                  <a:extLst>
                    <a:ext uri="{A12FA001-AC4F-418D-AE19-62706E023703}">
                      <ahyp:hlinkClr xmlns:ahyp="http://schemas.microsoft.com/office/drawing/2018/hyperlinkcolor" val="tx"/>
                    </a:ext>
                  </a:extLst>
                </a:hlinkClick>
              </a:rPr>
              <a:t>bind</a:t>
            </a:r>
            <a:r>
              <a:rPr lang="en-US" dirty="0"/>
              <a:t> the name of a function when it selects the code that should be executed when the function name is invoked. </a:t>
            </a:r>
          </a:p>
          <a:p>
            <a:r>
              <a:rPr lang="en-US" dirty="0"/>
              <a:t>In other words, the compiler binds the name to a function definition when the function is called.</a:t>
            </a:r>
          </a:p>
        </p:txBody>
      </p:sp>
    </p:spTree>
    <p:extLst>
      <p:ext uri="{BB962C8B-B14F-4D97-AF65-F5344CB8AC3E}">
        <p14:creationId xmlns:p14="http://schemas.microsoft.com/office/powerpoint/2010/main" val="3674200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F489D-DF12-5388-C53D-F2B2282A0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354BB-2400-8134-E5BA-6681A8F11478}"/>
              </a:ext>
            </a:extLst>
          </p:cNvPr>
          <p:cNvSpPr>
            <a:spLocks noGrp="1"/>
          </p:cNvSpPr>
          <p:nvPr>
            <p:ph type="title"/>
          </p:nvPr>
        </p:nvSpPr>
        <p:spPr/>
        <p:txBody>
          <a:bodyPr/>
          <a:lstStyle/>
          <a:p>
            <a:r>
              <a:rPr lang="en-US" dirty="0"/>
              <a:t>Dynamic and Static Binding</a:t>
            </a:r>
          </a:p>
        </p:txBody>
      </p:sp>
      <p:sp>
        <p:nvSpPr>
          <p:cNvPr id="3" name="Content Placeholder 2">
            <a:extLst>
              <a:ext uri="{FF2B5EF4-FFF2-40B4-BE49-F238E27FC236}">
                <a16:creationId xmlns:a16="http://schemas.microsoft.com/office/drawing/2014/main" id="{1CF888FA-7F8D-6A0D-2860-49C5B5F95B4F}"/>
              </a:ext>
            </a:extLst>
          </p:cNvPr>
          <p:cNvSpPr>
            <a:spLocks noGrp="1"/>
          </p:cNvSpPr>
          <p:nvPr>
            <p:ph idx="1"/>
          </p:nvPr>
        </p:nvSpPr>
        <p:spPr/>
        <p:txBody>
          <a:bodyPr>
            <a:normAutofit lnSpcReduction="10000"/>
          </a:bodyPr>
          <a:lstStyle/>
          <a:p>
            <a:r>
              <a:rPr lang="en-US" b="1" dirty="0">
                <a:hlinkClick r:id="rId2">
                  <a:extLst>
                    <a:ext uri="{A12FA001-AC4F-418D-AE19-62706E023703}">
                      <ahyp:hlinkClr xmlns:ahyp="http://schemas.microsoft.com/office/drawing/2018/hyperlinkcolor" val="tx"/>
                    </a:ext>
                  </a:extLst>
                </a:hlinkClick>
              </a:rPr>
              <a:t>Static binding</a:t>
            </a:r>
            <a:r>
              <a:rPr lang="en-US" b="1" dirty="0"/>
              <a:t> </a:t>
            </a:r>
            <a:r>
              <a:rPr lang="en-US" dirty="0"/>
              <a:t>happens at compile time and binds the name to a fixed function definition, which is then executed each time the name is invoked. </a:t>
            </a:r>
          </a:p>
          <a:p>
            <a:r>
              <a:rPr lang="en-US" dirty="0"/>
              <a:t>In static binding, the compiler uses type information available at compile time. </a:t>
            </a:r>
          </a:p>
          <a:p>
            <a:r>
              <a:rPr lang="en-US" dirty="0"/>
              <a:t>If the code is operating on objects of different classes within an inheritance hierarchy, the only type information available to the compiler will be the base class pointer type used to access all the objects. </a:t>
            </a:r>
          </a:p>
          <a:p>
            <a:r>
              <a:rPr lang="en-US" dirty="0"/>
              <a:t>Consequently, static binding will always use the base class version of a member function.</a:t>
            </a:r>
          </a:p>
        </p:txBody>
      </p:sp>
    </p:spTree>
    <p:extLst>
      <p:ext uri="{BB962C8B-B14F-4D97-AF65-F5344CB8AC3E}">
        <p14:creationId xmlns:p14="http://schemas.microsoft.com/office/powerpoint/2010/main" val="2695635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B2DB7-4103-2808-B8AE-FAC8D2153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BB4B7-0957-A2FA-4A74-D4B0C571C64D}"/>
              </a:ext>
            </a:extLst>
          </p:cNvPr>
          <p:cNvSpPr>
            <a:spLocks noGrp="1"/>
          </p:cNvSpPr>
          <p:nvPr>
            <p:ph type="title"/>
          </p:nvPr>
        </p:nvSpPr>
        <p:spPr/>
        <p:txBody>
          <a:bodyPr/>
          <a:lstStyle/>
          <a:p>
            <a:r>
              <a:rPr lang="en-US" dirty="0"/>
              <a:t>Dynamic and Static Binding</a:t>
            </a:r>
          </a:p>
        </p:txBody>
      </p:sp>
      <p:sp>
        <p:nvSpPr>
          <p:cNvPr id="3" name="Content Placeholder 2">
            <a:extLst>
              <a:ext uri="{FF2B5EF4-FFF2-40B4-BE49-F238E27FC236}">
                <a16:creationId xmlns:a16="http://schemas.microsoft.com/office/drawing/2014/main" id="{A7DC4049-0B59-503A-94B7-8520D5EBBAC4}"/>
              </a:ext>
            </a:extLst>
          </p:cNvPr>
          <p:cNvSpPr>
            <a:spLocks noGrp="1"/>
          </p:cNvSpPr>
          <p:nvPr>
            <p:ph idx="1"/>
          </p:nvPr>
        </p:nvSpPr>
        <p:spPr>
          <a:xfrm>
            <a:off x="838200" y="1825625"/>
            <a:ext cx="10515600" cy="4667250"/>
          </a:xfrm>
        </p:spPr>
        <p:txBody>
          <a:bodyPr>
            <a:normAutofit/>
          </a:bodyPr>
          <a:lstStyle/>
          <a:p>
            <a:r>
              <a:rPr lang="en-US" dirty="0"/>
              <a:t>In contrast, </a:t>
            </a:r>
            <a:r>
              <a:rPr lang="en-US" b="1" dirty="0">
                <a:hlinkClick r:id="rId2">
                  <a:extLst>
                    <a:ext uri="{A12FA001-AC4F-418D-AE19-62706E023703}">
                      <ahyp:hlinkClr xmlns:ahyp="http://schemas.microsoft.com/office/drawing/2018/hyperlinkcolor" val="tx"/>
                    </a:ext>
                  </a:extLst>
                </a:hlinkClick>
              </a:rPr>
              <a:t>dynamic binding</a:t>
            </a:r>
            <a:r>
              <a:rPr lang="en-US" b="1" dirty="0"/>
              <a:t> </a:t>
            </a:r>
            <a:r>
              <a:rPr lang="en-US" dirty="0"/>
              <a:t>occurs at run time. </a:t>
            </a:r>
          </a:p>
          <a:p>
            <a:r>
              <a:rPr lang="en-US" dirty="0"/>
              <a:t>Dynamic binding works only if the compiler can determine at run time the exact class that a subclass object belongs to. </a:t>
            </a:r>
          </a:p>
          <a:p>
            <a:r>
              <a:rPr lang="en-US" dirty="0"/>
              <a:t>The compiler then uses this run-time type information to call the version of the function defined in that class. </a:t>
            </a:r>
          </a:p>
          <a:p>
            <a:r>
              <a:rPr lang="en-US" dirty="0"/>
              <a:t>To make dynamic binding possible, the compiler stores run-time type information in every object of a class with a virtual function.</a:t>
            </a:r>
          </a:p>
          <a:p>
            <a:r>
              <a:rPr lang="en-US" dirty="0"/>
              <a:t>Dynamic binding always uses the version of the member function in the actual class of the object, regardless of the class of the pointer used to access the object.</a:t>
            </a:r>
          </a:p>
        </p:txBody>
      </p:sp>
    </p:spTree>
    <p:extLst>
      <p:ext uri="{BB962C8B-B14F-4D97-AF65-F5344CB8AC3E}">
        <p14:creationId xmlns:p14="http://schemas.microsoft.com/office/powerpoint/2010/main" val="2720038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C8F0-5C34-61F7-A76D-7DBB4D1A3CE0}"/>
              </a:ext>
            </a:extLst>
          </p:cNvPr>
          <p:cNvSpPr>
            <a:spLocks noGrp="1"/>
          </p:cNvSpPr>
          <p:nvPr>
            <p:ph type="title"/>
          </p:nvPr>
        </p:nvSpPr>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83775374-A230-41F4-A3EE-F4F29E6F6D69}"/>
              </a:ext>
            </a:extLst>
          </p:cNvPr>
          <p:cNvSpPr>
            <a:spLocks noGrp="1"/>
          </p:cNvSpPr>
          <p:nvPr>
            <p:ph idx="1"/>
          </p:nvPr>
        </p:nvSpPr>
        <p:spPr/>
        <p:txBody>
          <a:bodyPr/>
          <a:lstStyle/>
          <a:p>
            <a:r>
              <a:rPr lang="en-US" dirty="0"/>
              <a:t>C++ 11 introduces the override key word to help prevent subtle errors when overriding virtual functions.</a:t>
            </a:r>
          </a:p>
        </p:txBody>
      </p:sp>
    </p:spTree>
    <p:extLst>
      <p:ext uri="{BB962C8B-B14F-4D97-AF65-F5344CB8AC3E}">
        <p14:creationId xmlns:p14="http://schemas.microsoft.com/office/powerpoint/2010/main" val="322161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5A3F-5DA3-1374-558B-31A779A5A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67620-EE2E-54C8-7639-B4CBCF40AD17}"/>
              </a:ext>
            </a:extLst>
          </p:cNvPr>
          <p:cNvSpPr>
            <a:spLocks noGrp="1"/>
          </p:cNvSpPr>
          <p:nvPr>
            <p:ph type="title"/>
          </p:nvPr>
        </p:nvSpPr>
        <p:spPr>
          <a:xfrm>
            <a:off x="838200" y="365125"/>
            <a:ext cx="5736771" cy="1325563"/>
          </a:xfrm>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06743B67-3B67-F596-6149-877FB198D31E}"/>
              </a:ext>
            </a:extLst>
          </p:cNvPr>
          <p:cNvSpPr>
            <a:spLocks noGrp="1"/>
          </p:cNvSpPr>
          <p:nvPr>
            <p:ph idx="1"/>
          </p:nvPr>
        </p:nvSpPr>
        <p:spPr>
          <a:xfrm>
            <a:off x="838200" y="1825625"/>
            <a:ext cx="5736771" cy="4351338"/>
          </a:xfrm>
        </p:spPr>
        <p:txBody>
          <a:bodyPr>
            <a:normAutofit lnSpcReduction="10000"/>
          </a:bodyPr>
          <a:lstStyle/>
          <a:p>
            <a:r>
              <a:rPr lang="en-US" dirty="0"/>
              <a:t>There is a mistake in this program</a:t>
            </a:r>
          </a:p>
          <a:p>
            <a:r>
              <a:rPr lang="en-US" dirty="0"/>
              <a:t>In this program, a Base class pointer b is pointing to a Derived class object. </a:t>
            </a:r>
          </a:p>
          <a:p>
            <a:r>
              <a:rPr lang="en-US" dirty="0"/>
              <a:t>Because the </a:t>
            </a:r>
            <a:r>
              <a:rPr lang="en-US" dirty="0" err="1"/>
              <a:t>functionA</a:t>
            </a:r>
            <a:r>
              <a:rPr lang="en-US" dirty="0"/>
              <a:t> is virtual, we expect that the call to </a:t>
            </a:r>
            <a:r>
              <a:rPr lang="en-US" dirty="0" err="1"/>
              <a:t>functionA</a:t>
            </a:r>
            <a:r>
              <a:rPr lang="en-US" dirty="0"/>
              <a:t> through b will call the Derived class version. </a:t>
            </a:r>
          </a:p>
          <a:p>
            <a:r>
              <a:rPr lang="en-US" dirty="0"/>
              <a:t>This is not the case, however, as you can see from the program’s output.</a:t>
            </a:r>
          </a:p>
        </p:txBody>
      </p:sp>
      <p:pic>
        <p:nvPicPr>
          <p:cNvPr id="4" name="Picture 3">
            <a:extLst>
              <a:ext uri="{FF2B5EF4-FFF2-40B4-BE49-F238E27FC236}">
                <a16:creationId xmlns:a16="http://schemas.microsoft.com/office/drawing/2014/main" id="{60B6DD50-1ACC-EFC7-2F3A-044911060561}"/>
              </a:ext>
            </a:extLst>
          </p:cNvPr>
          <p:cNvPicPr>
            <a:picLocks noChangeAspect="1"/>
          </p:cNvPicPr>
          <p:nvPr/>
        </p:nvPicPr>
        <p:blipFill>
          <a:blip r:embed="rId2"/>
          <a:stretch>
            <a:fillRect/>
          </a:stretch>
        </p:blipFill>
        <p:spPr>
          <a:xfrm>
            <a:off x="7506496" y="0"/>
            <a:ext cx="4581293" cy="6858000"/>
          </a:xfrm>
          <a:prstGeom prst="rect">
            <a:avLst/>
          </a:prstGeom>
        </p:spPr>
      </p:pic>
    </p:spTree>
    <p:extLst>
      <p:ext uri="{BB962C8B-B14F-4D97-AF65-F5344CB8AC3E}">
        <p14:creationId xmlns:p14="http://schemas.microsoft.com/office/powerpoint/2010/main" val="24091512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B0B75-AEA7-E79D-8955-060889DCE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B35AE-34AF-6C3F-33ED-0702C7BB153C}"/>
              </a:ext>
            </a:extLst>
          </p:cNvPr>
          <p:cNvSpPr>
            <a:spLocks noGrp="1"/>
          </p:cNvSpPr>
          <p:nvPr>
            <p:ph type="title"/>
          </p:nvPr>
        </p:nvSpPr>
        <p:spPr>
          <a:xfrm>
            <a:off x="838200" y="365125"/>
            <a:ext cx="5736771" cy="1325563"/>
          </a:xfrm>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5AEB39F4-34C8-4744-63EA-CCABC965DFBB}"/>
              </a:ext>
            </a:extLst>
          </p:cNvPr>
          <p:cNvSpPr>
            <a:spLocks noGrp="1"/>
          </p:cNvSpPr>
          <p:nvPr>
            <p:ph idx="1"/>
          </p:nvPr>
        </p:nvSpPr>
        <p:spPr>
          <a:xfrm>
            <a:off x="838200" y="1825625"/>
            <a:ext cx="5736771" cy="4351338"/>
          </a:xfrm>
        </p:spPr>
        <p:txBody>
          <a:bodyPr>
            <a:normAutofit fontScale="92500"/>
          </a:bodyPr>
          <a:lstStyle/>
          <a:p>
            <a:r>
              <a:rPr lang="en-US" dirty="0"/>
              <a:t>The reason is that the the two functions have different parameter types, so </a:t>
            </a:r>
            <a:r>
              <a:rPr lang="en-US" dirty="0" err="1"/>
              <a:t>functionA</a:t>
            </a:r>
            <a:r>
              <a:rPr lang="en-US" dirty="0"/>
              <a:t> in the Derived class does not override </a:t>
            </a:r>
            <a:r>
              <a:rPr lang="en-US" dirty="0" err="1"/>
              <a:t>functionA</a:t>
            </a:r>
            <a:r>
              <a:rPr lang="en-US" dirty="0"/>
              <a:t> in the Base class. </a:t>
            </a:r>
          </a:p>
          <a:p>
            <a:r>
              <a:rPr lang="en-US" dirty="0"/>
              <a:t>The function in the base class takes an int argument, but the one in the derived class takes a long argument. </a:t>
            </a:r>
          </a:p>
          <a:p>
            <a:r>
              <a:rPr lang="en-US" dirty="0"/>
              <a:t>So, </a:t>
            </a:r>
            <a:r>
              <a:rPr lang="en-US" dirty="0" err="1"/>
              <a:t>functionA</a:t>
            </a:r>
            <a:r>
              <a:rPr lang="en-US" dirty="0"/>
              <a:t> in the Derived class merely overloads </a:t>
            </a:r>
            <a:r>
              <a:rPr lang="en-US" dirty="0" err="1"/>
              <a:t>functionA</a:t>
            </a:r>
            <a:r>
              <a:rPr lang="en-US" dirty="0"/>
              <a:t> in the Base class.</a:t>
            </a:r>
          </a:p>
        </p:txBody>
      </p:sp>
      <p:pic>
        <p:nvPicPr>
          <p:cNvPr id="4" name="Picture 3">
            <a:extLst>
              <a:ext uri="{FF2B5EF4-FFF2-40B4-BE49-F238E27FC236}">
                <a16:creationId xmlns:a16="http://schemas.microsoft.com/office/drawing/2014/main" id="{E4BEAE90-2D1A-03A1-3CD8-833BB9E4EB1F}"/>
              </a:ext>
            </a:extLst>
          </p:cNvPr>
          <p:cNvPicPr>
            <a:picLocks noChangeAspect="1"/>
          </p:cNvPicPr>
          <p:nvPr/>
        </p:nvPicPr>
        <p:blipFill>
          <a:blip r:embed="rId2"/>
          <a:stretch>
            <a:fillRect/>
          </a:stretch>
        </p:blipFill>
        <p:spPr>
          <a:xfrm>
            <a:off x="7506496" y="0"/>
            <a:ext cx="4581293" cy="6858000"/>
          </a:xfrm>
          <a:prstGeom prst="rect">
            <a:avLst/>
          </a:prstGeom>
        </p:spPr>
      </p:pic>
    </p:spTree>
    <p:extLst>
      <p:ext uri="{BB962C8B-B14F-4D97-AF65-F5344CB8AC3E}">
        <p14:creationId xmlns:p14="http://schemas.microsoft.com/office/powerpoint/2010/main" val="1138617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E962C-3232-3752-E32C-2A6559276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C44FD-FB13-86E6-CC15-A931018C65EB}"/>
              </a:ext>
            </a:extLst>
          </p:cNvPr>
          <p:cNvSpPr>
            <a:spLocks noGrp="1"/>
          </p:cNvSpPr>
          <p:nvPr>
            <p:ph type="title"/>
          </p:nvPr>
        </p:nvSpPr>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3C02DC03-0522-CC6D-E672-08FC05AC41E1}"/>
              </a:ext>
            </a:extLst>
          </p:cNvPr>
          <p:cNvSpPr>
            <a:spLocks noGrp="1"/>
          </p:cNvSpPr>
          <p:nvPr>
            <p:ph idx="1"/>
          </p:nvPr>
        </p:nvSpPr>
        <p:spPr/>
        <p:txBody>
          <a:bodyPr/>
          <a:lstStyle/>
          <a:p>
            <a:r>
              <a:rPr lang="en-US" dirty="0"/>
              <a:t>To make sure that a member function in a derived class overrides a virtual member function in a base class, you can place the </a:t>
            </a:r>
            <a:r>
              <a:rPr lang="en-US" b="1" dirty="0"/>
              <a:t>override</a:t>
            </a:r>
            <a:r>
              <a:rPr lang="en-US" dirty="0"/>
              <a:t> key word just after the derived class’s function prototype (or the function header, if the function is written inline). </a:t>
            </a:r>
          </a:p>
          <a:p>
            <a:r>
              <a:rPr lang="en-US" dirty="0"/>
              <a:t>The override key word tells the compiler that the function is supposed to override a function in the base class. </a:t>
            </a:r>
          </a:p>
          <a:p>
            <a:r>
              <a:rPr lang="en-US" dirty="0"/>
              <a:t>It will cause a compiler error if the function does not actually override any functions.</a:t>
            </a:r>
          </a:p>
        </p:txBody>
      </p:sp>
    </p:spTree>
    <p:extLst>
      <p:ext uri="{BB962C8B-B14F-4D97-AF65-F5344CB8AC3E}">
        <p14:creationId xmlns:p14="http://schemas.microsoft.com/office/powerpoint/2010/main" val="4117289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AD0D5-2196-8B95-6EB0-9AF84C37A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0945C-B564-7F1A-9047-88CF92BB653C}"/>
              </a:ext>
            </a:extLst>
          </p:cNvPr>
          <p:cNvSpPr>
            <a:spLocks noGrp="1"/>
          </p:cNvSpPr>
          <p:nvPr>
            <p:ph type="title"/>
          </p:nvPr>
        </p:nvSpPr>
        <p:spPr>
          <a:xfrm>
            <a:off x="838200" y="365125"/>
            <a:ext cx="5736771" cy="1325563"/>
          </a:xfrm>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82EC460A-D0CB-5526-58FF-BA30F6CF41C2}"/>
              </a:ext>
            </a:extLst>
          </p:cNvPr>
          <p:cNvSpPr>
            <a:spLocks noGrp="1"/>
          </p:cNvSpPr>
          <p:nvPr>
            <p:ph idx="1"/>
          </p:nvPr>
        </p:nvSpPr>
        <p:spPr>
          <a:xfrm>
            <a:off x="838200" y="1825625"/>
            <a:ext cx="5736771" cy="4351338"/>
          </a:xfrm>
        </p:spPr>
        <p:txBody>
          <a:bodyPr>
            <a:normAutofit/>
          </a:bodyPr>
          <a:lstStyle/>
          <a:p>
            <a:r>
              <a:rPr lang="en-US" dirty="0"/>
              <a:t>This example demonstrates how previous example can be fixed so that the Derived class function does in fact override the Base class function. </a:t>
            </a:r>
          </a:p>
          <a:p>
            <a:r>
              <a:rPr lang="en-US" dirty="0"/>
              <a:t>Notice in line 16 that we have changed the parameter in the Derived class function to int, and we have added the override key word to the function header.</a:t>
            </a:r>
          </a:p>
        </p:txBody>
      </p:sp>
      <p:pic>
        <p:nvPicPr>
          <p:cNvPr id="5" name="Picture 4">
            <a:extLst>
              <a:ext uri="{FF2B5EF4-FFF2-40B4-BE49-F238E27FC236}">
                <a16:creationId xmlns:a16="http://schemas.microsoft.com/office/drawing/2014/main" id="{F788129D-897B-DC87-3DD1-43880F741843}"/>
              </a:ext>
            </a:extLst>
          </p:cNvPr>
          <p:cNvPicPr>
            <a:picLocks noChangeAspect="1"/>
          </p:cNvPicPr>
          <p:nvPr/>
        </p:nvPicPr>
        <p:blipFill>
          <a:blip r:embed="rId2"/>
          <a:stretch>
            <a:fillRect/>
          </a:stretch>
        </p:blipFill>
        <p:spPr>
          <a:xfrm>
            <a:off x="7188874" y="0"/>
            <a:ext cx="4537268" cy="6858000"/>
          </a:xfrm>
          <a:prstGeom prst="rect">
            <a:avLst/>
          </a:prstGeom>
        </p:spPr>
      </p:pic>
    </p:spTree>
    <p:extLst>
      <p:ext uri="{BB962C8B-B14F-4D97-AF65-F5344CB8AC3E}">
        <p14:creationId xmlns:p14="http://schemas.microsoft.com/office/powerpoint/2010/main" val="1989623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6D2F2-1B42-820C-5E49-9C3F15D671F8}"/>
              </a:ext>
            </a:extLst>
          </p:cNvPr>
          <p:cNvSpPr>
            <a:spLocks noGrp="1"/>
          </p:cNvSpPr>
          <p:nvPr>
            <p:ph type="title"/>
          </p:nvPr>
        </p:nvSpPr>
        <p:spPr/>
        <p:txBody>
          <a:bodyPr/>
          <a:lstStyle/>
          <a:p>
            <a:r>
              <a:rPr lang="en-US" dirty="0"/>
              <a:t>Preventing a Member Function from Being Overridden</a:t>
            </a:r>
          </a:p>
        </p:txBody>
      </p:sp>
      <p:sp>
        <p:nvSpPr>
          <p:cNvPr id="3" name="Content Placeholder 2">
            <a:extLst>
              <a:ext uri="{FF2B5EF4-FFF2-40B4-BE49-F238E27FC236}">
                <a16:creationId xmlns:a16="http://schemas.microsoft.com/office/drawing/2014/main" id="{7372A15E-9C9E-AEF6-51B5-8F148D1BD926}"/>
              </a:ext>
            </a:extLst>
          </p:cNvPr>
          <p:cNvSpPr>
            <a:spLocks noGrp="1"/>
          </p:cNvSpPr>
          <p:nvPr>
            <p:ph idx="1"/>
          </p:nvPr>
        </p:nvSpPr>
        <p:spPr/>
        <p:txBody>
          <a:bodyPr>
            <a:normAutofit/>
          </a:bodyPr>
          <a:lstStyle/>
          <a:p>
            <a:r>
              <a:rPr lang="en-US" dirty="0"/>
              <a:t>In some derived classes, you might want to make sure that a virtual member function cannot be overridden any further down the class hierarchy. </a:t>
            </a:r>
          </a:p>
          <a:p>
            <a:r>
              <a:rPr lang="en-US" dirty="0"/>
              <a:t>When a member function is declared with the final key word, it cannot be overridden in a derived class. </a:t>
            </a:r>
          </a:p>
          <a:p>
            <a:r>
              <a:rPr lang="en-US" dirty="0"/>
              <a:t>The following member function prototype is an example that uses the final key word:</a:t>
            </a:r>
          </a:p>
          <a:p>
            <a:pPr lvl="1"/>
            <a:r>
              <a:rPr lang="en-US" b="1" i="1" dirty="0">
                <a:solidFill>
                  <a:srgbClr val="FF0000"/>
                </a:solidFill>
                <a:effectLst/>
              </a:rPr>
              <a:t>virtual</a:t>
            </a:r>
            <a:r>
              <a:rPr lang="en-US" i="1" dirty="0">
                <a:solidFill>
                  <a:srgbClr val="FF0000"/>
                </a:solidFill>
              </a:rPr>
              <a:t> </a:t>
            </a:r>
            <a:r>
              <a:rPr lang="en-US" b="1" i="1" dirty="0">
                <a:solidFill>
                  <a:srgbClr val="FF0000"/>
                </a:solidFill>
                <a:effectLst/>
              </a:rPr>
              <a:t>void</a:t>
            </a:r>
            <a:r>
              <a:rPr lang="en-US" i="1" dirty="0">
                <a:solidFill>
                  <a:srgbClr val="FF0000"/>
                </a:solidFill>
              </a:rPr>
              <a:t> </a:t>
            </a:r>
            <a:r>
              <a:rPr lang="en-US" b="1" i="1" dirty="0">
                <a:solidFill>
                  <a:srgbClr val="FF0000"/>
                </a:solidFill>
                <a:effectLst/>
              </a:rPr>
              <a:t>message</a:t>
            </a:r>
            <a:r>
              <a:rPr lang="en-US" i="1" dirty="0">
                <a:solidFill>
                  <a:srgbClr val="FF0000"/>
                </a:solidFill>
              </a:rPr>
              <a:t>() </a:t>
            </a:r>
            <a:r>
              <a:rPr lang="en-US" b="1" i="1" dirty="0">
                <a:solidFill>
                  <a:srgbClr val="FF0000"/>
                </a:solidFill>
                <a:effectLst/>
              </a:rPr>
              <a:t>const</a:t>
            </a:r>
            <a:r>
              <a:rPr lang="en-US" i="1" dirty="0">
                <a:solidFill>
                  <a:srgbClr val="FF0000"/>
                </a:solidFill>
              </a:rPr>
              <a:t> </a:t>
            </a:r>
            <a:r>
              <a:rPr lang="en-US" b="1" i="1" dirty="0">
                <a:solidFill>
                  <a:srgbClr val="FF0000"/>
                </a:solidFill>
                <a:effectLst/>
              </a:rPr>
              <a:t>final</a:t>
            </a:r>
            <a:r>
              <a:rPr lang="en-US" i="1" dirty="0">
                <a:solidFill>
                  <a:srgbClr val="FF0000"/>
                </a:solidFill>
              </a:rPr>
              <a:t>;</a:t>
            </a:r>
          </a:p>
          <a:p>
            <a:r>
              <a:rPr lang="en-US" dirty="0"/>
              <a:t>If a derived class attempts to override a final member function, the compiler generates an error.</a:t>
            </a:r>
          </a:p>
        </p:txBody>
      </p:sp>
    </p:spTree>
    <p:extLst>
      <p:ext uri="{BB962C8B-B14F-4D97-AF65-F5344CB8AC3E}">
        <p14:creationId xmlns:p14="http://schemas.microsoft.com/office/powerpoint/2010/main" val="907537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2911</Words>
  <Application>Microsoft Macintosh PowerPoint</Application>
  <PresentationFormat>Widescreen</PresentationFormat>
  <Paragraphs>189</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Aptos</vt:lpstr>
      <vt:lpstr>Aptos Display</vt:lpstr>
      <vt:lpstr>Arial</vt:lpstr>
      <vt:lpstr>Office Theme</vt:lpstr>
      <vt:lpstr>CS 331</vt:lpstr>
      <vt:lpstr>Type Compatibility in Inheritance Hierarchies</vt:lpstr>
      <vt:lpstr>Type Compatibility in Inheritance Hierarchies</vt:lpstr>
      <vt:lpstr>Type Compatibility in Inheritance Hierarchies</vt:lpstr>
      <vt:lpstr>Type Casting</vt:lpstr>
      <vt:lpstr>Implicit Casting (Automatic Type Conversion)</vt:lpstr>
      <vt:lpstr>Explicit Casting (Manual Type Conversion)</vt:lpstr>
      <vt:lpstr>Explicit Casting: Static Cast</vt:lpstr>
      <vt:lpstr>Explicit Casting: Dynamic Cast</vt:lpstr>
      <vt:lpstr>Type Compatibility in Inheritance</vt:lpstr>
      <vt:lpstr>Type Compatibility in Inheritance</vt:lpstr>
      <vt:lpstr>Type Compatibility in Inheritance</vt:lpstr>
      <vt:lpstr>Type Compatibility in Inheritance</vt:lpstr>
      <vt:lpstr>Type Compatibility in Inheritance</vt:lpstr>
      <vt:lpstr>Type Compatibility in Inheritance</vt:lpstr>
      <vt:lpstr>Type Compatibility in Inheritance</vt:lpstr>
      <vt:lpstr>Type Compatibility in Inheritance</vt:lpstr>
      <vt:lpstr>Type Compatibility in Inheritance</vt:lpstr>
      <vt:lpstr>Type Casting of Base Class Pointers</vt:lpstr>
      <vt:lpstr>Type Casting of Base Class Pointers</vt:lpstr>
      <vt:lpstr>Type Casting of Base Class Pointers</vt:lpstr>
      <vt:lpstr>Type Casting of Base Class Pointers</vt:lpstr>
      <vt:lpstr>Type Casting of Base Class Pointers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Example</vt:lpstr>
      <vt:lpstr>Example</vt:lpstr>
      <vt:lpstr>Dynamic and Static Binding</vt:lpstr>
      <vt:lpstr>Dynamic and Static Binding</vt:lpstr>
      <vt:lpstr>Dynamic and Static Binding</vt:lpstr>
      <vt:lpstr>C++ 11’s override and final Key Words</vt:lpstr>
      <vt:lpstr>C++ 11’s override and final Key Words</vt:lpstr>
      <vt:lpstr>C++ 11’s override and final Key Words</vt:lpstr>
      <vt:lpstr>C++ 11’s override and final Key Words</vt:lpstr>
      <vt:lpstr>C++ 11’s override and final Key Words</vt:lpstr>
      <vt:lpstr>Preventing a Member Function from Being Overridden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cp:revision>
  <dcterms:created xsi:type="dcterms:W3CDTF">2024-11-14T10:47:34Z</dcterms:created>
  <dcterms:modified xsi:type="dcterms:W3CDTF">2024-11-14T12:43:45Z</dcterms:modified>
</cp:coreProperties>
</file>