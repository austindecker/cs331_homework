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7"/>
  </p:notesMasterIdLst>
  <p:sldIdLst>
    <p:sldId id="257" r:id="rId2"/>
    <p:sldId id="258" r:id="rId3"/>
    <p:sldId id="259" r:id="rId4"/>
    <p:sldId id="261" r:id="rId5"/>
    <p:sldId id="260" r:id="rId6"/>
    <p:sldId id="262" r:id="rId7"/>
    <p:sldId id="264" r:id="rId8"/>
    <p:sldId id="263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84" r:id="rId29"/>
    <p:sldId id="285" r:id="rId30"/>
    <p:sldId id="286" r:id="rId31"/>
    <p:sldId id="287" r:id="rId32"/>
    <p:sldId id="288" r:id="rId33"/>
    <p:sldId id="289" r:id="rId34"/>
    <p:sldId id="290" r:id="rId35"/>
    <p:sldId id="291" r:id="rId36"/>
    <p:sldId id="292" r:id="rId37"/>
    <p:sldId id="293" r:id="rId38"/>
    <p:sldId id="294" r:id="rId39"/>
    <p:sldId id="295" r:id="rId40"/>
    <p:sldId id="296" r:id="rId41"/>
    <p:sldId id="297" r:id="rId42"/>
    <p:sldId id="298" r:id="rId43"/>
    <p:sldId id="299" r:id="rId44"/>
    <p:sldId id="300" r:id="rId45"/>
    <p:sldId id="301" r:id="rId4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319"/>
    <p:restoredTop sz="84198"/>
  </p:normalViewPr>
  <p:slideViewPr>
    <p:cSldViewPr snapToGrid="0">
      <p:cViewPr varScale="1">
        <p:scale>
          <a:sx n="122" d="100"/>
          <a:sy n="122" d="100"/>
        </p:scale>
        <p:origin x="240" y="14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notesMaster" Target="notesMasters/notesMaster1.xml"/><Relationship Id="rId50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D0FDF5A-A32C-8547-BE32-BBF162778E9A}" type="datetimeFigureOut">
              <a:rPr lang="en-US" smtClean="0"/>
              <a:t>12/10/24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6942356-7B73-6841-A35C-74E1C107F8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83775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942356-7B73-6841-A35C-74E1C107F8AF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001997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942356-7B73-6841-A35C-74E1C107F8AF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309808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942356-7B73-6841-A35C-74E1C107F8AF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913480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487E0F-3A82-2EB1-84A8-60EA9FA85C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7DAA722-4AB4-B07C-A252-ABDD01FF56D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B6F1F5B-6034-15C4-7A84-81D9014DA67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0719EFD-21CA-2512-6FDF-CBF39920000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942356-7B73-6841-A35C-74E1C107F8AF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097244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942356-7B73-6841-A35C-74E1C107F8AF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10372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3731E3-AB49-1F48-A9DA-A168A2EFCB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57A53EE-72CA-DA5E-3A23-15AD6048613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14E968D-8273-59FB-DB03-A9ECC02E9E4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53420AA-7F9F-C82D-DED7-1360C1FCB48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942356-7B73-6841-A35C-74E1C107F8AF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476227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942356-7B73-6841-A35C-74E1C107F8AF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436567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942356-7B73-6841-A35C-74E1C107F8AF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709564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942356-7B73-6841-A35C-74E1C107F8AF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469817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942356-7B73-6841-A35C-74E1C107F8AF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415677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942356-7B73-6841-A35C-74E1C107F8AF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219190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942356-7B73-6841-A35C-74E1C107F8AF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751803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942356-7B73-6841-A35C-74E1C107F8AF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103326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F63896-7035-DD4A-54B5-56AFAFA53F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AD6723C-25E3-A015-B06C-EF8F0625B0E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7786D51-F673-79A6-BABD-DCC64EBE7BC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404B24C-23CD-9ACA-2EBF-7D2B18DE024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942356-7B73-6841-A35C-74E1C107F8AF}" type="slidenum">
              <a:rPr lang="en-US" smtClean="0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827520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4F8142-6B9F-10D8-04F5-16346605E7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CB0962C-F573-7F0B-EDAF-E1D97D2BAE2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A74AA7A-F398-A704-22D2-5C7717B1614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7F53261-770D-CACD-48EB-D169BF30FDA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942356-7B73-6841-A35C-74E1C107F8AF}" type="slidenum">
              <a:rPr lang="en-US" smtClean="0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895130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5B00B4-EE5D-A6F9-1206-9CDE764DA7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4AC2529-720F-C8EC-939C-EDAB402B259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42077CA-DEA7-2064-2106-95356A57072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89E77B6-1450-9442-BEF8-FA5FDF90021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942356-7B73-6841-A35C-74E1C107F8AF}" type="slidenum">
              <a:rPr lang="en-US" smtClean="0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851230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32C0FD-9342-A55E-280E-D5150FA0AD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BBC9E99-4499-2EA1-041D-5A8A83DCCF3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72A0D60-08F9-F0AA-CD36-4CEE762F00E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B5273D7-D3F8-DE4D-B4A2-66A5A7E5B86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942356-7B73-6841-A35C-74E1C107F8AF}" type="slidenum">
              <a:rPr lang="en-US" smtClean="0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621618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942356-7B73-6841-A35C-74E1C107F8AF}" type="slidenum">
              <a:rPr lang="en-US" smtClean="0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184555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5F8E59-A928-C24E-58D9-D119DE3F0B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47EE6B9-B690-D91B-3503-D6EA7C11896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871396F-B77F-DA7C-1934-D55F7A40838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EDC62B-20C4-991A-5EEB-28E371A7DC4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942356-7B73-6841-A35C-74E1C107F8AF}" type="slidenum">
              <a:rPr lang="en-US" smtClean="0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131525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370C59-CB62-130F-D5D1-FFB2CDEE6F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F024249-8CC1-6C03-FB61-42DB8B33F0E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019B6BB-19E4-258D-33AD-FCCF550D59F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3AD945E-33AB-C18E-5430-9535FE3BA65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942356-7B73-6841-A35C-74E1C107F8AF}" type="slidenum">
              <a:rPr lang="en-US" smtClean="0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101577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765A13-B854-FEF1-5B31-E89F4CDAF62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7A55454-25A5-FB24-7BB4-A610D3819EB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72587B-5316-B024-432C-72E39D42AD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029EDB-FFA8-DA40-8313-CEFECF7259ED}" type="datetimeFigureOut">
              <a:rPr lang="en-US" smtClean="0"/>
              <a:t>12/10/24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8A05AD-A334-7417-B5BA-C201B78D80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148CB7-6DE2-340F-BE6C-400C95B050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18EE3C-F706-004C-A6D7-32EE5C5EF9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65290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8DE20A-C054-B157-9CEA-1F4CB1A602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1AA796-AF15-1136-8BF1-2AC0668964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3A8EAA-5AC0-6C29-0B19-C45A4A5541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029EDB-FFA8-DA40-8313-CEFECF7259ED}" type="datetimeFigureOut">
              <a:rPr lang="en-US" smtClean="0"/>
              <a:t>12/10/24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349CB5-1429-911E-B92C-F98D5B2EF4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E908C9-24B9-0B36-6AE2-1065FCFD4D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18EE3C-F706-004C-A6D7-32EE5C5EF9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76673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378788-5297-31E7-66F3-C7004B66CD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9C5BEDA-3DDF-4A1E-03AB-C6DDEB093D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5FD719-6098-1540-27B3-D463741F61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029EDB-FFA8-DA40-8313-CEFECF7259ED}" type="datetimeFigureOut">
              <a:rPr lang="en-US" smtClean="0"/>
              <a:t>12/10/24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4D9247-4A81-5B56-9F6A-CEF5B8F5C1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BA2CA9-5931-01CA-02FB-6510FD9B74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18EE3C-F706-004C-A6D7-32EE5C5EF9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58712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0BC85D-2F0F-3529-47BD-3EBD0265CC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105297-B806-E6DC-3960-C65606D3AE0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1081DB2-9D29-5D99-B5B2-D41F009C37A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ABFF187-5880-DDA4-7B9D-AA33B0DF18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029EDB-FFA8-DA40-8313-CEFECF7259ED}" type="datetimeFigureOut">
              <a:rPr lang="en-US" smtClean="0"/>
              <a:t>12/10/24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84868B9-3D0E-C8D5-B3AA-88AFF19BD0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9999339-A896-E3B3-0FC3-FD98813FFE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18EE3C-F706-004C-A6D7-32EE5C5EF9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96825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9AE7D8-D9E7-5C3C-D708-1EA2AE03EE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39D503D-C13D-C21F-71F3-8C03A4514E3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8BBAD4A-3EBB-E280-1F1E-8CDC959FC19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7EFF078-1BD8-4BDA-2040-D66DB72B1CB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8994DCB-5FE9-DE22-8F28-A227C73F95B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D45C9F4-E7BE-C0DD-DCC6-6CA15F642A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029EDB-FFA8-DA40-8313-CEFECF7259ED}" type="datetimeFigureOut">
              <a:rPr lang="en-US" smtClean="0"/>
              <a:t>12/10/24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1203063-761A-C4B8-F6E7-FDEE437EA4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4B83961-A0EB-140F-3D33-567F3923E4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18EE3C-F706-004C-A6D7-32EE5C5EF9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66761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2CA51F-92B1-EA67-F548-611673F17F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276160C-DD99-AA5A-408B-2DCD716F39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029EDB-FFA8-DA40-8313-CEFECF7259ED}" type="datetimeFigureOut">
              <a:rPr lang="en-US" smtClean="0"/>
              <a:t>12/10/24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9FE18C4-63A9-149B-450C-184E96549A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5F24E41-A0DD-FE17-0361-5365C57F8C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18EE3C-F706-004C-A6D7-32EE5C5EF9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25776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C37C97A-4E62-6B3D-9A4F-CD8A09B657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029EDB-FFA8-DA40-8313-CEFECF7259ED}" type="datetimeFigureOut">
              <a:rPr lang="en-US" smtClean="0"/>
              <a:t>12/10/24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E930152-4671-32A9-6B67-369A92674B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BF3506-875B-C506-6876-FD0D1971AF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18EE3C-F706-004C-A6D7-32EE5C5EF9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3347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E95C23-AF3E-B01F-67EC-EF453D8637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0811C3-C184-DB58-8DFA-8556AEEE15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62DA31C-62CD-4699-F1C4-3FEE574179A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47B9975-8A8D-A2A9-CC31-3CB96807C2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029EDB-FFA8-DA40-8313-CEFECF7259ED}" type="datetimeFigureOut">
              <a:rPr lang="en-US" smtClean="0"/>
              <a:t>12/10/24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B9D317E-67F6-24F1-C975-03907CA175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422C7BE-29F4-B867-22B5-E8F482E5BF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18EE3C-F706-004C-A6D7-32EE5C5EF9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19414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F86DBB-9E9E-26F8-2E74-3182B3422E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5E70FF9-9C1E-7F10-21DD-AD94BB9E820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C9B9170-07B9-98AF-208B-0643E70A9D7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5F7150B-1601-0DAE-8B13-4E76F04783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029EDB-FFA8-DA40-8313-CEFECF7259ED}" type="datetimeFigureOut">
              <a:rPr lang="en-US" smtClean="0"/>
              <a:t>12/10/24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8D37555-82FF-9BB2-70F4-8A9523E483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6BCAAC5-27BE-8990-B819-31E31F700C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18EE3C-F706-004C-A6D7-32EE5C5EF9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85927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94883C-6BD0-A51A-B2F0-70D6A4FE3B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7128BC8-58C5-80CB-AE01-C5EEA848D8D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83496B-C632-32DF-C3D1-5DAF18A323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029EDB-FFA8-DA40-8313-CEFECF7259ED}" type="datetimeFigureOut">
              <a:rPr lang="en-US" smtClean="0"/>
              <a:t>12/10/24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B93420-2EFF-120F-CD65-8FEB397E90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628D61-73D2-8C27-E682-0C43A52826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18EE3C-F706-004C-A6D7-32EE5C5EF9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41264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B67A467-DE99-E6E3-1BA6-B85CE6E13B8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11E3499-B99D-0687-4C87-50DD685561D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BEEF18-BC9C-07B3-3D4F-4E6622AD86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029EDB-FFA8-DA40-8313-CEFECF7259ED}" type="datetimeFigureOut">
              <a:rPr lang="en-US" smtClean="0"/>
              <a:t>12/10/24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0A473C-BA58-0A97-9DDA-4C61B89BE6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D191D6-0922-60FB-67F1-B898480D4D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18EE3C-F706-004C-A6D7-32EE5C5EF9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49570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3814785-6E2D-3051-1A2A-F615A32F27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CAED476-0069-65CB-C881-B0D2C5B090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19841C-6D16-B62B-959F-D0057314EC8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3029EDB-FFA8-DA40-8313-CEFECF7259ED}" type="datetimeFigureOut">
              <a:rPr lang="en-US" smtClean="0"/>
              <a:t>12/10/24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3D9F6A-827D-EDB2-31EC-A56572A1BDF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88BF2A-DB4D-5728-06A8-65BDA379C8C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618EE3C-F706-004C-A6D7-32EE5C5EF9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62575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https://plus.pearson.com/products/38bfda0e-08b5-4b34-9a14-38c88560fefb/pages/urn:pearson:entity:7f3ed5a1-5ee4-4241-b597-b558cc66b03f?userPreferredType=study&amp;iesCode=gWAMCPzL4K" TargetMode="Externa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hyperlink" Target="https://plus.pearson.com/products/38bfda0e-08b5-4b34-9a14-38c88560fefb/pages/urn:pearson:entity:7f3ed5a1-5ee4-4241-b597-b558cc66b03f?userPreferredType=study&amp;iesCode=gWAMCPzL4K" TargetMode="Externa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https://plus.pearson.com/products/38bfda0e-08b5-4b34-9a14-38c88560fefb/pages/urn:pearson:entity:fda27118-54cd-480f-964f-681c97901196?userPreferredType=study&amp;iesCode=gWAMCPzL4K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hyperlink" Target="https://plus.pearson.com/products/38bfda0e-08b5-4b34-9a14-38c88560fefb/pages/urn:pearson:entity:fda27118-54cd-480f-964f-681c97901196?userPreferredType=study&amp;iesCode=gWAMCPzL4K" TargetMode="Externa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hyperlink" Target="https://plus.pearson.com/products/38bfda0e-08b5-4b34-9a14-38c88560fefb/pages/urn:pearson:entity:fda27118-54cd-480f-964f-681c97901196?userPreferredType=study&amp;iesCode=rxNmFOLhME" TargetMode="Externa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hyperlink" Target="https://plus.pearson.com/products/38bfda0e-08b5-4b34-9a14-38c88560fefb/pages/urn:pearson:entity:fda27118-54cd-480f-964f-681c97901196?userPreferredType=study&amp;iesCode=rxNmFOLhME" TargetMode="Externa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E5647B-603B-AF5A-83BF-216E6620EFA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CS 331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94582B3-C32A-7B08-8F83-037FA7F6E19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Topic: </a:t>
            </a:r>
            <a:r>
              <a:rPr lang="en-US" b="1" dirty="0"/>
              <a:t>The Standard Template Library Part 1</a:t>
            </a:r>
          </a:p>
          <a:p>
            <a:r>
              <a:rPr lang="en-US" dirty="0"/>
              <a:t>MD Romael Haque </a:t>
            </a:r>
          </a:p>
        </p:txBody>
      </p:sp>
    </p:spTree>
    <p:extLst>
      <p:ext uri="{BB962C8B-B14F-4D97-AF65-F5344CB8AC3E}">
        <p14:creationId xmlns:p14="http://schemas.microsoft.com/office/powerpoint/2010/main" val="37111604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67BCF4-0264-20E9-B33C-302A86F53B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effectLst/>
              </a:rPr>
              <a:t>Introduction to the Standard Template Library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7F8313-A095-0B4C-826B-2513E143E4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lang="en-US" dirty="0">
                <a:effectLst/>
              </a:rPr>
              <a:t>The Standard Template Library is an extensive collection of templates for useful data structures and algorithms.</a:t>
            </a:r>
          </a:p>
          <a:p>
            <a:pPr algn="l"/>
            <a:r>
              <a:rPr lang="en-US" dirty="0">
                <a:effectLst/>
              </a:rPr>
              <a:t>In addition to its runtime library, which you have used throughout this book, C++ also provides an extensive library of templates. </a:t>
            </a:r>
          </a:p>
          <a:p>
            <a:pPr algn="l"/>
            <a:r>
              <a:rPr lang="en-US" dirty="0">
                <a:effectLst/>
              </a:rPr>
              <a:t>The </a:t>
            </a:r>
            <a:r>
              <a:rPr lang="en-US" i="1" dirty="0">
                <a:effectLst/>
              </a:rPr>
              <a:t>Standard Template Library</a:t>
            </a:r>
            <a:r>
              <a:rPr lang="en-US" dirty="0">
                <a:effectLst/>
              </a:rPr>
              <a:t> (or STL) contains numerous templates for classes and functions.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41951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020C0A-9ACB-9B9A-673E-40A626FA4D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3AC751-2466-785C-BB17-9472E7ACE8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STL Container and Iterator Fundamentals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4A4EDB-95D2-4A75-BA4A-8EDF553889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lang="en-US" dirty="0"/>
              <a:t>A container is an object that holds a collection of values or other objects. </a:t>
            </a:r>
          </a:p>
          <a:p>
            <a:pPr algn="l"/>
            <a:r>
              <a:rPr lang="en-US" dirty="0"/>
              <a:t>An iterator is an object that is used to iterate over the items in a collection, providing access to them.</a:t>
            </a:r>
            <a:endParaRPr lang="en-US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9244885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307350-E165-F59E-ABDE-FAAF074360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6F95AD-2451-4DDE-434A-CA2583F80C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Containers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42D37A-AA75-BD3C-4D45-63E9807A4F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algn="l"/>
            <a:r>
              <a:rPr lang="en-US" dirty="0">
                <a:effectLst/>
              </a:rPr>
              <a:t>There are two types of container classes in the STL: </a:t>
            </a:r>
            <a:r>
              <a:rPr lang="en-US" dirty="0">
                <a:solidFill>
                  <a:srgbClr val="FF0000"/>
                </a:solidFill>
                <a:effectLst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sequence</a:t>
            </a:r>
            <a:r>
              <a:rPr lang="en-US" dirty="0">
                <a:solidFill>
                  <a:srgbClr val="FF0000"/>
                </a:solidFill>
                <a:effectLst/>
              </a:rPr>
              <a:t> and </a:t>
            </a:r>
            <a:r>
              <a:rPr lang="en-US" dirty="0">
                <a:solidFill>
                  <a:srgbClr val="FF0000"/>
                </a:solidFill>
                <a:effectLst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associative</a:t>
            </a:r>
            <a:r>
              <a:rPr lang="en-US" dirty="0">
                <a:effectLst/>
              </a:rPr>
              <a:t>. </a:t>
            </a:r>
          </a:p>
          <a:p>
            <a:pPr algn="l"/>
            <a:r>
              <a:rPr lang="en-US" dirty="0">
                <a:effectLst/>
              </a:rPr>
              <a:t>A sequence container stores values by </a:t>
            </a:r>
            <a:r>
              <a:rPr lang="en-US" i="1" dirty="0">
                <a:effectLst/>
              </a:rPr>
              <a:t>position</a:t>
            </a:r>
            <a:r>
              <a:rPr lang="en-US" dirty="0">
                <a:effectLst/>
              </a:rPr>
              <a:t> or </a:t>
            </a:r>
            <a:r>
              <a:rPr lang="en-US" i="1" dirty="0">
                <a:effectLst/>
              </a:rPr>
              <a:t>index</a:t>
            </a:r>
            <a:r>
              <a:rPr lang="en-US" dirty="0">
                <a:effectLst/>
              </a:rPr>
              <a:t>: the first item stored is placed at index 0 in the container, the second is stored at index 1, the third at index 2, and so on.</a:t>
            </a:r>
          </a:p>
          <a:p>
            <a:pPr algn="l"/>
            <a:r>
              <a:rPr lang="en-US" dirty="0">
                <a:effectLst/>
              </a:rPr>
              <a:t>Sequence containers are in many ways similar to arrays, and in fact, some of them internally use an array to store their values. </a:t>
            </a:r>
          </a:p>
          <a:p>
            <a:pPr algn="l"/>
            <a:r>
              <a:rPr lang="en-US" dirty="0">
                <a:effectLst/>
              </a:rPr>
              <a:t>A value stored in a sequence container is accessed through its assigned index.</a:t>
            </a:r>
          </a:p>
          <a:p>
            <a:pPr algn="l"/>
            <a:r>
              <a:rPr lang="en-US" dirty="0">
                <a:effectLst/>
              </a:rPr>
              <a:t>Sequence containers allow duplicate values to be stored at different indices within the container.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778071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0AE895-1528-C353-A45F-D8B68D14EC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Containers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50C546-3E63-F273-2878-29A79F5184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l"/>
            <a:r>
              <a:rPr lang="en-US" dirty="0">
                <a:effectLst/>
              </a:rPr>
              <a:t>In contrast, associative containers do not store their elements by an integer-based position. </a:t>
            </a:r>
          </a:p>
          <a:p>
            <a:pPr algn="l"/>
            <a:r>
              <a:rPr lang="en-US" dirty="0">
                <a:effectLst/>
              </a:rPr>
              <a:t>Instead, a value to be stored is associated with another value called its </a:t>
            </a:r>
            <a:r>
              <a:rPr lang="en-US" i="1" dirty="0">
                <a:effectLst/>
              </a:rPr>
              <a:t>key</a:t>
            </a:r>
            <a:r>
              <a:rPr lang="en-US" dirty="0">
                <a:effectLst/>
              </a:rPr>
              <a:t>, and the value is stored and accessed through its associated key. </a:t>
            </a:r>
          </a:p>
          <a:p>
            <a:pPr algn="l"/>
            <a:r>
              <a:rPr lang="en-US" dirty="0">
                <a:effectLst/>
              </a:rPr>
              <a:t>You can think of the key as playing the role of the index in a sequence container.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033549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7AE2DE-C5F5-D035-3F25-A76B42216C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71E998-8254-4172-69E4-30780B7923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Containers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4A91C49-54F7-6F6B-7356-A662F7F97E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43848" y="1448676"/>
            <a:ext cx="7704303" cy="46540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2297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012684-4DAE-6E20-2436-1D40EF5BE1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2CE4B7-72A9-8C8C-3394-5586FAC70D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Containers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56420F6-BD3A-3CBD-6DA4-3C571E838D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7851" y="1448950"/>
            <a:ext cx="7256298" cy="48577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496276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81DDF8-7659-C152-409E-9D40926B99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Containers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B900E5-2EB7-02A1-48F0-201434B239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 addition to the classes listed in previous tables, the STL also provides the three container adapter classes named stack, queue, and priority queue (Future self-study for you). </a:t>
            </a:r>
          </a:p>
          <a:p>
            <a:r>
              <a:rPr lang="en-US" dirty="0"/>
              <a:t>A container </a:t>
            </a:r>
            <a:r>
              <a:rPr lang="en-US" dirty="0">
                <a:solidFill>
                  <a:srgbClr val="FF0000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adapter class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/>
              <a:t>is not itself a container, but a class that adapts one of the other containers to a specific use. </a:t>
            </a:r>
          </a:p>
          <a:p>
            <a:r>
              <a:rPr lang="en-US" dirty="0"/>
              <a:t>You can think of an adapter as a sort of "container" that delegates the storage of its elements to another container. </a:t>
            </a:r>
          </a:p>
        </p:txBody>
      </p:sp>
    </p:spTree>
    <p:extLst>
      <p:ext uri="{BB962C8B-B14F-4D97-AF65-F5344CB8AC3E}">
        <p14:creationId xmlns:p14="http://schemas.microsoft.com/office/powerpoint/2010/main" val="301523026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1E2F55-F179-F01D-165E-84C4A08E1D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Containers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716FEC-ABD3-F743-C414-1EC7F41BEB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315691" cy="4351338"/>
          </a:xfrm>
        </p:spPr>
        <p:txBody>
          <a:bodyPr/>
          <a:lstStyle/>
          <a:p>
            <a:r>
              <a:rPr lang="en-US" dirty="0"/>
              <a:t>The container and container adapter classes are declared in various STL header files. </a:t>
            </a:r>
          </a:p>
          <a:p>
            <a:r>
              <a:rPr lang="en-US" b="1" dirty="0">
                <a:effectLst/>
              </a:rPr>
              <a:t>This table </a:t>
            </a:r>
            <a:r>
              <a:rPr lang="en-US" dirty="0"/>
              <a:t>lists the necessary header files that you will need to include, depending on the containers that you intend to use.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2629A74-2EC3-F9CD-A1BC-0CC1C55017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12828" y="1654219"/>
            <a:ext cx="5843752" cy="42854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918986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FCDAE0-511A-0160-101B-34725CA12F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 to the array Class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407C60-60D5-2F65-8FAF-0B688E18FF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Perhaps the simplest container in the STL is the array class, which was introduced in C++ 11. </a:t>
            </a:r>
          </a:p>
          <a:p>
            <a:r>
              <a:rPr lang="en-US" dirty="0"/>
              <a:t>An array object works very much like a regular array. </a:t>
            </a:r>
          </a:p>
          <a:p>
            <a:r>
              <a:rPr lang="en-US" dirty="0"/>
              <a:t>It is a fixed-size container that holds elements of the same data type. </a:t>
            </a:r>
          </a:p>
          <a:p>
            <a:r>
              <a:rPr lang="en-US" dirty="0"/>
              <a:t>In fact, an array object uses a traditional array, internally, to store its elements. </a:t>
            </a:r>
          </a:p>
          <a:p>
            <a:r>
              <a:rPr lang="en-US" dirty="0"/>
              <a:t>An advantage that array objects have over regular arrays is that array objects have a </a:t>
            </a:r>
            <a:r>
              <a:rPr lang="en-US" i="1" dirty="0">
                <a:solidFill>
                  <a:srgbClr val="FF0000"/>
                </a:solidFill>
              </a:rPr>
              <a:t>size() member function </a:t>
            </a:r>
            <a:r>
              <a:rPr lang="en-US" dirty="0"/>
              <a:t>that returns the number of elements contained in the object.</a:t>
            </a:r>
          </a:p>
        </p:txBody>
      </p:sp>
    </p:spTree>
    <p:extLst>
      <p:ext uri="{BB962C8B-B14F-4D97-AF65-F5344CB8AC3E}">
        <p14:creationId xmlns:p14="http://schemas.microsoft.com/office/powerpoint/2010/main" val="27490998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92BA7B-5580-21FD-EAFD-2F56E4137F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43B076-6A12-779D-FF03-026A474070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 to the array Class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765B56-7DC8-B62F-DAA2-8270147E18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When you define an array object, you must specify the data type of its elements and the number of elements the object will store.</a:t>
            </a:r>
          </a:p>
          <a:p>
            <a:r>
              <a:rPr lang="en-US" dirty="0"/>
              <a:t>Here is an example: </a:t>
            </a:r>
            <a:r>
              <a:rPr lang="en-US" i="1" dirty="0">
                <a:solidFill>
                  <a:srgbClr val="FF0000"/>
                </a:solidFill>
              </a:rPr>
              <a:t>array&lt;</a:t>
            </a:r>
            <a:r>
              <a:rPr lang="en-US" b="1" i="1" dirty="0">
                <a:solidFill>
                  <a:srgbClr val="FF0000"/>
                </a:solidFill>
                <a:effectLst/>
              </a:rPr>
              <a:t>int</a:t>
            </a:r>
            <a:r>
              <a:rPr lang="en-US" i="1" dirty="0">
                <a:solidFill>
                  <a:srgbClr val="FF0000"/>
                </a:solidFill>
              </a:rPr>
              <a:t>, 5&gt; numbers; </a:t>
            </a:r>
          </a:p>
          <a:p>
            <a:r>
              <a:rPr lang="en-US" dirty="0"/>
              <a:t>This statement defines an array object named numbers. </a:t>
            </a:r>
          </a:p>
          <a:p>
            <a:r>
              <a:rPr lang="en-US" dirty="0"/>
              <a:t>Inside the angled brackets &lt;&gt;, the data type int is the type of each element, and the value 5 is the number of elements the object will have. </a:t>
            </a:r>
          </a:p>
          <a:p>
            <a:r>
              <a:rPr lang="en-US" dirty="0"/>
              <a:t>You can provide an initialization list to initialize an array, as shown here:</a:t>
            </a:r>
            <a:r>
              <a:rPr lang="en-US" b="1" dirty="0"/>
              <a:t> </a:t>
            </a:r>
            <a:r>
              <a:rPr lang="en-US" i="1" dirty="0">
                <a:solidFill>
                  <a:srgbClr val="FF0000"/>
                </a:solidFill>
              </a:rPr>
              <a:t>array&lt;</a:t>
            </a:r>
            <a:r>
              <a:rPr lang="en-US" b="1" i="1" dirty="0">
                <a:solidFill>
                  <a:srgbClr val="FF0000"/>
                </a:solidFill>
                <a:effectLst/>
              </a:rPr>
              <a:t>int</a:t>
            </a:r>
            <a:r>
              <a:rPr lang="en-US" i="1" dirty="0">
                <a:solidFill>
                  <a:srgbClr val="FF0000"/>
                </a:solidFill>
              </a:rPr>
              <a:t>, 5&gt; numbers = {</a:t>
            </a:r>
            <a:r>
              <a:rPr lang="en-US" i="1" dirty="0">
                <a:solidFill>
                  <a:srgbClr val="FF0000"/>
                </a:solidFill>
                <a:effectLst/>
              </a:rPr>
              <a:t>1</a:t>
            </a:r>
            <a:r>
              <a:rPr lang="en-US" i="1" dirty="0">
                <a:solidFill>
                  <a:srgbClr val="FF0000"/>
                </a:solidFill>
              </a:rPr>
              <a:t>, </a:t>
            </a:r>
            <a:r>
              <a:rPr lang="en-US" i="1" dirty="0">
                <a:solidFill>
                  <a:srgbClr val="FF0000"/>
                </a:solidFill>
                <a:effectLst/>
              </a:rPr>
              <a:t>2</a:t>
            </a:r>
            <a:r>
              <a:rPr lang="en-US" i="1" dirty="0">
                <a:solidFill>
                  <a:srgbClr val="FF0000"/>
                </a:solidFill>
              </a:rPr>
              <a:t>, </a:t>
            </a:r>
            <a:r>
              <a:rPr lang="en-US" i="1" dirty="0">
                <a:solidFill>
                  <a:srgbClr val="FF0000"/>
                </a:solidFill>
                <a:effectLst/>
              </a:rPr>
              <a:t>3</a:t>
            </a:r>
            <a:r>
              <a:rPr lang="en-US" i="1" dirty="0">
                <a:solidFill>
                  <a:srgbClr val="FF0000"/>
                </a:solidFill>
              </a:rPr>
              <a:t>, </a:t>
            </a:r>
            <a:r>
              <a:rPr lang="en-US" i="1" dirty="0">
                <a:solidFill>
                  <a:srgbClr val="FF0000"/>
                </a:solidFill>
                <a:effectLst/>
              </a:rPr>
              <a:t>4</a:t>
            </a:r>
            <a:r>
              <a:rPr lang="en-US" i="1" dirty="0">
                <a:solidFill>
                  <a:srgbClr val="FF0000"/>
                </a:solidFill>
              </a:rPr>
              <a:t>, </a:t>
            </a:r>
            <a:r>
              <a:rPr lang="en-US" i="1" dirty="0">
                <a:solidFill>
                  <a:srgbClr val="FF0000"/>
                </a:solidFill>
                <a:effectLst/>
              </a:rPr>
              <a:t>5</a:t>
            </a:r>
            <a:r>
              <a:rPr lang="en-US" i="1" dirty="0">
                <a:solidFill>
                  <a:srgbClr val="FF0000"/>
                </a:solidFill>
              </a:rPr>
              <a:t>};</a:t>
            </a:r>
            <a:endParaRPr lang="en-US" b="1" i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9156538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CF0BBB-C084-52E2-4254-0820B79907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34D755-7EC4-49BE-2E63-5430696E72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 to the array Class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A7B44C-9F50-88D5-8104-589D89B84B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Here is an example of defining an array to hold four strings:</a:t>
            </a:r>
          </a:p>
          <a:p>
            <a:r>
              <a:rPr lang="en-US" i="1" dirty="0">
                <a:solidFill>
                  <a:srgbClr val="FF0000"/>
                </a:solidFill>
              </a:rPr>
              <a:t>array&lt;string, 4&gt; names = {</a:t>
            </a:r>
            <a:r>
              <a:rPr lang="en-US" i="1" dirty="0">
                <a:solidFill>
                  <a:srgbClr val="FF0000"/>
                </a:solidFill>
                <a:effectLst/>
              </a:rPr>
              <a:t>"Jamie"</a:t>
            </a:r>
            <a:r>
              <a:rPr lang="en-US" i="1" dirty="0">
                <a:solidFill>
                  <a:srgbClr val="FF0000"/>
                </a:solidFill>
              </a:rPr>
              <a:t>, </a:t>
            </a:r>
            <a:r>
              <a:rPr lang="en-US" i="1" dirty="0">
                <a:solidFill>
                  <a:srgbClr val="FF0000"/>
                </a:solidFill>
                <a:effectLst/>
              </a:rPr>
              <a:t>"Ashley"</a:t>
            </a:r>
            <a:r>
              <a:rPr lang="en-US" i="1" dirty="0">
                <a:solidFill>
                  <a:srgbClr val="FF0000"/>
                </a:solidFill>
              </a:rPr>
              <a:t>, </a:t>
            </a:r>
            <a:r>
              <a:rPr lang="en-US" i="1" dirty="0">
                <a:solidFill>
                  <a:srgbClr val="FF0000"/>
                </a:solidFill>
                <a:effectLst/>
              </a:rPr>
              <a:t>"Doug"</a:t>
            </a:r>
            <a:r>
              <a:rPr lang="en-US" i="1" dirty="0">
                <a:solidFill>
                  <a:srgbClr val="FF0000"/>
                </a:solidFill>
              </a:rPr>
              <a:t>, </a:t>
            </a:r>
            <a:r>
              <a:rPr lang="en-US" i="1" dirty="0">
                <a:solidFill>
                  <a:srgbClr val="FF0000"/>
                </a:solidFill>
                <a:effectLst/>
              </a:rPr>
              <a:t>"Claire"</a:t>
            </a:r>
            <a:r>
              <a:rPr lang="en-US" i="1" dirty="0">
                <a:solidFill>
                  <a:srgbClr val="FF0000"/>
                </a:solidFill>
              </a:rPr>
              <a:t>};</a:t>
            </a:r>
          </a:p>
          <a:p>
            <a:r>
              <a:rPr lang="en-US" dirty="0"/>
              <a:t>The array class overloads the [] operator, giving you the ability to access elements using an index, just as you would with a regular array</a:t>
            </a:r>
            <a:endParaRPr lang="en-US" b="1" i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6183643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B0EA1C-A547-7489-633E-3ECE9BBFAF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287FE3-F905-97EE-1E80-A46C2B2539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5846379" cy="1325563"/>
          </a:xfrm>
        </p:spPr>
        <p:txBody>
          <a:bodyPr/>
          <a:lstStyle/>
          <a:p>
            <a:r>
              <a:rPr lang="en-US" dirty="0"/>
              <a:t>Introduction to the array Class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D2C945-208B-9E24-FB2F-C1ADCF7BB3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346469" cy="4351338"/>
          </a:xfrm>
        </p:spPr>
        <p:txBody>
          <a:bodyPr>
            <a:normAutofit lnSpcReduction="10000"/>
          </a:bodyPr>
          <a:lstStyle/>
          <a:p>
            <a:r>
              <a:rPr lang="en-US" dirty="0"/>
              <a:t>The statement in line 11 defines an array object named names, initialized with four strings.</a:t>
            </a:r>
          </a:p>
          <a:p>
            <a:r>
              <a:rPr lang="en-US" dirty="0"/>
              <a:t>The for loop in lines 15 through 16 displays all of the strings.</a:t>
            </a:r>
          </a:p>
          <a:p>
            <a:r>
              <a:rPr lang="en-US" dirty="0"/>
              <a:t>Notice that the array object's size() member function is used in the loop's test expression.</a:t>
            </a:r>
          </a:p>
          <a:p>
            <a:r>
              <a:rPr lang="en-US" dirty="0"/>
              <a:t>In line 16, the [] operator is used to access the object's elements.</a:t>
            </a:r>
            <a:endParaRPr lang="en-US" b="1" i="1" dirty="0">
              <a:solidFill>
                <a:srgbClr val="FF0000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CA97F45-9117-8FAB-BCE6-DF293F33EC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0548" y="0"/>
            <a:ext cx="5215540" cy="68469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170964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25D2D2-5D26-4E64-DEEE-8F73033878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 to the array Class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77E3A8-0AF5-5889-0C24-9C642394CB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9976658" cy="4351338"/>
          </a:xfrm>
        </p:spPr>
        <p:txBody>
          <a:bodyPr>
            <a:normAutofit/>
          </a:bodyPr>
          <a:lstStyle/>
          <a:p>
            <a:r>
              <a:rPr lang="en-US" dirty="0"/>
              <a:t>As you can see, the array class is an object-oriented alternative to a traditional array in C++. </a:t>
            </a:r>
          </a:p>
          <a:p>
            <a:r>
              <a:rPr lang="en-US" dirty="0"/>
              <a:t>The array class also provides several member functions that give additional capabilities.</a:t>
            </a:r>
          </a:p>
        </p:txBody>
      </p:sp>
    </p:spTree>
    <p:extLst>
      <p:ext uri="{BB962C8B-B14F-4D97-AF65-F5344CB8AC3E}">
        <p14:creationId xmlns:p14="http://schemas.microsoft.com/office/powerpoint/2010/main" val="85269737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90EFE1-5E45-EAA1-429B-F48CACC436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9B0712-DA53-DE42-15EF-3954A013BB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 to the array Class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F4D56CB-B0B6-841E-3DA6-B9993D7C0B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12075" y="1545543"/>
            <a:ext cx="7167849" cy="52954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16221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67AA42-4EC2-6D47-66D5-CCBB714147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98DC87-3100-8FBC-75DC-767DB75D22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 to the array Class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C608A8F-0C81-55A6-1A9A-740E185253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79717" y="1591003"/>
            <a:ext cx="7432565" cy="51899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248201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4079CE-5522-D32D-BB32-EE382098BC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Iterators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22A14F-E660-2427-739D-AF457ED2B8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>
                <a:hlinkClick r:id="rId3"/>
              </a:rPr>
              <a:t>Iterators</a:t>
            </a:r>
            <a:r>
              <a:rPr lang="en-US" b="1" dirty="0"/>
              <a:t> </a:t>
            </a:r>
            <a:r>
              <a:rPr lang="en-US" dirty="0"/>
              <a:t>are objects that work like pointers, and are used to access data stored in containers. </a:t>
            </a:r>
          </a:p>
          <a:p>
            <a:r>
              <a:rPr lang="en-US" dirty="0"/>
              <a:t>As the name implies, you can use an iterator to iterate over the contents of a container. </a:t>
            </a:r>
          </a:p>
          <a:p>
            <a:r>
              <a:rPr lang="en-US" dirty="0"/>
              <a:t>There are currently five categories of iterators</a:t>
            </a:r>
          </a:p>
        </p:txBody>
      </p:sp>
    </p:spTree>
    <p:extLst>
      <p:ext uri="{BB962C8B-B14F-4D97-AF65-F5344CB8AC3E}">
        <p14:creationId xmlns:p14="http://schemas.microsoft.com/office/powerpoint/2010/main" val="47663347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AF92A4-6DB3-6C10-D097-31622D35B5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D5CE5F-D7B4-EF5C-00EE-D8A3993358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Iterators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67F3B92-6C65-1E3B-5924-D728138012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95188" y="1823691"/>
            <a:ext cx="8601623" cy="45106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53371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F4F3F0-DC5F-9CA3-DF96-856920F0AD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Iterators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0DB3B1-E7BA-20F4-BF94-06A61E0845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algn="l"/>
            <a:r>
              <a:rPr lang="en-US" dirty="0">
                <a:effectLst/>
              </a:rPr>
              <a:t>Iterators are associated with containers. </a:t>
            </a:r>
          </a:p>
          <a:p>
            <a:pPr algn="l"/>
            <a:r>
              <a:rPr lang="en-US" dirty="0">
                <a:effectLst/>
              </a:rPr>
              <a:t>The type of container you have determines the category of iterator you use. For example: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The array, vector, and deque containers use </a:t>
            </a:r>
            <a:r>
              <a:rPr lang="en-US" b="1" dirty="0"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random-access iterators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The list, set, multiset, map, and multimap containers use </a:t>
            </a:r>
            <a:r>
              <a:rPr lang="en-US" b="1" dirty="0"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bidirectional iterators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The </a:t>
            </a:r>
            <a:r>
              <a:rPr lang="en-US" dirty="0" err="1"/>
              <a:t>forward_list</a:t>
            </a:r>
            <a:r>
              <a:rPr lang="en-US" dirty="0"/>
              <a:t>, </a:t>
            </a:r>
            <a:r>
              <a:rPr lang="en-US" dirty="0" err="1"/>
              <a:t>unordered_map</a:t>
            </a:r>
            <a:r>
              <a:rPr lang="en-US" dirty="0"/>
              <a:t>, </a:t>
            </a:r>
            <a:r>
              <a:rPr lang="en-US" dirty="0" err="1"/>
              <a:t>unordered_multimap</a:t>
            </a:r>
            <a:r>
              <a:rPr lang="en-US" dirty="0"/>
              <a:t>, </a:t>
            </a:r>
            <a:r>
              <a:rPr lang="en-US" dirty="0" err="1"/>
              <a:t>unordered_set</a:t>
            </a:r>
            <a:r>
              <a:rPr lang="en-US" dirty="0"/>
              <a:t>, and </a:t>
            </a:r>
            <a:r>
              <a:rPr lang="en-US" dirty="0" err="1"/>
              <a:t>unordered_multiset</a:t>
            </a:r>
            <a:r>
              <a:rPr lang="en-US" dirty="0"/>
              <a:t> containers use </a:t>
            </a:r>
            <a:r>
              <a:rPr lang="en-US" b="1" dirty="0"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forward iterators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6676241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DC784C-995E-D00A-3812-ACC075A1A2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165824-7E44-D13E-BDE5-0190849E75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Iterators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4F464DF-8C55-FBA3-33C1-2E27361CE9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3139" y="1690688"/>
            <a:ext cx="9245721" cy="41853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242811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0300BE-1CB1-4EA8-1CF0-3DAE3D2F47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DB2514-E7A6-2161-3605-1023F387A1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Iterators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A08471D-E962-F184-54F4-09668EC725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3578" y="1764260"/>
            <a:ext cx="8384843" cy="44263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836909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5179C5-B218-CA97-C6E5-9033FFBF45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Defining an Iterator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C7C6B1-F853-D1EC-8E06-162667BB4B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Before you can define an iterator, you have to know the type of container that you want to use the iterator with. </a:t>
            </a:r>
          </a:p>
          <a:p>
            <a:r>
              <a:rPr lang="en-US" dirty="0"/>
              <a:t>The general format of an iterator definition is:</a:t>
            </a:r>
          </a:p>
          <a:p>
            <a:r>
              <a:rPr lang="en-US" b="1" i="1" dirty="0" err="1">
                <a:solidFill>
                  <a:srgbClr val="FF0000"/>
                </a:solidFill>
              </a:rPr>
              <a:t>containerType</a:t>
            </a:r>
            <a:r>
              <a:rPr lang="en-US" b="1" i="1" dirty="0">
                <a:solidFill>
                  <a:srgbClr val="FF0000"/>
                </a:solidFill>
              </a:rPr>
              <a:t>::iterator  </a:t>
            </a:r>
            <a:r>
              <a:rPr lang="en-US" b="1" i="1" dirty="0" err="1">
                <a:solidFill>
                  <a:srgbClr val="FF0000"/>
                </a:solidFill>
              </a:rPr>
              <a:t>iteratorName</a:t>
            </a:r>
            <a:r>
              <a:rPr lang="en-US" b="1" i="1" dirty="0">
                <a:solidFill>
                  <a:srgbClr val="FF0000"/>
                </a:solidFill>
              </a:rPr>
              <a:t>;</a:t>
            </a:r>
          </a:p>
          <a:p>
            <a:r>
              <a:rPr lang="en-US" dirty="0"/>
              <a:t>In the general format, </a:t>
            </a:r>
            <a:r>
              <a:rPr lang="en-US" i="1" dirty="0" err="1"/>
              <a:t>containerType</a:t>
            </a:r>
            <a:r>
              <a:rPr lang="en-US" dirty="0"/>
              <a:t> is the STL container type, and </a:t>
            </a:r>
            <a:r>
              <a:rPr lang="en-US" i="1" dirty="0" err="1"/>
              <a:t>iteratorName</a:t>
            </a:r>
            <a:r>
              <a:rPr lang="en-US" dirty="0"/>
              <a:t> is the name of the iterator variable that you are defining. </a:t>
            </a:r>
            <a:endParaRPr lang="en-US" b="1" i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918932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28E7DD-DFE3-8AC2-01EC-07FB9A6EEB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9A7060-A6F9-0B71-06E0-DA5D98B43E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Defining an Iterator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BC38B1-E13A-BCD3-CD66-D0BB9FF0C3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For example, suppose we have defined an </a:t>
            </a:r>
            <a:r>
              <a:rPr lang="en-US" i="1" dirty="0"/>
              <a:t>array</a:t>
            </a:r>
            <a:r>
              <a:rPr lang="en-US" dirty="0"/>
              <a:t> object as follows:</a:t>
            </a:r>
          </a:p>
          <a:p>
            <a:r>
              <a:rPr lang="en-US" i="1" dirty="0">
                <a:solidFill>
                  <a:srgbClr val="FF0000"/>
                </a:solidFill>
              </a:rPr>
              <a:t>array&lt;string, 3&gt; names = {</a:t>
            </a:r>
            <a:r>
              <a:rPr lang="en-US" i="1" dirty="0">
                <a:solidFill>
                  <a:srgbClr val="FF0000"/>
                </a:solidFill>
                <a:effectLst/>
              </a:rPr>
              <a:t>"Sarah"</a:t>
            </a:r>
            <a:r>
              <a:rPr lang="en-US" i="1" dirty="0">
                <a:solidFill>
                  <a:srgbClr val="FF0000"/>
                </a:solidFill>
              </a:rPr>
              <a:t>, </a:t>
            </a:r>
            <a:r>
              <a:rPr lang="en-US" i="1" dirty="0">
                <a:solidFill>
                  <a:srgbClr val="FF0000"/>
                </a:solidFill>
                <a:effectLst/>
              </a:rPr>
              <a:t>"William"</a:t>
            </a:r>
            <a:r>
              <a:rPr lang="en-US" i="1" dirty="0">
                <a:solidFill>
                  <a:srgbClr val="FF0000"/>
                </a:solidFill>
              </a:rPr>
              <a:t>, </a:t>
            </a:r>
            <a:r>
              <a:rPr lang="en-US" i="1" dirty="0">
                <a:solidFill>
                  <a:srgbClr val="FF0000"/>
                </a:solidFill>
                <a:effectLst/>
              </a:rPr>
              <a:t>"Alfredo"</a:t>
            </a:r>
            <a:r>
              <a:rPr lang="en-US" i="1" dirty="0">
                <a:solidFill>
                  <a:srgbClr val="FF0000"/>
                </a:solidFill>
              </a:rPr>
              <a:t>};</a:t>
            </a:r>
          </a:p>
          <a:p>
            <a:r>
              <a:rPr lang="en-US" dirty="0"/>
              <a:t>We can define an iterator that will work with the array object with the following statement:</a:t>
            </a:r>
            <a:endParaRPr lang="en-US" i="1" dirty="0">
              <a:solidFill>
                <a:srgbClr val="FF0000"/>
              </a:solidFill>
            </a:endParaRPr>
          </a:p>
          <a:p>
            <a:r>
              <a:rPr lang="en-US" i="1" dirty="0">
                <a:solidFill>
                  <a:srgbClr val="FF0000"/>
                </a:solidFill>
              </a:rPr>
              <a:t>array&lt;string, 3&gt;::iterator it;</a:t>
            </a:r>
          </a:p>
          <a:p>
            <a:r>
              <a:rPr lang="en-US" dirty="0"/>
              <a:t>This statement defines an iterator named it that can be used with an </a:t>
            </a:r>
            <a:r>
              <a:rPr lang="en-US" b="1" dirty="0"/>
              <a:t>array&lt;string, 3&gt; object</a:t>
            </a:r>
            <a:r>
              <a:rPr lang="en-US" dirty="0"/>
              <a:t>. </a:t>
            </a:r>
          </a:p>
          <a:p>
            <a:r>
              <a:rPr lang="en-US" dirty="0"/>
              <a:t>The compiler automatically chooses the right type of iterator (in this case, a random-access iterator).</a:t>
            </a:r>
            <a:endParaRPr lang="en-US" b="1" i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6591780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1DD6FD-D1C4-525E-101F-B93F80DC82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Getting an Iterator from a Container Object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5C4F98-A346-B249-BF6E-814BE71B93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All of the container classes in the STL provide a begin() member function and an end() member function. </a:t>
            </a:r>
          </a:p>
          <a:p>
            <a:r>
              <a:rPr lang="en-US" dirty="0"/>
              <a:t>The begin()member function is straightforward: it returns an iterator pointing to the first element in a container.</a:t>
            </a:r>
          </a:p>
        </p:txBody>
      </p:sp>
    </p:spTree>
    <p:extLst>
      <p:ext uri="{BB962C8B-B14F-4D97-AF65-F5344CB8AC3E}">
        <p14:creationId xmlns:p14="http://schemas.microsoft.com/office/powerpoint/2010/main" val="267388217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6B714E-6C93-93CB-2BDD-5ED99C200E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20DDF2-78C7-F82F-2FEF-93FABDEBC4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Getting an Iterator from a Container Object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AF452C-EF65-5605-DC32-DC91D34C9A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729401"/>
            <a:ext cx="10591800" cy="1580566"/>
          </a:xfrm>
        </p:spPr>
        <p:txBody>
          <a:bodyPr>
            <a:normAutofit/>
          </a:bodyPr>
          <a:lstStyle/>
          <a:p>
            <a:r>
              <a:rPr lang="en-US" dirty="0"/>
              <a:t>(1) It defines an array object initialized with three strings.</a:t>
            </a:r>
          </a:p>
          <a:p>
            <a:r>
              <a:rPr lang="en-US" dirty="0"/>
              <a:t>(2) It defines an iterator that can be used with the array object.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1FC00A1-036C-22B2-E8EE-CB5366DB29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05819" y="1506356"/>
            <a:ext cx="6380362" cy="30900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524452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94B858-2E6B-3098-DA11-CF82685CCF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A70659-5EE7-6132-F25B-D077352A88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Getting an Iterator from a Container Object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BA8B9F-C53F-8BE4-969C-8F574BD123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5320" y="4851457"/>
            <a:ext cx="10881360" cy="4351338"/>
          </a:xfrm>
        </p:spPr>
        <p:txBody>
          <a:bodyPr/>
          <a:lstStyle/>
          <a:p>
            <a:r>
              <a:rPr lang="en-US" dirty="0"/>
              <a:t>(3) It makes the iterator point to the first element in the array object.</a:t>
            </a:r>
          </a:p>
          <a:p>
            <a:r>
              <a:rPr lang="en-US" dirty="0"/>
              <a:t>(4) It uses the * operator to dereference the iterator, and displays the element that the iterator points to.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166669E-E1A7-ED8C-4E19-C42C52894F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05819" y="1564545"/>
            <a:ext cx="6380362" cy="30900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55877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8F651D-5935-553A-4781-21FCEC9587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Getting an Iterator from a Container Object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AE0BFB-47E0-D18B-FCB8-8DD6071D2B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end() member function returns an iterator pointing to the position </a:t>
            </a:r>
            <a:r>
              <a:rPr lang="en-US" i="1" dirty="0"/>
              <a:t>after</a:t>
            </a:r>
            <a:r>
              <a:rPr lang="en-US" dirty="0"/>
              <a:t> the last element. </a:t>
            </a:r>
          </a:p>
          <a:p>
            <a:r>
              <a:rPr lang="en-US" dirty="0"/>
              <a:t>This means it returns an iterator that does not point to an element, but points to the end of the container.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DB49B27-3C77-2D20-6A8D-9B0EE20F7C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00451" y="3990782"/>
            <a:ext cx="6191098" cy="17688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259061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C5E670-6B05-CE5B-72DE-913AB1ECDE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778070-F245-160B-78BE-47A6F06DB5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Getting an Iterator from a Container Object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3272CE-B74E-113F-1189-5CD1C17F46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end() member function returns an iterator pointing to the position </a:t>
            </a:r>
            <a:r>
              <a:rPr lang="en-US" i="1" dirty="0"/>
              <a:t>after</a:t>
            </a:r>
            <a:r>
              <a:rPr lang="en-US" dirty="0"/>
              <a:t> the last element. </a:t>
            </a:r>
          </a:p>
          <a:p>
            <a:r>
              <a:rPr lang="en-US" dirty="0"/>
              <a:t>This means it returns an iterator that does not point to an element, but points to the end of the container.</a:t>
            </a:r>
          </a:p>
          <a:p>
            <a:r>
              <a:rPr lang="en-US" dirty="0"/>
              <a:t>You typically use the end() member function to know when you have reached the end of a container in algorithms that iterate over a range of elements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A82C9E2-617C-EF1D-6E3D-FC2A3AB0FD1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3722"/>
          <a:stretch/>
        </p:blipFill>
        <p:spPr>
          <a:xfrm>
            <a:off x="3000451" y="4946073"/>
            <a:ext cx="6191098" cy="17030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868838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46CF61-B2B3-143D-BCB3-AD2CC8CD1D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Getting an Iterator from a Container Object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5076CFA-BE70-0B13-0BD7-5026DF3BC8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23273" y="1744576"/>
            <a:ext cx="7745453" cy="47482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643619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75E9E9-0A5B-0B73-EB5E-E91E7946BD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5646683" cy="1325563"/>
          </a:xfrm>
        </p:spPr>
        <p:txBody>
          <a:bodyPr/>
          <a:lstStyle/>
          <a:p>
            <a:r>
              <a:rPr lang="en-US" dirty="0"/>
              <a:t>Getting an Iterator from a Container Object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971BA7-C107-E7B4-7398-F931047E2E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038600" cy="4351338"/>
          </a:xfrm>
        </p:spPr>
        <p:txBody>
          <a:bodyPr/>
          <a:lstStyle/>
          <a:p>
            <a:r>
              <a:rPr lang="en-US" dirty="0"/>
              <a:t>The code previously shown could be shortened somewhat by using a for loop instead of a while loop.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18F54EC-878C-1D19-ACD1-D32A15BBC1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68358" y="249863"/>
            <a:ext cx="4677103" cy="63582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491694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D5B1FD-25F5-A1C1-ED96-F9B73BCFFF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Using auto to Define an Iterator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A8E13A-E333-33FA-EB1A-1528BDF7BC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Quite often, you can use auto to simplify the definition of an iterator. </a:t>
            </a:r>
          </a:p>
          <a:p>
            <a:r>
              <a:rPr lang="en-US" dirty="0"/>
              <a:t>For example, any time that you are initializing an iterator with the value that is returned from a member function such as begin(), you can use auto in the iterator's declaration.</a:t>
            </a:r>
          </a:p>
        </p:txBody>
      </p:sp>
    </p:spTree>
    <p:extLst>
      <p:ext uri="{BB962C8B-B14F-4D97-AF65-F5344CB8AC3E}">
        <p14:creationId xmlns:p14="http://schemas.microsoft.com/office/powerpoint/2010/main" val="231501541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B15C63-D22A-C0EA-C033-0F6515830D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50E722-B73F-C755-F326-19D0CD8511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Using auto to Define an Iterator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26E5C9-5688-95F6-031E-141A8A3217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For example, look at the following code:</a:t>
            </a:r>
          </a:p>
          <a:p>
            <a:r>
              <a:rPr lang="en-US" i="1" dirty="0">
                <a:solidFill>
                  <a:srgbClr val="FF0000"/>
                </a:solidFill>
              </a:rPr>
              <a:t>array&lt;string, 3&gt; names = {</a:t>
            </a:r>
            <a:r>
              <a:rPr lang="en-US" i="1" dirty="0">
                <a:solidFill>
                  <a:srgbClr val="FF0000"/>
                </a:solidFill>
                <a:effectLst/>
              </a:rPr>
              <a:t>"Sarah"</a:t>
            </a:r>
            <a:r>
              <a:rPr lang="en-US" i="1" dirty="0">
                <a:solidFill>
                  <a:srgbClr val="FF0000"/>
                </a:solidFill>
              </a:rPr>
              <a:t>, </a:t>
            </a:r>
            <a:r>
              <a:rPr lang="en-US" i="1" dirty="0">
                <a:solidFill>
                  <a:srgbClr val="FF0000"/>
                </a:solidFill>
                <a:effectLst/>
              </a:rPr>
              <a:t>"William"</a:t>
            </a:r>
            <a:r>
              <a:rPr lang="en-US" i="1" dirty="0">
                <a:solidFill>
                  <a:srgbClr val="FF0000"/>
                </a:solidFill>
              </a:rPr>
              <a:t>, </a:t>
            </a:r>
            <a:r>
              <a:rPr lang="en-US" i="1" dirty="0">
                <a:solidFill>
                  <a:srgbClr val="FF0000"/>
                </a:solidFill>
                <a:effectLst/>
              </a:rPr>
              <a:t>"Alfredo"</a:t>
            </a:r>
            <a:r>
              <a:rPr lang="en-US" i="1" dirty="0">
                <a:solidFill>
                  <a:srgbClr val="FF0000"/>
                </a:solidFill>
              </a:rPr>
              <a:t>}; array&lt;string, 3&gt;::iterator it = </a:t>
            </a:r>
            <a:r>
              <a:rPr lang="en-US" i="1" dirty="0" err="1">
                <a:solidFill>
                  <a:srgbClr val="FF0000"/>
                </a:solidFill>
              </a:rPr>
              <a:t>names.</a:t>
            </a:r>
            <a:r>
              <a:rPr lang="en-US" i="1" dirty="0" err="1">
                <a:solidFill>
                  <a:srgbClr val="FF0000"/>
                </a:solidFill>
                <a:effectLst/>
              </a:rPr>
              <a:t>begin</a:t>
            </a:r>
            <a:r>
              <a:rPr lang="en-US" i="1" dirty="0">
                <a:solidFill>
                  <a:srgbClr val="FF0000"/>
                </a:solidFill>
              </a:rPr>
              <a:t>(); </a:t>
            </a:r>
          </a:p>
          <a:p>
            <a:r>
              <a:rPr lang="en-US" dirty="0">
                <a:effectLst/>
              </a:rPr>
              <a:t>The second statement defines an iterator named it and calls the </a:t>
            </a:r>
            <a:r>
              <a:rPr lang="en-US" i="1" dirty="0" err="1">
                <a:solidFill>
                  <a:srgbClr val="FF0000"/>
                </a:solidFill>
                <a:effectLst/>
              </a:rPr>
              <a:t>names.begin</a:t>
            </a:r>
            <a:r>
              <a:rPr lang="en-US" i="1" dirty="0">
                <a:solidFill>
                  <a:srgbClr val="FF0000"/>
                </a:solidFill>
                <a:effectLst/>
              </a:rPr>
              <a:t>() </a:t>
            </a:r>
            <a:r>
              <a:rPr lang="en-US" dirty="0">
                <a:effectLst/>
              </a:rPr>
              <a:t>member function to initialize it. </a:t>
            </a:r>
          </a:p>
          <a:p>
            <a:r>
              <a:rPr lang="en-US" dirty="0">
                <a:effectLst/>
              </a:rPr>
              <a:t>This statement can be rewritten as shown in the following code:</a:t>
            </a:r>
          </a:p>
          <a:p>
            <a:r>
              <a:rPr lang="en-US" i="1" dirty="0">
                <a:solidFill>
                  <a:srgbClr val="FF0000"/>
                </a:solidFill>
              </a:rPr>
              <a:t>array&lt;string, 3&gt; names = {</a:t>
            </a:r>
            <a:r>
              <a:rPr lang="en-US" i="1" dirty="0">
                <a:solidFill>
                  <a:srgbClr val="FF0000"/>
                </a:solidFill>
                <a:effectLst/>
              </a:rPr>
              <a:t>"Sarah"</a:t>
            </a:r>
            <a:r>
              <a:rPr lang="en-US" i="1" dirty="0">
                <a:solidFill>
                  <a:srgbClr val="FF0000"/>
                </a:solidFill>
              </a:rPr>
              <a:t>, </a:t>
            </a:r>
            <a:r>
              <a:rPr lang="en-US" i="1" dirty="0">
                <a:solidFill>
                  <a:srgbClr val="FF0000"/>
                </a:solidFill>
                <a:effectLst/>
              </a:rPr>
              <a:t>"William"</a:t>
            </a:r>
            <a:r>
              <a:rPr lang="en-US" i="1" dirty="0">
                <a:solidFill>
                  <a:srgbClr val="FF0000"/>
                </a:solidFill>
              </a:rPr>
              <a:t>, </a:t>
            </a:r>
            <a:r>
              <a:rPr lang="en-US" i="1" dirty="0">
                <a:solidFill>
                  <a:srgbClr val="FF0000"/>
                </a:solidFill>
                <a:effectLst/>
              </a:rPr>
              <a:t>"Alfredo"</a:t>
            </a:r>
            <a:r>
              <a:rPr lang="en-US" i="1" dirty="0">
                <a:solidFill>
                  <a:srgbClr val="FF0000"/>
                </a:solidFill>
              </a:rPr>
              <a:t>}; </a:t>
            </a:r>
            <a:br>
              <a:rPr lang="en-US" i="1" dirty="0">
                <a:solidFill>
                  <a:srgbClr val="FF0000"/>
                </a:solidFill>
              </a:rPr>
            </a:br>
            <a:r>
              <a:rPr lang="en-US" b="1" i="1" dirty="0">
                <a:solidFill>
                  <a:srgbClr val="FF0000"/>
                </a:solidFill>
                <a:effectLst/>
              </a:rPr>
              <a:t>auto</a:t>
            </a:r>
            <a:r>
              <a:rPr lang="en-US" i="1" dirty="0">
                <a:solidFill>
                  <a:srgbClr val="FF0000"/>
                </a:solidFill>
              </a:rPr>
              <a:t> it = </a:t>
            </a:r>
            <a:r>
              <a:rPr lang="en-US" i="1" dirty="0" err="1">
                <a:solidFill>
                  <a:srgbClr val="FF0000"/>
                </a:solidFill>
              </a:rPr>
              <a:t>names.</a:t>
            </a:r>
            <a:r>
              <a:rPr lang="en-US" i="1" dirty="0" err="1">
                <a:solidFill>
                  <a:srgbClr val="FF0000"/>
                </a:solidFill>
                <a:effectLst/>
              </a:rPr>
              <a:t>begin</a:t>
            </a:r>
            <a:r>
              <a:rPr lang="en-US" i="1" dirty="0">
                <a:solidFill>
                  <a:srgbClr val="FF0000"/>
                </a:solidFill>
              </a:rPr>
              <a:t>(); </a:t>
            </a:r>
            <a:endParaRPr lang="en-US" i="1" dirty="0">
              <a:solidFill>
                <a:srgbClr val="FF0000"/>
              </a:solidFill>
              <a:effectLst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4445086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5C4685-B227-1049-2620-15F1097D90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38D367-1F0C-F865-3ACF-6E562B7261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Using auto to Define an Iterator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2976D1-5A06-FF5D-B99D-2DAE7ECA59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auto declaration shown in the second statement works because the </a:t>
            </a:r>
            <a:r>
              <a:rPr lang="en-US" i="1" dirty="0" err="1">
                <a:solidFill>
                  <a:srgbClr val="FF0000"/>
                </a:solidFill>
              </a:rPr>
              <a:t>names.begin</a:t>
            </a:r>
            <a:r>
              <a:rPr lang="en-US" i="1" dirty="0">
                <a:solidFill>
                  <a:srgbClr val="FF0000"/>
                </a:solidFill>
              </a:rPr>
              <a:t>() </a:t>
            </a:r>
            <a:r>
              <a:rPr lang="en-US" dirty="0"/>
              <a:t>function returns an object of the </a:t>
            </a:r>
            <a:r>
              <a:rPr lang="en-US" i="1" dirty="0">
                <a:solidFill>
                  <a:srgbClr val="FF0000"/>
                </a:solidFill>
              </a:rPr>
              <a:t>array&lt;string, 3&gt;::iterator type</a:t>
            </a:r>
            <a:r>
              <a:rPr lang="en-US" dirty="0"/>
              <a:t>. </a:t>
            </a:r>
          </a:p>
          <a:p>
            <a:r>
              <a:rPr lang="en-US" dirty="0"/>
              <a:t>So, the compiler can determine that it should be an object of the </a:t>
            </a:r>
            <a:r>
              <a:rPr lang="en-US" i="1" dirty="0">
                <a:solidFill>
                  <a:srgbClr val="FF0000"/>
                </a:solidFill>
              </a:rPr>
              <a:t>array&lt;string, 3&gt;::iterator </a:t>
            </a:r>
            <a:r>
              <a:rPr lang="en-US" dirty="0"/>
              <a:t>type. </a:t>
            </a:r>
          </a:p>
          <a:p>
            <a:r>
              <a:rPr lang="en-US" dirty="0"/>
              <a:t>This is especially useful in for loops that use iterators to step through the elements of a container.</a:t>
            </a:r>
          </a:p>
          <a:p>
            <a:r>
              <a:rPr lang="en-US" dirty="0"/>
              <a:t>Let’s look at an example</a:t>
            </a:r>
          </a:p>
        </p:txBody>
      </p:sp>
    </p:spTree>
    <p:extLst>
      <p:ext uri="{BB962C8B-B14F-4D97-AF65-F5344CB8AC3E}">
        <p14:creationId xmlns:p14="http://schemas.microsoft.com/office/powerpoint/2010/main" val="417282711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41B3B0-692B-0B7B-D035-FA8D07653B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4240876" cy="1325563"/>
          </a:xfrm>
        </p:spPr>
        <p:txBody>
          <a:bodyPr/>
          <a:lstStyle/>
          <a:p>
            <a:r>
              <a:rPr lang="en-US" dirty="0"/>
              <a:t>Using auto to Define an Iterator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7932294-6774-63F6-743F-14408DD346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17045" y="316922"/>
            <a:ext cx="5025429" cy="62241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518005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0AFCB4-EFB6-A465-C334-B4B2776B71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Mutable Iterators and </a:t>
            </a:r>
            <a:r>
              <a:rPr lang="en-US" dirty="0" err="1"/>
              <a:t>const_iterators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6CA723-53C7-C1CB-B69B-D66CF4F436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An iterator of the iterator type gives you read/write access to the element that the iterator points to. This is commonly known as a </a:t>
            </a:r>
            <a:r>
              <a:rPr lang="en-US" dirty="0">
                <a:hlinkClick r:id="rId3"/>
              </a:rPr>
              <a:t>mutable iterator</a:t>
            </a:r>
            <a:r>
              <a:rPr lang="en-US" dirty="0"/>
              <a:t>. The following code snippet shows an example: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5CABC8B-0571-9046-D096-2E5E94EE523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33416" y="3225746"/>
            <a:ext cx="6125167" cy="29512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782680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4E32D1-C9B9-9BE7-9276-01E22E4B8D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795261-2AD3-D882-2C69-8698E86B68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Mutable Iterators and </a:t>
            </a:r>
            <a:r>
              <a:rPr lang="en-US" dirty="0" err="1"/>
              <a:t>const_iterators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44AE20-4A1F-89B6-224D-D0D5689D73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effectLst/>
              </a:rPr>
              <a:t>In the code snippet, the numbers object initially contains the values 1, 2, 3, 4, and 5. </a:t>
            </a:r>
          </a:p>
          <a:p>
            <a:r>
              <a:rPr lang="en-US" dirty="0">
                <a:effectLst/>
              </a:rPr>
              <a:t>The last statement dereferences the</a:t>
            </a:r>
            <a:r>
              <a:rPr lang="en-US" i="1" dirty="0">
                <a:solidFill>
                  <a:srgbClr val="FF0000"/>
                </a:solidFill>
                <a:effectLst/>
              </a:rPr>
              <a:t> it </a:t>
            </a:r>
            <a:r>
              <a:rPr lang="en-US" dirty="0">
                <a:effectLst/>
              </a:rPr>
              <a:t>iterator (which points to the first element) and changes the element's value to 99. </a:t>
            </a:r>
          </a:p>
          <a:p>
            <a:r>
              <a:rPr lang="en-US" dirty="0">
                <a:effectLst/>
              </a:rPr>
              <a:t>After the last statement executes, the numbers object contains the values 99, 2, 3, 4, and 5.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017184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407077-D8BD-9E96-A482-BA5B4D6E60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2FB0AF-DA3D-9D52-3914-EBBE9F0C9C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Mutable Iterators and </a:t>
            </a:r>
            <a:r>
              <a:rPr lang="en-US" dirty="0" err="1"/>
              <a:t>const_iterators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6AD3AD-25F6-509D-12B5-E75161ECCF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algn="l"/>
            <a:r>
              <a:rPr lang="en-US" dirty="0">
                <a:effectLst/>
              </a:rPr>
              <a:t>If you want to make sure that nothing changes the contents of a container, you can use the const modifier with the container definition to make the container's contents constant. </a:t>
            </a:r>
          </a:p>
          <a:p>
            <a:pPr algn="l"/>
            <a:r>
              <a:rPr lang="en-US" dirty="0">
                <a:effectLst/>
              </a:rPr>
              <a:t>Here is an example:</a:t>
            </a:r>
          </a:p>
          <a:p>
            <a:pPr algn="l"/>
            <a:r>
              <a:rPr lang="en-US" b="1" i="1" dirty="0">
                <a:solidFill>
                  <a:srgbClr val="FF0000"/>
                </a:solidFill>
                <a:effectLst/>
              </a:rPr>
              <a:t>const</a:t>
            </a:r>
            <a:r>
              <a:rPr lang="en-US" i="1" dirty="0">
                <a:solidFill>
                  <a:srgbClr val="FF0000"/>
                </a:solidFill>
              </a:rPr>
              <a:t> array&lt;string, 3&gt; names = {</a:t>
            </a:r>
            <a:r>
              <a:rPr lang="en-US" i="1" dirty="0">
                <a:solidFill>
                  <a:srgbClr val="FF0000"/>
                </a:solidFill>
                <a:effectLst/>
              </a:rPr>
              <a:t>"Sarah"</a:t>
            </a:r>
            <a:r>
              <a:rPr lang="en-US" i="1" dirty="0">
                <a:solidFill>
                  <a:srgbClr val="FF0000"/>
                </a:solidFill>
              </a:rPr>
              <a:t>, </a:t>
            </a:r>
            <a:r>
              <a:rPr lang="en-US" i="1" dirty="0">
                <a:solidFill>
                  <a:srgbClr val="FF0000"/>
                </a:solidFill>
                <a:effectLst/>
              </a:rPr>
              <a:t>"William"</a:t>
            </a:r>
            <a:r>
              <a:rPr lang="en-US" i="1" dirty="0">
                <a:solidFill>
                  <a:srgbClr val="FF0000"/>
                </a:solidFill>
              </a:rPr>
              <a:t>, </a:t>
            </a:r>
            <a:r>
              <a:rPr lang="en-US" i="1" dirty="0">
                <a:solidFill>
                  <a:srgbClr val="FF0000"/>
                </a:solidFill>
                <a:effectLst/>
              </a:rPr>
              <a:t>"Alfredo"</a:t>
            </a:r>
            <a:r>
              <a:rPr lang="en-US" i="1" dirty="0">
                <a:solidFill>
                  <a:srgbClr val="FF0000"/>
                </a:solidFill>
              </a:rPr>
              <a:t>}; </a:t>
            </a:r>
          </a:p>
          <a:p>
            <a:pPr algn="l"/>
            <a:r>
              <a:rPr lang="en-US" dirty="0"/>
              <a:t>This statement defines names as a const array object. </a:t>
            </a:r>
          </a:p>
          <a:p>
            <a:pPr algn="l"/>
            <a:r>
              <a:rPr lang="en-US" dirty="0"/>
              <a:t>As a result, the elements in the container are constant, and cannot be modified. </a:t>
            </a:r>
          </a:p>
          <a:p>
            <a:pPr algn="l"/>
            <a:r>
              <a:rPr lang="en-US" dirty="0"/>
              <a:t>Attempting to modify the container's contents will result in an error at compile-time.</a:t>
            </a:r>
            <a:endParaRPr lang="en-US" i="1" dirty="0">
              <a:solidFill>
                <a:srgbClr val="FF0000"/>
              </a:solidFill>
              <a:effectLst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2309111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380FAB-F5E1-CCCF-A6AD-1C3CB157CB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DE5420-F636-A3EA-0F2E-BD4FF148C0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Mutable Iterators and </a:t>
            </a:r>
            <a:r>
              <a:rPr lang="en-US" dirty="0" err="1"/>
              <a:t>const_iterators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25FDDF-4294-3087-8471-EDA22B9DA5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l"/>
            <a:r>
              <a:rPr lang="en-US" dirty="0"/>
              <a:t>If we need an iterator to work with the object, we must use a </a:t>
            </a:r>
            <a:r>
              <a:rPr lang="en-US" i="1" dirty="0" err="1">
                <a:solidFill>
                  <a:srgbClr val="FF0000"/>
                </a:solidFill>
              </a:rPr>
              <a:t>const_iterator</a:t>
            </a:r>
            <a:r>
              <a:rPr lang="en-US" dirty="0"/>
              <a:t>, which provides read-only access to any element that it points to. </a:t>
            </a:r>
          </a:p>
          <a:p>
            <a:pPr algn="l"/>
            <a:r>
              <a:rPr lang="en-US" dirty="0"/>
              <a:t>The following statement shows an example of how to define a </a:t>
            </a:r>
            <a:r>
              <a:rPr lang="en-US" dirty="0" err="1"/>
              <a:t>const_iterator</a:t>
            </a:r>
            <a:r>
              <a:rPr lang="en-US" dirty="0"/>
              <a:t>:</a:t>
            </a:r>
          </a:p>
          <a:p>
            <a:pPr algn="l"/>
            <a:r>
              <a:rPr lang="en-US" i="1" dirty="0">
                <a:solidFill>
                  <a:srgbClr val="FF0000"/>
                </a:solidFill>
              </a:rPr>
              <a:t>array&lt;string, 3&gt;::</a:t>
            </a:r>
            <a:r>
              <a:rPr lang="en-US" i="1" dirty="0" err="1">
                <a:solidFill>
                  <a:srgbClr val="FF0000"/>
                </a:solidFill>
              </a:rPr>
              <a:t>const_iterator</a:t>
            </a:r>
            <a:r>
              <a:rPr lang="en-US" i="1" dirty="0">
                <a:solidFill>
                  <a:srgbClr val="FF0000"/>
                </a:solidFill>
              </a:rPr>
              <a:t> it;</a:t>
            </a:r>
          </a:p>
        </p:txBody>
      </p:sp>
    </p:spTree>
    <p:extLst>
      <p:ext uri="{BB962C8B-B14F-4D97-AF65-F5344CB8AC3E}">
        <p14:creationId xmlns:p14="http://schemas.microsoft.com/office/powerpoint/2010/main" val="403806410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4B55DC-27F1-FED0-F67B-3AA279423E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E37441-26FE-0EA8-51CB-EF38E2FB34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Mutable Iterators and </a:t>
            </a:r>
            <a:r>
              <a:rPr lang="en-US" dirty="0" err="1"/>
              <a:t>const_iterators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722EF2-58C3-A4E0-20E6-74A261A630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l"/>
            <a:r>
              <a:rPr lang="en-US" dirty="0"/>
              <a:t>All of the container classes in the STL provide a </a:t>
            </a:r>
            <a:r>
              <a:rPr lang="en-US" i="1" dirty="0" err="1">
                <a:solidFill>
                  <a:srgbClr val="FF0000"/>
                </a:solidFill>
              </a:rPr>
              <a:t>cbegin</a:t>
            </a:r>
            <a:r>
              <a:rPr lang="en-US" i="1" dirty="0">
                <a:solidFill>
                  <a:srgbClr val="FF0000"/>
                </a:solidFill>
              </a:rPr>
              <a:t>() </a:t>
            </a:r>
            <a:r>
              <a:rPr lang="en-US" dirty="0"/>
              <a:t>member function and a </a:t>
            </a:r>
            <a:r>
              <a:rPr lang="en-US" i="1" dirty="0" err="1">
                <a:solidFill>
                  <a:srgbClr val="FF0000"/>
                </a:solidFill>
              </a:rPr>
              <a:t>cend</a:t>
            </a:r>
            <a:r>
              <a:rPr lang="en-US" i="1" dirty="0">
                <a:solidFill>
                  <a:srgbClr val="FF0000"/>
                </a:solidFill>
              </a:rPr>
              <a:t>() </a:t>
            </a:r>
            <a:r>
              <a:rPr lang="en-US" dirty="0"/>
              <a:t>member function. </a:t>
            </a:r>
          </a:p>
          <a:p>
            <a:pPr algn="l"/>
            <a:r>
              <a:rPr lang="en-US" dirty="0"/>
              <a:t>The </a:t>
            </a:r>
            <a:r>
              <a:rPr lang="en-US" i="1" dirty="0" err="1">
                <a:solidFill>
                  <a:srgbClr val="FF0000"/>
                </a:solidFill>
              </a:rPr>
              <a:t>cbegin</a:t>
            </a:r>
            <a:r>
              <a:rPr lang="en-US" i="1" dirty="0">
                <a:solidFill>
                  <a:srgbClr val="FF0000"/>
                </a:solidFill>
              </a:rPr>
              <a:t>() </a:t>
            </a:r>
            <a:r>
              <a:rPr lang="en-US" dirty="0"/>
              <a:t>member function returns a </a:t>
            </a:r>
            <a:r>
              <a:rPr lang="en-US" i="1" dirty="0" err="1">
                <a:solidFill>
                  <a:srgbClr val="FF0000"/>
                </a:solidFill>
              </a:rPr>
              <a:t>const_iterator</a:t>
            </a:r>
            <a:r>
              <a:rPr lang="en-US" i="1" dirty="0">
                <a:solidFill>
                  <a:srgbClr val="FF0000"/>
                </a:solidFill>
              </a:rPr>
              <a:t> </a:t>
            </a:r>
            <a:r>
              <a:rPr lang="en-US" dirty="0"/>
              <a:t>pointing to the first element in a container. </a:t>
            </a:r>
          </a:p>
          <a:p>
            <a:pPr algn="l"/>
            <a:r>
              <a:rPr lang="en-US" dirty="0"/>
              <a:t>The </a:t>
            </a:r>
            <a:r>
              <a:rPr lang="en-US" i="1" dirty="0" err="1">
                <a:solidFill>
                  <a:srgbClr val="FF0000"/>
                </a:solidFill>
              </a:rPr>
              <a:t>cend</a:t>
            </a:r>
            <a:r>
              <a:rPr lang="en-US" i="1" dirty="0">
                <a:solidFill>
                  <a:srgbClr val="FF0000"/>
                </a:solidFill>
              </a:rPr>
              <a:t>() </a:t>
            </a:r>
            <a:r>
              <a:rPr lang="en-US" dirty="0"/>
              <a:t>member function returns a </a:t>
            </a:r>
            <a:r>
              <a:rPr lang="en-US" i="1" dirty="0" err="1">
                <a:solidFill>
                  <a:srgbClr val="FF0000"/>
                </a:solidFill>
              </a:rPr>
              <a:t>const_iterator</a:t>
            </a:r>
            <a:r>
              <a:rPr lang="en-US" i="1" dirty="0">
                <a:solidFill>
                  <a:srgbClr val="FF0000"/>
                </a:solidFill>
              </a:rPr>
              <a:t> </a:t>
            </a:r>
            <a:r>
              <a:rPr lang="en-US" dirty="0"/>
              <a:t>pointing to the end of the container. </a:t>
            </a:r>
          </a:p>
          <a:p>
            <a:pPr algn="l"/>
            <a:r>
              <a:rPr lang="en-US" b="1" dirty="0"/>
              <a:t>When working with </a:t>
            </a:r>
            <a:r>
              <a:rPr lang="en-US" b="1" dirty="0" err="1"/>
              <a:t>const_iterators</a:t>
            </a:r>
            <a:r>
              <a:rPr lang="en-US" b="1" dirty="0"/>
              <a:t>, simply use the container class's </a:t>
            </a:r>
            <a:r>
              <a:rPr lang="en-US" b="1" dirty="0" err="1"/>
              <a:t>cbegin</a:t>
            </a:r>
            <a:r>
              <a:rPr lang="en-US" b="1" dirty="0"/>
              <a:t>() and </a:t>
            </a:r>
            <a:r>
              <a:rPr lang="en-US" b="1" dirty="0" err="1"/>
              <a:t>cend</a:t>
            </a:r>
            <a:r>
              <a:rPr lang="en-US" b="1" dirty="0"/>
              <a:t>() member functions instead of the begin() and end() member functions.</a:t>
            </a:r>
            <a:endParaRPr lang="en-US" b="1" i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93775363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F26917-703A-D600-D44A-6AD68E53E3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Reverse Iterators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ED21A4-6B8F-7FAB-C423-AD18435586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</a:t>
            </a:r>
            <a:r>
              <a:rPr lang="en-US" b="1" dirty="0"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reverse iterator</a:t>
            </a:r>
            <a:r>
              <a:rPr lang="en-US" b="1" dirty="0"/>
              <a:t> </a:t>
            </a:r>
            <a:r>
              <a:rPr lang="en-US" dirty="0"/>
              <a:t>is a bidirectional or random-access iterator that works in reverse, allowing you to iterate backwards over the elements in a container. </a:t>
            </a:r>
          </a:p>
          <a:p>
            <a:r>
              <a:rPr lang="en-US" dirty="0"/>
              <a:t>When using a reverse iterator, the last element in a container is considered the first element, and the first element is considered the last element. </a:t>
            </a:r>
          </a:p>
          <a:p>
            <a:r>
              <a:rPr lang="en-US" dirty="0"/>
              <a:t>The ++ operator moves a reverse iterator backward, and the -- operator moves a reverse iterator forward.</a:t>
            </a:r>
          </a:p>
        </p:txBody>
      </p:sp>
    </p:spTree>
    <p:extLst>
      <p:ext uri="{BB962C8B-B14F-4D97-AF65-F5344CB8AC3E}">
        <p14:creationId xmlns:p14="http://schemas.microsoft.com/office/powerpoint/2010/main" val="1662943636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6143F4-EF45-931F-6119-304F178C88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36901D-B6C9-B02F-3D86-25644CFCCC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Reverse Iterators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9193A3-CF46-A884-2DE9-496B42066F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866120" cy="4351338"/>
          </a:xfrm>
        </p:spPr>
        <p:txBody>
          <a:bodyPr/>
          <a:lstStyle/>
          <a:p>
            <a:r>
              <a:rPr lang="en-US" dirty="0"/>
              <a:t>These STL containers support the use of reverse iterators: array, deque, list, map, multimap, multiset, set, and vector. </a:t>
            </a:r>
          </a:p>
          <a:p>
            <a:r>
              <a:rPr lang="en-US" dirty="0"/>
              <a:t>All of these classes provide an </a:t>
            </a:r>
            <a:r>
              <a:rPr lang="en-US" i="1" dirty="0" err="1">
                <a:solidFill>
                  <a:srgbClr val="FF0000"/>
                </a:solidFill>
              </a:rPr>
              <a:t>rbegin</a:t>
            </a:r>
            <a:r>
              <a:rPr lang="en-US" i="1" dirty="0">
                <a:solidFill>
                  <a:srgbClr val="FF0000"/>
                </a:solidFill>
              </a:rPr>
              <a:t>() </a:t>
            </a:r>
            <a:r>
              <a:rPr lang="en-US" dirty="0"/>
              <a:t>member function and an </a:t>
            </a:r>
            <a:r>
              <a:rPr lang="en-US" i="1" dirty="0">
                <a:solidFill>
                  <a:srgbClr val="FF0000"/>
                </a:solidFill>
              </a:rPr>
              <a:t>rend() </a:t>
            </a:r>
            <a:r>
              <a:rPr lang="en-US" dirty="0"/>
              <a:t>member function. </a:t>
            </a:r>
          </a:p>
        </p:txBody>
      </p:sp>
    </p:spTree>
    <p:extLst>
      <p:ext uri="{BB962C8B-B14F-4D97-AF65-F5344CB8AC3E}">
        <p14:creationId xmlns:p14="http://schemas.microsoft.com/office/powerpoint/2010/main" val="242514734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97C818-D44A-58C5-1F8A-FBD6BE337F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88BE4D-405C-C24C-E909-6E0FEFB904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Reverse Iterators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CBC2B1-6C4A-B4D3-D3B3-17CEBAA224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866120" cy="4351338"/>
          </a:xfrm>
        </p:spPr>
        <p:txBody>
          <a:bodyPr/>
          <a:lstStyle/>
          <a:p>
            <a:r>
              <a:rPr lang="en-US" b="1" dirty="0"/>
              <a:t>The </a:t>
            </a:r>
            <a:r>
              <a:rPr lang="en-US" b="1" dirty="0" err="1"/>
              <a:t>rbegin</a:t>
            </a:r>
            <a:r>
              <a:rPr lang="en-US" b="1" dirty="0"/>
              <a:t>()member function returns a reverse iterator pointing to the last element in a container, and the rend()member function returns an iterator pointing to the position </a:t>
            </a:r>
            <a:r>
              <a:rPr lang="en-US" b="1" i="1" dirty="0"/>
              <a:t>before</a:t>
            </a:r>
            <a:r>
              <a:rPr lang="en-US" b="1" dirty="0"/>
              <a:t> the first element.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2674820-1CA2-370E-2BED-1CE5E23A4B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36861" y="3899118"/>
            <a:ext cx="7318277" cy="1965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0681692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528754-CA4D-4A5E-554A-A661DA55A8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122CC5-2BEA-76D0-6A74-C06A66F10C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Reverse Iterators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68C58D-F2D6-4884-C15B-B975CE68F6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866120" cy="4351338"/>
          </a:xfrm>
        </p:spPr>
        <p:txBody>
          <a:bodyPr/>
          <a:lstStyle/>
          <a:p>
            <a:r>
              <a:rPr lang="en-US" dirty="0"/>
              <a:t>To create a reverse iterator, you define it as </a:t>
            </a:r>
            <a:r>
              <a:rPr lang="en-US" i="1" dirty="0" err="1">
                <a:solidFill>
                  <a:srgbClr val="FF0000"/>
                </a:solidFill>
              </a:rPr>
              <a:t>reverse_iterator</a:t>
            </a:r>
            <a:r>
              <a:rPr lang="en-US" i="1" dirty="0">
                <a:solidFill>
                  <a:srgbClr val="FF0000"/>
                </a:solidFill>
              </a:rPr>
              <a:t>.</a:t>
            </a:r>
            <a:endParaRPr lang="en-US" b="1" i="1" dirty="0">
              <a:solidFill>
                <a:srgbClr val="FF0000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75D1E65-5AB9-3562-5C34-B56DA529F9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62027" y="2785899"/>
            <a:ext cx="6067945" cy="28791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8404246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259893-98F7-4C71-A235-55A976DB01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7F0D2F-24C3-A20A-74D7-B3339B6E71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Reverse Iterators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AAEBCD-5DF8-51DA-6C9B-B5FB84EE18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866120" cy="4351338"/>
          </a:xfrm>
        </p:spPr>
        <p:txBody>
          <a:bodyPr/>
          <a:lstStyle/>
          <a:p>
            <a:r>
              <a:rPr lang="en-US" dirty="0"/>
              <a:t>Iterators that are declared as </a:t>
            </a:r>
            <a:r>
              <a:rPr lang="en-US" i="1" dirty="0" err="1">
                <a:solidFill>
                  <a:srgbClr val="FF0000"/>
                </a:solidFill>
              </a:rPr>
              <a:t>reverse_iterator</a:t>
            </a:r>
            <a:r>
              <a:rPr lang="en-US" i="1" dirty="0">
                <a:solidFill>
                  <a:srgbClr val="FF0000"/>
                </a:solidFill>
              </a:rPr>
              <a:t> </a:t>
            </a:r>
            <a:r>
              <a:rPr lang="en-US" dirty="0"/>
              <a:t>are mutable, meaning that they give you read/write access to the element being pointed to.</a:t>
            </a:r>
          </a:p>
          <a:p>
            <a:r>
              <a:rPr lang="en-US" dirty="0"/>
              <a:t>If you need a reverse iterator to work with a const container, you must use a </a:t>
            </a:r>
            <a:r>
              <a:rPr lang="en-US" i="1" dirty="0" err="1">
                <a:solidFill>
                  <a:srgbClr val="FF0000"/>
                </a:solidFill>
              </a:rPr>
              <a:t>const_reverse_iterator</a:t>
            </a:r>
            <a:r>
              <a:rPr lang="en-US" dirty="0"/>
              <a:t>, which provides read-only access to any element that it points to. </a:t>
            </a:r>
          </a:p>
          <a:p>
            <a:r>
              <a:rPr lang="en-US" dirty="0"/>
              <a:t>The following code shows an example of how to create a </a:t>
            </a:r>
            <a:r>
              <a:rPr lang="en-US" dirty="0" err="1"/>
              <a:t>const_reverse_iterator</a:t>
            </a:r>
            <a:r>
              <a:rPr lang="en-US" dirty="0"/>
              <a:t>:</a:t>
            </a:r>
          </a:p>
          <a:p>
            <a:r>
              <a:rPr lang="en-US" b="1" i="1" dirty="0">
                <a:solidFill>
                  <a:srgbClr val="FF0000"/>
                </a:solidFill>
                <a:effectLst/>
              </a:rPr>
              <a:t>const</a:t>
            </a:r>
            <a:r>
              <a:rPr lang="en-US" i="1" dirty="0">
                <a:solidFill>
                  <a:srgbClr val="FF0000"/>
                </a:solidFill>
              </a:rPr>
              <a:t> array&lt;string, 3&gt; names = {</a:t>
            </a:r>
            <a:r>
              <a:rPr lang="en-US" i="1" dirty="0">
                <a:solidFill>
                  <a:srgbClr val="FF0000"/>
                </a:solidFill>
                <a:effectLst/>
              </a:rPr>
              <a:t>"Sarah"</a:t>
            </a:r>
            <a:r>
              <a:rPr lang="en-US" i="1" dirty="0">
                <a:solidFill>
                  <a:srgbClr val="FF0000"/>
                </a:solidFill>
              </a:rPr>
              <a:t>, </a:t>
            </a:r>
            <a:r>
              <a:rPr lang="en-US" i="1" dirty="0">
                <a:solidFill>
                  <a:srgbClr val="FF0000"/>
                </a:solidFill>
                <a:effectLst/>
              </a:rPr>
              <a:t>"William"</a:t>
            </a:r>
            <a:r>
              <a:rPr lang="en-US" i="1" dirty="0">
                <a:solidFill>
                  <a:srgbClr val="FF0000"/>
                </a:solidFill>
              </a:rPr>
              <a:t>, </a:t>
            </a:r>
            <a:r>
              <a:rPr lang="en-US" i="1" dirty="0">
                <a:solidFill>
                  <a:srgbClr val="FF0000"/>
                </a:solidFill>
                <a:effectLst/>
              </a:rPr>
              <a:t>"Alfredo"</a:t>
            </a:r>
            <a:r>
              <a:rPr lang="en-US" i="1" dirty="0">
                <a:solidFill>
                  <a:srgbClr val="FF0000"/>
                </a:solidFill>
              </a:rPr>
              <a:t>}; array&lt;string, 3&gt;::</a:t>
            </a:r>
            <a:r>
              <a:rPr lang="en-US" i="1" dirty="0" err="1">
                <a:solidFill>
                  <a:srgbClr val="FF0000"/>
                </a:solidFill>
              </a:rPr>
              <a:t>const_reverse_iterator</a:t>
            </a:r>
            <a:r>
              <a:rPr lang="en-US" i="1" dirty="0">
                <a:solidFill>
                  <a:srgbClr val="FF0000"/>
                </a:solidFill>
              </a:rPr>
              <a:t> it; </a:t>
            </a:r>
            <a:endParaRPr lang="en-US" b="1" i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93277042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73E917-D5B2-23E3-45DA-D22B101119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EF33E8-38AB-11BA-2AD4-B58A722C55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Reverse Iterators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37B575-4E07-939E-6294-AA51BC8B1D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866120" cy="4351338"/>
          </a:xfrm>
        </p:spPr>
        <p:txBody>
          <a:bodyPr/>
          <a:lstStyle/>
          <a:p>
            <a:r>
              <a:rPr lang="en-US" dirty="0"/>
              <a:t>Each of the STL container classes that support reverse iterators provide a </a:t>
            </a:r>
            <a:r>
              <a:rPr lang="en-US" i="1" dirty="0" err="1">
                <a:solidFill>
                  <a:srgbClr val="FF0000"/>
                </a:solidFill>
              </a:rPr>
              <a:t>crbegin</a:t>
            </a:r>
            <a:r>
              <a:rPr lang="en-US" i="1" dirty="0">
                <a:solidFill>
                  <a:srgbClr val="FF0000"/>
                </a:solidFill>
              </a:rPr>
              <a:t>() </a:t>
            </a:r>
            <a:r>
              <a:rPr lang="en-US" dirty="0"/>
              <a:t>member function and a </a:t>
            </a:r>
            <a:r>
              <a:rPr lang="en-US" i="1" dirty="0" err="1">
                <a:solidFill>
                  <a:srgbClr val="FF0000"/>
                </a:solidFill>
              </a:rPr>
              <a:t>crend</a:t>
            </a:r>
            <a:r>
              <a:rPr lang="en-US" i="1" dirty="0">
                <a:solidFill>
                  <a:srgbClr val="FF0000"/>
                </a:solidFill>
              </a:rPr>
              <a:t>() </a:t>
            </a:r>
            <a:r>
              <a:rPr lang="en-US" dirty="0"/>
              <a:t>member function. </a:t>
            </a:r>
          </a:p>
          <a:p>
            <a:r>
              <a:rPr lang="en-US" dirty="0"/>
              <a:t>The </a:t>
            </a:r>
            <a:r>
              <a:rPr lang="en-US" i="1" dirty="0" err="1">
                <a:solidFill>
                  <a:srgbClr val="FF0000"/>
                </a:solidFill>
              </a:rPr>
              <a:t>crbegin</a:t>
            </a:r>
            <a:r>
              <a:rPr lang="en-US" i="1" dirty="0">
                <a:solidFill>
                  <a:srgbClr val="FF0000"/>
                </a:solidFill>
              </a:rPr>
              <a:t>() </a:t>
            </a:r>
            <a:r>
              <a:rPr lang="en-US" dirty="0"/>
              <a:t>member function returns a </a:t>
            </a:r>
            <a:r>
              <a:rPr lang="en-US" i="1" dirty="0" err="1">
                <a:solidFill>
                  <a:srgbClr val="FF0000"/>
                </a:solidFill>
              </a:rPr>
              <a:t>const_reverse_iterator</a:t>
            </a:r>
            <a:r>
              <a:rPr lang="en-US" i="1" dirty="0">
                <a:solidFill>
                  <a:srgbClr val="FF0000"/>
                </a:solidFill>
              </a:rPr>
              <a:t> </a:t>
            </a:r>
            <a:r>
              <a:rPr lang="en-US" dirty="0"/>
              <a:t>pointing to the last element in the container. </a:t>
            </a:r>
          </a:p>
          <a:p>
            <a:r>
              <a:rPr lang="en-US" dirty="0"/>
              <a:t>The </a:t>
            </a:r>
            <a:r>
              <a:rPr lang="en-US" i="1" dirty="0" err="1">
                <a:solidFill>
                  <a:srgbClr val="FF0000"/>
                </a:solidFill>
              </a:rPr>
              <a:t>crend</a:t>
            </a:r>
            <a:r>
              <a:rPr lang="en-US" i="1" dirty="0">
                <a:solidFill>
                  <a:srgbClr val="FF0000"/>
                </a:solidFill>
              </a:rPr>
              <a:t>() </a:t>
            </a:r>
            <a:r>
              <a:rPr lang="en-US" dirty="0"/>
              <a:t>member function returns </a:t>
            </a:r>
            <a:r>
              <a:rPr lang="en-US" i="1" dirty="0">
                <a:solidFill>
                  <a:srgbClr val="FF0000"/>
                </a:solidFill>
              </a:rPr>
              <a:t>a </a:t>
            </a:r>
            <a:r>
              <a:rPr lang="en-US" i="1" dirty="0" err="1">
                <a:solidFill>
                  <a:srgbClr val="FF0000"/>
                </a:solidFill>
              </a:rPr>
              <a:t>const_reverse_iterator</a:t>
            </a:r>
            <a:r>
              <a:rPr lang="en-US" i="1" dirty="0">
                <a:solidFill>
                  <a:srgbClr val="FF0000"/>
                </a:solidFill>
              </a:rPr>
              <a:t> </a:t>
            </a:r>
            <a:r>
              <a:rPr lang="en-US" dirty="0"/>
              <a:t>pointing to the position before the first element in the container.</a:t>
            </a:r>
            <a:endParaRPr lang="en-US" b="1" i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9827066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466</TotalTime>
  <Words>2389</Words>
  <Application>Microsoft Macintosh PowerPoint</Application>
  <PresentationFormat>Widescreen</PresentationFormat>
  <Paragraphs>176</Paragraphs>
  <Slides>45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45</vt:i4>
      </vt:variant>
    </vt:vector>
  </HeadingPairs>
  <TitlesOfParts>
    <vt:vector size="49" baseType="lpstr">
      <vt:lpstr>Aptos</vt:lpstr>
      <vt:lpstr>Aptos Display</vt:lpstr>
      <vt:lpstr>Arial</vt:lpstr>
      <vt:lpstr>Office Theme</vt:lpstr>
      <vt:lpstr>CS 331</vt:lpstr>
      <vt:lpstr>Introduction to the Standard Template Library</vt:lpstr>
      <vt:lpstr>STL Container and Iterator Fundamentals</vt:lpstr>
      <vt:lpstr>Containers</vt:lpstr>
      <vt:lpstr>Containers</vt:lpstr>
      <vt:lpstr>Containers</vt:lpstr>
      <vt:lpstr>Containers</vt:lpstr>
      <vt:lpstr>Containers</vt:lpstr>
      <vt:lpstr>Containers</vt:lpstr>
      <vt:lpstr>Introduction to the array Class</vt:lpstr>
      <vt:lpstr>Introduction to the array Class</vt:lpstr>
      <vt:lpstr>Introduction to the array Class</vt:lpstr>
      <vt:lpstr>Introduction to the array Class</vt:lpstr>
      <vt:lpstr>Introduction to the array Class</vt:lpstr>
      <vt:lpstr>Introduction to the array Class</vt:lpstr>
      <vt:lpstr>Introduction to the array Class</vt:lpstr>
      <vt:lpstr>Iterators</vt:lpstr>
      <vt:lpstr>Iterators</vt:lpstr>
      <vt:lpstr>Iterators</vt:lpstr>
      <vt:lpstr>Iterators</vt:lpstr>
      <vt:lpstr>Iterators</vt:lpstr>
      <vt:lpstr>Defining an Iterator</vt:lpstr>
      <vt:lpstr>Defining an Iterator</vt:lpstr>
      <vt:lpstr>Getting an Iterator from a Container Object</vt:lpstr>
      <vt:lpstr>Getting an Iterator from a Container Object</vt:lpstr>
      <vt:lpstr>Getting an Iterator from a Container Object</vt:lpstr>
      <vt:lpstr>Getting an Iterator from a Container Object</vt:lpstr>
      <vt:lpstr>Getting an Iterator from a Container Object</vt:lpstr>
      <vt:lpstr>Getting an Iterator from a Container Object</vt:lpstr>
      <vt:lpstr>Getting an Iterator from a Container Object</vt:lpstr>
      <vt:lpstr>Using auto to Define an Iterator</vt:lpstr>
      <vt:lpstr>Using auto to Define an Iterator</vt:lpstr>
      <vt:lpstr>Using auto to Define an Iterator</vt:lpstr>
      <vt:lpstr>Using auto to Define an Iterator</vt:lpstr>
      <vt:lpstr>Mutable Iterators and const_iterators</vt:lpstr>
      <vt:lpstr>Mutable Iterators and const_iterators</vt:lpstr>
      <vt:lpstr>Mutable Iterators and const_iterators</vt:lpstr>
      <vt:lpstr>Mutable Iterators and const_iterators</vt:lpstr>
      <vt:lpstr>Mutable Iterators and const_iterators</vt:lpstr>
      <vt:lpstr>Reverse Iterators</vt:lpstr>
      <vt:lpstr>Reverse Iterators</vt:lpstr>
      <vt:lpstr>Reverse Iterators</vt:lpstr>
      <vt:lpstr>Reverse Iterators</vt:lpstr>
      <vt:lpstr>Reverse Iterators</vt:lpstr>
      <vt:lpstr>Reverse Iterators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MD Romael Haque</dc:creator>
  <cp:lastModifiedBy>MD Romael Haque</cp:lastModifiedBy>
  <cp:revision>14</cp:revision>
  <dcterms:created xsi:type="dcterms:W3CDTF">2024-11-20T17:03:17Z</dcterms:created>
  <dcterms:modified xsi:type="dcterms:W3CDTF">2024-12-10T11:27:15Z</dcterms:modified>
</cp:coreProperties>
</file>