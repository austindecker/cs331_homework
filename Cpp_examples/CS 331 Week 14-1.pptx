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7" r:id="rId2"/>
    <p:sldId id="318" r:id="rId3"/>
    <p:sldId id="319" r:id="rId4"/>
    <p:sldId id="320" r:id="rId5"/>
    <p:sldId id="321" r:id="rId6"/>
    <p:sldId id="322" r:id="rId7"/>
    <p:sldId id="323" r:id="rId8"/>
    <p:sldId id="324" r:id="rId9"/>
    <p:sldId id="325" r:id="rId10"/>
    <p:sldId id="326" r:id="rId11"/>
    <p:sldId id="327" r:id="rId12"/>
    <p:sldId id="328" r:id="rId13"/>
    <p:sldId id="329" r:id="rId14"/>
    <p:sldId id="258" r:id="rId15"/>
    <p:sldId id="259" r:id="rId16"/>
    <p:sldId id="260"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 id="344" r:id="rId32"/>
    <p:sldId id="345" r:id="rId33"/>
    <p:sldId id="346" r:id="rId34"/>
    <p:sldId id="347" r:id="rId35"/>
    <p:sldId id="348" r:id="rId36"/>
    <p:sldId id="349" r:id="rId37"/>
    <p:sldId id="350" r:id="rId38"/>
    <p:sldId id="351" r:id="rId39"/>
    <p:sldId id="352" r:id="rId40"/>
    <p:sldId id="353" r:id="rId41"/>
    <p:sldId id="354" r:id="rId42"/>
    <p:sldId id="355" r:id="rId43"/>
    <p:sldId id="356" r:id="rId44"/>
    <p:sldId id="357" r:id="rId45"/>
    <p:sldId id="358" r:id="rId46"/>
    <p:sldId id="359" r:id="rId47"/>
    <p:sldId id="360" r:id="rId48"/>
    <p:sldId id="361" r:id="rId49"/>
    <p:sldId id="362" r:id="rId50"/>
    <p:sldId id="363" r:id="rId51"/>
    <p:sldId id="364" r:id="rId52"/>
    <p:sldId id="365" r:id="rId53"/>
    <p:sldId id="369" r:id="rId54"/>
    <p:sldId id="366" r:id="rId55"/>
    <p:sldId id="367" r:id="rId56"/>
    <p:sldId id="368"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ferSingleView="1">
    <p:restoredLeft sz="13769"/>
    <p:restoredTop sz="84115"/>
  </p:normalViewPr>
  <p:slideViewPr>
    <p:cSldViewPr snapToGrid="0">
      <p:cViewPr varScale="1">
        <p:scale>
          <a:sx n="149" d="100"/>
          <a:sy n="149" d="100"/>
        </p:scale>
        <p:origin x="208" y="88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FDF5A-A32C-8547-BE32-BBF162778E9A}" type="datetimeFigureOut">
              <a:rPr lang="en-US" smtClean="0"/>
              <a:t>11/26/24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42356-7B73-6841-A35C-74E1C107F8AF}" type="slidenum">
              <a:rPr lang="en-US" smtClean="0"/>
              <a:t>‹#›</a:t>
            </a:fld>
            <a:endParaRPr lang="en-US"/>
          </a:p>
        </p:txBody>
      </p:sp>
    </p:spTree>
    <p:extLst>
      <p:ext uri="{BB962C8B-B14F-4D97-AF65-F5344CB8AC3E}">
        <p14:creationId xmlns:p14="http://schemas.microsoft.com/office/powerpoint/2010/main" val="138837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19</a:t>
            </a:fld>
            <a:endParaRPr lang="en-US"/>
          </a:p>
        </p:txBody>
      </p:sp>
    </p:spTree>
    <p:extLst>
      <p:ext uri="{BB962C8B-B14F-4D97-AF65-F5344CB8AC3E}">
        <p14:creationId xmlns:p14="http://schemas.microsoft.com/office/powerpoint/2010/main" val="1465139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FC9C-394D-EB2A-8525-40184E4CA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4F5C6-E646-1A1C-9FB3-5F30633C8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17479-66C5-7532-8345-8BF9A77B14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0BFDF-0F33-438C-CF23-5D67857A8D7E}"/>
              </a:ext>
            </a:extLst>
          </p:cNvPr>
          <p:cNvSpPr>
            <a:spLocks noGrp="1"/>
          </p:cNvSpPr>
          <p:nvPr>
            <p:ph type="sldNum" sz="quarter" idx="5"/>
          </p:nvPr>
        </p:nvSpPr>
        <p:spPr/>
        <p:txBody>
          <a:bodyPr/>
          <a:lstStyle/>
          <a:p>
            <a:fld id="{C6942356-7B73-6841-A35C-74E1C107F8AF}" type="slidenum">
              <a:rPr lang="en-US" smtClean="0"/>
              <a:t>20</a:t>
            </a:fld>
            <a:endParaRPr lang="en-US"/>
          </a:p>
        </p:txBody>
      </p:sp>
    </p:spTree>
    <p:extLst>
      <p:ext uri="{BB962C8B-B14F-4D97-AF65-F5344CB8AC3E}">
        <p14:creationId xmlns:p14="http://schemas.microsoft.com/office/powerpoint/2010/main" val="1542742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gives a simple (albeit not very useful) example of using an </a:t>
            </a:r>
            <a:r>
              <a:rPr lang="en-US" dirty="0" err="1"/>
              <a:t>fstream</a:t>
            </a:r>
            <a:r>
              <a:rPr lang="en-US" dirty="0"/>
              <a:t> object to open a file for both reading and writing. It opens the file, reads and prints its contents, and then writes the word “Hello” at the end of the file. If you start with an empty file named “</a:t>
            </a:r>
            <a:r>
              <a:rPr lang="en-US" dirty="0" err="1"/>
              <a:t>inout.txt</a:t>
            </a:r>
            <a:r>
              <a:rPr lang="en-US" dirty="0"/>
              <a:t>,” repeated execution of this program will result in the word “Hello” being added to the file each time the program is run.</a:t>
            </a:r>
          </a:p>
          <a:p>
            <a:endParaRPr lang="en-US" dirty="0"/>
          </a:p>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22</a:t>
            </a:fld>
            <a:endParaRPr lang="en-US"/>
          </a:p>
        </p:txBody>
      </p:sp>
    </p:spTree>
    <p:extLst>
      <p:ext uri="{BB962C8B-B14F-4D97-AF65-F5344CB8AC3E}">
        <p14:creationId xmlns:p14="http://schemas.microsoft.com/office/powerpoint/2010/main" val="2697148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24</a:t>
            </a:fld>
            <a:endParaRPr lang="en-US"/>
          </a:p>
        </p:txBody>
      </p:sp>
    </p:spTree>
    <p:extLst>
      <p:ext uri="{BB962C8B-B14F-4D97-AF65-F5344CB8AC3E}">
        <p14:creationId xmlns:p14="http://schemas.microsoft.com/office/powerpoint/2010/main" val="288534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34</a:t>
            </a:fld>
            <a:endParaRPr lang="en-US"/>
          </a:p>
        </p:txBody>
      </p:sp>
    </p:spTree>
    <p:extLst>
      <p:ext uri="{BB962C8B-B14F-4D97-AF65-F5344CB8AC3E}">
        <p14:creationId xmlns:p14="http://schemas.microsoft.com/office/powerpoint/2010/main" val="2537207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45</a:t>
            </a:fld>
            <a:endParaRPr lang="en-US"/>
          </a:p>
        </p:txBody>
      </p:sp>
    </p:spTree>
    <p:extLst>
      <p:ext uri="{BB962C8B-B14F-4D97-AF65-F5344CB8AC3E}">
        <p14:creationId xmlns:p14="http://schemas.microsoft.com/office/powerpoint/2010/main" val="2826496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49</a:t>
            </a:fld>
            <a:endParaRPr lang="en-US"/>
          </a:p>
        </p:txBody>
      </p:sp>
    </p:spTree>
    <p:extLst>
      <p:ext uri="{BB962C8B-B14F-4D97-AF65-F5344CB8AC3E}">
        <p14:creationId xmlns:p14="http://schemas.microsoft.com/office/powerpoint/2010/main" val="1912558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B53AC-CC8C-BF6A-618C-D7BFB7CA6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F21A7-1125-35BB-5153-D3562D379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7A3E6-2931-24AA-7AAA-9022942680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50ED7-77F8-BF01-1CD7-F18EA49DFA66}"/>
              </a:ext>
            </a:extLst>
          </p:cNvPr>
          <p:cNvSpPr>
            <a:spLocks noGrp="1"/>
          </p:cNvSpPr>
          <p:nvPr>
            <p:ph type="sldNum" sz="quarter" idx="5"/>
          </p:nvPr>
        </p:nvSpPr>
        <p:spPr/>
        <p:txBody>
          <a:bodyPr/>
          <a:lstStyle/>
          <a:p>
            <a:fld id="{C6942356-7B73-6841-A35C-74E1C107F8AF}" type="slidenum">
              <a:rPr lang="en-US" smtClean="0"/>
              <a:t>53</a:t>
            </a:fld>
            <a:endParaRPr lang="en-US"/>
          </a:p>
        </p:txBody>
      </p:sp>
    </p:spTree>
    <p:extLst>
      <p:ext uri="{BB962C8B-B14F-4D97-AF65-F5344CB8AC3E}">
        <p14:creationId xmlns:p14="http://schemas.microsoft.com/office/powerpoint/2010/main" val="272108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54</a:t>
            </a:fld>
            <a:endParaRPr lang="en-US"/>
          </a:p>
        </p:txBody>
      </p:sp>
    </p:spTree>
    <p:extLst>
      <p:ext uri="{BB962C8B-B14F-4D97-AF65-F5344CB8AC3E}">
        <p14:creationId xmlns:p14="http://schemas.microsoft.com/office/powerpoint/2010/main" val="3749383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55</a:t>
            </a:fld>
            <a:endParaRPr lang="en-US"/>
          </a:p>
        </p:txBody>
      </p:sp>
    </p:spTree>
    <p:extLst>
      <p:ext uri="{BB962C8B-B14F-4D97-AF65-F5344CB8AC3E}">
        <p14:creationId xmlns:p14="http://schemas.microsoft.com/office/powerpoint/2010/main" val="2084782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913B-D918-5DCD-E1E2-C59E4DB70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449A0-7FEB-2123-E81D-B439F6B6B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9CF8F-476C-867A-2A71-43B8E60973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7465C-35F2-674C-3BC1-A111C1B67FBA}"/>
              </a:ext>
            </a:extLst>
          </p:cNvPr>
          <p:cNvSpPr>
            <a:spLocks noGrp="1"/>
          </p:cNvSpPr>
          <p:nvPr>
            <p:ph type="sldNum" sz="quarter" idx="5"/>
          </p:nvPr>
        </p:nvSpPr>
        <p:spPr/>
        <p:txBody>
          <a:bodyPr/>
          <a:lstStyle/>
          <a:p>
            <a:fld id="{C6942356-7B73-6841-A35C-74E1C107F8AF}" type="slidenum">
              <a:rPr lang="en-US" smtClean="0"/>
              <a:t>56</a:t>
            </a:fld>
            <a:endParaRPr lang="en-US"/>
          </a:p>
        </p:txBody>
      </p:sp>
    </p:spTree>
    <p:extLst>
      <p:ext uri="{BB962C8B-B14F-4D97-AF65-F5344CB8AC3E}">
        <p14:creationId xmlns:p14="http://schemas.microsoft.com/office/powerpoint/2010/main" val="1913701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5A13-B854-FEF1-5B31-E89F4CDAF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A55454-25A5-FB24-7BB4-A610D3819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72587B-5316-B024-432C-72E39D42ADFD}"/>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5" name="Footer Placeholder 4">
            <a:extLst>
              <a:ext uri="{FF2B5EF4-FFF2-40B4-BE49-F238E27FC236}">
                <a16:creationId xmlns:a16="http://schemas.microsoft.com/office/drawing/2014/main" id="{6B8A05AD-A334-7417-B5BA-C201B78D8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48CB7-6DE2-340F-BE6C-400C95B0502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56529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E20A-C054-B157-9CEA-1F4CB1A602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AA796-AF15-1136-8BF1-2AC0668964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3A8EAA-5AC0-6C29-0B19-C45A4A554100}"/>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5" name="Footer Placeholder 4">
            <a:extLst>
              <a:ext uri="{FF2B5EF4-FFF2-40B4-BE49-F238E27FC236}">
                <a16:creationId xmlns:a16="http://schemas.microsoft.com/office/drawing/2014/main" id="{B1349CB5-1429-911E-B92C-F98D5B2EF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E908C9-24B9-0B36-6AE2-1065FCFD4D5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09766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8788-5297-31E7-66F3-C7004B66CD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C5BEDA-3DDF-4A1E-03AB-C6DDEB093D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5FD719-6098-1540-27B3-D463741F6128}"/>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5" name="Footer Placeholder 4">
            <a:extLst>
              <a:ext uri="{FF2B5EF4-FFF2-40B4-BE49-F238E27FC236}">
                <a16:creationId xmlns:a16="http://schemas.microsoft.com/office/drawing/2014/main" id="{EC4D9247-4A81-5B56-9F6A-CEF5B8F5C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A2CA9-5931-01CA-02FB-6510FD9B7401}"/>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2587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C85D-2F0F-3529-47BD-3EBD0265CC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05297-B806-E6DC-3960-C65606D3A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81DB2-9D29-5D99-B5B2-D41F009C3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BFF187-5880-DDA4-7B9D-AA33B0DF1853}"/>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6" name="Footer Placeholder 5">
            <a:extLst>
              <a:ext uri="{FF2B5EF4-FFF2-40B4-BE49-F238E27FC236}">
                <a16:creationId xmlns:a16="http://schemas.microsoft.com/office/drawing/2014/main" id="{484868B9-3D0E-C8D5-B3AA-88AFF19BD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99339-A896-E3B3-0FC3-FD98813FFE3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5968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E7D8-D9E7-5C3C-D708-1EA2AE03EE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D503D-C13D-C21F-71F3-8C03A4514E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BBAD4A-3EBB-E280-1F1E-8CDC959FC1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EFF078-1BD8-4BDA-2040-D66DB72B1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94DCB-5FE9-DE22-8F28-A227C73F95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5C9F4-E7BE-C0DD-DCC6-6CA15F642A9F}"/>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8" name="Footer Placeholder 7">
            <a:extLst>
              <a:ext uri="{FF2B5EF4-FFF2-40B4-BE49-F238E27FC236}">
                <a16:creationId xmlns:a16="http://schemas.microsoft.com/office/drawing/2014/main" id="{B1203063-761A-C4B8-F6E7-FDEE437EA4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B83961-A0EB-140F-3D33-567F3923E40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3406676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A51F-92B1-EA67-F548-611673F17F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6160C-DD99-AA5A-408B-2DCD716F397C}"/>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4" name="Footer Placeholder 3">
            <a:extLst>
              <a:ext uri="{FF2B5EF4-FFF2-40B4-BE49-F238E27FC236}">
                <a16:creationId xmlns:a16="http://schemas.microsoft.com/office/drawing/2014/main" id="{F9FE18C4-63A9-149B-450C-184E96549A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F24E41-A0DD-FE17-0361-5365C57F8C09}"/>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792577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37C97A-4E62-6B3D-9A4F-CD8A09B65715}"/>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3" name="Footer Placeholder 2">
            <a:extLst>
              <a:ext uri="{FF2B5EF4-FFF2-40B4-BE49-F238E27FC236}">
                <a16:creationId xmlns:a16="http://schemas.microsoft.com/office/drawing/2014/main" id="{DE930152-4671-32A9-6B67-369A92674B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BF3506-875B-C506-6876-FD0D1971AF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5133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95C23-AF3E-B01F-67EC-EF453D8637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0811C3-C184-DB58-8DFA-8556AEEE15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2DA31C-62CD-4699-F1C4-3FEE57417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B9975-8A8D-A2A9-CC31-3CB96807C25A}"/>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6" name="Footer Placeholder 5">
            <a:extLst>
              <a:ext uri="{FF2B5EF4-FFF2-40B4-BE49-F238E27FC236}">
                <a16:creationId xmlns:a16="http://schemas.microsoft.com/office/drawing/2014/main" id="{4B9D317E-67F6-24F1-C975-03907CA17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2C7BE-29F4-B867-22B5-E8F482E5BF8E}"/>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661941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6DBB-9E9E-26F8-2E74-3182B342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E70FF9-9C1E-7F10-21DD-AD94BB9E82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9B9170-07B9-98AF-208B-0643E70A9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7150B-1601-0DAE-8B13-4E76F0478315}"/>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6" name="Footer Placeholder 5">
            <a:extLst>
              <a:ext uri="{FF2B5EF4-FFF2-40B4-BE49-F238E27FC236}">
                <a16:creationId xmlns:a16="http://schemas.microsoft.com/office/drawing/2014/main" id="{B8D37555-82FF-9BB2-70F4-8A9523E48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CAAC5-27BE-8990-B819-31E31F700C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70859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883C-6BD0-A51A-B2F0-70D6A4FE3B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128BC8-58C5-80CB-AE01-C5EEA848D8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3496B-C632-32DF-C3D1-5DAF18A32304}"/>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5" name="Footer Placeholder 4">
            <a:extLst>
              <a:ext uri="{FF2B5EF4-FFF2-40B4-BE49-F238E27FC236}">
                <a16:creationId xmlns:a16="http://schemas.microsoft.com/office/drawing/2014/main" id="{DEB93420-2EFF-120F-CD65-8FEB397E9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28D61-73D2-8C27-E682-0C43A5282682}"/>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29412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67A467-DE99-E6E3-1BA6-B85CE6E13B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1E3499-B99D-0687-4C87-50DD68556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EEF18-BC9C-07B3-3D4F-4E6622AD86ED}"/>
              </a:ext>
            </a:extLst>
          </p:cNvPr>
          <p:cNvSpPr>
            <a:spLocks noGrp="1"/>
          </p:cNvSpPr>
          <p:nvPr>
            <p:ph type="dt" sz="half" idx="10"/>
          </p:nvPr>
        </p:nvSpPr>
        <p:spPr/>
        <p:txBody>
          <a:bodyPr/>
          <a:lstStyle/>
          <a:p>
            <a:fld id="{13029EDB-FFA8-DA40-8313-CEFECF7259ED}" type="datetimeFigureOut">
              <a:rPr lang="en-US" smtClean="0"/>
              <a:t>11/26/24</a:t>
            </a:fld>
            <a:endParaRPr lang="en-US"/>
          </a:p>
        </p:txBody>
      </p:sp>
      <p:sp>
        <p:nvSpPr>
          <p:cNvPr id="5" name="Footer Placeholder 4">
            <a:extLst>
              <a:ext uri="{FF2B5EF4-FFF2-40B4-BE49-F238E27FC236}">
                <a16:creationId xmlns:a16="http://schemas.microsoft.com/office/drawing/2014/main" id="{800A473C-BA58-0A97-9DDA-4C61B89BE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D191D6-0922-60FB-67F1-B898480D4D90}"/>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24957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14785-6E2D-3051-1A2A-F615A32F2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AED476-0069-65CB-C881-B0D2C5B09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9841C-6D16-B62B-959F-D0057314E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029EDB-FFA8-DA40-8313-CEFECF7259ED}" type="datetimeFigureOut">
              <a:rPr lang="en-US" smtClean="0"/>
              <a:t>11/26/24</a:t>
            </a:fld>
            <a:endParaRPr lang="en-US"/>
          </a:p>
        </p:txBody>
      </p:sp>
      <p:sp>
        <p:nvSpPr>
          <p:cNvPr id="5" name="Footer Placeholder 4">
            <a:extLst>
              <a:ext uri="{FF2B5EF4-FFF2-40B4-BE49-F238E27FC236}">
                <a16:creationId xmlns:a16="http://schemas.microsoft.com/office/drawing/2014/main" id="{9F3D9F6A-827D-EDB2-31EC-A56572A1BD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88BF2A-DB4D-5728-06A8-65BDA379C8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8EE3C-F706-004C-A6D7-32EE5C5EF9A9}" type="slidenum">
              <a:rPr lang="en-US" smtClean="0"/>
              <a:t>‹#›</a:t>
            </a:fld>
            <a:endParaRPr lang="en-US"/>
          </a:p>
        </p:txBody>
      </p:sp>
    </p:spTree>
    <p:extLst>
      <p:ext uri="{BB962C8B-B14F-4D97-AF65-F5344CB8AC3E}">
        <p14:creationId xmlns:p14="http://schemas.microsoft.com/office/powerpoint/2010/main" val="3076257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0fc28682-a556-46b3-b08e-3fc736d62c10?userPreferredType=read&amp;iesCode=C3KZEm4ygu"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plus.pearson.com/products/38bfda0e-08b5-4b34-9a14-38c88560fefb/pages/urn:pearson:entity:a3c6ad55-3417-49e1-a0ec-2a5ccdfe7429?userPreferredType=study&amp;iesCode=uIUKCnEXyj"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a3c6ad55-3417-49e1-a0ec-2a5ccdfe7429?userPreferredType=study&amp;iesCode=uIUKCnEXyj"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b8a586f6-bdf5-4b2c-898f-b6d7b7f9a503?userPreferredType=study&amp;iesCode=nw1z9pRUjb"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a:t>
            </a:r>
            <a:r>
              <a:rPr lang="en-US" b="1" dirty="0"/>
              <a:t>Advanced File and I/O Operations</a:t>
            </a:r>
          </a:p>
          <a:p>
            <a:r>
              <a:rPr lang="en-US" dirty="0"/>
              <a:t>MD Romael Haque</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0E63F-7524-EAD1-E78B-C7C19F3BD011}"/>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D8C6BD28-C769-ECAA-1A41-96350792F46D}"/>
              </a:ext>
            </a:extLst>
          </p:cNvPr>
          <p:cNvSpPr>
            <a:spLocks noGrp="1"/>
          </p:cNvSpPr>
          <p:nvPr>
            <p:ph idx="1"/>
          </p:nvPr>
        </p:nvSpPr>
        <p:spPr/>
        <p:txBody>
          <a:bodyPr/>
          <a:lstStyle/>
          <a:p>
            <a:r>
              <a:rPr lang="en-US" dirty="0"/>
              <a:t>C++ 11 provides several </a:t>
            </a:r>
            <a:r>
              <a:rPr lang="en-US" dirty="0" err="1"/>
              <a:t>to_string</a:t>
            </a:r>
            <a:r>
              <a:rPr lang="en-US" dirty="0"/>
              <a:t>(T value) functions to convert a numeric value of type T to string form. Here is a list of a few of the </a:t>
            </a:r>
            <a:r>
              <a:rPr lang="en-US" dirty="0" err="1"/>
              <a:t>to_string</a:t>
            </a:r>
            <a:r>
              <a:rPr lang="en-US" dirty="0"/>
              <a:t>() functions:</a:t>
            </a:r>
          </a:p>
          <a:p>
            <a:r>
              <a:rPr lang="en-US" dirty="0"/>
              <a:t>string </a:t>
            </a:r>
            <a:r>
              <a:rPr lang="en-US" b="1" dirty="0" err="1">
                <a:solidFill>
                  <a:srgbClr val="990000"/>
                </a:solidFill>
                <a:effectLst/>
              </a:rPr>
              <a:t>to_string</a:t>
            </a:r>
            <a:r>
              <a:rPr lang="en-US" dirty="0"/>
              <a:t>(</a:t>
            </a:r>
            <a:r>
              <a:rPr lang="en-US" b="1" dirty="0">
                <a:solidFill>
                  <a:srgbClr val="333333"/>
                </a:solidFill>
                <a:effectLst/>
              </a:rPr>
              <a:t>int</a:t>
            </a:r>
            <a:r>
              <a:rPr lang="en-US" dirty="0"/>
              <a:t> value) </a:t>
            </a:r>
          </a:p>
          <a:p>
            <a:r>
              <a:rPr lang="en-US" dirty="0"/>
              <a:t>string </a:t>
            </a:r>
            <a:r>
              <a:rPr lang="en-US" b="1" dirty="0" err="1">
                <a:solidFill>
                  <a:srgbClr val="990000"/>
                </a:solidFill>
                <a:effectLst/>
              </a:rPr>
              <a:t>to_string</a:t>
            </a:r>
            <a:r>
              <a:rPr lang="en-US" dirty="0"/>
              <a:t>(</a:t>
            </a:r>
            <a:r>
              <a:rPr lang="en-US" b="1" dirty="0">
                <a:solidFill>
                  <a:srgbClr val="333333"/>
                </a:solidFill>
                <a:effectLst/>
              </a:rPr>
              <a:t>long</a:t>
            </a:r>
            <a:r>
              <a:rPr lang="en-US" dirty="0"/>
              <a:t> value) </a:t>
            </a:r>
          </a:p>
          <a:p>
            <a:r>
              <a:rPr lang="en-US" dirty="0"/>
              <a:t>string </a:t>
            </a:r>
            <a:r>
              <a:rPr lang="en-US" b="1" dirty="0" err="1">
                <a:solidFill>
                  <a:srgbClr val="990000"/>
                </a:solidFill>
                <a:effectLst/>
              </a:rPr>
              <a:t>to_string</a:t>
            </a:r>
            <a:r>
              <a:rPr lang="en-US" dirty="0"/>
              <a:t>(</a:t>
            </a:r>
            <a:r>
              <a:rPr lang="en-US" b="1" dirty="0">
                <a:solidFill>
                  <a:srgbClr val="333333"/>
                </a:solidFill>
                <a:effectLst/>
              </a:rPr>
              <a:t>double</a:t>
            </a:r>
            <a:r>
              <a:rPr lang="en-US" dirty="0"/>
              <a:t> value) </a:t>
            </a:r>
          </a:p>
        </p:txBody>
      </p:sp>
    </p:spTree>
    <p:extLst>
      <p:ext uri="{BB962C8B-B14F-4D97-AF65-F5344CB8AC3E}">
        <p14:creationId xmlns:p14="http://schemas.microsoft.com/office/powerpoint/2010/main" val="320601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8C73-BE42-0309-17F3-B2E5DDE7E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7A14F-0348-0BD2-443B-207E94177C0B}"/>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8D4FD0F1-FE91-53F8-D85F-6A4CEC96DE27}"/>
              </a:ext>
            </a:extLst>
          </p:cNvPr>
          <p:cNvSpPr>
            <a:spLocks noGrp="1"/>
          </p:cNvSpPr>
          <p:nvPr>
            <p:ph idx="1"/>
          </p:nvPr>
        </p:nvSpPr>
        <p:spPr/>
        <p:txBody>
          <a:bodyPr/>
          <a:lstStyle/>
          <a:p>
            <a:r>
              <a:rPr lang="en-US" dirty="0"/>
              <a:t>The following code fragment illustrates how to use this family of functions. It prints the string</a:t>
            </a:r>
          </a:p>
        </p:txBody>
      </p:sp>
      <p:pic>
        <p:nvPicPr>
          <p:cNvPr id="4" name="Picture 3">
            <a:extLst>
              <a:ext uri="{FF2B5EF4-FFF2-40B4-BE49-F238E27FC236}">
                <a16:creationId xmlns:a16="http://schemas.microsoft.com/office/drawing/2014/main" id="{7FEC85CC-89A7-C568-7254-DA706C22582D}"/>
              </a:ext>
            </a:extLst>
          </p:cNvPr>
          <p:cNvPicPr>
            <a:picLocks noChangeAspect="1"/>
          </p:cNvPicPr>
          <p:nvPr/>
        </p:nvPicPr>
        <p:blipFill>
          <a:blip r:embed="rId2"/>
          <a:stretch>
            <a:fillRect/>
          </a:stretch>
        </p:blipFill>
        <p:spPr>
          <a:xfrm>
            <a:off x="3586529" y="3203121"/>
            <a:ext cx="5018942" cy="1118507"/>
          </a:xfrm>
          <a:prstGeom prst="rect">
            <a:avLst/>
          </a:prstGeom>
        </p:spPr>
      </p:pic>
    </p:spTree>
    <p:extLst>
      <p:ext uri="{BB962C8B-B14F-4D97-AF65-F5344CB8AC3E}">
        <p14:creationId xmlns:p14="http://schemas.microsoft.com/office/powerpoint/2010/main" val="1746018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5A86-4D61-0341-F013-F05D7815129C}"/>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ED05B9A9-C301-2B67-A48F-718B215FF678}"/>
              </a:ext>
            </a:extLst>
          </p:cNvPr>
          <p:cNvSpPr>
            <a:spLocks noGrp="1"/>
          </p:cNvSpPr>
          <p:nvPr>
            <p:ph idx="1"/>
          </p:nvPr>
        </p:nvSpPr>
        <p:spPr/>
        <p:txBody>
          <a:bodyPr/>
          <a:lstStyle/>
          <a:p>
            <a:pPr algn="l"/>
            <a:r>
              <a:rPr lang="en-US" dirty="0">
                <a:effectLst/>
              </a:rPr>
              <a:t>The string-to-numeric conversions are performed by the family of </a:t>
            </a:r>
            <a:r>
              <a:rPr lang="en-US" dirty="0" err="1">
                <a:effectLst/>
              </a:rPr>
              <a:t>stoX</a:t>
            </a:r>
            <a:r>
              <a:rPr lang="en-US" dirty="0">
                <a:effectLst/>
              </a:rPr>
              <a:t>() functions. </a:t>
            </a:r>
          </a:p>
          <a:p>
            <a:pPr algn="l"/>
            <a:r>
              <a:rPr lang="en-US" dirty="0">
                <a:effectLst/>
              </a:rPr>
              <a:t>The members of this family that perform string conversions to int, long, float, and double are</a:t>
            </a:r>
          </a:p>
          <a:p>
            <a:endParaRPr lang="en-US" dirty="0"/>
          </a:p>
        </p:txBody>
      </p:sp>
      <p:pic>
        <p:nvPicPr>
          <p:cNvPr id="4" name="Picture 3">
            <a:extLst>
              <a:ext uri="{FF2B5EF4-FFF2-40B4-BE49-F238E27FC236}">
                <a16:creationId xmlns:a16="http://schemas.microsoft.com/office/drawing/2014/main" id="{0FC41843-8F70-BF78-7CCA-7D21253F9D52}"/>
              </a:ext>
            </a:extLst>
          </p:cNvPr>
          <p:cNvPicPr>
            <a:picLocks noChangeAspect="1"/>
          </p:cNvPicPr>
          <p:nvPr/>
        </p:nvPicPr>
        <p:blipFill>
          <a:blip r:embed="rId2"/>
          <a:stretch>
            <a:fillRect/>
          </a:stretch>
        </p:blipFill>
        <p:spPr>
          <a:xfrm>
            <a:off x="2257444" y="3681186"/>
            <a:ext cx="7677112" cy="1522186"/>
          </a:xfrm>
          <a:prstGeom prst="rect">
            <a:avLst/>
          </a:prstGeom>
        </p:spPr>
      </p:pic>
    </p:spTree>
    <p:extLst>
      <p:ext uri="{BB962C8B-B14F-4D97-AF65-F5344CB8AC3E}">
        <p14:creationId xmlns:p14="http://schemas.microsoft.com/office/powerpoint/2010/main" val="930857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08DA5-A7A5-4BB4-A970-01214C6C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EF765-73B5-F605-8619-3DBF933B5FFD}"/>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E3B20C1F-B0B9-EB4B-B231-2F50E6F4DE33}"/>
              </a:ext>
            </a:extLst>
          </p:cNvPr>
          <p:cNvSpPr>
            <a:spLocks noGrp="1"/>
          </p:cNvSpPr>
          <p:nvPr>
            <p:ph idx="1"/>
          </p:nvPr>
        </p:nvSpPr>
        <p:spPr/>
        <p:txBody>
          <a:bodyPr>
            <a:normAutofit/>
          </a:bodyPr>
          <a:lstStyle/>
          <a:p>
            <a:r>
              <a:rPr lang="en-US" dirty="0"/>
              <a:t>The first parameter, str, is a string (such as "−342" or "3.48") to be converted to an appropriate numeric form. </a:t>
            </a:r>
          </a:p>
          <a:p>
            <a:r>
              <a:rPr lang="en-US" dirty="0"/>
              <a:t>These functions will convert to numeric the longest prefix of str possible and return in pos the address of an integer in which to store the index of the first character of str that could not be converted. </a:t>
            </a:r>
          </a:p>
        </p:txBody>
      </p:sp>
      <p:pic>
        <p:nvPicPr>
          <p:cNvPr id="4" name="Picture 3">
            <a:extLst>
              <a:ext uri="{FF2B5EF4-FFF2-40B4-BE49-F238E27FC236}">
                <a16:creationId xmlns:a16="http://schemas.microsoft.com/office/drawing/2014/main" id="{D35E66C2-26D7-0DE4-F726-6787448FF5E7}"/>
              </a:ext>
            </a:extLst>
          </p:cNvPr>
          <p:cNvPicPr>
            <a:picLocks noChangeAspect="1"/>
          </p:cNvPicPr>
          <p:nvPr/>
        </p:nvPicPr>
        <p:blipFill>
          <a:blip r:embed="rId2"/>
          <a:stretch>
            <a:fillRect/>
          </a:stretch>
        </p:blipFill>
        <p:spPr>
          <a:xfrm>
            <a:off x="2257444" y="4654777"/>
            <a:ext cx="7677112" cy="1522186"/>
          </a:xfrm>
          <a:prstGeom prst="rect">
            <a:avLst/>
          </a:prstGeom>
        </p:spPr>
      </p:pic>
    </p:spTree>
    <p:extLst>
      <p:ext uri="{BB962C8B-B14F-4D97-AF65-F5344CB8AC3E}">
        <p14:creationId xmlns:p14="http://schemas.microsoft.com/office/powerpoint/2010/main" val="1759214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0C429-AE81-8C51-0423-9B85E86ECDEB}"/>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A1BFD69F-B740-EDB8-79B1-41D19327350D}"/>
              </a:ext>
            </a:extLst>
          </p:cNvPr>
          <p:cNvSpPr>
            <a:spLocks noGrp="1"/>
          </p:cNvSpPr>
          <p:nvPr>
            <p:ph idx="1"/>
          </p:nvPr>
        </p:nvSpPr>
        <p:spPr/>
        <p:txBody>
          <a:bodyPr/>
          <a:lstStyle/>
          <a:p>
            <a:r>
              <a:rPr lang="en-US" dirty="0"/>
              <a:t>The type </a:t>
            </a:r>
            <a:r>
              <a:rPr lang="en-US" dirty="0" err="1"/>
              <a:t>size_t</a:t>
            </a:r>
            <a:r>
              <a:rPr lang="en-US" dirty="0"/>
              <a:t> is defined in the standard library and is commonly used to represent an unsigned integer that is the size of, or an index into, an array, vector, or string. </a:t>
            </a:r>
          </a:p>
          <a:p>
            <a:r>
              <a:rPr lang="en-US" dirty="0"/>
              <a:t>For example, an attempt to convert the string </a:t>
            </a:r>
            <a:r>
              <a:rPr lang="en-US" b="1" dirty="0"/>
              <a:t>"−34is even" </a:t>
            </a:r>
            <a:r>
              <a:rPr lang="en-US" dirty="0"/>
              <a:t>will succeed and return the integer −34 and set the position of the first character that could not be converted to 3.</a:t>
            </a:r>
          </a:p>
        </p:txBody>
      </p:sp>
      <p:pic>
        <p:nvPicPr>
          <p:cNvPr id="4" name="Picture 3">
            <a:extLst>
              <a:ext uri="{FF2B5EF4-FFF2-40B4-BE49-F238E27FC236}">
                <a16:creationId xmlns:a16="http://schemas.microsoft.com/office/drawing/2014/main" id="{CC29F320-3143-2239-2E65-600EBD0BED8A}"/>
              </a:ext>
            </a:extLst>
          </p:cNvPr>
          <p:cNvPicPr>
            <a:picLocks noChangeAspect="1"/>
          </p:cNvPicPr>
          <p:nvPr/>
        </p:nvPicPr>
        <p:blipFill>
          <a:blip r:embed="rId2"/>
          <a:stretch>
            <a:fillRect/>
          </a:stretch>
        </p:blipFill>
        <p:spPr>
          <a:xfrm>
            <a:off x="2257444" y="4663323"/>
            <a:ext cx="7677112" cy="1522186"/>
          </a:xfrm>
          <a:prstGeom prst="rect">
            <a:avLst/>
          </a:prstGeom>
        </p:spPr>
      </p:pic>
    </p:spTree>
    <p:extLst>
      <p:ext uri="{BB962C8B-B14F-4D97-AF65-F5344CB8AC3E}">
        <p14:creationId xmlns:p14="http://schemas.microsoft.com/office/powerpoint/2010/main" val="1638355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776-6C10-F4AE-727D-993E89EDE03D}"/>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9F94EE68-B124-BAEE-B657-1D78D9EE6F04}"/>
              </a:ext>
            </a:extLst>
          </p:cNvPr>
          <p:cNvSpPr>
            <a:spLocks noGrp="1"/>
          </p:cNvSpPr>
          <p:nvPr>
            <p:ph idx="1"/>
          </p:nvPr>
        </p:nvSpPr>
        <p:spPr/>
        <p:txBody>
          <a:bodyPr/>
          <a:lstStyle/>
          <a:p>
            <a:r>
              <a:rPr lang="en-US" dirty="0"/>
              <a:t>The base parameter applies for integral conversions only and indicates the base to be used for the conversion. </a:t>
            </a:r>
          </a:p>
          <a:p>
            <a:r>
              <a:rPr lang="en-US" dirty="0"/>
              <a:t>The pos and base parameters are optional, so they can be omitted. </a:t>
            </a:r>
          </a:p>
          <a:p>
            <a:r>
              <a:rPr lang="en-US" dirty="0"/>
              <a:t>If pos is omitted, the index of the stopping character is not stored; and if base is omitted, it is assumed to be 10. </a:t>
            </a:r>
          </a:p>
          <a:p>
            <a:r>
              <a:rPr lang="en-US" dirty="0"/>
              <a:t>If the string str has an invalid value, such as “is −34 even?", then no conversion can be performed and the function throws an </a:t>
            </a:r>
            <a:r>
              <a:rPr lang="en-US" dirty="0" err="1"/>
              <a:t>invalid_argument</a:t>
            </a:r>
            <a:r>
              <a:rPr lang="en-US" dirty="0"/>
              <a:t> exception</a:t>
            </a:r>
          </a:p>
        </p:txBody>
      </p:sp>
    </p:spTree>
    <p:extLst>
      <p:ext uri="{BB962C8B-B14F-4D97-AF65-F5344CB8AC3E}">
        <p14:creationId xmlns:p14="http://schemas.microsoft.com/office/powerpoint/2010/main" val="1597763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1D11-135D-A266-E147-2AD305ABE53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0DB957FC-AB60-6B8D-E3BE-C6D9942602B6}"/>
              </a:ext>
            </a:extLst>
          </p:cNvPr>
          <p:cNvPicPr>
            <a:picLocks noChangeAspect="1"/>
          </p:cNvPicPr>
          <p:nvPr/>
        </p:nvPicPr>
        <p:blipFill>
          <a:blip r:embed="rId2"/>
          <a:stretch>
            <a:fillRect/>
          </a:stretch>
        </p:blipFill>
        <p:spPr>
          <a:xfrm>
            <a:off x="250370" y="1690688"/>
            <a:ext cx="5237797" cy="4252912"/>
          </a:xfrm>
          <a:prstGeom prst="rect">
            <a:avLst/>
          </a:prstGeom>
        </p:spPr>
      </p:pic>
      <p:pic>
        <p:nvPicPr>
          <p:cNvPr id="5" name="Picture 4">
            <a:extLst>
              <a:ext uri="{FF2B5EF4-FFF2-40B4-BE49-F238E27FC236}">
                <a16:creationId xmlns:a16="http://schemas.microsoft.com/office/drawing/2014/main" id="{05B616CA-0C01-3F69-9C6E-5DD44CBBFCDF}"/>
              </a:ext>
            </a:extLst>
          </p:cNvPr>
          <p:cNvPicPr>
            <a:picLocks noChangeAspect="1"/>
          </p:cNvPicPr>
          <p:nvPr/>
        </p:nvPicPr>
        <p:blipFill>
          <a:blip r:embed="rId3"/>
          <a:stretch>
            <a:fillRect/>
          </a:stretch>
        </p:blipFill>
        <p:spPr>
          <a:xfrm>
            <a:off x="5717721" y="179332"/>
            <a:ext cx="4306265" cy="3467382"/>
          </a:xfrm>
          <a:prstGeom prst="rect">
            <a:avLst/>
          </a:prstGeom>
        </p:spPr>
      </p:pic>
      <p:pic>
        <p:nvPicPr>
          <p:cNvPr id="7" name="Picture 6">
            <a:extLst>
              <a:ext uri="{FF2B5EF4-FFF2-40B4-BE49-F238E27FC236}">
                <a16:creationId xmlns:a16="http://schemas.microsoft.com/office/drawing/2014/main" id="{0666D059-A60A-65C4-4E52-047D0290E00F}"/>
              </a:ext>
            </a:extLst>
          </p:cNvPr>
          <p:cNvPicPr>
            <a:picLocks noChangeAspect="1"/>
          </p:cNvPicPr>
          <p:nvPr/>
        </p:nvPicPr>
        <p:blipFill>
          <a:blip r:embed="rId4"/>
          <a:stretch>
            <a:fillRect/>
          </a:stretch>
        </p:blipFill>
        <p:spPr>
          <a:xfrm>
            <a:off x="6966857" y="3860800"/>
            <a:ext cx="4495800" cy="2997200"/>
          </a:xfrm>
          <a:prstGeom prst="rect">
            <a:avLst/>
          </a:prstGeom>
        </p:spPr>
      </p:pic>
    </p:spTree>
    <p:extLst>
      <p:ext uri="{BB962C8B-B14F-4D97-AF65-F5344CB8AC3E}">
        <p14:creationId xmlns:p14="http://schemas.microsoft.com/office/powerpoint/2010/main" val="3457245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DD7D-5EF6-634D-5927-34F45E7B6472}"/>
              </a:ext>
            </a:extLst>
          </p:cNvPr>
          <p:cNvSpPr>
            <a:spLocks noGrp="1"/>
          </p:cNvSpPr>
          <p:nvPr>
            <p:ph type="title"/>
          </p:nvPr>
        </p:nvSpPr>
        <p:spPr/>
        <p:txBody>
          <a:bodyPr/>
          <a:lstStyle/>
          <a:p>
            <a:r>
              <a:rPr lang="en-US" dirty="0"/>
              <a:t>Writing Your Own C-String Handling Functions</a:t>
            </a:r>
          </a:p>
        </p:txBody>
      </p:sp>
      <p:sp>
        <p:nvSpPr>
          <p:cNvPr id="3" name="Content Placeholder 2">
            <a:extLst>
              <a:ext uri="{FF2B5EF4-FFF2-40B4-BE49-F238E27FC236}">
                <a16:creationId xmlns:a16="http://schemas.microsoft.com/office/drawing/2014/main" id="{C7AC8C81-7163-126A-D880-C26935400216}"/>
              </a:ext>
            </a:extLst>
          </p:cNvPr>
          <p:cNvSpPr>
            <a:spLocks noGrp="1"/>
          </p:cNvSpPr>
          <p:nvPr>
            <p:ph idx="1"/>
          </p:nvPr>
        </p:nvSpPr>
        <p:spPr>
          <a:xfrm>
            <a:off x="152400" y="1836509"/>
            <a:ext cx="6948685" cy="4814661"/>
          </a:xfrm>
        </p:spPr>
        <p:txBody>
          <a:bodyPr>
            <a:normAutofit fontScale="92500" lnSpcReduction="20000"/>
          </a:bodyPr>
          <a:lstStyle/>
          <a:p>
            <a:r>
              <a:rPr lang="en-US" dirty="0"/>
              <a:t>You can design your own specialized functions for manipulating strings.</a:t>
            </a:r>
          </a:p>
          <a:p>
            <a:r>
              <a:rPr lang="en-US" dirty="0"/>
              <a:t>Notice that here the function </a:t>
            </a:r>
            <a:r>
              <a:rPr lang="en-US" dirty="0" err="1">
                <a:solidFill>
                  <a:srgbClr val="FF0000"/>
                </a:solidFill>
              </a:rPr>
              <a:t>stringCopy</a:t>
            </a:r>
            <a:r>
              <a:rPr lang="en-US" dirty="0"/>
              <a:t> does not accept an argument indicating the size of the arrays.</a:t>
            </a:r>
          </a:p>
          <a:p>
            <a:r>
              <a:rPr lang="en-US" dirty="0"/>
              <a:t> It simply copies the characters from the source string to the destination until it encounters a null terminator in the source string. </a:t>
            </a:r>
          </a:p>
          <a:p>
            <a:r>
              <a:rPr lang="en-US" dirty="0"/>
              <a:t>When the null terminator is found, the loop has reached the end of the C-string. =</a:t>
            </a:r>
          </a:p>
          <a:p>
            <a:r>
              <a:rPr lang="en-US" dirty="0"/>
              <a:t>The last statement in the function assigns a null terminator (the '\0' character) to the end of string2, so it is properly terminated.</a:t>
            </a:r>
          </a:p>
        </p:txBody>
      </p:sp>
      <p:pic>
        <p:nvPicPr>
          <p:cNvPr id="4" name="Picture 3">
            <a:extLst>
              <a:ext uri="{FF2B5EF4-FFF2-40B4-BE49-F238E27FC236}">
                <a16:creationId xmlns:a16="http://schemas.microsoft.com/office/drawing/2014/main" id="{CD50BDA0-2E19-34CA-AF42-D7D5AC83DAE6}"/>
              </a:ext>
            </a:extLst>
          </p:cNvPr>
          <p:cNvPicPr>
            <a:picLocks noChangeAspect="1"/>
          </p:cNvPicPr>
          <p:nvPr/>
        </p:nvPicPr>
        <p:blipFill>
          <a:blip r:embed="rId2"/>
          <a:stretch>
            <a:fillRect/>
          </a:stretch>
        </p:blipFill>
        <p:spPr>
          <a:xfrm>
            <a:off x="6948685" y="2195738"/>
            <a:ext cx="5243315" cy="3160033"/>
          </a:xfrm>
          <a:prstGeom prst="rect">
            <a:avLst/>
          </a:prstGeom>
        </p:spPr>
      </p:pic>
    </p:spTree>
    <p:extLst>
      <p:ext uri="{BB962C8B-B14F-4D97-AF65-F5344CB8AC3E}">
        <p14:creationId xmlns:p14="http://schemas.microsoft.com/office/powerpoint/2010/main" val="2485091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5ACF-495B-314C-C02E-F1CAC93F7D2B}"/>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1E091D94-00FC-835D-5CC3-A0FB227F938C}"/>
              </a:ext>
            </a:extLst>
          </p:cNvPr>
          <p:cNvSpPr>
            <a:spLocks noGrp="1"/>
          </p:cNvSpPr>
          <p:nvPr>
            <p:ph idx="1"/>
          </p:nvPr>
        </p:nvSpPr>
        <p:spPr/>
        <p:txBody>
          <a:bodyPr/>
          <a:lstStyle/>
          <a:p>
            <a:r>
              <a:rPr lang="en-US" dirty="0"/>
              <a:t>Pointers are extremely useful for writing functions that process C-strings. </a:t>
            </a:r>
          </a:p>
          <a:p>
            <a:r>
              <a:rPr lang="en-US" dirty="0"/>
              <a:t>If the starting address of a string is passed into a pointer parameter variable, it can be assumed that all the characters, from that address up to the byte that holds the null terminator are part of the string. </a:t>
            </a:r>
          </a:p>
          <a:p>
            <a:r>
              <a:rPr lang="en-US" dirty="0"/>
              <a:t>So, it isn’t necessary to know the length of the array that holds the string.)</a:t>
            </a:r>
          </a:p>
        </p:txBody>
      </p:sp>
    </p:spTree>
    <p:extLst>
      <p:ext uri="{BB962C8B-B14F-4D97-AF65-F5344CB8AC3E}">
        <p14:creationId xmlns:p14="http://schemas.microsoft.com/office/powerpoint/2010/main" val="3706565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AB406-FCDA-B2D0-EAAA-34691286A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8FC74-45EB-4BBE-549D-501C4E69F1B1}"/>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C5C0C92C-3205-A31F-CA83-64EB054FB3EC}"/>
              </a:ext>
            </a:extLst>
          </p:cNvPr>
          <p:cNvSpPr>
            <a:spLocks noGrp="1"/>
          </p:cNvSpPr>
          <p:nvPr>
            <p:ph idx="1"/>
          </p:nvPr>
        </p:nvSpPr>
        <p:spPr>
          <a:xfrm>
            <a:off x="838200" y="1825625"/>
            <a:ext cx="4680857" cy="4351338"/>
          </a:xfrm>
        </p:spPr>
        <p:txBody>
          <a:bodyPr>
            <a:normAutofit/>
          </a:bodyPr>
          <a:lstStyle/>
          <a:p>
            <a:r>
              <a:rPr lang="en-US" dirty="0"/>
              <a:t>In the function </a:t>
            </a:r>
            <a:r>
              <a:rPr lang="en-US" dirty="0" err="1">
                <a:solidFill>
                  <a:srgbClr val="FF0000"/>
                </a:solidFill>
              </a:rPr>
              <a:t>countChars</a:t>
            </a:r>
            <a:r>
              <a:rPr lang="en-US" dirty="0"/>
              <a:t>, </a:t>
            </a:r>
            <a:r>
              <a:rPr lang="en-US" dirty="0" err="1">
                <a:solidFill>
                  <a:srgbClr val="FF0000"/>
                </a:solidFill>
              </a:rPr>
              <a:t>strPtr</a:t>
            </a:r>
            <a:r>
              <a:rPr lang="en-US" dirty="0"/>
              <a:t> points to the C-string that is to be searched and </a:t>
            </a:r>
            <a:r>
              <a:rPr lang="en-US" dirty="0" err="1">
                <a:solidFill>
                  <a:srgbClr val="FF0000"/>
                </a:solidFill>
              </a:rPr>
              <a:t>ch</a:t>
            </a:r>
            <a:r>
              <a:rPr lang="en-US" dirty="0"/>
              <a:t> contains the character to look for. </a:t>
            </a:r>
          </a:p>
          <a:p>
            <a:r>
              <a:rPr lang="en-US" dirty="0"/>
              <a:t>The while loop repeats as long the character </a:t>
            </a:r>
            <a:r>
              <a:rPr lang="en-US" dirty="0" err="1"/>
              <a:t>strPtr</a:t>
            </a:r>
            <a:r>
              <a:rPr lang="en-US" dirty="0"/>
              <a:t> points to is not the null terminator</a:t>
            </a:r>
          </a:p>
        </p:txBody>
      </p:sp>
      <p:pic>
        <p:nvPicPr>
          <p:cNvPr id="4" name="Picture 3">
            <a:extLst>
              <a:ext uri="{FF2B5EF4-FFF2-40B4-BE49-F238E27FC236}">
                <a16:creationId xmlns:a16="http://schemas.microsoft.com/office/drawing/2014/main" id="{BCAB1CA3-3355-A108-9C1B-41B1BAAFF405}"/>
              </a:ext>
            </a:extLst>
          </p:cNvPr>
          <p:cNvPicPr>
            <a:picLocks noChangeAspect="1"/>
          </p:cNvPicPr>
          <p:nvPr/>
        </p:nvPicPr>
        <p:blipFill>
          <a:blip r:embed="rId2"/>
          <a:stretch>
            <a:fillRect/>
          </a:stretch>
        </p:blipFill>
        <p:spPr>
          <a:xfrm>
            <a:off x="5834744" y="1690688"/>
            <a:ext cx="5761264" cy="4594426"/>
          </a:xfrm>
          <a:prstGeom prst="rect">
            <a:avLst/>
          </a:prstGeom>
        </p:spPr>
      </p:pic>
    </p:spTree>
    <p:extLst>
      <p:ext uri="{BB962C8B-B14F-4D97-AF65-F5344CB8AC3E}">
        <p14:creationId xmlns:p14="http://schemas.microsoft.com/office/powerpoint/2010/main" val="1640050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B734-A560-0997-DFA2-352D32562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18660-9BBE-A50B-B5A5-02F8947F3262}"/>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0D706E2D-E9C2-F598-79F7-EB1A3729355B}"/>
              </a:ext>
            </a:extLst>
          </p:cNvPr>
          <p:cNvSpPr>
            <a:spLocks noGrp="1"/>
          </p:cNvSpPr>
          <p:nvPr>
            <p:ph idx="1"/>
          </p:nvPr>
        </p:nvSpPr>
        <p:spPr>
          <a:xfrm>
            <a:off x="838200" y="1825625"/>
            <a:ext cx="4865913" cy="4351338"/>
          </a:xfrm>
        </p:spPr>
        <p:txBody>
          <a:bodyPr>
            <a:normAutofit lnSpcReduction="10000"/>
          </a:bodyPr>
          <a:lstStyle/>
          <a:p>
            <a:r>
              <a:rPr lang="en-US" dirty="0"/>
              <a:t>Inside the loop, the following if statement compares the character that </a:t>
            </a:r>
            <a:r>
              <a:rPr lang="en-US" dirty="0" err="1"/>
              <a:t>strPtr</a:t>
            </a:r>
            <a:r>
              <a:rPr lang="en-US" dirty="0"/>
              <a:t> points to with the character in </a:t>
            </a:r>
            <a:r>
              <a:rPr lang="en-US" dirty="0" err="1"/>
              <a:t>ch</a:t>
            </a:r>
            <a:r>
              <a:rPr lang="en-US" dirty="0"/>
              <a:t>: </a:t>
            </a:r>
            <a:br>
              <a:rPr lang="en-US" dirty="0"/>
            </a:br>
            <a:r>
              <a:rPr lang="en-US" b="1" i="1" dirty="0">
                <a:solidFill>
                  <a:srgbClr val="FF0000"/>
                </a:solidFill>
                <a:effectLst/>
              </a:rPr>
              <a:t>if</a:t>
            </a:r>
            <a:r>
              <a:rPr lang="en-US" i="1" dirty="0">
                <a:solidFill>
                  <a:srgbClr val="FF0000"/>
                </a:solidFill>
              </a:rPr>
              <a:t> (*</a:t>
            </a:r>
            <a:r>
              <a:rPr lang="en-US" i="1" dirty="0" err="1">
                <a:solidFill>
                  <a:srgbClr val="FF0000"/>
                </a:solidFill>
              </a:rPr>
              <a:t>strPtr</a:t>
            </a:r>
            <a:r>
              <a:rPr lang="en-US" i="1" dirty="0">
                <a:solidFill>
                  <a:srgbClr val="FF0000"/>
                </a:solidFill>
              </a:rPr>
              <a:t> == </a:t>
            </a:r>
            <a:r>
              <a:rPr lang="en-US" i="1" dirty="0" err="1">
                <a:solidFill>
                  <a:srgbClr val="FF0000"/>
                </a:solidFill>
              </a:rPr>
              <a:t>ch</a:t>
            </a:r>
            <a:r>
              <a:rPr lang="en-US" i="1" dirty="0">
                <a:solidFill>
                  <a:srgbClr val="FF0000"/>
                </a:solidFill>
              </a:rPr>
              <a:t>) </a:t>
            </a:r>
          </a:p>
          <a:p>
            <a:pPr algn="l"/>
            <a:r>
              <a:rPr lang="en-US" dirty="0">
                <a:effectLst/>
              </a:rPr>
              <a:t>If the two are equal, the variable count is incremented. (count keeps a running total of the number of times the character appears.)</a:t>
            </a:r>
            <a:endParaRPr lang="en-US" i="1" dirty="0">
              <a:solidFill>
                <a:srgbClr val="FF0000"/>
              </a:solidFill>
            </a:endParaRPr>
          </a:p>
          <a:p>
            <a:endParaRPr lang="en-US" i="1" dirty="0">
              <a:solidFill>
                <a:srgbClr val="FF0000"/>
              </a:solidFill>
            </a:endParaRPr>
          </a:p>
        </p:txBody>
      </p:sp>
      <p:pic>
        <p:nvPicPr>
          <p:cNvPr id="4" name="Picture 3">
            <a:extLst>
              <a:ext uri="{FF2B5EF4-FFF2-40B4-BE49-F238E27FC236}">
                <a16:creationId xmlns:a16="http://schemas.microsoft.com/office/drawing/2014/main" id="{4EC791B2-9852-7821-CEFD-23C2733975BF}"/>
              </a:ext>
            </a:extLst>
          </p:cNvPr>
          <p:cNvPicPr>
            <a:picLocks noChangeAspect="1"/>
          </p:cNvPicPr>
          <p:nvPr/>
        </p:nvPicPr>
        <p:blipFill>
          <a:blip r:embed="rId2"/>
          <a:stretch>
            <a:fillRect/>
          </a:stretch>
        </p:blipFill>
        <p:spPr>
          <a:xfrm>
            <a:off x="5976257" y="1690688"/>
            <a:ext cx="5652407" cy="4507616"/>
          </a:xfrm>
          <a:prstGeom prst="rect">
            <a:avLst/>
          </a:prstGeom>
        </p:spPr>
      </p:pic>
    </p:spTree>
    <p:extLst>
      <p:ext uri="{BB962C8B-B14F-4D97-AF65-F5344CB8AC3E}">
        <p14:creationId xmlns:p14="http://schemas.microsoft.com/office/powerpoint/2010/main" val="331548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A8F87-1ACF-AF53-680B-484AFF349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F1B08-1F10-6E63-C47A-328C4EAD2337}"/>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2AFAA2FF-2E0D-9985-6EC6-641EE70F21F6}"/>
              </a:ext>
            </a:extLst>
          </p:cNvPr>
          <p:cNvSpPr>
            <a:spLocks noGrp="1"/>
          </p:cNvSpPr>
          <p:nvPr>
            <p:ph idx="1"/>
          </p:nvPr>
        </p:nvSpPr>
        <p:spPr>
          <a:xfrm>
            <a:off x="454478" y="1690688"/>
            <a:ext cx="6022521" cy="4667250"/>
          </a:xfrm>
        </p:spPr>
        <p:txBody>
          <a:bodyPr>
            <a:normAutofit lnSpcReduction="10000"/>
          </a:bodyPr>
          <a:lstStyle/>
          <a:p>
            <a:r>
              <a:rPr lang="en-US" dirty="0">
                <a:effectLst/>
              </a:rPr>
              <a:t>The last statement in the loop is </a:t>
            </a:r>
            <a:r>
              <a:rPr lang="en-US" i="1" dirty="0" err="1">
                <a:solidFill>
                  <a:srgbClr val="FF0000"/>
                </a:solidFill>
              </a:rPr>
              <a:t>strPtr</a:t>
            </a:r>
            <a:r>
              <a:rPr lang="en-US" i="1" dirty="0">
                <a:solidFill>
                  <a:srgbClr val="FF0000"/>
                </a:solidFill>
              </a:rPr>
              <a:t>++; </a:t>
            </a:r>
          </a:p>
          <a:p>
            <a:r>
              <a:rPr lang="en-US" dirty="0"/>
              <a:t>This statement increments the address in </a:t>
            </a:r>
            <a:r>
              <a:rPr lang="en-US" dirty="0" err="1"/>
              <a:t>strPtr</a:t>
            </a:r>
            <a:r>
              <a:rPr lang="en-US" dirty="0"/>
              <a:t>. </a:t>
            </a:r>
          </a:p>
          <a:p>
            <a:r>
              <a:rPr lang="en-US" dirty="0"/>
              <a:t>This causes </a:t>
            </a:r>
            <a:r>
              <a:rPr lang="en-US" dirty="0" err="1"/>
              <a:t>strPtr</a:t>
            </a:r>
            <a:r>
              <a:rPr lang="en-US" dirty="0"/>
              <a:t> to point to the next character in the string. </a:t>
            </a:r>
          </a:p>
          <a:p>
            <a:r>
              <a:rPr lang="en-US" dirty="0"/>
              <a:t>Then the loop starts over. When </a:t>
            </a:r>
            <a:r>
              <a:rPr lang="en-US" dirty="0" err="1"/>
              <a:t>strPtr</a:t>
            </a:r>
            <a:r>
              <a:rPr lang="en-US" dirty="0"/>
              <a:t> finally reaches the null terminator, the loop terminates and the function returns the value in count.</a:t>
            </a:r>
            <a:endParaRPr lang="en-US" i="1" dirty="0">
              <a:solidFill>
                <a:srgbClr val="FF0000"/>
              </a:solidFill>
            </a:endParaRPr>
          </a:p>
          <a:p>
            <a:endParaRPr lang="en-US" i="1" dirty="0">
              <a:solidFill>
                <a:srgbClr val="FF0000"/>
              </a:solidFill>
            </a:endParaRPr>
          </a:p>
          <a:p>
            <a:endParaRPr lang="en-US" i="1" dirty="0">
              <a:solidFill>
                <a:srgbClr val="FF0000"/>
              </a:solidFill>
            </a:endParaRPr>
          </a:p>
        </p:txBody>
      </p:sp>
      <p:pic>
        <p:nvPicPr>
          <p:cNvPr id="4" name="Picture 3">
            <a:extLst>
              <a:ext uri="{FF2B5EF4-FFF2-40B4-BE49-F238E27FC236}">
                <a16:creationId xmlns:a16="http://schemas.microsoft.com/office/drawing/2014/main" id="{C8F54E14-0401-FE24-32FB-A86940A919D9}"/>
              </a:ext>
            </a:extLst>
          </p:cNvPr>
          <p:cNvPicPr>
            <a:picLocks noChangeAspect="1"/>
          </p:cNvPicPr>
          <p:nvPr/>
        </p:nvPicPr>
        <p:blipFill>
          <a:blip r:embed="rId2"/>
          <a:stretch>
            <a:fillRect/>
          </a:stretch>
        </p:blipFill>
        <p:spPr>
          <a:xfrm>
            <a:off x="6368145" y="1690688"/>
            <a:ext cx="5652407" cy="4507616"/>
          </a:xfrm>
          <a:prstGeom prst="rect">
            <a:avLst/>
          </a:prstGeom>
        </p:spPr>
      </p:pic>
    </p:spTree>
    <p:extLst>
      <p:ext uri="{BB962C8B-B14F-4D97-AF65-F5344CB8AC3E}">
        <p14:creationId xmlns:p14="http://schemas.microsoft.com/office/powerpoint/2010/main" val="1592170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EDD0-7A26-5E5C-14E7-491FE611AFA3}"/>
              </a:ext>
            </a:extLst>
          </p:cNvPr>
          <p:cNvSpPr>
            <a:spLocks noGrp="1"/>
          </p:cNvSpPr>
          <p:nvPr>
            <p:ph type="title"/>
          </p:nvPr>
        </p:nvSpPr>
        <p:spPr/>
        <p:txBody>
          <a:bodyPr/>
          <a:lstStyle/>
          <a:p>
            <a:r>
              <a:rPr lang="en-US" dirty="0"/>
              <a:t>Input and Output Streams</a:t>
            </a:r>
          </a:p>
        </p:txBody>
      </p:sp>
      <p:sp>
        <p:nvSpPr>
          <p:cNvPr id="3" name="Content Placeholder 2">
            <a:extLst>
              <a:ext uri="{FF2B5EF4-FFF2-40B4-BE49-F238E27FC236}">
                <a16:creationId xmlns:a16="http://schemas.microsoft.com/office/drawing/2014/main" id="{15E225D9-F87A-7819-573D-5486C9A798BB}"/>
              </a:ext>
            </a:extLst>
          </p:cNvPr>
          <p:cNvSpPr>
            <a:spLocks noGrp="1"/>
          </p:cNvSpPr>
          <p:nvPr>
            <p:ph idx="1"/>
          </p:nvPr>
        </p:nvSpPr>
        <p:spPr/>
        <p:txBody>
          <a:bodyPr/>
          <a:lstStyle/>
          <a:p>
            <a:r>
              <a:rPr lang="en-US" dirty="0"/>
              <a:t>An </a:t>
            </a:r>
            <a:r>
              <a:rPr lang="en-US" b="1" dirty="0">
                <a:hlinkClick r:id="rId2">
                  <a:extLst>
                    <a:ext uri="{A12FA001-AC4F-418D-AE19-62706E023703}">
                      <ahyp:hlinkClr xmlns:ahyp="http://schemas.microsoft.com/office/drawing/2018/hyperlinkcolor" val="tx"/>
                    </a:ext>
                  </a:extLst>
                </a:hlinkClick>
              </a:rPr>
              <a:t>input stream</a:t>
            </a:r>
            <a:r>
              <a:rPr lang="en-US" b="1" dirty="0"/>
              <a:t> </a:t>
            </a:r>
            <a:r>
              <a:rPr lang="en-US" dirty="0"/>
              <a:t>is a sequence from which data can be read; an </a:t>
            </a:r>
            <a:r>
              <a:rPr lang="en-US" b="1" dirty="0">
                <a:hlinkClick r:id="rId2">
                  <a:extLst>
                    <a:ext uri="{A12FA001-AC4F-418D-AE19-62706E023703}">
                      <ahyp:hlinkClr xmlns:ahyp="http://schemas.microsoft.com/office/drawing/2018/hyperlinkcolor" val="tx"/>
                    </a:ext>
                  </a:extLst>
                </a:hlinkClick>
              </a:rPr>
              <a:t>output stream</a:t>
            </a:r>
            <a:r>
              <a:rPr lang="en-US" b="1" dirty="0"/>
              <a:t> </a:t>
            </a:r>
            <a:r>
              <a:rPr lang="en-US" dirty="0"/>
              <a:t>is a sequence to which data can be written; and an </a:t>
            </a:r>
            <a:r>
              <a:rPr lang="en-US" b="1" dirty="0">
                <a:hlinkClick r:id="rId2">
                  <a:extLst>
                    <a:ext uri="{A12FA001-AC4F-418D-AE19-62706E023703}">
                      <ahyp:hlinkClr xmlns:ahyp="http://schemas.microsoft.com/office/drawing/2018/hyperlinkcolor" val="tx"/>
                    </a:ext>
                  </a:extLst>
                </a:hlinkClick>
              </a:rPr>
              <a:t>input–output</a:t>
            </a:r>
            <a:r>
              <a:rPr lang="en-US" b="1" dirty="0"/>
              <a:t> </a:t>
            </a:r>
            <a:r>
              <a:rPr lang="en-US" dirty="0"/>
              <a:t>stream is a sequence of data that allows both reading and writing. </a:t>
            </a:r>
          </a:p>
          <a:p>
            <a:r>
              <a:rPr lang="en-US" dirty="0"/>
              <a:t>The keyboard is the standard example of an input stream, and the monitor screen is the standard example of an output stream.</a:t>
            </a:r>
          </a:p>
        </p:txBody>
      </p:sp>
    </p:spTree>
    <p:extLst>
      <p:ext uri="{BB962C8B-B14F-4D97-AF65-F5344CB8AC3E}">
        <p14:creationId xmlns:p14="http://schemas.microsoft.com/office/powerpoint/2010/main" val="4015071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740B-613D-14F2-2C89-F25A0C32C2E9}"/>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67910B13-A38E-51FD-96CC-CE2F5A0002C5}"/>
              </a:ext>
            </a:extLst>
          </p:cNvPr>
          <p:cNvSpPr>
            <a:spLocks noGrp="1"/>
          </p:cNvSpPr>
          <p:nvPr>
            <p:ph idx="1"/>
          </p:nvPr>
        </p:nvSpPr>
        <p:spPr>
          <a:xfrm>
            <a:off x="838200" y="1825624"/>
            <a:ext cx="10515600" cy="4747703"/>
          </a:xfrm>
        </p:spPr>
        <p:txBody>
          <a:bodyPr>
            <a:normAutofit lnSpcReduction="10000"/>
          </a:bodyPr>
          <a:lstStyle/>
          <a:p>
            <a:r>
              <a:rPr lang="en-US" dirty="0"/>
              <a:t>C++ provides various classes for working with streams. </a:t>
            </a:r>
          </a:p>
          <a:p>
            <a:r>
              <a:rPr lang="en-US" dirty="0"/>
              <a:t>These include </a:t>
            </a:r>
          </a:p>
          <a:p>
            <a:pPr lvl="1"/>
            <a:r>
              <a:rPr lang="en-US" b="1" dirty="0" err="1"/>
              <a:t>istream</a:t>
            </a:r>
            <a:r>
              <a:rPr lang="en-US" b="1" dirty="0"/>
              <a:t> and </a:t>
            </a:r>
            <a:r>
              <a:rPr lang="en-US" b="1" dirty="0" err="1"/>
              <a:t>ostream</a:t>
            </a:r>
            <a:r>
              <a:rPr lang="en-US" b="1" dirty="0"/>
              <a:t> </a:t>
            </a:r>
            <a:r>
              <a:rPr lang="en-US" dirty="0"/>
              <a:t>for standard input and output;</a:t>
            </a:r>
          </a:p>
          <a:p>
            <a:pPr lvl="1"/>
            <a:r>
              <a:rPr lang="en-US" b="1" dirty="0" err="1"/>
              <a:t>ifstream</a:t>
            </a:r>
            <a:r>
              <a:rPr lang="en-US" b="1" dirty="0"/>
              <a:t>, </a:t>
            </a:r>
            <a:r>
              <a:rPr lang="en-US" b="1" dirty="0" err="1"/>
              <a:t>ofstream</a:t>
            </a:r>
            <a:r>
              <a:rPr lang="en-US" b="1" dirty="0"/>
              <a:t>, and </a:t>
            </a:r>
            <a:r>
              <a:rPr lang="en-US" b="1" dirty="0" err="1"/>
              <a:t>fstream</a:t>
            </a:r>
            <a:r>
              <a:rPr lang="en-US" b="1" dirty="0"/>
              <a:t> </a:t>
            </a:r>
            <a:r>
              <a:rPr lang="en-US" dirty="0"/>
              <a:t>for file IO; </a:t>
            </a:r>
          </a:p>
          <a:p>
            <a:pPr lvl="1"/>
            <a:r>
              <a:rPr lang="en-US" b="1" dirty="0" err="1"/>
              <a:t>istringstream</a:t>
            </a:r>
            <a:r>
              <a:rPr lang="en-US" b="1" dirty="0"/>
              <a:t> and </a:t>
            </a:r>
            <a:r>
              <a:rPr lang="en-US" b="1" dirty="0" err="1"/>
              <a:t>ostringstream</a:t>
            </a:r>
            <a:r>
              <a:rPr lang="en-US" b="1" dirty="0"/>
              <a:t> </a:t>
            </a:r>
            <a:r>
              <a:rPr lang="en-US" dirty="0"/>
              <a:t>for reading and writing strings. </a:t>
            </a:r>
          </a:p>
          <a:p>
            <a:pPr marL="0" indent="0">
              <a:buNone/>
            </a:pPr>
            <a:r>
              <a:rPr lang="en-US" dirty="0"/>
              <a:t>To read from the keyboard, you use </a:t>
            </a:r>
            <a:r>
              <a:rPr lang="en-US" dirty="0" err="1"/>
              <a:t>cin</a:t>
            </a:r>
            <a:r>
              <a:rPr lang="en-US" dirty="0"/>
              <a:t>, which is a predefined object of the </a:t>
            </a:r>
            <a:r>
              <a:rPr lang="en-US" dirty="0" err="1"/>
              <a:t>istream</a:t>
            </a:r>
            <a:r>
              <a:rPr lang="en-US" dirty="0"/>
              <a:t> class. To write to the screen, you use </a:t>
            </a:r>
            <a:r>
              <a:rPr lang="en-US" dirty="0" err="1"/>
              <a:t>cout</a:t>
            </a:r>
            <a:r>
              <a:rPr lang="en-US" dirty="0"/>
              <a:t>, a predefined object of the </a:t>
            </a:r>
            <a:r>
              <a:rPr lang="en-US" dirty="0" err="1"/>
              <a:t>ostream</a:t>
            </a:r>
            <a:r>
              <a:rPr lang="en-US" dirty="0"/>
              <a:t> class</a:t>
            </a:r>
          </a:p>
          <a:p>
            <a:pPr marL="0" indent="0">
              <a:buNone/>
            </a:pPr>
            <a:endParaRPr lang="en-US" dirty="0"/>
          </a:p>
          <a:p>
            <a:pPr marL="0" indent="0">
              <a:buNone/>
            </a:pPr>
            <a:r>
              <a:rPr lang="en-US" dirty="0"/>
              <a:t>In this lecture, we will talk about </a:t>
            </a:r>
            <a:r>
              <a:rPr lang="en-US" dirty="0" err="1"/>
              <a:t>ifstream</a:t>
            </a:r>
            <a:r>
              <a:rPr lang="en-US" dirty="0"/>
              <a:t>, </a:t>
            </a:r>
            <a:r>
              <a:rPr lang="en-US" dirty="0" err="1"/>
              <a:t>ofstream</a:t>
            </a:r>
            <a:r>
              <a:rPr lang="en-US" dirty="0"/>
              <a:t>, and </a:t>
            </a:r>
            <a:r>
              <a:rPr lang="en-US" dirty="0" err="1"/>
              <a:t>fstream</a:t>
            </a:r>
            <a:r>
              <a:rPr lang="en-US" dirty="0"/>
              <a:t> for file IO.</a:t>
            </a:r>
          </a:p>
          <a:p>
            <a:pPr marL="0" indent="0">
              <a:buNone/>
            </a:pPr>
            <a:endParaRPr lang="en-US" dirty="0"/>
          </a:p>
        </p:txBody>
      </p:sp>
    </p:spTree>
    <p:extLst>
      <p:ext uri="{BB962C8B-B14F-4D97-AF65-F5344CB8AC3E}">
        <p14:creationId xmlns:p14="http://schemas.microsoft.com/office/powerpoint/2010/main" val="818520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BA35-7AED-5CE4-51FC-67883D298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411D6-A6D7-282C-3C8E-1098566FAF5C}"/>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9C9ED9B8-AB8C-A93B-9077-B5DF68E8E5D8}"/>
              </a:ext>
            </a:extLst>
          </p:cNvPr>
          <p:cNvSpPr>
            <a:spLocks noGrp="1"/>
          </p:cNvSpPr>
          <p:nvPr>
            <p:ph idx="1"/>
          </p:nvPr>
        </p:nvSpPr>
        <p:spPr>
          <a:xfrm>
            <a:off x="838200" y="1825625"/>
            <a:ext cx="10515600" cy="4290504"/>
          </a:xfrm>
        </p:spPr>
        <p:txBody>
          <a:bodyPr>
            <a:normAutofit/>
          </a:bodyPr>
          <a:lstStyle/>
          <a:p>
            <a:r>
              <a:rPr lang="en-US" dirty="0"/>
              <a:t>The </a:t>
            </a:r>
            <a:r>
              <a:rPr lang="en-US" i="1" dirty="0" err="1">
                <a:solidFill>
                  <a:srgbClr val="FF0000"/>
                </a:solidFill>
              </a:rPr>
              <a:t>ifstream</a:t>
            </a:r>
            <a:r>
              <a:rPr lang="en-US" dirty="0"/>
              <a:t>, </a:t>
            </a:r>
            <a:r>
              <a:rPr lang="en-US" i="1" dirty="0" err="1">
                <a:solidFill>
                  <a:srgbClr val="FF0000"/>
                </a:solidFill>
              </a:rPr>
              <a:t>ofstream</a:t>
            </a:r>
            <a:r>
              <a:rPr lang="en-US" dirty="0"/>
              <a:t>, and </a:t>
            </a:r>
            <a:r>
              <a:rPr lang="en-US" i="1" dirty="0" err="1">
                <a:solidFill>
                  <a:srgbClr val="FF0000"/>
                </a:solidFill>
              </a:rPr>
              <a:t>fstream</a:t>
            </a:r>
            <a:r>
              <a:rPr lang="en-US" dirty="0"/>
              <a:t> classes are very similar. </a:t>
            </a:r>
          </a:p>
          <a:p>
            <a:r>
              <a:rPr lang="en-US" dirty="0"/>
              <a:t>Each has a default constructor that allows instances of the class to be created:</a:t>
            </a:r>
          </a:p>
          <a:p>
            <a:endParaRPr lang="en-US" dirty="0"/>
          </a:p>
          <a:p>
            <a:endParaRPr lang="en-US" dirty="0"/>
          </a:p>
          <a:p>
            <a:r>
              <a:rPr lang="en-US" dirty="0"/>
              <a:t>In addition, each has initialization constructors that take two parameters: the name of a file to be opened and an </a:t>
            </a:r>
            <a:r>
              <a:rPr lang="en-US" b="1" dirty="0">
                <a:hlinkClick r:id="rId2">
                  <a:extLst>
                    <a:ext uri="{A12FA001-AC4F-418D-AE19-62706E023703}">
                      <ahyp:hlinkClr xmlns:ahyp="http://schemas.microsoft.com/office/drawing/2018/hyperlinkcolor" val="tx"/>
                    </a:ext>
                  </a:extLst>
                </a:hlinkClick>
              </a:rPr>
              <a:t>open mode</a:t>
            </a:r>
            <a:r>
              <a:rPr lang="en-US" b="1" dirty="0"/>
              <a:t>.</a:t>
            </a:r>
          </a:p>
          <a:p>
            <a:pPr lvl="1"/>
            <a:r>
              <a:rPr lang="en-US" dirty="0"/>
              <a:t>The name of the file is given by a C-string. </a:t>
            </a:r>
          </a:p>
          <a:p>
            <a:pPr lvl="1"/>
            <a:r>
              <a:rPr lang="en-US" dirty="0"/>
              <a:t>The open mode is a setting that determines how the file will be used. </a:t>
            </a:r>
          </a:p>
        </p:txBody>
      </p:sp>
      <p:pic>
        <p:nvPicPr>
          <p:cNvPr id="4" name="Picture 3">
            <a:extLst>
              <a:ext uri="{FF2B5EF4-FFF2-40B4-BE49-F238E27FC236}">
                <a16:creationId xmlns:a16="http://schemas.microsoft.com/office/drawing/2014/main" id="{AE684925-2830-5604-C1D2-F9CF98360156}"/>
              </a:ext>
            </a:extLst>
          </p:cNvPr>
          <p:cNvPicPr>
            <a:picLocks noChangeAspect="1"/>
          </p:cNvPicPr>
          <p:nvPr/>
        </p:nvPicPr>
        <p:blipFill>
          <a:blip r:embed="rId3"/>
          <a:stretch>
            <a:fillRect/>
          </a:stretch>
        </p:blipFill>
        <p:spPr>
          <a:xfrm>
            <a:off x="4834135" y="2820872"/>
            <a:ext cx="2523729" cy="1216255"/>
          </a:xfrm>
          <a:prstGeom prst="rect">
            <a:avLst/>
          </a:prstGeom>
        </p:spPr>
      </p:pic>
    </p:spTree>
    <p:extLst>
      <p:ext uri="{BB962C8B-B14F-4D97-AF65-F5344CB8AC3E}">
        <p14:creationId xmlns:p14="http://schemas.microsoft.com/office/powerpoint/2010/main" val="1972115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02A5-3B67-B0DE-A623-EB3B32B1A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228A8-4882-AA63-B94C-215319F91576}"/>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35F60C33-D5A7-2C1A-B103-F45A13B0AF85}"/>
              </a:ext>
            </a:extLst>
          </p:cNvPr>
          <p:cNvSpPr>
            <a:spLocks noGrp="1"/>
          </p:cNvSpPr>
          <p:nvPr>
            <p:ph idx="1"/>
          </p:nvPr>
        </p:nvSpPr>
        <p:spPr>
          <a:xfrm>
            <a:off x="838200" y="1825625"/>
            <a:ext cx="10515600" cy="4290504"/>
          </a:xfrm>
        </p:spPr>
        <p:txBody>
          <a:bodyPr>
            <a:normAutofit/>
          </a:bodyPr>
          <a:lstStyle/>
          <a:p>
            <a:r>
              <a:rPr lang="en-US" dirty="0"/>
              <a:t>The initialization constructors have the following prototypes:</a:t>
            </a:r>
          </a:p>
          <a:p>
            <a:endParaRPr lang="en-US" dirty="0"/>
          </a:p>
          <a:p>
            <a:endParaRPr lang="en-US" dirty="0"/>
          </a:p>
          <a:p>
            <a:pPr marL="0" indent="0">
              <a:buNone/>
            </a:pPr>
            <a:endParaRPr lang="en-US" dirty="0"/>
          </a:p>
          <a:p>
            <a:r>
              <a:rPr lang="en-US" dirty="0"/>
              <a:t>With C++11, you can use a string object for the filename:</a:t>
            </a:r>
          </a:p>
        </p:txBody>
      </p:sp>
      <p:pic>
        <p:nvPicPr>
          <p:cNvPr id="5" name="Picture 4">
            <a:extLst>
              <a:ext uri="{FF2B5EF4-FFF2-40B4-BE49-F238E27FC236}">
                <a16:creationId xmlns:a16="http://schemas.microsoft.com/office/drawing/2014/main" id="{C988C402-C6C5-8529-AB0C-BA0C3A473DC0}"/>
              </a:ext>
            </a:extLst>
          </p:cNvPr>
          <p:cNvPicPr>
            <a:picLocks noChangeAspect="1"/>
          </p:cNvPicPr>
          <p:nvPr/>
        </p:nvPicPr>
        <p:blipFill>
          <a:blip r:embed="rId2"/>
          <a:stretch>
            <a:fillRect/>
          </a:stretch>
        </p:blipFill>
        <p:spPr>
          <a:xfrm>
            <a:off x="2984500" y="2454137"/>
            <a:ext cx="6223000" cy="1333500"/>
          </a:xfrm>
          <a:prstGeom prst="rect">
            <a:avLst/>
          </a:prstGeom>
        </p:spPr>
      </p:pic>
      <p:pic>
        <p:nvPicPr>
          <p:cNvPr id="6" name="Picture 5">
            <a:extLst>
              <a:ext uri="{FF2B5EF4-FFF2-40B4-BE49-F238E27FC236}">
                <a16:creationId xmlns:a16="http://schemas.microsoft.com/office/drawing/2014/main" id="{CADEE72E-9BC5-E000-C872-81ED8401FECA}"/>
              </a:ext>
            </a:extLst>
          </p:cNvPr>
          <p:cNvPicPr>
            <a:picLocks noChangeAspect="1"/>
          </p:cNvPicPr>
          <p:nvPr/>
        </p:nvPicPr>
        <p:blipFill>
          <a:blip r:embed="rId3"/>
          <a:stretch>
            <a:fillRect/>
          </a:stretch>
        </p:blipFill>
        <p:spPr>
          <a:xfrm>
            <a:off x="2844800" y="4655284"/>
            <a:ext cx="6502400" cy="1168400"/>
          </a:xfrm>
          <a:prstGeom prst="rect">
            <a:avLst/>
          </a:prstGeom>
        </p:spPr>
      </p:pic>
    </p:spTree>
    <p:extLst>
      <p:ext uri="{BB962C8B-B14F-4D97-AF65-F5344CB8AC3E}">
        <p14:creationId xmlns:p14="http://schemas.microsoft.com/office/powerpoint/2010/main" val="656757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AED28-F36A-7B2B-6E83-EFAA1404A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8BEBF-0C14-A055-8166-86CCD65DB97F}"/>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3D296BCF-063A-8233-2201-16F78F9638FE}"/>
              </a:ext>
            </a:extLst>
          </p:cNvPr>
          <p:cNvSpPr>
            <a:spLocks noGrp="1"/>
          </p:cNvSpPr>
          <p:nvPr>
            <p:ph idx="1"/>
          </p:nvPr>
        </p:nvSpPr>
        <p:spPr>
          <a:xfrm>
            <a:off x="381000" y="1800018"/>
            <a:ext cx="4936435" cy="4290504"/>
          </a:xfrm>
        </p:spPr>
        <p:txBody>
          <a:bodyPr>
            <a:normAutofit/>
          </a:bodyPr>
          <a:lstStyle/>
          <a:p>
            <a:r>
              <a:rPr lang="en-US" dirty="0"/>
              <a:t>The open mode parameter is optional. </a:t>
            </a:r>
          </a:p>
          <a:p>
            <a:r>
              <a:rPr lang="en-US" dirty="0"/>
              <a:t>When not specified, the open mode defaults to the values shown in the initialization constructors. </a:t>
            </a:r>
          </a:p>
          <a:p>
            <a:r>
              <a:rPr lang="en-US" dirty="0"/>
              <a:t>The meaning of these open mode values and others like them is explained in the table</a:t>
            </a:r>
          </a:p>
        </p:txBody>
      </p:sp>
      <p:pic>
        <p:nvPicPr>
          <p:cNvPr id="4" name="Picture 3">
            <a:extLst>
              <a:ext uri="{FF2B5EF4-FFF2-40B4-BE49-F238E27FC236}">
                <a16:creationId xmlns:a16="http://schemas.microsoft.com/office/drawing/2014/main" id="{A9A4C33C-5EE4-340A-C4FE-1994169D454B}"/>
              </a:ext>
            </a:extLst>
          </p:cNvPr>
          <p:cNvPicPr>
            <a:picLocks noChangeAspect="1"/>
          </p:cNvPicPr>
          <p:nvPr/>
        </p:nvPicPr>
        <p:blipFill>
          <a:blip r:embed="rId2"/>
          <a:stretch>
            <a:fillRect/>
          </a:stretch>
        </p:blipFill>
        <p:spPr>
          <a:xfrm>
            <a:off x="5317435" y="2017367"/>
            <a:ext cx="6692900" cy="3340100"/>
          </a:xfrm>
          <a:prstGeom prst="rect">
            <a:avLst/>
          </a:prstGeom>
        </p:spPr>
      </p:pic>
    </p:spTree>
    <p:extLst>
      <p:ext uri="{BB962C8B-B14F-4D97-AF65-F5344CB8AC3E}">
        <p14:creationId xmlns:p14="http://schemas.microsoft.com/office/powerpoint/2010/main" val="2197441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5DD4C-6B38-3B5C-9DCA-FAE8288D3468}"/>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48203D1C-60A7-5A22-1284-E8C653AA9FCC}"/>
              </a:ext>
            </a:extLst>
          </p:cNvPr>
          <p:cNvSpPr>
            <a:spLocks noGrp="1"/>
          </p:cNvSpPr>
          <p:nvPr>
            <p:ph idx="1"/>
          </p:nvPr>
        </p:nvSpPr>
        <p:spPr>
          <a:xfrm>
            <a:off x="571500" y="1825624"/>
            <a:ext cx="11049000" cy="4595053"/>
          </a:xfrm>
        </p:spPr>
        <p:txBody>
          <a:bodyPr>
            <a:normAutofit/>
          </a:bodyPr>
          <a:lstStyle/>
          <a:p>
            <a:r>
              <a:rPr lang="en-US" sz="2600" dirty="0"/>
              <a:t>All three file stream classes have member functions with parameters similar to those of the initialization constructors that can be used to open files. </a:t>
            </a:r>
          </a:p>
          <a:p>
            <a:r>
              <a:rPr lang="en-US" sz="2600" dirty="0"/>
              <a:t>For example, the open functions for </a:t>
            </a:r>
            <a:r>
              <a:rPr lang="en-US" sz="2600" dirty="0" err="1"/>
              <a:t>fstream</a:t>
            </a:r>
            <a:r>
              <a:rPr lang="en-US" sz="2600" dirty="0"/>
              <a:t> have the following prototypes:</a:t>
            </a:r>
          </a:p>
          <a:p>
            <a:endParaRPr lang="en-US" sz="2600" dirty="0"/>
          </a:p>
          <a:p>
            <a:endParaRPr lang="en-US" sz="2600" dirty="0"/>
          </a:p>
          <a:p>
            <a:endParaRPr lang="en-US" sz="2600" dirty="0"/>
          </a:p>
          <a:p>
            <a:r>
              <a:rPr lang="en-US" sz="2600" dirty="0"/>
              <a:t>Each of these classes also has a close member function that is used to sever the connection when the program is done using the file: </a:t>
            </a:r>
            <a:r>
              <a:rPr lang="en-US" sz="2600" b="1" i="1" dirty="0">
                <a:solidFill>
                  <a:srgbClr val="FF0000"/>
                </a:solidFill>
                <a:effectLst/>
              </a:rPr>
              <a:t>void</a:t>
            </a:r>
            <a:r>
              <a:rPr lang="en-US" sz="2600" i="1" dirty="0">
                <a:solidFill>
                  <a:srgbClr val="FF0000"/>
                </a:solidFill>
              </a:rPr>
              <a:t> </a:t>
            </a:r>
            <a:r>
              <a:rPr lang="en-US" sz="2600" b="1" i="1" dirty="0">
                <a:solidFill>
                  <a:srgbClr val="FF0000"/>
                </a:solidFill>
                <a:effectLst/>
              </a:rPr>
              <a:t>close</a:t>
            </a:r>
            <a:r>
              <a:rPr lang="en-US" sz="2600" i="1" dirty="0">
                <a:solidFill>
                  <a:srgbClr val="FF0000"/>
                </a:solidFill>
              </a:rPr>
              <a:t>(); </a:t>
            </a:r>
          </a:p>
        </p:txBody>
      </p:sp>
      <p:pic>
        <p:nvPicPr>
          <p:cNvPr id="4" name="Picture 3">
            <a:extLst>
              <a:ext uri="{FF2B5EF4-FFF2-40B4-BE49-F238E27FC236}">
                <a16:creationId xmlns:a16="http://schemas.microsoft.com/office/drawing/2014/main" id="{F5A196F9-BA23-EA4F-5D80-CB54D32588CA}"/>
              </a:ext>
            </a:extLst>
          </p:cNvPr>
          <p:cNvPicPr>
            <a:picLocks noChangeAspect="1"/>
          </p:cNvPicPr>
          <p:nvPr/>
        </p:nvPicPr>
        <p:blipFill>
          <a:blip r:embed="rId3"/>
          <a:stretch>
            <a:fillRect/>
          </a:stretch>
        </p:blipFill>
        <p:spPr>
          <a:xfrm>
            <a:off x="3321050" y="3672508"/>
            <a:ext cx="5549900" cy="1143000"/>
          </a:xfrm>
          <a:prstGeom prst="rect">
            <a:avLst/>
          </a:prstGeom>
        </p:spPr>
      </p:pic>
    </p:spTree>
    <p:extLst>
      <p:ext uri="{BB962C8B-B14F-4D97-AF65-F5344CB8AC3E}">
        <p14:creationId xmlns:p14="http://schemas.microsoft.com/office/powerpoint/2010/main" val="3204931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4876-7604-4E25-A51B-CD235520D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06C2B-D6BD-AED9-CDCE-4ACF544387D1}"/>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A36104DE-049E-92ED-B83F-B3EA5E4E577E}"/>
              </a:ext>
            </a:extLst>
          </p:cNvPr>
          <p:cNvSpPr>
            <a:spLocks noGrp="1"/>
          </p:cNvSpPr>
          <p:nvPr>
            <p:ph idx="1"/>
          </p:nvPr>
        </p:nvSpPr>
        <p:spPr>
          <a:xfrm>
            <a:off x="571500" y="1825624"/>
            <a:ext cx="11049000" cy="4595053"/>
          </a:xfrm>
        </p:spPr>
        <p:txBody>
          <a:bodyPr>
            <a:normAutofit/>
          </a:bodyPr>
          <a:lstStyle/>
          <a:p>
            <a:r>
              <a:rPr lang="en-US" sz="2600" dirty="0"/>
              <a:t>Open files use resources in the operating system, so it is important to close files as soon as you are done using them. </a:t>
            </a:r>
          </a:p>
          <a:p>
            <a:r>
              <a:rPr lang="en-US" sz="2600" dirty="0"/>
              <a:t>Also, data that your program writes to the file stream object is often buffered within the operating system and is not immediately written to disk.</a:t>
            </a:r>
          </a:p>
          <a:p>
            <a:r>
              <a:rPr lang="en-US" sz="2600" dirty="0"/>
              <a:t>When you close the file, the operating system writes this data to the disk in a process known as </a:t>
            </a:r>
            <a:r>
              <a:rPr lang="en-US" sz="2600" b="1" dirty="0">
                <a:hlinkClick r:id="rId3">
                  <a:extLst>
                    <a:ext uri="{A12FA001-AC4F-418D-AE19-62706E023703}">
                      <ahyp:hlinkClr xmlns:ahyp="http://schemas.microsoft.com/office/drawing/2018/hyperlinkcolor" val="tx"/>
                    </a:ext>
                  </a:extLst>
                </a:hlinkClick>
              </a:rPr>
              <a:t>flushing the buffer</a:t>
            </a:r>
            <a:r>
              <a:rPr lang="en-US" sz="2600" dirty="0"/>
              <a:t>. </a:t>
            </a:r>
          </a:p>
          <a:p>
            <a:r>
              <a:rPr lang="en-US" sz="2600" dirty="0"/>
              <a:t>Closing the file will ensure that buffered data is not lost in the event of a power failure or some other circumstances that causes your program to terminate abnormally.</a:t>
            </a:r>
            <a:endParaRPr lang="en-US" sz="2600" i="1" dirty="0">
              <a:solidFill>
                <a:srgbClr val="FF0000"/>
              </a:solidFill>
            </a:endParaRPr>
          </a:p>
        </p:txBody>
      </p:sp>
    </p:spTree>
    <p:extLst>
      <p:ext uri="{BB962C8B-B14F-4D97-AF65-F5344CB8AC3E}">
        <p14:creationId xmlns:p14="http://schemas.microsoft.com/office/powerpoint/2010/main" val="3758278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31EF-14C7-B1DE-E76A-C45EF949C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8321E-E50B-E431-4B05-1F92A9BA1478}"/>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750A31B3-66DF-C4D8-FC17-9B67F43B9F26}"/>
              </a:ext>
            </a:extLst>
          </p:cNvPr>
          <p:cNvSpPr>
            <a:spLocks noGrp="1"/>
          </p:cNvSpPr>
          <p:nvPr>
            <p:ph idx="1"/>
          </p:nvPr>
        </p:nvSpPr>
        <p:spPr>
          <a:xfrm>
            <a:off x="838200" y="1825625"/>
            <a:ext cx="10515600" cy="4290504"/>
          </a:xfrm>
        </p:spPr>
        <p:txBody>
          <a:bodyPr>
            <a:normAutofit/>
          </a:bodyPr>
          <a:lstStyle/>
          <a:p>
            <a:r>
              <a:rPr lang="en-US" dirty="0"/>
              <a:t>The </a:t>
            </a:r>
            <a:r>
              <a:rPr lang="en-US" dirty="0" err="1"/>
              <a:t>fstream</a:t>
            </a:r>
            <a:r>
              <a:rPr lang="en-US" dirty="0"/>
              <a:t> class combines in itself the capabilities of both </a:t>
            </a:r>
            <a:r>
              <a:rPr lang="en-US" dirty="0" err="1"/>
              <a:t>ifstream</a:t>
            </a:r>
            <a:r>
              <a:rPr lang="en-US" dirty="0"/>
              <a:t> and </a:t>
            </a:r>
            <a:r>
              <a:rPr lang="en-US" dirty="0" err="1"/>
              <a:t>ofstream</a:t>
            </a:r>
            <a:r>
              <a:rPr lang="en-US" dirty="0"/>
              <a:t>. </a:t>
            </a:r>
          </a:p>
          <a:p>
            <a:r>
              <a:rPr lang="en-US" dirty="0"/>
              <a:t>Therefore, </a:t>
            </a:r>
            <a:r>
              <a:rPr lang="en-US" dirty="0" err="1"/>
              <a:t>fstream</a:t>
            </a:r>
            <a:r>
              <a:rPr lang="en-US" dirty="0"/>
              <a:t> has every member function and operator possessed by those two classes. </a:t>
            </a:r>
          </a:p>
          <a:p>
            <a:r>
              <a:rPr lang="en-US" dirty="0"/>
              <a:t>In particular, you can use the extraction operator &gt;&gt; and the insertion operator &lt;&lt; to read and write data on </a:t>
            </a:r>
            <a:r>
              <a:rPr lang="en-US" dirty="0" err="1"/>
              <a:t>fstream</a:t>
            </a:r>
            <a:r>
              <a:rPr lang="en-US" dirty="0"/>
              <a:t> objects.</a:t>
            </a:r>
          </a:p>
          <a:p>
            <a:r>
              <a:rPr lang="en-US" dirty="0"/>
              <a:t>By default, </a:t>
            </a:r>
            <a:r>
              <a:rPr lang="en-US" dirty="0" err="1"/>
              <a:t>ifstream</a:t>
            </a:r>
            <a:r>
              <a:rPr lang="en-US" dirty="0"/>
              <a:t> objects open files for input, </a:t>
            </a:r>
            <a:r>
              <a:rPr lang="en-US" dirty="0" err="1"/>
              <a:t>ofstream</a:t>
            </a:r>
            <a:r>
              <a:rPr lang="en-US" dirty="0"/>
              <a:t> objects open files for output, and </a:t>
            </a:r>
            <a:r>
              <a:rPr lang="en-US" dirty="0" err="1"/>
              <a:t>fstream</a:t>
            </a:r>
            <a:r>
              <a:rPr lang="en-US" dirty="0"/>
              <a:t> objects open files for both input and output.</a:t>
            </a:r>
          </a:p>
        </p:txBody>
      </p:sp>
    </p:spTree>
    <p:extLst>
      <p:ext uri="{BB962C8B-B14F-4D97-AF65-F5344CB8AC3E}">
        <p14:creationId xmlns:p14="http://schemas.microsoft.com/office/powerpoint/2010/main" val="156979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C8F6-8C53-B28A-B85A-E802280BA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68F0E-1D16-666D-E414-965D055B0F2A}"/>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DBA1E5B6-2070-67CD-736E-77BDF02FEF90}"/>
              </a:ext>
            </a:extLst>
          </p:cNvPr>
          <p:cNvPicPr>
            <a:picLocks noChangeAspect="1"/>
          </p:cNvPicPr>
          <p:nvPr/>
        </p:nvPicPr>
        <p:blipFill>
          <a:blip r:embed="rId3"/>
          <a:stretch>
            <a:fillRect/>
          </a:stretch>
        </p:blipFill>
        <p:spPr>
          <a:xfrm>
            <a:off x="1092202" y="1403972"/>
            <a:ext cx="4611818" cy="5088903"/>
          </a:xfrm>
          <a:prstGeom prst="rect">
            <a:avLst/>
          </a:prstGeom>
        </p:spPr>
      </p:pic>
      <p:pic>
        <p:nvPicPr>
          <p:cNvPr id="5" name="Picture 4">
            <a:extLst>
              <a:ext uri="{FF2B5EF4-FFF2-40B4-BE49-F238E27FC236}">
                <a16:creationId xmlns:a16="http://schemas.microsoft.com/office/drawing/2014/main" id="{F135AC47-4AEE-D3E7-399D-E58CB68E3418}"/>
              </a:ext>
            </a:extLst>
          </p:cNvPr>
          <p:cNvPicPr>
            <a:picLocks noChangeAspect="1"/>
          </p:cNvPicPr>
          <p:nvPr/>
        </p:nvPicPr>
        <p:blipFill>
          <a:blip r:embed="rId4"/>
          <a:stretch>
            <a:fillRect/>
          </a:stretch>
        </p:blipFill>
        <p:spPr>
          <a:xfrm>
            <a:off x="6624558" y="2176670"/>
            <a:ext cx="4642289" cy="3721584"/>
          </a:xfrm>
          <a:prstGeom prst="rect">
            <a:avLst/>
          </a:prstGeom>
        </p:spPr>
      </p:pic>
    </p:spTree>
    <p:extLst>
      <p:ext uri="{BB962C8B-B14F-4D97-AF65-F5344CB8AC3E}">
        <p14:creationId xmlns:p14="http://schemas.microsoft.com/office/powerpoint/2010/main" val="131247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30AE-0FB9-3BCD-48D7-10F7E83BA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7BE99-4CC0-5ED5-EE05-BFBB780AB3FF}"/>
              </a:ext>
            </a:extLst>
          </p:cNvPr>
          <p:cNvSpPr>
            <a:spLocks noGrp="1"/>
          </p:cNvSpPr>
          <p:nvPr>
            <p:ph type="title"/>
          </p:nvPr>
        </p:nvSpPr>
        <p:spPr/>
        <p:txBody>
          <a:bodyPr/>
          <a:lstStyle/>
          <a:p>
            <a:r>
              <a:rPr lang="en-US" dirty="0"/>
              <a:t>The File Stream Classes</a:t>
            </a:r>
          </a:p>
        </p:txBody>
      </p:sp>
      <p:sp>
        <p:nvSpPr>
          <p:cNvPr id="3" name="Content Placeholder 2">
            <a:extLst>
              <a:ext uri="{FF2B5EF4-FFF2-40B4-BE49-F238E27FC236}">
                <a16:creationId xmlns:a16="http://schemas.microsoft.com/office/drawing/2014/main" id="{81F3007A-CA14-23F0-A992-FF90A52D5E5E}"/>
              </a:ext>
            </a:extLst>
          </p:cNvPr>
          <p:cNvSpPr>
            <a:spLocks noGrp="1"/>
          </p:cNvSpPr>
          <p:nvPr>
            <p:ph idx="1"/>
          </p:nvPr>
        </p:nvSpPr>
        <p:spPr>
          <a:xfrm>
            <a:off x="838200" y="1825625"/>
            <a:ext cx="10515600" cy="4290504"/>
          </a:xfrm>
        </p:spPr>
        <p:txBody>
          <a:bodyPr>
            <a:normAutofit/>
          </a:bodyPr>
          <a:lstStyle/>
          <a:p>
            <a:r>
              <a:rPr lang="en-US" dirty="0"/>
              <a:t>The loop of lines 22–25 terminates only when the extraction operator fails to read the next word at the end of the file. </a:t>
            </a:r>
          </a:p>
          <a:p>
            <a:r>
              <a:rPr lang="en-US" dirty="0"/>
              <a:t>File stream objects set a number of error flags whenever an input or output operation fails. </a:t>
            </a:r>
          </a:p>
          <a:p>
            <a:r>
              <a:rPr lang="en-US" dirty="0"/>
              <a:t>Once an error flag is set, the stream will not allow further operations to be performed on it until the error flags have been cleared. </a:t>
            </a:r>
          </a:p>
          <a:p>
            <a:r>
              <a:rPr lang="en-US" dirty="0"/>
              <a:t>The call to the clear function in line 28 clears these flags, allowing the statements in lines 31 and 32 to succeed.</a:t>
            </a:r>
          </a:p>
        </p:txBody>
      </p:sp>
    </p:spTree>
    <p:extLst>
      <p:ext uri="{BB962C8B-B14F-4D97-AF65-F5344CB8AC3E}">
        <p14:creationId xmlns:p14="http://schemas.microsoft.com/office/powerpoint/2010/main" val="728457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E3CA-7C7F-EC38-D8B6-EAFBFD8AC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CF86C-EFEB-4408-41D4-1D324BDBD670}"/>
              </a:ext>
            </a:extLst>
          </p:cNvPr>
          <p:cNvSpPr>
            <a:spLocks noGrp="1"/>
          </p:cNvSpPr>
          <p:nvPr>
            <p:ph type="title"/>
          </p:nvPr>
        </p:nvSpPr>
        <p:spPr/>
        <p:txBody>
          <a:bodyPr/>
          <a:lstStyle/>
          <a:p>
            <a:r>
              <a:rPr lang="en-US" dirty="0"/>
              <a:t>File Open Modes</a:t>
            </a:r>
          </a:p>
        </p:txBody>
      </p:sp>
      <p:sp>
        <p:nvSpPr>
          <p:cNvPr id="3" name="Content Placeholder 2">
            <a:extLst>
              <a:ext uri="{FF2B5EF4-FFF2-40B4-BE49-F238E27FC236}">
                <a16:creationId xmlns:a16="http://schemas.microsoft.com/office/drawing/2014/main" id="{07B560C3-A1E5-650D-13EC-007D59E1C0A9}"/>
              </a:ext>
            </a:extLst>
          </p:cNvPr>
          <p:cNvSpPr>
            <a:spLocks noGrp="1"/>
          </p:cNvSpPr>
          <p:nvPr>
            <p:ph idx="1"/>
          </p:nvPr>
        </p:nvSpPr>
        <p:spPr>
          <a:xfrm>
            <a:off x="838200" y="1825625"/>
            <a:ext cx="10515600" cy="4290504"/>
          </a:xfrm>
        </p:spPr>
        <p:txBody>
          <a:bodyPr>
            <a:normAutofit/>
          </a:bodyPr>
          <a:lstStyle/>
          <a:p>
            <a:r>
              <a:rPr lang="en-US" dirty="0"/>
              <a:t>A </a:t>
            </a:r>
            <a:r>
              <a:rPr lang="en-US" b="1" dirty="0">
                <a:hlinkClick r:id="rId3">
                  <a:extLst>
                    <a:ext uri="{A12FA001-AC4F-418D-AE19-62706E023703}">
                      <ahyp:hlinkClr xmlns:ahyp="http://schemas.microsoft.com/office/drawing/2018/hyperlinkcolor" val="tx"/>
                    </a:ext>
                  </a:extLst>
                </a:hlinkClick>
              </a:rPr>
              <a:t>file open mode</a:t>
            </a:r>
            <a:r>
              <a:rPr lang="en-US" b="1" dirty="0"/>
              <a:t> </a:t>
            </a:r>
            <a:r>
              <a:rPr lang="en-US" dirty="0"/>
              <a:t>is a setting that determines how the file can be used. </a:t>
            </a:r>
          </a:p>
          <a:p>
            <a:r>
              <a:rPr lang="en-US" dirty="0"/>
              <a:t>The type </a:t>
            </a:r>
            <a:r>
              <a:rPr lang="en-US" i="1" dirty="0" err="1">
                <a:solidFill>
                  <a:srgbClr val="FF0000"/>
                </a:solidFill>
              </a:rPr>
              <a:t>openmode</a:t>
            </a:r>
            <a:r>
              <a:rPr lang="en-US" dirty="0"/>
              <a:t> is defined in a stream-related class called </a:t>
            </a:r>
            <a:r>
              <a:rPr lang="en-US" dirty="0" err="1">
                <a:solidFill>
                  <a:srgbClr val="FF0000"/>
                </a:solidFill>
              </a:rPr>
              <a:t>ios</a:t>
            </a:r>
            <a:r>
              <a:rPr lang="en-US" dirty="0">
                <a:solidFill>
                  <a:srgbClr val="FF0000"/>
                </a:solidFill>
              </a:rPr>
              <a:t>.</a:t>
            </a:r>
          </a:p>
          <a:p>
            <a:r>
              <a:rPr lang="en-US" dirty="0"/>
              <a:t>Values of this type are static constant members of the </a:t>
            </a:r>
            <a:r>
              <a:rPr lang="en-US" dirty="0" err="1">
                <a:solidFill>
                  <a:srgbClr val="FF0000"/>
                </a:solidFill>
              </a:rPr>
              <a:t>ios</a:t>
            </a:r>
            <a:r>
              <a:rPr lang="en-US" dirty="0">
                <a:solidFill>
                  <a:srgbClr val="FF0000"/>
                </a:solidFill>
              </a:rPr>
              <a:t> </a:t>
            </a:r>
            <a:r>
              <a:rPr lang="en-US" dirty="0"/>
              <a:t>class.</a:t>
            </a:r>
          </a:p>
          <a:p>
            <a:r>
              <a:rPr lang="en-US" dirty="0"/>
              <a:t>Each such value represents a flag or an option that can be set when the file is opened.</a:t>
            </a:r>
          </a:p>
        </p:txBody>
      </p:sp>
    </p:spTree>
    <p:extLst>
      <p:ext uri="{BB962C8B-B14F-4D97-AF65-F5344CB8AC3E}">
        <p14:creationId xmlns:p14="http://schemas.microsoft.com/office/powerpoint/2010/main" val="900084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2634E-DB67-28AB-36BE-A3A3AD704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E5C65-3E2B-4FFF-DC24-BC032D2D4726}"/>
              </a:ext>
            </a:extLst>
          </p:cNvPr>
          <p:cNvSpPr>
            <a:spLocks noGrp="1"/>
          </p:cNvSpPr>
          <p:nvPr>
            <p:ph type="title"/>
          </p:nvPr>
        </p:nvSpPr>
        <p:spPr/>
        <p:txBody>
          <a:bodyPr/>
          <a:lstStyle/>
          <a:p>
            <a:r>
              <a:rPr lang="en-US" dirty="0"/>
              <a:t>File Open Modes</a:t>
            </a:r>
          </a:p>
        </p:txBody>
      </p:sp>
      <p:sp>
        <p:nvSpPr>
          <p:cNvPr id="3" name="Content Placeholder 2">
            <a:extLst>
              <a:ext uri="{FF2B5EF4-FFF2-40B4-BE49-F238E27FC236}">
                <a16:creationId xmlns:a16="http://schemas.microsoft.com/office/drawing/2014/main" id="{7213495C-1A0D-51DB-64B4-FB10561F5567}"/>
              </a:ext>
            </a:extLst>
          </p:cNvPr>
          <p:cNvSpPr>
            <a:spLocks noGrp="1"/>
          </p:cNvSpPr>
          <p:nvPr>
            <p:ph idx="1"/>
          </p:nvPr>
        </p:nvSpPr>
        <p:spPr>
          <a:xfrm>
            <a:off x="838200" y="1825625"/>
            <a:ext cx="10515600" cy="4290504"/>
          </a:xfrm>
        </p:spPr>
        <p:txBody>
          <a:bodyPr>
            <a:normAutofit/>
          </a:bodyPr>
          <a:lstStyle/>
          <a:p>
            <a:r>
              <a:rPr lang="en-US" dirty="0"/>
              <a:t>The </a:t>
            </a:r>
            <a:r>
              <a:rPr lang="en-US" i="1" dirty="0"/>
              <a:t>binary or</a:t>
            </a:r>
            <a:r>
              <a:rPr lang="en-US" dirty="0"/>
              <a:t> </a:t>
            </a:r>
            <a:r>
              <a:rPr lang="en-US" dirty="0">
                <a:solidFill>
                  <a:srgbClr val="FF0000"/>
                </a:solidFill>
              </a:rPr>
              <a:t>operator | </a:t>
            </a:r>
            <a:r>
              <a:rPr lang="en-US" dirty="0"/>
              <a:t>can be used to combine the effect of two or more flags. </a:t>
            </a:r>
          </a:p>
          <a:p>
            <a:r>
              <a:rPr lang="en-US" dirty="0"/>
              <a:t>For example, the open mode causes the file to be opened for both input and output, with output initially taking place at the end of the file.</a:t>
            </a:r>
          </a:p>
        </p:txBody>
      </p:sp>
      <p:pic>
        <p:nvPicPr>
          <p:cNvPr id="4" name="Picture 3">
            <a:extLst>
              <a:ext uri="{FF2B5EF4-FFF2-40B4-BE49-F238E27FC236}">
                <a16:creationId xmlns:a16="http://schemas.microsoft.com/office/drawing/2014/main" id="{172314F0-C6E6-BE93-F037-A487D0438174}"/>
              </a:ext>
            </a:extLst>
          </p:cNvPr>
          <p:cNvPicPr>
            <a:picLocks noChangeAspect="1"/>
          </p:cNvPicPr>
          <p:nvPr/>
        </p:nvPicPr>
        <p:blipFill>
          <a:blip r:embed="rId2"/>
          <a:stretch>
            <a:fillRect/>
          </a:stretch>
        </p:blipFill>
        <p:spPr>
          <a:xfrm>
            <a:off x="3749040" y="3970877"/>
            <a:ext cx="4693920" cy="604520"/>
          </a:xfrm>
          <a:prstGeom prst="rect">
            <a:avLst/>
          </a:prstGeom>
        </p:spPr>
      </p:pic>
    </p:spTree>
    <p:extLst>
      <p:ext uri="{BB962C8B-B14F-4D97-AF65-F5344CB8AC3E}">
        <p14:creationId xmlns:p14="http://schemas.microsoft.com/office/powerpoint/2010/main" val="2996652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712E1-D6E7-8DD8-A353-CF95C7D75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720DE-E036-50F2-601E-31B0998D6319}"/>
              </a:ext>
            </a:extLst>
          </p:cNvPr>
          <p:cNvSpPr>
            <a:spLocks noGrp="1"/>
          </p:cNvSpPr>
          <p:nvPr>
            <p:ph type="title"/>
          </p:nvPr>
        </p:nvSpPr>
        <p:spPr/>
        <p:txBody>
          <a:bodyPr/>
          <a:lstStyle/>
          <a:p>
            <a:r>
              <a:rPr lang="en-US" dirty="0"/>
              <a:t>File Open Modes</a:t>
            </a:r>
          </a:p>
        </p:txBody>
      </p:sp>
      <p:sp>
        <p:nvSpPr>
          <p:cNvPr id="3" name="Content Placeholder 2">
            <a:extLst>
              <a:ext uri="{FF2B5EF4-FFF2-40B4-BE49-F238E27FC236}">
                <a16:creationId xmlns:a16="http://schemas.microsoft.com/office/drawing/2014/main" id="{79325238-256D-8347-BCA3-B6165C6E0E14}"/>
              </a:ext>
            </a:extLst>
          </p:cNvPr>
          <p:cNvSpPr>
            <a:spLocks noGrp="1"/>
          </p:cNvSpPr>
          <p:nvPr>
            <p:ph idx="1"/>
          </p:nvPr>
        </p:nvSpPr>
        <p:spPr>
          <a:xfrm>
            <a:off x="838200" y="1825625"/>
            <a:ext cx="10515600" cy="4290504"/>
          </a:xfrm>
        </p:spPr>
        <p:txBody>
          <a:bodyPr>
            <a:normAutofit/>
          </a:bodyPr>
          <a:lstStyle/>
          <a:p>
            <a:r>
              <a:rPr lang="en-US" dirty="0"/>
              <a:t>Here is an example of opening three files for input, output, and input-output using </a:t>
            </a:r>
            <a:r>
              <a:rPr lang="en-US" dirty="0" err="1"/>
              <a:t>fstream</a:t>
            </a:r>
            <a:r>
              <a:rPr lang="en-US" dirty="0"/>
              <a:t>:</a:t>
            </a: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FB1E783D-D35A-75C5-FCE2-0D8A32F1DB35}"/>
              </a:ext>
            </a:extLst>
          </p:cNvPr>
          <p:cNvPicPr>
            <a:picLocks noChangeAspect="1"/>
          </p:cNvPicPr>
          <p:nvPr/>
        </p:nvPicPr>
        <p:blipFill>
          <a:blip r:embed="rId2"/>
          <a:stretch>
            <a:fillRect/>
          </a:stretch>
        </p:blipFill>
        <p:spPr>
          <a:xfrm>
            <a:off x="2751303" y="2881630"/>
            <a:ext cx="6689393" cy="1553210"/>
          </a:xfrm>
          <a:prstGeom prst="rect">
            <a:avLst/>
          </a:prstGeom>
        </p:spPr>
      </p:pic>
    </p:spTree>
    <p:extLst>
      <p:ext uri="{BB962C8B-B14F-4D97-AF65-F5344CB8AC3E}">
        <p14:creationId xmlns:p14="http://schemas.microsoft.com/office/powerpoint/2010/main" val="485340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05A1-3278-DC66-2FD2-1BF65006C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43992-6C39-51B4-98ED-8A8FAC681766}"/>
              </a:ext>
            </a:extLst>
          </p:cNvPr>
          <p:cNvSpPr>
            <a:spLocks noGrp="1"/>
          </p:cNvSpPr>
          <p:nvPr>
            <p:ph type="title"/>
          </p:nvPr>
        </p:nvSpPr>
        <p:spPr/>
        <p:txBody>
          <a:bodyPr/>
          <a:lstStyle/>
          <a:p>
            <a:r>
              <a:rPr lang="en-US" dirty="0"/>
              <a:t>File Open Modes</a:t>
            </a:r>
          </a:p>
        </p:txBody>
      </p:sp>
      <p:sp>
        <p:nvSpPr>
          <p:cNvPr id="3" name="Content Placeholder 2">
            <a:extLst>
              <a:ext uri="{FF2B5EF4-FFF2-40B4-BE49-F238E27FC236}">
                <a16:creationId xmlns:a16="http://schemas.microsoft.com/office/drawing/2014/main" id="{AC4600DF-E58F-DB52-7EE9-3FF1BF064F00}"/>
              </a:ext>
            </a:extLst>
          </p:cNvPr>
          <p:cNvSpPr>
            <a:spLocks noGrp="1"/>
          </p:cNvSpPr>
          <p:nvPr>
            <p:ph idx="1"/>
          </p:nvPr>
        </p:nvSpPr>
        <p:spPr>
          <a:xfrm>
            <a:off x="838200" y="1825625"/>
            <a:ext cx="10515600" cy="4290504"/>
          </a:xfrm>
        </p:spPr>
        <p:txBody>
          <a:bodyPr>
            <a:normAutofit/>
          </a:bodyPr>
          <a:lstStyle/>
          <a:p>
            <a:pPr algn="l"/>
            <a:r>
              <a:rPr lang="en-US" dirty="0">
                <a:effectLst/>
              </a:rPr>
              <a:t>When used by itself, the </a:t>
            </a:r>
            <a:r>
              <a:rPr lang="en-US" dirty="0" err="1">
                <a:effectLst/>
              </a:rPr>
              <a:t>ios</a:t>
            </a:r>
            <a:r>
              <a:rPr lang="en-US" dirty="0">
                <a:effectLst/>
              </a:rPr>
              <a:t>::out flag causes the contents of an existing file to be deleted, the assumption being that the programmer wants to overwrite the file. </a:t>
            </a:r>
          </a:p>
          <a:p>
            <a:pPr algn="l"/>
            <a:r>
              <a:rPr lang="en-US" dirty="0">
                <a:effectLst/>
              </a:rPr>
              <a:t>If </a:t>
            </a:r>
            <a:r>
              <a:rPr lang="en-US" dirty="0" err="1">
                <a:effectLst/>
              </a:rPr>
              <a:t>ios</a:t>
            </a:r>
            <a:r>
              <a:rPr lang="en-US" dirty="0">
                <a:effectLst/>
              </a:rPr>
              <a:t>::out is combined with </a:t>
            </a:r>
            <a:r>
              <a:rPr lang="en-US" dirty="0" err="1">
                <a:effectLst/>
              </a:rPr>
              <a:t>ios</a:t>
            </a:r>
            <a:r>
              <a:rPr lang="en-US" dirty="0">
                <a:effectLst/>
              </a:rPr>
              <a:t>::app, the contents of the existing file are preserved, and all new data is appended to the end of the file.</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4222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3AE5-56A1-782F-B03F-25BE0B2428C1}"/>
              </a:ext>
            </a:extLst>
          </p:cNvPr>
          <p:cNvSpPr>
            <a:spLocks noGrp="1"/>
          </p:cNvSpPr>
          <p:nvPr>
            <p:ph type="title"/>
          </p:nvPr>
        </p:nvSpPr>
        <p:spPr/>
        <p:txBody>
          <a:bodyPr/>
          <a:lstStyle/>
          <a:p>
            <a:r>
              <a:rPr lang="en-US" dirty="0"/>
              <a:t>Using Constructors to Open Files</a:t>
            </a:r>
          </a:p>
        </p:txBody>
      </p:sp>
      <p:sp>
        <p:nvSpPr>
          <p:cNvPr id="3" name="Content Placeholder 2">
            <a:extLst>
              <a:ext uri="{FF2B5EF4-FFF2-40B4-BE49-F238E27FC236}">
                <a16:creationId xmlns:a16="http://schemas.microsoft.com/office/drawing/2014/main" id="{D62AAF0F-A68B-762B-3620-450AD441B186}"/>
              </a:ext>
            </a:extLst>
          </p:cNvPr>
          <p:cNvSpPr>
            <a:spLocks noGrp="1"/>
          </p:cNvSpPr>
          <p:nvPr>
            <p:ph idx="1"/>
          </p:nvPr>
        </p:nvSpPr>
        <p:spPr/>
        <p:txBody>
          <a:bodyPr/>
          <a:lstStyle/>
          <a:p>
            <a:r>
              <a:rPr lang="en-US" dirty="0"/>
              <a:t>Using one of the initialization constructors, you can create a stream object and open a file in a single statement:</a:t>
            </a:r>
          </a:p>
        </p:txBody>
      </p:sp>
      <p:pic>
        <p:nvPicPr>
          <p:cNvPr id="4" name="Picture 3">
            <a:extLst>
              <a:ext uri="{FF2B5EF4-FFF2-40B4-BE49-F238E27FC236}">
                <a16:creationId xmlns:a16="http://schemas.microsoft.com/office/drawing/2014/main" id="{AB0E2477-FBE9-7976-FFBF-21F5909DCCE3}"/>
              </a:ext>
            </a:extLst>
          </p:cNvPr>
          <p:cNvPicPr>
            <a:picLocks noChangeAspect="1"/>
          </p:cNvPicPr>
          <p:nvPr/>
        </p:nvPicPr>
        <p:blipFill>
          <a:blip r:embed="rId2"/>
          <a:stretch>
            <a:fillRect/>
          </a:stretch>
        </p:blipFill>
        <p:spPr>
          <a:xfrm>
            <a:off x="2399771" y="3186288"/>
            <a:ext cx="7392457" cy="776111"/>
          </a:xfrm>
          <a:prstGeom prst="rect">
            <a:avLst/>
          </a:prstGeom>
        </p:spPr>
      </p:pic>
    </p:spTree>
    <p:extLst>
      <p:ext uri="{BB962C8B-B14F-4D97-AF65-F5344CB8AC3E}">
        <p14:creationId xmlns:p14="http://schemas.microsoft.com/office/powerpoint/2010/main" val="2784712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34E10-88E8-1BA9-DDB7-5FA45CF42935}"/>
              </a:ext>
            </a:extLst>
          </p:cNvPr>
          <p:cNvSpPr>
            <a:spLocks noGrp="1"/>
          </p:cNvSpPr>
          <p:nvPr>
            <p:ph type="title"/>
          </p:nvPr>
        </p:nvSpPr>
        <p:spPr/>
        <p:txBody>
          <a:bodyPr/>
          <a:lstStyle/>
          <a:p>
            <a:r>
              <a:rPr lang="en-US" dirty="0"/>
              <a:t>Output Formatting and I/O Manipulators</a:t>
            </a:r>
          </a:p>
        </p:txBody>
      </p:sp>
      <p:sp>
        <p:nvSpPr>
          <p:cNvPr id="3" name="Content Placeholder 2">
            <a:extLst>
              <a:ext uri="{FF2B5EF4-FFF2-40B4-BE49-F238E27FC236}">
                <a16:creationId xmlns:a16="http://schemas.microsoft.com/office/drawing/2014/main" id="{BC404163-202C-A3CF-9DC3-DE9058911C82}"/>
              </a:ext>
            </a:extLst>
          </p:cNvPr>
          <p:cNvSpPr>
            <a:spLocks noGrp="1"/>
          </p:cNvSpPr>
          <p:nvPr>
            <p:ph idx="1"/>
          </p:nvPr>
        </p:nvSpPr>
        <p:spPr/>
        <p:txBody>
          <a:bodyPr>
            <a:normAutofit/>
          </a:bodyPr>
          <a:lstStyle/>
          <a:p>
            <a:r>
              <a:rPr lang="en-US" dirty="0"/>
              <a:t>The I/O manipulators you learned about before can be used on stream objects. </a:t>
            </a:r>
          </a:p>
          <a:p>
            <a:r>
              <a:rPr lang="en-US" dirty="0"/>
              <a:t>Such as these manipulators can be used on </a:t>
            </a:r>
            <a:r>
              <a:rPr lang="en-US" dirty="0" err="1"/>
              <a:t>fstream</a:t>
            </a:r>
            <a:r>
              <a:rPr lang="en-US" dirty="0"/>
              <a:t>, </a:t>
            </a:r>
            <a:r>
              <a:rPr lang="en-US" dirty="0" err="1"/>
              <a:t>ofstream</a:t>
            </a:r>
            <a:r>
              <a:rPr lang="en-US" dirty="0"/>
              <a:t>, and </a:t>
            </a:r>
            <a:r>
              <a:rPr lang="en-US" dirty="0" err="1"/>
              <a:t>ostringstream</a:t>
            </a:r>
            <a:r>
              <a:rPr lang="en-US" dirty="0"/>
              <a:t> objects</a:t>
            </a:r>
          </a:p>
          <a:p>
            <a:endParaRPr lang="en-US" dirty="0"/>
          </a:p>
          <a:p>
            <a:endParaRPr lang="en-US" dirty="0"/>
          </a:p>
          <a:p>
            <a:endParaRPr lang="en-US" dirty="0"/>
          </a:p>
          <a:p>
            <a:r>
              <a:rPr lang="en-US" dirty="0"/>
              <a:t>. </a:t>
            </a:r>
          </a:p>
        </p:txBody>
      </p:sp>
      <p:pic>
        <p:nvPicPr>
          <p:cNvPr id="4" name="Picture 3">
            <a:extLst>
              <a:ext uri="{FF2B5EF4-FFF2-40B4-BE49-F238E27FC236}">
                <a16:creationId xmlns:a16="http://schemas.microsoft.com/office/drawing/2014/main" id="{8615E6B7-FCFB-C5F9-71D8-7B9D958A808A}"/>
              </a:ext>
            </a:extLst>
          </p:cNvPr>
          <p:cNvPicPr>
            <a:picLocks noChangeAspect="1"/>
          </p:cNvPicPr>
          <p:nvPr/>
        </p:nvPicPr>
        <p:blipFill>
          <a:blip r:embed="rId2"/>
          <a:stretch>
            <a:fillRect/>
          </a:stretch>
        </p:blipFill>
        <p:spPr>
          <a:xfrm>
            <a:off x="4375150" y="3899606"/>
            <a:ext cx="3441700" cy="977900"/>
          </a:xfrm>
          <a:prstGeom prst="rect">
            <a:avLst/>
          </a:prstGeom>
        </p:spPr>
      </p:pic>
    </p:spTree>
    <p:extLst>
      <p:ext uri="{BB962C8B-B14F-4D97-AF65-F5344CB8AC3E}">
        <p14:creationId xmlns:p14="http://schemas.microsoft.com/office/powerpoint/2010/main" val="531191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7E870-D692-F7C2-00F8-65F38FC43C08}"/>
              </a:ext>
            </a:extLst>
          </p:cNvPr>
          <p:cNvSpPr>
            <a:spLocks noGrp="1"/>
          </p:cNvSpPr>
          <p:nvPr>
            <p:ph type="title"/>
          </p:nvPr>
        </p:nvSpPr>
        <p:spPr/>
        <p:txBody>
          <a:bodyPr/>
          <a:lstStyle/>
          <a:p>
            <a:r>
              <a:rPr lang="en-US" dirty="0"/>
              <a:t>More Detailed Error Testing</a:t>
            </a:r>
          </a:p>
        </p:txBody>
      </p:sp>
      <p:sp>
        <p:nvSpPr>
          <p:cNvPr id="3" name="Content Placeholder 2">
            <a:extLst>
              <a:ext uri="{FF2B5EF4-FFF2-40B4-BE49-F238E27FC236}">
                <a16:creationId xmlns:a16="http://schemas.microsoft.com/office/drawing/2014/main" id="{0808594A-EF72-0812-884F-307DB42911F9}"/>
              </a:ext>
            </a:extLst>
          </p:cNvPr>
          <p:cNvSpPr>
            <a:spLocks noGrp="1"/>
          </p:cNvSpPr>
          <p:nvPr>
            <p:ph idx="1"/>
          </p:nvPr>
        </p:nvSpPr>
        <p:spPr/>
        <p:txBody>
          <a:bodyPr/>
          <a:lstStyle/>
          <a:p>
            <a:r>
              <a:rPr lang="en-US" dirty="0"/>
              <a:t>All stream objects contain a set of bits that act as flags. </a:t>
            </a:r>
          </a:p>
          <a:p>
            <a:r>
              <a:rPr lang="en-US" dirty="0"/>
              <a:t>These flags indicate the current state of the stream</a:t>
            </a:r>
          </a:p>
        </p:txBody>
      </p:sp>
      <p:pic>
        <p:nvPicPr>
          <p:cNvPr id="4" name="Picture 3">
            <a:extLst>
              <a:ext uri="{FF2B5EF4-FFF2-40B4-BE49-F238E27FC236}">
                <a16:creationId xmlns:a16="http://schemas.microsoft.com/office/drawing/2014/main" id="{CE0D27F6-AEB3-8704-60F1-AE11D963F3F1}"/>
              </a:ext>
            </a:extLst>
          </p:cNvPr>
          <p:cNvPicPr>
            <a:picLocks noChangeAspect="1"/>
          </p:cNvPicPr>
          <p:nvPr/>
        </p:nvPicPr>
        <p:blipFill>
          <a:blip r:embed="rId2"/>
          <a:stretch>
            <a:fillRect/>
          </a:stretch>
        </p:blipFill>
        <p:spPr>
          <a:xfrm>
            <a:off x="2675271" y="3184703"/>
            <a:ext cx="6841458" cy="2992260"/>
          </a:xfrm>
          <a:prstGeom prst="rect">
            <a:avLst/>
          </a:prstGeom>
        </p:spPr>
      </p:pic>
    </p:spTree>
    <p:extLst>
      <p:ext uri="{BB962C8B-B14F-4D97-AF65-F5344CB8AC3E}">
        <p14:creationId xmlns:p14="http://schemas.microsoft.com/office/powerpoint/2010/main" val="765759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E60F-79D5-6CEF-3409-C943AD591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8AF1F-FCAD-DD55-92D9-D54DFD2EEB31}"/>
              </a:ext>
            </a:extLst>
          </p:cNvPr>
          <p:cNvSpPr>
            <a:spLocks noGrp="1"/>
          </p:cNvSpPr>
          <p:nvPr>
            <p:ph type="title"/>
          </p:nvPr>
        </p:nvSpPr>
        <p:spPr/>
        <p:txBody>
          <a:bodyPr/>
          <a:lstStyle/>
          <a:p>
            <a:r>
              <a:rPr lang="en-US" dirty="0"/>
              <a:t>More Detailed Error Testing: Example</a:t>
            </a:r>
          </a:p>
        </p:txBody>
      </p:sp>
      <p:sp>
        <p:nvSpPr>
          <p:cNvPr id="3" name="Content Placeholder 2">
            <a:extLst>
              <a:ext uri="{FF2B5EF4-FFF2-40B4-BE49-F238E27FC236}">
                <a16:creationId xmlns:a16="http://schemas.microsoft.com/office/drawing/2014/main" id="{05C6D2DB-7B98-A0B9-07B4-FD8CA9107962}"/>
              </a:ext>
            </a:extLst>
          </p:cNvPr>
          <p:cNvSpPr>
            <a:spLocks noGrp="1"/>
          </p:cNvSpPr>
          <p:nvPr>
            <p:ph idx="1"/>
          </p:nvPr>
        </p:nvSpPr>
        <p:spPr>
          <a:xfrm>
            <a:off x="838200" y="1825625"/>
            <a:ext cx="4298244" cy="4351338"/>
          </a:xfrm>
        </p:spPr>
        <p:txBody>
          <a:bodyPr/>
          <a:lstStyle/>
          <a:p>
            <a:r>
              <a:rPr lang="en-US" dirty="0"/>
              <a:t>The function </a:t>
            </a:r>
            <a:r>
              <a:rPr lang="en-US" dirty="0" err="1"/>
              <a:t>showState</a:t>
            </a:r>
            <a:r>
              <a:rPr lang="en-US" dirty="0"/>
              <a:t>, shown here, accepts a file stream reference as its argument. </a:t>
            </a:r>
          </a:p>
          <a:p>
            <a:r>
              <a:rPr lang="en-US" dirty="0"/>
              <a:t>It shows the state of the file by displaying the return values of the </a:t>
            </a:r>
            <a:r>
              <a:rPr lang="en-US" dirty="0" err="1"/>
              <a:t>eof</a:t>
            </a:r>
            <a:r>
              <a:rPr lang="en-US" dirty="0"/>
              <a:t>(), fail(), bad(), and good() member functions.</a:t>
            </a:r>
          </a:p>
        </p:txBody>
      </p:sp>
      <p:pic>
        <p:nvPicPr>
          <p:cNvPr id="6" name="Picture 5">
            <a:extLst>
              <a:ext uri="{FF2B5EF4-FFF2-40B4-BE49-F238E27FC236}">
                <a16:creationId xmlns:a16="http://schemas.microsoft.com/office/drawing/2014/main" id="{1ED6B2A9-1F53-6DA2-1A14-305C8E625940}"/>
              </a:ext>
            </a:extLst>
          </p:cNvPr>
          <p:cNvPicPr>
            <a:picLocks noChangeAspect="1"/>
          </p:cNvPicPr>
          <p:nvPr/>
        </p:nvPicPr>
        <p:blipFill>
          <a:blip r:embed="rId2"/>
          <a:stretch>
            <a:fillRect/>
          </a:stretch>
        </p:blipFill>
        <p:spPr>
          <a:xfrm>
            <a:off x="5483577" y="2184224"/>
            <a:ext cx="6031648" cy="2829278"/>
          </a:xfrm>
          <a:prstGeom prst="rect">
            <a:avLst/>
          </a:prstGeom>
        </p:spPr>
      </p:pic>
    </p:spTree>
    <p:extLst>
      <p:ext uri="{BB962C8B-B14F-4D97-AF65-F5344CB8AC3E}">
        <p14:creationId xmlns:p14="http://schemas.microsoft.com/office/powerpoint/2010/main" val="2316112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16FBD-B868-D877-7B15-62095547A0BD}"/>
              </a:ext>
            </a:extLst>
          </p:cNvPr>
          <p:cNvSpPr>
            <a:spLocks noGrp="1"/>
          </p:cNvSpPr>
          <p:nvPr>
            <p:ph type="title"/>
          </p:nvPr>
        </p:nvSpPr>
        <p:spPr>
          <a:xfrm>
            <a:off x="88429" y="173130"/>
            <a:ext cx="4686525" cy="1325563"/>
          </a:xfrm>
        </p:spPr>
        <p:txBody>
          <a:bodyPr/>
          <a:lstStyle/>
          <a:p>
            <a:r>
              <a:rPr lang="en-US" dirty="0"/>
              <a:t>The main() function</a:t>
            </a:r>
          </a:p>
        </p:txBody>
      </p:sp>
      <p:pic>
        <p:nvPicPr>
          <p:cNvPr id="4" name="Picture 3">
            <a:extLst>
              <a:ext uri="{FF2B5EF4-FFF2-40B4-BE49-F238E27FC236}">
                <a16:creationId xmlns:a16="http://schemas.microsoft.com/office/drawing/2014/main" id="{AA438100-9068-050E-975B-F4058CAA079E}"/>
              </a:ext>
            </a:extLst>
          </p:cNvPr>
          <p:cNvPicPr>
            <a:picLocks noChangeAspect="1"/>
          </p:cNvPicPr>
          <p:nvPr/>
        </p:nvPicPr>
        <p:blipFill>
          <a:blip r:embed="rId2"/>
          <a:stretch>
            <a:fillRect/>
          </a:stretch>
        </p:blipFill>
        <p:spPr>
          <a:xfrm>
            <a:off x="85602" y="1433342"/>
            <a:ext cx="4853517" cy="5251528"/>
          </a:xfrm>
          <a:prstGeom prst="rect">
            <a:avLst/>
          </a:prstGeom>
        </p:spPr>
      </p:pic>
      <p:pic>
        <p:nvPicPr>
          <p:cNvPr id="5" name="Picture 4">
            <a:extLst>
              <a:ext uri="{FF2B5EF4-FFF2-40B4-BE49-F238E27FC236}">
                <a16:creationId xmlns:a16="http://schemas.microsoft.com/office/drawing/2014/main" id="{8EF26A66-CBC0-83F4-1334-AB7840D60C89}"/>
              </a:ext>
            </a:extLst>
          </p:cNvPr>
          <p:cNvPicPr>
            <a:picLocks noChangeAspect="1"/>
          </p:cNvPicPr>
          <p:nvPr/>
        </p:nvPicPr>
        <p:blipFill>
          <a:blip r:embed="rId3"/>
          <a:stretch>
            <a:fillRect/>
          </a:stretch>
        </p:blipFill>
        <p:spPr>
          <a:xfrm>
            <a:off x="5109638" y="150087"/>
            <a:ext cx="4378922" cy="4173821"/>
          </a:xfrm>
          <a:prstGeom prst="rect">
            <a:avLst/>
          </a:prstGeom>
        </p:spPr>
      </p:pic>
      <p:pic>
        <p:nvPicPr>
          <p:cNvPr id="6" name="Picture 5">
            <a:extLst>
              <a:ext uri="{FF2B5EF4-FFF2-40B4-BE49-F238E27FC236}">
                <a16:creationId xmlns:a16="http://schemas.microsoft.com/office/drawing/2014/main" id="{A4E2A1DD-1856-2042-4CE2-CF0BE3D4A4CB}"/>
              </a:ext>
            </a:extLst>
          </p:cNvPr>
          <p:cNvPicPr>
            <a:picLocks noChangeAspect="1"/>
          </p:cNvPicPr>
          <p:nvPr/>
        </p:nvPicPr>
        <p:blipFill>
          <a:blip r:embed="rId4"/>
          <a:stretch>
            <a:fillRect/>
          </a:stretch>
        </p:blipFill>
        <p:spPr>
          <a:xfrm>
            <a:off x="5109638" y="4542184"/>
            <a:ext cx="4404452" cy="1952713"/>
          </a:xfrm>
          <a:prstGeom prst="rect">
            <a:avLst/>
          </a:prstGeom>
        </p:spPr>
      </p:pic>
      <p:pic>
        <p:nvPicPr>
          <p:cNvPr id="7" name="Picture 6">
            <a:extLst>
              <a:ext uri="{FF2B5EF4-FFF2-40B4-BE49-F238E27FC236}">
                <a16:creationId xmlns:a16="http://schemas.microsoft.com/office/drawing/2014/main" id="{7971E10F-1EE4-7B8C-0FDA-7C06F860733C}"/>
              </a:ext>
            </a:extLst>
          </p:cNvPr>
          <p:cNvPicPr>
            <a:picLocks noChangeAspect="1"/>
          </p:cNvPicPr>
          <p:nvPr/>
        </p:nvPicPr>
        <p:blipFill>
          <a:blip r:embed="rId5"/>
          <a:stretch>
            <a:fillRect/>
          </a:stretch>
        </p:blipFill>
        <p:spPr>
          <a:xfrm>
            <a:off x="9652725" y="711112"/>
            <a:ext cx="2450846" cy="4807429"/>
          </a:xfrm>
          <a:prstGeom prst="rect">
            <a:avLst/>
          </a:prstGeom>
        </p:spPr>
      </p:pic>
    </p:spTree>
    <p:extLst>
      <p:ext uri="{BB962C8B-B14F-4D97-AF65-F5344CB8AC3E}">
        <p14:creationId xmlns:p14="http://schemas.microsoft.com/office/powerpoint/2010/main" val="3851974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C0C2-1A6C-25CF-D044-8471FD317C8F}"/>
              </a:ext>
            </a:extLst>
          </p:cNvPr>
          <p:cNvSpPr>
            <a:spLocks noGrp="1"/>
          </p:cNvSpPr>
          <p:nvPr>
            <p:ph type="title"/>
          </p:nvPr>
        </p:nvSpPr>
        <p:spPr/>
        <p:txBody>
          <a:bodyPr>
            <a:normAutofit/>
          </a:bodyPr>
          <a:lstStyle/>
          <a:p>
            <a:r>
              <a:rPr lang="en-US" sz="4000" dirty="0"/>
              <a:t>Member Functions for Reading and Writing Files</a:t>
            </a:r>
          </a:p>
        </p:txBody>
      </p:sp>
      <p:sp>
        <p:nvSpPr>
          <p:cNvPr id="3" name="Content Placeholder 2">
            <a:extLst>
              <a:ext uri="{FF2B5EF4-FFF2-40B4-BE49-F238E27FC236}">
                <a16:creationId xmlns:a16="http://schemas.microsoft.com/office/drawing/2014/main" id="{87E64377-0E15-B896-2D68-B687D0997E9C}"/>
              </a:ext>
            </a:extLst>
          </p:cNvPr>
          <p:cNvSpPr>
            <a:spLocks noGrp="1"/>
          </p:cNvSpPr>
          <p:nvPr>
            <p:ph idx="1"/>
          </p:nvPr>
        </p:nvSpPr>
        <p:spPr/>
        <p:txBody>
          <a:bodyPr/>
          <a:lstStyle/>
          <a:p>
            <a:r>
              <a:rPr lang="en-US" dirty="0"/>
              <a:t>File stream objects have member functions for more specialized file reading and writing.</a:t>
            </a:r>
          </a:p>
          <a:p>
            <a:r>
              <a:rPr lang="en-US" dirty="0"/>
              <a:t>If whitespace characters are part of the information in a file, a problem arises when the file is read by the &gt;&gt; operator. </a:t>
            </a:r>
          </a:p>
          <a:p>
            <a:r>
              <a:rPr lang="en-US" dirty="0"/>
              <a:t>Since the operator considers whitespace characters as delimiters, it does not read them. </a:t>
            </a:r>
          </a:p>
        </p:txBody>
      </p:sp>
    </p:spTree>
    <p:extLst>
      <p:ext uri="{BB962C8B-B14F-4D97-AF65-F5344CB8AC3E}">
        <p14:creationId xmlns:p14="http://schemas.microsoft.com/office/powerpoint/2010/main" val="1837135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C1696-038D-61EB-0894-BF207B7F8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8C736-0A33-B5F4-01A6-312E044A7C01}"/>
              </a:ext>
            </a:extLst>
          </p:cNvPr>
          <p:cNvSpPr>
            <a:spLocks noGrp="1"/>
          </p:cNvSpPr>
          <p:nvPr>
            <p:ph type="title"/>
          </p:nvPr>
        </p:nvSpPr>
        <p:spPr/>
        <p:txBody>
          <a:bodyPr>
            <a:normAutofit/>
          </a:bodyPr>
          <a:lstStyle/>
          <a:p>
            <a:r>
              <a:rPr lang="en-US" sz="4000" dirty="0"/>
              <a:t>Member Functions for Reading and Writing Files</a:t>
            </a:r>
          </a:p>
        </p:txBody>
      </p:sp>
      <p:sp>
        <p:nvSpPr>
          <p:cNvPr id="3" name="Content Placeholder 2">
            <a:extLst>
              <a:ext uri="{FF2B5EF4-FFF2-40B4-BE49-F238E27FC236}">
                <a16:creationId xmlns:a16="http://schemas.microsoft.com/office/drawing/2014/main" id="{64EF031D-1EE8-8D13-2BBC-BE24BAFE5834}"/>
              </a:ext>
            </a:extLst>
          </p:cNvPr>
          <p:cNvSpPr>
            <a:spLocks noGrp="1"/>
          </p:cNvSpPr>
          <p:nvPr>
            <p:ph idx="1"/>
          </p:nvPr>
        </p:nvSpPr>
        <p:spPr/>
        <p:txBody>
          <a:bodyPr/>
          <a:lstStyle/>
          <a:p>
            <a:r>
              <a:rPr lang="en-US" dirty="0"/>
              <a:t>For example, consider the file </a:t>
            </a:r>
            <a:r>
              <a:rPr lang="en-US" dirty="0" err="1"/>
              <a:t>murphy.txt</a:t>
            </a:r>
            <a:r>
              <a:rPr lang="en-US" dirty="0"/>
              <a:t> that contains the following information:</a:t>
            </a:r>
          </a:p>
          <a:p>
            <a:endParaRPr lang="en-US" dirty="0"/>
          </a:p>
          <a:p>
            <a:pPr marL="0" indent="0">
              <a:buNone/>
            </a:pPr>
            <a:endParaRPr lang="en-US" dirty="0"/>
          </a:p>
          <a:p>
            <a:r>
              <a:rPr lang="en-US" dirty="0"/>
              <a:t>The following figure shows the way the information is recorded in the file.</a:t>
            </a:r>
          </a:p>
        </p:txBody>
      </p:sp>
      <p:pic>
        <p:nvPicPr>
          <p:cNvPr id="4" name="Picture 3">
            <a:extLst>
              <a:ext uri="{FF2B5EF4-FFF2-40B4-BE49-F238E27FC236}">
                <a16:creationId xmlns:a16="http://schemas.microsoft.com/office/drawing/2014/main" id="{A437062E-C416-53B7-2F54-7DAE81BF4D44}"/>
              </a:ext>
            </a:extLst>
          </p:cNvPr>
          <p:cNvPicPr>
            <a:picLocks noChangeAspect="1"/>
          </p:cNvPicPr>
          <p:nvPr/>
        </p:nvPicPr>
        <p:blipFill>
          <a:blip r:embed="rId3"/>
          <a:stretch>
            <a:fillRect/>
          </a:stretch>
        </p:blipFill>
        <p:spPr>
          <a:xfrm>
            <a:off x="5010150" y="2445456"/>
            <a:ext cx="2171700" cy="1244600"/>
          </a:xfrm>
          <a:prstGeom prst="rect">
            <a:avLst/>
          </a:prstGeom>
        </p:spPr>
      </p:pic>
      <p:pic>
        <p:nvPicPr>
          <p:cNvPr id="6" name="Picture 5">
            <a:extLst>
              <a:ext uri="{FF2B5EF4-FFF2-40B4-BE49-F238E27FC236}">
                <a16:creationId xmlns:a16="http://schemas.microsoft.com/office/drawing/2014/main" id="{AA3B199F-1001-7D94-8EAB-611AF3C95B50}"/>
              </a:ext>
            </a:extLst>
          </p:cNvPr>
          <p:cNvPicPr>
            <a:picLocks noChangeAspect="1"/>
          </p:cNvPicPr>
          <p:nvPr/>
        </p:nvPicPr>
        <p:blipFill>
          <a:blip r:embed="rId4"/>
          <a:stretch>
            <a:fillRect/>
          </a:stretch>
        </p:blipFill>
        <p:spPr>
          <a:xfrm>
            <a:off x="3041650" y="4713282"/>
            <a:ext cx="6108700" cy="2006600"/>
          </a:xfrm>
          <a:prstGeom prst="rect">
            <a:avLst/>
          </a:prstGeom>
        </p:spPr>
      </p:pic>
    </p:spTree>
    <p:extLst>
      <p:ext uri="{BB962C8B-B14F-4D97-AF65-F5344CB8AC3E}">
        <p14:creationId xmlns:p14="http://schemas.microsoft.com/office/powerpoint/2010/main" val="1158921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4D09-709F-6517-11C7-C2E1ED3C00AE}"/>
              </a:ext>
            </a:extLst>
          </p:cNvPr>
          <p:cNvSpPr>
            <a:spLocks noGrp="1"/>
          </p:cNvSpPr>
          <p:nvPr>
            <p:ph type="title"/>
          </p:nvPr>
        </p:nvSpPr>
        <p:spPr>
          <a:xfrm>
            <a:off x="838200" y="365125"/>
            <a:ext cx="5167489" cy="1325563"/>
          </a:xfrm>
        </p:spPr>
        <p:txBody>
          <a:bodyPr>
            <a:normAutofit/>
          </a:bodyPr>
          <a:lstStyle/>
          <a:p>
            <a:r>
              <a:rPr lang="en-US" sz="3600" dirty="0"/>
              <a:t>Member Functions for Reading and Writing Files</a:t>
            </a:r>
          </a:p>
        </p:txBody>
      </p:sp>
      <p:sp>
        <p:nvSpPr>
          <p:cNvPr id="3" name="Content Placeholder 2">
            <a:extLst>
              <a:ext uri="{FF2B5EF4-FFF2-40B4-BE49-F238E27FC236}">
                <a16:creationId xmlns:a16="http://schemas.microsoft.com/office/drawing/2014/main" id="{382B07C6-1218-9691-CF90-585E7210B6E7}"/>
              </a:ext>
            </a:extLst>
          </p:cNvPr>
          <p:cNvSpPr>
            <a:spLocks noGrp="1"/>
          </p:cNvSpPr>
          <p:nvPr>
            <p:ph idx="1"/>
          </p:nvPr>
        </p:nvSpPr>
        <p:spPr>
          <a:xfrm>
            <a:off x="838200" y="1825625"/>
            <a:ext cx="4693356" cy="4351338"/>
          </a:xfrm>
        </p:spPr>
        <p:txBody>
          <a:bodyPr/>
          <a:lstStyle/>
          <a:p>
            <a:r>
              <a:rPr lang="en-US" dirty="0"/>
              <a:t>The problem that arises from use of the &gt;&gt; operator is evident in the output of this example</a:t>
            </a:r>
          </a:p>
        </p:txBody>
      </p:sp>
      <p:pic>
        <p:nvPicPr>
          <p:cNvPr id="6" name="Picture 5">
            <a:extLst>
              <a:ext uri="{FF2B5EF4-FFF2-40B4-BE49-F238E27FC236}">
                <a16:creationId xmlns:a16="http://schemas.microsoft.com/office/drawing/2014/main" id="{1DF1CC5B-7720-0790-1E05-D8540A257D75}"/>
              </a:ext>
            </a:extLst>
          </p:cNvPr>
          <p:cNvPicPr>
            <a:picLocks noChangeAspect="1"/>
          </p:cNvPicPr>
          <p:nvPr/>
        </p:nvPicPr>
        <p:blipFill>
          <a:blip r:embed="rId2"/>
          <a:stretch>
            <a:fillRect/>
          </a:stretch>
        </p:blipFill>
        <p:spPr>
          <a:xfrm>
            <a:off x="6466261" y="0"/>
            <a:ext cx="4407212" cy="6858000"/>
          </a:xfrm>
          <a:prstGeom prst="rect">
            <a:avLst/>
          </a:prstGeom>
        </p:spPr>
      </p:pic>
      <p:pic>
        <p:nvPicPr>
          <p:cNvPr id="7" name="Picture 6">
            <a:extLst>
              <a:ext uri="{FF2B5EF4-FFF2-40B4-BE49-F238E27FC236}">
                <a16:creationId xmlns:a16="http://schemas.microsoft.com/office/drawing/2014/main" id="{271007D4-E69F-361C-1C9C-960272A085EE}"/>
              </a:ext>
            </a:extLst>
          </p:cNvPr>
          <p:cNvPicPr>
            <a:picLocks noChangeAspect="1"/>
          </p:cNvPicPr>
          <p:nvPr/>
        </p:nvPicPr>
        <p:blipFill>
          <a:blip r:embed="rId3"/>
          <a:stretch>
            <a:fillRect/>
          </a:stretch>
        </p:blipFill>
        <p:spPr>
          <a:xfrm>
            <a:off x="691444" y="4001294"/>
            <a:ext cx="5461000" cy="1549400"/>
          </a:xfrm>
          <a:prstGeom prst="rect">
            <a:avLst/>
          </a:prstGeom>
        </p:spPr>
      </p:pic>
    </p:spTree>
    <p:extLst>
      <p:ext uri="{BB962C8B-B14F-4D97-AF65-F5344CB8AC3E}">
        <p14:creationId xmlns:p14="http://schemas.microsoft.com/office/powerpoint/2010/main" val="977368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199B-B001-8882-5851-6F9A4EEA4FCE}"/>
              </a:ext>
            </a:extLst>
          </p:cNvPr>
          <p:cNvSpPr>
            <a:spLocks noGrp="1"/>
          </p:cNvSpPr>
          <p:nvPr>
            <p:ph type="title"/>
          </p:nvPr>
        </p:nvSpPr>
        <p:spPr/>
        <p:txBody>
          <a:bodyPr/>
          <a:lstStyle/>
          <a:p>
            <a:r>
              <a:rPr lang="en-US" dirty="0"/>
              <a:t>The </a:t>
            </a:r>
            <a:r>
              <a:rPr lang="en-US" dirty="0" err="1">
                <a:solidFill>
                  <a:srgbClr val="FF0000"/>
                </a:solidFill>
              </a:rPr>
              <a:t>getline</a:t>
            </a:r>
            <a:r>
              <a:rPr lang="en-US" dirty="0"/>
              <a:t> function</a:t>
            </a:r>
          </a:p>
        </p:txBody>
      </p:sp>
      <p:sp>
        <p:nvSpPr>
          <p:cNvPr id="3" name="Content Placeholder 2">
            <a:extLst>
              <a:ext uri="{FF2B5EF4-FFF2-40B4-BE49-F238E27FC236}">
                <a16:creationId xmlns:a16="http://schemas.microsoft.com/office/drawing/2014/main" id="{A4B9A55E-5332-FA06-10EB-4E9997C898B4}"/>
              </a:ext>
            </a:extLst>
          </p:cNvPr>
          <p:cNvSpPr>
            <a:spLocks noGrp="1"/>
          </p:cNvSpPr>
          <p:nvPr>
            <p:ph idx="1"/>
          </p:nvPr>
        </p:nvSpPr>
        <p:spPr/>
        <p:txBody>
          <a:bodyPr/>
          <a:lstStyle/>
          <a:p>
            <a:r>
              <a:rPr lang="en-US" dirty="0"/>
              <a:t>One way to get around the problem in </a:t>
            </a:r>
            <a:r>
              <a:rPr lang="en-US" b="1" dirty="0"/>
              <a:t>previous example </a:t>
            </a:r>
            <a:r>
              <a:rPr lang="en-US" dirty="0"/>
              <a:t>is to use a function that reads an entire line of text. </a:t>
            </a:r>
          </a:p>
          <a:p>
            <a:r>
              <a:rPr lang="en-US" dirty="0"/>
              <a:t>There is a global function that is part of the string library that you can use for this purpose:</a:t>
            </a:r>
          </a:p>
          <a:p>
            <a:endParaRPr lang="en-US" dirty="0"/>
          </a:p>
        </p:txBody>
      </p:sp>
      <p:pic>
        <p:nvPicPr>
          <p:cNvPr id="4" name="Picture 3">
            <a:extLst>
              <a:ext uri="{FF2B5EF4-FFF2-40B4-BE49-F238E27FC236}">
                <a16:creationId xmlns:a16="http://schemas.microsoft.com/office/drawing/2014/main" id="{4977792B-2825-0AEA-3E24-BC74484ADC72}"/>
              </a:ext>
            </a:extLst>
          </p:cNvPr>
          <p:cNvPicPr>
            <a:picLocks noChangeAspect="1"/>
          </p:cNvPicPr>
          <p:nvPr/>
        </p:nvPicPr>
        <p:blipFill>
          <a:blip r:embed="rId2"/>
          <a:stretch>
            <a:fillRect/>
          </a:stretch>
        </p:blipFill>
        <p:spPr>
          <a:xfrm>
            <a:off x="2205223" y="3720483"/>
            <a:ext cx="7781554" cy="535428"/>
          </a:xfrm>
          <a:prstGeom prst="rect">
            <a:avLst/>
          </a:prstGeom>
        </p:spPr>
      </p:pic>
    </p:spTree>
    <p:extLst>
      <p:ext uri="{BB962C8B-B14F-4D97-AF65-F5344CB8AC3E}">
        <p14:creationId xmlns:p14="http://schemas.microsoft.com/office/powerpoint/2010/main" val="807920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8377-10AE-F084-0675-DD4147FFC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E8AFF-C3E7-722B-3EE4-85162175B7E8}"/>
              </a:ext>
            </a:extLst>
          </p:cNvPr>
          <p:cNvSpPr>
            <a:spLocks noGrp="1"/>
          </p:cNvSpPr>
          <p:nvPr>
            <p:ph type="title"/>
          </p:nvPr>
        </p:nvSpPr>
        <p:spPr/>
        <p:txBody>
          <a:bodyPr/>
          <a:lstStyle/>
          <a:p>
            <a:r>
              <a:rPr lang="en-US" dirty="0"/>
              <a:t>The </a:t>
            </a:r>
            <a:r>
              <a:rPr lang="en-US" dirty="0" err="1">
                <a:solidFill>
                  <a:srgbClr val="FF0000"/>
                </a:solidFill>
              </a:rPr>
              <a:t>getline</a:t>
            </a:r>
            <a:r>
              <a:rPr lang="en-US" dirty="0"/>
              <a:t> function</a:t>
            </a:r>
          </a:p>
        </p:txBody>
      </p:sp>
      <p:sp>
        <p:nvSpPr>
          <p:cNvPr id="3" name="Content Placeholder 2">
            <a:extLst>
              <a:ext uri="{FF2B5EF4-FFF2-40B4-BE49-F238E27FC236}">
                <a16:creationId xmlns:a16="http://schemas.microsoft.com/office/drawing/2014/main" id="{BA37085E-8DEB-4C45-E9AD-5744830A50EB}"/>
              </a:ext>
            </a:extLst>
          </p:cNvPr>
          <p:cNvSpPr>
            <a:spLocks noGrp="1"/>
          </p:cNvSpPr>
          <p:nvPr>
            <p:ph idx="1"/>
          </p:nvPr>
        </p:nvSpPr>
        <p:spPr/>
        <p:txBody>
          <a:bodyPr>
            <a:normAutofit lnSpcReduction="10000"/>
          </a:bodyPr>
          <a:lstStyle/>
          <a:p>
            <a:endParaRPr lang="en-US" dirty="0"/>
          </a:p>
          <a:p>
            <a:endParaRPr lang="en-US" dirty="0"/>
          </a:p>
          <a:p>
            <a:r>
              <a:rPr lang="en-US" dirty="0"/>
              <a:t>This function reads a line of text from a stream </a:t>
            </a:r>
            <a:r>
              <a:rPr lang="en-US" dirty="0">
                <a:solidFill>
                  <a:srgbClr val="FF0000"/>
                </a:solidFill>
              </a:rPr>
              <a:t>is</a:t>
            </a:r>
            <a:r>
              <a:rPr lang="en-US" dirty="0"/>
              <a:t> and stores it into a string variable </a:t>
            </a:r>
            <a:r>
              <a:rPr lang="en-US" dirty="0">
                <a:solidFill>
                  <a:srgbClr val="FF0000"/>
                </a:solidFill>
              </a:rPr>
              <a:t>str</a:t>
            </a:r>
            <a:r>
              <a:rPr lang="en-US" dirty="0"/>
              <a:t>. </a:t>
            </a:r>
          </a:p>
          <a:p>
            <a:r>
              <a:rPr lang="en-US" dirty="0"/>
              <a:t>The function has an optional parameter </a:t>
            </a:r>
            <a:r>
              <a:rPr lang="en-US" dirty="0" err="1">
                <a:solidFill>
                  <a:srgbClr val="FF0000"/>
                </a:solidFill>
              </a:rPr>
              <a:t>delim</a:t>
            </a:r>
            <a:r>
              <a:rPr lang="en-US" dirty="0"/>
              <a:t> that marks the end of the line to be read. </a:t>
            </a:r>
          </a:p>
          <a:p>
            <a:r>
              <a:rPr lang="en-US" dirty="0"/>
              <a:t>The delimiting character is removed from the stream and discarded. </a:t>
            </a:r>
          </a:p>
          <a:p>
            <a:r>
              <a:rPr lang="en-US" dirty="0"/>
              <a:t>If </a:t>
            </a:r>
            <a:r>
              <a:rPr lang="en-US" dirty="0" err="1">
                <a:solidFill>
                  <a:srgbClr val="FF0000"/>
                </a:solidFill>
              </a:rPr>
              <a:t>getline</a:t>
            </a:r>
            <a:r>
              <a:rPr lang="en-US" dirty="0"/>
              <a:t> is called without the third parameter, the delimiter is assumed to be the end of line character '\n'.</a:t>
            </a:r>
          </a:p>
          <a:p>
            <a:endParaRPr lang="en-US" dirty="0"/>
          </a:p>
        </p:txBody>
      </p:sp>
      <p:pic>
        <p:nvPicPr>
          <p:cNvPr id="4" name="Picture 3">
            <a:extLst>
              <a:ext uri="{FF2B5EF4-FFF2-40B4-BE49-F238E27FC236}">
                <a16:creationId xmlns:a16="http://schemas.microsoft.com/office/drawing/2014/main" id="{15A5AB96-0F08-AB9F-F9AF-E7A6D83EB021}"/>
              </a:ext>
            </a:extLst>
          </p:cNvPr>
          <p:cNvPicPr>
            <a:picLocks noChangeAspect="1"/>
          </p:cNvPicPr>
          <p:nvPr/>
        </p:nvPicPr>
        <p:blipFill>
          <a:blip r:embed="rId2"/>
          <a:stretch>
            <a:fillRect/>
          </a:stretch>
        </p:blipFill>
        <p:spPr>
          <a:xfrm>
            <a:off x="2205223" y="2004572"/>
            <a:ext cx="7781554" cy="535428"/>
          </a:xfrm>
          <a:prstGeom prst="rect">
            <a:avLst/>
          </a:prstGeom>
        </p:spPr>
      </p:pic>
    </p:spTree>
    <p:extLst>
      <p:ext uri="{BB962C8B-B14F-4D97-AF65-F5344CB8AC3E}">
        <p14:creationId xmlns:p14="http://schemas.microsoft.com/office/powerpoint/2010/main" val="251342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99CD7-C31D-F483-FE81-E943223F4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1702C-B931-3FBD-E194-B42959456175}"/>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B646BCCC-1878-34B3-2D93-6BF21E448C3E}"/>
              </a:ext>
            </a:extLst>
          </p:cNvPr>
          <p:cNvSpPr>
            <a:spLocks noGrp="1"/>
          </p:cNvSpPr>
          <p:nvPr>
            <p:ph idx="1"/>
          </p:nvPr>
        </p:nvSpPr>
        <p:spPr>
          <a:xfrm>
            <a:off x="434623" y="1836913"/>
            <a:ext cx="7459133" cy="4351338"/>
          </a:xfrm>
        </p:spPr>
        <p:txBody>
          <a:bodyPr>
            <a:normAutofit lnSpcReduction="10000"/>
          </a:bodyPr>
          <a:lstStyle/>
          <a:p>
            <a:r>
              <a:rPr lang="en-US" dirty="0"/>
              <a:t>The first parameter, is, must be an object of the class </a:t>
            </a:r>
            <a:r>
              <a:rPr lang="en-US" dirty="0" err="1"/>
              <a:t>istream</a:t>
            </a:r>
            <a:r>
              <a:rPr lang="en-US" dirty="0"/>
              <a:t>. </a:t>
            </a:r>
          </a:p>
          <a:p>
            <a:r>
              <a:rPr lang="en-US" dirty="0"/>
              <a:t>It can also be any object of the classes </a:t>
            </a:r>
            <a:r>
              <a:rPr lang="en-US" dirty="0" err="1"/>
              <a:t>istringstream</a:t>
            </a:r>
            <a:r>
              <a:rPr lang="en-US" dirty="0"/>
              <a:t>, </a:t>
            </a:r>
            <a:r>
              <a:rPr lang="en-US" dirty="0" err="1"/>
              <a:t>ifstream</a:t>
            </a:r>
            <a:r>
              <a:rPr lang="en-US" dirty="0"/>
              <a:t>, or </a:t>
            </a:r>
            <a:r>
              <a:rPr lang="en-US" dirty="0" err="1"/>
              <a:t>fstream</a:t>
            </a:r>
            <a:r>
              <a:rPr lang="en-US" dirty="0"/>
              <a:t> (if an </a:t>
            </a:r>
            <a:r>
              <a:rPr lang="en-US" dirty="0" err="1"/>
              <a:t>fstream</a:t>
            </a:r>
            <a:r>
              <a:rPr lang="en-US" dirty="0"/>
              <a:t> object is passed, it must have been opened for input). </a:t>
            </a:r>
          </a:p>
          <a:p>
            <a:r>
              <a:rPr lang="en-US" dirty="0"/>
              <a:t>The value returned is a reference to the input stream that was just read. </a:t>
            </a:r>
          </a:p>
          <a:p>
            <a:r>
              <a:rPr lang="en-US" dirty="0"/>
              <a:t>This allows the return value to be tested to ascertain the success or failure of the call as in this code fragment:</a:t>
            </a:r>
          </a:p>
        </p:txBody>
      </p:sp>
      <p:pic>
        <p:nvPicPr>
          <p:cNvPr id="5" name="Picture 4">
            <a:extLst>
              <a:ext uri="{FF2B5EF4-FFF2-40B4-BE49-F238E27FC236}">
                <a16:creationId xmlns:a16="http://schemas.microsoft.com/office/drawing/2014/main" id="{FC7BB96A-0BDF-77C9-D3C2-491E5495446A}"/>
              </a:ext>
            </a:extLst>
          </p:cNvPr>
          <p:cNvPicPr>
            <a:picLocks noChangeAspect="1"/>
          </p:cNvPicPr>
          <p:nvPr/>
        </p:nvPicPr>
        <p:blipFill>
          <a:blip r:embed="rId2"/>
          <a:stretch>
            <a:fillRect/>
          </a:stretch>
        </p:blipFill>
        <p:spPr>
          <a:xfrm>
            <a:off x="7758289" y="2190750"/>
            <a:ext cx="4216400" cy="2476500"/>
          </a:xfrm>
          <a:prstGeom prst="rect">
            <a:avLst/>
          </a:prstGeom>
        </p:spPr>
      </p:pic>
    </p:spTree>
    <p:extLst>
      <p:ext uri="{BB962C8B-B14F-4D97-AF65-F5344CB8AC3E}">
        <p14:creationId xmlns:p14="http://schemas.microsoft.com/office/powerpoint/2010/main" val="3253229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B6B6-DD3C-2F66-4E59-FC174FBBBEFE}"/>
              </a:ext>
            </a:extLst>
          </p:cNvPr>
          <p:cNvSpPr>
            <a:spLocks noGrp="1"/>
          </p:cNvSpPr>
          <p:nvPr>
            <p:ph type="title"/>
          </p:nvPr>
        </p:nvSpPr>
        <p:spPr>
          <a:xfrm>
            <a:off x="838200" y="365125"/>
            <a:ext cx="2435578" cy="1325563"/>
          </a:xfrm>
        </p:spPr>
        <p:txBody>
          <a:bodyPr/>
          <a:lstStyle/>
          <a:p>
            <a:r>
              <a:rPr lang="en-US" dirty="0"/>
              <a:t>Example</a:t>
            </a:r>
          </a:p>
        </p:txBody>
      </p:sp>
      <p:pic>
        <p:nvPicPr>
          <p:cNvPr id="4" name="Picture 3">
            <a:extLst>
              <a:ext uri="{FF2B5EF4-FFF2-40B4-BE49-F238E27FC236}">
                <a16:creationId xmlns:a16="http://schemas.microsoft.com/office/drawing/2014/main" id="{84310E09-6D8C-81E4-A831-8B88A14C696A}"/>
              </a:ext>
            </a:extLst>
          </p:cNvPr>
          <p:cNvPicPr>
            <a:picLocks noChangeAspect="1"/>
          </p:cNvPicPr>
          <p:nvPr/>
        </p:nvPicPr>
        <p:blipFill>
          <a:blip r:embed="rId2"/>
          <a:stretch>
            <a:fillRect/>
          </a:stretch>
        </p:blipFill>
        <p:spPr>
          <a:xfrm>
            <a:off x="5850040" y="0"/>
            <a:ext cx="4601075" cy="6858000"/>
          </a:xfrm>
          <a:prstGeom prst="rect">
            <a:avLst/>
          </a:prstGeom>
        </p:spPr>
      </p:pic>
      <p:pic>
        <p:nvPicPr>
          <p:cNvPr id="5" name="Picture 4">
            <a:extLst>
              <a:ext uri="{FF2B5EF4-FFF2-40B4-BE49-F238E27FC236}">
                <a16:creationId xmlns:a16="http://schemas.microsoft.com/office/drawing/2014/main" id="{4D53E1EB-F887-BABF-B657-06942FB219EB}"/>
              </a:ext>
            </a:extLst>
          </p:cNvPr>
          <p:cNvPicPr>
            <a:picLocks noChangeAspect="1"/>
          </p:cNvPicPr>
          <p:nvPr/>
        </p:nvPicPr>
        <p:blipFill>
          <a:blip r:embed="rId3"/>
          <a:stretch>
            <a:fillRect/>
          </a:stretch>
        </p:blipFill>
        <p:spPr>
          <a:xfrm>
            <a:off x="838200" y="2302934"/>
            <a:ext cx="3949700" cy="1981200"/>
          </a:xfrm>
          <a:prstGeom prst="rect">
            <a:avLst/>
          </a:prstGeom>
        </p:spPr>
      </p:pic>
    </p:spTree>
    <p:extLst>
      <p:ext uri="{BB962C8B-B14F-4D97-AF65-F5344CB8AC3E}">
        <p14:creationId xmlns:p14="http://schemas.microsoft.com/office/powerpoint/2010/main" val="2987705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9A48-0D6D-CEC0-236C-306522928A9D}"/>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FB40E03C-FAB9-DBED-A813-D881B2D8A564}"/>
              </a:ext>
            </a:extLst>
          </p:cNvPr>
          <p:cNvSpPr>
            <a:spLocks noGrp="1"/>
          </p:cNvSpPr>
          <p:nvPr>
            <p:ph idx="1"/>
          </p:nvPr>
        </p:nvSpPr>
        <p:spPr/>
        <p:txBody>
          <a:bodyPr/>
          <a:lstStyle/>
          <a:p>
            <a:r>
              <a:rPr lang="en-US" dirty="0"/>
              <a:t>Because the third argument of the </a:t>
            </a:r>
            <a:r>
              <a:rPr lang="en-US" dirty="0" err="1"/>
              <a:t>getline</a:t>
            </a:r>
            <a:r>
              <a:rPr lang="en-US" dirty="0"/>
              <a:t> function was left out in </a:t>
            </a:r>
            <a:r>
              <a:rPr lang="en-US" b="1" dirty="0"/>
              <a:t>previous example</a:t>
            </a:r>
            <a:r>
              <a:rPr lang="en-US" dirty="0"/>
              <a:t>, its default value is \n. </a:t>
            </a:r>
          </a:p>
          <a:p>
            <a:r>
              <a:rPr lang="en-US" dirty="0"/>
              <a:t>Sometimes you might want to specify another delimiter. </a:t>
            </a:r>
          </a:p>
          <a:p>
            <a:r>
              <a:rPr lang="en-US" dirty="0"/>
              <a:t>For example, consider a file that contains multiple names and addresses internally formatted in the following manner:</a:t>
            </a:r>
          </a:p>
        </p:txBody>
      </p:sp>
      <p:pic>
        <p:nvPicPr>
          <p:cNvPr id="4" name="Picture 3">
            <a:extLst>
              <a:ext uri="{FF2B5EF4-FFF2-40B4-BE49-F238E27FC236}">
                <a16:creationId xmlns:a16="http://schemas.microsoft.com/office/drawing/2014/main" id="{B9C6163A-4B83-B7AB-2323-D29DAA10E2E4}"/>
              </a:ext>
            </a:extLst>
          </p:cNvPr>
          <p:cNvPicPr>
            <a:picLocks noChangeAspect="1"/>
          </p:cNvPicPr>
          <p:nvPr/>
        </p:nvPicPr>
        <p:blipFill>
          <a:blip r:embed="rId2"/>
          <a:stretch>
            <a:fillRect/>
          </a:stretch>
        </p:blipFill>
        <p:spPr>
          <a:xfrm>
            <a:off x="2163410" y="4815770"/>
            <a:ext cx="7865180" cy="1284111"/>
          </a:xfrm>
          <a:prstGeom prst="rect">
            <a:avLst/>
          </a:prstGeom>
        </p:spPr>
      </p:pic>
      <p:pic>
        <p:nvPicPr>
          <p:cNvPr id="5" name="Picture 4">
            <a:extLst>
              <a:ext uri="{FF2B5EF4-FFF2-40B4-BE49-F238E27FC236}">
                <a16:creationId xmlns:a16="http://schemas.microsoft.com/office/drawing/2014/main" id="{D2B85D1D-8360-3944-FBF0-8F095F95524D}"/>
              </a:ext>
            </a:extLst>
          </p:cNvPr>
          <p:cNvPicPr>
            <a:picLocks noChangeAspect="1"/>
          </p:cNvPicPr>
          <p:nvPr/>
        </p:nvPicPr>
        <p:blipFill>
          <a:blip r:embed="rId3"/>
          <a:stretch>
            <a:fillRect/>
          </a:stretch>
        </p:blipFill>
        <p:spPr>
          <a:xfrm>
            <a:off x="4289250" y="4332288"/>
            <a:ext cx="2882900" cy="406400"/>
          </a:xfrm>
          <a:prstGeom prst="rect">
            <a:avLst/>
          </a:prstGeom>
        </p:spPr>
      </p:pic>
    </p:spTree>
    <p:extLst>
      <p:ext uri="{BB962C8B-B14F-4D97-AF65-F5344CB8AC3E}">
        <p14:creationId xmlns:p14="http://schemas.microsoft.com/office/powerpoint/2010/main" val="2067987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3C8E-6C14-3587-D8BE-8E608C521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16DEF-F985-535C-7110-D6F68C41D2F5}"/>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5D7BDD02-30FC-49D4-86DB-0198AD58B250}"/>
              </a:ext>
            </a:extLst>
          </p:cNvPr>
          <p:cNvSpPr>
            <a:spLocks noGrp="1"/>
          </p:cNvSpPr>
          <p:nvPr>
            <p:ph idx="1"/>
          </p:nvPr>
        </p:nvSpPr>
        <p:spPr>
          <a:xfrm>
            <a:off x="838200" y="2683581"/>
            <a:ext cx="10515600" cy="4351338"/>
          </a:xfrm>
        </p:spPr>
        <p:txBody>
          <a:bodyPr>
            <a:normAutofit/>
          </a:bodyPr>
          <a:lstStyle/>
          <a:p>
            <a:r>
              <a:rPr lang="en-US" dirty="0"/>
              <a:t>Think of this file as consisting of three records. </a:t>
            </a:r>
          </a:p>
          <a:p>
            <a:r>
              <a:rPr lang="en-US" dirty="0"/>
              <a:t>A record is a complete set of information about a single item. </a:t>
            </a:r>
          </a:p>
          <a:p>
            <a:r>
              <a:rPr lang="en-US" dirty="0"/>
              <a:t>Also, the records in the file are made of three fields. </a:t>
            </a:r>
          </a:p>
          <a:p>
            <a:pPr lvl="1"/>
            <a:r>
              <a:rPr lang="en-US" dirty="0"/>
              <a:t>The first field is the person’s name. </a:t>
            </a:r>
          </a:p>
          <a:p>
            <a:pPr lvl="1"/>
            <a:r>
              <a:rPr lang="en-US" dirty="0"/>
              <a:t>The second field is the person’s street address or PO box number.</a:t>
            </a:r>
          </a:p>
          <a:p>
            <a:pPr lvl="1"/>
            <a:r>
              <a:rPr lang="en-US" dirty="0"/>
              <a:t>The third field contains the person’s city, state, and ZIP code.</a:t>
            </a:r>
          </a:p>
          <a:p>
            <a:r>
              <a:rPr lang="en-US" dirty="0"/>
              <a:t>Notice that each field ends with a $ character, and each record ends with a \n character. </a:t>
            </a:r>
          </a:p>
        </p:txBody>
      </p:sp>
      <p:pic>
        <p:nvPicPr>
          <p:cNvPr id="4" name="Picture 3">
            <a:extLst>
              <a:ext uri="{FF2B5EF4-FFF2-40B4-BE49-F238E27FC236}">
                <a16:creationId xmlns:a16="http://schemas.microsoft.com/office/drawing/2014/main" id="{0180E9AA-2F77-E5E1-E0C6-CD433ACABE9D}"/>
              </a:ext>
            </a:extLst>
          </p:cNvPr>
          <p:cNvPicPr>
            <a:picLocks noChangeAspect="1"/>
          </p:cNvPicPr>
          <p:nvPr/>
        </p:nvPicPr>
        <p:blipFill>
          <a:blip r:embed="rId2"/>
          <a:stretch>
            <a:fillRect/>
          </a:stretch>
        </p:blipFill>
        <p:spPr>
          <a:xfrm>
            <a:off x="2050521" y="1312685"/>
            <a:ext cx="7865180" cy="1284111"/>
          </a:xfrm>
          <a:prstGeom prst="rect">
            <a:avLst/>
          </a:prstGeom>
        </p:spPr>
      </p:pic>
    </p:spTree>
    <p:extLst>
      <p:ext uri="{BB962C8B-B14F-4D97-AF65-F5344CB8AC3E}">
        <p14:creationId xmlns:p14="http://schemas.microsoft.com/office/powerpoint/2010/main" val="2297095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AF804-DF77-A61F-D12D-899087D6CF56}"/>
              </a:ext>
            </a:extLst>
          </p:cNvPr>
          <p:cNvSpPr>
            <a:spLocks noGrp="1"/>
          </p:cNvSpPr>
          <p:nvPr>
            <p:ph type="title"/>
          </p:nvPr>
        </p:nvSpPr>
        <p:spPr>
          <a:xfrm>
            <a:off x="838200" y="235479"/>
            <a:ext cx="10515600" cy="1325563"/>
          </a:xfrm>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AE3A9C99-2557-E36C-F40C-FE10C2542634}"/>
              </a:ext>
            </a:extLst>
          </p:cNvPr>
          <p:cNvSpPr>
            <a:spLocks noGrp="1"/>
          </p:cNvSpPr>
          <p:nvPr>
            <p:ph idx="1"/>
          </p:nvPr>
        </p:nvSpPr>
        <p:spPr>
          <a:xfrm>
            <a:off x="646573" y="1441803"/>
            <a:ext cx="6375400" cy="1199797"/>
          </a:xfrm>
        </p:spPr>
        <p:txBody>
          <a:bodyPr>
            <a:normAutofit/>
          </a:bodyPr>
          <a:lstStyle/>
          <a:p>
            <a:r>
              <a:rPr lang="en-US" dirty="0"/>
              <a:t>In this example we used </a:t>
            </a:r>
            <a:r>
              <a:rPr lang="en-US" dirty="0" err="1"/>
              <a:t>getline</a:t>
            </a:r>
            <a:r>
              <a:rPr lang="en-US" dirty="0"/>
              <a:t> function to detect the $ characters.</a:t>
            </a:r>
          </a:p>
        </p:txBody>
      </p:sp>
      <p:pic>
        <p:nvPicPr>
          <p:cNvPr id="4" name="Picture 3">
            <a:extLst>
              <a:ext uri="{FF2B5EF4-FFF2-40B4-BE49-F238E27FC236}">
                <a16:creationId xmlns:a16="http://schemas.microsoft.com/office/drawing/2014/main" id="{C5BC1899-ADEF-2C1C-C7A8-850209014FBB}"/>
              </a:ext>
            </a:extLst>
          </p:cNvPr>
          <p:cNvPicPr>
            <a:picLocks noChangeAspect="1"/>
          </p:cNvPicPr>
          <p:nvPr/>
        </p:nvPicPr>
        <p:blipFill>
          <a:blip r:embed="rId2"/>
          <a:stretch>
            <a:fillRect/>
          </a:stretch>
        </p:blipFill>
        <p:spPr>
          <a:xfrm>
            <a:off x="6763743" y="0"/>
            <a:ext cx="4848288" cy="6858000"/>
          </a:xfrm>
          <a:prstGeom prst="rect">
            <a:avLst/>
          </a:prstGeom>
        </p:spPr>
      </p:pic>
      <p:pic>
        <p:nvPicPr>
          <p:cNvPr id="5" name="Picture 4">
            <a:extLst>
              <a:ext uri="{FF2B5EF4-FFF2-40B4-BE49-F238E27FC236}">
                <a16:creationId xmlns:a16="http://schemas.microsoft.com/office/drawing/2014/main" id="{7CE76423-66D9-B913-A16F-9BED3FDB0E3F}"/>
              </a:ext>
            </a:extLst>
          </p:cNvPr>
          <p:cNvPicPr>
            <a:picLocks noChangeAspect="1"/>
          </p:cNvPicPr>
          <p:nvPr/>
        </p:nvPicPr>
        <p:blipFill>
          <a:blip r:embed="rId3"/>
          <a:stretch>
            <a:fillRect/>
          </a:stretch>
        </p:blipFill>
        <p:spPr>
          <a:xfrm>
            <a:off x="1674760" y="2641600"/>
            <a:ext cx="3753498" cy="3318139"/>
          </a:xfrm>
          <a:prstGeom prst="rect">
            <a:avLst/>
          </a:prstGeom>
        </p:spPr>
      </p:pic>
    </p:spTree>
    <p:extLst>
      <p:ext uri="{BB962C8B-B14F-4D97-AF65-F5344CB8AC3E}">
        <p14:creationId xmlns:p14="http://schemas.microsoft.com/office/powerpoint/2010/main" val="1860801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8BBA-B433-FD36-A7D4-FF6A526DD1CC}"/>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FC1EC351-303F-FDE6-F16B-9DE314FA439E}"/>
              </a:ext>
            </a:extLst>
          </p:cNvPr>
          <p:cNvSpPr>
            <a:spLocks noGrp="1"/>
          </p:cNvSpPr>
          <p:nvPr>
            <p:ph idx="1"/>
          </p:nvPr>
        </p:nvSpPr>
        <p:spPr/>
        <p:txBody>
          <a:bodyPr>
            <a:normAutofit fontScale="92500" lnSpcReduction="10000"/>
          </a:bodyPr>
          <a:lstStyle/>
          <a:p>
            <a:r>
              <a:rPr lang="en-US" dirty="0"/>
              <a:t>Notice that the \n characters, which mark the end of each record, are also part of the output. </a:t>
            </a:r>
          </a:p>
          <a:p>
            <a:r>
              <a:rPr lang="en-US" dirty="0"/>
              <a:t>They cause an extra blank line to be printed on the screen, separating the records.</a:t>
            </a:r>
          </a:p>
          <a:p>
            <a:r>
              <a:rPr lang="en-US" dirty="0"/>
              <a:t>When using a printable character such as $ to delimit information in a file, be sure to select a character that will not actually appear in the information itself. </a:t>
            </a:r>
          </a:p>
          <a:p>
            <a:r>
              <a:rPr lang="en-US" dirty="0"/>
              <a:t>Since it’s doubtful that anyone’s name or address contains a $ character, it’s an acceptable delimiter. </a:t>
            </a:r>
          </a:p>
          <a:p>
            <a:r>
              <a:rPr lang="en-US" dirty="0"/>
              <a:t>If the file contained dollar amounts, however, another delimiter would have been chosen.</a:t>
            </a:r>
          </a:p>
          <a:p>
            <a:endParaRPr lang="en-US" dirty="0"/>
          </a:p>
        </p:txBody>
      </p:sp>
    </p:spTree>
    <p:extLst>
      <p:ext uri="{BB962C8B-B14F-4D97-AF65-F5344CB8AC3E}">
        <p14:creationId xmlns:p14="http://schemas.microsoft.com/office/powerpoint/2010/main" val="2528822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4FDB-A601-9EA5-E1A7-B20979AC3036}"/>
              </a:ext>
            </a:extLst>
          </p:cNvPr>
          <p:cNvSpPr>
            <a:spLocks noGrp="1"/>
          </p:cNvSpPr>
          <p:nvPr>
            <p:ph type="title"/>
          </p:nvPr>
        </p:nvSpPr>
        <p:spPr/>
        <p:txBody>
          <a:bodyPr/>
          <a:lstStyle/>
          <a:p>
            <a:r>
              <a:rPr lang="en-US" dirty="0">
                <a:effectLst/>
              </a:rPr>
              <a:t>The get Family of Member Functions</a:t>
            </a:r>
            <a:br>
              <a:rPr lang="en-US" b="1" dirty="0">
                <a:effectLst/>
              </a:rPr>
            </a:br>
            <a:endParaRPr lang="en-US" dirty="0"/>
          </a:p>
        </p:txBody>
      </p:sp>
      <p:sp>
        <p:nvSpPr>
          <p:cNvPr id="3" name="Content Placeholder 2">
            <a:extLst>
              <a:ext uri="{FF2B5EF4-FFF2-40B4-BE49-F238E27FC236}">
                <a16:creationId xmlns:a16="http://schemas.microsoft.com/office/drawing/2014/main" id="{D1840F39-6C3F-7908-2DF7-B4FB43A799C0}"/>
              </a:ext>
            </a:extLst>
          </p:cNvPr>
          <p:cNvSpPr>
            <a:spLocks noGrp="1"/>
          </p:cNvSpPr>
          <p:nvPr>
            <p:ph idx="1"/>
          </p:nvPr>
        </p:nvSpPr>
        <p:spPr/>
        <p:txBody>
          <a:bodyPr>
            <a:normAutofit lnSpcReduction="10000"/>
          </a:bodyPr>
          <a:lstStyle/>
          <a:p>
            <a:r>
              <a:rPr lang="en-US" dirty="0"/>
              <a:t>Each of the input classes </a:t>
            </a:r>
            <a:r>
              <a:rPr lang="en-US" dirty="0" err="1"/>
              <a:t>ifstream</a:t>
            </a:r>
            <a:r>
              <a:rPr lang="en-US" dirty="0"/>
              <a:t> , </a:t>
            </a:r>
            <a:r>
              <a:rPr lang="en-US" dirty="0" err="1"/>
              <a:t>fstream</a:t>
            </a:r>
            <a:r>
              <a:rPr lang="en-US" dirty="0"/>
              <a:t> , and </a:t>
            </a:r>
            <a:r>
              <a:rPr lang="en-US" dirty="0" err="1"/>
              <a:t>istringstream</a:t>
            </a:r>
            <a:r>
              <a:rPr lang="en-US" dirty="0"/>
              <a:t> has a family of get member functions that can be used to read single characters:</a:t>
            </a:r>
          </a:p>
          <a:p>
            <a:endParaRPr lang="en-US" dirty="0"/>
          </a:p>
          <a:p>
            <a:endParaRPr lang="en-US" dirty="0"/>
          </a:p>
          <a:p>
            <a:r>
              <a:rPr lang="en-US" dirty="0"/>
              <a:t>The first version reads a single character. </a:t>
            </a:r>
          </a:p>
          <a:p>
            <a:r>
              <a:rPr lang="en-US" dirty="0"/>
              <a:t>If successful, it returns an integer code representing the character that was read. </a:t>
            </a:r>
          </a:p>
          <a:p>
            <a:r>
              <a:rPr lang="en-US" dirty="0"/>
              <a:t>If unsuccessful, it sets the error codes on the stream and returns the special value EOF</a:t>
            </a:r>
          </a:p>
        </p:txBody>
      </p:sp>
      <p:pic>
        <p:nvPicPr>
          <p:cNvPr id="4" name="Picture 3">
            <a:extLst>
              <a:ext uri="{FF2B5EF4-FFF2-40B4-BE49-F238E27FC236}">
                <a16:creationId xmlns:a16="http://schemas.microsoft.com/office/drawing/2014/main" id="{134EE115-9EDF-6242-6213-5BBD9325CACD}"/>
              </a:ext>
            </a:extLst>
          </p:cNvPr>
          <p:cNvPicPr>
            <a:picLocks noChangeAspect="1"/>
          </p:cNvPicPr>
          <p:nvPr/>
        </p:nvPicPr>
        <p:blipFill>
          <a:blip r:embed="rId2"/>
          <a:stretch>
            <a:fillRect/>
          </a:stretch>
        </p:blipFill>
        <p:spPr>
          <a:xfrm>
            <a:off x="4613628" y="2750255"/>
            <a:ext cx="2617840" cy="817033"/>
          </a:xfrm>
          <a:prstGeom prst="rect">
            <a:avLst/>
          </a:prstGeom>
        </p:spPr>
      </p:pic>
    </p:spTree>
    <p:extLst>
      <p:ext uri="{BB962C8B-B14F-4D97-AF65-F5344CB8AC3E}">
        <p14:creationId xmlns:p14="http://schemas.microsoft.com/office/powerpoint/2010/main" val="315974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80E19-A59C-6A38-AEFB-6F6F9F09863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A2FC70D-49F6-2226-8B3A-D8D8D4A6DEB9}"/>
              </a:ext>
            </a:extLst>
          </p:cNvPr>
          <p:cNvSpPr>
            <a:spLocks noGrp="1"/>
          </p:cNvSpPr>
          <p:nvPr>
            <p:ph idx="1"/>
          </p:nvPr>
        </p:nvSpPr>
        <p:spPr>
          <a:xfrm>
            <a:off x="838200" y="1825625"/>
            <a:ext cx="6443133" cy="4351338"/>
          </a:xfrm>
        </p:spPr>
        <p:txBody>
          <a:bodyPr>
            <a:normAutofit/>
          </a:bodyPr>
          <a:lstStyle/>
          <a:p>
            <a:pPr algn="l"/>
            <a:r>
              <a:rPr lang="en-US" dirty="0">
                <a:effectLst/>
              </a:rPr>
              <a:t>This program will display the contents of any file. </a:t>
            </a:r>
          </a:p>
          <a:p>
            <a:pPr algn="l"/>
            <a:r>
              <a:rPr lang="en-US" dirty="0">
                <a:effectLst/>
              </a:rPr>
              <a:t>Because the get function does not skip whitespaces, all the characters will be shown exactly as they appear in the file.</a:t>
            </a:r>
          </a:p>
        </p:txBody>
      </p:sp>
      <p:pic>
        <p:nvPicPr>
          <p:cNvPr id="4" name="Picture 3">
            <a:extLst>
              <a:ext uri="{FF2B5EF4-FFF2-40B4-BE49-F238E27FC236}">
                <a16:creationId xmlns:a16="http://schemas.microsoft.com/office/drawing/2014/main" id="{497AE0E0-6112-77FF-D1DC-D234F3072E04}"/>
              </a:ext>
            </a:extLst>
          </p:cNvPr>
          <p:cNvPicPr>
            <a:picLocks noChangeAspect="1"/>
          </p:cNvPicPr>
          <p:nvPr/>
        </p:nvPicPr>
        <p:blipFill>
          <a:blip r:embed="rId3"/>
          <a:stretch>
            <a:fillRect/>
          </a:stretch>
        </p:blipFill>
        <p:spPr>
          <a:xfrm>
            <a:off x="8214315" y="0"/>
            <a:ext cx="4184882" cy="6858000"/>
          </a:xfrm>
          <a:prstGeom prst="rect">
            <a:avLst/>
          </a:prstGeom>
        </p:spPr>
      </p:pic>
    </p:spTree>
    <p:extLst>
      <p:ext uri="{BB962C8B-B14F-4D97-AF65-F5344CB8AC3E}">
        <p14:creationId xmlns:p14="http://schemas.microsoft.com/office/powerpoint/2010/main" val="2658342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7E8F-95A0-FD9F-751D-3936BE78D532}"/>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D94E6E4B-D48C-B6AB-EE06-76AAAD6C6D68}"/>
              </a:ext>
            </a:extLst>
          </p:cNvPr>
          <p:cNvSpPr>
            <a:spLocks noGrp="1"/>
          </p:cNvSpPr>
          <p:nvPr>
            <p:ph idx="1"/>
          </p:nvPr>
        </p:nvSpPr>
        <p:spPr/>
        <p:txBody>
          <a:bodyPr/>
          <a:lstStyle/>
          <a:p>
            <a:r>
              <a:rPr lang="en-US" dirty="0"/>
              <a:t>The peek member function is similar to get, but there is an important difference. </a:t>
            </a:r>
          </a:p>
          <a:p>
            <a:r>
              <a:rPr lang="en-US" dirty="0"/>
              <a:t>When the get function is called, it returns the next character available from the input stream and removes that character from the stream. </a:t>
            </a:r>
          </a:p>
          <a:p>
            <a:r>
              <a:rPr lang="en-US" dirty="0"/>
              <a:t>In contrast, the peek function returns a copy of the next character available without removing it from the stream. </a:t>
            </a:r>
          </a:p>
          <a:p>
            <a:r>
              <a:rPr lang="en-US" dirty="0"/>
              <a:t>Thus, get()reads a character from the file, but peek() just “looks” at the next character without actually reading it.</a:t>
            </a:r>
          </a:p>
        </p:txBody>
      </p:sp>
    </p:spTree>
    <p:extLst>
      <p:ext uri="{BB962C8B-B14F-4D97-AF65-F5344CB8AC3E}">
        <p14:creationId xmlns:p14="http://schemas.microsoft.com/office/powerpoint/2010/main" val="9600497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C340E-673D-A663-B04E-5108C0F21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FB56A-A65B-EB9C-252F-F603A98F4F60}"/>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0871BCF3-479F-24B1-383D-6CF585172DE8}"/>
              </a:ext>
            </a:extLst>
          </p:cNvPr>
          <p:cNvSpPr>
            <a:spLocks noGrp="1"/>
          </p:cNvSpPr>
          <p:nvPr>
            <p:ph idx="1"/>
          </p:nvPr>
        </p:nvSpPr>
        <p:spPr>
          <a:xfrm>
            <a:off x="838200" y="1565275"/>
            <a:ext cx="10515600" cy="4351338"/>
          </a:xfrm>
        </p:spPr>
        <p:txBody>
          <a:bodyPr/>
          <a:lstStyle/>
          <a:p>
            <a:r>
              <a:rPr lang="en-US" dirty="0"/>
              <a:t>To see the difference, suppose that a newly opened file contains the string "</a:t>
            </a:r>
            <a:r>
              <a:rPr lang="en-US" dirty="0" err="1"/>
              <a:t>abc</a:t>
            </a:r>
            <a:r>
              <a:rPr lang="en-US" dirty="0"/>
              <a:t>". </a:t>
            </a:r>
          </a:p>
          <a:p>
            <a:r>
              <a:rPr lang="en-US" dirty="0"/>
              <a:t>Then the sequence of statements will print the two characters "ab" on the screen.</a:t>
            </a:r>
          </a:p>
          <a:p>
            <a:pPr marL="0" indent="0">
              <a:buNone/>
            </a:pPr>
            <a:endParaRPr lang="en-US" dirty="0"/>
          </a:p>
          <a:p>
            <a:pPr marL="0" indent="0">
              <a:buNone/>
            </a:pPr>
            <a:endParaRPr lang="en-US" dirty="0"/>
          </a:p>
          <a:p>
            <a:r>
              <a:rPr lang="en-US" dirty="0"/>
              <a:t>However, the statements will print the two characters "aa" on the screen.</a:t>
            </a:r>
          </a:p>
        </p:txBody>
      </p:sp>
      <p:pic>
        <p:nvPicPr>
          <p:cNvPr id="4" name="Picture 3">
            <a:extLst>
              <a:ext uri="{FF2B5EF4-FFF2-40B4-BE49-F238E27FC236}">
                <a16:creationId xmlns:a16="http://schemas.microsoft.com/office/drawing/2014/main" id="{D4A76A5D-9CEC-C0E6-6D3D-3D3B2805F6B5}"/>
              </a:ext>
            </a:extLst>
          </p:cNvPr>
          <p:cNvPicPr>
            <a:picLocks noChangeAspect="1"/>
          </p:cNvPicPr>
          <p:nvPr/>
        </p:nvPicPr>
        <p:blipFill>
          <a:blip r:embed="rId2"/>
          <a:stretch>
            <a:fillRect/>
          </a:stretch>
        </p:blipFill>
        <p:spPr>
          <a:xfrm>
            <a:off x="4273550" y="3048705"/>
            <a:ext cx="4768850" cy="1127677"/>
          </a:xfrm>
          <a:prstGeom prst="rect">
            <a:avLst/>
          </a:prstGeom>
        </p:spPr>
      </p:pic>
      <p:pic>
        <p:nvPicPr>
          <p:cNvPr id="5" name="Picture 4">
            <a:extLst>
              <a:ext uri="{FF2B5EF4-FFF2-40B4-BE49-F238E27FC236}">
                <a16:creationId xmlns:a16="http://schemas.microsoft.com/office/drawing/2014/main" id="{8356D19A-130D-63DC-890E-404A219B874C}"/>
              </a:ext>
            </a:extLst>
          </p:cNvPr>
          <p:cNvPicPr>
            <a:picLocks noChangeAspect="1"/>
          </p:cNvPicPr>
          <p:nvPr/>
        </p:nvPicPr>
        <p:blipFill>
          <a:blip r:embed="rId3"/>
          <a:stretch>
            <a:fillRect/>
          </a:stretch>
        </p:blipFill>
        <p:spPr>
          <a:xfrm>
            <a:off x="3887611" y="5184223"/>
            <a:ext cx="5816600" cy="1041400"/>
          </a:xfrm>
          <a:prstGeom prst="rect">
            <a:avLst/>
          </a:prstGeom>
        </p:spPr>
      </p:pic>
    </p:spTree>
    <p:extLst>
      <p:ext uri="{BB962C8B-B14F-4D97-AF65-F5344CB8AC3E}">
        <p14:creationId xmlns:p14="http://schemas.microsoft.com/office/powerpoint/2010/main" val="3244287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64D5-48E9-699D-9EA1-6ABE40F596F2}"/>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A2B07DFB-E84E-2D6A-5C8D-E14239131992}"/>
              </a:ext>
            </a:extLst>
          </p:cNvPr>
          <p:cNvSpPr>
            <a:spLocks noGrp="1"/>
          </p:cNvSpPr>
          <p:nvPr>
            <p:ph idx="1"/>
          </p:nvPr>
        </p:nvSpPr>
        <p:spPr/>
        <p:txBody>
          <a:bodyPr/>
          <a:lstStyle/>
          <a:p>
            <a:r>
              <a:rPr lang="en-US" dirty="0"/>
              <a:t>The peek function is useful when you need to know what kind of data you are about to read before you actually read it, so you can decide on the best input method to use. </a:t>
            </a:r>
          </a:p>
          <a:p>
            <a:r>
              <a:rPr lang="en-US" dirty="0"/>
              <a:t>If the data is numeric, it is best read with the stream extraction operator &gt;&gt;, but if the data is a non-numeric sequence of characters, then it should be read with get or </a:t>
            </a:r>
            <a:r>
              <a:rPr lang="en-US" dirty="0" err="1"/>
              <a:t>getline</a:t>
            </a:r>
            <a:r>
              <a:rPr lang="en-US" dirty="0"/>
              <a:t>. </a:t>
            </a:r>
          </a:p>
        </p:txBody>
      </p:sp>
    </p:spTree>
    <p:extLst>
      <p:ext uri="{BB962C8B-B14F-4D97-AF65-F5344CB8AC3E}">
        <p14:creationId xmlns:p14="http://schemas.microsoft.com/office/powerpoint/2010/main" val="1981394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DA870-DDF5-5C99-2CA7-5B61BD548D24}"/>
              </a:ext>
            </a:extLst>
          </p:cNvPr>
          <p:cNvSpPr>
            <a:spLocks noGrp="1"/>
          </p:cNvSpPr>
          <p:nvPr>
            <p:ph type="title"/>
          </p:nvPr>
        </p:nvSpPr>
        <p:spPr>
          <a:xfrm>
            <a:off x="840851" y="-112257"/>
            <a:ext cx="2401711" cy="1325563"/>
          </a:xfrm>
        </p:spPr>
        <p:txBody>
          <a:bodyPr/>
          <a:lstStyle/>
          <a:p>
            <a:r>
              <a:rPr lang="en-US" dirty="0"/>
              <a:t>Example</a:t>
            </a:r>
          </a:p>
        </p:txBody>
      </p:sp>
      <p:pic>
        <p:nvPicPr>
          <p:cNvPr id="4" name="Picture 3">
            <a:extLst>
              <a:ext uri="{FF2B5EF4-FFF2-40B4-BE49-F238E27FC236}">
                <a16:creationId xmlns:a16="http://schemas.microsoft.com/office/drawing/2014/main" id="{8BEA8925-0063-D12C-6AEC-4044B7A55A87}"/>
              </a:ext>
            </a:extLst>
          </p:cNvPr>
          <p:cNvPicPr>
            <a:picLocks noChangeAspect="1"/>
          </p:cNvPicPr>
          <p:nvPr/>
        </p:nvPicPr>
        <p:blipFill>
          <a:blip r:embed="rId3"/>
          <a:stretch>
            <a:fillRect/>
          </a:stretch>
        </p:blipFill>
        <p:spPr>
          <a:xfrm>
            <a:off x="64041" y="1040161"/>
            <a:ext cx="3955327" cy="5632768"/>
          </a:xfrm>
          <a:prstGeom prst="rect">
            <a:avLst/>
          </a:prstGeom>
        </p:spPr>
      </p:pic>
      <p:pic>
        <p:nvPicPr>
          <p:cNvPr id="5" name="Picture 4">
            <a:extLst>
              <a:ext uri="{FF2B5EF4-FFF2-40B4-BE49-F238E27FC236}">
                <a16:creationId xmlns:a16="http://schemas.microsoft.com/office/drawing/2014/main" id="{4DDFCEAC-1D3D-0FCA-351E-BB26C9764EE1}"/>
              </a:ext>
            </a:extLst>
          </p:cNvPr>
          <p:cNvPicPr>
            <a:picLocks noChangeAspect="1"/>
          </p:cNvPicPr>
          <p:nvPr/>
        </p:nvPicPr>
        <p:blipFill>
          <a:blip r:embed="rId4"/>
          <a:stretch>
            <a:fillRect/>
          </a:stretch>
        </p:blipFill>
        <p:spPr>
          <a:xfrm>
            <a:off x="4235468" y="459046"/>
            <a:ext cx="4270793" cy="5488073"/>
          </a:xfrm>
          <a:prstGeom prst="rect">
            <a:avLst/>
          </a:prstGeom>
        </p:spPr>
      </p:pic>
      <p:pic>
        <p:nvPicPr>
          <p:cNvPr id="3" name="Picture 2">
            <a:extLst>
              <a:ext uri="{FF2B5EF4-FFF2-40B4-BE49-F238E27FC236}">
                <a16:creationId xmlns:a16="http://schemas.microsoft.com/office/drawing/2014/main" id="{0045C86F-54C1-4E37-0DB9-B729001A638A}"/>
              </a:ext>
            </a:extLst>
          </p:cNvPr>
          <p:cNvPicPr>
            <a:picLocks noChangeAspect="1"/>
          </p:cNvPicPr>
          <p:nvPr/>
        </p:nvPicPr>
        <p:blipFill>
          <a:blip r:embed="rId5"/>
          <a:stretch>
            <a:fillRect/>
          </a:stretch>
        </p:blipFill>
        <p:spPr>
          <a:xfrm>
            <a:off x="8722360" y="2269235"/>
            <a:ext cx="3405598" cy="2319530"/>
          </a:xfrm>
          <a:prstGeom prst="rect">
            <a:avLst/>
          </a:prstGeom>
        </p:spPr>
      </p:pic>
    </p:spTree>
    <p:extLst>
      <p:ext uri="{BB962C8B-B14F-4D97-AF65-F5344CB8AC3E}">
        <p14:creationId xmlns:p14="http://schemas.microsoft.com/office/powerpoint/2010/main" val="1316316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6A72-EE92-E93D-E100-1F31478CB311}"/>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02B4898C-B4AC-EA91-26C9-0646F914F8D7}"/>
              </a:ext>
            </a:extLst>
          </p:cNvPr>
          <p:cNvSpPr>
            <a:spLocks noGrp="1"/>
          </p:cNvSpPr>
          <p:nvPr>
            <p:ph idx="1"/>
          </p:nvPr>
        </p:nvSpPr>
        <p:spPr/>
        <p:txBody>
          <a:bodyPr>
            <a:normAutofit lnSpcReduction="10000"/>
          </a:bodyPr>
          <a:lstStyle/>
          <a:p>
            <a:r>
              <a:rPr lang="en-US" dirty="0"/>
              <a:t>The program cannot tell beforehand whether the next character to be read is a digit that starts a number (in which case the entire number should be read using the stream extraction operator &gt;&gt;) or just an ordinary </a:t>
            </a:r>
            <a:r>
              <a:rPr lang="en-US" dirty="0" err="1"/>
              <a:t>nondigit</a:t>
            </a:r>
            <a:r>
              <a:rPr lang="en-US" dirty="0"/>
              <a:t> character (in which case the character should be read using a call to the </a:t>
            </a:r>
            <a:r>
              <a:rPr lang="en-US" dirty="0">
                <a:solidFill>
                  <a:srgbClr val="FF0000"/>
                </a:solidFill>
              </a:rPr>
              <a:t>get() </a:t>
            </a:r>
            <a:r>
              <a:rPr lang="en-US" dirty="0"/>
              <a:t>member function). </a:t>
            </a:r>
          </a:p>
          <a:p>
            <a:r>
              <a:rPr lang="en-US" dirty="0"/>
              <a:t>The program therefore uses </a:t>
            </a:r>
            <a:r>
              <a:rPr lang="en-US" dirty="0">
                <a:solidFill>
                  <a:srgbClr val="FF0000"/>
                </a:solidFill>
              </a:rPr>
              <a:t>peek() </a:t>
            </a:r>
            <a:r>
              <a:rPr lang="en-US" dirty="0"/>
              <a:t>to examine characters without actually reading them (lines 38 and 55). </a:t>
            </a:r>
          </a:p>
          <a:p>
            <a:r>
              <a:rPr lang="en-US" dirty="0"/>
              <a:t>If a character is a digit, the extraction operator is called to read the number that starts with that character (lines 44–46). </a:t>
            </a:r>
          </a:p>
          <a:p>
            <a:r>
              <a:rPr lang="en-US" dirty="0"/>
              <a:t>Otherwise, the character is read using a call to </a:t>
            </a:r>
            <a:r>
              <a:rPr lang="en-US" dirty="0">
                <a:solidFill>
                  <a:srgbClr val="FF0000"/>
                </a:solidFill>
              </a:rPr>
              <a:t>get() </a:t>
            </a:r>
            <a:r>
              <a:rPr lang="en-US" dirty="0"/>
              <a:t>(lines 50–52) and copied to the target file.</a:t>
            </a:r>
          </a:p>
        </p:txBody>
      </p:sp>
    </p:spTree>
    <p:extLst>
      <p:ext uri="{BB962C8B-B14F-4D97-AF65-F5344CB8AC3E}">
        <p14:creationId xmlns:p14="http://schemas.microsoft.com/office/powerpoint/2010/main" val="2157323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DB76-CBBA-EA45-BB04-FB5E15E309F2}"/>
              </a:ext>
            </a:extLst>
          </p:cNvPr>
          <p:cNvSpPr>
            <a:spLocks noGrp="1"/>
          </p:cNvSpPr>
          <p:nvPr>
            <p:ph type="title"/>
          </p:nvPr>
        </p:nvSpPr>
        <p:spPr/>
        <p:txBody>
          <a:bodyPr/>
          <a:lstStyle/>
          <a:p>
            <a:r>
              <a:rPr lang="en-US" dirty="0"/>
              <a:t>The put Member Function</a:t>
            </a:r>
          </a:p>
        </p:txBody>
      </p:sp>
      <p:sp>
        <p:nvSpPr>
          <p:cNvPr id="3" name="Content Placeholder 2">
            <a:extLst>
              <a:ext uri="{FF2B5EF4-FFF2-40B4-BE49-F238E27FC236}">
                <a16:creationId xmlns:a16="http://schemas.microsoft.com/office/drawing/2014/main" id="{808DFD65-710D-3391-4EA3-D92865F356E0}"/>
              </a:ext>
            </a:extLst>
          </p:cNvPr>
          <p:cNvSpPr>
            <a:spLocks noGrp="1"/>
          </p:cNvSpPr>
          <p:nvPr>
            <p:ph idx="1"/>
          </p:nvPr>
        </p:nvSpPr>
        <p:spPr>
          <a:xfrm>
            <a:off x="344311" y="1690688"/>
            <a:ext cx="11503378" cy="4351338"/>
          </a:xfrm>
        </p:spPr>
        <p:txBody>
          <a:bodyPr/>
          <a:lstStyle/>
          <a:p>
            <a:pPr algn="l"/>
            <a:r>
              <a:rPr lang="en-US" dirty="0">
                <a:effectLst/>
              </a:rPr>
              <a:t>Each of the output stream classes </a:t>
            </a:r>
            <a:r>
              <a:rPr lang="en-US" dirty="0" err="1">
                <a:effectLst/>
              </a:rPr>
              <a:t>ofstream</a:t>
            </a:r>
            <a:r>
              <a:rPr lang="en-US" dirty="0">
                <a:effectLst/>
              </a:rPr>
              <a:t>, </a:t>
            </a:r>
            <a:r>
              <a:rPr lang="en-US" dirty="0" err="1">
                <a:effectLst/>
              </a:rPr>
              <a:t>fstream</a:t>
            </a:r>
            <a:r>
              <a:rPr lang="en-US" dirty="0">
                <a:effectLst/>
              </a:rPr>
              <a:t>, and </a:t>
            </a:r>
            <a:r>
              <a:rPr lang="en-US" dirty="0" err="1">
                <a:effectLst/>
              </a:rPr>
              <a:t>ostringstream</a:t>
            </a:r>
            <a:r>
              <a:rPr lang="en-US" dirty="0">
                <a:effectLst/>
              </a:rPr>
              <a:t> has a member function </a:t>
            </a:r>
            <a:r>
              <a:rPr lang="en-US" dirty="0"/>
              <a:t>that takes the integer code of a character and writes the corresponding character to the stream. </a:t>
            </a:r>
          </a:p>
          <a:p>
            <a:pPr lvl="1"/>
            <a:r>
              <a:rPr lang="en-US" i="1" dirty="0" err="1">
                <a:solidFill>
                  <a:srgbClr val="FF0000"/>
                </a:solidFill>
              </a:rPr>
              <a:t>ostream</a:t>
            </a:r>
            <a:r>
              <a:rPr lang="en-US" i="1" dirty="0">
                <a:solidFill>
                  <a:srgbClr val="FF0000"/>
                </a:solidFill>
              </a:rPr>
              <a:t>&amp; </a:t>
            </a:r>
            <a:r>
              <a:rPr lang="en-US" b="1" i="1" dirty="0">
                <a:solidFill>
                  <a:srgbClr val="FF0000"/>
                </a:solidFill>
                <a:effectLst/>
              </a:rPr>
              <a:t>put</a:t>
            </a:r>
            <a:r>
              <a:rPr lang="en-US" i="1" dirty="0">
                <a:solidFill>
                  <a:srgbClr val="FF0000"/>
                </a:solidFill>
              </a:rPr>
              <a:t>(</a:t>
            </a:r>
            <a:r>
              <a:rPr lang="en-US" b="1" i="1" dirty="0">
                <a:solidFill>
                  <a:srgbClr val="FF0000"/>
                </a:solidFill>
                <a:effectLst/>
              </a:rPr>
              <a:t>int</a:t>
            </a:r>
            <a:r>
              <a:rPr lang="en-US" i="1" dirty="0">
                <a:solidFill>
                  <a:srgbClr val="FF0000"/>
                </a:solidFill>
              </a:rPr>
              <a:t> c); </a:t>
            </a:r>
          </a:p>
          <a:p>
            <a:r>
              <a:rPr lang="en-US" dirty="0"/>
              <a:t>You can think of put as the output stream counterpart to the input stream get functions. </a:t>
            </a:r>
          </a:p>
          <a:p>
            <a:r>
              <a:rPr lang="en-US" dirty="0"/>
              <a:t>As an example, the following simple program prints AB on the screen.</a:t>
            </a:r>
            <a:endParaRPr lang="en-US" dirty="0">
              <a:effectLst/>
            </a:endParaRPr>
          </a:p>
          <a:p>
            <a:pPr algn="l"/>
            <a:endParaRPr lang="en-US" i="1" dirty="0">
              <a:solidFill>
                <a:srgbClr val="FF0000"/>
              </a:solidFill>
            </a:endParaRPr>
          </a:p>
          <a:p>
            <a:endParaRPr lang="en-US" dirty="0"/>
          </a:p>
        </p:txBody>
      </p:sp>
      <p:pic>
        <p:nvPicPr>
          <p:cNvPr id="4" name="Picture 3">
            <a:extLst>
              <a:ext uri="{FF2B5EF4-FFF2-40B4-BE49-F238E27FC236}">
                <a16:creationId xmlns:a16="http://schemas.microsoft.com/office/drawing/2014/main" id="{6B748005-B9D8-1981-0CA9-5441B2740292}"/>
              </a:ext>
            </a:extLst>
          </p:cNvPr>
          <p:cNvPicPr>
            <a:picLocks noChangeAspect="1"/>
          </p:cNvPicPr>
          <p:nvPr/>
        </p:nvPicPr>
        <p:blipFill>
          <a:blip r:embed="rId2"/>
          <a:stretch>
            <a:fillRect/>
          </a:stretch>
        </p:blipFill>
        <p:spPr>
          <a:xfrm>
            <a:off x="4747930" y="4784988"/>
            <a:ext cx="2431803" cy="2073012"/>
          </a:xfrm>
          <a:prstGeom prst="rect">
            <a:avLst/>
          </a:prstGeom>
        </p:spPr>
      </p:pic>
    </p:spTree>
    <p:extLst>
      <p:ext uri="{BB962C8B-B14F-4D97-AF65-F5344CB8AC3E}">
        <p14:creationId xmlns:p14="http://schemas.microsoft.com/office/powerpoint/2010/main" val="12100128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5F25-9DB8-88BE-65D9-C1BF21F9CC44}"/>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C414343B-B822-4ECE-07A7-7B7F8AB28A2A}"/>
              </a:ext>
            </a:extLst>
          </p:cNvPr>
          <p:cNvSpPr>
            <a:spLocks noGrp="1"/>
          </p:cNvSpPr>
          <p:nvPr>
            <p:ph idx="1"/>
          </p:nvPr>
        </p:nvSpPr>
        <p:spPr/>
        <p:txBody>
          <a:bodyPr/>
          <a:lstStyle/>
          <a:p>
            <a:r>
              <a:rPr lang="en-US" dirty="0"/>
              <a:t>Many times it is useful to open a file, process all the data in it, rewind the file back to the beginning, and process it again, perhaps in a slightly different fashion. </a:t>
            </a:r>
          </a:p>
          <a:p>
            <a:r>
              <a:rPr lang="en-US" dirty="0"/>
              <a:t>For example, a user may ask the program to search a database for all records of a certain kind, and when those are found, the user may want to search the database for all records of some other kind.</a:t>
            </a:r>
          </a:p>
          <a:p>
            <a:r>
              <a:rPr lang="en-US" dirty="0"/>
              <a:t>File stream classes offer a number of different member functions that can be used to move around in a file. </a:t>
            </a:r>
          </a:p>
        </p:txBody>
      </p:sp>
    </p:spTree>
    <p:extLst>
      <p:ext uri="{BB962C8B-B14F-4D97-AF65-F5344CB8AC3E}">
        <p14:creationId xmlns:p14="http://schemas.microsoft.com/office/powerpoint/2010/main" val="36978041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05C3F-9833-B472-5F7F-DA35E2D4C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F0CF8-57EB-9BD4-0724-B1C35AAEA764}"/>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21B20D49-731B-1747-FB2B-6B4D631E9AD7}"/>
              </a:ext>
            </a:extLst>
          </p:cNvPr>
          <p:cNvSpPr>
            <a:spLocks noGrp="1"/>
          </p:cNvSpPr>
          <p:nvPr>
            <p:ph idx="1"/>
          </p:nvPr>
        </p:nvSpPr>
        <p:spPr>
          <a:xfrm>
            <a:off x="838199" y="1658056"/>
            <a:ext cx="10083325" cy="4834819"/>
          </a:xfrm>
        </p:spPr>
        <p:txBody>
          <a:bodyPr>
            <a:normAutofit/>
          </a:bodyPr>
          <a:lstStyle/>
          <a:p>
            <a:r>
              <a:rPr lang="en-US" dirty="0"/>
              <a:t>One such method is the member function of the input stream classes (the file “seeks” to a certain place in the file; the ‘g’ is for “get” and denotes that the function works on an input stream, because we “get” data from an input stream). </a:t>
            </a:r>
          </a:p>
          <a:p>
            <a:r>
              <a:rPr lang="en-US" i="1" dirty="0" err="1">
                <a:solidFill>
                  <a:srgbClr val="FF0000"/>
                </a:solidFill>
                <a:effectLst/>
              </a:rPr>
              <a:t>seekg</a:t>
            </a:r>
            <a:r>
              <a:rPr lang="en-US" i="1" dirty="0">
                <a:solidFill>
                  <a:srgbClr val="FF0000"/>
                </a:solidFill>
              </a:rPr>
              <a:t>(offset, place); </a:t>
            </a:r>
          </a:p>
        </p:txBody>
      </p:sp>
    </p:spTree>
    <p:extLst>
      <p:ext uri="{BB962C8B-B14F-4D97-AF65-F5344CB8AC3E}">
        <p14:creationId xmlns:p14="http://schemas.microsoft.com/office/powerpoint/2010/main" val="11683772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FEB7-A666-4A5F-246C-0E1C66E31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C58E3-7295-8939-EE5E-02C07EE9813F}"/>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3965CA2D-0185-C04D-3B6F-49EB841DBF76}"/>
              </a:ext>
            </a:extLst>
          </p:cNvPr>
          <p:cNvSpPr>
            <a:spLocks noGrp="1"/>
          </p:cNvSpPr>
          <p:nvPr>
            <p:ph idx="1"/>
          </p:nvPr>
        </p:nvSpPr>
        <p:spPr>
          <a:xfrm>
            <a:off x="922945" y="1765803"/>
            <a:ext cx="10152405" cy="4834819"/>
          </a:xfrm>
        </p:spPr>
        <p:txBody>
          <a:bodyPr>
            <a:normAutofit/>
          </a:bodyPr>
          <a:lstStyle/>
          <a:p>
            <a:r>
              <a:rPr lang="en-US" i="1" dirty="0" err="1">
                <a:solidFill>
                  <a:srgbClr val="FF0000"/>
                </a:solidFill>
                <a:effectLst/>
              </a:rPr>
              <a:t>seekg</a:t>
            </a:r>
            <a:r>
              <a:rPr lang="en-US" i="1" dirty="0">
                <a:solidFill>
                  <a:srgbClr val="FF0000"/>
                </a:solidFill>
              </a:rPr>
              <a:t>(offset, place); </a:t>
            </a:r>
          </a:p>
          <a:p>
            <a:r>
              <a:rPr lang="en-US" dirty="0"/>
              <a:t>The new location in the file to seek to is given by the two parameters: the new location is at an offset of offset bytes from the starting point given by place. </a:t>
            </a:r>
          </a:p>
          <a:p>
            <a:r>
              <a:rPr lang="en-US" dirty="0"/>
              <a:t>The offset parameter is a long integer, while place can be one of three values defined in the </a:t>
            </a:r>
            <a:r>
              <a:rPr lang="en-US" dirty="0" err="1"/>
              <a:t>ios</a:t>
            </a:r>
            <a:r>
              <a:rPr lang="en-US" dirty="0"/>
              <a:t> class. </a:t>
            </a:r>
          </a:p>
          <a:p>
            <a:r>
              <a:rPr lang="en-US" dirty="0"/>
              <a:t>The starting place may be the beginning of the file, the current place in the file, or the end of the file. </a:t>
            </a:r>
          </a:p>
          <a:p>
            <a:r>
              <a:rPr lang="en-US" dirty="0"/>
              <a:t>These places are indicated by the constants </a:t>
            </a:r>
            <a:r>
              <a:rPr lang="en-US" dirty="0" err="1"/>
              <a:t>ios:beg</a:t>
            </a:r>
            <a:r>
              <a:rPr lang="en-US" dirty="0"/>
              <a:t>, </a:t>
            </a:r>
            <a:r>
              <a:rPr lang="en-US" dirty="0" err="1"/>
              <a:t>ios</a:t>
            </a:r>
            <a:r>
              <a:rPr lang="en-US" dirty="0"/>
              <a:t>::cur, and </a:t>
            </a:r>
            <a:r>
              <a:rPr lang="en-US" dirty="0" err="1"/>
              <a:t>ios</a:t>
            </a:r>
            <a:r>
              <a:rPr lang="en-US" dirty="0"/>
              <a:t>::end, respectively.</a:t>
            </a:r>
            <a:endParaRPr lang="en-US" i="1" dirty="0">
              <a:solidFill>
                <a:srgbClr val="FF0000"/>
              </a:solidFill>
            </a:endParaRPr>
          </a:p>
        </p:txBody>
      </p:sp>
    </p:spTree>
    <p:extLst>
      <p:ext uri="{BB962C8B-B14F-4D97-AF65-F5344CB8AC3E}">
        <p14:creationId xmlns:p14="http://schemas.microsoft.com/office/powerpoint/2010/main" val="23559926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FA7C-1C2A-277F-E103-8EF3EE898179}"/>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BC0DC36B-4D27-60C8-CBA4-0720755499E0}"/>
              </a:ext>
            </a:extLst>
          </p:cNvPr>
          <p:cNvSpPr>
            <a:spLocks noGrp="1"/>
          </p:cNvSpPr>
          <p:nvPr>
            <p:ph idx="1"/>
          </p:nvPr>
        </p:nvSpPr>
        <p:spPr/>
        <p:txBody>
          <a:bodyPr/>
          <a:lstStyle/>
          <a:p>
            <a:r>
              <a:rPr lang="en-US" dirty="0"/>
              <a:t>To move to the beginning of a file, use the call to move 0 bytes relative to the beginning of the file.</a:t>
            </a:r>
          </a:p>
          <a:p>
            <a:r>
              <a:rPr lang="en-US" i="1" dirty="0" err="1">
                <a:solidFill>
                  <a:srgbClr val="FF0000"/>
                </a:solidFill>
                <a:effectLst/>
              </a:rPr>
              <a:t>seekg</a:t>
            </a:r>
            <a:r>
              <a:rPr lang="en-US" i="1" dirty="0">
                <a:solidFill>
                  <a:srgbClr val="FF0000"/>
                </a:solidFill>
              </a:rPr>
              <a:t>(</a:t>
            </a:r>
            <a:r>
              <a:rPr lang="en-US" i="1" dirty="0">
                <a:solidFill>
                  <a:srgbClr val="FF0000"/>
                </a:solidFill>
                <a:effectLst/>
              </a:rPr>
              <a:t>0L</a:t>
            </a:r>
            <a:r>
              <a:rPr lang="en-US" i="1" dirty="0">
                <a:solidFill>
                  <a:srgbClr val="FF0000"/>
                </a:solidFill>
              </a:rPr>
              <a:t>, </a:t>
            </a:r>
            <a:r>
              <a:rPr lang="en-US" i="1" dirty="0" err="1">
                <a:solidFill>
                  <a:srgbClr val="FF0000"/>
                </a:solidFill>
              </a:rPr>
              <a:t>ios</a:t>
            </a:r>
            <a:r>
              <a:rPr lang="en-US" i="1" dirty="0">
                <a:solidFill>
                  <a:srgbClr val="FF0000"/>
                </a:solidFill>
              </a:rPr>
              <a:t>::beg); </a:t>
            </a:r>
          </a:p>
          <a:p>
            <a:r>
              <a:rPr lang="en-US" dirty="0"/>
              <a:t>If you are already at the end of the file, you must clear the end of file flag </a:t>
            </a:r>
            <a:r>
              <a:rPr lang="en-US" i="1" dirty="0"/>
              <a:t>before</a:t>
            </a:r>
            <a:r>
              <a:rPr lang="en-US" dirty="0"/>
              <a:t> calling this function. </a:t>
            </a:r>
          </a:p>
          <a:p>
            <a:r>
              <a:rPr lang="en-US" dirty="0"/>
              <a:t>Thus, to move to the beginning of a file stream </a:t>
            </a:r>
            <a:r>
              <a:rPr lang="en-US" dirty="0" err="1"/>
              <a:t>dataIn</a:t>
            </a:r>
            <a:r>
              <a:rPr lang="en-US" dirty="0"/>
              <a:t> that you have just read to the end, you need the two statements</a:t>
            </a:r>
            <a:endParaRPr lang="en-US" i="1" dirty="0">
              <a:solidFill>
                <a:srgbClr val="FF0000"/>
              </a:solidFill>
            </a:endParaRPr>
          </a:p>
        </p:txBody>
      </p:sp>
      <p:pic>
        <p:nvPicPr>
          <p:cNvPr id="6" name="Picture 5">
            <a:extLst>
              <a:ext uri="{FF2B5EF4-FFF2-40B4-BE49-F238E27FC236}">
                <a16:creationId xmlns:a16="http://schemas.microsoft.com/office/drawing/2014/main" id="{4A15882A-76D7-1E2F-C666-2D304CC25C8E}"/>
              </a:ext>
            </a:extLst>
          </p:cNvPr>
          <p:cNvPicPr>
            <a:picLocks noChangeAspect="1"/>
          </p:cNvPicPr>
          <p:nvPr/>
        </p:nvPicPr>
        <p:blipFill>
          <a:blip r:embed="rId3"/>
          <a:stretch>
            <a:fillRect/>
          </a:stretch>
        </p:blipFill>
        <p:spPr>
          <a:xfrm>
            <a:off x="4515555" y="5228872"/>
            <a:ext cx="3160889" cy="806685"/>
          </a:xfrm>
          <a:prstGeom prst="rect">
            <a:avLst/>
          </a:prstGeom>
        </p:spPr>
      </p:pic>
    </p:spTree>
    <p:extLst>
      <p:ext uri="{BB962C8B-B14F-4D97-AF65-F5344CB8AC3E}">
        <p14:creationId xmlns:p14="http://schemas.microsoft.com/office/powerpoint/2010/main" val="31977824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CBF9-0741-E64C-928B-46AFB60A2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044CC-74ED-2B91-2BB0-5049A0DA1517}"/>
              </a:ext>
            </a:extLst>
          </p:cNvPr>
          <p:cNvSpPr>
            <a:spLocks noGrp="1"/>
          </p:cNvSpPr>
          <p:nvPr>
            <p:ph type="title"/>
          </p:nvPr>
        </p:nvSpPr>
        <p:spPr>
          <a:xfrm>
            <a:off x="5132534" y="11289"/>
            <a:ext cx="2446867" cy="1325563"/>
          </a:xfrm>
        </p:spPr>
        <p:txBody>
          <a:bodyPr/>
          <a:lstStyle/>
          <a:p>
            <a:r>
              <a:rPr lang="en-US" dirty="0"/>
              <a:t>Example</a:t>
            </a:r>
          </a:p>
        </p:txBody>
      </p:sp>
      <p:pic>
        <p:nvPicPr>
          <p:cNvPr id="7" name="Picture 6">
            <a:extLst>
              <a:ext uri="{FF2B5EF4-FFF2-40B4-BE49-F238E27FC236}">
                <a16:creationId xmlns:a16="http://schemas.microsoft.com/office/drawing/2014/main" id="{7D38A0CC-CA6A-24EC-E6E1-3D5974977FBE}"/>
              </a:ext>
            </a:extLst>
          </p:cNvPr>
          <p:cNvPicPr>
            <a:picLocks noChangeAspect="1"/>
          </p:cNvPicPr>
          <p:nvPr/>
        </p:nvPicPr>
        <p:blipFill>
          <a:blip r:embed="rId3"/>
          <a:stretch>
            <a:fillRect/>
          </a:stretch>
        </p:blipFill>
        <p:spPr>
          <a:xfrm>
            <a:off x="240975" y="0"/>
            <a:ext cx="4643203" cy="6858000"/>
          </a:xfrm>
          <a:prstGeom prst="rect">
            <a:avLst/>
          </a:prstGeom>
        </p:spPr>
      </p:pic>
      <p:pic>
        <p:nvPicPr>
          <p:cNvPr id="8" name="Picture 7">
            <a:extLst>
              <a:ext uri="{FF2B5EF4-FFF2-40B4-BE49-F238E27FC236}">
                <a16:creationId xmlns:a16="http://schemas.microsoft.com/office/drawing/2014/main" id="{F6D07188-48EE-B497-2A17-15A4D07CAD67}"/>
              </a:ext>
            </a:extLst>
          </p:cNvPr>
          <p:cNvPicPr>
            <a:picLocks noChangeAspect="1"/>
          </p:cNvPicPr>
          <p:nvPr/>
        </p:nvPicPr>
        <p:blipFill>
          <a:blip r:embed="rId4"/>
          <a:stretch>
            <a:fillRect/>
          </a:stretch>
        </p:blipFill>
        <p:spPr>
          <a:xfrm>
            <a:off x="5018617" y="1409700"/>
            <a:ext cx="3848100" cy="4851400"/>
          </a:xfrm>
          <a:prstGeom prst="rect">
            <a:avLst/>
          </a:prstGeom>
        </p:spPr>
      </p:pic>
      <p:pic>
        <p:nvPicPr>
          <p:cNvPr id="9" name="Picture 8">
            <a:extLst>
              <a:ext uri="{FF2B5EF4-FFF2-40B4-BE49-F238E27FC236}">
                <a16:creationId xmlns:a16="http://schemas.microsoft.com/office/drawing/2014/main" id="{40FD8DF8-DB4A-EC2C-C351-F1C8B1F5A87F}"/>
              </a:ext>
            </a:extLst>
          </p:cNvPr>
          <p:cNvPicPr>
            <a:picLocks noChangeAspect="1"/>
          </p:cNvPicPr>
          <p:nvPr/>
        </p:nvPicPr>
        <p:blipFill>
          <a:blip r:embed="rId5"/>
          <a:stretch>
            <a:fillRect/>
          </a:stretch>
        </p:blipFill>
        <p:spPr>
          <a:xfrm>
            <a:off x="9148939" y="2458861"/>
            <a:ext cx="2654300" cy="2120900"/>
          </a:xfrm>
          <a:prstGeom prst="rect">
            <a:avLst/>
          </a:prstGeom>
        </p:spPr>
      </p:pic>
    </p:spTree>
    <p:extLst>
      <p:ext uri="{BB962C8B-B14F-4D97-AF65-F5344CB8AC3E}">
        <p14:creationId xmlns:p14="http://schemas.microsoft.com/office/powerpoint/2010/main" val="1362589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3379</Words>
  <Application>Microsoft Macintosh PowerPoint</Application>
  <PresentationFormat>Widescreen</PresentationFormat>
  <Paragraphs>247</Paragraphs>
  <Slides>56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Aptos</vt:lpstr>
      <vt:lpstr>Aptos Display</vt:lpstr>
      <vt:lpstr>Arial</vt:lpstr>
      <vt:lpstr>Office Theme</vt:lpstr>
      <vt:lpstr>CS 331</vt:lpstr>
      <vt:lpstr>Numeric Conversion Functions</vt:lpstr>
      <vt:lpstr>Numeric Conversion Functions</vt:lpstr>
      <vt:lpstr>Numeric Conversion Functions</vt:lpstr>
      <vt:lpstr>Numeric Conversion Functions</vt:lpstr>
      <vt:lpstr>Numeric Conversion Functions</vt:lpstr>
      <vt:lpstr>Numeric Conversion Functions</vt:lpstr>
      <vt:lpstr>Example</vt:lpstr>
      <vt:lpstr>Writing Your Own C-String Handling Functions</vt:lpstr>
      <vt:lpstr>Using Pointers to Pass C-String Arguments</vt:lpstr>
      <vt:lpstr>Using Pointers to Pass C-String Arguments</vt:lpstr>
      <vt:lpstr>Using Pointers to Pass C-String Arguments</vt:lpstr>
      <vt:lpstr>Using Pointers to Pass C-String Arguments</vt:lpstr>
      <vt:lpstr>Input and Output Streams</vt:lpstr>
      <vt:lpstr>The File Stream Classes</vt:lpstr>
      <vt:lpstr>The File Stream Classes</vt:lpstr>
      <vt:lpstr>The File Stream Classes</vt:lpstr>
      <vt:lpstr>The File Stream Classes</vt:lpstr>
      <vt:lpstr>The File Stream Classes</vt:lpstr>
      <vt:lpstr>The File Stream Classes</vt:lpstr>
      <vt:lpstr>The File Stream Classes</vt:lpstr>
      <vt:lpstr>Example</vt:lpstr>
      <vt:lpstr>The File Stream Classes</vt:lpstr>
      <vt:lpstr>File Open Modes</vt:lpstr>
      <vt:lpstr>File Open Modes</vt:lpstr>
      <vt:lpstr>File Open Modes</vt:lpstr>
      <vt:lpstr>File Open Modes</vt:lpstr>
      <vt:lpstr>Using Constructors to Open Files</vt:lpstr>
      <vt:lpstr>Output Formatting and I/O Manipulators</vt:lpstr>
      <vt:lpstr>More Detailed Error Testing</vt:lpstr>
      <vt:lpstr>More Detailed Error Testing: Example</vt:lpstr>
      <vt:lpstr>The main() function</vt:lpstr>
      <vt:lpstr>Member Functions for Reading and Writing Files</vt:lpstr>
      <vt:lpstr>Member Functions for Reading and Writing Files</vt:lpstr>
      <vt:lpstr>Member Functions for Reading and Writing Files</vt:lpstr>
      <vt:lpstr>The getline function</vt:lpstr>
      <vt:lpstr>The getline function</vt:lpstr>
      <vt:lpstr>The getline function</vt:lpstr>
      <vt:lpstr>Example</vt:lpstr>
      <vt:lpstr>The getline function</vt:lpstr>
      <vt:lpstr>The getline function</vt:lpstr>
      <vt:lpstr>The getline function</vt:lpstr>
      <vt:lpstr>The getline function</vt:lpstr>
      <vt:lpstr>The get Family of Member Functions </vt:lpstr>
      <vt:lpstr>Example</vt:lpstr>
      <vt:lpstr>The peek Member Function</vt:lpstr>
      <vt:lpstr>The peek Member Function</vt:lpstr>
      <vt:lpstr>The peek Member Function</vt:lpstr>
      <vt:lpstr>Example</vt:lpstr>
      <vt:lpstr>The peek Member Function</vt:lpstr>
      <vt:lpstr>The put Member Function</vt:lpstr>
      <vt:lpstr>Rewinding a File</vt:lpstr>
      <vt:lpstr>Rewinding a File</vt:lpstr>
      <vt:lpstr>Rewinding a File</vt:lpstr>
      <vt:lpstr>Rewinding a File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6</cp:revision>
  <dcterms:created xsi:type="dcterms:W3CDTF">2024-11-20T17:03:17Z</dcterms:created>
  <dcterms:modified xsi:type="dcterms:W3CDTF">2024-11-26T13:40:13Z</dcterms:modified>
</cp:coreProperties>
</file>