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390" r:id="rId3"/>
    <p:sldId id="391" r:id="rId4"/>
    <p:sldId id="392" r:id="rId5"/>
    <p:sldId id="393" r:id="rId6"/>
    <p:sldId id="394" r:id="rId7"/>
    <p:sldId id="395" r:id="rId8"/>
    <p:sldId id="396" r:id="rId9"/>
    <p:sldId id="397" r:id="rId10"/>
    <p:sldId id="398" r:id="rId11"/>
    <p:sldId id="399" r:id="rId12"/>
    <p:sldId id="400" r:id="rId13"/>
    <p:sldId id="408" r:id="rId14"/>
    <p:sldId id="401" r:id="rId15"/>
    <p:sldId id="402" r:id="rId16"/>
    <p:sldId id="403" r:id="rId17"/>
    <p:sldId id="404" r:id="rId18"/>
    <p:sldId id="405" r:id="rId19"/>
    <p:sldId id="406" r:id="rId20"/>
    <p:sldId id="410" r:id="rId21"/>
    <p:sldId id="411" r:id="rId22"/>
    <p:sldId id="413" r:id="rId23"/>
    <p:sldId id="412" r:id="rId24"/>
    <p:sldId id="414" r:id="rId25"/>
    <p:sldId id="415" r:id="rId26"/>
    <p:sldId id="416" r:id="rId27"/>
    <p:sldId id="417" r:id="rId28"/>
    <p:sldId id="419" r:id="rId29"/>
    <p:sldId id="418" r:id="rId30"/>
    <p:sldId id="420" r:id="rId31"/>
    <p:sldId id="421" r:id="rId32"/>
    <p:sldId id="422" r:id="rId33"/>
    <p:sldId id="423" r:id="rId34"/>
    <p:sldId id="424" r:id="rId35"/>
    <p:sldId id="425" r:id="rId36"/>
    <p:sldId id="426" r:id="rId37"/>
    <p:sldId id="427" r:id="rId38"/>
    <p:sldId id="428" r:id="rId39"/>
    <p:sldId id="429" r:id="rId40"/>
    <p:sldId id="430" r:id="rId41"/>
    <p:sldId id="431" r:id="rId42"/>
    <p:sldId id="432" r:id="rId43"/>
    <p:sldId id="433" r:id="rId44"/>
    <p:sldId id="434" r:id="rId45"/>
    <p:sldId id="435" r:id="rId46"/>
    <p:sldId id="436" r:id="rId47"/>
    <p:sldId id="437" r:id="rId48"/>
    <p:sldId id="438" r:id="rId49"/>
    <p:sldId id="439" r:id="rId50"/>
    <p:sldId id="440" r:id="rId51"/>
    <p:sldId id="441" r:id="rId52"/>
    <p:sldId id="442"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ferSingleView="1">
    <p:restoredLeft sz="11079"/>
    <p:restoredTop sz="94733"/>
  </p:normalViewPr>
  <p:slideViewPr>
    <p:cSldViewPr snapToGrid="0">
      <p:cViewPr varScale="1">
        <p:scale>
          <a:sx n="154" d="100"/>
          <a:sy n="154" d="100"/>
        </p:scale>
        <p:origin x="232" y="130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6C011-2B12-A349-B423-75820124C188}" type="datetimeFigureOut">
              <a:rPr lang="en-US" smtClean="0"/>
              <a:t>11/7/24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771B0-8F24-4B48-82A1-68205750A15E}" type="slidenum">
              <a:rPr lang="en-US" smtClean="0"/>
              <a:t>‹#›</a:t>
            </a:fld>
            <a:endParaRPr lang="en-US"/>
          </a:p>
        </p:txBody>
      </p:sp>
    </p:spTree>
    <p:extLst>
      <p:ext uri="{BB962C8B-B14F-4D97-AF65-F5344CB8AC3E}">
        <p14:creationId xmlns:p14="http://schemas.microsoft.com/office/powerpoint/2010/main" val="264270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2</a:t>
            </a:fld>
            <a:endParaRPr lang="en-US"/>
          </a:p>
        </p:txBody>
      </p:sp>
    </p:spTree>
    <p:extLst>
      <p:ext uri="{BB962C8B-B14F-4D97-AF65-F5344CB8AC3E}">
        <p14:creationId xmlns:p14="http://schemas.microsoft.com/office/powerpoint/2010/main" val="3734635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27</a:t>
            </a:fld>
            <a:endParaRPr lang="en-US"/>
          </a:p>
        </p:txBody>
      </p:sp>
    </p:spTree>
    <p:extLst>
      <p:ext uri="{BB962C8B-B14F-4D97-AF65-F5344CB8AC3E}">
        <p14:creationId xmlns:p14="http://schemas.microsoft.com/office/powerpoint/2010/main" val="1360028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A3F2E-BE9D-90F0-6220-E418B1C60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B207D-279F-E80A-58CA-0204152B3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C0056-8F0A-AC29-1808-4DD8F74D1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3C40C1-D984-812F-5CA5-0B2F3EC4D225}"/>
              </a:ext>
            </a:extLst>
          </p:cNvPr>
          <p:cNvSpPr>
            <a:spLocks noGrp="1"/>
          </p:cNvSpPr>
          <p:nvPr>
            <p:ph type="sldNum" sz="quarter" idx="5"/>
          </p:nvPr>
        </p:nvSpPr>
        <p:spPr/>
        <p:txBody>
          <a:bodyPr/>
          <a:lstStyle/>
          <a:p>
            <a:fld id="{703771B0-8F24-4B48-82A1-68205750A15E}" type="slidenum">
              <a:rPr lang="en-US" smtClean="0"/>
              <a:t>28</a:t>
            </a:fld>
            <a:endParaRPr lang="en-US"/>
          </a:p>
        </p:txBody>
      </p:sp>
    </p:spTree>
    <p:extLst>
      <p:ext uri="{BB962C8B-B14F-4D97-AF65-F5344CB8AC3E}">
        <p14:creationId xmlns:p14="http://schemas.microsoft.com/office/powerpoint/2010/main" val="2155655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43</a:t>
            </a:fld>
            <a:endParaRPr lang="en-US"/>
          </a:p>
        </p:txBody>
      </p:sp>
    </p:spTree>
    <p:extLst>
      <p:ext uri="{BB962C8B-B14F-4D97-AF65-F5344CB8AC3E}">
        <p14:creationId xmlns:p14="http://schemas.microsoft.com/office/powerpoint/2010/main" val="371770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7497-2233-5CF0-D049-3FFE529D28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94D115-F585-35D3-86C8-CE06BA1A1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996EB9-ED37-4522-F71D-A51F84C88D9A}"/>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5" name="Footer Placeholder 4">
            <a:extLst>
              <a:ext uri="{FF2B5EF4-FFF2-40B4-BE49-F238E27FC236}">
                <a16:creationId xmlns:a16="http://schemas.microsoft.com/office/drawing/2014/main" id="{668D73EB-6B6D-514E-46B4-AC8E2A7ED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70961-F70B-DCDF-5938-603A6023FACF}"/>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18700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4DE-2D31-0C7A-A721-701831C83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ED0C0D-979C-4AB8-6686-C9351CC22C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C67E4-650A-56FF-41C3-1B46C3CB540F}"/>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5" name="Footer Placeholder 4">
            <a:extLst>
              <a:ext uri="{FF2B5EF4-FFF2-40B4-BE49-F238E27FC236}">
                <a16:creationId xmlns:a16="http://schemas.microsoft.com/office/drawing/2014/main" id="{C271C418-59A5-361F-42A4-E3195CC56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58B9A-FAF1-FAEB-3795-06FB6CD79B3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869738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59E4-332F-B0C5-9ADD-446A2A66B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DC95D-4EE4-FE1E-E538-C9EF981D31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B25E69-010B-BEE4-B7A9-B36D23D612C9}"/>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5" name="Footer Placeholder 4">
            <a:extLst>
              <a:ext uri="{FF2B5EF4-FFF2-40B4-BE49-F238E27FC236}">
                <a16:creationId xmlns:a16="http://schemas.microsoft.com/office/drawing/2014/main" id="{F70576AA-DCF5-179A-5EF8-DB0C5D62A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DF326-798F-9EBB-37FC-6826A11179D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92715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4D5F-9258-DF13-DCEF-218C81B18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A7483-54CF-CB1C-6F5C-CF86CA1B9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BF5A2F-DF1A-A79D-BC75-8F70F087C3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468058-E579-F920-BD66-6AF61C39332C}"/>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6" name="Footer Placeholder 5">
            <a:extLst>
              <a:ext uri="{FF2B5EF4-FFF2-40B4-BE49-F238E27FC236}">
                <a16:creationId xmlns:a16="http://schemas.microsoft.com/office/drawing/2014/main" id="{2422F2A9-A4C6-0C5C-6645-32929077A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FC57C-92E4-F87D-E113-E8026EC4261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907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88BF-5473-99A1-0999-2A058B6D0C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D4B2D7-B13D-4E6A-A7CB-45FE4391B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4FE831-2105-FC35-6CBC-C1A8A437B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50A41-473F-AB64-B608-38AC9065D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FA31D-95BF-E042-532F-63CF23591F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A18247-8390-2DAA-D575-263969C46CFF}"/>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8" name="Footer Placeholder 7">
            <a:extLst>
              <a:ext uri="{FF2B5EF4-FFF2-40B4-BE49-F238E27FC236}">
                <a16:creationId xmlns:a16="http://schemas.microsoft.com/office/drawing/2014/main" id="{7BA1577C-D833-D373-A105-6149F46EAA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1DA587-16E4-3EC3-9080-0DEDCC317F0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50645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D489-8375-52EB-A2BC-C499B78945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245771-1C57-1C89-9263-F224DDBEEA95}"/>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4" name="Footer Placeholder 3">
            <a:extLst>
              <a:ext uri="{FF2B5EF4-FFF2-40B4-BE49-F238E27FC236}">
                <a16:creationId xmlns:a16="http://schemas.microsoft.com/office/drawing/2014/main" id="{1D65A188-9973-35EB-9077-12DDBED8D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3F0DC9-B6C9-3145-FC44-19D0EB210BE7}"/>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4761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73EAA-7F14-9166-7C72-F01F84FEFCEF}"/>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3" name="Footer Placeholder 2">
            <a:extLst>
              <a:ext uri="{FF2B5EF4-FFF2-40B4-BE49-F238E27FC236}">
                <a16:creationId xmlns:a16="http://schemas.microsoft.com/office/drawing/2014/main" id="{030751A4-47E3-CDB6-8894-9AF86C7E7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A304F-1503-1D29-5814-B8DECC3764BA}"/>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410164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920A-6A00-5561-7691-62B039253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EB7932-359D-59CA-2D49-88EA741F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0CEEBE-F16C-AA7F-04CD-DDE66660C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2EFDA-8312-C3FD-A13A-9D9C5938515B}"/>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6" name="Footer Placeholder 5">
            <a:extLst>
              <a:ext uri="{FF2B5EF4-FFF2-40B4-BE49-F238E27FC236}">
                <a16:creationId xmlns:a16="http://schemas.microsoft.com/office/drawing/2014/main" id="{2F7E43B2-AA34-EC21-F0C0-603309F72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F55F5-7423-0242-5A2F-09B40472387D}"/>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89444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EE61-E3C2-EA97-A111-262A8FDBD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872FFB-1CB2-ABC5-4969-9FAFA7042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19B23-2D62-B991-5FB7-A1DD3A621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CBC6B-C59D-6BDA-29D9-5FAC341F8588}"/>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6" name="Footer Placeholder 5">
            <a:extLst>
              <a:ext uri="{FF2B5EF4-FFF2-40B4-BE49-F238E27FC236}">
                <a16:creationId xmlns:a16="http://schemas.microsoft.com/office/drawing/2014/main" id="{D8F245B9-8BDF-B1B5-8CE5-B3AC592FA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CD5E7-9497-5282-8256-9591208A113C}"/>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9860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E768-A793-6624-FED1-9F422AEFDC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2B71F-51DC-3C01-BEB7-1AB58B161C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81B14-3A7D-295C-274D-4E49DDF4206B}"/>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5" name="Footer Placeholder 4">
            <a:extLst>
              <a:ext uri="{FF2B5EF4-FFF2-40B4-BE49-F238E27FC236}">
                <a16:creationId xmlns:a16="http://schemas.microsoft.com/office/drawing/2014/main" id="{C9E405A0-2609-8DB4-3682-FE6423E70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21D1E-0B56-2D31-63FA-16ECCC4E5521}"/>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0437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7ADB8-4CAC-F675-02CB-5F65CFA10C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FA8541-0C6C-AA22-D374-80870AF15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11942-24E3-70CB-5920-73AC5FD9C4E7}"/>
              </a:ext>
            </a:extLst>
          </p:cNvPr>
          <p:cNvSpPr>
            <a:spLocks noGrp="1"/>
          </p:cNvSpPr>
          <p:nvPr>
            <p:ph type="dt" sz="half" idx="10"/>
          </p:nvPr>
        </p:nvSpPr>
        <p:spPr/>
        <p:txBody>
          <a:bodyPr/>
          <a:lstStyle/>
          <a:p>
            <a:fld id="{AB0FC227-1C15-4A43-BEB2-13798C94F5EF}" type="datetimeFigureOut">
              <a:rPr lang="en-US" smtClean="0"/>
              <a:t>11/7/24</a:t>
            </a:fld>
            <a:endParaRPr lang="en-US"/>
          </a:p>
        </p:txBody>
      </p:sp>
      <p:sp>
        <p:nvSpPr>
          <p:cNvPr id="5" name="Footer Placeholder 4">
            <a:extLst>
              <a:ext uri="{FF2B5EF4-FFF2-40B4-BE49-F238E27FC236}">
                <a16:creationId xmlns:a16="http://schemas.microsoft.com/office/drawing/2014/main" id="{41D0E9CF-C281-ED40-0225-DFAEFE0D9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0D6DC-533F-C171-BD27-F6902641CA2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59844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94179-025D-BD23-9799-BAE5EF15B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62D5CB-8C7A-30FD-22E2-AFEABE0A7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3CC61-648A-B2B0-A5D7-454AF72170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0FC227-1C15-4A43-BEB2-13798C94F5EF}" type="datetimeFigureOut">
              <a:rPr lang="en-US" smtClean="0"/>
              <a:t>11/7/24</a:t>
            </a:fld>
            <a:endParaRPr lang="en-US"/>
          </a:p>
        </p:txBody>
      </p:sp>
      <p:sp>
        <p:nvSpPr>
          <p:cNvPr id="5" name="Footer Placeholder 4">
            <a:extLst>
              <a:ext uri="{FF2B5EF4-FFF2-40B4-BE49-F238E27FC236}">
                <a16:creationId xmlns:a16="http://schemas.microsoft.com/office/drawing/2014/main" id="{B9EB0CF4-EDD5-7B2F-27EE-13E5B7269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55604-2777-5B4B-4679-40C254EEC8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BA0F0C-220E-F745-AF73-56D3AD921199}" type="slidenum">
              <a:rPr lang="en-US" smtClean="0"/>
              <a:t>‹#›</a:t>
            </a:fld>
            <a:endParaRPr lang="en-US"/>
          </a:p>
        </p:txBody>
      </p:sp>
    </p:spTree>
    <p:extLst>
      <p:ext uri="{BB962C8B-B14F-4D97-AF65-F5344CB8AC3E}">
        <p14:creationId xmlns:p14="http://schemas.microsoft.com/office/powerpoint/2010/main" val="1323111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9612eab8-9596-4e0d-90a2-c09eb30fe90d?userPreferredType=read"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4a333d6a-3395-4d7b-a554-ddada3055a3c?userPreferredType=read"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662f32da-136b-4859-b815-4d1a0ddf21d2?userPreferredType=read"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plus.pearson.com/products/38bfda0e-08b5-4b34-9a14-38c88560fefb/pages/urn:pearson:entity:662f32da-136b-4859-b815-4d1a0ddf21d2?userPreferredType=rea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plus.pearson.com/products/38bfda0e-08b5-4b34-9a14-38c88560fefb/pages/urn:pearson:entity:662f32da-136b-4859-b815-4d1a0ddf21d2?userPreferredType=read" TargetMode="Externa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5509be7c-79f3-4ff3-8be7-398aacf045d5?userPreferredType=read"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894ffaa4-a42c-49c2-be3d-33a3b68ef903?userPreferredType=rea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ACEA-34DD-C4AE-91D6-A79F7CA59153}"/>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64FF1D7F-4059-C104-E5D6-F9234CEE0B98}"/>
              </a:ext>
            </a:extLst>
          </p:cNvPr>
          <p:cNvSpPr>
            <a:spLocks noGrp="1"/>
          </p:cNvSpPr>
          <p:nvPr>
            <p:ph type="subTitle" idx="1"/>
          </p:nvPr>
        </p:nvSpPr>
        <p:spPr/>
        <p:txBody>
          <a:bodyPr/>
          <a:lstStyle/>
          <a:p>
            <a:r>
              <a:rPr lang="en-US" sz="3000" b="1" dirty="0"/>
              <a:t>More about Classes and Inheritance</a:t>
            </a:r>
          </a:p>
          <a:p>
            <a:r>
              <a:rPr lang="en-US" dirty="0"/>
              <a:t>MD Romael Haque</a:t>
            </a:r>
          </a:p>
        </p:txBody>
      </p:sp>
    </p:spTree>
    <p:extLst>
      <p:ext uri="{BB962C8B-B14F-4D97-AF65-F5344CB8AC3E}">
        <p14:creationId xmlns:p14="http://schemas.microsoft.com/office/powerpoint/2010/main" val="67001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A5B4E-B4DB-1257-9AC8-A1CB8D10B62C}"/>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426A8FDF-2CA2-D9C9-686A-40301E72830D}"/>
              </a:ext>
            </a:extLst>
          </p:cNvPr>
          <p:cNvSpPr>
            <a:spLocks noGrp="1"/>
          </p:cNvSpPr>
          <p:nvPr>
            <p:ph idx="1"/>
          </p:nvPr>
        </p:nvSpPr>
        <p:spPr/>
        <p:txBody>
          <a:bodyPr/>
          <a:lstStyle/>
          <a:p>
            <a:r>
              <a:rPr lang="en-US" dirty="0"/>
              <a:t>Overloading the stream insertion operator &lt;&lt; is convenient because it allows values of objects to be converted into text and output to </a:t>
            </a:r>
            <a:r>
              <a:rPr lang="en-US" i="1" dirty="0" err="1">
                <a:solidFill>
                  <a:srgbClr val="FF0000"/>
                </a:solidFill>
              </a:rPr>
              <a:t>cout</a:t>
            </a:r>
            <a:r>
              <a:rPr lang="en-US" dirty="0"/>
              <a:t>, to a file object, or to any object of a class that derives from </a:t>
            </a:r>
            <a:r>
              <a:rPr lang="en-US" dirty="0" err="1"/>
              <a:t>ostream</a:t>
            </a:r>
            <a:r>
              <a:rPr lang="en-US" dirty="0"/>
              <a:t>.</a:t>
            </a:r>
          </a:p>
        </p:txBody>
      </p:sp>
    </p:spTree>
    <p:extLst>
      <p:ext uri="{BB962C8B-B14F-4D97-AF65-F5344CB8AC3E}">
        <p14:creationId xmlns:p14="http://schemas.microsoft.com/office/powerpoint/2010/main" val="436004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AE78-F67F-BE79-6146-056AEC45A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28D2A-43C9-11BC-A0DC-E1225382B62A}"/>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1C0F4083-3529-EC6F-BB50-3B3548A80D19}"/>
              </a:ext>
            </a:extLst>
          </p:cNvPr>
          <p:cNvSpPr>
            <a:spLocks noGrp="1"/>
          </p:cNvSpPr>
          <p:nvPr>
            <p:ph idx="1"/>
          </p:nvPr>
        </p:nvSpPr>
        <p:spPr/>
        <p:txBody>
          <a:bodyPr/>
          <a:lstStyle/>
          <a:p>
            <a:r>
              <a:rPr lang="en-US" dirty="0"/>
              <a:t>In the presence of appropriate overloads, the statements</a:t>
            </a:r>
          </a:p>
          <a:p>
            <a:endParaRPr lang="en-US" dirty="0"/>
          </a:p>
          <a:p>
            <a:endParaRPr lang="en-US" dirty="0"/>
          </a:p>
          <a:p>
            <a:endParaRPr lang="en-US" dirty="0"/>
          </a:p>
          <a:p>
            <a:endParaRPr lang="en-US" dirty="0"/>
          </a:p>
          <a:p>
            <a:r>
              <a:rPr lang="en-US" dirty="0"/>
              <a:t>appear to the compiler as</a:t>
            </a:r>
          </a:p>
        </p:txBody>
      </p:sp>
      <p:pic>
        <p:nvPicPr>
          <p:cNvPr id="4" name="Picture 3">
            <a:extLst>
              <a:ext uri="{FF2B5EF4-FFF2-40B4-BE49-F238E27FC236}">
                <a16:creationId xmlns:a16="http://schemas.microsoft.com/office/drawing/2014/main" id="{9FD6041B-E8CD-4F0A-2249-16720837307F}"/>
              </a:ext>
            </a:extLst>
          </p:cNvPr>
          <p:cNvPicPr>
            <a:picLocks noChangeAspect="1"/>
          </p:cNvPicPr>
          <p:nvPr/>
        </p:nvPicPr>
        <p:blipFill>
          <a:blip r:embed="rId2"/>
          <a:stretch>
            <a:fillRect/>
          </a:stretch>
        </p:blipFill>
        <p:spPr>
          <a:xfrm>
            <a:off x="4743450" y="2643716"/>
            <a:ext cx="2705100" cy="1079500"/>
          </a:xfrm>
          <a:prstGeom prst="rect">
            <a:avLst/>
          </a:prstGeom>
        </p:spPr>
      </p:pic>
      <p:pic>
        <p:nvPicPr>
          <p:cNvPr id="6" name="Picture 5">
            <a:extLst>
              <a:ext uri="{FF2B5EF4-FFF2-40B4-BE49-F238E27FC236}">
                <a16:creationId xmlns:a16="http://schemas.microsoft.com/office/drawing/2014/main" id="{DDB97F3D-F8D5-77A9-4A9A-E3DEC6F66235}"/>
              </a:ext>
            </a:extLst>
          </p:cNvPr>
          <p:cNvPicPr>
            <a:picLocks noChangeAspect="1"/>
          </p:cNvPicPr>
          <p:nvPr/>
        </p:nvPicPr>
        <p:blipFill>
          <a:blip r:embed="rId3"/>
          <a:stretch>
            <a:fillRect/>
          </a:stretch>
        </p:blipFill>
        <p:spPr>
          <a:xfrm>
            <a:off x="4781550" y="5084233"/>
            <a:ext cx="2628900" cy="990600"/>
          </a:xfrm>
          <a:prstGeom prst="rect">
            <a:avLst/>
          </a:prstGeom>
        </p:spPr>
      </p:pic>
    </p:spTree>
    <p:extLst>
      <p:ext uri="{BB962C8B-B14F-4D97-AF65-F5344CB8AC3E}">
        <p14:creationId xmlns:p14="http://schemas.microsoft.com/office/powerpoint/2010/main" val="1318429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D0AAB-9347-A351-178D-7E77FECCC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43897-6600-3A1C-CB65-07B3E9682D9E}"/>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9853C8C4-0DC5-6127-AB9A-57AB5A4D7B2A}"/>
              </a:ext>
            </a:extLst>
          </p:cNvPr>
          <p:cNvSpPr>
            <a:spLocks noGrp="1"/>
          </p:cNvSpPr>
          <p:nvPr>
            <p:ph idx="1"/>
          </p:nvPr>
        </p:nvSpPr>
        <p:spPr/>
        <p:txBody>
          <a:bodyPr>
            <a:normAutofit lnSpcReduction="10000"/>
          </a:bodyPr>
          <a:lstStyle/>
          <a:p>
            <a:pPr algn="l"/>
            <a:r>
              <a:rPr lang="en-US" dirty="0">
                <a:effectLst/>
              </a:rPr>
              <a:t>This equivalence has the following implications:</a:t>
            </a:r>
          </a:p>
          <a:p>
            <a:pPr lvl="1">
              <a:buFont typeface="+mj-lt"/>
              <a:buAutoNum type="arabicPeriod"/>
            </a:pPr>
            <a:r>
              <a:rPr lang="en-US" dirty="0"/>
              <a:t>The overloaded operator &lt;&lt; takes two parameters, the first of which is an </a:t>
            </a:r>
            <a:r>
              <a:rPr lang="en-US" dirty="0" err="1"/>
              <a:t>ostream</a:t>
            </a:r>
            <a:r>
              <a:rPr lang="en-US" dirty="0"/>
              <a:t> object and the second of which is an object of the class for which the operator is being overloaded. </a:t>
            </a:r>
            <a:br>
              <a:rPr lang="en-US" dirty="0"/>
            </a:br>
            <a:r>
              <a:rPr lang="en-US" dirty="0"/>
              <a:t>For the Length class, the prototype would be </a:t>
            </a:r>
            <a:br>
              <a:rPr lang="en-US" dirty="0"/>
            </a:br>
            <a:r>
              <a:rPr lang="en-US" i="1" dirty="0">
                <a:solidFill>
                  <a:srgbClr val="FF0000"/>
                </a:solidFill>
              </a:rPr>
              <a:t>operator&lt;&lt;(</a:t>
            </a:r>
            <a:r>
              <a:rPr lang="en-US" i="1" dirty="0" err="1">
                <a:solidFill>
                  <a:srgbClr val="FF0000"/>
                </a:solidFill>
              </a:rPr>
              <a:t>ostream</a:t>
            </a:r>
            <a:r>
              <a:rPr lang="en-US" i="1" dirty="0">
                <a:solidFill>
                  <a:srgbClr val="FF0000"/>
                </a:solidFill>
              </a:rPr>
              <a:t> &amp;</a:t>
            </a:r>
            <a:r>
              <a:rPr lang="en-US" i="1" dirty="0" err="1">
                <a:solidFill>
                  <a:srgbClr val="FF0000"/>
                </a:solidFill>
              </a:rPr>
              <a:t>strm</a:t>
            </a:r>
            <a:r>
              <a:rPr lang="en-US" i="1" dirty="0">
                <a:solidFill>
                  <a:srgbClr val="FF0000"/>
                </a:solidFill>
              </a:rPr>
              <a:t>, Length a)</a:t>
            </a:r>
            <a:br>
              <a:rPr lang="en-US" dirty="0"/>
            </a:br>
            <a:endParaRPr lang="en-US" dirty="0"/>
          </a:p>
          <a:p>
            <a:pPr lvl="1">
              <a:buFont typeface="+mj-lt"/>
              <a:buAutoNum type="arabicPeriod"/>
            </a:pPr>
            <a:r>
              <a:rPr lang="en-US" dirty="0"/>
              <a:t>To allow expressions (such as b + c) in the second parameter, the second parameter should be passed by value. </a:t>
            </a:r>
            <a:br>
              <a:rPr lang="en-US" dirty="0"/>
            </a:br>
            <a:br>
              <a:rPr lang="en-US" dirty="0"/>
            </a:br>
            <a:r>
              <a:rPr lang="en-US" dirty="0"/>
              <a:t>The first parameter should be passed by reference because </a:t>
            </a:r>
            <a:r>
              <a:rPr lang="en-US" dirty="0" err="1"/>
              <a:t>ostream</a:t>
            </a:r>
            <a:r>
              <a:rPr lang="en-US" dirty="0"/>
              <a:t> parameters should never be passed by value because of efficiency and preservation.</a:t>
            </a:r>
          </a:p>
          <a:p>
            <a:endParaRPr lang="en-US" dirty="0"/>
          </a:p>
        </p:txBody>
      </p:sp>
    </p:spTree>
    <p:extLst>
      <p:ext uri="{BB962C8B-B14F-4D97-AF65-F5344CB8AC3E}">
        <p14:creationId xmlns:p14="http://schemas.microsoft.com/office/powerpoint/2010/main" val="913959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7EE0-02EC-9E4A-E10D-5FCED9913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1C2E9-CD26-EABA-8762-66C0EE39A407}"/>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BE8ADD61-CF36-9A11-5214-406DC0BF4436}"/>
              </a:ext>
            </a:extLst>
          </p:cNvPr>
          <p:cNvSpPr>
            <a:spLocks noGrp="1"/>
          </p:cNvSpPr>
          <p:nvPr>
            <p:ph idx="1"/>
          </p:nvPr>
        </p:nvSpPr>
        <p:spPr/>
        <p:txBody>
          <a:bodyPr>
            <a:normAutofit/>
          </a:bodyPr>
          <a:lstStyle/>
          <a:p>
            <a:r>
              <a:rPr lang="en-US" dirty="0"/>
              <a:t>In addition, the stream insertion operator should return its stream parameter so that several output expressions can be chained together, as in – </a:t>
            </a:r>
          </a:p>
          <a:p>
            <a:endParaRPr lang="en-US" dirty="0"/>
          </a:p>
          <a:p>
            <a:pPr marL="0" indent="0">
              <a:buNone/>
            </a:pPr>
            <a:endParaRPr lang="en-US" dirty="0"/>
          </a:p>
          <a:p>
            <a:r>
              <a:rPr lang="en-US" dirty="0"/>
              <a:t>Putting all of this together, we see that the stream insertion operator should be written as </a:t>
            </a:r>
          </a:p>
        </p:txBody>
      </p:sp>
      <p:pic>
        <p:nvPicPr>
          <p:cNvPr id="4" name="Picture 3">
            <a:extLst>
              <a:ext uri="{FF2B5EF4-FFF2-40B4-BE49-F238E27FC236}">
                <a16:creationId xmlns:a16="http://schemas.microsoft.com/office/drawing/2014/main" id="{47A8F428-3BC1-FA82-861C-EB33AFC04C53}"/>
              </a:ext>
            </a:extLst>
          </p:cNvPr>
          <p:cNvPicPr>
            <a:picLocks noChangeAspect="1"/>
          </p:cNvPicPr>
          <p:nvPr/>
        </p:nvPicPr>
        <p:blipFill>
          <a:blip r:embed="rId2"/>
          <a:stretch>
            <a:fillRect/>
          </a:stretch>
        </p:blipFill>
        <p:spPr>
          <a:xfrm>
            <a:off x="3922527" y="2771256"/>
            <a:ext cx="3990575" cy="950137"/>
          </a:xfrm>
          <a:prstGeom prst="rect">
            <a:avLst/>
          </a:prstGeom>
        </p:spPr>
      </p:pic>
      <p:pic>
        <p:nvPicPr>
          <p:cNvPr id="5" name="Picture 4">
            <a:extLst>
              <a:ext uri="{FF2B5EF4-FFF2-40B4-BE49-F238E27FC236}">
                <a16:creationId xmlns:a16="http://schemas.microsoft.com/office/drawing/2014/main" id="{6DF89A50-836C-A665-94B2-F89122D98FF4}"/>
              </a:ext>
            </a:extLst>
          </p:cNvPr>
          <p:cNvPicPr>
            <a:picLocks noChangeAspect="1"/>
          </p:cNvPicPr>
          <p:nvPr/>
        </p:nvPicPr>
        <p:blipFill>
          <a:blip r:embed="rId3"/>
          <a:stretch>
            <a:fillRect/>
          </a:stretch>
        </p:blipFill>
        <p:spPr>
          <a:xfrm>
            <a:off x="2990850" y="5095875"/>
            <a:ext cx="6210300" cy="1397000"/>
          </a:xfrm>
          <a:prstGeom prst="rect">
            <a:avLst/>
          </a:prstGeom>
        </p:spPr>
      </p:pic>
    </p:spTree>
    <p:extLst>
      <p:ext uri="{BB962C8B-B14F-4D97-AF65-F5344CB8AC3E}">
        <p14:creationId xmlns:p14="http://schemas.microsoft.com/office/powerpoint/2010/main" val="2824558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99B8F-C639-784B-9ABE-5E0259649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EE12B-D9FE-4015-E405-929E8C9B77D4}"/>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631FA084-31AF-4FC0-5E71-59DE950B82C6}"/>
              </a:ext>
            </a:extLst>
          </p:cNvPr>
          <p:cNvSpPr>
            <a:spLocks noGrp="1"/>
          </p:cNvSpPr>
          <p:nvPr>
            <p:ph idx="1"/>
          </p:nvPr>
        </p:nvSpPr>
        <p:spPr/>
        <p:txBody>
          <a:bodyPr>
            <a:normAutofit/>
          </a:bodyPr>
          <a:lstStyle/>
          <a:p>
            <a:r>
              <a:rPr lang="en-US" dirty="0">
                <a:effectLst/>
              </a:rPr>
              <a:t>Overloading the stream output operator is useful because it allows for the various fields of a complex class to be labeled during output.</a:t>
            </a:r>
          </a:p>
          <a:p>
            <a:r>
              <a:rPr lang="en-US" dirty="0">
                <a:effectLst/>
                <a:latin typeface="Helvetica Neue" panose="02000503000000020004" pitchFamily="2" charset="0"/>
              </a:rPr>
              <a:t>For example, if you have a complex class with multiple fields, such as a Person class with fields for name, age, and address, overloading &lt;&lt; lets you specify how each field should be displayed, including adding labels.</a:t>
            </a:r>
            <a:endParaRPr lang="en-US" dirty="0">
              <a:effectLst/>
            </a:endParaRPr>
          </a:p>
          <a:p>
            <a:pPr lvl="1"/>
            <a:r>
              <a:rPr lang="en-US" i="1" dirty="0">
                <a:solidFill>
                  <a:srgbClr val="FF0000"/>
                </a:solidFill>
              </a:rPr>
              <a:t>std::</a:t>
            </a:r>
            <a:r>
              <a:rPr lang="en-US" i="1" dirty="0" err="1">
                <a:solidFill>
                  <a:srgbClr val="FF0000"/>
                </a:solidFill>
              </a:rPr>
              <a:t>cout</a:t>
            </a:r>
            <a:r>
              <a:rPr lang="en-US" i="1" dirty="0">
                <a:solidFill>
                  <a:srgbClr val="FF0000"/>
                </a:solidFill>
              </a:rPr>
              <a:t> &lt;&lt; person; // where person is an object of class Person</a:t>
            </a:r>
            <a:endParaRPr lang="en-US" dirty="0"/>
          </a:p>
          <a:p>
            <a:r>
              <a:rPr lang="en-US" dirty="0"/>
              <a:t>By overloading the &lt;&lt; operator, the output might appear as:</a:t>
            </a:r>
          </a:p>
          <a:p>
            <a:pPr lvl="1"/>
            <a:r>
              <a:rPr lang="en-US" i="1" dirty="0">
                <a:solidFill>
                  <a:srgbClr val="FF0000"/>
                </a:solidFill>
              </a:rPr>
              <a:t>Name: John Doe, Age: 30, Address: 123 Main St</a:t>
            </a:r>
            <a:endParaRPr lang="en-US" i="1" dirty="0">
              <a:solidFill>
                <a:srgbClr val="FF0000"/>
              </a:solidFill>
              <a:effectLst/>
            </a:endParaRPr>
          </a:p>
          <a:p>
            <a:pPr marL="0" indent="0">
              <a:buNone/>
            </a:pPr>
            <a:endParaRPr lang="en-US" dirty="0"/>
          </a:p>
        </p:txBody>
      </p:sp>
    </p:spTree>
    <p:extLst>
      <p:ext uri="{BB962C8B-B14F-4D97-AF65-F5344CB8AC3E}">
        <p14:creationId xmlns:p14="http://schemas.microsoft.com/office/powerpoint/2010/main" val="1225328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8433C-127F-E0D7-C7CD-0768C9364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01722-6D26-5163-B21B-A586F3D00259}"/>
              </a:ext>
            </a:extLst>
          </p:cNvPr>
          <p:cNvSpPr>
            <a:spLocks noGrp="1"/>
          </p:cNvSpPr>
          <p:nvPr>
            <p:ph type="title"/>
          </p:nvPr>
        </p:nvSpPr>
        <p:spPr/>
        <p:txBody>
          <a:bodyPr/>
          <a:lstStyle/>
          <a:p>
            <a:r>
              <a:rPr lang="en-US" dirty="0"/>
              <a:t>Overloading the Stream Insertion and Extraction Operators</a:t>
            </a:r>
          </a:p>
        </p:txBody>
      </p:sp>
      <p:sp>
        <p:nvSpPr>
          <p:cNvPr id="3" name="Content Placeholder 2">
            <a:extLst>
              <a:ext uri="{FF2B5EF4-FFF2-40B4-BE49-F238E27FC236}">
                <a16:creationId xmlns:a16="http://schemas.microsoft.com/office/drawing/2014/main" id="{06C82A62-FAE8-34D9-3D91-E3D0AE9DBDAB}"/>
              </a:ext>
            </a:extLst>
          </p:cNvPr>
          <p:cNvSpPr>
            <a:spLocks noGrp="1"/>
          </p:cNvSpPr>
          <p:nvPr>
            <p:ph idx="1"/>
          </p:nvPr>
        </p:nvSpPr>
        <p:spPr/>
        <p:txBody>
          <a:bodyPr>
            <a:normAutofit/>
          </a:bodyPr>
          <a:lstStyle/>
          <a:p>
            <a:r>
              <a:rPr lang="en-US" dirty="0"/>
              <a:t>Overloading the stream input operator is similar, except that the class parameter signifying the object to be read into must be passed by reference. Thus, the header for the stream input operator looks like this:</a:t>
            </a:r>
          </a:p>
          <a:p>
            <a:pPr lvl="1"/>
            <a:r>
              <a:rPr lang="en-US" i="1" dirty="0" err="1">
                <a:solidFill>
                  <a:srgbClr val="FF0000"/>
                </a:solidFill>
              </a:rPr>
              <a:t>istream</a:t>
            </a:r>
            <a:r>
              <a:rPr lang="en-US" i="1" dirty="0">
                <a:solidFill>
                  <a:srgbClr val="FF0000"/>
                </a:solidFill>
              </a:rPr>
              <a:t> &amp;</a:t>
            </a:r>
            <a:r>
              <a:rPr lang="en-US" b="1" i="1" dirty="0">
                <a:solidFill>
                  <a:srgbClr val="FF0000"/>
                </a:solidFill>
                <a:effectLst/>
              </a:rPr>
              <a:t>operator</a:t>
            </a:r>
            <a:r>
              <a:rPr lang="en-US" i="1" dirty="0">
                <a:solidFill>
                  <a:srgbClr val="FF0000"/>
                </a:solidFill>
              </a:rPr>
              <a:t>&gt;&gt;(</a:t>
            </a:r>
            <a:r>
              <a:rPr lang="en-US" i="1" dirty="0" err="1">
                <a:solidFill>
                  <a:srgbClr val="FF0000"/>
                </a:solidFill>
              </a:rPr>
              <a:t>istream</a:t>
            </a:r>
            <a:r>
              <a:rPr lang="en-US" i="1" dirty="0">
                <a:solidFill>
                  <a:srgbClr val="FF0000"/>
                </a:solidFill>
              </a:rPr>
              <a:t> &amp;in, Length &amp;a); </a:t>
            </a:r>
          </a:p>
        </p:txBody>
      </p:sp>
    </p:spTree>
    <p:extLst>
      <p:ext uri="{BB962C8B-B14F-4D97-AF65-F5344CB8AC3E}">
        <p14:creationId xmlns:p14="http://schemas.microsoft.com/office/powerpoint/2010/main" val="1780765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E72846-307E-F481-FB83-A91B2C463658}"/>
              </a:ext>
            </a:extLst>
          </p:cNvPr>
          <p:cNvPicPr>
            <a:picLocks noChangeAspect="1"/>
          </p:cNvPicPr>
          <p:nvPr/>
        </p:nvPicPr>
        <p:blipFill>
          <a:blip r:embed="rId2"/>
          <a:stretch>
            <a:fillRect/>
          </a:stretch>
        </p:blipFill>
        <p:spPr>
          <a:xfrm>
            <a:off x="0" y="0"/>
            <a:ext cx="4218950" cy="6858000"/>
          </a:xfrm>
          <a:prstGeom prst="rect">
            <a:avLst/>
          </a:prstGeom>
        </p:spPr>
      </p:pic>
      <p:pic>
        <p:nvPicPr>
          <p:cNvPr id="5" name="Picture 4">
            <a:extLst>
              <a:ext uri="{FF2B5EF4-FFF2-40B4-BE49-F238E27FC236}">
                <a16:creationId xmlns:a16="http://schemas.microsoft.com/office/drawing/2014/main" id="{0E7A2430-4738-898C-728B-6EFF332A36A4}"/>
              </a:ext>
            </a:extLst>
          </p:cNvPr>
          <p:cNvPicPr>
            <a:picLocks noChangeAspect="1"/>
          </p:cNvPicPr>
          <p:nvPr/>
        </p:nvPicPr>
        <p:blipFill>
          <a:blip r:embed="rId3"/>
          <a:stretch>
            <a:fillRect/>
          </a:stretch>
        </p:blipFill>
        <p:spPr>
          <a:xfrm>
            <a:off x="4338827" y="0"/>
            <a:ext cx="4494654" cy="6858000"/>
          </a:xfrm>
          <a:prstGeom prst="rect">
            <a:avLst/>
          </a:prstGeom>
        </p:spPr>
      </p:pic>
      <p:pic>
        <p:nvPicPr>
          <p:cNvPr id="6" name="Picture 5">
            <a:extLst>
              <a:ext uri="{FF2B5EF4-FFF2-40B4-BE49-F238E27FC236}">
                <a16:creationId xmlns:a16="http://schemas.microsoft.com/office/drawing/2014/main" id="{E09BD29A-2A7A-2891-A28A-C7F91B36A117}"/>
              </a:ext>
            </a:extLst>
          </p:cNvPr>
          <p:cNvPicPr>
            <a:picLocks noChangeAspect="1"/>
          </p:cNvPicPr>
          <p:nvPr/>
        </p:nvPicPr>
        <p:blipFill>
          <a:blip r:embed="rId4"/>
          <a:stretch>
            <a:fillRect/>
          </a:stretch>
        </p:blipFill>
        <p:spPr>
          <a:xfrm>
            <a:off x="9135014" y="0"/>
            <a:ext cx="3056986" cy="6858000"/>
          </a:xfrm>
          <a:prstGeom prst="rect">
            <a:avLst/>
          </a:prstGeom>
        </p:spPr>
      </p:pic>
    </p:spTree>
    <p:extLst>
      <p:ext uri="{BB962C8B-B14F-4D97-AF65-F5344CB8AC3E}">
        <p14:creationId xmlns:p14="http://schemas.microsoft.com/office/powerpoint/2010/main" val="1008213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C848-37BF-8B2E-4A8D-54FB0B578F9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6BAC7F4-BA02-F8E6-C12A-FC8E44C0EB1D}"/>
              </a:ext>
            </a:extLst>
          </p:cNvPr>
          <p:cNvPicPr>
            <a:picLocks noChangeAspect="1"/>
          </p:cNvPicPr>
          <p:nvPr/>
        </p:nvPicPr>
        <p:blipFill>
          <a:blip r:embed="rId2"/>
          <a:stretch>
            <a:fillRect/>
          </a:stretch>
        </p:blipFill>
        <p:spPr>
          <a:xfrm>
            <a:off x="634173" y="0"/>
            <a:ext cx="5461827" cy="6858000"/>
          </a:xfrm>
          <a:prstGeom prst="rect">
            <a:avLst/>
          </a:prstGeom>
        </p:spPr>
      </p:pic>
      <p:pic>
        <p:nvPicPr>
          <p:cNvPr id="3" name="Picture 2">
            <a:extLst>
              <a:ext uri="{FF2B5EF4-FFF2-40B4-BE49-F238E27FC236}">
                <a16:creationId xmlns:a16="http://schemas.microsoft.com/office/drawing/2014/main" id="{DA419F5D-4965-FEF6-91AC-D3E283F1909C}"/>
              </a:ext>
            </a:extLst>
          </p:cNvPr>
          <p:cNvPicPr>
            <a:picLocks noChangeAspect="1"/>
          </p:cNvPicPr>
          <p:nvPr/>
        </p:nvPicPr>
        <p:blipFill>
          <a:blip r:embed="rId3"/>
          <a:stretch>
            <a:fillRect/>
          </a:stretch>
        </p:blipFill>
        <p:spPr>
          <a:xfrm>
            <a:off x="7047685" y="1337192"/>
            <a:ext cx="4732597" cy="4183616"/>
          </a:xfrm>
          <a:prstGeom prst="rect">
            <a:avLst/>
          </a:prstGeom>
        </p:spPr>
      </p:pic>
    </p:spTree>
    <p:extLst>
      <p:ext uri="{BB962C8B-B14F-4D97-AF65-F5344CB8AC3E}">
        <p14:creationId xmlns:p14="http://schemas.microsoft.com/office/powerpoint/2010/main" val="733214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5987E-0E63-C4F2-6D0A-5220E66C2D28}"/>
              </a:ext>
            </a:extLst>
          </p:cNvPr>
          <p:cNvSpPr>
            <a:spLocks noGrp="1"/>
          </p:cNvSpPr>
          <p:nvPr>
            <p:ph type="title"/>
          </p:nvPr>
        </p:nvSpPr>
        <p:spPr/>
        <p:txBody>
          <a:bodyPr/>
          <a:lstStyle/>
          <a:p>
            <a:r>
              <a:rPr lang="en-US" dirty="0"/>
              <a:t>Overloading the [] Operator</a:t>
            </a:r>
          </a:p>
        </p:txBody>
      </p:sp>
      <p:sp>
        <p:nvSpPr>
          <p:cNvPr id="3" name="Content Placeholder 2">
            <a:extLst>
              <a:ext uri="{FF2B5EF4-FFF2-40B4-BE49-F238E27FC236}">
                <a16:creationId xmlns:a16="http://schemas.microsoft.com/office/drawing/2014/main" id="{2266815D-6196-1432-C456-981975067BCC}"/>
              </a:ext>
            </a:extLst>
          </p:cNvPr>
          <p:cNvSpPr>
            <a:spLocks noGrp="1"/>
          </p:cNvSpPr>
          <p:nvPr>
            <p:ph idx="1"/>
          </p:nvPr>
        </p:nvSpPr>
        <p:spPr/>
        <p:txBody>
          <a:bodyPr/>
          <a:lstStyle/>
          <a:p>
            <a:r>
              <a:rPr lang="en-US" dirty="0"/>
              <a:t>Any C++ class can overload the array indexing operator [ ] to make its objects have array-like behavior. </a:t>
            </a:r>
          </a:p>
          <a:p>
            <a:r>
              <a:rPr lang="en-US" dirty="0"/>
              <a:t>To give a simple example, suppose we want to write a Name class to represent the full name of a person. For such a name object, we want name[1] to be the first name and name[2] to be the last name. </a:t>
            </a:r>
          </a:p>
          <a:p>
            <a:r>
              <a:rPr lang="en-US" dirty="0"/>
              <a:t>Furthermore, we want an attempt to index such an object with any integer other than 1 and 2 to terminate the program with an error message. </a:t>
            </a:r>
          </a:p>
        </p:txBody>
      </p:sp>
    </p:spTree>
    <p:extLst>
      <p:ext uri="{BB962C8B-B14F-4D97-AF65-F5344CB8AC3E}">
        <p14:creationId xmlns:p14="http://schemas.microsoft.com/office/powerpoint/2010/main" val="3166126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5C800-BABE-5804-A2B5-B5EFE4ECAE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03E3A-713D-A6F7-7023-8009D2CBC52A}"/>
              </a:ext>
            </a:extLst>
          </p:cNvPr>
          <p:cNvSpPr>
            <a:spLocks noGrp="1"/>
          </p:cNvSpPr>
          <p:nvPr>
            <p:ph type="title"/>
          </p:nvPr>
        </p:nvSpPr>
        <p:spPr/>
        <p:txBody>
          <a:bodyPr/>
          <a:lstStyle/>
          <a:p>
            <a:r>
              <a:rPr lang="en-US" dirty="0"/>
              <a:t>Example</a:t>
            </a:r>
          </a:p>
        </p:txBody>
      </p:sp>
      <p:sp>
        <p:nvSpPr>
          <p:cNvPr id="5" name="Content Placeholder 4">
            <a:extLst>
              <a:ext uri="{FF2B5EF4-FFF2-40B4-BE49-F238E27FC236}">
                <a16:creationId xmlns:a16="http://schemas.microsoft.com/office/drawing/2014/main" id="{AA7D6F55-0CF3-0C7D-13B3-77D3C9DA2071}"/>
              </a:ext>
            </a:extLst>
          </p:cNvPr>
          <p:cNvSpPr>
            <a:spLocks noGrp="1"/>
          </p:cNvSpPr>
          <p:nvPr>
            <p:ph idx="1"/>
          </p:nvPr>
        </p:nvSpPr>
        <p:spPr>
          <a:xfrm>
            <a:off x="838200" y="1825625"/>
            <a:ext cx="6189921" cy="4351338"/>
          </a:xfrm>
        </p:spPr>
        <p:txBody>
          <a:bodyPr>
            <a:normAutofit lnSpcReduction="10000"/>
          </a:bodyPr>
          <a:lstStyle/>
          <a:p>
            <a:r>
              <a:rPr lang="en-US" dirty="0"/>
              <a:t>Notice that the operator [ ] function takes an int parameter and returns a reference to a string variable. </a:t>
            </a:r>
          </a:p>
          <a:p>
            <a:r>
              <a:rPr lang="en-US" dirty="0"/>
              <a:t>If name is an object of this class and k is an integer, the call </a:t>
            </a:r>
            <a:r>
              <a:rPr lang="en-US" dirty="0" err="1"/>
              <a:t>name.operator</a:t>
            </a:r>
            <a:r>
              <a:rPr lang="en-US" dirty="0"/>
              <a:t>[ ](k) will be equivalent to name[k]. </a:t>
            </a:r>
          </a:p>
          <a:p>
            <a:r>
              <a:rPr lang="en-US" dirty="0"/>
              <a:t>Basically, name[1] will return a reference to the member variable </a:t>
            </a:r>
            <a:r>
              <a:rPr lang="en-US" dirty="0" err="1"/>
              <a:t>first_name</a:t>
            </a:r>
            <a:r>
              <a:rPr lang="en-US" dirty="0"/>
              <a:t>, and name[2] will return a reference to </a:t>
            </a:r>
            <a:r>
              <a:rPr lang="en-US" dirty="0" err="1"/>
              <a:t>last_name</a:t>
            </a:r>
            <a:r>
              <a:rPr lang="en-US" dirty="0"/>
              <a:t>. </a:t>
            </a:r>
            <a:endParaRPr lang="en-US" b="1" dirty="0"/>
          </a:p>
        </p:txBody>
      </p:sp>
      <p:pic>
        <p:nvPicPr>
          <p:cNvPr id="7" name="Picture 6">
            <a:extLst>
              <a:ext uri="{FF2B5EF4-FFF2-40B4-BE49-F238E27FC236}">
                <a16:creationId xmlns:a16="http://schemas.microsoft.com/office/drawing/2014/main" id="{AA9A1966-A330-AFFF-039F-1D37B9528B69}"/>
              </a:ext>
            </a:extLst>
          </p:cNvPr>
          <p:cNvPicPr>
            <a:picLocks noChangeAspect="1"/>
          </p:cNvPicPr>
          <p:nvPr/>
        </p:nvPicPr>
        <p:blipFill>
          <a:blip r:embed="rId2"/>
          <a:stretch>
            <a:fillRect/>
          </a:stretch>
        </p:blipFill>
        <p:spPr>
          <a:xfrm>
            <a:off x="7482362" y="0"/>
            <a:ext cx="4542476" cy="6858000"/>
          </a:xfrm>
          <a:prstGeom prst="rect">
            <a:avLst/>
          </a:prstGeom>
        </p:spPr>
      </p:pic>
    </p:spTree>
    <p:extLst>
      <p:ext uri="{BB962C8B-B14F-4D97-AF65-F5344CB8AC3E}">
        <p14:creationId xmlns:p14="http://schemas.microsoft.com/office/powerpoint/2010/main" val="357424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E5531-3803-179D-6DC4-D64962399CF2}"/>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BA22A441-DE9E-6AC5-E3A4-7B455D340F13}"/>
              </a:ext>
            </a:extLst>
          </p:cNvPr>
          <p:cNvPicPr>
            <a:picLocks noChangeAspect="1"/>
          </p:cNvPicPr>
          <p:nvPr/>
        </p:nvPicPr>
        <p:blipFill>
          <a:blip r:embed="rId2"/>
          <a:stretch>
            <a:fillRect/>
          </a:stretch>
        </p:blipFill>
        <p:spPr>
          <a:xfrm>
            <a:off x="3966830" y="903768"/>
            <a:ext cx="5168888" cy="5211430"/>
          </a:xfrm>
          <a:prstGeom prst="rect">
            <a:avLst/>
          </a:prstGeom>
        </p:spPr>
      </p:pic>
    </p:spTree>
    <p:extLst>
      <p:ext uri="{BB962C8B-B14F-4D97-AF65-F5344CB8AC3E}">
        <p14:creationId xmlns:p14="http://schemas.microsoft.com/office/powerpoint/2010/main" val="1548461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7EAD7-EB1A-3DD0-A05C-9C7E08564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E1E63-A2FC-98AF-1C2E-092724DCC0E2}"/>
              </a:ext>
            </a:extLst>
          </p:cNvPr>
          <p:cNvSpPr>
            <a:spLocks noGrp="1"/>
          </p:cNvSpPr>
          <p:nvPr>
            <p:ph type="title"/>
          </p:nvPr>
        </p:nvSpPr>
        <p:spPr/>
        <p:txBody>
          <a:bodyPr/>
          <a:lstStyle/>
          <a:p>
            <a:r>
              <a:rPr lang="en-US" dirty="0"/>
              <a:t>Classes as a custom data type</a:t>
            </a:r>
          </a:p>
        </p:txBody>
      </p:sp>
      <p:sp>
        <p:nvSpPr>
          <p:cNvPr id="3" name="Content Placeholder 2">
            <a:extLst>
              <a:ext uri="{FF2B5EF4-FFF2-40B4-BE49-F238E27FC236}">
                <a16:creationId xmlns:a16="http://schemas.microsoft.com/office/drawing/2014/main" id="{7ADF046A-E8F7-997E-3137-75E7C9B7C6F7}"/>
              </a:ext>
            </a:extLst>
          </p:cNvPr>
          <p:cNvSpPr>
            <a:spLocks noGrp="1"/>
          </p:cNvSpPr>
          <p:nvPr>
            <p:ph idx="1"/>
          </p:nvPr>
        </p:nvSpPr>
        <p:spPr/>
        <p:txBody>
          <a:bodyPr/>
          <a:lstStyle/>
          <a:p>
            <a:r>
              <a:rPr lang="en-US" dirty="0"/>
              <a:t>In C++, </a:t>
            </a:r>
            <a:r>
              <a:rPr lang="en-US" i="1" dirty="0"/>
              <a:t>operator functions</a:t>
            </a:r>
            <a:r>
              <a:rPr lang="en-US" dirty="0"/>
              <a:t> or </a:t>
            </a:r>
            <a:r>
              <a:rPr lang="en-US" i="1" dirty="0"/>
              <a:t>operator overloading</a:t>
            </a:r>
            <a:r>
              <a:rPr lang="en-US" dirty="0"/>
              <a:t> allow you to define or "overload" standard operators (like +, -, ==, etc.) for custom classes, so that objects of your classes can interact in ways similar to built-in data types (like int, double, etc.).</a:t>
            </a:r>
          </a:p>
          <a:p>
            <a:r>
              <a:rPr lang="en-US" dirty="0"/>
              <a:t>When you overload operators, you're essentially customizing how operations work on your class objects. This makes using your classes more intuitive and expressive. </a:t>
            </a:r>
          </a:p>
          <a:p>
            <a:endParaRPr lang="en-US" dirty="0"/>
          </a:p>
        </p:txBody>
      </p:sp>
    </p:spTree>
    <p:extLst>
      <p:ext uri="{BB962C8B-B14F-4D97-AF65-F5344CB8AC3E}">
        <p14:creationId xmlns:p14="http://schemas.microsoft.com/office/powerpoint/2010/main" val="2107881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6106A-8CDC-E381-5E58-092F82710089}"/>
              </a:ext>
            </a:extLst>
          </p:cNvPr>
          <p:cNvSpPr>
            <a:spLocks noGrp="1"/>
          </p:cNvSpPr>
          <p:nvPr>
            <p:ph type="title"/>
          </p:nvPr>
        </p:nvSpPr>
        <p:spPr/>
        <p:txBody>
          <a:bodyPr/>
          <a:lstStyle/>
          <a:p>
            <a:r>
              <a:rPr lang="en-US" dirty="0"/>
              <a:t>Type Conversion Operators</a:t>
            </a:r>
          </a:p>
        </p:txBody>
      </p:sp>
      <p:sp>
        <p:nvSpPr>
          <p:cNvPr id="3" name="Content Placeholder 2">
            <a:extLst>
              <a:ext uri="{FF2B5EF4-FFF2-40B4-BE49-F238E27FC236}">
                <a16:creationId xmlns:a16="http://schemas.microsoft.com/office/drawing/2014/main" id="{63D8A7E2-FCB2-1309-22D1-E7B074734311}"/>
              </a:ext>
            </a:extLst>
          </p:cNvPr>
          <p:cNvSpPr>
            <a:spLocks noGrp="1"/>
          </p:cNvSpPr>
          <p:nvPr>
            <p:ph idx="1"/>
          </p:nvPr>
        </p:nvSpPr>
        <p:spPr/>
        <p:txBody>
          <a:bodyPr/>
          <a:lstStyle/>
          <a:p>
            <a:r>
              <a:rPr lang="en-US" dirty="0"/>
              <a:t>Special </a:t>
            </a:r>
            <a:r>
              <a:rPr lang="en-US" b="1" dirty="0"/>
              <a:t>operator functions </a:t>
            </a:r>
            <a:r>
              <a:rPr lang="en-US" dirty="0"/>
              <a:t>may be written to convert a class object to any other type.</a:t>
            </a:r>
          </a:p>
          <a:p>
            <a:r>
              <a:rPr lang="en-US" dirty="0"/>
              <a:t>Usually, data type conversion happens “behind the scenes” with the built-in data types. </a:t>
            </a:r>
          </a:p>
        </p:txBody>
      </p:sp>
    </p:spTree>
    <p:extLst>
      <p:ext uri="{BB962C8B-B14F-4D97-AF65-F5344CB8AC3E}">
        <p14:creationId xmlns:p14="http://schemas.microsoft.com/office/powerpoint/2010/main" val="1635709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037E8-1DA7-1764-C2CD-483D6A576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E7F5F-BE17-0A85-14E6-4DE2E3C3AB3C}"/>
              </a:ext>
            </a:extLst>
          </p:cNvPr>
          <p:cNvSpPr>
            <a:spLocks noGrp="1"/>
          </p:cNvSpPr>
          <p:nvPr>
            <p:ph type="title"/>
          </p:nvPr>
        </p:nvSpPr>
        <p:spPr/>
        <p:txBody>
          <a:bodyPr/>
          <a:lstStyle/>
          <a:p>
            <a:r>
              <a:rPr lang="en-US" dirty="0"/>
              <a:t>Type Conversion Operators</a:t>
            </a:r>
          </a:p>
        </p:txBody>
      </p:sp>
      <p:sp>
        <p:nvSpPr>
          <p:cNvPr id="3" name="Content Placeholder 2">
            <a:extLst>
              <a:ext uri="{FF2B5EF4-FFF2-40B4-BE49-F238E27FC236}">
                <a16:creationId xmlns:a16="http://schemas.microsoft.com/office/drawing/2014/main" id="{050A9564-8B83-AD9E-5E8B-E42CF953A536}"/>
              </a:ext>
            </a:extLst>
          </p:cNvPr>
          <p:cNvSpPr>
            <a:spLocks noGrp="1"/>
          </p:cNvSpPr>
          <p:nvPr>
            <p:ph idx="1"/>
          </p:nvPr>
        </p:nvSpPr>
        <p:spPr/>
        <p:txBody>
          <a:bodyPr/>
          <a:lstStyle/>
          <a:p>
            <a:r>
              <a:rPr lang="en-US" dirty="0"/>
              <a:t>For instance, suppose a program uses the following variables:</a:t>
            </a:r>
          </a:p>
          <a:p>
            <a:pPr lvl="1"/>
            <a:r>
              <a:rPr lang="en-US" b="1" i="1" dirty="0">
                <a:solidFill>
                  <a:srgbClr val="FF0000"/>
                </a:solidFill>
                <a:effectLst/>
              </a:rPr>
              <a:t>int</a:t>
            </a:r>
            <a:r>
              <a:rPr lang="en-US" i="1" dirty="0">
                <a:solidFill>
                  <a:srgbClr val="FF0000"/>
                </a:solidFill>
              </a:rPr>
              <a:t> </a:t>
            </a:r>
            <a:r>
              <a:rPr lang="en-US" i="1" dirty="0" err="1">
                <a:solidFill>
                  <a:srgbClr val="FF0000"/>
                </a:solidFill>
              </a:rPr>
              <a:t>i</a:t>
            </a:r>
            <a:r>
              <a:rPr lang="en-US" i="1" dirty="0">
                <a:solidFill>
                  <a:srgbClr val="FF0000"/>
                </a:solidFill>
              </a:rPr>
              <a:t>; </a:t>
            </a:r>
          </a:p>
          <a:p>
            <a:pPr lvl="1"/>
            <a:r>
              <a:rPr lang="en-US" b="1" i="1" dirty="0">
                <a:solidFill>
                  <a:srgbClr val="FF0000"/>
                </a:solidFill>
                <a:effectLst/>
              </a:rPr>
              <a:t>double</a:t>
            </a:r>
            <a:r>
              <a:rPr lang="en-US" i="1" dirty="0">
                <a:solidFill>
                  <a:srgbClr val="FF0000"/>
                </a:solidFill>
              </a:rPr>
              <a:t> d;</a:t>
            </a:r>
          </a:p>
          <a:p>
            <a:pPr algn="l"/>
            <a:r>
              <a:rPr lang="en-US" dirty="0">
                <a:effectLst/>
              </a:rPr>
              <a:t>The following statement automatically converts the value in </a:t>
            </a:r>
            <a:r>
              <a:rPr lang="en-US" dirty="0" err="1">
                <a:effectLst/>
              </a:rPr>
              <a:t>i</a:t>
            </a:r>
            <a:r>
              <a:rPr lang="en-US" dirty="0">
                <a:effectLst/>
              </a:rPr>
              <a:t> to a double and stores it in d:</a:t>
            </a:r>
          </a:p>
          <a:p>
            <a:pPr lvl="1"/>
            <a:r>
              <a:rPr lang="en-US" i="1" dirty="0">
                <a:solidFill>
                  <a:srgbClr val="FF0000"/>
                </a:solidFill>
              </a:rPr>
              <a:t>d = </a:t>
            </a:r>
            <a:r>
              <a:rPr lang="en-US" i="1" dirty="0" err="1">
                <a:solidFill>
                  <a:srgbClr val="FF0000"/>
                </a:solidFill>
              </a:rPr>
              <a:t>i</a:t>
            </a:r>
            <a:r>
              <a:rPr lang="en-US" i="1" dirty="0">
                <a:solidFill>
                  <a:srgbClr val="FF0000"/>
                </a:solidFill>
              </a:rPr>
              <a:t>; </a:t>
            </a:r>
          </a:p>
          <a:p>
            <a:pPr algn="l"/>
            <a:r>
              <a:rPr lang="en-US" dirty="0">
                <a:effectLst/>
              </a:rPr>
              <a:t>Likewise, the following statement converts the value in d to an integer (truncating the fractional part) and stores it in </a:t>
            </a:r>
            <a:r>
              <a:rPr lang="en-US" dirty="0" err="1">
                <a:effectLst/>
              </a:rPr>
              <a:t>i</a:t>
            </a:r>
            <a:r>
              <a:rPr lang="en-US" dirty="0">
                <a:effectLst/>
              </a:rPr>
              <a:t>:</a:t>
            </a:r>
          </a:p>
          <a:p>
            <a:pPr lvl="1"/>
            <a:r>
              <a:rPr lang="en-US" i="1" dirty="0" err="1">
                <a:solidFill>
                  <a:srgbClr val="FF0000"/>
                </a:solidFill>
              </a:rPr>
              <a:t>i</a:t>
            </a:r>
            <a:r>
              <a:rPr lang="en-US" i="1" dirty="0">
                <a:solidFill>
                  <a:srgbClr val="FF0000"/>
                </a:solidFill>
              </a:rPr>
              <a:t> = d; </a:t>
            </a:r>
          </a:p>
          <a:p>
            <a:pPr lvl="1"/>
            <a:endParaRPr lang="en-US" i="1" dirty="0">
              <a:solidFill>
                <a:srgbClr val="FF0000"/>
              </a:solidFill>
            </a:endParaRPr>
          </a:p>
        </p:txBody>
      </p:sp>
    </p:spTree>
    <p:extLst>
      <p:ext uri="{BB962C8B-B14F-4D97-AF65-F5344CB8AC3E}">
        <p14:creationId xmlns:p14="http://schemas.microsoft.com/office/powerpoint/2010/main" val="3033966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B629-DC7C-E264-3637-6227EEF79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B43B5-2256-A323-C8C9-8AC8C8036E3C}"/>
              </a:ext>
            </a:extLst>
          </p:cNvPr>
          <p:cNvSpPr>
            <a:spLocks noGrp="1"/>
          </p:cNvSpPr>
          <p:nvPr>
            <p:ph type="title"/>
          </p:nvPr>
        </p:nvSpPr>
        <p:spPr/>
        <p:txBody>
          <a:bodyPr/>
          <a:lstStyle/>
          <a:p>
            <a:r>
              <a:rPr lang="en-US" dirty="0"/>
              <a:t>Type Conversion Operators</a:t>
            </a:r>
          </a:p>
        </p:txBody>
      </p:sp>
      <p:sp>
        <p:nvSpPr>
          <p:cNvPr id="3" name="Content Placeholder 2">
            <a:extLst>
              <a:ext uri="{FF2B5EF4-FFF2-40B4-BE49-F238E27FC236}">
                <a16:creationId xmlns:a16="http://schemas.microsoft.com/office/drawing/2014/main" id="{0BC7A6B3-AC0E-AA30-832E-92139523CBC8}"/>
              </a:ext>
            </a:extLst>
          </p:cNvPr>
          <p:cNvSpPr>
            <a:spLocks noGrp="1"/>
          </p:cNvSpPr>
          <p:nvPr>
            <p:ph idx="1"/>
          </p:nvPr>
        </p:nvSpPr>
        <p:spPr/>
        <p:txBody>
          <a:bodyPr/>
          <a:lstStyle/>
          <a:p>
            <a:r>
              <a:rPr lang="en-US" dirty="0"/>
              <a:t>The same functionality can also be given to class objects. </a:t>
            </a:r>
          </a:p>
          <a:p>
            <a:r>
              <a:rPr lang="en-US" dirty="0"/>
              <a:t>For example, assuming </a:t>
            </a:r>
            <a:r>
              <a:rPr lang="en-US" i="1" dirty="0">
                <a:solidFill>
                  <a:srgbClr val="FF0000"/>
                </a:solidFill>
              </a:rPr>
              <a:t>distance</a:t>
            </a:r>
            <a:r>
              <a:rPr lang="en-US" dirty="0"/>
              <a:t> is a Length object and </a:t>
            </a:r>
            <a:r>
              <a:rPr lang="en-US" i="1" dirty="0">
                <a:solidFill>
                  <a:srgbClr val="FF0000"/>
                </a:solidFill>
              </a:rPr>
              <a:t>d</a:t>
            </a:r>
            <a:r>
              <a:rPr lang="en-US" dirty="0"/>
              <a:t> is a double. </a:t>
            </a:r>
          </a:p>
          <a:p>
            <a:r>
              <a:rPr lang="en-US" dirty="0"/>
              <a:t>The following statement would conveniently store distance into a floating-point number stored in </a:t>
            </a:r>
            <a:r>
              <a:rPr lang="en-US" i="1" dirty="0">
                <a:solidFill>
                  <a:srgbClr val="FF0000"/>
                </a:solidFill>
              </a:rPr>
              <a:t>d</a:t>
            </a:r>
            <a:r>
              <a:rPr lang="en-US" dirty="0"/>
              <a:t>, if Length is properly written:</a:t>
            </a:r>
          </a:p>
          <a:p>
            <a:pPr lvl="1"/>
            <a:r>
              <a:rPr lang="en-US" i="1" dirty="0">
                <a:solidFill>
                  <a:srgbClr val="FF0000"/>
                </a:solidFill>
              </a:rPr>
              <a:t>d = distance;</a:t>
            </a:r>
          </a:p>
        </p:txBody>
      </p:sp>
    </p:spTree>
    <p:extLst>
      <p:ext uri="{BB962C8B-B14F-4D97-AF65-F5344CB8AC3E}">
        <p14:creationId xmlns:p14="http://schemas.microsoft.com/office/powerpoint/2010/main" val="1856894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2DAE-475B-8100-618A-576B8D59F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E725F-A3F8-8A10-F119-9BF76BC3CC1D}"/>
              </a:ext>
            </a:extLst>
          </p:cNvPr>
          <p:cNvSpPr>
            <a:spLocks noGrp="1"/>
          </p:cNvSpPr>
          <p:nvPr>
            <p:ph type="title"/>
          </p:nvPr>
        </p:nvSpPr>
        <p:spPr/>
        <p:txBody>
          <a:bodyPr/>
          <a:lstStyle/>
          <a:p>
            <a:r>
              <a:rPr lang="en-US" dirty="0"/>
              <a:t>Type Conversion Operators</a:t>
            </a:r>
          </a:p>
        </p:txBody>
      </p:sp>
      <p:sp>
        <p:nvSpPr>
          <p:cNvPr id="3" name="Content Placeholder 2">
            <a:extLst>
              <a:ext uri="{FF2B5EF4-FFF2-40B4-BE49-F238E27FC236}">
                <a16:creationId xmlns:a16="http://schemas.microsoft.com/office/drawing/2014/main" id="{11C8A529-23B2-88A0-2729-97D86E248540}"/>
              </a:ext>
            </a:extLst>
          </p:cNvPr>
          <p:cNvSpPr>
            <a:spLocks noGrp="1"/>
          </p:cNvSpPr>
          <p:nvPr>
            <p:ph idx="1"/>
          </p:nvPr>
        </p:nvSpPr>
        <p:spPr>
          <a:xfrm>
            <a:off x="838200" y="1825625"/>
            <a:ext cx="10515600" cy="4566862"/>
          </a:xfrm>
        </p:spPr>
        <p:txBody>
          <a:bodyPr>
            <a:normAutofit fontScale="92500"/>
          </a:bodyPr>
          <a:lstStyle/>
          <a:p>
            <a:r>
              <a:rPr lang="en-US" dirty="0"/>
              <a:t>To be able to use a statement such as this, an operator function must be written to perform the conversion. </a:t>
            </a:r>
          </a:p>
          <a:p>
            <a:r>
              <a:rPr lang="en-US" dirty="0"/>
              <a:t>Here is an operator function for converting a Length object to a double:</a:t>
            </a:r>
          </a:p>
          <a:p>
            <a:endParaRPr lang="en-US" i="1" dirty="0">
              <a:solidFill>
                <a:srgbClr val="FF0000"/>
              </a:solidFill>
            </a:endParaRPr>
          </a:p>
          <a:p>
            <a:endParaRPr lang="en-US" i="1" dirty="0">
              <a:solidFill>
                <a:srgbClr val="FF0000"/>
              </a:solidFill>
            </a:endParaRPr>
          </a:p>
          <a:p>
            <a:endParaRPr lang="en-US" i="1" dirty="0">
              <a:solidFill>
                <a:srgbClr val="FF0000"/>
              </a:solidFill>
            </a:endParaRPr>
          </a:p>
          <a:p>
            <a:r>
              <a:rPr lang="en-US" dirty="0"/>
              <a:t>No return type is specified in the function header because the return type is inferred from the name of the operator function. </a:t>
            </a:r>
          </a:p>
          <a:p>
            <a:r>
              <a:rPr lang="en-US" dirty="0"/>
              <a:t>Also, because the function is a member function, it operates on the calling object and requires no other parameters.</a:t>
            </a:r>
            <a:endParaRPr lang="en-US" i="1" dirty="0">
              <a:solidFill>
                <a:srgbClr val="FF0000"/>
              </a:solidFill>
            </a:endParaRPr>
          </a:p>
        </p:txBody>
      </p:sp>
      <p:pic>
        <p:nvPicPr>
          <p:cNvPr id="4" name="Picture 3">
            <a:extLst>
              <a:ext uri="{FF2B5EF4-FFF2-40B4-BE49-F238E27FC236}">
                <a16:creationId xmlns:a16="http://schemas.microsoft.com/office/drawing/2014/main" id="{9354A022-BD4E-B510-3F0D-019FED9FFEFE}"/>
              </a:ext>
            </a:extLst>
          </p:cNvPr>
          <p:cNvPicPr>
            <a:picLocks noChangeAspect="1"/>
          </p:cNvPicPr>
          <p:nvPr/>
        </p:nvPicPr>
        <p:blipFill>
          <a:blip r:embed="rId2"/>
          <a:stretch>
            <a:fillRect/>
          </a:stretch>
        </p:blipFill>
        <p:spPr>
          <a:xfrm>
            <a:off x="3683000" y="3257305"/>
            <a:ext cx="4826000" cy="1143000"/>
          </a:xfrm>
          <a:prstGeom prst="rect">
            <a:avLst/>
          </a:prstGeom>
        </p:spPr>
      </p:pic>
    </p:spTree>
    <p:extLst>
      <p:ext uri="{BB962C8B-B14F-4D97-AF65-F5344CB8AC3E}">
        <p14:creationId xmlns:p14="http://schemas.microsoft.com/office/powerpoint/2010/main" val="430451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9904F-A2A3-D682-BC7A-BDC9CD018430}"/>
              </a:ext>
            </a:extLst>
          </p:cNvPr>
          <p:cNvSpPr>
            <a:spLocks noGrp="1"/>
          </p:cNvSpPr>
          <p:nvPr>
            <p:ph type="title"/>
          </p:nvPr>
        </p:nvSpPr>
        <p:spPr/>
        <p:txBody>
          <a:bodyPr/>
          <a:lstStyle/>
          <a:p>
            <a:r>
              <a:rPr lang="en-US" dirty="0"/>
              <a:t>Convert Constructors</a:t>
            </a:r>
          </a:p>
        </p:txBody>
      </p:sp>
      <p:sp>
        <p:nvSpPr>
          <p:cNvPr id="3" name="Content Placeholder 2">
            <a:extLst>
              <a:ext uri="{FF2B5EF4-FFF2-40B4-BE49-F238E27FC236}">
                <a16:creationId xmlns:a16="http://schemas.microsoft.com/office/drawing/2014/main" id="{4D6619D3-6856-48F9-18E3-6B94188BAD72}"/>
              </a:ext>
            </a:extLst>
          </p:cNvPr>
          <p:cNvSpPr>
            <a:spLocks noGrp="1"/>
          </p:cNvSpPr>
          <p:nvPr>
            <p:ph idx="1"/>
          </p:nvPr>
        </p:nvSpPr>
        <p:spPr/>
        <p:txBody>
          <a:bodyPr/>
          <a:lstStyle/>
          <a:p>
            <a:pPr algn="l"/>
            <a:r>
              <a:rPr lang="en-US" dirty="0">
                <a:effectLst/>
              </a:rPr>
              <a:t>A constructor that takes a single parameter of a type other than its class type can be regarded as converting its parameter into an object of its class. </a:t>
            </a:r>
          </a:p>
          <a:p>
            <a:pPr algn="l"/>
            <a:r>
              <a:rPr lang="en-US" dirty="0">
                <a:effectLst/>
              </a:rPr>
              <a:t>Such a constructor is called a </a:t>
            </a:r>
            <a:r>
              <a:rPr lang="en-US" b="1" i="1" dirty="0">
                <a:effectLst/>
              </a:rPr>
              <a:t>convert constructor</a:t>
            </a:r>
            <a:r>
              <a:rPr lang="en-US" b="1" dirty="0">
                <a:effectLst/>
              </a:rPr>
              <a:t>.</a:t>
            </a:r>
          </a:p>
          <a:p>
            <a:pPr algn="l"/>
            <a:r>
              <a:rPr lang="en-US" dirty="0">
                <a:effectLst/>
              </a:rPr>
              <a:t>In addition to the function of creating objects of its class, a convert constructor provides the compiler with a way of performing implicit type conversions. </a:t>
            </a:r>
          </a:p>
          <a:p>
            <a:pPr algn="l"/>
            <a:r>
              <a:rPr lang="en-US" dirty="0">
                <a:effectLst/>
              </a:rPr>
              <a:t>Such type conversions will be performed by the compiler whenever a value of the constructor’s parameter type is given where a value of the class type is expected.</a:t>
            </a:r>
          </a:p>
          <a:p>
            <a:endParaRPr lang="en-US" dirty="0"/>
          </a:p>
        </p:txBody>
      </p:sp>
    </p:spTree>
    <p:extLst>
      <p:ext uri="{BB962C8B-B14F-4D97-AF65-F5344CB8AC3E}">
        <p14:creationId xmlns:p14="http://schemas.microsoft.com/office/powerpoint/2010/main" val="2681476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F7E28-83C6-3A49-5B97-9EAAD28B1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22247-897C-4BBE-96E3-E9AD0DA475CF}"/>
              </a:ext>
            </a:extLst>
          </p:cNvPr>
          <p:cNvSpPr>
            <a:spLocks noGrp="1"/>
          </p:cNvSpPr>
          <p:nvPr>
            <p:ph type="title"/>
          </p:nvPr>
        </p:nvSpPr>
        <p:spPr/>
        <p:txBody>
          <a:bodyPr/>
          <a:lstStyle/>
          <a:p>
            <a:r>
              <a:rPr lang="en-US" dirty="0"/>
              <a:t>Convert Constructors</a:t>
            </a:r>
          </a:p>
        </p:txBody>
      </p:sp>
      <p:sp>
        <p:nvSpPr>
          <p:cNvPr id="3" name="Content Placeholder 2">
            <a:extLst>
              <a:ext uri="{FF2B5EF4-FFF2-40B4-BE49-F238E27FC236}">
                <a16:creationId xmlns:a16="http://schemas.microsoft.com/office/drawing/2014/main" id="{36B47131-0F1B-02C3-B2A4-F5053F9205C3}"/>
              </a:ext>
            </a:extLst>
          </p:cNvPr>
          <p:cNvSpPr>
            <a:spLocks noGrp="1"/>
          </p:cNvSpPr>
          <p:nvPr>
            <p:ph idx="1"/>
          </p:nvPr>
        </p:nvSpPr>
        <p:spPr>
          <a:xfrm>
            <a:off x="838200" y="1825625"/>
            <a:ext cx="4257502" cy="4351338"/>
          </a:xfrm>
        </p:spPr>
        <p:txBody>
          <a:bodyPr>
            <a:normAutofit/>
          </a:bodyPr>
          <a:lstStyle/>
          <a:p>
            <a:r>
              <a:rPr lang="en-US" dirty="0"/>
              <a:t>As a simple example, consider the class</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7B961076-82DB-2ACC-E008-DB96D3B68DED}"/>
              </a:ext>
            </a:extLst>
          </p:cNvPr>
          <p:cNvPicPr>
            <a:picLocks noChangeAspect="1"/>
          </p:cNvPicPr>
          <p:nvPr/>
        </p:nvPicPr>
        <p:blipFill>
          <a:blip r:embed="rId2"/>
          <a:stretch>
            <a:fillRect/>
          </a:stretch>
        </p:blipFill>
        <p:spPr>
          <a:xfrm>
            <a:off x="1101320" y="2881632"/>
            <a:ext cx="3578745" cy="2800287"/>
          </a:xfrm>
          <a:prstGeom prst="rect">
            <a:avLst/>
          </a:prstGeom>
        </p:spPr>
      </p:pic>
      <p:sp>
        <p:nvSpPr>
          <p:cNvPr id="6" name="Content Placeholder 2">
            <a:extLst>
              <a:ext uri="{FF2B5EF4-FFF2-40B4-BE49-F238E27FC236}">
                <a16:creationId xmlns:a16="http://schemas.microsoft.com/office/drawing/2014/main" id="{B7AF4C2E-BC1C-C6A6-E932-ED19088ABB38}"/>
              </a:ext>
            </a:extLst>
          </p:cNvPr>
          <p:cNvSpPr txBox="1">
            <a:spLocks/>
          </p:cNvSpPr>
          <p:nvPr/>
        </p:nvSpPr>
        <p:spPr>
          <a:xfrm>
            <a:off x="5095702" y="1374169"/>
            <a:ext cx="6982691" cy="54007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effectLst/>
              </a:rPr>
              <a:t>In C++, a </a:t>
            </a:r>
            <a:r>
              <a:rPr lang="en-US" b="1" dirty="0">
                <a:effectLst/>
              </a:rPr>
              <a:t>conversion constructor </a:t>
            </a:r>
            <a:r>
              <a:rPr lang="en-US" dirty="0">
                <a:effectLst/>
              </a:rPr>
              <a:t>is a constructor that can be called with a single argument and is used to convert that argument's type to the type of the class.</a:t>
            </a:r>
          </a:p>
          <a:p>
            <a:r>
              <a:rPr lang="en-US" dirty="0">
                <a:effectLst/>
              </a:rPr>
              <a:t>In this code, the </a:t>
            </a:r>
            <a:r>
              <a:rPr lang="en-US" i="1" dirty="0" err="1">
                <a:solidFill>
                  <a:srgbClr val="FF0000"/>
                </a:solidFill>
                <a:effectLst/>
              </a:rPr>
              <a:t>IntClass</a:t>
            </a:r>
            <a:r>
              <a:rPr lang="en-US" i="1" dirty="0">
                <a:solidFill>
                  <a:srgbClr val="FF0000"/>
                </a:solidFill>
                <a:effectLst/>
              </a:rPr>
              <a:t>(int </a:t>
            </a:r>
            <a:r>
              <a:rPr lang="en-US" i="1" dirty="0" err="1">
                <a:solidFill>
                  <a:srgbClr val="FF0000"/>
                </a:solidFill>
                <a:effectLst/>
              </a:rPr>
              <a:t>intValue</a:t>
            </a:r>
            <a:r>
              <a:rPr lang="en-US" i="1" dirty="0">
                <a:solidFill>
                  <a:srgbClr val="FF0000"/>
                </a:solidFill>
                <a:effectLst/>
              </a:rPr>
              <a:t>) </a:t>
            </a:r>
            <a:r>
              <a:rPr lang="en-US" dirty="0">
                <a:effectLst/>
              </a:rPr>
              <a:t>constructor is a conversion constructor because:</a:t>
            </a:r>
          </a:p>
          <a:p>
            <a:pPr lvl="1"/>
            <a:r>
              <a:rPr lang="en-US" dirty="0">
                <a:effectLst/>
              </a:rPr>
              <a:t>It takes a single argument of type int.</a:t>
            </a:r>
          </a:p>
          <a:p>
            <a:pPr lvl="1"/>
            <a:r>
              <a:rPr lang="en-US" dirty="0">
                <a:effectLst/>
              </a:rPr>
              <a:t>This argument type (int) is different from the class type (</a:t>
            </a:r>
            <a:r>
              <a:rPr lang="en-US" dirty="0" err="1">
                <a:effectLst/>
              </a:rPr>
              <a:t>IntClass</a:t>
            </a:r>
            <a:r>
              <a:rPr lang="en-US" dirty="0">
                <a:effectLst/>
              </a:rPr>
              <a:t>).</a:t>
            </a:r>
          </a:p>
          <a:p>
            <a:r>
              <a:rPr lang="en-US" dirty="0">
                <a:effectLst/>
              </a:rPr>
              <a:t>This means that if we have an int value, the compiler can automatically convert that int to an </a:t>
            </a:r>
            <a:r>
              <a:rPr lang="en-US" dirty="0" err="1">
                <a:effectLst/>
              </a:rPr>
              <a:t>IntClass</a:t>
            </a:r>
            <a:r>
              <a:rPr lang="en-US" dirty="0">
                <a:effectLst/>
              </a:rPr>
              <a:t> object by calling this constructor.</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32810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756BF-72E5-04ED-B75C-409BEE2BD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2301F-16A4-D067-3D85-CC477D30F9E1}"/>
              </a:ext>
            </a:extLst>
          </p:cNvPr>
          <p:cNvSpPr>
            <a:spLocks noGrp="1"/>
          </p:cNvSpPr>
          <p:nvPr>
            <p:ph type="title"/>
          </p:nvPr>
        </p:nvSpPr>
        <p:spPr/>
        <p:txBody>
          <a:bodyPr/>
          <a:lstStyle/>
          <a:p>
            <a:r>
              <a:rPr lang="en-US" dirty="0"/>
              <a:t>Convert Constructors</a:t>
            </a:r>
          </a:p>
        </p:txBody>
      </p:sp>
      <p:sp>
        <p:nvSpPr>
          <p:cNvPr id="3" name="Content Placeholder 2">
            <a:extLst>
              <a:ext uri="{FF2B5EF4-FFF2-40B4-BE49-F238E27FC236}">
                <a16:creationId xmlns:a16="http://schemas.microsoft.com/office/drawing/2014/main" id="{B1CAB22D-46D6-0DBA-EA93-FA5FF6EF3BCC}"/>
              </a:ext>
            </a:extLst>
          </p:cNvPr>
          <p:cNvSpPr>
            <a:spLocks noGrp="1"/>
          </p:cNvSpPr>
          <p:nvPr>
            <p:ph idx="1"/>
          </p:nvPr>
        </p:nvSpPr>
        <p:spPr>
          <a:xfrm>
            <a:off x="838200" y="1825625"/>
            <a:ext cx="10915996" cy="4351338"/>
          </a:xfrm>
        </p:spPr>
        <p:txBody>
          <a:bodyPr>
            <a:normAutofit/>
          </a:bodyPr>
          <a:lstStyle/>
          <a:p>
            <a:r>
              <a:rPr lang="en-US" dirty="0">
                <a:effectLst/>
              </a:rPr>
              <a:t>Convert constructors are automatically invoked by the compiler whenever the context demands a class object but a value of constructor’s parameter type is provided. </a:t>
            </a:r>
          </a:p>
          <a:p>
            <a:r>
              <a:rPr lang="en-US" dirty="0">
                <a:effectLst/>
              </a:rPr>
              <a:t>This occurs in four different contexts:</a:t>
            </a:r>
          </a:p>
          <a:p>
            <a:pPr marL="914400" lvl="1" indent="-457200">
              <a:buFont typeface="+mj-lt"/>
              <a:buAutoNum type="arabicPeriod"/>
            </a:pPr>
            <a:r>
              <a:rPr lang="en-US" dirty="0"/>
              <a:t>An object of the class is initialized with a value of the convert constructor’s parameter type. For example,</a:t>
            </a:r>
          </a:p>
          <a:p>
            <a:pPr lvl="2"/>
            <a:r>
              <a:rPr lang="en-US" i="1" dirty="0" err="1">
                <a:solidFill>
                  <a:srgbClr val="FF0000"/>
                </a:solidFill>
              </a:rPr>
              <a:t>IntClass</a:t>
            </a:r>
            <a:r>
              <a:rPr lang="en-US" i="1" dirty="0">
                <a:solidFill>
                  <a:srgbClr val="FF0000"/>
                </a:solidFill>
              </a:rPr>
              <a:t> </a:t>
            </a:r>
            <a:r>
              <a:rPr lang="en-US" i="1" dirty="0" err="1">
                <a:solidFill>
                  <a:srgbClr val="FF0000"/>
                </a:solidFill>
              </a:rPr>
              <a:t>intObject</a:t>
            </a:r>
            <a:r>
              <a:rPr lang="en-US" i="1" dirty="0">
                <a:solidFill>
                  <a:srgbClr val="FF0000"/>
                </a:solidFill>
              </a:rPr>
              <a:t> = </a:t>
            </a:r>
            <a:r>
              <a:rPr lang="en-US" i="1" dirty="0">
                <a:solidFill>
                  <a:srgbClr val="FF0000"/>
                </a:solidFill>
                <a:effectLst/>
              </a:rPr>
              <a:t>23</a:t>
            </a:r>
            <a:r>
              <a:rPr lang="en-US" dirty="0"/>
              <a:t>; </a:t>
            </a:r>
          </a:p>
          <a:p>
            <a:pPr marL="914400" lvl="2" indent="0">
              <a:buNone/>
            </a:pPr>
            <a:endParaRPr lang="en-US" dirty="0"/>
          </a:p>
          <a:p>
            <a:pPr marL="457200" lvl="1" indent="0">
              <a:buNone/>
            </a:pPr>
            <a:r>
              <a:rPr lang="en-US" dirty="0"/>
              <a:t>2. An object of the class is assigned a value of the convert constructor’s    parameter type. For example,</a:t>
            </a:r>
          </a:p>
          <a:p>
            <a:pPr lvl="2"/>
            <a:r>
              <a:rPr lang="en-US" i="1" dirty="0" err="1">
                <a:solidFill>
                  <a:srgbClr val="FF0000"/>
                </a:solidFill>
              </a:rPr>
              <a:t>IntObject</a:t>
            </a:r>
            <a:r>
              <a:rPr lang="en-US" i="1" dirty="0">
                <a:solidFill>
                  <a:srgbClr val="FF0000"/>
                </a:solidFill>
              </a:rPr>
              <a:t> = </a:t>
            </a:r>
            <a:r>
              <a:rPr lang="en-US" i="1" dirty="0">
                <a:solidFill>
                  <a:srgbClr val="FF0000"/>
                </a:solidFill>
                <a:effectLst/>
              </a:rPr>
              <a:t>24</a:t>
            </a:r>
            <a:r>
              <a:rPr lang="en-US" i="1" dirty="0">
                <a:solidFill>
                  <a:srgbClr val="FF0000"/>
                </a:solidFill>
              </a:rPr>
              <a:t>; </a:t>
            </a:r>
            <a:endParaRPr lang="en-US" i="1" dirty="0">
              <a:solidFill>
                <a:srgbClr val="FF0000"/>
              </a:solidFill>
              <a:effectLst/>
            </a:endParaRPr>
          </a:p>
          <a:p>
            <a:pPr lvl="2"/>
            <a:endParaRPr lang="en-US" dirty="0">
              <a:effectLst/>
            </a:endParaRP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296327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43901-3E5A-DEF5-C3F1-8ABCB0CB5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04EE1-63F9-4E52-2528-1EDB67595141}"/>
              </a:ext>
            </a:extLst>
          </p:cNvPr>
          <p:cNvSpPr>
            <a:spLocks noGrp="1"/>
          </p:cNvSpPr>
          <p:nvPr>
            <p:ph type="title"/>
          </p:nvPr>
        </p:nvSpPr>
        <p:spPr/>
        <p:txBody>
          <a:bodyPr/>
          <a:lstStyle/>
          <a:p>
            <a:r>
              <a:rPr lang="en-US" dirty="0"/>
              <a:t>Convert Constructors</a:t>
            </a:r>
          </a:p>
        </p:txBody>
      </p:sp>
      <p:sp>
        <p:nvSpPr>
          <p:cNvPr id="5" name="Content Placeholder 4">
            <a:extLst>
              <a:ext uri="{FF2B5EF4-FFF2-40B4-BE49-F238E27FC236}">
                <a16:creationId xmlns:a16="http://schemas.microsoft.com/office/drawing/2014/main" id="{1EAEF15F-AAD8-A2CC-5A70-6C9A86933EDD}"/>
              </a:ext>
            </a:extLst>
          </p:cNvPr>
          <p:cNvSpPr>
            <a:spLocks noGrp="1"/>
          </p:cNvSpPr>
          <p:nvPr>
            <p:ph idx="1"/>
          </p:nvPr>
        </p:nvSpPr>
        <p:spPr>
          <a:xfrm>
            <a:off x="838200" y="1825624"/>
            <a:ext cx="10515600" cy="4824557"/>
          </a:xfrm>
        </p:spPr>
        <p:txBody>
          <a:bodyPr>
            <a:normAutofit/>
          </a:bodyPr>
          <a:lstStyle/>
          <a:p>
            <a:pPr marL="0" indent="0">
              <a:buNone/>
            </a:pPr>
            <a:r>
              <a:rPr lang="en-US" dirty="0"/>
              <a:t>3. A function expecting a value parameter of the class type is instead passed a value of the constructor’s parameter type. For example, we may define a function – </a:t>
            </a:r>
          </a:p>
          <a:p>
            <a:pPr marL="0" indent="0">
              <a:buNone/>
            </a:pPr>
            <a:endParaRPr lang="en-US" dirty="0"/>
          </a:p>
          <a:p>
            <a:pPr marL="0" indent="0">
              <a:buNone/>
            </a:pPr>
            <a:endParaRPr lang="en-US" dirty="0"/>
          </a:p>
          <a:p>
            <a:pPr marL="0" indent="0">
              <a:buNone/>
            </a:pPr>
            <a:endParaRPr lang="en-US" dirty="0"/>
          </a:p>
          <a:p>
            <a:pPr marL="0" indent="0">
              <a:buNone/>
            </a:pPr>
            <a:r>
              <a:rPr lang="en-US" dirty="0"/>
              <a:t>and then pass it an int when we call it: </a:t>
            </a:r>
            <a:r>
              <a:rPr lang="en-US" i="1" dirty="0" err="1">
                <a:solidFill>
                  <a:srgbClr val="FF0000"/>
                </a:solidFill>
                <a:effectLst/>
              </a:rPr>
              <a:t>printValue</a:t>
            </a:r>
            <a:r>
              <a:rPr lang="en-US" i="1" dirty="0">
                <a:solidFill>
                  <a:srgbClr val="FF0000"/>
                </a:solidFill>
              </a:rPr>
              <a:t>(</a:t>
            </a:r>
            <a:r>
              <a:rPr lang="en-US" i="1" dirty="0">
                <a:solidFill>
                  <a:srgbClr val="FF0000"/>
                </a:solidFill>
                <a:effectLst/>
              </a:rPr>
              <a:t>25</a:t>
            </a:r>
            <a:r>
              <a:rPr lang="en-US" i="1" dirty="0">
                <a:solidFill>
                  <a:srgbClr val="FF0000"/>
                </a:solidFill>
              </a:rPr>
              <a:t>); </a:t>
            </a:r>
          </a:p>
          <a:p>
            <a:r>
              <a:rPr lang="en-US" dirty="0"/>
              <a:t>The compiler will use the convert constructor to convert the integer 25 into an object of the</a:t>
            </a:r>
            <a:r>
              <a:rPr lang="en-US" b="1" dirty="0"/>
              <a:t> </a:t>
            </a:r>
            <a:r>
              <a:rPr lang="en-US" b="1" dirty="0" err="1"/>
              <a:t>IntClass</a:t>
            </a:r>
            <a:r>
              <a:rPr lang="en-US" b="1" dirty="0"/>
              <a:t> </a:t>
            </a:r>
            <a:r>
              <a:rPr lang="en-US" dirty="0"/>
              <a:t>class and will then pass the object to the function. </a:t>
            </a:r>
          </a:p>
        </p:txBody>
      </p:sp>
      <p:pic>
        <p:nvPicPr>
          <p:cNvPr id="6" name="Picture 5">
            <a:extLst>
              <a:ext uri="{FF2B5EF4-FFF2-40B4-BE49-F238E27FC236}">
                <a16:creationId xmlns:a16="http://schemas.microsoft.com/office/drawing/2014/main" id="{C9A1CFF8-3982-05EF-C2C1-0E3E0A63FEC1}"/>
              </a:ext>
            </a:extLst>
          </p:cNvPr>
          <p:cNvPicPr>
            <a:picLocks noChangeAspect="1"/>
          </p:cNvPicPr>
          <p:nvPr/>
        </p:nvPicPr>
        <p:blipFill>
          <a:blip r:embed="rId2"/>
          <a:stretch>
            <a:fillRect/>
          </a:stretch>
        </p:blipFill>
        <p:spPr>
          <a:xfrm>
            <a:off x="4616450" y="3170959"/>
            <a:ext cx="2959100" cy="1181100"/>
          </a:xfrm>
          <a:prstGeom prst="rect">
            <a:avLst/>
          </a:prstGeom>
        </p:spPr>
      </p:pic>
    </p:spTree>
    <p:extLst>
      <p:ext uri="{BB962C8B-B14F-4D97-AF65-F5344CB8AC3E}">
        <p14:creationId xmlns:p14="http://schemas.microsoft.com/office/powerpoint/2010/main" val="1390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79AD0-E061-6FBA-D243-AA39B95C9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AD46C-C4EA-5085-571F-ED5F9541456F}"/>
              </a:ext>
            </a:extLst>
          </p:cNvPr>
          <p:cNvSpPr>
            <a:spLocks noGrp="1"/>
          </p:cNvSpPr>
          <p:nvPr>
            <p:ph type="title"/>
          </p:nvPr>
        </p:nvSpPr>
        <p:spPr/>
        <p:txBody>
          <a:bodyPr/>
          <a:lstStyle/>
          <a:p>
            <a:r>
              <a:rPr lang="en-US" dirty="0"/>
              <a:t>Convert Constructors</a:t>
            </a:r>
          </a:p>
        </p:txBody>
      </p:sp>
      <p:sp>
        <p:nvSpPr>
          <p:cNvPr id="5" name="Content Placeholder 4">
            <a:extLst>
              <a:ext uri="{FF2B5EF4-FFF2-40B4-BE49-F238E27FC236}">
                <a16:creationId xmlns:a16="http://schemas.microsoft.com/office/drawing/2014/main" id="{6DBE58E2-3AE8-3336-4A6C-DE9BD7A9DDC1}"/>
              </a:ext>
            </a:extLst>
          </p:cNvPr>
          <p:cNvSpPr>
            <a:spLocks noGrp="1"/>
          </p:cNvSpPr>
          <p:nvPr>
            <p:ph idx="1"/>
          </p:nvPr>
        </p:nvSpPr>
        <p:spPr>
          <a:xfrm>
            <a:off x="838200" y="1825624"/>
            <a:ext cx="10515600" cy="4824557"/>
          </a:xfrm>
        </p:spPr>
        <p:txBody>
          <a:bodyPr>
            <a:normAutofit/>
          </a:bodyPr>
          <a:lstStyle/>
          <a:p>
            <a:r>
              <a:rPr lang="en-US" dirty="0"/>
              <a:t>The compiler will not invoke the convert constructor if the formal parameter is a pointer or a reference to an </a:t>
            </a:r>
            <a:r>
              <a:rPr lang="en-US" dirty="0" err="1"/>
              <a:t>IntClass</a:t>
            </a:r>
            <a:r>
              <a:rPr lang="en-US" dirty="0"/>
              <a:t> object. </a:t>
            </a:r>
          </a:p>
          <a:p>
            <a:r>
              <a:rPr lang="en-US" dirty="0"/>
              <a:t>This is because pointers and references expect an already-existing object, not an implicit conversion.</a:t>
            </a:r>
          </a:p>
          <a:p>
            <a:r>
              <a:rPr lang="en-US" i="1" dirty="0"/>
              <a:t>Convert constructors are only invoked when the formal parameter uses pass by value</a:t>
            </a:r>
            <a:r>
              <a:rPr lang="en-US" dirty="0"/>
              <a:t>.</a:t>
            </a:r>
          </a:p>
          <a:p>
            <a:r>
              <a:rPr lang="en-US" dirty="0"/>
              <a:t>It’s essentially making a copy of </a:t>
            </a:r>
            <a:r>
              <a:rPr lang="en-US" dirty="0" err="1"/>
              <a:t>IntClass</a:t>
            </a:r>
            <a:r>
              <a:rPr lang="en-US" dirty="0"/>
              <a:t> as an object. In this case, if an integer is passed by value to the function, the compiler will invoke the conversion constructor to create an </a:t>
            </a:r>
            <a:r>
              <a:rPr lang="en-US" dirty="0" err="1"/>
              <a:t>IntClass</a:t>
            </a:r>
            <a:r>
              <a:rPr lang="en-US" dirty="0"/>
              <a:t> object from the integer and pass it to the function.</a:t>
            </a:r>
            <a:endParaRPr lang="en-US" i="1" dirty="0">
              <a:solidFill>
                <a:srgbClr val="FF0000"/>
              </a:solidFill>
            </a:endParaRPr>
          </a:p>
        </p:txBody>
      </p:sp>
    </p:spTree>
    <p:extLst>
      <p:ext uri="{BB962C8B-B14F-4D97-AF65-F5344CB8AC3E}">
        <p14:creationId xmlns:p14="http://schemas.microsoft.com/office/powerpoint/2010/main" val="2570239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8A6B4-AC30-9160-E065-831B8C6DF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FE63A-409D-6EAD-1ED0-0C8CA53BC1ED}"/>
              </a:ext>
            </a:extLst>
          </p:cNvPr>
          <p:cNvSpPr>
            <a:spLocks noGrp="1"/>
          </p:cNvSpPr>
          <p:nvPr>
            <p:ph type="title"/>
          </p:nvPr>
        </p:nvSpPr>
        <p:spPr/>
        <p:txBody>
          <a:bodyPr/>
          <a:lstStyle/>
          <a:p>
            <a:r>
              <a:rPr lang="en-US" dirty="0"/>
              <a:t>Example</a:t>
            </a:r>
          </a:p>
        </p:txBody>
      </p:sp>
      <p:pic>
        <p:nvPicPr>
          <p:cNvPr id="3" name="Picture 2">
            <a:extLst>
              <a:ext uri="{FF2B5EF4-FFF2-40B4-BE49-F238E27FC236}">
                <a16:creationId xmlns:a16="http://schemas.microsoft.com/office/drawing/2014/main" id="{7E901456-4833-5F77-1072-F5FB276F79F4}"/>
              </a:ext>
            </a:extLst>
          </p:cNvPr>
          <p:cNvPicPr>
            <a:picLocks noChangeAspect="1"/>
          </p:cNvPicPr>
          <p:nvPr/>
        </p:nvPicPr>
        <p:blipFill>
          <a:blip r:embed="rId2"/>
          <a:stretch>
            <a:fillRect/>
          </a:stretch>
        </p:blipFill>
        <p:spPr>
          <a:xfrm>
            <a:off x="2209800" y="1690688"/>
            <a:ext cx="7772400" cy="3852406"/>
          </a:xfrm>
          <a:prstGeom prst="rect">
            <a:avLst/>
          </a:prstGeom>
        </p:spPr>
      </p:pic>
    </p:spTree>
    <p:extLst>
      <p:ext uri="{BB962C8B-B14F-4D97-AF65-F5344CB8AC3E}">
        <p14:creationId xmlns:p14="http://schemas.microsoft.com/office/powerpoint/2010/main" val="2850947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5A2E-5695-4282-F8AD-C6E5BA749A51}"/>
              </a:ext>
            </a:extLst>
          </p:cNvPr>
          <p:cNvSpPr>
            <a:spLocks noGrp="1"/>
          </p:cNvSpPr>
          <p:nvPr>
            <p:ph type="title"/>
          </p:nvPr>
        </p:nvSpPr>
        <p:spPr/>
        <p:txBody>
          <a:bodyPr/>
          <a:lstStyle/>
          <a:p>
            <a:r>
              <a:rPr lang="en-US" dirty="0"/>
              <a:t>Convert Constructors</a:t>
            </a:r>
          </a:p>
        </p:txBody>
      </p:sp>
      <p:sp>
        <p:nvSpPr>
          <p:cNvPr id="3" name="Content Placeholder 2">
            <a:extLst>
              <a:ext uri="{FF2B5EF4-FFF2-40B4-BE49-F238E27FC236}">
                <a16:creationId xmlns:a16="http://schemas.microsoft.com/office/drawing/2014/main" id="{E5AA021D-FBDB-9302-45B5-143C27B006EA}"/>
              </a:ext>
            </a:extLst>
          </p:cNvPr>
          <p:cNvSpPr>
            <a:spLocks noGrp="1"/>
          </p:cNvSpPr>
          <p:nvPr>
            <p:ph idx="1"/>
          </p:nvPr>
        </p:nvSpPr>
        <p:spPr>
          <a:xfrm>
            <a:off x="838200" y="1825625"/>
            <a:ext cx="10515600" cy="4591800"/>
          </a:xfrm>
        </p:spPr>
        <p:txBody>
          <a:bodyPr>
            <a:normAutofit fontScale="92500" lnSpcReduction="10000"/>
          </a:bodyPr>
          <a:lstStyle/>
          <a:p>
            <a:pPr marL="0" indent="0">
              <a:buNone/>
            </a:pPr>
            <a:r>
              <a:rPr lang="en-US" dirty="0"/>
              <a:t>4. A function that declares a return value of the class type actually returns a value of the convert constructor’s parameter type. </a:t>
            </a:r>
          </a:p>
          <a:p>
            <a:r>
              <a:rPr lang="en-US" dirty="0"/>
              <a:t>For example, the compiler will accept the following function:</a:t>
            </a:r>
          </a:p>
          <a:p>
            <a:endParaRPr lang="en-US" dirty="0"/>
          </a:p>
          <a:p>
            <a:endParaRPr lang="en-US" dirty="0"/>
          </a:p>
          <a:p>
            <a:endParaRPr lang="en-US" dirty="0"/>
          </a:p>
          <a:p>
            <a:r>
              <a:rPr lang="en-US" dirty="0"/>
              <a:t>Note that the function returns a value of type integer, even though </a:t>
            </a:r>
            <a:r>
              <a:rPr lang="en-US" dirty="0" err="1"/>
              <a:t>IntClass</a:t>
            </a:r>
            <a:r>
              <a:rPr lang="en-US" dirty="0"/>
              <a:t> is declared as its return type. </a:t>
            </a:r>
          </a:p>
          <a:p>
            <a:r>
              <a:rPr lang="en-US" dirty="0"/>
              <a:t>Again, the compiler will implicitly call the convert constructor to convert the integer </a:t>
            </a:r>
            <a:r>
              <a:rPr lang="en-US" dirty="0" err="1"/>
              <a:t>intValue</a:t>
            </a:r>
            <a:r>
              <a:rPr lang="en-US" dirty="0"/>
              <a:t> to an </a:t>
            </a:r>
            <a:r>
              <a:rPr lang="en-US" dirty="0" err="1"/>
              <a:t>IntClass</a:t>
            </a:r>
            <a:r>
              <a:rPr lang="en-US" dirty="0"/>
              <a:t> object. </a:t>
            </a:r>
          </a:p>
          <a:p>
            <a:r>
              <a:rPr lang="en-US" dirty="0"/>
              <a:t>It is this object that is returned from the function.</a:t>
            </a:r>
          </a:p>
          <a:p>
            <a:endParaRPr lang="en-US" dirty="0"/>
          </a:p>
        </p:txBody>
      </p:sp>
      <p:pic>
        <p:nvPicPr>
          <p:cNvPr id="4" name="Picture 3">
            <a:extLst>
              <a:ext uri="{FF2B5EF4-FFF2-40B4-BE49-F238E27FC236}">
                <a16:creationId xmlns:a16="http://schemas.microsoft.com/office/drawing/2014/main" id="{26E03884-2817-6B9B-B1E2-CDF0C1F4763D}"/>
              </a:ext>
            </a:extLst>
          </p:cNvPr>
          <p:cNvPicPr>
            <a:picLocks noChangeAspect="1"/>
          </p:cNvPicPr>
          <p:nvPr/>
        </p:nvPicPr>
        <p:blipFill>
          <a:blip r:embed="rId2"/>
          <a:stretch>
            <a:fillRect/>
          </a:stretch>
        </p:blipFill>
        <p:spPr>
          <a:xfrm>
            <a:off x="4781550" y="3064856"/>
            <a:ext cx="2628900" cy="1193800"/>
          </a:xfrm>
          <a:prstGeom prst="rect">
            <a:avLst/>
          </a:prstGeom>
        </p:spPr>
      </p:pic>
    </p:spTree>
    <p:extLst>
      <p:ext uri="{BB962C8B-B14F-4D97-AF65-F5344CB8AC3E}">
        <p14:creationId xmlns:p14="http://schemas.microsoft.com/office/powerpoint/2010/main" val="1016924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63D8-7ED0-92B3-3AB4-772274240C9B}"/>
              </a:ext>
            </a:extLst>
          </p:cNvPr>
          <p:cNvSpPr>
            <a:spLocks noGrp="1"/>
          </p:cNvSpPr>
          <p:nvPr>
            <p:ph type="title"/>
          </p:nvPr>
        </p:nvSpPr>
        <p:spPr>
          <a:xfrm>
            <a:off x="838200" y="365125"/>
            <a:ext cx="2611582" cy="1325563"/>
          </a:xfrm>
        </p:spPr>
        <p:txBody>
          <a:bodyPr/>
          <a:lstStyle/>
          <a:p>
            <a:r>
              <a:rPr lang="en-US" dirty="0"/>
              <a:t>Example</a:t>
            </a:r>
          </a:p>
        </p:txBody>
      </p:sp>
      <p:pic>
        <p:nvPicPr>
          <p:cNvPr id="4" name="Picture 3">
            <a:extLst>
              <a:ext uri="{FF2B5EF4-FFF2-40B4-BE49-F238E27FC236}">
                <a16:creationId xmlns:a16="http://schemas.microsoft.com/office/drawing/2014/main" id="{9A271699-A9DD-A7B0-CA23-FAFEB623F8EC}"/>
              </a:ext>
            </a:extLst>
          </p:cNvPr>
          <p:cNvPicPr>
            <a:picLocks noChangeAspect="1"/>
          </p:cNvPicPr>
          <p:nvPr/>
        </p:nvPicPr>
        <p:blipFill>
          <a:blip r:embed="rId2"/>
          <a:stretch>
            <a:fillRect/>
          </a:stretch>
        </p:blipFill>
        <p:spPr>
          <a:xfrm>
            <a:off x="347115" y="1784292"/>
            <a:ext cx="3268921" cy="3289416"/>
          </a:xfrm>
          <a:prstGeom prst="rect">
            <a:avLst/>
          </a:prstGeom>
        </p:spPr>
      </p:pic>
      <p:pic>
        <p:nvPicPr>
          <p:cNvPr id="5" name="Picture 4">
            <a:extLst>
              <a:ext uri="{FF2B5EF4-FFF2-40B4-BE49-F238E27FC236}">
                <a16:creationId xmlns:a16="http://schemas.microsoft.com/office/drawing/2014/main" id="{C1D9334F-20C2-16BF-1974-ECC0BAD1B89A}"/>
              </a:ext>
            </a:extLst>
          </p:cNvPr>
          <p:cNvPicPr>
            <a:picLocks noChangeAspect="1"/>
          </p:cNvPicPr>
          <p:nvPr/>
        </p:nvPicPr>
        <p:blipFill>
          <a:blip r:embed="rId3"/>
          <a:stretch>
            <a:fillRect/>
          </a:stretch>
        </p:blipFill>
        <p:spPr>
          <a:xfrm>
            <a:off x="3782291" y="1661333"/>
            <a:ext cx="3349263" cy="3535334"/>
          </a:xfrm>
          <a:prstGeom prst="rect">
            <a:avLst/>
          </a:prstGeom>
        </p:spPr>
      </p:pic>
      <p:pic>
        <p:nvPicPr>
          <p:cNvPr id="6" name="Picture 5">
            <a:extLst>
              <a:ext uri="{FF2B5EF4-FFF2-40B4-BE49-F238E27FC236}">
                <a16:creationId xmlns:a16="http://schemas.microsoft.com/office/drawing/2014/main" id="{1CF26C70-0713-BC2B-ADE3-08BE12D604AB}"/>
              </a:ext>
            </a:extLst>
          </p:cNvPr>
          <p:cNvPicPr>
            <a:picLocks noChangeAspect="1"/>
          </p:cNvPicPr>
          <p:nvPr/>
        </p:nvPicPr>
        <p:blipFill>
          <a:blip r:embed="rId4"/>
          <a:stretch>
            <a:fillRect/>
          </a:stretch>
        </p:blipFill>
        <p:spPr>
          <a:xfrm>
            <a:off x="7731698" y="0"/>
            <a:ext cx="4027179" cy="6858000"/>
          </a:xfrm>
          <a:prstGeom prst="rect">
            <a:avLst/>
          </a:prstGeom>
        </p:spPr>
      </p:pic>
    </p:spTree>
    <p:extLst>
      <p:ext uri="{BB962C8B-B14F-4D97-AF65-F5344CB8AC3E}">
        <p14:creationId xmlns:p14="http://schemas.microsoft.com/office/powerpoint/2010/main" val="38460611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0F9A8-51ED-02ED-06D8-8A0D8A8175A1}"/>
              </a:ext>
            </a:extLst>
          </p:cNvPr>
          <p:cNvSpPr>
            <a:spLocks noGrp="1"/>
          </p:cNvSpPr>
          <p:nvPr>
            <p:ph type="title"/>
          </p:nvPr>
        </p:nvSpPr>
        <p:spPr/>
        <p:txBody>
          <a:bodyPr/>
          <a:lstStyle/>
          <a:p>
            <a:r>
              <a:rPr lang="en-US" dirty="0"/>
              <a:t>Aggregation and Composition</a:t>
            </a:r>
          </a:p>
        </p:txBody>
      </p:sp>
      <p:sp>
        <p:nvSpPr>
          <p:cNvPr id="3" name="Content Placeholder 2">
            <a:extLst>
              <a:ext uri="{FF2B5EF4-FFF2-40B4-BE49-F238E27FC236}">
                <a16:creationId xmlns:a16="http://schemas.microsoft.com/office/drawing/2014/main" id="{F991A59A-8439-5727-A128-21A8AE7AC1E1}"/>
              </a:ext>
            </a:extLst>
          </p:cNvPr>
          <p:cNvSpPr>
            <a:spLocks noGrp="1"/>
          </p:cNvSpPr>
          <p:nvPr>
            <p:ph idx="1"/>
          </p:nvPr>
        </p:nvSpPr>
        <p:spPr/>
        <p:txBody>
          <a:bodyPr/>
          <a:lstStyle/>
          <a:p>
            <a:r>
              <a:rPr lang="en-US" dirty="0"/>
              <a:t>Class aggregation occurs when an object of one class owns an object of another class. </a:t>
            </a:r>
          </a:p>
          <a:p>
            <a:r>
              <a:rPr lang="en-US" dirty="0"/>
              <a:t>Class composition is a form of aggregation where the owner class controls the lifetime of objects of the owned class.</a:t>
            </a:r>
          </a:p>
        </p:txBody>
      </p:sp>
    </p:spTree>
    <p:extLst>
      <p:ext uri="{BB962C8B-B14F-4D97-AF65-F5344CB8AC3E}">
        <p14:creationId xmlns:p14="http://schemas.microsoft.com/office/powerpoint/2010/main" val="2109046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78F24-049D-6805-BA8A-468B43F7B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DE40F-8E54-A00C-1AE8-4751850265F0}"/>
              </a:ext>
            </a:extLst>
          </p:cNvPr>
          <p:cNvSpPr>
            <a:spLocks noGrp="1"/>
          </p:cNvSpPr>
          <p:nvPr>
            <p:ph type="title"/>
          </p:nvPr>
        </p:nvSpPr>
        <p:spPr>
          <a:xfrm>
            <a:off x="838200" y="407324"/>
            <a:ext cx="10515600" cy="1325563"/>
          </a:xfrm>
        </p:spPr>
        <p:txBody>
          <a:bodyPr/>
          <a:lstStyle/>
          <a:p>
            <a:r>
              <a:rPr lang="en-US" dirty="0"/>
              <a:t>Aggregation and Composition</a:t>
            </a:r>
          </a:p>
        </p:txBody>
      </p:sp>
      <p:sp>
        <p:nvSpPr>
          <p:cNvPr id="3" name="Content Placeholder 2">
            <a:extLst>
              <a:ext uri="{FF2B5EF4-FFF2-40B4-BE49-F238E27FC236}">
                <a16:creationId xmlns:a16="http://schemas.microsoft.com/office/drawing/2014/main" id="{7008266E-AFB5-C51E-842F-3829CBCE8BC9}"/>
              </a:ext>
            </a:extLst>
          </p:cNvPr>
          <p:cNvSpPr>
            <a:spLocks noGrp="1"/>
          </p:cNvSpPr>
          <p:nvPr>
            <p:ph idx="1"/>
          </p:nvPr>
        </p:nvSpPr>
        <p:spPr>
          <a:xfrm>
            <a:off x="838200" y="1958629"/>
            <a:ext cx="9626138" cy="5123815"/>
          </a:xfrm>
        </p:spPr>
        <p:txBody>
          <a:bodyPr>
            <a:normAutofit/>
          </a:bodyPr>
          <a:lstStyle/>
          <a:p>
            <a:r>
              <a:rPr lang="en-US" dirty="0"/>
              <a:t>When a class (let's say C) contains a member that is an object of another class (D), we say that C "has a" D object. </a:t>
            </a:r>
          </a:p>
          <a:p>
            <a:r>
              <a:rPr lang="en-US" dirty="0"/>
              <a:t>This means that each instance of C will include its own instance of D as part of its internal structure. </a:t>
            </a:r>
          </a:p>
          <a:p>
            <a:r>
              <a:rPr lang="en-US" dirty="0"/>
              <a:t>This relationship is often called a </a:t>
            </a:r>
            <a:r>
              <a:rPr lang="en-US" b="1" dirty="0"/>
              <a:t>has-a</a:t>
            </a:r>
            <a:r>
              <a:rPr lang="en-US" dirty="0"/>
              <a:t> relationship</a:t>
            </a:r>
          </a:p>
          <a:p>
            <a:r>
              <a:rPr lang="en-US" dirty="0">
                <a:effectLst/>
              </a:rPr>
              <a:t> In this type of relationship, every instance of C has, or owns, an instance of the class D</a:t>
            </a:r>
          </a:p>
          <a:p>
            <a:endParaRPr lang="en-US" dirty="0">
              <a:effectLst/>
              <a:latin typeface="Helvetica Neue" panose="02000503000000020004" pitchFamily="2" charset="0"/>
            </a:endParaRPr>
          </a:p>
        </p:txBody>
      </p:sp>
      <p:pic>
        <p:nvPicPr>
          <p:cNvPr id="11" name="Picture 10">
            <a:extLst>
              <a:ext uri="{FF2B5EF4-FFF2-40B4-BE49-F238E27FC236}">
                <a16:creationId xmlns:a16="http://schemas.microsoft.com/office/drawing/2014/main" id="{FCC0A766-10B9-8EB1-C45A-B7310D098800}"/>
              </a:ext>
            </a:extLst>
          </p:cNvPr>
          <p:cNvPicPr>
            <a:picLocks noChangeAspect="1"/>
          </p:cNvPicPr>
          <p:nvPr/>
        </p:nvPicPr>
        <p:blipFill>
          <a:blip r:embed="rId3"/>
          <a:stretch>
            <a:fillRect/>
          </a:stretch>
        </p:blipFill>
        <p:spPr>
          <a:xfrm>
            <a:off x="5651269" y="4912822"/>
            <a:ext cx="1715463" cy="1740506"/>
          </a:xfrm>
          <a:prstGeom prst="rect">
            <a:avLst/>
          </a:prstGeom>
        </p:spPr>
      </p:pic>
    </p:spTree>
    <p:extLst>
      <p:ext uri="{BB962C8B-B14F-4D97-AF65-F5344CB8AC3E}">
        <p14:creationId xmlns:p14="http://schemas.microsoft.com/office/powerpoint/2010/main" val="2001153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053E2-9B5A-7ADC-E404-C48D8FD1F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9DA01-D181-7A8F-D4E6-8E794B20A86D}"/>
              </a:ext>
            </a:extLst>
          </p:cNvPr>
          <p:cNvSpPr>
            <a:spLocks noGrp="1"/>
          </p:cNvSpPr>
          <p:nvPr>
            <p:ph type="title"/>
          </p:nvPr>
        </p:nvSpPr>
        <p:spPr>
          <a:xfrm>
            <a:off x="838200" y="408622"/>
            <a:ext cx="10515600" cy="1325563"/>
          </a:xfrm>
        </p:spPr>
        <p:txBody>
          <a:bodyPr/>
          <a:lstStyle/>
          <a:p>
            <a:r>
              <a:rPr lang="en-US" dirty="0"/>
              <a:t>Aggregation and Composition</a:t>
            </a:r>
          </a:p>
        </p:txBody>
      </p:sp>
      <p:sp>
        <p:nvSpPr>
          <p:cNvPr id="3" name="Content Placeholder 2">
            <a:extLst>
              <a:ext uri="{FF2B5EF4-FFF2-40B4-BE49-F238E27FC236}">
                <a16:creationId xmlns:a16="http://schemas.microsoft.com/office/drawing/2014/main" id="{FA1B8ED0-C5A0-36E7-1713-BB5DB1E4C6AB}"/>
              </a:ext>
            </a:extLst>
          </p:cNvPr>
          <p:cNvSpPr>
            <a:spLocks noGrp="1"/>
          </p:cNvSpPr>
          <p:nvPr>
            <p:ph idx="1"/>
          </p:nvPr>
        </p:nvSpPr>
        <p:spPr>
          <a:xfrm>
            <a:off x="673331" y="1734185"/>
            <a:ext cx="9626138" cy="5123815"/>
          </a:xfrm>
        </p:spPr>
        <p:txBody>
          <a:bodyPr>
            <a:normAutofit/>
          </a:bodyPr>
          <a:lstStyle/>
          <a:p>
            <a:r>
              <a:rPr lang="en-US" dirty="0"/>
              <a:t>In C++, such ownership usually occurs as a result of having a member of type , but it can also occur as a result of having a pointer to an object of D</a:t>
            </a:r>
          </a:p>
          <a:p>
            <a:endParaRPr lang="en-US" dirty="0"/>
          </a:p>
          <a:p>
            <a:endParaRPr lang="en-US" dirty="0"/>
          </a:p>
          <a:p>
            <a:endParaRPr lang="en-US" dirty="0"/>
          </a:p>
          <a:p>
            <a:r>
              <a:rPr lang="en-US" dirty="0"/>
              <a:t>The term </a:t>
            </a:r>
            <a:r>
              <a:rPr lang="en-US" dirty="0">
                <a:hlinkClick r:id="rId3"/>
              </a:rPr>
              <a:t>aggregation</a:t>
            </a:r>
            <a:r>
              <a:rPr lang="en-US" dirty="0"/>
              <a:t> is often broadly used to describe situations in which objects of one class own objects of other classes.</a:t>
            </a:r>
          </a:p>
          <a:p>
            <a:endParaRPr lang="en-US" dirty="0">
              <a:effectLst/>
              <a:latin typeface="Helvetica Neue" panose="02000503000000020004" pitchFamily="2" charset="0"/>
            </a:endParaRPr>
          </a:p>
        </p:txBody>
      </p:sp>
      <p:pic>
        <p:nvPicPr>
          <p:cNvPr id="4" name="Picture 3">
            <a:extLst>
              <a:ext uri="{FF2B5EF4-FFF2-40B4-BE49-F238E27FC236}">
                <a16:creationId xmlns:a16="http://schemas.microsoft.com/office/drawing/2014/main" id="{81B2CE0E-7E73-EE63-4D00-3518FB655BDD}"/>
              </a:ext>
            </a:extLst>
          </p:cNvPr>
          <p:cNvPicPr>
            <a:picLocks noChangeAspect="1"/>
          </p:cNvPicPr>
          <p:nvPr/>
        </p:nvPicPr>
        <p:blipFill>
          <a:blip r:embed="rId4"/>
          <a:stretch>
            <a:fillRect/>
          </a:stretch>
        </p:blipFill>
        <p:spPr>
          <a:xfrm>
            <a:off x="2901950" y="3059748"/>
            <a:ext cx="5168900" cy="1397000"/>
          </a:xfrm>
          <a:prstGeom prst="rect">
            <a:avLst/>
          </a:prstGeom>
        </p:spPr>
      </p:pic>
    </p:spTree>
    <p:extLst>
      <p:ext uri="{BB962C8B-B14F-4D97-AF65-F5344CB8AC3E}">
        <p14:creationId xmlns:p14="http://schemas.microsoft.com/office/powerpoint/2010/main" val="1946454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3670B-77A5-4029-CFDA-E8B8C828D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AA91D-C89D-2105-4DE8-3E6CDB752FEB}"/>
              </a:ext>
            </a:extLst>
          </p:cNvPr>
          <p:cNvSpPr>
            <a:spLocks noGrp="1"/>
          </p:cNvSpPr>
          <p:nvPr>
            <p:ph type="title"/>
          </p:nvPr>
        </p:nvSpPr>
        <p:spPr/>
        <p:txBody>
          <a:bodyPr/>
          <a:lstStyle/>
          <a:p>
            <a:r>
              <a:rPr lang="en-US" dirty="0"/>
              <a:t>Aggregation and Composition</a:t>
            </a:r>
          </a:p>
        </p:txBody>
      </p:sp>
      <p:sp>
        <p:nvSpPr>
          <p:cNvPr id="3" name="Content Placeholder 2">
            <a:extLst>
              <a:ext uri="{FF2B5EF4-FFF2-40B4-BE49-F238E27FC236}">
                <a16:creationId xmlns:a16="http://schemas.microsoft.com/office/drawing/2014/main" id="{36C20C6A-BA26-A995-7709-EF767AC75EEE}"/>
              </a:ext>
            </a:extLst>
          </p:cNvPr>
          <p:cNvSpPr>
            <a:spLocks noGrp="1"/>
          </p:cNvSpPr>
          <p:nvPr>
            <p:ph idx="1"/>
          </p:nvPr>
        </p:nvSpPr>
        <p:spPr>
          <a:xfrm>
            <a:off x="6450676" y="1833938"/>
            <a:ext cx="5468389" cy="4351338"/>
          </a:xfrm>
        </p:spPr>
        <p:txBody>
          <a:bodyPr/>
          <a:lstStyle/>
          <a:p>
            <a:r>
              <a:rPr lang="en-US" dirty="0"/>
              <a:t>Imagine we have two classes, Car and Engine. </a:t>
            </a:r>
          </a:p>
          <a:p>
            <a:r>
              <a:rPr lang="en-US" dirty="0"/>
              <a:t>A Car has an Engine, so you would include an </a:t>
            </a:r>
            <a:r>
              <a:rPr lang="en-US" b="1" dirty="0"/>
              <a:t>Engine object </a:t>
            </a:r>
            <a:r>
              <a:rPr lang="en-US" dirty="0"/>
              <a:t>as a member within the Car class. </a:t>
            </a:r>
          </a:p>
          <a:p>
            <a:r>
              <a:rPr lang="en-US" dirty="0"/>
              <a:t>This forms a </a:t>
            </a:r>
            <a:r>
              <a:rPr lang="en-US" b="1" dirty="0"/>
              <a:t>has-a</a:t>
            </a:r>
            <a:r>
              <a:rPr lang="en-US" dirty="0"/>
              <a:t> relationship, meaning every Car object includes and "owns" its own Engine object.</a:t>
            </a:r>
            <a:endParaRPr lang="en-US" dirty="0">
              <a:effectLst/>
              <a:latin typeface="Helvetica Neue" panose="02000503000000020004" pitchFamily="2" charset="0"/>
            </a:endParaRPr>
          </a:p>
        </p:txBody>
      </p:sp>
      <p:pic>
        <p:nvPicPr>
          <p:cNvPr id="4" name="Picture 3">
            <a:extLst>
              <a:ext uri="{FF2B5EF4-FFF2-40B4-BE49-F238E27FC236}">
                <a16:creationId xmlns:a16="http://schemas.microsoft.com/office/drawing/2014/main" id="{99F195A1-ED67-0F12-8364-BC4A9ECFFF9F}"/>
              </a:ext>
            </a:extLst>
          </p:cNvPr>
          <p:cNvPicPr>
            <a:picLocks noChangeAspect="1"/>
          </p:cNvPicPr>
          <p:nvPr/>
        </p:nvPicPr>
        <p:blipFill>
          <a:blip r:embed="rId2"/>
          <a:stretch>
            <a:fillRect/>
          </a:stretch>
        </p:blipFill>
        <p:spPr>
          <a:xfrm>
            <a:off x="838200" y="1986439"/>
            <a:ext cx="5371332" cy="4046336"/>
          </a:xfrm>
          <a:prstGeom prst="rect">
            <a:avLst/>
          </a:prstGeom>
        </p:spPr>
      </p:pic>
    </p:spTree>
    <p:extLst>
      <p:ext uri="{BB962C8B-B14F-4D97-AF65-F5344CB8AC3E}">
        <p14:creationId xmlns:p14="http://schemas.microsoft.com/office/powerpoint/2010/main" val="2564085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44437-ABD1-0FA0-1FF6-10C7BCD7F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41DAE-DAFA-04F5-C3FD-59EA5E59D8E3}"/>
              </a:ext>
            </a:extLst>
          </p:cNvPr>
          <p:cNvSpPr>
            <a:spLocks noGrp="1"/>
          </p:cNvSpPr>
          <p:nvPr>
            <p:ph type="title"/>
          </p:nvPr>
        </p:nvSpPr>
        <p:spPr/>
        <p:txBody>
          <a:bodyPr/>
          <a:lstStyle/>
          <a:p>
            <a:r>
              <a:rPr lang="en-US" dirty="0"/>
              <a:t>Member Initialization Lists with Aggregation</a:t>
            </a:r>
          </a:p>
        </p:txBody>
      </p:sp>
      <p:sp>
        <p:nvSpPr>
          <p:cNvPr id="3" name="Content Placeholder 2">
            <a:extLst>
              <a:ext uri="{FF2B5EF4-FFF2-40B4-BE49-F238E27FC236}">
                <a16:creationId xmlns:a16="http://schemas.microsoft.com/office/drawing/2014/main" id="{382C39A2-8A69-F20A-9F8E-2C1519EEB966}"/>
              </a:ext>
            </a:extLst>
          </p:cNvPr>
          <p:cNvSpPr>
            <a:spLocks noGrp="1"/>
          </p:cNvSpPr>
          <p:nvPr>
            <p:ph idx="1"/>
          </p:nvPr>
        </p:nvSpPr>
        <p:spPr>
          <a:xfrm>
            <a:off x="687878" y="1958629"/>
            <a:ext cx="10816244" cy="4351338"/>
          </a:xfrm>
        </p:spPr>
        <p:txBody>
          <a:bodyPr/>
          <a:lstStyle/>
          <a:p>
            <a:r>
              <a:rPr lang="en-US" dirty="0"/>
              <a:t>We learned that one of the ways to initialize class members is by using an initialization list with the constructor</a:t>
            </a:r>
            <a:endParaRPr lang="en-US" dirty="0">
              <a:effectLst/>
              <a:latin typeface="Helvetica Neue" panose="02000503000000020004" pitchFamily="2" charset="0"/>
            </a:endParaRPr>
          </a:p>
        </p:txBody>
      </p:sp>
      <p:pic>
        <p:nvPicPr>
          <p:cNvPr id="5" name="Picture 4">
            <a:extLst>
              <a:ext uri="{FF2B5EF4-FFF2-40B4-BE49-F238E27FC236}">
                <a16:creationId xmlns:a16="http://schemas.microsoft.com/office/drawing/2014/main" id="{B62D1802-BAF2-CB6D-4FF8-5E9E9DD5C1E8}"/>
              </a:ext>
            </a:extLst>
          </p:cNvPr>
          <p:cNvPicPr>
            <a:picLocks noChangeAspect="1"/>
          </p:cNvPicPr>
          <p:nvPr/>
        </p:nvPicPr>
        <p:blipFill>
          <a:blip r:embed="rId2"/>
          <a:stretch>
            <a:fillRect/>
          </a:stretch>
        </p:blipFill>
        <p:spPr>
          <a:xfrm>
            <a:off x="3429000" y="3117142"/>
            <a:ext cx="5334000" cy="2908300"/>
          </a:xfrm>
          <a:prstGeom prst="rect">
            <a:avLst/>
          </a:prstGeom>
        </p:spPr>
      </p:pic>
    </p:spTree>
    <p:extLst>
      <p:ext uri="{BB962C8B-B14F-4D97-AF65-F5344CB8AC3E}">
        <p14:creationId xmlns:p14="http://schemas.microsoft.com/office/powerpoint/2010/main" val="2786113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3C60B-878D-6EDB-FA58-F591300A6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730B0-F6A5-649C-DF15-42B471E2C852}"/>
              </a:ext>
            </a:extLst>
          </p:cNvPr>
          <p:cNvSpPr>
            <a:spLocks noGrp="1"/>
          </p:cNvSpPr>
          <p:nvPr>
            <p:ph type="title"/>
          </p:nvPr>
        </p:nvSpPr>
        <p:spPr/>
        <p:txBody>
          <a:bodyPr/>
          <a:lstStyle/>
          <a:p>
            <a:r>
              <a:rPr lang="en-US" dirty="0"/>
              <a:t>Member Initialization Lists with Aggregation</a:t>
            </a:r>
          </a:p>
        </p:txBody>
      </p:sp>
      <p:sp>
        <p:nvSpPr>
          <p:cNvPr id="3" name="Content Placeholder 2">
            <a:extLst>
              <a:ext uri="{FF2B5EF4-FFF2-40B4-BE49-F238E27FC236}">
                <a16:creationId xmlns:a16="http://schemas.microsoft.com/office/drawing/2014/main" id="{B0FA633E-BD1A-AE4C-992D-F42C2E4ABBBE}"/>
              </a:ext>
            </a:extLst>
          </p:cNvPr>
          <p:cNvSpPr>
            <a:spLocks noGrp="1"/>
          </p:cNvSpPr>
          <p:nvPr>
            <p:ph idx="1"/>
          </p:nvPr>
        </p:nvSpPr>
        <p:spPr>
          <a:xfrm>
            <a:off x="687878" y="1958629"/>
            <a:ext cx="10816244" cy="4351338"/>
          </a:xfrm>
        </p:spPr>
        <p:txBody>
          <a:bodyPr/>
          <a:lstStyle/>
          <a:p>
            <a:r>
              <a:rPr lang="en-US" dirty="0"/>
              <a:t>To see how a member initialization list can be used when one class owns an object of another class, here is part of the definition of a Person class that owns an instance of the Date class.</a:t>
            </a:r>
            <a:endParaRPr lang="en-US" dirty="0">
              <a:effectLst/>
              <a:latin typeface="Helvetica Neue" panose="02000503000000020004" pitchFamily="2" charset="0"/>
            </a:endParaRPr>
          </a:p>
        </p:txBody>
      </p:sp>
      <p:pic>
        <p:nvPicPr>
          <p:cNvPr id="4" name="Picture 3">
            <a:extLst>
              <a:ext uri="{FF2B5EF4-FFF2-40B4-BE49-F238E27FC236}">
                <a16:creationId xmlns:a16="http://schemas.microsoft.com/office/drawing/2014/main" id="{F3E2D459-CE05-8654-8B84-5E7B1639572C}"/>
              </a:ext>
            </a:extLst>
          </p:cNvPr>
          <p:cNvPicPr>
            <a:picLocks noChangeAspect="1"/>
          </p:cNvPicPr>
          <p:nvPr/>
        </p:nvPicPr>
        <p:blipFill>
          <a:blip r:embed="rId2"/>
          <a:stretch>
            <a:fillRect/>
          </a:stretch>
        </p:blipFill>
        <p:spPr>
          <a:xfrm>
            <a:off x="6967106" y="3329998"/>
            <a:ext cx="4727785" cy="3162877"/>
          </a:xfrm>
          <a:prstGeom prst="rect">
            <a:avLst/>
          </a:prstGeom>
        </p:spPr>
      </p:pic>
      <p:pic>
        <p:nvPicPr>
          <p:cNvPr id="6" name="Picture 5">
            <a:extLst>
              <a:ext uri="{FF2B5EF4-FFF2-40B4-BE49-F238E27FC236}">
                <a16:creationId xmlns:a16="http://schemas.microsoft.com/office/drawing/2014/main" id="{88A445D4-503E-A69F-3F37-D079FF002246}"/>
              </a:ext>
            </a:extLst>
          </p:cNvPr>
          <p:cNvPicPr>
            <a:picLocks noChangeAspect="1"/>
          </p:cNvPicPr>
          <p:nvPr/>
        </p:nvPicPr>
        <p:blipFill>
          <a:blip r:embed="rId3"/>
          <a:stretch>
            <a:fillRect/>
          </a:stretch>
        </p:blipFill>
        <p:spPr>
          <a:xfrm>
            <a:off x="914400" y="3493121"/>
            <a:ext cx="5334000" cy="2908300"/>
          </a:xfrm>
          <a:prstGeom prst="rect">
            <a:avLst/>
          </a:prstGeom>
        </p:spPr>
      </p:pic>
    </p:spTree>
    <p:extLst>
      <p:ext uri="{BB962C8B-B14F-4D97-AF65-F5344CB8AC3E}">
        <p14:creationId xmlns:p14="http://schemas.microsoft.com/office/powerpoint/2010/main" val="30338879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AF72-7F08-CBC2-C393-D1E9354E9605}"/>
              </a:ext>
            </a:extLst>
          </p:cNvPr>
          <p:cNvSpPr>
            <a:spLocks noGrp="1"/>
          </p:cNvSpPr>
          <p:nvPr>
            <p:ph type="title"/>
          </p:nvPr>
        </p:nvSpPr>
        <p:spPr/>
        <p:txBody>
          <a:bodyPr/>
          <a:lstStyle/>
          <a:p>
            <a:r>
              <a:rPr lang="en-US" dirty="0"/>
              <a:t>Aggregation Through Pointers</a:t>
            </a:r>
          </a:p>
        </p:txBody>
      </p:sp>
      <p:sp>
        <p:nvSpPr>
          <p:cNvPr id="3" name="Content Placeholder 2">
            <a:extLst>
              <a:ext uri="{FF2B5EF4-FFF2-40B4-BE49-F238E27FC236}">
                <a16:creationId xmlns:a16="http://schemas.microsoft.com/office/drawing/2014/main" id="{AA184F00-B820-F268-7C2B-6BBC4F16F028}"/>
              </a:ext>
            </a:extLst>
          </p:cNvPr>
          <p:cNvSpPr>
            <a:spLocks noGrp="1"/>
          </p:cNvSpPr>
          <p:nvPr>
            <p:ph idx="1"/>
          </p:nvPr>
        </p:nvSpPr>
        <p:spPr/>
        <p:txBody>
          <a:bodyPr/>
          <a:lstStyle/>
          <a:p>
            <a:r>
              <a:rPr lang="en-US" dirty="0">
                <a:effectLst/>
              </a:rPr>
              <a:t>Now let’s suppose that, in addition to having a date of birth, each person has a country of residence. </a:t>
            </a:r>
          </a:p>
          <a:p>
            <a:r>
              <a:rPr lang="en-US" dirty="0">
                <a:effectLst/>
              </a:rPr>
              <a:t>A country has a name and possibly many other attributes:</a:t>
            </a:r>
          </a:p>
          <a:p>
            <a:pPr marL="0" indent="0">
              <a:buNone/>
            </a:pPr>
            <a:endParaRPr lang="en-US" dirty="0"/>
          </a:p>
        </p:txBody>
      </p:sp>
      <p:pic>
        <p:nvPicPr>
          <p:cNvPr id="4" name="Picture 3">
            <a:extLst>
              <a:ext uri="{FF2B5EF4-FFF2-40B4-BE49-F238E27FC236}">
                <a16:creationId xmlns:a16="http://schemas.microsoft.com/office/drawing/2014/main" id="{2B4E9D45-29F7-A3CC-62D4-D6E8816189BC}"/>
              </a:ext>
            </a:extLst>
          </p:cNvPr>
          <p:cNvPicPr>
            <a:picLocks noChangeAspect="1"/>
          </p:cNvPicPr>
          <p:nvPr/>
        </p:nvPicPr>
        <p:blipFill>
          <a:blip r:embed="rId2"/>
          <a:stretch>
            <a:fillRect/>
          </a:stretch>
        </p:blipFill>
        <p:spPr>
          <a:xfrm>
            <a:off x="4889500" y="3429000"/>
            <a:ext cx="2413000" cy="1498600"/>
          </a:xfrm>
          <a:prstGeom prst="rect">
            <a:avLst/>
          </a:prstGeom>
        </p:spPr>
      </p:pic>
    </p:spTree>
    <p:extLst>
      <p:ext uri="{BB962C8B-B14F-4D97-AF65-F5344CB8AC3E}">
        <p14:creationId xmlns:p14="http://schemas.microsoft.com/office/powerpoint/2010/main" val="2887783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1CFAF-34E3-0A1A-23F4-79DFABB67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921A8-F088-6E23-D619-E00D9CE1AA76}"/>
              </a:ext>
            </a:extLst>
          </p:cNvPr>
          <p:cNvSpPr>
            <a:spLocks noGrp="1"/>
          </p:cNvSpPr>
          <p:nvPr>
            <p:ph type="title"/>
          </p:nvPr>
        </p:nvSpPr>
        <p:spPr/>
        <p:txBody>
          <a:bodyPr/>
          <a:lstStyle/>
          <a:p>
            <a:r>
              <a:rPr lang="en-US" dirty="0"/>
              <a:t>Aggregation Through Pointers</a:t>
            </a:r>
          </a:p>
        </p:txBody>
      </p:sp>
      <p:sp>
        <p:nvSpPr>
          <p:cNvPr id="3" name="Content Placeholder 2">
            <a:extLst>
              <a:ext uri="{FF2B5EF4-FFF2-40B4-BE49-F238E27FC236}">
                <a16:creationId xmlns:a16="http://schemas.microsoft.com/office/drawing/2014/main" id="{2C1665C4-5AA9-A0B6-4507-5A18738EF214}"/>
              </a:ext>
            </a:extLst>
          </p:cNvPr>
          <p:cNvSpPr>
            <a:spLocks noGrp="1"/>
          </p:cNvSpPr>
          <p:nvPr>
            <p:ph idx="1"/>
          </p:nvPr>
        </p:nvSpPr>
        <p:spPr/>
        <p:txBody>
          <a:bodyPr>
            <a:normAutofit lnSpcReduction="10000"/>
          </a:bodyPr>
          <a:lstStyle/>
          <a:p>
            <a:r>
              <a:rPr lang="en-US" dirty="0"/>
              <a:t>Because many people will “have” the same country, the has-a relationship between Person and Country should not be implemented by embedding an instance of the Country class inside every Person object. </a:t>
            </a:r>
          </a:p>
          <a:p>
            <a:r>
              <a:rPr lang="en-US" dirty="0"/>
              <a:t>Because many people share the same country of residence, implementing the has-a relation by containment will result in unnecessary duplication of data and waste memory. </a:t>
            </a:r>
          </a:p>
          <a:p>
            <a:r>
              <a:rPr lang="en-US" dirty="0"/>
              <a:t>In addition, it would require many Person objects to be updated whenever a country has a change in any of its data. </a:t>
            </a:r>
          </a:p>
          <a:p>
            <a:r>
              <a:rPr lang="en-US" dirty="0"/>
              <a:t>Using a pointer to implement the has-a relation avoids these problems. </a:t>
            </a:r>
          </a:p>
        </p:txBody>
      </p:sp>
    </p:spTree>
    <p:extLst>
      <p:ext uri="{BB962C8B-B14F-4D97-AF65-F5344CB8AC3E}">
        <p14:creationId xmlns:p14="http://schemas.microsoft.com/office/powerpoint/2010/main" val="4274189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3899-FAE3-4D92-5736-116B71C6F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714E5-957E-7897-56AE-02F6E3F33269}"/>
              </a:ext>
            </a:extLst>
          </p:cNvPr>
          <p:cNvSpPr>
            <a:spLocks noGrp="1"/>
          </p:cNvSpPr>
          <p:nvPr>
            <p:ph type="title"/>
          </p:nvPr>
        </p:nvSpPr>
        <p:spPr/>
        <p:txBody>
          <a:bodyPr/>
          <a:lstStyle/>
          <a:p>
            <a:r>
              <a:rPr lang="en-US" dirty="0"/>
              <a:t>Aggregation Through Pointers</a:t>
            </a:r>
          </a:p>
        </p:txBody>
      </p:sp>
      <p:sp>
        <p:nvSpPr>
          <p:cNvPr id="3" name="Content Placeholder 2">
            <a:extLst>
              <a:ext uri="{FF2B5EF4-FFF2-40B4-BE49-F238E27FC236}">
                <a16:creationId xmlns:a16="http://schemas.microsoft.com/office/drawing/2014/main" id="{296FCF5E-A511-AB0A-FD50-200F503A1BB1}"/>
              </a:ext>
            </a:extLst>
          </p:cNvPr>
          <p:cNvSpPr>
            <a:spLocks noGrp="1"/>
          </p:cNvSpPr>
          <p:nvPr>
            <p:ph idx="1"/>
          </p:nvPr>
        </p:nvSpPr>
        <p:spPr/>
        <p:txBody>
          <a:bodyPr>
            <a:normAutofit/>
          </a:bodyPr>
          <a:lstStyle/>
          <a:p>
            <a:r>
              <a:rPr lang="en-US" dirty="0"/>
              <a:t>Here is a version of the Person class, modified to include a pointer to the country of residence:</a:t>
            </a:r>
          </a:p>
        </p:txBody>
      </p:sp>
      <p:pic>
        <p:nvPicPr>
          <p:cNvPr id="4" name="Picture 3">
            <a:extLst>
              <a:ext uri="{FF2B5EF4-FFF2-40B4-BE49-F238E27FC236}">
                <a16:creationId xmlns:a16="http://schemas.microsoft.com/office/drawing/2014/main" id="{73CCF565-B9DE-5F13-A240-372D6FDB1057}"/>
              </a:ext>
            </a:extLst>
          </p:cNvPr>
          <p:cNvPicPr>
            <a:picLocks noChangeAspect="1"/>
          </p:cNvPicPr>
          <p:nvPr/>
        </p:nvPicPr>
        <p:blipFill>
          <a:blip r:embed="rId2"/>
          <a:stretch>
            <a:fillRect/>
          </a:stretch>
        </p:blipFill>
        <p:spPr>
          <a:xfrm>
            <a:off x="2870200" y="2875395"/>
            <a:ext cx="6451600" cy="3517900"/>
          </a:xfrm>
          <a:prstGeom prst="rect">
            <a:avLst/>
          </a:prstGeom>
        </p:spPr>
      </p:pic>
    </p:spTree>
    <p:extLst>
      <p:ext uri="{BB962C8B-B14F-4D97-AF65-F5344CB8AC3E}">
        <p14:creationId xmlns:p14="http://schemas.microsoft.com/office/powerpoint/2010/main" val="3876495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58104-4542-47D1-03A8-5A787421C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74EB7-F88E-EFB1-CF46-EFD645DC4FB2}"/>
              </a:ext>
            </a:extLst>
          </p:cNvPr>
          <p:cNvSpPr>
            <a:spLocks noGrp="1"/>
          </p:cNvSpPr>
          <p:nvPr>
            <p:ph type="title"/>
          </p:nvPr>
        </p:nvSpPr>
        <p:spPr/>
        <p:txBody>
          <a:bodyPr/>
          <a:lstStyle/>
          <a:p>
            <a:r>
              <a:rPr lang="en-US" dirty="0"/>
              <a:t>Aggregation, Composition, and Object Lifetimes</a:t>
            </a:r>
          </a:p>
        </p:txBody>
      </p:sp>
      <p:sp>
        <p:nvSpPr>
          <p:cNvPr id="3" name="Content Placeholder 2">
            <a:extLst>
              <a:ext uri="{FF2B5EF4-FFF2-40B4-BE49-F238E27FC236}">
                <a16:creationId xmlns:a16="http://schemas.microsoft.com/office/drawing/2014/main" id="{ADBB11AD-6D74-37B1-932F-77F692183E12}"/>
              </a:ext>
            </a:extLst>
          </p:cNvPr>
          <p:cNvSpPr>
            <a:spLocks noGrp="1"/>
          </p:cNvSpPr>
          <p:nvPr>
            <p:ph idx="1"/>
          </p:nvPr>
        </p:nvSpPr>
        <p:spPr/>
        <p:txBody>
          <a:bodyPr>
            <a:normAutofit lnSpcReduction="10000"/>
          </a:bodyPr>
          <a:lstStyle/>
          <a:p>
            <a:r>
              <a:rPr lang="en-US" b="1" dirty="0">
                <a:hlinkClick r:id="rId2">
                  <a:extLst>
                    <a:ext uri="{A12FA001-AC4F-418D-AE19-62706E023703}">
                      <ahyp:hlinkClr xmlns:ahyp="http://schemas.microsoft.com/office/drawing/2018/hyperlinkcolor" val="tx"/>
                    </a:ext>
                  </a:extLst>
                </a:hlinkClick>
              </a:rPr>
              <a:t>Composition</a:t>
            </a:r>
            <a:r>
              <a:rPr lang="en-US" dirty="0"/>
              <a:t> is a term used to describe special cases of aggregation in which the lifetime of the owned object coincides with the lifetime of its owner. </a:t>
            </a:r>
          </a:p>
          <a:p>
            <a:r>
              <a:rPr lang="en-US" dirty="0"/>
              <a:t>A good example of composition is when a class C contains a member that is an object of another class D. </a:t>
            </a:r>
          </a:p>
          <a:p>
            <a:r>
              <a:rPr lang="en-US" dirty="0"/>
              <a:t>The contained D object is created at the same time that the C object is created and is destroyed when the containing C object is destroyed or goes out of scope. </a:t>
            </a:r>
          </a:p>
          <a:p>
            <a:r>
              <a:rPr lang="en-US" dirty="0"/>
              <a:t>Another example of composition is when a class C contains a pointer to a D object and the D object is created by the C constructor and destroyed by the C destructor.</a:t>
            </a:r>
          </a:p>
        </p:txBody>
      </p:sp>
    </p:spTree>
    <p:extLst>
      <p:ext uri="{BB962C8B-B14F-4D97-AF65-F5344CB8AC3E}">
        <p14:creationId xmlns:p14="http://schemas.microsoft.com/office/powerpoint/2010/main" val="2262255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A95A-0FC5-97AB-6B3D-444C480D40ED}"/>
              </a:ext>
            </a:extLst>
          </p:cNvPr>
          <p:cNvSpPr>
            <a:spLocks noGrp="1"/>
          </p:cNvSpPr>
          <p:nvPr>
            <p:ph type="title"/>
          </p:nvPr>
        </p:nvSpPr>
        <p:spPr/>
        <p:txBody>
          <a:bodyPr/>
          <a:lstStyle/>
          <a:p>
            <a:r>
              <a:rPr lang="en-US" dirty="0"/>
              <a:t>Inheritance: Generalization and Specialization</a:t>
            </a:r>
          </a:p>
        </p:txBody>
      </p:sp>
      <p:sp>
        <p:nvSpPr>
          <p:cNvPr id="3" name="Content Placeholder 2">
            <a:extLst>
              <a:ext uri="{FF2B5EF4-FFF2-40B4-BE49-F238E27FC236}">
                <a16:creationId xmlns:a16="http://schemas.microsoft.com/office/drawing/2014/main" id="{9A964CF2-BCB2-1B67-2A9C-97189D8EB417}"/>
              </a:ext>
            </a:extLst>
          </p:cNvPr>
          <p:cNvSpPr>
            <a:spLocks noGrp="1"/>
          </p:cNvSpPr>
          <p:nvPr>
            <p:ph idx="1"/>
          </p:nvPr>
        </p:nvSpPr>
        <p:spPr>
          <a:xfrm>
            <a:off x="838200" y="1825625"/>
            <a:ext cx="7620000" cy="4351338"/>
          </a:xfrm>
        </p:spPr>
        <p:txBody>
          <a:bodyPr>
            <a:normAutofit fontScale="85000" lnSpcReduction="10000"/>
          </a:bodyPr>
          <a:lstStyle/>
          <a:p>
            <a:r>
              <a:rPr lang="en-US" dirty="0"/>
              <a:t>In the real world, you can find many objects that are specialized versions of other objects. </a:t>
            </a:r>
          </a:p>
          <a:p>
            <a:r>
              <a:rPr lang="en-US" dirty="0"/>
              <a:t>For example, the term “insect” describes a very general type of creature with numerous characteristics. </a:t>
            </a:r>
          </a:p>
          <a:p>
            <a:r>
              <a:rPr lang="en-US" dirty="0"/>
              <a:t>Because grasshoppers and bumblebees are insects, they have all the general characteristics of an insect. </a:t>
            </a:r>
          </a:p>
          <a:p>
            <a:r>
              <a:rPr lang="en-US" dirty="0"/>
              <a:t>In addition, they have special characteristics of their own. </a:t>
            </a:r>
          </a:p>
          <a:p>
            <a:r>
              <a:rPr lang="en-US" dirty="0"/>
              <a:t>For example, the grasshopper has its jumping ability, and the bumblebee has its stinger. Grasshoppers and bumblebees are specialized versions of an insect.</a:t>
            </a:r>
          </a:p>
        </p:txBody>
      </p:sp>
      <p:pic>
        <p:nvPicPr>
          <p:cNvPr id="4" name="Picture 3">
            <a:extLst>
              <a:ext uri="{FF2B5EF4-FFF2-40B4-BE49-F238E27FC236}">
                <a16:creationId xmlns:a16="http://schemas.microsoft.com/office/drawing/2014/main" id="{667934E2-0E0C-3675-F53E-8B99F2F3EAD6}"/>
              </a:ext>
            </a:extLst>
          </p:cNvPr>
          <p:cNvPicPr>
            <a:picLocks noChangeAspect="1"/>
          </p:cNvPicPr>
          <p:nvPr/>
        </p:nvPicPr>
        <p:blipFill>
          <a:blip r:embed="rId2"/>
          <a:stretch>
            <a:fillRect/>
          </a:stretch>
        </p:blipFill>
        <p:spPr>
          <a:xfrm>
            <a:off x="8712200" y="2558473"/>
            <a:ext cx="3479800" cy="2260600"/>
          </a:xfrm>
          <a:prstGeom prst="rect">
            <a:avLst/>
          </a:prstGeom>
        </p:spPr>
      </p:pic>
    </p:spTree>
    <p:extLst>
      <p:ext uri="{BB962C8B-B14F-4D97-AF65-F5344CB8AC3E}">
        <p14:creationId xmlns:p14="http://schemas.microsoft.com/office/powerpoint/2010/main" val="36027854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5131-082D-2ADD-A912-22EA8017EECD}"/>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71481712-0196-C546-C48F-8EC2600E75D8}"/>
              </a:ext>
            </a:extLst>
          </p:cNvPr>
          <p:cNvSpPr>
            <a:spLocks noGrp="1"/>
          </p:cNvSpPr>
          <p:nvPr>
            <p:ph idx="1"/>
          </p:nvPr>
        </p:nvSpPr>
        <p:spPr/>
        <p:txBody>
          <a:bodyPr/>
          <a:lstStyle/>
          <a:p>
            <a:r>
              <a:rPr lang="en-US" dirty="0"/>
              <a:t>When one object is a specialized version of another object, there is an </a:t>
            </a:r>
            <a:r>
              <a:rPr lang="en-US" b="1" i="1" dirty="0">
                <a:hlinkClick r:id="rId2">
                  <a:extLst>
                    <a:ext uri="{A12FA001-AC4F-418D-AE19-62706E023703}">
                      <ahyp:hlinkClr xmlns:ahyp="http://schemas.microsoft.com/office/drawing/2018/hyperlinkcolor" val="tx"/>
                    </a:ext>
                  </a:extLst>
                </a:hlinkClick>
              </a:rPr>
              <a:t>is-a relationship</a:t>
            </a:r>
            <a:r>
              <a:rPr lang="en-US" b="1" i="1" dirty="0"/>
              <a:t> </a:t>
            </a:r>
            <a:r>
              <a:rPr lang="en-US" dirty="0"/>
              <a:t>between them. </a:t>
            </a:r>
          </a:p>
          <a:p>
            <a:r>
              <a:rPr lang="en-US" dirty="0"/>
              <a:t>For example, a grasshopper </a:t>
            </a:r>
            <a:r>
              <a:rPr lang="en-US" i="1" dirty="0">
                <a:solidFill>
                  <a:srgbClr val="FF0000"/>
                </a:solidFill>
              </a:rPr>
              <a:t>is an</a:t>
            </a:r>
            <a:r>
              <a:rPr lang="en-US" dirty="0">
                <a:solidFill>
                  <a:srgbClr val="FF0000"/>
                </a:solidFill>
              </a:rPr>
              <a:t> </a:t>
            </a:r>
            <a:r>
              <a:rPr lang="en-US" dirty="0"/>
              <a:t>insect. </a:t>
            </a:r>
          </a:p>
          <a:p>
            <a:r>
              <a:rPr lang="en-US" dirty="0">
                <a:effectLst/>
              </a:rPr>
              <a:t>When an is-a relationship exists between objects, it means that the specialized object has all of the characteristics of the general object, as well as additional characteristics that make it special.</a:t>
            </a:r>
          </a:p>
          <a:p>
            <a:r>
              <a:rPr lang="en-US" dirty="0">
                <a:effectLst/>
              </a:rPr>
              <a:t>In object-oriented programming, </a:t>
            </a:r>
            <a:r>
              <a:rPr lang="en-US" b="1" dirty="0">
                <a:effectLst/>
                <a:hlinkClick r:id="rId2">
                  <a:extLst>
                    <a:ext uri="{A12FA001-AC4F-418D-AE19-62706E023703}">
                      <ahyp:hlinkClr xmlns:ahyp="http://schemas.microsoft.com/office/drawing/2018/hyperlinkcolor" val="tx"/>
                    </a:ext>
                  </a:extLst>
                </a:hlinkClick>
              </a:rPr>
              <a:t>inheritance</a:t>
            </a:r>
            <a:r>
              <a:rPr lang="en-US" dirty="0">
                <a:effectLst/>
              </a:rPr>
              <a:t> is used to create an </a:t>
            </a:r>
            <a:r>
              <a:rPr lang="en-US" i="1" dirty="0">
                <a:solidFill>
                  <a:srgbClr val="FF0000"/>
                </a:solidFill>
                <a:effectLst/>
              </a:rPr>
              <a:t>is-a</a:t>
            </a:r>
            <a:r>
              <a:rPr lang="en-US" dirty="0">
                <a:effectLst/>
              </a:rPr>
              <a:t> relationship between classes.</a:t>
            </a:r>
          </a:p>
          <a:p>
            <a:endParaRPr lang="en-US" dirty="0"/>
          </a:p>
        </p:txBody>
      </p:sp>
    </p:spTree>
    <p:extLst>
      <p:ext uri="{BB962C8B-B14F-4D97-AF65-F5344CB8AC3E}">
        <p14:creationId xmlns:p14="http://schemas.microsoft.com/office/powerpoint/2010/main" val="32196028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C2171-C150-51BB-D353-5C1679EB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7D13B-D7DB-E0FE-9B3D-7E864FD19E77}"/>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5B69C7AA-3A12-841D-33AD-A7501CAAE315}"/>
              </a:ext>
            </a:extLst>
          </p:cNvPr>
          <p:cNvSpPr>
            <a:spLocks noGrp="1"/>
          </p:cNvSpPr>
          <p:nvPr>
            <p:ph idx="1"/>
          </p:nvPr>
        </p:nvSpPr>
        <p:spPr/>
        <p:txBody>
          <a:bodyPr/>
          <a:lstStyle/>
          <a:p>
            <a:r>
              <a:rPr lang="en-US" dirty="0"/>
              <a:t>Inheritance involves a base class and a derived class. </a:t>
            </a:r>
          </a:p>
          <a:p>
            <a:r>
              <a:rPr lang="en-US" dirty="0"/>
              <a:t>The </a:t>
            </a:r>
            <a:r>
              <a:rPr lang="en-US" i="1" u="sng" dirty="0"/>
              <a:t>base class</a:t>
            </a:r>
            <a:r>
              <a:rPr lang="en-US" u="sng" dirty="0"/>
              <a:t> </a:t>
            </a:r>
            <a:r>
              <a:rPr lang="en-US" dirty="0"/>
              <a:t>is the general class, and the </a:t>
            </a:r>
            <a:r>
              <a:rPr lang="en-US" dirty="0">
                <a:hlinkClick r:id="rId2">
                  <a:extLst>
                    <a:ext uri="{A12FA001-AC4F-418D-AE19-62706E023703}">
                      <ahyp:hlinkClr xmlns:ahyp="http://schemas.microsoft.com/office/drawing/2018/hyperlinkcolor" val="tx"/>
                    </a:ext>
                  </a:extLst>
                </a:hlinkClick>
              </a:rPr>
              <a:t>derived class</a:t>
            </a:r>
            <a:r>
              <a:rPr lang="en-US" dirty="0"/>
              <a:t> is the specialized class. </a:t>
            </a:r>
          </a:p>
          <a:p>
            <a:r>
              <a:rPr lang="en-US" dirty="0"/>
              <a:t>The derived class is based on, or derived from, the base class. </a:t>
            </a:r>
          </a:p>
          <a:p>
            <a:r>
              <a:rPr lang="en-US" dirty="0"/>
              <a:t>We can think of the base class as the parent and the derived class as the child.</a:t>
            </a:r>
          </a:p>
        </p:txBody>
      </p:sp>
      <p:pic>
        <p:nvPicPr>
          <p:cNvPr id="4" name="Picture 3">
            <a:extLst>
              <a:ext uri="{FF2B5EF4-FFF2-40B4-BE49-F238E27FC236}">
                <a16:creationId xmlns:a16="http://schemas.microsoft.com/office/drawing/2014/main" id="{FD84423E-D51A-D01B-C4DF-EB21EF0028B3}"/>
              </a:ext>
            </a:extLst>
          </p:cNvPr>
          <p:cNvPicPr>
            <a:picLocks noChangeAspect="1"/>
          </p:cNvPicPr>
          <p:nvPr/>
        </p:nvPicPr>
        <p:blipFill>
          <a:blip r:embed="rId3"/>
          <a:stretch>
            <a:fillRect/>
          </a:stretch>
        </p:blipFill>
        <p:spPr>
          <a:xfrm>
            <a:off x="3530600" y="4562475"/>
            <a:ext cx="5130800" cy="1930400"/>
          </a:xfrm>
          <a:prstGeom prst="rect">
            <a:avLst/>
          </a:prstGeom>
        </p:spPr>
      </p:pic>
    </p:spTree>
    <p:extLst>
      <p:ext uri="{BB962C8B-B14F-4D97-AF65-F5344CB8AC3E}">
        <p14:creationId xmlns:p14="http://schemas.microsoft.com/office/powerpoint/2010/main" val="1540715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C8D22-9917-5537-1252-BD77AD693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222EF-F2AF-3B4A-660A-858959C6DF3F}"/>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800C870C-6953-57CC-4787-B448F0571784}"/>
              </a:ext>
            </a:extLst>
          </p:cNvPr>
          <p:cNvSpPr>
            <a:spLocks noGrp="1"/>
          </p:cNvSpPr>
          <p:nvPr>
            <p:ph idx="1"/>
          </p:nvPr>
        </p:nvSpPr>
        <p:spPr/>
        <p:txBody>
          <a:bodyPr/>
          <a:lstStyle/>
          <a:p>
            <a:r>
              <a:rPr lang="en-US" dirty="0"/>
              <a:t>The derived class inherits the member variables and member functions of the base class without any of them being rewritten.</a:t>
            </a:r>
          </a:p>
          <a:p>
            <a:r>
              <a:rPr lang="en-US" dirty="0"/>
              <a:t>Furthermore, new member variables and functions may be added to the derived class to make it more specialized than the base class. </a:t>
            </a:r>
          </a:p>
        </p:txBody>
      </p:sp>
    </p:spTree>
    <p:extLst>
      <p:ext uri="{BB962C8B-B14F-4D97-AF65-F5344CB8AC3E}">
        <p14:creationId xmlns:p14="http://schemas.microsoft.com/office/powerpoint/2010/main" val="102864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59BAE-4680-6577-A435-30733CA10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FFA19-F555-3544-8BA1-C446998BF5B9}"/>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D542AB3E-1512-754C-D717-CAD97C9AF742}"/>
              </a:ext>
            </a:extLst>
          </p:cNvPr>
          <p:cNvSpPr>
            <a:spLocks noGrp="1"/>
          </p:cNvSpPr>
          <p:nvPr>
            <p:ph idx="1"/>
          </p:nvPr>
        </p:nvSpPr>
        <p:spPr/>
        <p:txBody>
          <a:bodyPr/>
          <a:lstStyle/>
          <a:p>
            <a:r>
              <a:rPr lang="en-US" dirty="0"/>
              <a:t>To take a specific example, consider a college or university environment where there are both students and faculty personnel.</a:t>
            </a:r>
          </a:p>
          <a:p>
            <a:r>
              <a:rPr lang="en-US" dirty="0"/>
              <a:t>Suppose that we have a </a:t>
            </a:r>
            <a:r>
              <a:rPr lang="en-US" dirty="0">
                <a:solidFill>
                  <a:srgbClr val="FF0000"/>
                </a:solidFill>
              </a:rPr>
              <a:t>class Person </a:t>
            </a:r>
            <a:r>
              <a:rPr lang="en-US" dirty="0"/>
              <a:t>with a name data member and member functions for working with the name member</a:t>
            </a:r>
          </a:p>
        </p:txBody>
      </p:sp>
      <p:pic>
        <p:nvPicPr>
          <p:cNvPr id="4" name="Picture 3">
            <a:extLst>
              <a:ext uri="{FF2B5EF4-FFF2-40B4-BE49-F238E27FC236}">
                <a16:creationId xmlns:a16="http://schemas.microsoft.com/office/drawing/2014/main" id="{990747DD-0EA1-83D3-1E73-C4B664F189C1}"/>
              </a:ext>
            </a:extLst>
          </p:cNvPr>
          <p:cNvPicPr>
            <a:picLocks noChangeAspect="1"/>
          </p:cNvPicPr>
          <p:nvPr/>
        </p:nvPicPr>
        <p:blipFill>
          <a:blip r:embed="rId2"/>
          <a:stretch>
            <a:fillRect/>
          </a:stretch>
        </p:blipFill>
        <p:spPr>
          <a:xfrm>
            <a:off x="3441700" y="3909291"/>
            <a:ext cx="5308600" cy="2717800"/>
          </a:xfrm>
          <a:prstGeom prst="rect">
            <a:avLst/>
          </a:prstGeom>
        </p:spPr>
      </p:pic>
    </p:spTree>
    <p:extLst>
      <p:ext uri="{BB962C8B-B14F-4D97-AF65-F5344CB8AC3E}">
        <p14:creationId xmlns:p14="http://schemas.microsoft.com/office/powerpoint/2010/main" val="27244504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A80B2-F014-3C63-01CF-36FE26FE8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01EE5-7836-C468-F738-C55CE553EE8F}"/>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1C70F6EA-FE43-5F87-4E5D-7F076D12CD31}"/>
              </a:ext>
            </a:extLst>
          </p:cNvPr>
          <p:cNvSpPr>
            <a:spLocks noGrp="1"/>
          </p:cNvSpPr>
          <p:nvPr>
            <p:ph idx="1"/>
          </p:nvPr>
        </p:nvSpPr>
        <p:spPr/>
        <p:txBody>
          <a:bodyPr/>
          <a:lstStyle/>
          <a:p>
            <a:r>
              <a:rPr lang="en-US" dirty="0"/>
              <a:t>Suppose further that we have the enumerated types</a:t>
            </a:r>
          </a:p>
          <a:p>
            <a:endParaRPr lang="en-US" dirty="0"/>
          </a:p>
          <a:p>
            <a:pPr marL="0" indent="0">
              <a:buNone/>
            </a:pPr>
            <a:endParaRPr lang="en-US" dirty="0"/>
          </a:p>
          <a:p>
            <a:r>
              <a:rPr lang="en-US" dirty="0"/>
              <a:t>To define the range of disciplines in which studies are offered and the classification of students. </a:t>
            </a:r>
          </a:p>
          <a:p>
            <a:r>
              <a:rPr lang="en-US" dirty="0"/>
              <a:t>We can use these types to define Student and Faculty classes that inherit from Person. </a:t>
            </a:r>
          </a:p>
          <a:p>
            <a:r>
              <a:rPr lang="en-US" dirty="0"/>
              <a:t>This makes sense because a Student is a Person and a Faculty member is also a Person.</a:t>
            </a:r>
          </a:p>
        </p:txBody>
      </p:sp>
      <p:pic>
        <p:nvPicPr>
          <p:cNvPr id="5" name="Picture 4">
            <a:extLst>
              <a:ext uri="{FF2B5EF4-FFF2-40B4-BE49-F238E27FC236}">
                <a16:creationId xmlns:a16="http://schemas.microsoft.com/office/drawing/2014/main" id="{176366D8-A933-C916-5C86-DBA3243EE1B7}"/>
              </a:ext>
            </a:extLst>
          </p:cNvPr>
          <p:cNvPicPr>
            <a:picLocks noChangeAspect="1"/>
          </p:cNvPicPr>
          <p:nvPr/>
        </p:nvPicPr>
        <p:blipFill>
          <a:blip r:embed="rId2"/>
          <a:stretch>
            <a:fillRect/>
          </a:stretch>
        </p:blipFill>
        <p:spPr>
          <a:xfrm>
            <a:off x="3022600" y="2387023"/>
            <a:ext cx="6146800" cy="546100"/>
          </a:xfrm>
          <a:prstGeom prst="rect">
            <a:avLst/>
          </a:prstGeom>
        </p:spPr>
      </p:pic>
    </p:spTree>
    <p:extLst>
      <p:ext uri="{BB962C8B-B14F-4D97-AF65-F5344CB8AC3E}">
        <p14:creationId xmlns:p14="http://schemas.microsoft.com/office/powerpoint/2010/main" val="527130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3DB7-719C-3795-E181-91F6C6617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870F9-FBE6-8340-2FEC-8E7920670D15}"/>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25DD919F-4CB3-2B89-D4E3-80C9D899AD27}"/>
              </a:ext>
            </a:extLst>
          </p:cNvPr>
          <p:cNvSpPr>
            <a:spLocks noGrp="1"/>
          </p:cNvSpPr>
          <p:nvPr>
            <p:ph idx="1"/>
          </p:nvPr>
        </p:nvSpPr>
        <p:spPr/>
        <p:txBody>
          <a:bodyPr/>
          <a:lstStyle/>
          <a:p>
            <a:r>
              <a:rPr lang="en-US" dirty="0"/>
              <a:t>To define a class by inheritance, we need to specify the base class plus the additional members the derived class adds to the base class. </a:t>
            </a:r>
          </a:p>
          <a:p>
            <a:r>
              <a:rPr lang="en-US" dirty="0"/>
              <a:t>Let’s say that in addition to having all the characteristics of a Person, a Student must declare a major in some discipline and have an academic advisor who is a Person.</a:t>
            </a:r>
          </a:p>
        </p:txBody>
      </p:sp>
    </p:spTree>
    <p:extLst>
      <p:ext uri="{BB962C8B-B14F-4D97-AF65-F5344CB8AC3E}">
        <p14:creationId xmlns:p14="http://schemas.microsoft.com/office/powerpoint/2010/main" val="35098143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9BA6B-86EA-D6FD-318F-35CBB8314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B3F0C0-0597-E467-9FDF-687C2509A62E}"/>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7C57808D-11CE-DC3F-995A-29DF7EB7EDA6}"/>
              </a:ext>
            </a:extLst>
          </p:cNvPr>
          <p:cNvSpPr>
            <a:spLocks noGrp="1"/>
          </p:cNvSpPr>
          <p:nvPr>
            <p:ph idx="1"/>
          </p:nvPr>
        </p:nvSpPr>
        <p:spPr/>
        <p:txBody>
          <a:bodyPr>
            <a:normAutofit fontScale="92500" lnSpcReduction="20000"/>
          </a:bodyPr>
          <a:lstStyle/>
          <a:p>
            <a:r>
              <a:rPr lang="en-US" dirty="0"/>
              <a:t>The Student class can be defined as follows:</a:t>
            </a:r>
          </a:p>
          <a:p>
            <a:endParaRPr lang="en-US" dirty="0"/>
          </a:p>
          <a:p>
            <a:endParaRPr lang="en-US" dirty="0"/>
          </a:p>
          <a:p>
            <a:endParaRPr lang="en-US" dirty="0"/>
          </a:p>
          <a:p>
            <a:endParaRPr lang="en-US" dirty="0"/>
          </a:p>
          <a:p>
            <a:endParaRPr lang="en-US" dirty="0"/>
          </a:p>
          <a:p>
            <a:endParaRPr lang="en-US" dirty="0"/>
          </a:p>
          <a:p>
            <a:endParaRPr lang="en-US" dirty="0"/>
          </a:p>
          <a:p>
            <a:r>
              <a:rPr lang="en-US" dirty="0"/>
              <a:t>We assume that many different students may have the same advisor.</a:t>
            </a:r>
          </a:p>
          <a:p>
            <a:r>
              <a:rPr lang="en-US" dirty="0"/>
              <a:t>The Student object stores a shared smart pointer to the advisor to avoid memory management problems.</a:t>
            </a:r>
          </a:p>
        </p:txBody>
      </p:sp>
      <p:pic>
        <p:nvPicPr>
          <p:cNvPr id="4" name="Picture 3">
            <a:extLst>
              <a:ext uri="{FF2B5EF4-FFF2-40B4-BE49-F238E27FC236}">
                <a16:creationId xmlns:a16="http://schemas.microsoft.com/office/drawing/2014/main" id="{5F5C91B3-0143-F7B2-EC0B-A7567D66B5EC}"/>
              </a:ext>
            </a:extLst>
          </p:cNvPr>
          <p:cNvPicPr>
            <a:picLocks noChangeAspect="1"/>
          </p:cNvPicPr>
          <p:nvPr/>
        </p:nvPicPr>
        <p:blipFill>
          <a:blip r:embed="rId3"/>
          <a:stretch>
            <a:fillRect/>
          </a:stretch>
        </p:blipFill>
        <p:spPr>
          <a:xfrm>
            <a:off x="3571297" y="2285423"/>
            <a:ext cx="5049405" cy="2478045"/>
          </a:xfrm>
          <a:prstGeom prst="rect">
            <a:avLst/>
          </a:prstGeom>
        </p:spPr>
      </p:pic>
    </p:spTree>
    <p:extLst>
      <p:ext uri="{BB962C8B-B14F-4D97-AF65-F5344CB8AC3E}">
        <p14:creationId xmlns:p14="http://schemas.microsoft.com/office/powerpoint/2010/main" val="15987381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22459-0E01-EE32-EAC9-1A376AE17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B5658-47E8-5D16-C228-BBFE7AB31751}"/>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4B55CA2C-B000-CCE8-7D15-0626C161EFC5}"/>
              </a:ext>
            </a:extLst>
          </p:cNvPr>
          <p:cNvSpPr>
            <a:spLocks noGrp="1"/>
          </p:cNvSpPr>
          <p:nvPr>
            <p:ph idx="1"/>
          </p:nvPr>
        </p:nvSpPr>
        <p:spPr>
          <a:xfrm>
            <a:off x="166255" y="1825625"/>
            <a:ext cx="6785263" cy="4667250"/>
          </a:xfrm>
        </p:spPr>
        <p:txBody>
          <a:bodyPr>
            <a:normAutofit lnSpcReduction="10000"/>
          </a:bodyPr>
          <a:lstStyle/>
          <a:p>
            <a:r>
              <a:rPr lang="en-US" dirty="0"/>
              <a:t>The first part of the first line of the class declaration specifies Student as the name of the class being defined and specifies the existing class Person as its base class.</a:t>
            </a:r>
          </a:p>
          <a:p>
            <a:r>
              <a:rPr lang="en-US" dirty="0">
                <a:effectLst/>
              </a:rPr>
              <a:t>The key word public that precedes the name of the base class is the </a:t>
            </a:r>
            <a:r>
              <a:rPr lang="en-US" dirty="0">
                <a:solidFill>
                  <a:srgbClr val="FF0000"/>
                </a:solidFill>
                <a:effectLst/>
                <a:hlinkClick r:id="rId2">
                  <a:extLst>
                    <a:ext uri="{A12FA001-AC4F-418D-AE19-62706E023703}">
                      <ahyp:hlinkClr xmlns:ahyp="http://schemas.microsoft.com/office/drawing/2018/hyperlinkcolor" val="tx"/>
                    </a:ext>
                  </a:extLst>
                </a:hlinkClick>
              </a:rPr>
              <a:t>base class access specification</a:t>
            </a:r>
            <a:r>
              <a:rPr lang="en-US" dirty="0">
                <a:effectLst/>
              </a:rPr>
              <a:t>. </a:t>
            </a:r>
          </a:p>
          <a:p>
            <a:r>
              <a:rPr lang="en-US" dirty="0">
                <a:effectLst/>
              </a:rPr>
              <a:t>It affects how the members of the base class will be accessed by the </a:t>
            </a:r>
            <a:r>
              <a:rPr lang="en-US" dirty="0"/>
              <a:t>member functions of the derived class and by code outside of the two classes.</a:t>
            </a:r>
            <a:endParaRPr lang="en-US" dirty="0">
              <a:effectLst/>
            </a:endParaRPr>
          </a:p>
          <a:p>
            <a:endParaRPr lang="en-US" dirty="0"/>
          </a:p>
        </p:txBody>
      </p:sp>
      <p:pic>
        <p:nvPicPr>
          <p:cNvPr id="4" name="Picture 3">
            <a:extLst>
              <a:ext uri="{FF2B5EF4-FFF2-40B4-BE49-F238E27FC236}">
                <a16:creationId xmlns:a16="http://schemas.microsoft.com/office/drawing/2014/main" id="{3A8007A6-4A77-0C16-983C-0542F6B07258}"/>
              </a:ext>
            </a:extLst>
          </p:cNvPr>
          <p:cNvPicPr>
            <a:picLocks noChangeAspect="1"/>
          </p:cNvPicPr>
          <p:nvPr/>
        </p:nvPicPr>
        <p:blipFill>
          <a:blip r:embed="rId3"/>
          <a:stretch>
            <a:fillRect/>
          </a:stretch>
        </p:blipFill>
        <p:spPr>
          <a:xfrm>
            <a:off x="7062642" y="1825625"/>
            <a:ext cx="5049405" cy="2478045"/>
          </a:xfrm>
          <a:prstGeom prst="rect">
            <a:avLst/>
          </a:prstGeom>
        </p:spPr>
      </p:pic>
      <p:pic>
        <p:nvPicPr>
          <p:cNvPr id="5" name="Picture 4">
            <a:extLst>
              <a:ext uri="{FF2B5EF4-FFF2-40B4-BE49-F238E27FC236}">
                <a16:creationId xmlns:a16="http://schemas.microsoft.com/office/drawing/2014/main" id="{AA4DE941-B64F-C3ED-31CC-D59344116483}"/>
              </a:ext>
            </a:extLst>
          </p:cNvPr>
          <p:cNvPicPr>
            <a:picLocks noChangeAspect="1"/>
          </p:cNvPicPr>
          <p:nvPr/>
        </p:nvPicPr>
        <p:blipFill>
          <a:blip r:embed="rId4"/>
          <a:stretch>
            <a:fillRect/>
          </a:stretch>
        </p:blipFill>
        <p:spPr>
          <a:xfrm>
            <a:off x="7866494" y="4934527"/>
            <a:ext cx="3441700" cy="1041400"/>
          </a:xfrm>
          <a:prstGeom prst="rect">
            <a:avLst/>
          </a:prstGeom>
        </p:spPr>
      </p:pic>
    </p:spTree>
    <p:extLst>
      <p:ext uri="{BB962C8B-B14F-4D97-AF65-F5344CB8AC3E}">
        <p14:creationId xmlns:p14="http://schemas.microsoft.com/office/powerpoint/2010/main" val="179740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BF356-F1FC-1B0F-1982-241F4763A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679B9-F060-1DA8-A92B-493C11F1C356}"/>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58C8FD3D-8A98-6E1E-D517-57DE2FCE66C9}"/>
              </a:ext>
            </a:extLst>
          </p:cNvPr>
          <p:cNvSpPr>
            <a:spLocks noGrp="1"/>
          </p:cNvSpPr>
          <p:nvPr>
            <p:ph idx="1"/>
          </p:nvPr>
        </p:nvSpPr>
        <p:spPr>
          <a:xfrm>
            <a:off x="914400" y="1617807"/>
            <a:ext cx="11087100" cy="4667250"/>
          </a:xfrm>
        </p:spPr>
        <p:txBody>
          <a:bodyPr>
            <a:normAutofit lnSpcReduction="10000"/>
          </a:bodyPr>
          <a:lstStyle/>
          <a:p>
            <a:r>
              <a:rPr lang="en-US" dirty="0"/>
              <a:t>A class can be used as the base class for more than one derived class. </a:t>
            </a:r>
          </a:p>
          <a:p>
            <a:r>
              <a:rPr lang="en-US" dirty="0"/>
              <a:t>A Faculty class can also be derived from the Person class as follows:</a:t>
            </a:r>
          </a:p>
          <a:p>
            <a:endParaRPr lang="en-US" dirty="0"/>
          </a:p>
          <a:p>
            <a:endParaRPr lang="en-US" dirty="0"/>
          </a:p>
          <a:p>
            <a:endParaRPr lang="en-US" dirty="0"/>
          </a:p>
          <a:p>
            <a:endParaRPr lang="en-US" dirty="0"/>
          </a:p>
          <a:p>
            <a:endParaRPr lang="en-US" dirty="0"/>
          </a:p>
          <a:p>
            <a:r>
              <a:rPr lang="en-US" dirty="0"/>
              <a:t>Thus, a Faculty object is a Person object that has a home department in some discipline. </a:t>
            </a:r>
          </a:p>
        </p:txBody>
      </p:sp>
      <p:pic>
        <p:nvPicPr>
          <p:cNvPr id="6" name="Picture 5">
            <a:extLst>
              <a:ext uri="{FF2B5EF4-FFF2-40B4-BE49-F238E27FC236}">
                <a16:creationId xmlns:a16="http://schemas.microsoft.com/office/drawing/2014/main" id="{BE782389-E9FD-FBDB-B576-7BAB173DD2C0}"/>
              </a:ext>
            </a:extLst>
          </p:cNvPr>
          <p:cNvPicPr>
            <a:picLocks noChangeAspect="1"/>
          </p:cNvPicPr>
          <p:nvPr/>
        </p:nvPicPr>
        <p:blipFill>
          <a:blip r:embed="rId2"/>
          <a:stretch>
            <a:fillRect/>
          </a:stretch>
        </p:blipFill>
        <p:spPr>
          <a:xfrm>
            <a:off x="3925166" y="3045259"/>
            <a:ext cx="5065568" cy="2035173"/>
          </a:xfrm>
          <a:prstGeom prst="rect">
            <a:avLst/>
          </a:prstGeom>
        </p:spPr>
      </p:pic>
    </p:spTree>
    <p:extLst>
      <p:ext uri="{BB962C8B-B14F-4D97-AF65-F5344CB8AC3E}">
        <p14:creationId xmlns:p14="http://schemas.microsoft.com/office/powerpoint/2010/main" val="38959608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8649D-F69E-80F8-23F5-68B2AE4DA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C4FB7-8321-022D-9D74-E9FE6352509B}"/>
              </a:ext>
            </a:extLst>
          </p:cNvPr>
          <p:cNvSpPr>
            <a:spLocks noGrp="1"/>
          </p:cNvSpPr>
          <p:nvPr>
            <p:ph type="title"/>
          </p:nvPr>
        </p:nvSpPr>
        <p:spPr/>
        <p:txBody>
          <a:bodyPr/>
          <a:lstStyle/>
          <a:p>
            <a:r>
              <a:rPr lang="en-US" dirty="0"/>
              <a:t>Inheritance and the Is-a Relationship</a:t>
            </a:r>
          </a:p>
        </p:txBody>
      </p:sp>
      <p:sp>
        <p:nvSpPr>
          <p:cNvPr id="3" name="Content Placeholder 2">
            <a:extLst>
              <a:ext uri="{FF2B5EF4-FFF2-40B4-BE49-F238E27FC236}">
                <a16:creationId xmlns:a16="http://schemas.microsoft.com/office/drawing/2014/main" id="{3F8A842A-7CC0-B05E-977B-C3820B099EB6}"/>
              </a:ext>
            </a:extLst>
          </p:cNvPr>
          <p:cNvSpPr>
            <a:spLocks noGrp="1"/>
          </p:cNvSpPr>
          <p:nvPr>
            <p:ph idx="1"/>
          </p:nvPr>
        </p:nvSpPr>
        <p:spPr>
          <a:xfrm>
            <a:off x="914400" y="1617807"/>
            <a:ext cx="11087100" cy="4667250"/>
          </a:xfrm>
        </p:spPr>
        <p:txBody>
          <a:bodyPr>
            <a:normAutofit/>
          </a:bodyPr>
          <a:lstStyle/>
          <a:p>
            <a:r>
              <a:rPr lang="en-US" dirty="0"/>
              <a:t>It is also important to note that each object of the derived class will contain all members of the base class.</a:t>
            </a:r>
          </a:p>
          <a:p>
            <a:endParaRPr lang="en-US" dirty="0"/>
          </a:p>
        </p:txBody>
      </p:sp>
      <p:pic>
        <p:nvPicPr>
          <p:cNvPr id="4" name="Picture 3">
            <a:extLst>
              <a:ext uri="{FF2B5EF4-FFF2-40B4-BE49-F238E27FC236}">
                <a16:creationId xmlns:a16="http://schemas.microsoft.com/office/drawing/2014/main" id="{F8F41E97-B8FE-8A5B-CD7E-F058B2B3EE16}"/>
              </a:ext>
            </a:extLst>
          </p:cNvPr>
          <p:cNvPicPr>
            <a:picLocks noChangeAspect="1"/>
          </p:cNvPicPr>
          <p:nvPr/>
        </p:nvPicPr>
        <p:blipFill>
          <a:blip r:embed="rId2"/>
          <a:stretch>
            <a:fillRect/>
          </a:stretch>
        </p:blipFill>
        <p:spPr>
          <a:xfrm>
            <a:off x="2717800" y="2943370"/>
            <a:ext cx="6756400" cy="3213100"/>
          </a:xfrm>
          <a:prstGeom prst="rect">
            <a:avLst/>
          </a:prstGeom>
        </p:spPr>
      </p:pic>
    </p:spTree>
    <p:extLst>
      <p:ext uri="{BB962C8B-B14F-4D97-AF65-F5344CB8AC3E}">
        <p14:creationId xmlns:p14="http://schemas.microsoft.com/office/powerpoint/2010/main" val="24209648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8D7C-14AA-9F3C-7986-CDA77FFEDD91}"/>
              </a:ext>
            </a:extLst>
          </p:cNvPr>
          <p:cNvSpPr>
            <a:spLocks noGrp="1"/>
          </p:cNvSpPr>
          <p:nvPr>
            <p:ph type="title"/>
          </p:nvPr>
        </p:nvSpPr>
        <p:spPr/>
        <p:txBody>
          <a:bodyPr/>
          <a:lstStyle/>
          <a:p>
            <a:r>
              <a:rPr lang="en-US" dirty="0"/>
              <a:t>Inheritance and Pointers</a:t>
            </a:r>
          </a:p>
        </p:txBody>
      </p:sp>
      <p:sp>
        <p:nvSpPr>
          <p:cNvPr id="3" name="Content Placeholder 2">
            <a:extLst>
              <a:ext uri="{FF2B5EF4-FFF2-40B4-BE49-F238E27FC236}">
                <a16:creationId xmlns:a16="http://schemas.microsoft.com/office/drawing/2014/main" id="{B8436E7B-55E3-FCD8-2362-016B62DC7509}"/>
              </a:ext>
            </a:extLst>
          </p:cNvPr>
          <p:cNvSpPr>
            <a:spLocks noGrp="1"/>
          </p:cNvSpPr>
          <p:nvPr>
            <p:ph idx="1"/>
          </p:nvPr>
        </p:nvSpPr>
        <p:spPr/>
        <p:txBody>
          <a:bodyPr/>
          <a:lstStyle/>
          <a:p>
            <a:r>
              <a:rPr lang="en-US" dirty="0"/>
              <a:t>Whenever inheritance is involved, all objects should be dynamically allocated and accessed through pointers. </a:t>
            </a:r>
          </a:p>
          <a:p>
            <a:r>
              <a:rPr lang="en-US" dirty="0"/>
              <a:t>To see why, consider a program that works with both Student and Person types. </a:t>
            </a:r>
          </a:p>
          <a:p>
            <a:r>
              <a:rPr lang="en-US" dirty="0"/>
              <a:t>Because a Student is a Person, we should be able to pass Student objects to functions that expect a parameter of type Person or assign a Student object to a variable of type Person.</a:t>
            </a:r>
          </a:p>
          <a:p>
            <a:pPr lvl="1"/>
            <a:r>
              <a:rPr lang="en-US" dirty="0">
                <a:solidFill>
                  <a:srgbClr val="FF0000"/>
                </a:solidFill>
              </a:rPr>
              <a:t>Person p; </a:t>
            </a:r>
          </a:p>
          <a:p>
            <a:pPr lvl="1"/>
            <a:r>
              <a:rPr lang="en-US" dirty="0">
                <a:solidFill>
                  <a:srgbClr val="FF0000"/>
                </a:solidFill>
              </a:rPr>
              <a:t>Student s; </a:t>
            </a:r>
          </a:p>
          <a:p>
            <a:pPr lvl="1"/>
            <a:r>
              <a:rPr lang="en-US" dirty="0">
                <a:solidFill>
                  <a:srgbClr val="FF0000"/>
                </a:solidFill>
              </a:rPr>
              <a:t>p = s; </a:t>
            </a:r>
          </a:p>
        </p:txBody>
      </p:sp>
    </p:spTree>
    <p:extLst>
      <p:ext uri="{BB962C8B-B14F-4D97-AF65-F5344CB8AC3E}">
        <p14:creationId xmlns:p14="http://schemas.microsoft.com/office/powerpoint/2010/main" val="40642809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67E4D-70BF-58A1-DFAE-1CD0FB80C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569D5-B3EA-A0E8-DA4F-184C2A5C458F}"/>
              </a:ext>
            </a:extLst>
          </p:cNvPr>
          <p:cNvSpPr>
            <a:spLocks noGrp="1"/>
          </p:cNvSpPr>
          <p:nvPr>
            <p:ph type="title"/>
          </p:nvPr>
        </p:nvSpPr>
        <p:spPr/>
        <p:txBody>
          <a:bodyPr/>
          <a:lstStyle/>
          <a:p>
            <a:r>
              <a:rPr lang="en-US" dirty="0"/>
              <a:t>Inheritance and Pointers</a:t>
            </a:r>
          </a:p>
        </p:txBody>
      </p:sp>
      <p:sp>
        <p:nvSpPr>
          <p:cNvPr id="3" name="Content Placeholder 2">
            <a:extLst>
              <a:ext uri="{FF2B5EF4-FFF2-40B4-BE49-F238E27FC236}">
                <a16:creationId xmlns:a16="http://schemas.microsoft.com/office/drawing/2014/main" id="{7C94234F-A112-4B39-AAFB-3C882D49D4CD}"/>
              </a:ext>
            </a:extLst>
          </p:cNvPr>
          <p:cNvSpPr>
            <a:spLocks noGrp="1"/>
          </p:cNvSpPr>
          <p:nvPr>
            <p:ph idx="1"/>
          </p:nvPr>
        </p:nvSpPr>
        <p:spPr/>
        <p:txBody>
          <a:bodyPr/>
          <a:lstStyle/>
          <a:p>
            <a:r>
              <a:rPr lang="en-US" dirty="0"/>
              <a:t>However, a Student object, with its additional members, will not fit in a memory location allocated for a Person object. </a:t>
            </a:r>
          </a:p>
          <a:p>
            <a:r>
              <a:rPr lang="en-US" dirty="0"/>
              <a:t>To carry out such an assignment, the compiler will slice off the Student parts that do not belong to Person, leaving only the inherited parts and resulting in loss of information. </a:t>
            </a:r>
          </a:p>
          <a:p>
            <a:r>
              <a:rPr lang="en-US" dirty="0"/>
              <a:t>This does not occur if we are dealing with pointers because all pointers have the same size.</a:t>
            </a:r>
            <a:endParaRPr lang="en-US" dirty="0">
              <a:solidFill>
                <a:srgbClr val="FF0000"/>
              </a:solidFill>
            </a:endParaRPr>
          </a:p>
        </p:txBody>
      </p:sp>
    </p:spTree>
    <p:extLst>
      <p:ext uri="{BB962C8B-B14F-4D97-AF65-F5344CB8AC3E}">
        <p14:creationId xmlns:p14="http://schemas.microsoft.com/office/powerpoint/2010/main" val="19660175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848D-5EF0-831D-66F4-9E281281D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82A7B-865F-8FDC-843D-4BD664952911}"/>
              </a:ext>
            </a:extLst>
          </p:cNvPr>
          <p:cNvSpPr>
            <a:spLocks noGrp="1"/>
          </p:cNvSpPr>
          <p:nvPr>
            <p:ph type="title"/>
          </p:nvPr>
        </p:nvSpPr>
        <p:spPr/>
        <p:txBody>
          <a:bodyPr/>
          <a:lstStyle/>
          <a:p>
            <a:r>
              <a:rPr lang="en-US" dirty="0"/>
              <a:t>Inheritance and Pointers</a:t>
            </a:r>
          </a:p>
        </p:txBody>
      </p:sp>
      <p:sp>
        <p:nvSpPr>
          <p:cNvPr id="3" name="Content Placeholder 2">
            <a:extLst>
              <a:ext uri="{FF2B5EF4-FFF2-40B4-BE49-F238E27FC236}">
                <a16:creationId xmlns:a16="http://schemas.microsoft.com/office/drawing/2014/main" id="{B7242941-D527-A226-BDA8-8AA29DD2A113}"/>
              </a:ext>
            </a:extLst>
          </p:cNvPr>
          <p:cNvSpPr>
            <a:spLocks noGrp="1"/>
          </p:cNvSpPr>
          <p:nvPr>
            <p:ph idx="1"/>
          </p:nvPr>
        </p:nvSpPr>
        <p:spPr>
          <a:xfrm>
            <a:off x="124691" y="1825625"/>
            <a:ext cx="7273635" cy="4667250"/>
          </a:xfrm>
        </p:spPr>
        <p:txBody>
          <a:bodyPr>
            <a:normAutofit/>
          </a:bodyPr>
          <a:lstStyle/>
          <a:p>
            <a:r>
              <a:rPr lang="en-US" dirty="0">
                <a:effectLst/>
              </a:rPr>
              <a:t>This example demonstrates the creation and use of an object of a derived class by creating a Faculty object. </a:t>
            </a:r>
          </a:p>
          <a:p>
            <a:r>
              <a:rPr lang="en-US" dirty="0">
                <a:effectLst/>
              </a:rPr>
              <a:t>The program uses arrays of strings that map values of enumerated types to strings to enable printing of values of enumerated types in the form of strings. </a:t>
            </a:r>
          </a:p>
          <a:p>
            <a:r>
              <a:rPr lang="en-US" dirty="0">
                <a:effectLst/>
              </a:rPr>
              <a:t>The included “</a:t>
            </a:r>
            <a:r>
              <a:rPr lang="en-US" dirty="0" err="1">
                <a:effectLst/>
              </a:rPr>
              <a:t>inheritance.h</a:t>
            </a:r>
            <a:r>
              <a:rPr lang="en-US" dirty="0">
                <a:effectLst/>
              </a:rPr>
              <a:t>” file contains declarations of the Person, Student, and Faculty classes, as well as the enumerated types Discipline and Classification.</a:t>
            </a:r>
          </a:p>
          <a:p>
            <a:endParaRPr lang="en-US" dirty="0">
              <a:solidFill>
                <a:srgbClr val="FF0000"/>
              </a:solidFill>
            </a:endParaRPr>
          </a:p>
        </p:txBody>
      </p:sp>
      <p:pic>
        <p:nvPicPr>
          <p:cNvPr id="4" name="Picture 3">
            <a:extLst>
              <a:ext uri="{FF2B5EF4-FFF2-40B4-BE49-F238E27FC236}">
                <a16:creationId xmlns:a16="http://schemas.microsoft.com/office/drawing/2014/main" id="{007C032B-C367-3B33-DA6A-9BE6BC7772BC}"/>
              </a:ext>
            </a:extLst>
          </p:cNvPr>
          <p:cNvPicPr>
            <a:picLocks noChangeAspect="1"/>
          </p:cNvPicPr>
          <p:nvPr/>
        </p:nvPicPr>
        <p:blipFill>
          <a:blip r:embed="rId2"/>
          <a:stretch>
            <a:fillRect/>
          </a:stretch>
        </p:blipFill>
        <p:spPr>
          <a:xfrm>
            <a:off x="7741003" y="0"/>
            <a:ext cx="4233011" cy="6858000"/>
          </a:xfrm>
          <a:prstGeom prst="rect">
            <a:avLst/>
          </a:prstGeom>
        </p:spPr>
      </p:pic>
    </p:spTree>
    <p:extLst>
      <p:ext uri="{BB962C8B-B14F-4D97-AF65-F5344CB8AC3E}">
        <p14:creationId xmlns:p14="http://schemas.microsoft.com/office/powerpoint/2010/main" val="9642252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CE9FD-774A-9966-BAF3-1B55C0B92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1FA3B-0EDF-A6A1-80D8-E806A5C7C138}"/>
              </a:ext>
            </a:extLst>
          </p:cNvPr>
          <p:cNvSpPr>
            <a:spLocks noGrp="1"/>
          </p:cNvSpPr>
          <p:nvPr>
            <p:ph type="title"/>
          </p:nvPr>
        </p:nvSpPr>
        <p:spPr/>
        <p:txBody>
          <a:bodyPr/>
          <a:lstStyle/>
          <a:p>
            <a:r>
              <a:rPr lang="en-US" dirty="0"/>
              <a:t>Inheritance and Pointers</a:t>
            </a:r>
          </a:p>
        </p:txBody>
      </p:sp>
      <p:pic>
        <p:nvPicPr>
          <p:cNvPr id="7" name="Picture 6">
            <a:extLst>
              <a:ext uri="{FF2B5EF4-FFF2-40B4-BE49-F238E27FC236}">
                <a16:creationId xmlns:a16="http://schemas.microsoft.com/office/drawing/2014/main" id="{5671F3EB-CE7E-9786-EB2F-B52CD3175D2B}"/>
              </a:ext>
            </a:extLst>
          </p:cNvPr>
          <p:cNvPicPr>
            <a:picLocks noChangeAspect="1"/>
          </p:cNvPicPr>
          <p:nvPr/>
        </p:nvPicPr>
        <p:blipFill>
          <a:blip r:embed="rId2"/>
          <a:stretch>
            <a:fillRect/>
          </a:stretch>
        </p:blipFill>
        <p:spPr>
          <a:xfrm>
            <a:off x="7365331" y="0"/>
            <a:ext cx="4090737" cy="6858000"/>
          </a:xfrm>
          <a:prstGeom prst="rect">
            <a:avLst/>
          </a:prstGeom>
        </p:spPr>
      </p:pic>
      <p:pic>
        <p:nvPicPr>
          <p:cNvPr id="8" name="Picture 7">
            <a:extLst>
              <a:ext uri="{FF2B5EF4-FFF2-40B4-BE49-F238E27FC236}">
                <a16:creationId xmlns:a16="http://schemas.microsoft.com/office/drawing/2014/main" id="{B86CC735-2FB2-C775-6A59-D8628B0D0BF0}"/>
              </a:ext>
            </a:extLst>
          </p:cNvPr>
          <p:cNvPicPr>
            <a:picLocks noChangeAspect="1"/>
          </p:cNvPicPr>
          <p:nvPr/>
        </p:nvPicPr>
        <p:blipFill>
          <a:blip r:embed="rId3"/>
          <a:stretch>
            <a:fillRect/>
          </a:stretch>
        </p:blipFill>
        <p:spPr>
          <a:xfrm>
            <a:off x="1073150" y="3002972"/>
            <a:ext cx="5138175" cy="1504373"/>
          </a:xfrm>
          <a:prstGeom prst="rect">
            <a:avLst/>
          </a:prstGeom>
        </p:spPr>
      </p:pic>
    </p:spTree>
    <p:extLst>
      <p:ext uri="{BB962C8B-B14F-4D97-AF65-F5344CB8AC3E}">
        <p14:creationId xmlns:p14="http://schemas.microsoft.com/office/powerpoint/2010/main" val="34856057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91F69-BDB7-E6D1-8277-131788D9BE76}"/>
              </a:ext>
            </a:extLst>
          </p:cNvPr>
          <p:cNvSpPr>
            <a:spLocks noGrp="1"/>
          </p:cNvSpPr>
          <p:nvPr>
            <p:ph type="title"/>
          </p:nvPr>
        </p:nvSpPr>
        <p:spPr/>
        <p:txBody>
          <a:bodyPr/>
          <a:lstStyle/>
          <a:p>
            <a:r>
              <a:rPr lang="en-US" dirty="0" err="1"/>
              <a:t>Superclasses</a:t>
            </a:r>
            <a:r>
              <a:rPr lang="en-US" dirty="0"/>
              <a:t> and Subclasses</a:t>
            </a:r>
          </a:p>
        </p:txBody>
      </p:sp>
      <p:sp>
        <p:nvSpPr>
          <p:cNvPr id="3" name="Content Placeholder 2">
            <a:extLst>
              <a:ext uri="{FF2B5EF4-FFF2-40B4-BE49-F238E27FC236}">
                <a16:creationId xmlns:a16="http://schemas.microsoft.com/office/drawing/2014/main" id="{A23E720E-4C7E-275E-4E55-53FEB7922FF0}"/>
              </a:ext>
            </a:extLst>
          </p:cNvPr>
          <p:cNvSpPr>
            <a:spLocks noGrp="1"/>
          </p:cNvSpPr>
          <p:nvPr>
            <p:ph idx="1"/>
          </p:nvPr>
        </p:nvSpPr>
        <p:spPr/>
        <p:txBody>
          <a:bodyPr/>
          <a:lstStyle/>
          <a:p>
            <a:r>
              <a:rPr lang="en-US" dirty="0"/>
              <a:t>We can think of a class as describing the set of all objects that have certain characteristics. </a:t>
            </a:r>
          </a:p>
          <a:p>
            <a:r>
              <a:rPr lang="en-US" dirty="0"/>
              <a:t>An object of a derived class inherits all the characteristics of the base class, so it can be regarded as belonging to the base class.</a:t>
            </a:r>
          </a:p>
          <a:p>
            <a:r>
              <a:rPr lang="en-US" dirty="0"/>
              <a:t>Thus, objects of the derived class are just specialized objects of the base class. </a:t>
            </a:r>
          </a:p>
          <a:p>
            <a:r>
              <a:rPr lang="en-US" dirty="0"/>
              <a:t>For this reason, the derived class is often called a</a:t>
            </a:r>
            <a:r>
              <a:rPr lang="en-US" dirty="0">
                <a:solidFill>
                  <a:srgbClr val="FF0000"/>
                </a:solidFill>
              </a:rPr>
              <a:t> </a:t>
            </a:r>
            <a:r>
              <a:rPr lang="en-US" dirty="0">
                <a:solidFill>
                  <a:srgbClr val="FF0000"/>
                </a:solidFill>
                <a:hlinkClick r:id="rId2">
                  <a:extLst>
                    <a:ext uri="{A12FA001-AC4F-418D-AE19-62706E023703}">
                      <ahyp:hlinkClr xmlns:ahyp="http://schemas.microsoft.com/office/drawing/2018/hyperlinkcolor" val="tx"/>
                    </a:ext>
                  </a:extLst>
                </a:hlinkClick>
              </a:rPr>
              <a:t>subclass</a:t>
            </a:r>
            <a:r>
              <a:rPr lang="en-US" dirty="0">
                <a:solidFill>
                  <a:srgbClr val="FF0000"/>
                </a:solidFill>
              </a:rPr>
              <a:t> </a:t>
            </a:r>
            <a:r>
              <a:rPr lang="en-US" dirty="0"/>
              <a:t>of the base class, and the base class is called a </a:t>
            </a:r>
            <a:r>
              <a:rPr lang="en-US" dirty="0">
                <a:solidFill>
                  <a:srgbClr val="FF0000"/>
                </a:solidFill>
                <a:hlinkClick r:id="rId2">
                  <a:extLst>
                    <a:ext uri="{A12FA001-AC4F-418D-AE19-62706E023703}">
                      <ahyp:hlinkClr xmlns:ahyp="http://schemas.microsoft.com/office/drawing/2018/hyperlinkcolor" val="tx"/>
                    </a:ext>
                  </a:extLst>
                </a:hlinkClick>
              </a:rPr>
              <a:t>superclass</a:t>
            </a:r>
            <a:r>
              <a:rPr lang="en-US" dirty="0"/>
              <a:t> of the derived class.</a:t>
            </a:r>
          </a:p>
        </p:txBody>
      </p:sp>
    </p:spTree>
    <p:extLst>
      <p:ext uri="{BB962C8B-B14F-4D97-AF65-F5344CB8AC3E}">
        <p14:creationId xmlns:p14="http://schemas.microsoft.com/office/powerpoint/2010/main" val="40252201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30F3-5201-BF12-42FA-4B8C7D564E9E}"/>
              </a:ext>
            </a:extLst>
          </p:cNvPr>
          <p:cNvSpPr>
            <a:spLocks noGrp="1"/>
          </p:cNvSpPr>
          <p:nvPr>
            <p:ph type="title"/>
          </p:nvPr>
        </p:nvSpPr>
        <p:spPr/>
        <p:txBody>
          <a:bodyPr/>
          <a:lstStyle/>
          <a:p>
            <a:r>
              <a:rPr lang="en-US" dirty="0"/>
              <a:t>Multiple Inheritance</a:t>
            </a:r>
          </a:p>
        </p:txBody>
      </p:sp>
      <p:sp>
        <p:nvSpPr>
          <p:cNvPr id="3" name="Content Placeholder 2">
            <a:extLst>
              <a:ext uri="{FF2B5EF4-FFF2-40B4-BE49-F238E27FC236}">
                <a16:creationId xmlns:a16="http://schemas.microsoft.com/office/drawing/2014/main" id="{78C61921-44A8-5192-6754-C5DE1607AACE}"/>
              </a:ext>
            </a:extLst>
          </p:cNvPr>
          <p:cNvSpPr>
            <a:spLocks noGrp="1"/>
          </p:cNvSpPr>
          <p:nvPr>
            <p:ph idx="1"/>
          </p:nvPr>
        </p:nvSpPr>
        <p:spPr/>
        <p:txBody>
          <a:bodyPr/>
          <a:lstStyle/>
          <a:p>
            <a:r>
              <a:rPr lang="en-US" dirty="0"/>
              <a:t>C++ supports </a:t>
            </a:r>
            <a:r>
              <a:rPr lang="en-US" dirty="0">
                <a:hlinkClick r:id="rId2">
                  <a:extLst>
                    <a:ext uri="{A12FA001-AC4F-418D-AE19-62706E023703}">
                      <ahyp:hlinkClr xmlns:ahyp="http://schemas.microsoft.com/office/drawing/2018/hyperlinkcolor" val="tx"/>
                    </a:ext>
                  </a:extLst>
                </a:hlinkClick>
              </a:rPr>
              <a:t>multiple inheritance</a:t>
            </a:r>
            <a:r>
              <a:rPr lang="en-US" dirty="0"/>
              <a:t> in which a derived class simultaneously derives from two or more base classes. </a:t>
            </a:r>
          </a:p>
          <a:p>
            <a:r>
              <a:rPr lang="en-US" dirty="0"/>
              <a:t>Though interesting, multiple inheritance can lead to programs that are very difficult to understand and is rarely useful in practice. </a:t>
            </a:r>
          </a:p>
          <a:p>
            <a:r>
              <a:rPr lang="en-US" dirty="0"/>
              <a:t>We will not go through that in this semester. </a:t>
            </a:r>
          </a:p>
        </p:txBody>
      </p:sp>
    </p:spTree>
    <p:extLst>
      <p:ext uri="{BB962C8B-B14F-4D97-AF65-F5344CB8AC3E}">
        <p14:creationId xmlns:p14="http://schemas.microsoft.com/office/powerpoint/2010/main" val="505193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595</TotalTime>
  <Words>3161</Words>
  <Application>Microsoft Macintosh PowerPoint</Application>
  <PresentationFormat>Widescreen</PresentationFormat>
  <Paragraphs>249</Paragraphs>
  <Slides>52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Aptos</vt:lpstr>
      <vt:lpstr>Aptos Display</vt:lpstr>
      <vt:lpstr>Arial</vt:lpstr>
      <vt:lpstr>Helvetica Neue</vt:lpstr>
      <vt:lpstr>Office Theme</vt:lpstr>
      <vt:lpstr>CS 331</vt:lpstr>
      <vt:lpstr>Overloading the Stream Insertion and Extraction Operators</vt:lpstr>
      <vt:lpstr>Overloading the Stream Insertion and Extraction Operators</vt:lpstr>
      <vt:lpstr>Overloading the Stream Insertion and Extraction Operators</vt:lpstr>
      <vt:lpstr>Overloading the Stream Insertion and Extraction Operators</vt:lpstr>
      <vt:lpstr>Overloading the Stream Insertion and Extraction Operators</vt:lpstr>
      <vt:lpstr>Overloading the Stream Insertion and Extraction Operators</vt:lpstr>
      <vt:lpstr>PowerPoint Presentation</vt:lpstr>
      <vt:lpstr>PowerPoint Presentation</vt:lpstr>
      <vt:lpstr>Overloading the [] Operator</vt:lpstr>
      <vt:lpstr>Example</vt:lpstr>
      <vt:lpstr>Example</vt:lpstr>
      <vt:lpstr>Classes as a custom data type</vt:lpstr>
      <vt:lpstr>Type Conversion Operators</vt:lpstr>
      <vt:lpstr>Type Conversion Operators</vt:lpstr>
      <vt:lpstr>Type Conversion Operators</vt:lpstr>
      <vt:lpstr>Type Conversion Operators</vt:lpstr>
      <vt:lpstr>Convert Constructors</vt:lpstr>
      <vt:lpstr>Convert Constructors</vt:lpstr>
      <vt:lpstr>Convert Constructors</vt:lpstr>
      <vt:lpstr>Convert Constructors</vt:lpstr>
      <vt:lpstr>Convert Constructors</vt:lpstr>
      <vt:lpstr>Example</vt:lpstr>
      <vt:lpstr>Convert Constructors</vt:lpstr>
      <vt:lpstr>Example</vt:lpstr>
      <vt:lpstr>Aggregation and Composition</vt:lpstr>
      <vt:lpstr>Aggregation and Composition</vt:lpstr>
      <vt:lpstr>Aggregation and Composition</vt:lpstr>
      <vt:lpstr>Aggregation and Composition</vt:lpstr>
      <vt:lpstr>Member Initialization Lists with Aggregation</vt:lpstr>
      <vt:lpstr>Member Initialization Lists with Aggregation</vt:lpstr>
      <vt:lpstr>Aggregation Through Pointers</vt:lpstr>
      <vt:lpstr>Aggregation Through Pointers</vt:lpstr>
      <vt:lpstr>Aggregation Through Pointers</vt:lpstr>
      <vt:lpstr>Aggregation, Composition, and Object Lifetimes</vt:lpstr>
      <vt:lpstr>Inheritance: Generalization and Specialization</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the Is-a Relationship</vt:lpstr>
      <vt:lpstr>Inheritance and Pointers</vt:lpstr>
      <vt:lpstr>Inheritance and Pointers</vt:lpstr>
      <vt:lpstr>Inheritance and Pointers</vt:lpstr>
      <vt:lpstr>Inheritance and Pointers</vt:lpstr>
      <vt:lpstr>Superclasses and Subclasses</vt:lpstr>
      <vt:lpstr>Multiple Inheritance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19</cp:revision>
  <dcterms:created xsi:type="dcterms:W3CDTF">2024-10-24T09:12:51Z</dcterms:created>
  <dcterms:modified xsi:type="dcterms:W3CDTF">2024-11-07T13:46:44Z</dcterms:modified>
</cp:coreProperties>
</file>