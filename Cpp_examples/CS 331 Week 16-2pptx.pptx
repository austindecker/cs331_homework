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60"/>
    <p:restoredTop sz="84198"/>
  </p:normalViewPr>
  <p:slideViewPr>
    <p:cSldViewPr snapToGrid="0">
      <p:cViewPr varScale="1">
        <p:scale>
          <a:sx n="155" d="100"/>
          <a:sy n="155" d="100"/>
        </p:scale>
        <p:origin x="216" y="760"/>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0FDF5A-A32C-8547-BE32-BBF162778E9A}" type="datetimeFigureOut">
              <a:rPr lang="en-US" smtClean="0"/>
              <a:t>12/12/24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942356-7B73-6841-A35C-74E1C107F8AF}" type="slidenum">
              <a:rPr lang="en-US" smtClean="0"/>
              <a:t>‹#›</a:t>
            </a:fld>
            <a:endParaRPr lang="en-US"/>
          </a:p>
        </p:txBody>
      </p:sp>
    </p:spTree>
    <p:extLst>
      <p:ext uri="{BB962C8B-B14F-4D97-AF65-F5344CB8AC3E}">
        <p14:creationId xmlns:p14="http://schemas.microsoft.com/office/powerpoint/2010/main" val="1388377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13</a:t>
            </a:fld>
            <a:endParaRPr lang="en-US"/>
          </a:p>
        </p:txBody>
      </p:sp>
    </p:spTree>
    <p:extLst>
      <p:ext uri="{BB962C8B-B14F-4D97-AF65-F5344CB8AC3E}">
        <p14:creationId xmlns:p14="http://schemas.microsoft.com/office/powerpoint/2010/main" val="2393120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58689-89C1-5EEE-75F3-0912F19B33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204CF-72B6-BA09-5C3A-B1EE75675E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74EBE3-260D-DD74-467E-73874B473C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4E8B8C-2687-1CB9-C6BF-55A4E2556104}"/>
              </a:ext>
            </a:extLst>
          </p:cNvPr>
          <p:cNvSpPr>
            <a:spLocks noGrp="1"/>
          </p:cNvSpPr>
          <p:nvPr>
            <p:ph type="sldNum" sz="quarter" idx="5"/>
          </p:nvPr>
        </p:nvSpPr>
        <p:spPr/>
        <p:txBody>
          <a:bodyPr/>
          <a:lstStyle/>
          <a:p>
            <a:fld id="{C6942356-7B73-6841-A35C-74E1C107F8AF}" type="slidenum">
              <a:rPr lang="en-US" smtClean="0"/>
              <a:t>14</a:t>
            </a:fld>
            <a:endParaRPr lang="en-US"/>
          </a:p>
        </p:txBody>
      </p:sp>
    </p:spTree>
    <p:extLst>
      <p:ext uri="{BB962C8B-B14F-4D97-AF65-F5344CB8AC3E}">
        <p14:creationId xmlns:p14="http://schemas.microsoft.com/office/powerpoint/2010/main" val="154138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2017B-82FE-5FD4-0D44-26B2710F90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DEB70-7CA6-46E9-5557-03669053D7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2B1435-A415-0AAF-4A3F-504AB9157C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3C1F70-B8FB-7F5C-E9E9-1CCDBE7A15F0}"/>
              </a:ext>
            </a:extLst>
          </p:cNvPr>
          <p:cNvSpPr>
            <a:spLocks noGrp="1"/>
          </p:cNvSpPr>
          <p:nvPr>
            <p:ph type="sldNum" sz="quarter" idx="5"/>
          </p:nvPr>
        </p:nvSpPr>
        <p:spPr/>
        <p:txBody>
          <a:bodyPr/>
          <a:lstStyle/>
          <a:p>
            <a:fld id="{C6942356-7B73-6841-A35C-74E1C107F8AF}" type="slidenum">
              <a:rPr lang="en-US" smtClean="0"/>
              <a:t>15</a:t>
            </a:fld>
            <a:endParaRPr lang="en-US"/>
          </a:p>
        </p:txBody>
      </p:sp>
    </p:spTree>
    <p:extLst>
      <p:ext uri="{BB962C8B-B14F-4D97-AF65-F5344CB8AC3E}">
        <p14:creationId xmlns:p14="http://schemas.microsoft.com/office/powerpoint/2010/main" val="3754070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4D12D-F64B-2C98-AB7C-2ACAD27CCC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40A95F-1005-839C-FA73-838562B894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4EB073-CA37-4B3C-DB30-2C7CD10309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DB12AC-E67F-3C0B-A0BB-683C35F03189}"/>
              </a:ext>
            </a:extLst>
          </p:cNvPr>
          <p:cNvSpPr>
            <a:spLocks noGrp="1"/>
          </p:cNvSpPr>
          <p:nvPr>
            <p:ph type="sldNum" sz="quarter" idx="5"/>
          </p:nvPr>
        </p:nvSpPr>
        <p:spPr/>
        <p:txBody>
          <a:bodyPr/>
          <a:lstStyle/>
          <a:p>
            <a:fld id="{C6942356-7B73-6841-A35C-74E1C107F8AF}" type="slidenum">
              <a:rPr lang="en-US" smtClean="0"/>
              <a:t>16</a:t>
            </a:fld>
            <a:endParaRPr lang="en-US"/>
          </a:p>
        </p:txBody>
      </p:sp>
    </p:spTree>
    <p:extLst>
      <p:ext uri="{BB962C8B-B14F-4D97-AF65-F5344CB8AC3E}">
        <p14:creationId xmlns:p14="http://schemas.microsoft.com/office/powerpoint/2010/main" val="24433538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34B6D-E0A9-D63D-BBE1-7246A1EF5A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D81F8F-B9E2-2E1B-953E-1C2408A2D2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3FF6DD-7CE5-D41A-112E-CF92251D6E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58626F-820F-A19A-EC25-5CCDE2A0E6B7}"/>
              </a:ext>
            </a:extLst>
          </p:cNvPr>
          <p:cNvSpPr>
            <a:spLocks noGrp="1"/>
          </p:cNvSpPr>
          <p:nvPr>
            <p:ph type="sldNum" sz="quarter" idx="5"/>
          </p:nvPr>
        </p:nvSpPr>
        <p:spPr/>
        <p:txBody>
          <a:bodyPr/>
          <a:lstStyle/>
          <a:p>
            <a:fld id="{C6942356-7B73-6841-A35C-74E1C107F8AF}" type="slidenum">
              <a:rPr lang="en-US" smtClean="0"/>
              <a:t>17</a:t>
            </a:fld>
            <a:endParaRPr lang="en-US"/>
          </a:p>
        </p:txBody>
      </p:sp>
    </p:spTree>
    <p:extLst>
      <p:ext uri="{BB962C8B-B14F-4D97-AF65-F5344CB8AC3E}">
        <p14:creationId xmlns:p14="http://schemas.microsoft.com/office/powerpoint/2010/main" val="276395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18</a:t>
            </a:fld>
            <a:endParaRPr lang="en-US"/>
          </a:p>
        </p:txBody>
      </p:sp>
    </p:spTree>
    <p:extLst>
      <p:ext uri="{BB962C8B-B14F-4D97-AF65-F5344CB8AC3E}">
        <p14:creationId xmlns:p14="http://schemas.microsoft.com/office/powerpoint/2010/main" val="3241567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21</a:t>
            </a:fld>
            <a:endParaRPr lang="en-US"/>
          </a:p>
        </p:txBody>
      </p:sp>
    </p:spTree>
    <p:extLst>
      <p:ext uri="{BB962C8B-B14F-4D97-AF65-F5344CB8AC3E}">
        <p14:creationId xmlns:p14="http://schemas.microsoft.com/office/powerpoint/2010/main" val="2048929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31</a:t>
            </a:fld>
            <a:endParaRPr lang="en-US"/>
          </a:p>
        </p:txBody>
      </p:sp>
    </p:spTree>
    <p:extLst>
      <p:ext uri="{BB962C8B-B14F-4D97-AF65-F5344CB8AC3E}">
        <p14:creationId xmlns:p14="http://schemas.microsoft.com/office/powerpoint/2010/main" val="825960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34</a:t>
            </a:fld>
            <a:endParaRPr lang="en-US"/>
          </a:p>
        </p:txBody>
      </p:sp>
    </p:spTree>
    <p:extLst>
      <p:ext uri="{BB962C8B-B14F-4D97-AF65-F5344CB8AC3E}">
        <p14:creationId xmlns:p14="http://schemas.microsoft.com/office/powerpoint/2010/main" val="14224848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43</a:t>
            </a:fld>
            <a:endParaRPr lang="en-US"/>
          </a:p>
        </p:txBody>
      </p:sp>
    </p:spTree>
    <p:extLst>
      <p:ext uri="{BB962C8B-B14F-4D97-AF65-F5344CB8AC3E}">
        <p14:creationId xmlns:p14="http://schemas.microsoft.com/office/powerpoint/2010/main" val="1391814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65A13-B854-FEF1-5B31-E89F4CDAF6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7A55454-25A5-FB24-7BB4-A610D3819E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72587B-5316-B024-432C-72E39D42ADFD}"/>
              </a:ext>
            </a:extLst>
          </p:cNvPr>
          <p:cNvSpPr>
            <a:spLocks noGrp="1"/>
          </p:cNvSpPr>
          <p:nvPr>
            <p:ph type="dt" sz="half" idx="10"/>
          </p:nvPr>
        </p:nvSpPr>
        <p:spPr/>
        <p:txBody>
          <a:bodyPr/>
          <a:lstStyle/>
          <a:p>
            <a:fld id="{13029EDB-FFA8-DA40-8313-CEFECF7259ED}" type="datetimeFigureOut">
              <a:rPr lang="en-US" smtClean="0"/>
              <a:t>12/12/24</a:t>
            </a:fld>
            <a:endParaRPr lang="en-US"/>
          </a:p>
        </p:txBody>
      </p:sp>
      <p:sp>
        <p:nvSpPr>
          <p:cNvPr id="5" name="Footer Placeholder 4">
            <a:extLst>
              <a:ext uri="{FF2B5EF4-FFF2-40B4-BE49-F238E27FC236}">
                <a16:creationId xmlns:a16="http://schemas.microsoft.com/office/drawing/2014/main" id="{6B8A05AD-A334-7417-B5BA-C201B78D80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148CB7-6DE2-340F-BE6C-400C95B05025}"/>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1156529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DE20A-C054-B157-9CEA-1F4CB1A602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1AA796-AF15-1136-8BF1-2AC0668964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3A8EAA-5AC0-6C29-0B19-C45A4A554100}"/>
              </a:ext>
            </a:extLst>
          </p:cNvPr>
          <p:cNvSpPr>
            <a:spLocks noGrp="1"/>
          </p:cNvSpPr>
          <p:nvPr>
            <p:ph type="dt" sz="half" idx="10"/>
          </p:nvPr>
        </p:nvSpPr>
        <p:spPr/>
        <p:txBody>
          <a:bodyPr/>
          <a:lstStyle/>
          <a:p>
            <a:fld id="{13029EDB-FFA8-DA40-8313-CEFECF7259ED}" type="datetimeFigureOut">
              <a:rPr lang="en-US" smtClean="0"/>
              <a:t>12/12/24</a:t>
            </a:fld>
            <a:endParaRPr lang="en-US"/>
          </a:p>
        </p:txBody>
      </p:sp>
      <p:sp>
        <p:nvSpPr>
          <p:cNvPr id="5" name="Footer Placeholder 4">
            <a:extLst>
              <a:ext uri="{FF2B5EF4-FFF2-40B4-BE49-F238E27FC236}">
                <a16:creationId xmlns:a16="http://schemas.microsoft.com/office/drawing/2014/main" id="{B1349CB5-1429-911E-B92C-F98D5B2EF4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E908C9-24B9-0B36-6AE2-1065FCFD4D55}"/>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097667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78788-5297-31E7-66F3-C7004B66CD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9C5BEDA-3DDF-4A1E-03AB-C6DDEB093D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5FD719-6098-1540-27B3-D463741F6128}"/>
              </a:ext>
            </a:extLst>
          </p:cNvPr>
          <p:cNvSpPr>
            <a:spLocks noGrp="1"/>
          </p:cNvSpPr>
          <p:nvPr>
            <p:ph type="dt" sz="half" idx="10"/>
          </p:nvPr>
        </p:nvSpPr>
        <p:spPr/>
        <p:txBody>
          <a:bodyPr/>
          <a:lstStyle/>
          <a:p>
            <a:fld id="{13029EDB-FFA8-DA40-8313-CEFECF7259ED}" type="datetimeFigureOut">
              <a:rPr lang="en-US" smtClean="0"/>
              <a:t>12/12/24</a:t>
            </a:fld>
            <a:endParaRPr lang="en-US"/>
          </a:p>
        </p:txBody>
      </p:sp>
      <p:sp>
        <p:nvSpPr>
          <p:cNvPr id="5" name="Footer Placeholder 4">
            <a:extLst>
              <a:ext uri="{FF2B5EF4-FFF2-40B4-BE49-F238E27FC236}">
                <a16:creationId xmlns:a16="http://schemas.microsoft.com/office/drawing/2014/main" id="{EC4D9247-4A81-5B56-9F6A-CEF5B8F5C1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BA2CA9-5931-01CA-02FB-6510FD9B7401}"/>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42587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BC85D-2F0F-3529-47BD-3EBD0265CC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105297-B806-E6DC-3960-C65606D3AE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1081DB2-9D29-5D99-B5B2-D41F009C37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ABFF187-5880-DDA4-7B9D-AA33B0DF1853}"/>
              </a:ext>
            </a:extLst>
          </p:cNvPr>
          <p:cNvSpPr>
            <a:spLocks noGrp="1"/>
          </p:cNvSpPr>
          <p:nvPr>
            <p:ph type="dt" sz="half" idx="10"/>
          </p:nvPr>
        </p:nvSpPr>
        <p:spPr/>
        <p:txBody>
          <a:bodyPr/>
          <a:lstStyle/>
          <a:p>
            <a:fld id="{13029EDB-FFA8-DA40-8313-CEFECF7259ED}" type="datetimeFigureOut">
              <a:rPr lang="en-US" smtClean="0"/>
              <a:t>12/12/24</a:t>
            </a:fld>
            <a:endParaRPr lang="en-US"/>
          </a:p>
        </p:txBody>
      </p:sp>
      <p:sp>
        <p:nvSpPr>
          <p:cNvPr id="6" name="Footer Placeholder 5">
            <a:extLst>
              <a:ext uri="{FF2B5EF4-FFF2-40B4-BE49-F238E27FC236}">
                <a16:creationId xmlns:a16="http://schemas.microsoft.com/office/drawing/2014/main" id="{484868B9-3D0E-C8D5-B3AA-88AFF19BD0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999339-A896-E3B3-0FC3-FD98813FFE3D}"/>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459682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AE7D8-D9E7-5C3C-D708-1EA2AE03EE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39D503D-C13D-C21F-71F3-8C03A4514E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BBAD4A-3EBB-E280-1F1E-8CDC959FC1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EFF078-1BD8-4BDA-2040-D66DB72B1C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994DCB-5FE9-DE22-8F28-A227C73F95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45C9F4-E7BE-C0DD-DCC6-6CA15F642A9F}"/>
              </a:ext>
            </a:extLst>
          </p:cNvPr>
          <p:cNvSpPr>
            <a:spLocks noGrp="1"/>
          </p:cNvSpPr>
          <p:nvPr>
            <p:ph type="dt" sz="half" idx="10"/>
          </p:nvPr>
        </p:nvSpPr>
        <p:spPr/>
        <p:txBody>
          <a:bodyPr/>
          <a:lstStyle/>
          <a:p>
            <a:fld id="{13029EDB-FFA8-DA40-8313-CEFECF7259ED}" type="datetimeFigureOut">
              <a:rPr lang="en-US" smtClean="0"/>
              <a:t>12/12/24</a:t>
            </a:fld>
            <a:endParaRPr lang="en-US"/>
          </a:p>
        </p:txBody>
      </p:sp>
      <p:sp>
        <p:nvSpPr>
          <p:cNvPr id="8" name="Footer Placeholder 7">
            <a:extLst>
              <a:ext uri="{FF2B5EF4-FFF2-40B4-BE49-F238E27FC236}">
                <a16:creationId xmlns:a16="http://schemas.microsoft.com/office/drawing/2014/main" id="{B1203063-761A-C4B8-F6E7-FDEE437EA4C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B83961-A0EB-140F-3D33-567F3923E40D}"/>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3406676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CA51F-92B1-EA67-F548-611673F17F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6160C-DD99-AA5A-408B-2DCD716F397C}"/>
              </a:ext>
            </a:extLst>
          </p:cNvPr>
          <p:cNvSpPr>
            <a:spLocks noGrp="1"/>
          </p:cNvSpPr>
          <p:nvPr>
            <p:ph type="dt" sz="half" idx="10"/>
          </p:nvPr>
        </p:nvSpPr>
        <p:spPr/>
        <p:txBody>
          <a:bodyPr/>
          <a:lstStyle/>
          <a:p>
            <a:fld id="{13029EDB-FFA8-DA40-8313-CEFECF7259ED}" type="datetimeFigureOut">
              <a:rPr lang="en-US" smtClean="0"/>
              <a:t>12/12/24</a:t>
            </a:fld>
            <a:endParaRPr lang="en-US"/>
          </a:p>
        </p:txBody>
      </p:sp>
      <p:sp>
        <p:nvSpPr>
          <p:cNvPr id="4" name="Footer Placeholder 3">
            <a:extLst>
              <a:ext uri="{FF2B5EF4-FFF2-40B4-BE49-F238E27FC236}">
                <a16:creationId xmlns:a16="http://schemas.microsoft.com/office/drawing/2014/main" id="{F9FE18C4-63A9-149B-450C-184E96549AD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F24E41-A0DD-FE17-0361-5365C57F8C09}"/>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1792577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37C97A-4E62-6B3D-9A4F-CD8A09B65715}"/>
              </a:ext>
            </a:extLst>
          </p:cNvPr>
          <p:cNvSpPr>
            <a:spLocks noGrp="1"/>
          </p:cNvSpPr>
          <p:nvPr>
            <p:ph type="dt" sz="half" idx="10"/>
          </p:nvPr>
        </p:nvSpPr>
        <p:spPr/>
        <p:txBody>
          <a:bodyPr/>
          <a:lstStyle/>
          <a:p>
            <a:fld id="{13029EDB-FFA8-DA40-8313-CEFECF7259ED}" type="datetimeFigureOut">
              <a:rPr lang="en-US" smtClean="0"/>
              <a:t>12/12/24</a:t>
            </a:fld>
            <a:endParaRPr lang="en-US"/>
          </a:p>
        </p:txBody>
      </p:sp>
      <p:sp>
        <p:nvSpPr>
          <p:cNvPr id="3" name="Footer Placeholder 2">
            <a:extLst>
              <a:ext uri="{FF2B5EF4-FFF2-40B4-BE49-F238E27FC236}">
                <a16:creationId xmlns:a16="http://schemas.microsoft.com/office/drawing/2014/main" id="{DE930152-4671-32A9-6B67-369A92674B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BF3506-875B-C506-6876-FD0D1971AF9B}"/>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51334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95C23-AF3E-B01F-67EC-EF453D8637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0811C3-C184-DB58-8DFA-8556AEEE15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62DA31C-62CD-4699-F1C4-3FEE574179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7B9975-8A8D-A2A9-CC31-3CB96807C25A}"/>
              </a:ext>
            </a:extLst>
          </p:cNvPr>
          <p:cNvSpPr>
            <a:spLocks noGrp="1"/>
          </p:cNvSpPr>
          <p:nvPr>
            <p:ph type="dt" sz="half" idx="10"/>
          </p:nvPr>
        </p:nvSpPr>
        <p:spPr/>
        <p:txBody>
          <a:bodyPr/>
          <a:lstStyle/>
          <a:p>
            <a:fld id="{13029EDB-FFA8-DA40-8313-CEFECF7259ED}" type="datetimeFigureOut">
              <a:rPr lang="en-US" smtClean="0"/>
              <a:t>12/12/24</a:t>
            </a:fld>
            <a:endParaRPr lang="en-US"/>
          </a:p>
        </p:txBody>
      </p:sp>
      <p:sp>
        <p:nvSpPr>
          <p:cNvPr id="6" name="Footer Placeholder 5">
            <a:extLst>
              <a:ext uri="{FF2B5EF4-FFF2-40B4-BE49-F238E27FC236}">
                <a16:creationId xmlns:a16="http://schemas.microsoft.com/office/drawing/2014/main" id="{4B9D317E-67F6-24F1-C975-03907CA175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22C7BE-29F4-B867-22B5-E8F482E5BF8E}"/>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661941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86DBB-9E9E-26F8-2E74-3182B3422E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5E70FF9-9C1E-7F10-21DD-AD94BB9E82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9B9170-07B9-98AF-208B-0643E70A9D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F7150B-1601-0DAE-8B13-4E76F0478315}"/>
              </a:ext>
            </a:extLst>
          </p:cNvPr>
          <p:cNvSpPr>
            <a:spLocks noGrp="1"/>
          </p:cNvSpPr>
          <p:nvPr>
            <p:ph type="dt" sz="half" idx="10"/>
          </p:nvPr>
        </p:nvSpPr>
        <p:spPr/>
        <p:txBody>
          <a:bodyPr/>
          <a:lstStyle/>
          <a:p>
            <a:fld id="{13029EDB-FFA8-DA40-8313-CEFECF7259ED}" type="datetimeFigureOut">
              <a:rPr lang="en-US" smtClean="0"/>
              <a:t>12/12/24</a:t>
            </a:fld>
            <a:endParaRPr lang="en-US"/>
          </a:p>
        </p:txBody>
      </p:sp>
      <p:sp>
        <p:nvSpPr>
          <p:cNvPr id="6" name="Footer Placeholder 5">
            <a:extLst>
              <a:ext uri="{FF2B5EF4-FFF2-40B4-BE49-F238E27FC236}">
                <a16:creationId xmlns:a16="http://schemas.microsoft.com/office/drawing/2014/main" id="{B8D37555-82FF-9BB2-70F4-8A9523E483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BCAAC5-27BE-8990-B819-31E31F700C9B}"/>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708592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4883C-6BD0-A51A-B2F0-70D6A4FE3B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128BC8-58C5-80CB-AE01-C5EEA848D8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83496B-C632-32DF-C3D1-5DAF18A32304}"/>
              </a:ext>
            </a:extLst>
          </p:cNvPr>
          <p:cNvSpPr>
            <a:spLocks noGrp="1"/>
          </p:cNvSpPr>
          <p:nvPr>
            <p:ph type="dt" sz="half" idx="10"/>
          </p:nvPr>
        </p:nvSpPr>
        <p:spPr/>
        <p:txBody>
          <a:bodyPr/>
          <a:lstStyle/>
          <a:p>
            <a:fld id="{13029EDB-FFA8-DA40-8313-CEFECF7259ED}" type="datetimeFigureOut">
              <a:rPr lang="en-US" smtClean="0"/>
              <a:t>12/12/24</a:t>
            </a:fld>
            <a:endParaRPr lang="en-US"/>
          </a:p>
        </p:txBody>
      </p:sp>
      <p:sp>
        <p:nvSpPr>
          <p:cNvPr id="5" name="Footer Placeholder 4">
            <a:extLst>
              <a:ext uri="{FF2B5EF4-FFF2-40B4-BE49-F238E27FC236}">
                <a16:creationId xmlns:a16="http://schemas.microsoft.com/office/drawing/2014/main" id="{DEB93420-2EFF-120F-CD65-8FEB397E90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628D61-73D2-8C27-E682-0C43A5282682}"/>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294126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67A467-DE99-E6E3-1BA6-B85CE6E13B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1E3499-B99D-0687-4C87-50DD685561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BEEF18-BC9C-07B3-3D4F-4E6622AD86ED}"/>
              </a:ext>
            </a:extLst>
          </p:cNvPr>
          <p:cNvSpPr>
            <a:spLocks noGrp="1"/>
          </p:cNvSpPr>
          <p:nvPr>
            <p:ph type="dt" sz="half" idx="10"/>
          </p:nvPr>
        </p:nvSpPr>
        <p:spPr/>
        <p:txBody>
          <a:bodyPr/>
          <a:lstStyle/>
          <a:p>
            <a:fld id="{13029EDB-FFA8-DA40-8313-CEFECF7259ED}" type="datetimeFigureOut">
              <a:rPr lang="en-US" smtClean="0"/>
              <a:t>12/12/24</a:t>
            </a:fld>
            <a:endParaRPr lang="en-US"/>
          </a:p>
        </p:txBody>
      </p:sp>
      <p:sp>
        <p:nvSpPr>
          <p:cNvPr id="5" name="Footer Placeholder 4">
            <a:extLst>
              <a:ext uri="{FF2B5EF4-FFF2-40B4-BE49-F238E27FC236}">
                <a16:creationId xmlns:a16="http://schemas.microsoft.com/office/drawing/2014/main" id="{800A473C-BA58-0A97-9DDA-4C61B89BE6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D191D6-0922-60FB-67F1-B898480D4D90}"/>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1124957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814785-6E2D-3051-1A2A-F615A32F27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CAED476-0069-65CB-C881-B0D2C5B090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19841C-6D16-B62B-959F-D0057314EC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029EDB-FFA8-DA40-8313-CEFECF7259ED}" type="datetimeFigureOut">
              <a:rPr lang="en-US" smtClean="0"/>
              <a:t>12/12/24</a:t>
            </a:fld>
            <a:endParaRPr lang="en-US"/>
          </a:p>
        </p:txBody>
      </p:sp>
      <p:sp>
        <p:nvSpPr>
          <p:cNvPr id="5" name="Footer Placeholder 4">
            <a:extLst>
              <a:ext uri="{FF2B5EF4-FFF2-40B4-BE49-F238E27FC236}">
                <a16:creationId xmlns:a16="http://schemas.microsoft.com/office/drawing/2014/main" id="{9F3D9F6A-827D-EDB2-31EC-A56572A1BD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388BF2A-DB4D-5728-06A8-65BDA379C8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18EE3C-F706-004C-A6D7-32EE5C5EF9A9}" type="slidenum">
              <a:rPr lang="en-US" smtClean="0"/>
              <a:t>‹#›</a:t>
            </a:fld>
            <a:endParaRPr lang="en-US"/>
          </a:p>
        </p:txBody>
      </p:sp>
    </p:spTree>
    <p:extLst>
      <p:ext uri="{BB962C8B-B14F-4D97-AF65-F5344CB8AC3E}">
        <p14:creationId xmlns:p14="http://schemas.microsoft.com/office/powerpoint/2010/main" val="30762575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35317706-5b26-4f62-809d-2a78f52884c4?userPreferredType=study&amp;iesCode=jWddcZEhYO"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5647B-603B-AF5A-83BF-216E6620EFAA}"/>
              </a:ext>
            </a:extLst>
          </p:cNvPr>
          <p:cNvSpPr>
            <a:spLocks noGrp="1"/>
          </p:cNvSpPr>
          <p:nvPr>
            <p:ph type="ctrTitle"/>
          </p:nvPr>
        </p:nvSpPr>
        <p:spPr/>
        <p:txBody>
          <a:bodyPr/>
          <a:lstStyle/>
          <a:p>
            <a:r>
              <a:rPr lang="en-US" dirty="0"/>
              <a:t>CS 331</a:t>
            </a:r>
          </a:p>
        </p:txBody>
      </p:sp>
      <p:sp>
        <p:nvSpPr>
          <p:cNvPr id="3" name="Subtitle 2">
            <a:extLst>
              <a:ext uri="{FF2B5EF4-FFF2-40B4-BE49-F238E27FC236}">
                <a16:creationId xmlns:a16="http://schemas.microsoft.com/office/drawing/2014/main" id="{494582B3-C32A-7B08-8F83-037FA7F6E197}"/>
              </a:ext>
            </a:extLst>
          </p:cNvPr>
          <p:cNvSpPr>
            <a:spLocks noGrp="1"/>
          </p:cNvSpPr>
          <p:nvPr>
            <p:ph type="subTitle" idx="1"/>
          </p:nvPr>
        </p:nvSpPr>
        <p:spPr/>
        <p:txBody>
          <a:bodyPr/>
          <a:lstStyle/>
          <a:p>
            <a:r>
              <a:rPr lang="en-US" dirty="0"/>
              <a:t>Topic: </a:t>
            </a:r>
            <a:r>
              <a:rPr lang="en-US" b="1" dirty="0"/>
              <a:t>The Standard Template Library Part 2</a:t>
            </a:r>
          </a:p>
          <a:p>
            <a:r>
              <a:rPr lang="en-US" dirty="0"/>
              <a:t>MD Romael Haque </a:t>
            </a:r>
          </a:p>
        </p:txBody>
      </p:sp>
    </p:spTree>
    <p:extLst>
      <p:ext uri="{BB962C8B-B14F-4D97-AF65-F5344CB8AC3E}">
        <p14:creationId xmlns:p14="http://schemas.microsoft.com/office/powerpoint/2010/main" val="3711160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07481-466D-886D-031C-28430249B1F8}"/>
              </a:ext>
            </a:extLst>
          </p:cNvPr>
          <p:cNvSpPr>
            <a:spLocks noGrp="1"/>
          </p:cNvSpPr>
          <p:nvPr>
            <p:ph type="title"/>
          </p:nvPr>
        </p:nvSpPr>
        <p:spPr/>
        <p:txBody>
          <a:bodyPr/>
          <a:lstStyle/>
          <a:p>
            <a:r>
              <a:rPr lang="en-US" dirty="0"/>
              <a:t>The map, multimap, and </a:t>
            </a:r>
            <a:r>
              <a:rPr lang="en-US" dirty="0" err="1"/>
              <a:t>unordered_map</a:t>
            </a:r>
            <a:r>
              <a:rPr lang="en-US" dirty="0"/>
              <a:t> Classes</a:t>
            </a:r>
          </a:p>
        </p:txBody>
      </p:sp>
      <p:sp>
        <p:nvSpPr>
          <p:cNvPr id="3" name="Content Placeholder 2">
            <a:extLst>
              <a:ext uri="{FF2B5EF4-FFF2-40B4-BE49-F238E27FC236}">
                <a16:creationId xmlns:a16="http://schemas.microsoft.com/office/drawing/2014/main" id="{CEC94F47-D773-0FCB-E81D-76B5B56DF703}"/>
              </a:ext>
            </a:extLst>
          </p:cNvPr>
          <p:cNvSpPr>
            <a:spLocks noGrp="1"/>
          </p:cNvSpPr>
          <p:nvPr>
            <p:ph idx="1"/>
          </p:nvPr>
        </p:nvSpPr>
        <p:spPr/>
        <p:txBody>
          <a:bodyPr/>
          <a:lstStyle/>
          <a:p>
            <a:r>
              <a:rPr lang="en-US" b="1" dirty="0"/>
              <a:t>A </a:t>
            </a:r>
            <a:r>
              <a:rPr lang="en-US" b="1" dirty="0">
                <a:hlinkClick r:id="rId2">
                  <a:extLst>
                    <a:ext uri="{A12FA001-AC4F-418D-AE19-62706E023703}">
                      <ahyp:hlinkClr xmlns:ahyp="http://schemas.microsoft.com/office/drawing/2018/hyperlinkcolor" val="tx"/>
                    </a:ext>
                  </a:extLst>
                </a:hlinkClick>
              </a:rPr>
              <a:t>map</a:t>
            </a:r>
            <a:r>
              <a:rPr lang="en-US" b="1" dirty="0"/>
              <a:t> is an associative container. </a:t>
            </a:r>
          </a:p>
          <a:p>
            <a:r>
              <a:rPr lang="en-US" dirty="0"/>
              <a:t>Each element that is stored in a map has two parts: a </a:t>
            </a:r>
            <a:r>
              <a:rPr lang="en-US" dirty="0">
                <a:hlinkClick r:id="rId2">
                  <a:extLst>
                    <a:ext uri="{A12FA001-AC4F-418D-AE19-62706E023703}">
                      <ahyp:hlinkClr xmlns:ahyp="http://schemas.microsoft.com/office/drawing/2018/hyperlinkcolor" val="tx"/>
                    </a:ext>
                  </a:extLst>
                </a:hlinkClick>
              </a:rPr>
              <a:t>key</a:t>
            </a:r>
            <a:r>
              <a:rPr lang="en-US" dirty="0"/>
              <a:t> and a </a:t>
            </a:r>
            <a:r>
              <a:rPr lang="en-US" dirty="0">
                <a:hlinkClick r:id="rId2">
                  <a:extLst>
                    <a:ext uri="{A12FA001-AC4F-418D-AE19-62706E023703}">
                      <ahyp:hlinkClr xmlns:ahyp="http://schemas.microsoft.com/office/drawing/2018/hyperlinkcolor" val="tx"/>
                    </a:ext>
                  </a:extLst>
                </a:hlinkClick>
              </a:rPr>
              <a:t>value</a:t>
            </a:r>
            <a:r>
              <a:rPr lang="en-US" dirty="0"/>
              <a:t>. </a:t>
            </a:r>
          </a:p>
          <a:p>
            <a:r>
              <a:rPr lang="en-US" dirty="0"/>
              <a:t>In fact, map elements are commonly referred to as </a:t>
            </a:r>
            <a:r>
              <a:rPr lang="en-US" dirty="0">
                <a:hlinkClick r:id="rId2">
                  <a:extLst>
                    <a:ext uri="{A12FA001-AC4F-418D-AE19-62706E023703}">
                      <ahyp:hlinkClr xmlns:ahyp="http://schemas.microsoft.com/office/drawing/2018/hyperlinkcolor" val="tx"/>
                    </a:ext>
                  </a:extLst>
                </a:hlinkClick>
              </a:rPr>
              <a:t>key-value pairs</a:t>
            </a:r>
            <a:r>
              <a:rPr lang="en-US" dirty="0"/>
              <a:t>. </a:t>
            </a:r>
          </a:p>
          <a:p>
            <a:r>
              <a:rPr lang="en-US" dirty="0"/>
              <a:t>When you want to retrieve a specific value from a map, you use the key that is associated with that value. </a:t>
            </a:r>
          </a:p>
          <a:p>
            <a:r>
              <a:rPr lang="en-US" dirty="0"/>
              <a:t>This is similar to the process of looking up a word in the dictionary, where the words are keys and the definitions are values.</a:t>
            </a:r>
          </a:p>
        </p:txBody>
      </p:sp>
    </p:spTree>
    <p:extLst>
      <p:ext uri="{BB962C8B-B14F-4D97-AF65-F5344CB8AC3E}">
        <p14:creationId xmlns:p14="http://schemas.microsoft.com/office/powerpoint/2010/main" val="1717073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95EC4-7600-A314-38BA-18FF0B35396C}"/>
              </a:ext>
            </a:extLst>
          </p:cNvPr>
          <p:cNvSpPr>
            <a:spLocks noGrp="1"/>
          </p:cNvSpPr>
          <p:nvPr>
            <p:ph type="title"/>
          </p:nvPr>
        </p:nvSpPr>
        <p:spPr/>
        <p:txBody>
          <a:bodyPr/>
          <a:lstStyle/>
          <a:p>
            <a:r>
              <a:rPr lang="en-US" dirty="0"/>
              <a:t>The map, multimap, and </a:t>
            </a:r>
            <a:r>
              <a:rPr lang="en-US" dirty="0" err="1"/>
              <a:t>unordered_map</a:t>
            </a:r>
            <a:r>
              <a:rPr lang="en-US" dirty="0"/>
              <a:t> Classes</a:t>
            </a:r>
          </a:p>
        </p:txBody>
      </p:sp>
      <p:sp>
        <p:nvSpPr>
          <p:cNvPr id="3" name="Content Placeholder 2">
            <a:extLst>
              <a:ext uri="{FF2B5EF4-FFF2-40B4-BE49-F238E27FC236}">
                <a16:creationId xmlns:a16="http://schemas.microsoft.com/office/drawing/2014/main" id="{A43AB468-5256-F96D-E95E-BE3437631917}"/>
              </a:ext>
            </a:extLst>
          </p:cNvPr>
          <p:cNvSpPr>
            <a:spLocks noGrp="1"/>
          </p:cNvSpPr>
          <p:nvPr>
            <p:ph idx="1"/>
          </p:nvPr>
        </p:nvSpPr>
        <p:spPr>
          <a:xfrm>
            <a:off x="838200" y="1825625"/>
            <a:ext cx="7424351" cy="4351338"/>
          </a:xfrm>
        </p:spPr>
        <p:txBody>
          <a:bodyPr>
            <a:normAutofit lnSpcReduction="10000"/>
          </a:bodyPr>
          <a:lstStyle/>
          <a:p>
            <a:r>
              <a:rPr lang="en-US" dirty="0"/>
              <a:t>For example, suppose each employee in a company has an ID number, and we want to write a program that lets us look up an employee’s name by entering that employee’s ID number. </a:t>
            </a:r>
          </a:p>
          <a:p>
            <a:r>
              <a:rPr lang="en-US" dirty="0"/>
              <a:t>We could create a map in which each element contains an employee ID number as the key and that employee’s name as the value.</a:t>
            </a:r>
          </a:p>
          <a:p>
            <a:r>
              <a:rPr lang="en-US" dirty="0"/>
              <a:t>If we know an employee’s ID number, then we can retrieve that employee’s name.</a:t>
            </a:r>
          </a:p>
        </p:txBody>
      </p:sp>
      <p:pic>
        <p:nvPicPr>
          <p:cNvPr id="4" name="Picture 3">
            <a:extLst>
              <a:ext uri="{FF2B5EF4-FFF2-40B4-BE49-F238E27FC236}">
                <a16:creationId xmlns:a16="http://schemas.microsoft.com/office/drawing/2014/main" id="{C260F1E6-A620-78BC-062C-3CA5F28EAD8B}"/>
              </a:ext>
            </a:extLst>
          </p:cNvPr>
          <p:cNvPicPr>
            <a:picLocks noChangeAspect="1"/>
          </p:cNvPicPr>
          <p:nvPr/>
        </p:nvPicPr>
        <p:blipFill>
          <a:blip r:embed="rId2"/>
          <a:stretch>
            <a:fillRect/>
          </a:stretch>
        </p:blipFill>
        <p:spPr>
          <a:xfrm>
            <a:off x="8598755" y="2729358"/>
            <a:ext cx="3071576" cy="2366624"/>
          </a:xfrm>
          <a:prstGeom prst="rect">
            <a:avLst/>
          </a:prstGeom>
        </p:spPr>
      </p:pic>
    </p:spTree>
    <p:extLst>
      <p:ext uri="{BB962C8B-B14F-4D97-AF65-F5344CB8AC3E}">
        <p14:creationId xmlns:p14="http://schemas.microsoft.com/office/powerpoint/2010/main" val="3511002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FE5E2-9F1F-3398-48CC-582302FA47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35C99B-AA47-A69B-46B0-3CF9CCD4FA0C}"/>
              </a:ext>
            </a:extLst>
          </p:cNvPr>
          <p:cNvSpPr>
            <a:spLocks noGrp="1"/>
          </p:cNvSpPr>
          <p:nvPr>
            <p:ph type="title"/>
          </p:nvPr>
        </p:nvSpPr>
        <p:spPr/>
        <p:txBody>
          <a:bodyPr/>
          <a:lstStyle/>
          <a:p>
            <a:r>
              <a:rPr lang="en-US" dirty="0"/>
              <a:t>The map, multimap, and </a:t>
            </a:r>
            <a:r>
              <a:rPr lang="en-US" dirty="0" err="1"/>
              <a:t>unordered_map</a:t>
            </a:r>
            <a:r>
              <a:rPr lang="en-US" dirty="0"/>
              <a:t> Classes</a:t>
            </a:r>
          </a:p>
        </p:txBody>
      </p:sp>
      <p:sp>
        <p:nvSpPr>
          <p:cNvPr id="3" name="Content Placeholder 2">
            <a:extLst>
              <a:ext uri="{FF2B5EF4-FFF2-40B4-BE49-F238E27FC236}">
                <a16:creationId xmlns:a16="http://schemas.microsoft.com/office/drawing/2014/main" id="{34D19ABF-ACEC-3C09-3152-F87C7188DFC7}"/>
              </a:ext>
            </a:extLst>
          </p:cNvPr>
          <p:cNvSpPr>
            <a:spLocks noGrp="1"/>
          </p:cNvSpPr>
          <p:nvPr>
            <p:ph idx="1"/>
          </p:nvPr>
        </p:nvSpPr>
        <p:spPr>
          <a:xfrm>
            <a:off x="838200" y="1825625"/>
            <a:ext cx="10237342" cy="4351338"/>
          </a:xfrm>
        </p:spPr>
        <p:txBody>
          <a:bodyPr>
            <a:normAutofit/>
          </a:bodyPr>
          <a:lstStyle/>
          <a:p>
            <a:r>
              <a:rPr lang="en-US" dirty="0"/>
              <a:t>Another example would be a program that lets us enter a person’s name and gives us that person’s phone number. </a:t>
            </a:r>
          </a:p>
          <a:p>
            <a:r>
              <a:rPr lang="en-US" dirty="0"/>
              <a:t>The program could use a map in which each element contains a person’s name as the key and that person’s phone number as the value. </a:t>
            </a:r>
          </a:p>
          <a:p>
            <a:r>
              <a:rPr lang="en-US" dirty="0"/>
              <a:t>If we know a person’s name, then we can retrieve that person’s phone number.</a:t>
            </a:r>
          </a:p>
          <a:p>
            <a:r>
              <a:rPr lang="en-US" dirty="0"/>
              <a:t>Key-value pairs are often referred to as </a:t>
            </a:r>
            <a:r>
              <a:rPr lang="en-US" b="1" i="1" dirty="0"/>
              <a:t>mappings</a:t>
            </a:r>
            <a:r>
              <a:rPr lang="en-US" dirty="0"/>
              <a:t> because each key is mapped to a value.</a:t>
            </a:r>
          </a:p>
        </p:txBody>
      </p:sp>
    </p:spTree>
    <p:extLst>
      <p:ext uri="{BB962C8B-B14F-4D97-AF65-F5344CB8AC3E}">
        <p14:creationId xmlns:p14="http://schemas.microsoft.com/office/powerpoint/2010/main" val="462294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EE6B9-5FE8-B97D-5086-3DCDFFBEC6EA}"/>
              </a:ext>
            </a:extLst>
          </p:cNvPr>
          <p:cNvSpPr>
            <a:spLocks noGrp="1"/>
          </p:cNvSpPr>
          <p:nvPr>
            <p:ph type="title"/>
          </p:nvPr>
        </p:nvSpPr>
        <p:spPr/>
        <p:txBody>
          <a:bodyPr/>
          <a:lstStyle/>
          <a:p>
            <a:r>
              <a:rPr lang="en-US" dirty="0"/>
              <a:t>The map Class</a:t>
            </a:r>
          </a:p>
        </p:txBody>
      </p:sp>
      <p:sp>
        <p:nvSpPr>
          <p:cNvPr id="3" name="Content Placeholder 2">
            <a:extLst>
              <a:ext uri="{FF2B5EF4-FFF2-40B4-BE49-F238E27FC236}">
                <a16:creationId xmlns:a16="http://schemas.microsoft.com/office/drawing/2014/main" id="{1E4AE64C-64D2-33EF-1B6D-5B4FDAF3502D}"/>
              </a:ext>
            </a:extLst>
          </p:cNvPr>
          <p:cNvSpPr>
            <a:spLocks noGrp="1"/>
          </p:cNvSpPr>
          <p:nvPr>
            <p:ph idx="1"/>
          </p:nvPr>
        </p:nvSpPr>
        <p:spPr/>
        <p:txBody>
          <a:bodyPr/>
          <a:lstStyle/>
          <a:p>
            <a:r>
              <a:rPr lang="en-US" dirty="0"/>
              <a:t>The STL provides a map class template that you can use to define a map container in your programs. </a:t>
            </a:r>
          </a:p>
          <a:p>
            <a:r>
              <a:rPr lang="en-US" dirty="0"/>
              <a:t>The map class provides many member functions for storing elements, retrieving elements, deleting elements, iterating over the map, and much more.</a:t>
            </a:r>
          </a:p>
          <a:p>
            <a:r>
              <a:rPr lang="en-US" dirty="0"/>
              <a:t>To use the map class, you need to </a:t>
            </a:r>
            <a:r>
              <a:rPr lang="en-US" i="1" dirty="0">
                <a:solidFill>
                  <a:srgbClr val="FF0000"/>
                </a:solidFill>
              </a:rPr>
              <a:t>#include the &lt;map&gt; </a:t>
            </a:r>
            <a:r>
              <a:rPr lang="en-US" dirty="0"/>
              <a:t>header file in your program. </a:t>
            </a:r>
          </a:p>
          <a:p>
            <a:r>
              <a:rPr lang="en-US" dirty="0"/>
              <a:t>Then, you can define a map object using one of the map class constructors</a:t>
            </a:r>
          </a:p>
        </p:txBody>
      </p:sp>
    </p:spTree>
    <p:extLst>
      <p:ext uri="{BB962C8B-B14F-4D97-AF65-F5344CB8AC3E}">
        <p14:creationId xmlns:p14="http://schemas.microsoft.com/office/powerpoint/2010/main" val="4187775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09FC5-59CC-1821-5010-02525F1B2CE7}"/>
              </a:ext>
            </a:extLst>
          </p:cNvPr>
          <p:cNvSpPr>
            <a:spLocks noGrp="1"/>
          </p:cNvSpPr>
          <p:nvPr>
            <p:ph type="title"/>
          </p:nvPr>
        </p:nvSpPr>
        <p:spPr/>
        <p:txBody>
          <a:bodyPr/>
          <a:lstStyle/>
          <a:p>
            <a:r>
              <a:rPr lang="en-US" dirty="0"/>
              <a:t>map Class Constructors</a:t>
            </a:r>
          </a:p>
        </p:txBody>
      </p:sp>
      <p:pic>
        <p:nvPicPr>
          <p:cNvPr id="4" name="Picture 3">
            <a:extLst>
              <a:ext uri="{FF2B5EF4-FFF2-40B4-BE49-F238E27FC236}">
                <a16:creationId xmlns:a16="http://schemas.microsoft.com/office/drawing/2014/main" id="{7963E5CC-89A1-7E29-DADD-FF9BAB73802F}"/>
              </a:ext>
            </a:extLst>
          </p:cNvPr>
          <p:cNvPicPr>
            <a:picLocks noChangeAspect="1"/>
          </p:cNvPicPr>
          <p:nvPr/>
        </p:nvPicPr>
        <p:blipFill>
          <a:blip r:embed="rId2"/>
          <a:stretch>
            <a:fillRect/>
          </a:stretch>
        </p:blipFill>
        <p:spPr>
          <a:xfrm>
            <a:off x="3192162" y="1604593"/>
            <a:ext cx="5807676" cy="5033319"/>
          </a:xfrm>
          <a:prstGeom prst="rect">
            <a:avLst/>
          </a:prstGeom>
        </p:spPr>
      </p:pic>
    </p:spTree>
    <p:extLst>
      <p:ext uri="{BB962C8B-B14F-4D97-AF65-F5344CB8AC3E}">
        <p14:creationId xmlns:p14="http://schemas.microsoft.com/office/powerpoint/2010/main" val="3320967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37BFD-9571-0C31-899B-7185E5625555}"/>
              </a:ext>
            </a:extLst>
          </p:cNvPr>
          <p:cNvSpPr>
            <a:spLocks noGrp="1"/>
          </p:cNvSpPr>
          <p:nvPr>
            <p:ph type="title"/>
          </p:nvPr>
        </p:nvSpPr>
        <p:spPr/>
        <p:txBody>
          <a:bodyPr/>
          <a:lstStyle/>
          <a:p>
            <a:r>
              <a:rPr lang="en-US" dirty="0"/>
              <a:t>Map member functions</a:t>
            </a:r>
          </a:p>
        </p:txBody>
      </p:sp>
      <p:pic>
        <p:nvPicPr>
          <p:cNvPr id="4" name="Picture 3">
            <a:extLst>
              <a:ext uri="{FF2B5EF4-FFF2-40B4-BE49-F238E27FC236}">
                <a16:creationId xmlns:a16="http://schemas.microsoft.com/office/drawing/2014/main" id="{436873F2-0B51-C1E6-F58F-69C20640E948}"/>
              </a:ext>
            </a:extLst>
          </p:cNvPr>
          <p:cNvPicPr>
            <a:picLocks noChangeAspect="1"/>
          </p:cNvPicPr>
          <p:nvPr/>
        </p:nvPicPr>
        <p:blipFill>
          <a:blip r:embed="rId2"/>
          <a:stretch>
            <a:fillRect/>
          </a:stretch>
        </p:blipFill>
        <p:spPr>
          <a:xfrm>
            <a:off x="2139791" y="1577330"/>
            <a:ext cx="7912418" cy="5072063"/>
          </a:xfrm>
          <a:prstGeom prst="rect">
            <a:avLst/>
          </a:prstGeom>
        </p:spPr>
      </p:pic>
    </p:spTree>
    <p:extLst>
      <p:ext uri="{BB962C8B-B14F-4D97-AF65-F5344CB8AC3E}">
        <p14:creationId xmlns:p14="http://schemas.microsoft.com/office/powerpoint/2010/main" val="1471577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5D50-B5D8-7150-341D-372251319E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C9E45C-16EB-2CBC-4A33-196958A657C9}"/>
              </a:ext>
            </a:extLst>
          </p:cNvPr>
          <p:cNvSpPr>
            <a:spLocks noGrp="1"/>
          </p:cNvSpPr>
          <p:nvPr>
            <p:ph type="title"/>
          </p:nvPr>
        </p:nvSpPr>
        <p:spPr/>
        <p:txBody>
          <a:bodyPr/>
          <a:lstStyle/>
          <a:p>
            <a:r>
              <a:rPr lang="en-US" dirty="0"/>
              <a:t>Map member functions</a:t>
            </a:r>
          </a:p>
        </p:txBody>
      </p:sp>
      <p:pic>
        <p:nvPicPr>
          <p:cNvPr id="3" name="Picture 2">
            <a:extLst>
              <a:ext uri="{FF2B5EF4-FFF2-40B4-BE49-F238E27FC236}">
                <a16:creationId xmlns:a16="http://schemas.microsoft.com/office/drawing/2014/main" id="{2003AC9A-7305-5629-0369-41C970092592}"/>
              </a:ext>
            </a:extLst>
          </p:cNvPr>
          <p:cNvPicPr>
            <a:picLocks noChangeAspect="1"/>
          </p:cNvPicPr>
          <p:nvPr/>
        </p:nvPicPr>
        <p:blipFill>
          <a:blip r:embed="rId2"/>
          <a:stretch>
            <a:fillRect/>
          </a:stretch>
        </p:blipFill>
        <p:spPr>
          <a:xfrm>
            <a:off x="1961567" y="1817130"/>
            <a:ext cx="8268865" cy="4320060"/>
          </a:xfrm>
          <a:prstGeom prst="rect">
            <a:avLst/>
          </a:prstGeom>
        </p:spPr>
      </p:pic>
    </p:spTree>
    <p:extLst>
      <p:ext uri="{BB962C8B-B14F-4D97-AF65-F5344CB8AC3E}">
        <p14:creationId xmlns:p14="http://schemas.microsoft.com/office/powerpoint/2010/main" val="2443754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F8A61-7EE8-6D0B-343E-7F699F60421C}"/>
              </a:ext>
            </a:extLst>
          </p:cNvPr>
          <p:cNvSpPr>
            <a:spLocks noGrp="1"/>
          </p:cNvSpPr>
          <p:nvPr>
            <p:ph type="title"/>
          </p:nvPr>
        </p:nvSpPr>
        <p:spPr/>
        <p:txBody>
          <a:bodyPr/>
          <a:lstStyle/>
          <a:p>
            <a:r>
              <a:rPr lang="en-US" dirty="0"/>
              <a:t>Map member functions</a:t>
            </a:r>
          </a:p>
        </p:txBody>
      </p:sp>
      <p:sp>
        <p:nvSpPr>
          <p:cNvPr id="3" name="Content Placeholder 2">
            <a:extLst>
              <a:ext uri="{FF2B5EF4-FFF2-40B4-BE49-F238E27FC236}">
                <a16:creationId xmlns:a16="http://schemas.microsoft.com/office/drawing/2014/main" id="{001EEB83-FD9E-E52E-FC15-32550BA27F55}"/>
              </a:ext>
            </a:extLst>
          </p:cNvPr>
          <p:cNvSpPr>
            <a:spLocks noGrp="1"/>
          </p:cNvSpPr>
          <p:nvPr>
            <p:ph idx="1"/>
          </p:nvPr>
        </p:nvSpPr>
        <p:spPr/>
        <p:txBody>
          <a:bodyPr/>
          <a:lstStyle/>
          <a:p>
            <a:r>
              <a:rPr lang="en-US" dirty="0"/>
              <a:t>In common with most STL containers, the map class has member functions that return iterators to the beginning and end of the container. </a:t>
            </a:r>
          </a:p>
          <a:p>
            <a:r>
              <a:rPr lang="en-US" dirty="0"/>
              <a:t>Specifically, the class </a:t>
            </a:r>
            <a:r>
              <a:rPr lang="en-US" i="1" dirty="0">
                <a:solidFill>
                  <a:srgbClr val="FF0000"/>
                </a:solidFill>
              </a:rPr>
              <a:t>has begin(), </a:t>
            </a:r>
            <a:r>
              <a:rPr lang="en-US" i="1" dirty="0" err="1">
                <a:solidFill>
                  <a:srgbClr val="FF0000"/>
                </a:solidFill>
              </a:rPr>
              <a:t>cbegin</a:t>
            </a:r>
            <a:r>
              <a:rPr lang="en-US" i="1" dirty="0">
                <a:solidFill>
                  <a:srgbClr val="FF0000"/>
                </a:solidFill>
              </a:rPr>
              <a:t>(), </a:t>
            </a:r>
            <a:r>
              <a:rPr lang="en-US" i="1" dirty="0" err="1">
                <a:solidFill>
                  <a:srgbClr val="FF0000"/>
                </a:solidFill>
              </a:rPr>
              <a:t>cend</a:t>
            </a:r>
            <a:r>
              <a:rPr lang="en-US" i="1" dirty="0">
                <a:solidFill>
                  <a:srgbClr val="FF0000"/>
                </a:solidFill>
              </a:rPr>
              <a:t>(), </a:t>
            </a:r>
            <a:r>
              <a:rPr lang="en-US" i="1" dirty="0" err="1">
                <a:solidFill>
                  <a:srgbClr val="FF0000"/>
                </a:solidFill>
              </a:rPr>
              <a:t>crbegin</a:t>
            </a:r>
            <a:r>
              <a:rPr lang="en-US" i="1" dirty="0">
                <a:solidFill>
                  <a:srgbClr val="FF0000"/>
                </a:solidFill>
              </a:rPr>
              <a:t>(), </a:t>
            </a:r>
            <a:r>
              <a:rPr lang="en-US" i="1" dirty="0" err="1">
                <a:solidFill>
                  <a:srgbClr val="FF0000"/>
                </a:solidFill>
              </a:rPr>
              <a:t>crend</a:t>
            </a:r>
            <a:r>
              <a:rPr lang="en-US" i="1" dirty="0">
                <a:solidFill>
                  <a:srgbClr val="FF0000"/>
                </a:solidFill>
              </a:rPr>
              <a:t>(), </a:t>
            </a:r>
            <a:r>
              <a:rPr lang="en-US" i="1" dirty="0" err="1">
                <a:solidFill>
                  <a:srgbClr val="FF0000"/>
                </a:solidFill>
              </a:rPr>
              <a:t>rbegin</a:t>
            </a:r>
            <a:r>
              <a:rPr lang="en-US" i="1" dirty="0">
                <a:solidFill>
                  <a:srgbClr val="FF0000"/>
                </a:solidFill>
              </a:rPr>
              <a:t>(), and rend()</a:t>
            </a:r>
            <a:r>
              <a:rPr lang="en-US" dirty="0"/>
              <a:t> member functions that return various combinations of regular, reverse, and constant iterators. </a:t>
            </a:r>
          </a:p>
          <a:p>
            <a:r>
              <a:rPr lang="en-US" dirty="0"/>
              <a:t>Unlike the sequence containers array and vector, associative containers like map do not have front() and back() iterator functions.</a:t>
            </a:r>
          </a:p>
        </p:txBody>
      </p:sp>
    </p:spTree>
    <p:extLst>
      <p:ext uri="{BB962C8B-B14F-4D97-AF65-F5344CB8AC3E}">
        <p14:creationId xmlns:p14="http://schemas.microsoft.com/office/powerpoint/2010/main" val="1334317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D94D6-9F04-2A08-28F2-5074BA4370BA}"/>
              </a:ext>
            </a:extLst>
          </p:cNvPr>
          <p:cNvSpPr>
            <a:spLocks noGrp="1"/>
          </p:cNvSpPr>
          <p:nvPr>
            <p:ph type="title"/>
          </p:nvPr>
        </p:nvSpPr>
        <p:spPr/>
        <p:txBody>
          <a:bodyPr/>
          <a:lstStyle/>
          <a:p>
            <a:r>
              <a:rPr lang="en-US" dirty="0"/>
              <a:t>The map Class</a:t>
            </a:r>
          </a:p>
        </p:txBody>
      </p:sp>
      <p:sp>
        <p:nvSpPr>
          <p:cNvPr id="3" name="Content Placeholder 2">
            <a:extLst>
              <a:ext uri="{FF2B5EF4-FFF2-40B4-BE49-F238E27FC236}">
                <a16:creationId xmlns:a16="http://schemas.microsoft.com/office/drawing/2014/main" id="{8F6008A0-6F74-2571-CCEC-7C3915873AEA}"/>
              </a:ext>
            </a:extLst>
          </p:cNvPr>
          <p:cNvSpPr>
            <a:spLocks noGrp="1"/>
          </p:cNvSpPr>
          <p:nvPr>
            <p:ph idx="1"/>
          </p:nvPr>
        </p:nvSpPr>
        <p:spPr/>
        <p:txBody>
          <a:bodyPr>
            <a:normAutofit/>
          </a:bodyPr>
          <a:lstStyle/>
          <a:p>
            <a:r>
              <a:rPr lang="en-US" dirty="0"/>
              <a:t>Here is an example of how you might define a map container to hold employee ID numbers (as </a:t>
            </a:r>
            <a:r>
              <a:rPr lang="en-US" dirty="0" err="1"/>
              <a:t>ints</a:t>
            </a:r>
            <a:r>
              <a:rPr lang="en-US" dirty="0"/>
              <a:t>) and their corresponding employee names (as strings):</a:t>
            </a:r>
          </a:p>
          <a:p>
            <a:r>
              <a:rPr lang="en-US" i="1" dirty="0">
                <a:solidFill>
                  <a:srgbClr val="FF0000"/>
                </a:solidFill>
              </a:rPr>
              <a:t>map&lt;</a:t>
            </a:r>
            <a:r>
              <a:rPr lang="en-US" b="1" i="1" dirty="0">
                <a:solidFill>
                  <a:srgbClr val="FF0000"/>
                </a:solidFill>
                <a:effectLst/>
              </a:rPr>
              <a:t>int</a:t>
            </a:r>
            <a:r>
              <a:rPr lang="en-US" i="1" dirty="0">
                <a:solidFill>
                  <a:srgbClr val="FF0000"/>
                </a:solidFill>
              </a:rPr>
              <a:t>, string&gt; employees; </a:t>
            </a:r>
          </a:p>
          <a:p>
            <a:r>
              <a:rPr lang="en-US" dirty="0"/>
              <a:t>This statement defines a map container named employees. </a:t>
            </a:r>
          </a:p>
          <a:p>
            <a:r>
              <a:rPr lang="en-US" dirty="0"/>
              <a:t>Inside the angled brackets &lt;&gt;, the first data type (int) is the type of the map’s keys, which in this case are the employee ID numbers. The second data type (string) is the type of the associated values, which in this case are the employee names. </a:t>
            </a:r>
            <a:endParaRPr lang="en-US" i="1" dirty="0">
              <a:solidFill>
                <a:srgbClr val="FF0000"/>
              </a:solidFill>
            </a:endParaRPr>
          </a:p>
        </p:txBody>
      </p:sp>
    </p:spTree>
    <p:extLst>
      <p:ext uri="{BB962C8B-B14F-4D97-AF65-F5344CB8AC3E}">
        <p14:creationId xmlns:p14="http://schemas.microsoft.com/office/powerpoint/2010/main" val="32907487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52180-EA09-369D-C781-EF8AD6CEE86B}"/>
              </a:ext>
            </a:extLst>
          </p:cNvPr>
          <p:cNvSpPr>
            <a:spLocks noGrp="1"/>
          </p:cNvSpPr>
          <p:nvPr>
            <p:ph type="title"/>
          </p:nvPr>
        </p:nvSpPr>
        <p:spPr/>
        <p:txBody>
          <a:bodyPr/>
          <a:lstStyle/>
          <a:p>
            <a:r>
              <a:rPr lang="en-US" dirty="0"/>
              <a:t>Initializing a Map</a:t>
            </a:r>
          </a:p>
        </p:txBody>
      </p:sp>
      <p:sp>
        <p:nvSpPr>
          <p:cNvPr id="3" name="Content Placeholder 2">
            <a:extLst>
              <a:ext uri="{FF2B5EF4-FFF2-40B4-BE49-F238E27FC236}">
                <a16:creationId xmlns:a16="http://schemas.microsoft.com/office/drawing/2014/main" id="{A7B63A90-CCEC-0C51-312D-AFBB2A1FB9E9}"/>
              </a:ext>
            </a:extLst>
          </p:cNvPr>
          <p:cNvSpPr>
            <a:spLocks noGrp="1"/>
          </p:cNvSpPr>
          <p:nvPr>
            <p:ph idx="1"/>
          </p:nvPr>
        </p:nvSpPr>
        <p:spPr/>
        <p:txBody>
          <a:bodyPr>
            <a:normAutofit lnSpcReduction="10000"/>
          </a:bodyPr>
          <a:lstStyle/>
          <a:p>
            <a:r>
              <a:rPr lang="en-US" dirty="0"/>
              <a:t>You can initialize a map with an initialization list. </a:t>
            </a:r>
          </a:p>
          <a:p>
            <a:r>
              <a:rPr lang="en-US" dirty="0"/>
              <a:t>The following code shows an example:</a:t>
            </a:r>
          </a:p>
          <a:p>
            <a:endParaRPr lang="en-US" dirty="0"/>
          </a:p>
          <a:p>
            <a:endParaRPr lang="en-US" dirty="0"/>
          </a:p>
          <a:p>
            <a:endParaRPr lang="en-US" dirty="0"/>
          </a:p>
          <a:p>
            <a:pPr algn="l"/>
            <a:r>
              <a:rPr lang="en-US" dirty="0">
                <a:effectLst/>
              </a:rPr>
              <a:t>Notice that inside the initialization list:</a:t>
            </a:r>
          </a:p>
          <a:p>
            <a:pPr lvl="1"/>
            <a:r>
              <a:rPr lang="en-US" dirty="0"/>
              <a:t>The initialization list is enclosed in a set of curly braces {}</a:t>
            </a:r>
          </a:p>
          <a:p>
            <a:pPr lvl="1"/>
            <a:r>
              <a:rPr lang="en-US" dirty="0"/>
              <a:t>Each element is enclosed in its own set of curly braces, with the key and the value separated by a comma</a:t>
            </a:r>
          </a:p>
          <a:p>
            <a:pPr lvl="1"/>
            <a:r>
              <a:rPr lang="en-US" dirty="0"/>
              <a:t>The elements are separated by commas</a:t>
            </a:r>
          </a:p>
          <a:p>
            <a:endParaRPr lang="en-US" dirty="0"/>
          </a:p>
        </p:txBody>
      </p:sp>
      <p:pic>
        <p:nvPicPr>
          <p:cNvPr id="4" name="Picture 3">
            <a:extLst>
              <a:ext uri="{FF2B5EF4-FFF2-40B4-BE49-F238E27FC236}">
                <a16:creationId xmlns:a16="http://schemas.microsoft.com/office/drawing/2014/main" id="{C76C735B-C6E3-2141-1BFB-2723754FCCB8}"/>
              </a:ext>
            </a:extLst>
          </p:cNvPr>
          <p:cNvPicPr>
            <a:picLocks noChangeAspect="1"/>
          </p:cNvPicPr>
          <p:nvPr/>
        </p:nvPicPr>
        <p:blipFill>
          <a:blip r:embed="rId2"/>
          <a:stretch>
            <a:fillRect/>
          </a:stretch>
        </p:blipFill>
        <p:spPr>
          <a:xfrm>
            <a:off x="3476517" y="2887038"/>
            <a:ext cx="5238966" cy="1083924"/>
          </a:xfrm>
          <a:prstGeom prst="rect">
            <a:avLst/>
          </a:prstGeom>
        </p:spPr>
      </p:pic>
    </p:spTree>
    <p:extLst>
      <p:ext uri="{BB962C8B-B14F-4D97-AF65-F5344CB8AC3E}">
        <p14:creationId xmlns:p14="http://schemas.microsoft.com/office/powerpoint/2010/main" val="1122518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6C578-F98C-3735-F79E-46518F2443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4506D8-F60D-74A4-E14E-87D4CEA1378C}"/>
              </a:ext>
            </a:extLst>
          </p:cNvPr>
          <p:cNvSpPr>
            <a:spLocks noGrp="1"/>
          </p:cNvSpPr>
          <p:nvPr>
            <p:ph type="title"/>
          </p:nvPr>
        </p:nvSpPr>
        <p:spPr/>
        <p:txBody>
          <a:bodyPr/>
          <a:lstStyle/>
          <a:p>
            <a:r>
              <a:rPr lang="en-US" dirty="0"/>
              <a:t>Initializing a Map</a:t>
            </a:r>
          </a:p>
        </p:txBody>
      </p:sp>
      <p:sp>
        <p:nvSpPr>
          <p:cNvPr id="3" name="Content Placeholder 2">
            <a:extLst>
              <a:ext uri="{FF2B5EF4-FFF2-40B4-BE49-F238E27FC236}">
                <a16:creationId xmlns:a16="http://schemas.microsoft.com/office/drawing/2014/main" id="{E95AB745-F851-5EFE-E63B-B61BB34E1BA1}"/>
              </a:ext>
            </a:extLst>
          </p:cNvPr>
          <p:cNvSpPr>
            <a:spLocks noGrp="1"/>
          </p:cNvSpPr>
          <p:nvPr>
            <p:ph idx="1"/>
          </p:nvPr>
        </p:nvSpPr>
        <p:spPr/>
        <p:txBody>
          <a:bodyPr>
            <a:normAutofit/>
          </a:bodyPr>
          <a:lstStyle/>
          <a:p>
            <a:r>
              <a:rPr lang="en-US" dirty="0"/>
              <a:t>The keys in a map container must be unique. No two elements in a map container can have the same key value.</a:t>
            </a:r>
          </a:p>
          <a:p>
            <a:r>
              <a:rPr lang="en-US" dirty="0"/>
              <a:t>If two or more elements in an initialization list have the same key, only the first will be added to the map. </a:t>
            </a:r>
          </a:p>
          <a:p>
            <a:r>
              <a:rPr lang="en-US" dirty="0"/>
              <a:t>The others will be ignored.</a:t>
            </a:r>
          </a:p>
          <a:p>
            <a:endParaRPr lang="en-US" dirty="0"/>
          </a:p>
          <a:p>
            <a:endParaRPr lang="en-US" dirty="0"/>
          </a:p>
          <a:p>
            <a:endParaRPr lang="en-US" dirty="0"/>
          </a:p>
        </p:txBody>
      </p:sp>
    </p:spTree>
    <p:extLst>
      <p:ext uri="{BB962C8B-B14F-4D97-AF65-F5344CB8AC3E}">
        <p14:creationId xmlns:p14="http://schemas.microsoft.com/office/powerpoint/2010/main" val="459529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21C56-665E-2E51-188F-D55C0EEA47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9FC4D-9254-BEAD-991E-C5C792403DAA}"/>
              </a:ext>
            </a:extLst>
          </p:cNvPr>
          <p:cNvSpPr>
            <a:spLocks noGrp="1"/>
          </p:cNvSpPr>
          <p:nvPr>
            <p:ph type="title"/>
          </p:nvPr>
        </p:nvSpPr>
        <p:spPr/>
        <p:txBody>
          <a:bodyPr/>
          <a:lstStyle/>
          <a:p>
            <a:r>
              <a:rPr lang="en-US" dirty="0"/>
              <a:t>Adding Elements to a Map</a:t>
            </a:r>
          </a:p>
        </p:txBody>
      </p:sp>
      <p:sp>
        <p:nvSpPr>
          <p:cNvPr id="3" name="Content Placeholder 2">
            <a:extLst>
              <a:ext uri="{FF2B5EF4-FFF2-40B4-BE49-F238E27FC236}">
                <a16:creationId xmlns:a16="http://schemas.microsoft.com/office/drawing/2014/main" id="{5F6C07E5-1638-39DC-B86F-47394AAB62EF}"/>
              </a:ext>
            </a:extLst>
          </p:cNvPr>
          <p:cNvSpPr>
            <a:spLocks noGrp="1"/>
          </p:cNvSpPr>
          <p:nvPr>
            <p:ph idx="1"/>
          </p:nvPr>
        </p:nvSpPr>
        <p:spPr/>
        <p:txBody>
          <a:bodyPr>
            <a:normAutofit lnSpcReduction="10000"/>
          </a:bodyPr>
          <a:lstStyle/>
          <a:p>
            <a:r>
              <a:rPr lang="en-US" dirty="0"/>
              <a:t>The map class overloads the [] operator, giving you the ability to add new elements to a map with an assignment statement in the following general format:</a:t>
            </a:r>
          </a:p>
          <a:p>
            <a:r>
              <a:rPr lang="en-US" i="1" dirty="0" err="1">
                <a:solidFill>
                  <a:srgbClr val="FF0000"/>
                </a:solidFill>
              </a:rPr>
              <a:t>mapName</a:t>
            </a:r>
            <a:r>
              <a:rPr lang="en-US" i="1" dirty="0">
                <a:solidFill>
                  <a:srgbClr val="FF0000"/>
                </a:solidFill>
              </a:rPr>
              <a:t>[key] =  value;</a:t>
            </a:r>
          </a:p>
          <a:p>
            <a:r>
              <a:rPr lang="en-US" dirty="0"/>
              <a:t>In the general format,</a:t>
            </a:r>
            <a:r>
              <a:rPr lang="en-US" i="1" dirty="0">
                <a:solidFill>
                  <a:srgbClr val="FF0000"/>
                </a:solidFill>
              </a:rPr>
              <a:t> </a:t>
            </a:r>
            <a:r>
              <a:rPr lang="en-US" i="1" dirty="0" err="1">
                <a:solidFill>
                  <a:srgbClr val="FF0000"/>
                </a:solidFill>
              </a:rPr>
              <a:t>mapName</a:t>
            </a:r>
            <a:r>
              <a:rPr lang="en-US" i="1" dirty="0">
                <a:solidFill>
                  <a:srgbClr val="FF0000"/>
                </a:solidFill>
              </a:rPr>
              <a:t> </a:t>
            </a:r>
            <a:r>
              <a:rPr lang="en-US" dirty="0"/>
              <a:t>is the name of the map, and </a:t>
            </a:r>
            <a:r>
              <a:rPr lang="en-US" i="1" dirty="0">
                <a:solidFill>
                  <a:srgbClr val="FF0000"/>
                </a:solidFill>
              </a:rPr>
              <a:t>key</a:t>
            </a:r>
            <a:r>
              <a:rPr lang="en-US" dirty="0">
                <a:solidFill>
                  <a:srgbClr val="FF0000"/>
                </a:solidFill>
              </a:rPr>
              <a:t> </a:t>
            </a:r>
            <a:r>
              <a:rPr lang="en-US" dirty="0"/>
              <a:t>is a key. </a:t>
            </a:r>
          </a:p>
          <a:p>
            <a:r>
              <a:rPr lang="en-US" dirty="0"/>
              <a:t>If </a:t>
            </a:r>
            <a:r>
              <a:rPr lang="en-US" i="1" dirty="0"/>
              <a:t>key</a:t>
            </a:r>
            <a:r>
              <a:rPr lang="en-US" dirty="0"/>
              <a:t> already exists in the map, its associated value will be changed to </a:t>
            </a:r>
            <a:r>
              <a:rPr lang="en-US" i="1" dirty="0"/>
              <a:t>value</a:t>
            </a:r>
            <a:r>
              <a:rPr lang="en-US" dirty="0"/>
              <a:t>. </a:t>
            </a:r>
          </a:p>
          <a:p>
            <a:r>
              <a:rPr lang="en-US" dirty="0"/>
              <a:t>If the </a:t>
            </a:r>
            <a:r>
              <a:rPr lang="en-US" i="1" dirty="0"/>
              <a:t>key</a:t>
            </a:r>
            <a:r>
              <a:rPr lang="en-US" dirty="0"/>
              <a:t> does not exist, it will be added to the map, along with </a:t>
            </a:r>
            <a:r>
              <a:rPr lang="en-US" i="1" dirty="0"/>
              <a:t>value</a:t>
            </a:r>
            <a:r>
              <a:rPr lang="en-US" dirty="0"/>
              <a:t> as its associated value. </a:t>
            </a:r>
            <a:endParaRPr lang="en-US" i="1" dirty="0">
              <a:solidFill>
                <a:srgbClr val="FF0000"/>
              </a:solidFill>
            </a:endParaRPr>
          </a:p>
          <a:p>
            <a:endParaRPr lang="en-US" dirty="0"/>
          </a:p>
          <a:p>
            <a:endParaRPr lang="en-US" dirty="0"/>
          </a:p>
        </p:txBody>
      </p:sp>
    </p:spTree>
    <p:extLst>
      <p:ext uri="{BB962C8B-B14F-4D97-AF65-F5344CB8AC3E}">
        <p14:creationId xmlns:p14="http://schemas.microsoft.com/office/powerpoint/2010/main" val="3910070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80336-AF82-8F9B-3B0E-0F8704D7A1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7A83C-EAC7-C2D0-0438-CFF7E0546456}"/>
              </a:ext>
            </a:extLst>
          </p:cNvPr>
          <p:cNvSpPr>
            <a:spLocks noGrp="1"/>
          </p:cNvSpPr>
          <p:nvPr>
            <p:ph type="title"/>
          </p:nvPr>
        </p:nvSpPr>
        <p:spPr/>
        <p:txBody>
          <a:bodyPr/>
          <a:lstStyle/>
          <a:p>
            <a:r>
              <a:rPr lang="en-US" dirty="0"/>
              <a:t>Adding Elements to a Map</a:t>
            </a:r>
          </a:p>
        </p:txBody>
      </p:sp>
      <p:sp>
        <p:nvSpPr>
          <p:cNvPr id="3" name="Content Placeholder 2">
            <a:extLst>
              <a:ext uri="{FF2B5EF4-FFF2-40B4-BE49-F238E27FC236}">
                <a16:creationId xmlns:a16="http://schemas.microsoft.com/office/drawing/2014/main" id="{493FBDD9-CECB-085A-B2EF-E10EA3CC7D65}"/>
              </a:ext>
            </a:extLst>
          </p:cNvPr>
          <p:cNvSpPr>
            <a:spLocks noGrp="1"/>
          </p:cNvSpPr>
          <p:nvPr>
            <p:ph idx="1"/>
          </p:nvPr>
        </p:nvSpPr>
        <p:spPr/>
        <p:txBody>
          <a:bodyPr>
            <a:normAutofit/>
          </a:bodyPr>
          <a:lstStyle/>
          <a:p>
            <a:pPr algn="l"/>
            <a:r>
              <a:rPr lang="en-US" dirty="0">
                <a:effectLst/>
              </a:rPr>
              <a:t>The following code shows an example:</a:t>
            </a:r>
          </a:p>
          <a:p>
            <a:pPr marL="457200" lvl="1" indent="0">
              <a:buNone/>
            </a:pPr>
            <a:r>
              <a:rPr lang="en-US" i="1" dirty="0">
                <a:solidFill>
                  <a:srgbClr val="FF0000"/>
                </a:solidFill>
              </a:rPr>
              <a:t>map&lt;int, string&gt; employees; </a:t>
            </a:r>
          </a:p>
          <a:p>
            <a:pPr marL="457200" lvl="1" indent="0">
              <a:buNone/>
            </a:pPr>
            <a:r>
              <a:rPr lang="en-US" i="1" dirty="0">
                <a:solidFill>
                  <a:srgbClr val="FF0000"/>
                </a:solidFill>
              </a:rPr>
              <a:t>employees[110] = "Beth Young"; </a:t>
            </a:r>
          </a:p>
          <a:p>
            <a:pPr marL="457200" lvl="1" indent="0">
              <a:buNone/>
            </a:pPr>
            <a:r>
              <a:rPr lang="en-US" i="1" dirty="0">
                <a:solidFill>
                  <a:srgbClr val="FF0000"/>
                </a:solidFill>
              </a:rPr>
              <a:t>employees[111] = "Jake Brown"; </a:t>
            </a:r>
          </a:p>
          <a:p>
            <a:pPr marL="457200" lvl="1" indent="0">
              <a:buNone/>
            </a:pPr>
            <a:r>
              <a:rPr lang="en-US" i="1" dirty="0">
                <a:solidFill>
                  <a:srgbClr val="FF0000"/>
                </a:solidFill>
              </a:rPr>
              <a:t>employees[112] = "Emily Davis";</a:t>
            </a:r>
          </a:p>
          <a:p>
            <a:r>
              <a:rPr lang="en-US" dirty="0"/>
              <a:t>The first statement creates an empty map container named employees. </a:t>
            </a:r>
          </a:p>
          <a:p>
            <a:r>
              <a:rPr lang="en-US" dirty="0"/>
              <a:t>The statements that follow then add the elements to the map</a:t>
            </a:r>
          </a:p>
          <a:p>
            <a:endParaRPr lang="en-US" dirty="0"/>
          </a:p>
          <a:p>
            <a:endParaRPr lang="en-US" dirty="0"/>
          </a:p>
        </p:txBody>
      </p:sp>
    </p:spTree>
    <p:extLst>
      <p:ext uri="{BB962C8B-B14F-4D97-AF65-F5344CB8AC3E}">
        <p14:creationId xmlns:p14="http://schemas.microsoft.com/office/powerpoint/2010/main" val="3403956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899AD-90E3-AA5B-DC8D-64F597C2EC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4015A2-C983-F1AA-23C5-1E5E16AEB3AB}"/>
              </a:ext>
            </a:extLst>
          </p:cNvPr>
          <p:cNvSpPr>
            <a:spLocks noGrp="1"/>
          </p:cNvSpPr>
          <p:nvPr>
            <p:ph type="title"/>
          </p:nvPr>
        </p:nvSpPr>
        <p:spPr/>
        <p:txBody>
          <a:bodyPr/>
          <a:lstStyle/>
          <a:p>
            <a:r>
              <a:rPr lang="en-US" dirty="0"/>
              <a:t>Adding Elements to a Map</a:t>
            </a:r>
          </a:p>
        </p:txBody>
      </p:sp>
      <p:sp>
        <p:nvSpPr>
          <p:cNvPr id="3" name="Content Placeholder 2">
            <a:extLst>
              <a:ext uri="{FF2B5EF4-FFF2-40B4-BE49-F238E27FC236}">
                <a16:creationId xmlns:a16="http://schemas.microsoft.com/office/drawing/2014/main" id="{1DA6F062-AD6D-019B-5730-6171E1D2DC74}"/>
              </a:ext>
            </a:extLst>
          </p:cNvPr>
          <p:cNvSpPr>
            <a:spLocks noGrp="1"/>
          </p:cNvSpPr>
          <p:nvPr>
            <p:ph idx="1"/>
          </p:nvPr>
        </p:nvSpPr>
        <p:spPr/>
        <p:txBody>
          <a:bodyPr>
            <a:normAutofit/>
          </a:bodyPr>
          <a:lstStyle/>
          <a:p>
            <a:r>
              <a:rPr lang="en-US" dirty="0"/>
              <a:t>Remember, the keys in a map must be unique. </a:t>
            </a:r>
          </a:p>
          <a:p>
            <a:r>
              <a:rPr lang="en-US" dirty="0"/>
              <a:t>If you assign a new value to an existing key, the new value will replace the previously stored value. </a:t>
            </a:r>
          </a:p>
          <a:p>
            <a:r>
              <a:rPr lang="en-US" dirty="0"/>
              <a:t>For example, look at the following code:</a:t>
            </a:r>
          </a:p>
          <a:p>
            <a:pPr marL="457200" lvl="1" indent="0">
              <a:buNone/>
            </a:pPr>
            <a:r>
              <a:rPr lang="en-US" i="1" dirty="0">
                <a:solidFill>
                  <a:srgbClr val="FF0000"/>
                </a:solidFill>
              </a:rPr>
              <a:t>map&lt;int, string&gt; employees; </a:t>
            </a:r>
          </a:p>
          <a:p>
            <a:pPr marL="457200" lvl="1" indent="0">
              <a:buNone/>
            </a:pPr>
            <a:r>
              <a:rPr lang="en-US" i="1" dirty="0">
                <a:solidFill>
                  <a:srgbClr val="FF0000"/>
                </a:solidFill>
              </a:rPr>
              <a:t>employees[110] = "Beth Young"; </a:t>
            </a:r>
          </a:p>
          <a:p>
            <a:pPr marL="457200" lvl="1" indent="0">
              <a:buNone/>
            </a:pPr>
            <a:r>
              <a:rPr lang="en-US" i="1" dirty="0">
                <a:solidFill>
                  <a:srgbClr val="FF0000"/>
                </a:solidFill>
              </a:rPr>
              <a:t>employees[110] = "Jake Brown”;</a:t>
            </a:r>
          </a:p>
          <a:p>
            <a:endParaRPr lang="en-US" dirty="0"/>
          </a:p>
        </p:txBody>
      </p:sp>
    </p:spTree>
    <p:extLst>
      <p:ext uri="{BB962C8B-B14F-4D97-AF65-F5344CB8AC3E}">
        <p14:creationId xmlns:p14="http://schemas.microsoft.com/office/powerpoint/2010/main" val="2022594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15010-08D0-6DC0-3BCB-46A8D3CDC8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07BFDD-429A-688C-2F93-4297EB130D63}"/>
              </a:ext>
            </a:extLst>
          </p:cNvPr>
          <p:cNvSpPr>
            <a:spLocks noGrp="1"/>
          </p:cNvSpPr>
          <p:nvPr>
            <p:ph type="title"/>
          </p:nvPr>
        </p:nvSpPr>
        <p:spPr/>
        <p:txBody>
          <a:bodyPr/>
          <a:lstStyle/>
          <a:p>
            <a:r>
              <a:rPr lang="en-US" dirty="0"/>
              <a:t>Adding Elements with the insert() Member Function</a:t>
            </a:r>
          </a:p>
        </p:txBody>
      </p:sp>
      <p:sp>
        <p:nvSpPr>
          <p:cNvPr id="3" name="Content Placeholder 2">
            <a:extLst>
              <a:ext uri="{FF2B5EF4-FFF2-40B4-BE49-F238E27FC236}">
                <a16:creationId xmlns:a16="http://schemas.microsoft.com/office/drawing/2014/main" id="{0780D892-88F8-D4C9-6F11-44B0B8F4F51A}"/>
              </a:ext>
            </a:extLst>
          </p:cNvPr>
          <p:cNvSpPr>
            <a:spLocks noGrp="1"/>
          </p:cNvSpPr>
          <p:nvPr>
            <p:ph idx="1"/>
          </p:nvPr>
        </p:nvSpPr>
        <p:spPr/>
        <p:txBody>
          <a:bodyPr>
            <a:normAutofit/>
          </a:bodyPr>
          <a:lstStyle/>
          <a:p>
            <a:r>
              <a:rPr lang="en-US" dirty="0"/>
              <a:t>When an element is stored in a map, it is stored as object of the pair type. </a:t>
            </a:r>
          </a:p>
          <a:p>
            <a:r>
              <a:rPr lang="en-US" dirty="0"/>
              <a:t>The pair type is a struct that has two member variables: first and second. </a:t>
            </a:r>
          </a:p>
          <a:p>
            <a:r>
              <a:rPr lang="en-US" dirty="0"/>
              <a:t>The element's key is stored in the first member variable, and the element's value is stored in the second member variable.</a:t>
            </a:r>
          </a:p>
        </p:txBody>
      </p:sp>
    </p:spTree>
    <p:extLst>
      <p:ext uri="{BB962C8B-B14F-4D97-AF65-F5344CB8AC3E}">
        <p14:creationId xmlns:p14="http://schemas.microsoft.com/office/powerpoint/2010/main" val="1692089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BD774-6D90-F52A-094D-DBEE95BA24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6E9F17-CF0D-3A78-528B-42EFE76FFEF7}"/>
              </a:ext>
            </a:extLst>
          </p:cNvPr>
          <p:cNvSpPr>
            <a:spLocks noGrp="1"/>
          </p:cNvSpPr>
          <p:nvPr>
            <p:ph type="title"/>
          </p:nvPr>
        </p:nvSpPr>
        <p:spPr/>
        <p:txBody>
          <a:bodyPr/>
          <a:lstStyle/>
          <a:p>
            <a:r>
              <a:rPr lang="en-US" dirty="0"/>
              <a:t>Adding Elements with the </a:t>
            </a:r>
            <a:r>
              <a:rPr lang="en-US" dirty="0">
                <a:solidFill>
                  <a:srgbClr val="FF0000"/>
                </a:solidFill>
              </a:rPr>
              <a:t>insert() </a:t>
            </a:r>
            <a:r>
              <a:rPr lang="en-US" dirty="0"/>
              <a:t>Member Function</a:t>
            </a:r>
          </a:p>
        </p:txBody>
      </p:sp>
      <p:sp>
        <p:nvSpPr>
          <p:cNvPr id="3" name="Content Placeholder 2">
            <a:extLst>
              <a:ext uri="{FF2B5EF4-FFF2-40B4-BE49-F238E27FC236}">
                <a16:creationId xmlns:a16="http://schemas.microsoft.com/office/drawing/2014/main" id="{D771F791-6552-4D9F-A115-AE9BCC5A1AD9}"/>
              </a:ext>
            </a:extLst>
          </p:cNvPr>
          <p:cNvSpPr>
            <a:spLocks noGrp="1"/>
          </p:cNvSpPr>
          <p:nvPr>
            <p:ph idx="1"/>
          </p:nvPr>
        </p:nvSpPr>
        <p:spPr/>
        <p:txBody>
          <a:bodyPr>
            <a:normAutofit/>
          </a:bodyPr>
          <a:lstStyle/>
          <a:p>
            <a:r>
              <a:rPr lang="en-US" dirty="0"/>
              <a:t>The map class provides an </a:t>
            </a:r>
            <a:r>
              <a:rPr lang="en-US" i="1" dirty="0">
                <a:solidFill>
                  <a:srgbClr val="FF0000"/>
                </a:solidFill>
              </a:rPr>
              <a:t>insert() </a:t>
            </a:r>
            <a:r>
              <a:rPr lang="en-US" dirty="0"/>
              <a:t>member function that adds a pair object as an element to the map. </a:t>
            </a:r>
          </a:p>
          <a:p>
            <a:r>
              <a:rPr lang="en-US" dirty="0"/>
              <a:t>You can use the STL function </a:t>
            </a:r>
            <a:r>
              <a:rPr lang="en-US" i="1" dirty="0" err="1">
                <a:solidFill>
                  <a:srgbClr val="FF0000"/>
                </a:solidFill>
              </a:rPr>
              <a:t>make_pair</a:t>
            </a:r>
            <a:r>
              <a:rPr lang="en-US" i="1" dirty="0">
                <a:solidFill>
                  <a:srgbClr val="FF0000"/>
                </a:solidFill>
              </a:rPr>
              <a:t> </a:t>
            </a:r>
            <a:r>
              <a:rPr lang="en-US" dirty="0"/>
              <a:t>to construct a pair object, as shown in the following code:</a:t>
            </a:r>
          </a:p>
          <a:p>
            <a:pPr marL="457200" lvl="1" indent="0">
              <a:buNone/>
            </a:pPr>
            <a:r>
              <a:rPr lang="en-US" i="1" dirty="0">
                <a:solidFill>
                  <a:srgbClr val="FF0000"/>
                </a:solidFill>
              </a:rPr>
              <a:t>map&lt;int, string&gt; employees; </a:t>
            </a:r>
          </a:p>
          <a:p>
            <a:pPr marL="457200" lvl="1" indent="0">
              <a:buNone/>
            </a:pPr>
            <a:r>
              <a:rPr lang="en-US" i="1" dirty="0" err="1">
                <a:solidFill>
                  <a:srgbClr val="FF0000"/>
                </a:solidFill>
              </a:rPr>
              <a:t>employees.insert</a:t>
            </a:r>
            <a:r>
              <a:rPr lang="en-US" i="1" dirty="0">
                <a:solidFill>
                  <a:srgbClr val="FF0000"/>
                </a:solidFill>
              </a:rPr>
              <a:t>(</a:t>
            </a:r>
            <a:r>
              <a:rPr lang="en-US" i="1" dirty="0" err="1">
                <a:solidFill>
                  <a:srgbClr val="FF0000"/>
                </a:solidFill>
              </a:rPr>
              <a:t>make_pair</a:t>
            </a:r>
            <a:r>
              <a:rPr lang="en-US" i="1" dirty="0">
                <a:solidFill>
                  <a:srgbClr val="FF0000"/>
                </a:solidFill>
              </a:rPr>
              <a:t>(110, "Beth Young")); </a:t>
            </a:r>
          </a:p>
          <a:p>
            <a:pPr marL="457200" lvl="1" indent="0">
              <a:buNone/>
            </a:pPr>
            <a:r>
              <a:rPr lang="en-US" i="1" dirty="0" err="1">
                <a:solidFill>
                  <a:srgbClr val="FF0000"/>
                </a:solidFill>
              </a:rPr>
              <a:t>employees.insert</a:t>
            </a:r>
            <a:r>
              <a:rPr lang="en-US" i="1" dirty="0">
                <a:solidFill>
                  <a:srgbClr val="FF0000"/>
                </a:solidFill>
              </a:rPr>
              <a:t>(</a:t>
            </a:r>
            <a:r>
              <a:rPr lang="en-US" i="1" dirty="0" err="1">
                <a:solidFill>
                  <a:srgbClr val="FF0000"/>
                </a:solidFill>
              </a:rPr>
              <a:t>make_pair</a:t>
            </a:r>
            <a:r>
              <a:rPr lang="en-US" i="1" dirty="0">
                <a:solidFill>
                  <a:srgbClr val="FF0000"/>
                </a:solidFill>
              </a:rPr>
              <a:t>(111, "Jake Brown")); </a:t>
            </a:r>
          </a:p>
          <a:p>
            <a:pPr marL="457200" lvl="1" indent="0">
              <a:buNone/>
            </a:pPr>
            <a:r>
              <a:rPr lang="en-US" i="1" dirty="0" err="1">
                <a:solidFill>
                  <a:srgbClr val="FF0000"/>
                </a:solidFill>
              </a:rPr>
              <a:t>employees.insert</a:t>
            </a:r>
            <a:r>
              <a:rPr lang="en-US" i="1" dirty="0">
                <a:solidFill>
                  <a:srgbClr val="FF0000"/>
                </a:solidFill>
              </a:rPr>
              <a:t>(</a:t>
            </a:r>
            <a:r>
              <a:rPr lang="en-US" i="1" dirty="0" err="1">
                <a:solidFill>
                  <a:srgbClr val="FF0000"/>
                </a:solidFill>
              </a:rPr>
              <a:t>make_pair</a:t>
            </a:r>
            <a:r>
              <a:rPr lang="en-US" i="1" dirty="0">
                <a:solidFill>
                  <a:srgbClr val="FF0000"/>
                </a:solidFill>
              </a:rPr>
              <a:t>(112, "Emily Davis"));</a:t>
            </a:r>
          </a:p>
          <a:p>
            <a:pPr marL="457200" lvl="1" indent="0">
              <a:buNone/>
            </a:pPr>
            <a:endParaRPr lang="en-US" i="1" dirty="0">
              <a:solidFill>
                <a:srgbClr val="FF0000"/>
              </a:solidFill>
            </a:endParaRPr>
          </a:p>
        </p:txBody>
      </p:sp>
    </p:spTree>
    <p:extLst>
      <p:ext uri="{BB962C8B-B14F-4D97-AF65-F5344CB8AC3E}">
        <p14:creationId xmlns:p14="http://schemas.microsoft.com/office/powerpoint/2010/main" val="752255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E6C62-3872-5582-B761-A9A88983E68F}"/>
              </a:ext>
            </a:extLst>
          </p:cNvPr>
          <p:cNvSpPr>
            <a:spLocks noGrp="1"/>
          </p:cNvSpPr>
          <p:nvPr>
            <p:ph type="title"/>
          </p:nvPr>
        </p:nvSpPr>
        <p:spPr/>
        <p:txBody>
          <a:bodyPr/>
          <a:lstStyle/>
          <a:p>
            <a:r>
              <a:rPr lang="en-US" dirty="0"/>
              <a:t>Adding Elements with the </a:t>
            </a:r>
            <a:r>
              <a:rPr lang="en-US" dirty="0">
                <a:solidFill>
                  <a:srgbClr val="FF0000"/>
                </a:solidFill>
              </a:rPr>
              <a:t>emplace() </a:t>
            </a:r>
            <a:r>
              <a:rPr lang="en-US" dirty="0"/>
              <a:t>Member Function</a:t>
            </a:r>
          </a:p>
        </p:txBody>
      </p:sp>
      <p:sp>
        <p:nvSpPr>
          <p:cNvPr id="3" name="Content Placeholder 2">
            <a:extLst>
              <a:ext uri="{FF2B5EF4-FFF2-40B4-BE49-F238E27FC236}">
                <a16:creationId xmlns:a16="http://schemas.microsoft.com/office/drawing/2014/main" id="{D9581931-582B-1A16-D2F4-E204B1320398}"/>
              </a:ext>
            </a:extLst>
          </p:cNvPr>
          <p:cNvSpPr>
            <a:spLocks noGrp="1"/>
          </p:cNvSpPr>
          <p:nvPr>
            <p:ph idx="1"/>
          </p:nvPr>
        </p:nvSpPr>
        <p:spPr/>
        <p:txBody>
          <a:bodyPr>
            <a:normAutofit fontScale="92500" lnSpcReduction="10000"/>
          </a:bodyPr>
          <a:lstStyle/>
          <a:p>
            <a:r>
              <a:rPr lang="en-US" dirty="0">
                <a:effectLst/>
              </a:rPr>
              <a:t>The map class provides an emplace() member function that constructs a new element in the container. </a:t>
            </a:r>
          </a:p>
          <a:p>
            <a:r>
              <a:rPr lang="en-US" dirty="0">
                <a:effectLst/>
              </a:rPr>
              <a:t>You simply call the member function, passing the new element's key and value as arguments. </a:t>
            </a:r>
          </a:p>
          <a:p>
            <a:r>
              <a:rPr lang="en-US" dirty="0">
                <a:effectLst/>
              </a:rPr>
              <a:t>The following code shows an example:</a:t>
            </a:r>
          </a:p>
          <a:p>
            <a:pPr marL="457200" lvl="1" indent="0">
              <a:buNone/>
            </a:pPr>
            <a:r>
              <a:rPr lang="en-US" i="1" dirty="0">
                <a:solidFill>
                  <a:srgbClr val="FF0000"/>
                </a:solidFill>
              </a:rPr>
              <a:t>map&lt;int, string&gt; employees; </a:t>
            </a:r>
          </a:p>
          <a:p>
            <a:pPr marL="457200" lvl="1" indent="0">
              <a:buNone/>
            </a:pPr>
            <a:r>
              <a:rPr lang="en-US" i="1" dirty="0" err="1">
                <a:solidFill>
                  <a:srgbClr val="FF0000"/>
                </a:solidFill>
              </a:rPr>
              <a:t>employees.emplace</a:t>
            </a:r>
            <a:r>
              <a:rPr lang="en-US" i="1" dirty="0">
                <a:solidFill>
                  <a:srgbClr val="FF0000"/>
                </a:solidFill>
              </a:rPr>
              <a:t>(110, "Beth Young"); </a:t>
            </a:r>
          </a:p>
          <a:p>
            <a:pPr marL="457200" lvl="1" indent="0">
              <a:buNone/>
            </a:pPr>
            <a:r>
              <a:rPr lang="en-US" i="1" dirty="0" err="1">
                <a:solidFill>
                  <a:srgbClr val="FF0000"/>
                </a:solidFill>
              </a:rPr>
              <a:t>employees.emplace</a:t>
            </a:r>
            <a:r>
              <a:rPr lang="en-US" i="1" dirty="0">
                <a:solidFill>
                  <a:srgbClr val="FF0000"/>
                </a:solidFill>
              </a:rPr>
              <a:t>(111, "Jake Brown"); </a:t>
            </a:r>
          </a:p>
          <a:p>
            <a:pPr marL="457200" lvl="1" indent="0">
              <a:buNone/>
            </a:pPr>
            <a:r>
              <a:rPr lang="en-US" i="1" dirty="0" err="1">
                <a:solidFill>
                  <a:srgbClr val="FF0000"/>
                </a:solidFill>
              </a:rPr>
              <a:t>employees.emplace</a:t>
            </a:r>
            <a:r>
              <a:rPr lang="en-US" i="1" dirty="0">
                <a:solidFill>
                  <a:srgbClr val="FF0000"/>
                </a:solidFill>
              </a:rPr>
              <a:t>(112, "Emily Davis");</a:t>
            </a:r>
          </a:p>
          <a:p>
            <a:r>
              <a:rPr lang="en-US" dirty="0"/>
              <a:t>If the element that you are inserting with the </a:t>
            </a:r>
            <a:r>
              <a:rPr lang="en-US" b="1" dirty="0"/>
              <a:t>insert() or emplace() </a:t>
            </a:r>
            <a:r>
              <a:rPr lang="en-US" dirty="0"/>
              <a:t>member function has the same key as an existing element, the function will not insert the new element.</a:t>
            </a:r>
            <a:endParaRPr lang="en-US" dirty="0">
              <a:effectLst/>
            </a:endParaRPr>
          </a:p>
          <a:p>
            <a:endParaRPr lang="en-US" dirty="0"/>
          </a:p>
        </p:txBody>
      </p:sp>
    </p:spTree>
    <p:extLst>
      <p:ext uri="{BB962C8B-B14F-4D97-AF65-F5344CB8AC3E}">
        <p14:creationId xmlns:p14="http://schemas.microsoft.com/office/powerpoint/2010/main" val="25652089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1FBD8-6F24-53D9-C48C-A930C5104528}"/>
              </a:ext>
            </a:extLst>
          </p:cNvPr>
          <p:cNvSpPr>
            <a:spLocks noGrp="1"/>
          </p:cNvSpPr>
          <p:nvPr>
            <p:ph type="title"/>
          </p:nvPr>
        </p:nvSpPr>
        <p:spPr/>
        <p:txBody>
          <a:bodyPr/>
          <a:lstStyle/>
          <a:p>
            <a:r>
              <a:rPr lang="en-US" dirty="0"/>
              <a:t>Retrieving Values from a Map</a:t>
            </a:r>
          </a:p>
        </p:txBody>
      </p:sp>
      <p:sp>
        <p:nvSpPr>
          <p:cNvPr id="3" name="Content Placeholder 2">
            <a:extLst>
              <a:ext uri="{FF2B5EF4-FFF2-40B4-BE49-F238E27FC236}">
                <a16:creationId xmlns:a16="http://schemas.microsoft.com/office/drawing/2014/main" id="{C003F65B-9C3B-1C7A-E0C5-0509814107D2}"/>
              </a:ext>
            </a:extLst>
          </p:cNvPr>
          <p:cNvSpPr>
            <a:spLocks noGrp="1"/>
          </p:cNvSpPr>
          <p:nvPr>
            <p:ph idx="1"/>
          </p:nvPr>
        </p:nvSpPr>
        <p:spPr/>
        <p:txBody>
          <a:bodyPr/>
          <a:lstStyle/>
          <a:p>
            <a:r>
              <a:rPr lang="en-US" dirty="0"/>
              <a:t>To retrieve a value from a map, you call the </a:t>
            </a:r>
            <a:r>
              <a:rPr lang="en-US" i="1" dirty="0">
                <a:solidFill>
                  <a:srgbClr val="FF0000"/>
                </a:solidFill>
              </a:rPr>
              <a:t>at() member function</a:t>
            </a:r>
            <a:r>
              <a:rPr lang="en-US" dirty="0"/>
              <a:t>, passing the key that is associated with the desired value. </a:t>
            </a:r>
          </a:p>
          <a:p>
            <a:r>
              <a:rPr lang="en-US" dirty="0"/>
              <a:t>If the specified key exists in the container, the function returns its associated value. </a:t>
            </a:r>
          </a:p>
          <a:p>
            <a:r>
              <a:rPr lang="en-US" dirty="0"/>
              <a:t>If the key does not exist, the function throws an exception. </a:t>
            </a:r>
          </a:p>
        </p:txBody>
      </p:sp>
      <p:pic>
        <p:nvPicPr>
          <p:cNvPr id="4" name="Picture 3">
            <a:extLst>
              <a:ext uri="{FF2B5EF4-FFF2-40B4-BE49-F238E27FC236}">
                <a16:creationId xmlns:a16="http://schemas.microsoft.com/office/drawing/2014/main" id="{5AFE1EEA-1790-3E47-970B-A1FE04EB4101}"/>
              </a:ext>
            </a:extLst>
          </p:cNvPr>
          <p:cNvPicPr>
            <a:picLocks noChangeAspect="1"/>
          </p:cNvPicPr>
          <p:nvPr/>
        </p:nvPicPr>
        <p:blipFill>
          <a:blip r:embed="rId2"/>
          <a:stretch>
            <a:fillRect/>
          </a:stretch>
        </p:blipFill>
        <p:spPr>
          <a:xfrm>
            <a:off x="3622280" y="4278527"/>
            <a:ext cx="4947439" cy="1898436"/>
          </a:xfrm>
          <a:prstGeom prst="rect">
            <a:avLst/>
          </a:prstGeom>
        </p:spPr>
      </p:pic>
    </p:spTree>
    <p:extLst>
      <p:ext uri="{BB962C8B-B14F-4D97-AF65-F5344CB8AC3E}">
        <p14:creationId xmlns:p14="http://schemas.microsoft.com/office/powerpoint/2010/main" val="1498081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B1F85-0BA2-21C1-14BE-3DD57B32FF8E}"/>
              </a:ext>
            </a:extLst>
          </p:cNvPr>
          <p:cNvSpPr>
            <a:spLocks noGrp="1"/>
          </p:cNvSpPr>
          <p:nvPr>
            <p:ph type="title"/>
          </p:nvPr>
        </p:nvSpPr>
        <p:spPr/>
        <p:txBody>
          <a:bodyPr/>
          <a:lstStyle/>
          <a:p>
            <a:r>
              <a:rPr lang="en-US" dirty="0"/>
              <a:t>Retrieving Values from a Map</a:t>
            </a:r>
          </a:p>
        </p:txBody>
      </p:sp>
      <p:sp>
        <p:nvSpPr>
          <p:cNvPr id="3" name="Content Placeholder 2">
            <a:extLst>
              <a:ext uri="{FF2B5EF4-FFF2-40B4-BE49-F238E27FC236}">
                <a16:creationId xmlns:a16="http://schemas.microsoft.com/office/drawing/2014/main" id="{F160385F-8B62-D650-3E3D-F62829954F46}"/>
              </a:ext>
            </a:extLst>
          </p:cNvPr>
          <p:cNvSpPr>
            <a:spLocks noGrp="1"/>
          </p:cNvSpPr>
          <p:nvPr>
            <p:ph idx="1"/>
          </p:nvPr>
        </p:nvSpPr>
        <p:spPr/>
        <p:txBody>
          <a:bodyPr/>
          <a:lstStyle/>
          <a:p>
            <a:r>
              <a:rPr lang="en-US" dirty="0"/>
              <a:t>If the key that you pass to the at() member function does not exist in the map, the at() member function will throw an exception. </a:t>
            </a:r>
          </a:p>
          <a:p>
            <a:r>
              <a:rPr lang="en-US" dirty="0"/>
              <a:t>To prevent this, you should first call the </a:t>
            </a:r>
            <a:r>
              <a:rPr lang="en-US" i="1" dirty="0">
                <a:solidFill>
                  <a:srgbClr val="FF0000"/>
                </a:solidFill>
              </a:rPr>
              <a:t>count() member function </a:t>
            </a:r>
            <a:r>
              <a:rPr lang="en-US" dirty="0"/>
              <a:t>to determine whether the key exists in the map. </a:t>
            </a:r>
          </a:p>
          <a:p>
            <a:r>
              <a:rPr lang="en-US" dirty="0"/>
              <a:t>You call the count() member function, passing a key as the argument.</a:t>
            </a:r>
          </a:p>
          <a:p>
            <a:r>
              <a:rPr lang="en-US" dirty="0"/>
              <a:t> If the specified key exists in the container, the function returns 1. If the key does not exist, the function returns 0.</a:t>
            </a:r>
          </a:p>
        </p:txBody>
      </p:sp>
    </p:spTree>
    <p:extLst>
      <p:ext uri="{BB962C8B-B14F-4D97-AF65-F5344CB8AC3E}">
        <p14:creationId xmlns:p14="http://schemas.microsoft.com/office/powerpoint/2010/main" val="862971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07393-57AE-6A4B-D60E-3A664EF7A0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BA7861-0671-5184-2235-7CC90551AF2F}"/>
              </a:ext>
            </a:extLst>
          </p:cNvPr>
          <p:cNvSpPr>
            <a:spLocks noGrp="1"/>
          </p:cNvSpPr>
          <p:nvPr>
            <p:ph type="title"/>
          </p:nvPr>
        </p:nvSpPr>
        <p:spPr/>
        <p:txBody>
          <a:bodyPr/>
          <a:lstStyle/>
          <a:p>
            <a:r>
              <a:rPr lang="en-US" dirty="0"/>
              <a:t>Retrieving Values from a Map</a:t>
            </a:r>
          </a:p>
        </p:txBody>
      </p:sp>
      <p:pic>
        <p:nvPicPr>
          <p:cNvPr id="6" name="Picture 5">
            <a:extLst>
              <a:ext uri="{FF2B5EF4-FFF2-40B4-BE49-F238E27FC236}">
                <a16:creationId xmlns:a16="http://schemas.microsoft.com/office/drawing/2014/main" id="{9666BA46-F9CD-B08F-8912-652EE9AE0E28}"/>
              </a:ext>
            </a:extLst>
          </p:cNvPr>
          <p:cNvPicPr>
            <a:picLocks noChangeAspect="1"/>
          </p:cNvPicPr>
          <p:nvPr/>
        </p:nvPicPr>
        <p:blipFill>
          <a:blip r:embed="rId3"/>
          <a:stretch>
            <a:fillRect/>
          </a:stretch>
        </p:blipFill>
        <p:spPr>
          <a:xfrm>
            <a:off x="2986690" y="2102022"/>
            <a:ext cx="6218620" cy="3140717"/>
          </a:xfrm>
          <a:prstGeom prst="rect">
            <a:avLst/>
          </a:prstGeom>
        </p:spPr>
      </p:pic>
    </p:spTree>
    <p:extLst>
      <p:ext uri="{BB962C8B-B14F-4D97-AF65-F5344CB8AC3E}">
        <p14:creationId xmlns:p14="http://schemas.microsoft.com/office/powerpoint/2010/main" val="10824254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4CBAE-FAAC-741F-D8BC-3B2C90E82AE3}"/>
              </a:ext>
            </a:extLst>
          </p:cNvPr>
          <p:cNvSpPr>
            <a:spLocks noGrp="1"/>
          </p:cNvSpPr>
          <p:nvPr>
            <p:ph type="title"/>
          </p:nvPr>
        </p:nvSpPr>
        <p:spPr/>
        <p:txBody>
          <a:bodyPr/>
          <a:lstStyle/>
          <a:p>
            <a:r>
              <a:rPr lang="en-US" dirty="0"/>
              <a:t>Deleting Elements</a:t>
            </a:r>
          </a:p>
        </p:txBody>
      </p:sp>
      <p:sp>
        <p:nvSpPr>
          <p:cNvPr id="3" name="Content Placeholder 2">
            <a:extLst>
              <a:ext uri="{FF2B5EF4-FFF2-40B4-BE49-F238E27FC236}">
                <a16:creationId xmlns:a16="http://schemas.microsoft.com/office/drawing/2014/main" id="{FDAD85BF-687F-7E23-24BA-E87E78B15DF4}"/>
              </a:ext>
            </a:extLst>
          </p:cNvPr>
          <p:cNvSpPr>
            <a:spLocks noGrp="1"/>
          </p:cNvSpPr>
          <p:nvPr>
            <p:ph idx="1"/>
          </p:nvPr>
        </p:nvSpPr>
        <p:spPr/>
        <p:txBody>
          <a:bodyPr>
            <a:normAutofit lnSpcReduction="10000"/>
          </a:bodyPr>
          <a:lstStyle/>
          <a:p>
            <a:r>
              <a:rPr lang="en-US" dirty="0"/>
              <a:t>You can delete, or erase, an element from a map using the </a:t>
            </a:r>
            <a:r>
              <a:rPr lang="en-US" dirty="0">
                <a:solidFill>
                  <a:srgbClr val="FF0000"/>
                </a:solidFill>
              </a:rPr>
              <a:t>erase() member function.</a:t>
            </a:r>
            <a:r>
              <a:rPr lang="en-US" dirty="0"/>
              <a:t> </a:t>
            </a:r>
          </a:p>
          <a:p>
            <a:r>
              <a:rPr lang="en-US" dirty="0"/>
              <a:t>You call the erase() member function, passing the key that is associated with the element you want to erase. </a:t>
            </a:r>
          </a:p>
          <a:p>
            <a:endParaRPr lang="en-US" dirty="0"/>
          </a:p>
          <a:p>
            <a:endParaRPr lang="en-US" dirty="0"/>
          </a:p>
          <a:p>
            <a:endParaRPr lang="en-US" dirty="0"/>
          </a:p>
          <a:p>
            <a:endParaRPr lang="en-US" dirty="0"/>
          </a:p>
          <a:p>
            <a:r>
              <a:rPr lang="en-US" dirty="0"/>
              <a:t>The erase() member function returns 1 if the specified element was successfully erased, or 0 if it was not found.</a:t>
            </a:r>
          </a:p>
        </p:txBody>
      </p:sp>
      <p:pic>
        <p:nvPicPr>
          <p:cNvPr id="4" name="Picture 3">
            <a:extLst>
              <a:ext uri="{FF2B5EF4-FFF2-40B4-BE49-F238E27FC236}">
                <a16:creationId xmlns:a16="http://schemas.microsoft.com/office/drawing/2014/main" id="{0602F225-D31E-B647-AF9A-0664D9A302B0}"/>
              </a:ext>
            </a:extLst>
          </p:cNvPr>
          <p:cNvPicPr>
            <a:picLocks noChangeAspect="1"/>
          </p:cNvPicPr>
          <p:nvPr/>
        </p:nvPicPr>
        <p:blipFill>
          <a:blip r:embed="rId2"/>
          <a:stretch>
            <a:fillRect/>
          </a:stretch>
        </p:blipFill>
        <p:spPr>
          <a:xfrm>
            <a:off x="3702262" y="3429000"/>
            <a:ext cx="4787475" cy="1802027"/>
          </a:xfrm>
          <a:prstGeom prst="rect">
            <a:avLst/>
          </a:prstGeom>
        </p:spPr>
      </p:pic>
    </p:spTree>
    <p:extLst>
      <p:ext uri="{BB962C8B-B14F-4D97-AF65-F5344CB8AC3E}">
        <p14:creationId xmlns:p14="http://schemas.microsoft.com/office/powerpoint/2010/main" val="10434874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68301-E00E-8DAB-F90A-8885FE3195EA}"/>
              </a:ext>
            </a:extLst>
          </p:cNvPr>
          <p:cNvSpPr>
            <a:spLocks noGrp="1"/>
          </p:cNvSpPr>
          <p:nvPr>
            <p:ph type="title"/>
          </p:nvPr>
        </p:nvSpPr>
        <p:spPr/>
        <p:txBody>
          <a:bodyPr/>
          <a:lstStyle/>
          <a:p>
            <a:r>
              <a:rPr lang="en-US" dirty="0"/>
              <a:t>Iterating Over a Map with the Range-Based for Loop</a:t>
            </a:r>
          </a:p>
        </p:txBody>
      </p:sp>
      <p:sp>
        <p:nvSpPr>
          <p:cNvPr id="3" name="Content Placeholder 2">
            <a:extLst>
              <a:ext uri="{FF2B5EF4-FFF2-40B4-BE49-F238E27FC236}">
                <a16:creationId xmlns:a16="http://schemas.microsoft.com/office/drawing/2014/main" id="{4FEF3455-74EB-E8E2-4C55-600933C200B4}"/>
              </a:ext>
            </a:extLst>
          </p:cNvPr>
          <p:cNvSpPr>
            <a:spLocks noGrp="1"/>
          </p:cNvSpPr>
          <p:nvPr>
            <p:ph idx="1"/>
          </p:nvPr>
        </p:nvSpPr>
        <p:spPr/>
        <p:txBody>
          <a:bodyPr/>
          <a:lstStyle/>
          <a:p>
            <a:r>
              <a:rPr lang="en-US" dirty="0"/>
              <a:t>The range-based for loop is a convenient way to iterate over all of the elements in a map. </a:t>
            </a:r>
          </a:p>
          <a:p>
            <a:r>
              <a:rPr lang="en-US" dirty="0"/>
              <a:t>The following code shows an example of how to display all of the elements in a map:</a:t>
            </a:r>
          </a:p>
        </p:txBody>
      </p:sp>
      <p:pic>
        <p:nvPicPr>
          <p:cNvPr id="4" name="Picture 3">
            <a:extLst>
              <a:ext uri="{FF2B5EF4-FFF2-40B4-BE49-F238E27FC236}">
                <a16:creationId xmlns:a16="http://schemas.microsoft.com/office/drawing/2014/main" id="{2805FD24-E044-13E1-86DB-46B7A5654284}"/>
              </a:ext>
            </a:extLst>
          </p:cNvPr>
          <p:cNvPicPr>
            <a:picLocks noChangeAspect="1"/>
          </p:cNvPicPr>
          <p:nvPr/>
        </p:nvPicPr>
        <p:blipFill>
          <a:blip r:embed="rId2"/>
          <a:stretch>
            <a:fillRect/>
          </a:stretch>
        </p:blipFill>
        <p:spPr>
          <a:xfrm>
            <a:off x="3155092" y="3734959"/>
            <a:ext cx="5881816" cy="2442004"/>
          </a:xfrm>
          <a:prstGeom prst="rect">
            <a:avLst/>
          </a:prstGeom>
        </p:spPr>
      </p:pic>
    </p:spTree>
    <p:extLst>
      <p:ext uri="{BB962C8B-B14F-4D97-AF65-F5344CB8AC3E}">
        <p14:creationId xmlns:p14="http://schemas.microsoft.com/office/powerpoint/2010/main" val="4821588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4DA55-4877-A0A6-70D2-09F060F946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E10FEF-6CB1-A498-0D81-A1FE5A1A19CA}"/>
              </a:ext>
            </a:extLst>
          </p:cNvPr>
          <p:cNvSpPr>
            <a:spLocks noGrp="1"/>
          </p:cNvSpPr>
          <p:nvPr>
            <p:ph type="title"/>
          </p:nvPr>
        </p:nvSpPr>
        <p:spPr/>
        <p:txBody>
          <a:bodyPr/>
          <a:lstStyle/>
          <a:p>
            <a:r>
              <a:rPr lang="en-US" dirty="0"/>
              <a:t>Iterating Over a Map with the Range-Based for Loop</a:t>
            </a:r>
          </a:p>
        </p:txBody>
      </p:sp>
      <p:sp>
        <p:nvSpPr>
          <p:cNvPr id="3" name="Content Placeholder 2">
            <a:extLst>
              <a:ext uri="{FF2B5EF4-FFF2-40B4-BE49-F238E27FC236}">
                <a16:creationId xmlns:a16="http://schemas.microsoft.com/office/drawing/2014/main" id="{4A7AB600-FCEE-4BA9-F3FE-74A7FAB0849F}"/>
              </a:ext>
            </a:extLst>
          </p:cNvPr>
          <p:cNvSpPr>
            <a:spLocks noGrp="1"/>
          </p:cNvSpPr>
          <p:nvPr>
            <p:ph idx="1"/>
          </p:nvPr>
        </p:nvSpPr>
        <p:spPr/>
        <p:txBody>
          <a:bodyPr/>
          <a:lstStyle/>
          <a:p>
            <a:r>
              <a:rPr lang="en-US" dirty="0"/>
              <a:t>Notice that we used the auto key word in the declaration of the range variable, element. </a:t>
            </a:r>
          </a:p>
          <a:p>
            <a:r>
              <a:rPr lang="en-US" dirty="0"/>
              <a:t>The auto key word tells the compiler to determine the variable's data type from the context in which it is being used. </a:t>
            </a:r>
          </a:p>
          <a:p>
            <a:r>
              <a:rPr lang="en-US" dirty="0"/>
              <a:t>If we had written the actual data type of the element variable, the loop would have looked like this:</a:t>
            </a:r>
          </a:p>
        </p:txBody>
      </p:sp>
      <p:pic>
        <p:nvPicPr>
          <p:cNvPr id="5" name="Picture 4">
            <a:extLst>
              <a:ext uri="{FF2B5EF4-FFF2-40B4-BE49-F238E27FC236}">
                <a16:creationId xmlns:a16="http://schemas.microsoft.com/office/drawing/2014/main" id="{2C579C11-6A82-02BD-94B3-7A8879C0009C}"/>
              </a:ext>
            </a:extLst>
          </p:cNvPr>
          <p:cNvPicPr>
            <a:picLocks noChangeAspect="1"/>
          </p:cNvPicPr>
          <p:nvPr/>
        </p:nvPicPr>
        <p:blipFill>
          <a:blip r:embed="rId2"/>
          <a:stretch>
            <a:fillRect/>
          </a:stretch>
        </p:blipFill>
        <p:spPr>
          <a:xfrm>
            <a:off x="3648330" y="4678578"/>
            <a:ext cx="5309343" cy="1219714"/>
          </a:xfrm>
          <a:prstGeom prst="rect">
            <a:avLst/>
          </a:prstGeom>
        </p:spPr>
      </p:pic>
    </p:spTree>
    <p:extLst>
      <p:ext uri="{BB962C8B-B14F-4D97-AF65-F5344CB8AC3E}">
        <p14:creationId xmlns:p14="http://schemas.microsoft.com/office/powerpoint/2010/main" val="34311161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488DD-F191-BCC0-83D5-22A3A7DAE2C0}"/>
              </a:ext>
            </a:extLst>
          </p:cNvPr>
          <p:cNvSpPr>
            <a:spLocks noGrp="1"/>
          </p:cNvSpPr>
          <p:nvPr>
            <p:ph type="title"/>
          </p:nvPr>
        </p:nvSpPr>
        <p:spPr/>
        <p:txBody>
          <a:bodyPr/>
          <a:lstStyle/>
          <a:p>
            <a:r>
              <a:rPr lang="en-US" dirty="0"/>
              <a:t>Using an Iterator with a Map</a:t>
            </a:r>
          </a:p>
        </p:txBody>
      </p:sp>
      <p:sp>
        <p:nvSpPr>
          <p:cNvPr id="3" name="Content Placeholder 2">
            <a:extLst>
              <a:ext uri="{FF2B5EF4-FFF2-40B4-BE49-F238E27FC236}">
                <a16:creationId xmlns:a16="http://schemas.microsoft.com/office/drawing/2014/main" id="{D44D9A31-01D2-CA2D-9721-6775502477AD}"/>
              </a:ext>
            </a:extLst>
          </p:cNvPr>
          <p:cNvSpPr>
            <a:spLocks noGrp="1"/>
          </p:cNvSpPr>
          <p:nvPr>
            <p:ph idx="1"/>
          </p:nvPr>
        </p:nvSpPr>
        <p:spPr/>
        <p:txBody>
          <a:bodyPr/>
          <a:lstStyle/>
          <a:p>
            <a:r>
              <a:rPr lang="en-US" dirty="0"/>
              <a:t>You can use a bidirectional iterator to access the elements of a map. </a:t>
            </a:r>
          </a:p>
          <a:p>
            <a:r>
              <a:rPr lang="en-US" dirty="0"/>
              <a:t>The map class has a </a:t>
            </a:r>
            <a:r>
              <a:rPr lang="en-US" dirty="0">
                <a:solidFill>
                  <a:srgbClr val="FF0000"/>
                </a:solidFill>
              </a:rPr>
              <a:t>begin() member function </a:t>
            </a:r>
            <a:r>
              <a:rPr lang="en-US" dirty="0"/>
              <a:t>that returns an iterator pointing to the first element in the map.</a:t>
            </a:r>
          </a:p>
          <a:p>
            <a:r>
              <a:rPr lang="en-US" dirty="0"/>
              <a:t>Also, an </a:t>
            </a:r>
            <a:r>
              <a:rPr lang="en-US" dirty="0">
                <a:solidFill>
                  <a:srgbClr val="FF0000"/>
                </a:solidFill>
              </a:rPr>
              <a:t>end() member function </a:t>
            </a:r>
            <a:r>
              <a:rPr lang="en-US" dirty="0"/>
              <a:t>that returns an iterator pointing to the end of the map (the position </a:t>
            </a:r>
            <a:r>
              <a:rPr lang="en-US" i="1" dirty="0"/>
              <a:t>after</a:t>
            </a:r>
            <a:r>
              <a:rPr lang="en-US" dirty="0"/>
              <a:t> the last element).</a:t>
            </a:r>
          </a:p>
        </p:txBody>
      </p:sp>
    </p:spTree>
    <p:extLst>
      <p:ext uri="{BB962C8B-B14F-4D97-AF65-F5344CB8AC3E}">
        <p14:creationId xmlns:p14="http://schemas.microsoft.com/office/powerpoint/2010/main" val="31059377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A16E8-AABB-260A-2B71-910F5AF8F483}"/>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9E6122F7-2E3A-FBDE-1558-19BA04874CCE}"/>
              </a:ext>
            </a:extLst>
          </p:cNvPr>
          <p:cNvPicPr>
            <a:picLocks noChangeAspect="1"/>
          </p:cNvPicPr>
          <p:nvPr/>
        </p:nvPicPr>
        <p:blipFill>
          <a:blip r:embed="rId2"/>
          <a:stretch>
            <a:fillRect/>
          </a:stretch>
        </p:blipFill>
        <p:spPr>
          <a:xfrm>
            <a:off x="6096000" y="406917"/>
            <a:ext cx="5371413" cy="6085958"/>
          </a:xfrm>
          <a:prstGeom prst="rect">
            <a:avLst/>
          </a:prstGeom>
        </p:spPr>
      </p:pic>
      <p:pic>
        <p:nvPicPr>
          <p:cNvPr id="5" name="Picture 4">
            <a:extLst>
              <a:ext uri="{FF2B5EF4-FFF2-40B4-BE49-F238E27FC236}">
                <a16:creationId xmlns:a16="http://schemas.microsoft.com/office/drawing/2014/main" id="{47ADE5F0-D2E0-DBE1-C57C-D1F1C1E6846C}"/>
              </a:ext>
            </a:extLst>
          </p:cNvPr>
          <p:cNvPicPr>
            <a:picLocks noChangeAspect="1"/>
          </p:cNvPicPr>
          <p:nvPr/>
        </p:nvPicPr>
        <p:blipFill>
          <a:blip r:embed="rId3"/>
          <a:stretch>
            <a:fillRect/>
          </a:stretch>
        </p:blipFill>
        <p:spPr>
          <a:xfrm>
            <a:off x="838200" y="2916538"/>
            <a:ext cx="4303440" cy="1589559"/>
          </a:xfrm>
          <a:prstGeom prst="rect">
            <a:avLst/>
          </a:prstGeom>
        </p:spPr>
      </p:pic>
      <p:sp>
        <p:nvSpPr>
          <p:cNvPr id="6" name="TextBox 5">
            <a:extLst>
              <a:ext uri="{FF2B5EF4-FFF2-40B4-BE49-F238E27FC236}">
                <a16:creationId xmlns:a16="http://schemas.microsoft.com/office/drawing/2014/main" id="{E3013AF1-36C9-FCE2-D1ED-D0005201907B}"/>
              </a:ext>
            </a:extLst>
          </p:cNvPr>
          <p:cNvSpPr txBox="1"/>
          <p:nvPr/>
        </p:nvSpPr>
        <p:spPr>
          <a:xfrm>
            <a:off x="1112109" y="6308209"/>
            <a:ext cx="3370282" cy="369332"/>
          </a:xfrm>
          <a:prstGeom prst="rect">
            <a:avLst/>
          </a:prstGeom>
          <a:noFill/>
        </p:spPr>
        <p:txBody>
          <a:bodyPr wrap="none" rtlCol="0">
            <a:spAutoFit/>
          </a:bodyPr>
          <a:lstStyle/>
          <a:p>
            <a:r>
              <a:rPr lang="en-US" dirty="0" err="1"/>
              <a:t>Iter</a:t>
            </a:r>
            <a:r>
              <a:rPr lang="en-US" dirty="0"/>
              <a:t>++ is missing in the snapshot</a:t>
            </a:r>
          </a:p>
        </p:txBody>
      </p:sp>
    </p:spTree>
    <p:extLst>
      <p:ext uri="{BB962C8B-B14F-4D97-AF65-F5344CB8AC3E}">
        <p14:creationId xmlns:p14="http://schemas.microsoft.com/office/powerpoint/2010/main" val="20844800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7A749-6C5D-02E4-9BA0-E4E294717244}"/>
              </a:ext>
            </a:extLst>
          </p:cNvPr>
          <p:cNvSpPr>
            <a:spLocks noGrp="1"/>
          </p:cNvSpPr>
          <p:nvPr>
            <p:ph type="title"/>
          </p:nvPr>
        </p:nvSpPr>
        <p:spPr/>
        <p:txBody>
          <a:bodyPr/>
          <a:lstStyle/>
          <a:p>
            <a:r>
              <a:rPr lang="en-US" dirty="0"/>
              <a:t>Using an Iterator with a Map</a:t>
            </a:r>
          </a:p>
        </p:txBody>
      </p:sp>
      <p:sp>
        <p:nvSpPr>
          <p:cNvPr id="3" name="Content Placeholder 2">
            <a:extLst>
              <a:ext uri="{FF2B5EF4-FFF2-40B4-BE49-F238E27FC236}">
                <a16:creationId xmlns:a16="http://schemas.microsoft.com/office/drawing/2014/main" id="{F2D6069E-E556-B2AC-0FC7-C36A71E9DD1A}"/>
              </a:ext>
            </a:extLst>
          </p:cNvPr>
          <p:cNvSpPr>
            <a:spLocks noGrp="1"/>
          </p:cNvSpPr>
          <p:nvPr>
            <p:ph idx="1"/>
          </p:nvPr>
        </p:nvSpPr>
        <p:spPr>
          <a:xfrm>
            <a:off x="838200" y="1825625"/>
            <a:ext cx="4994189" cy="4351338"/>
          </a:xfrm>
        </p:spPr>
        <p:txBody>
          <a:bodyPr/>
          <a:lstStyle/>
          <a:p>
            <a:r>
              <a:rPr lang="en-US" dirty="0"/>
              <a:t>The map class also has a </a:t>
            </a:r>
            <a:r>
              <a:rPr lang="en-US" dirty="0">
                <a:solidFill>
                  <a:srgbClr val="FF0000"/>
                </a:solidFill>
              </a:rPr>
              <a:t>find() </a:t>
            </a:r>
            <a:r>
              <a:rPr lang="en-US" dirty="0"/>
              <a:t>member function that searches for an element with a specified key. </a:t>
            </a:r>
          </a:p>
          <a:p>
            <a:r>
              <a:rPr lang="en-US" dirty="0"/>
              <a:t>If the element is found, the find() function returns an iterator to it.</a:t>
            </a:r>
          </a:p>
          <a:p>
            <a:r>
              <a:rPr lang="en-US" dirty="0"/>
              <a:t>If the element is not found, the find() function returns an iterator to the end of the map. </a:t>
            </a:r>
          </a:p>
        </p:txBody>
      </p:sp>
      <p:pic>
        <p:nvPicPr>
          <p:cNvPr id="4" name="Picture 3">
            <a:extLst>
              <a:ext uri="{FF2B5EF4-FFF2-40B4-BE49-F238E27FC236}">
                <a16:creationId xmlns:a16="http://schemas.microsoft.com/office/drawing/2014/main" id="{2E48C17D-ED42-8BD4-6D85-991250BC2D99}"/>
              </a:ext>
            </a:extLst>
          </p:cNvPr>
          <p:cNvPicPr>
            <a:picLocks noChangeAspect="1"/>
          </p:cNvPicPr>
          <p:nvPr/>
        </p:nvPicPr>
        <p:blipFill>
          <a:blip r:embed="rId2"/>
          <a:stretch>
            <a:fillRect/>
          </a:stretch>
        </p:blipFill>
        <p:spPr>
          <a:xfrm>
            <a:off x="6708512" y="1567511"/>
            <a:ext cx="4428674" cy="5043057"/>
          </a:xfrm>
          <a:prstGeom prst="rect">
            <a:avLst/>
          </a:prstGeom>
        </p:spPr>
      </p:pic>
    </p:spTree>
    <p:extLst>
      <p:ext uri="{BB962C8B-B14F-4D97-AF65-F5344CB8AC3E}">
        <p14:creationId xmlns:p14="http://schemas.microsoft.com/office/powerpoint/2010/main" val="2733148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2757A-8642-6694-4A30-29FAF267EB81}"/>
              </a:ext>
            </a:extLst>
          </p:cNvPr>
          <p:cNvSpPr>
            <a:spLocks noGrp="1"/>
          </p:cNvSpPr>
          <p:nvPr>
            <p:ph type="title"/>
          </p:nvPr>
        </p:nvSpPr>
        <p:spPr/>
        <p:txBody>
          <a:bodyPr/>
          <a:lstStyle/>
          <a:p>
            <a:r>
              <a:rPr lang="en-US" dirty="0"/>
              <a:t>The </a:t>
            </a:r>
            <a:r>
              <a:rPr lang="en-US" dirty="0" err="1"/>
              <a:t>unordered_map</a:t>
            </a:r>
            <a:r>
              <a:rPr lang="en-US" dirty="0"/>
              <a:t> Class</a:t>
            </a:r>
          </a:p>
        </p:txBody>
      </p:sp>
      <p:sp>
        <p:nvSpPr>
          <p:cNvPr id="3" name="Content Placeholder 2">
            <a:extLst>
              <a:ext uri="{FF2B5EF4-FFF2-40B4-BE49-F238E27FC236}">
                <a16:creationId xmlns:a16="http://schemas.microsoft.com/office/drawing/2014/main" id="{A900D3CB-D985-6CE9-3CD8-9B17CEB1695E}"/>
              </a:ext>
            </a:extLst>
          </p:cNvPr>
          <p:cNvSpPr>
            <a:spLocks noGrp="1"/>
          </p:cNvSpPr>
          <p:nvPr>
            <p:ph idx="1"/>
          </p:nvPr>
        </p:nvSpPr>
        <p:spPr/>
        <p:txBody>
          <a:bodyPr/>
          <a:lstStyle/>
          <a:p>
            <a:r>
              <a:rPr lang="en-US" dirty="0"/>
              <a:t>Beginning with C++11, the STL provides a class template named </a:t>
            </a:r>
            <a:r>
              <a:rPr lang="en-US" dirty="0" err="1">
                <a:solidFill>
                  <a:srgbClr val="FF0000"/>
                </a:solidFill>
              </a:rPr>
              <a:t>unordered_map</a:t>
            </a:r>
            <a:r>
              <a:rPr lang="en-US" dirty="0">
                <a:solidFill>
                  <a:srgbClr val="FF0000"/>
                </a:solidFill>
              </a:rPr>
              <a:t> </a:t>
            </a:r>
            <a:r>
              <a:rPr lang="en-US" dirty="0"/>
              <a:t>that is similar to the map class, except in two regards: </a:t>
            </a:r>
          </a:p>
          <a:p>
            <a:pPr lvl="1"/>
            <a:r>
              <a:rPr lang="en-US" dirty="0"/>
              <a:t>(1) The keys in an </a:t>
            </a:r>
            <a:r>
              <a:rPr lang="en-US" dirty="0" err="1"/>
              <a:t>unordered_map</a:t>
            </a:r>
            <a:r>
              <a:rPr lang="en-US" dirty="0"/>
              <a:t> are not sorted in any particular </a:t>
            </a:r>
            <a:r>
              <a:rPr lang="en-US" dirty="0" err="1"/>
              <a:t>wa</a:t>
            </a:r>
            <a:endParaRPr lang="en-US" dirty="0"/>
          </a:p>
          <a:p>
            <a:pPr lvl="1"/>
            <a:r>
              <a:rPr lang="en-US" dirty="0"/>
              <a:t>(2) The </a:t>
            </a:r>
            <a:r>
              <a:rPr lang="en-US" dirty="0" err="1"/>
              <a:t>unordered_map</a:t>
            </a:r>
            <a:r>
              <a:rPr lang="en-US" dirty="0"/>
              <a:t> class has better performance.</a:t>
            </a:r>
          </a:p>
          <a:p>
            <a:pPr marL="457200" lvl="1" indent="0">
              <a:buNone/>
            </a:pPr>
            <a:r>
              <a:rPr lang="en-US" dirty="0"/>
              <a:t> </a:t>
            </a:r>
          </a:p>
          <a:p>
            <a:r>
              <a:rPr lang="en-US" dirty="0"/>
              <a:t>If you will be making a lot of searches on a large number of elements, and you are not concerned with retrieving them in key order, you should probably use the </a:t>
            </a:r>
            <a:r>
              <a:rPr lang="en-US" dirty="0" err="1"/>
              <a:t>unordered_map</a:t>
            </a:r>
            <a:r>
              <a:rPr lang="en-US" dirty="0"/>
              <a:t> class instead of the map class.</a:t>
            </a:r>
          </a:p>
        </p:txBody>
      </p:sp>
    </p:spTree>
    <p:extLst>
      <p:ext uri="{BB962C8B-B14F-4D97-AF65-F5344CB8AC3E}">
        <p14:creationId xmlns:p14="http://schemas.microsoft.com/office/powerpoint/2010/main" val="3610425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3FF9E-84CA-0603-6765-C40AB2B837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546D68-F8E2-1AA3-79BF-C4424A02806A}"/>
              </a:ext>
            </a:extLst>
          </p:cNvPr>
          <p:cNvSpPr>
            <a:spLocks noGrp="1"/>
          </p:cNvSpPr>
          <p:nvPr>
            <p:ph type="title"/>
          </p:nvPr>
        </p:nvSpPr>
        <p:spPr/>
        <p:txBody>
          <a:bodyPr/>
          <a:lstStyle/>
          <a:p>
            <a:r>
              <a:rPr lang="en-US" dirty="0"/>
              <a:t>The </a:t>
            </a:r>
            <a:r>
              <a:rPr lang="en-US" dirty="0" err="1"/>
              <a:t>unordered_map</a:t>
            </a:r>
            <a:r>
              <a:rPr lang="en-US" dirty="0"/>
              <a:t> Class</a:t>
            </a:r>
          </a:p>
        </p:txBody>
      </p:sp>
      <p:sp>
        <p:nvSpPr>
          <p:cNvPr id="3" name="Content Placeholder 2">
            <a:extLst>
              <a:ext uri="{FF2B5EF4-FFF2-40B4-BE49-F238E27FC236}">
                <a16:creationId xmlns:a16="http://schemas.microsoft.com/office/drawing/2014/main" id="{B848CC19-CE22-D238-71C0-02CA4EAFC537}"/>
              </a:ext>
            </a:extLst>
          </p:cNvPr>
          <p:cNvSpPr>
            <a:spLocks noGrp="1"/>
          </p:cNvSpPr>
          <p:nvPr>
            <p:ph idx="1"/>
          </p:nvPr>
        </p:nvSpPr>
        <p:spPr/>
        <p:txBody>
          <a:bodyPr/>
          <a:lstStyle/>
          <a:p>
            <a:r>
              <a:rPr lang="en-US" dirty="0"/>
              <a:t>To use the </a:t>
            </a:r>
            <a:r>
              <a:rPr lang="en-US" dirty="0" err="1"/>
              <a:t>unordered_map</a:t>
            </a:r>
            <a:r>
              <a:rPr lang="en-US" dirty="0"/>
              <a:t> class, you must write the </a:t>
            </a:r>
            <a:r>
              <a:rPr lang="en-US" i="1" dirty="0">
                <a:solidFill>
                  <a:srgbClr val="FF0000"/>
                </a:solidFill>
              </a:rPr>
              <a:t>#include&lt;</a:t>
            </a:r>
            <a:r>
              <a:rPr lang="en-US" i="1" dirty="0" err="1">
                <a:solidFill>
                  <a:srgbClr val="FF0000"/>
                </a:solidFill>
              </a:rPr>
              <a:t>unordered_map</a:t>
            </a:r>
            <a:r>
              <a:rPr lang="en-US" i="1" dirty="0">
                <a:solidFill>
                  <a:srgbClr val="FF0000"/>
                </a:solidFill>
              </a:rPr>
              <a:t>&gt; </a:t>
            </a:r>
            <a:r>
              <a:rPr lang="en-US" dirty="0"/>
              <a:t>directive in your program. </a:t>
            </a:r>
          </a:p>
          <a:p>
            <a:r>
              <a:rPr lang="en-US" dirty="0"/>
              <a:t>The </a:t>
            </a:r>
            <a:r>
              <a:rPr lang="en-US" dirty="0" err="1"/>
              <a:t>unordered_map</a:t>
            </a:r>
            <a:r>
              <a:rPr lang="en-US" dirty="0"/>
              <a:t> class has a similar set of member functions as the map class.</a:t>
            </a:r>
          </a:p>
          <a:p>
            <a:r>
              <a:rPr lang="en-US" dirty="0"/>
              <a:t>In most cases, working with an </a:t>
            </a:r>
            <a:r>
              <a:rPr lang="en-US" dirty="0" err="1"/>
              <a:t>unordered_map</a:t>
            </a:r>
            <a:r>
              <a:rPr lang="en-US" dirty="0"/>
              <a:t> is just like working with a map.</a:t>
            </a:r>
          </a:p>
        </p:txBody>
      </p:sp>
    </p:spTree>
    <p:extLst>
      <p:ext uri="{BB962C8B-B14F-4D97-AF65-F5344CB8AC3E}">
        <p14:creationId xmlns:p14="http://schemas.microsoft.com/office/powerpoint/2010/main" val="28753865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8151F-83FC-5237-14D3-EBF711FF91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FA38B7-12BE-8E61-8257-522C93D807D1}"/>
              </a:ext>
            </a:extLst>
          </p:cNvPr>
          <p:cNvSpPr>
            <a:spLocks noGrp="1"/>
          </p:cNvSpPr>
          <p:nvPr>
            <p:ph type="title"/>
          </p:nvPr>
        </p:nvSpPr>
        <p:spPr/>
        <p:txBody>
          <a:bodyPr/>
          <a:lstStyle/>
          <a:p>
            <a:r>
              <a:rPr lang="en-US" dirty="0"/>
              <a:t>The </a:t>
            </a:r>
            <a:r>
              <a:rPr lang="en-US" dirty="0" err="1"/>
              <a:t>unordered_map</a:t>
            </a:r>
            <a:r>
              <a:rPr lang="en-US" dirty="0"/>
              <a:t> Class</a:t>
            </a:r>
          </a:p>
        </p:txBody>
      </p:sp>
      <p:sp>
        <p:nvSpPr>
          <p:cNvPr id="3" name="Content Placeholder 2">
            <a:extLst>
              <a:ext uri="{FF2B5EF4-FFF2-40B4-BE49-F238E27FC236}">
                <a16:creationId xmlns:a16="http://schemas.microsoft.com/office/drawing/2014/main" id="{0BAB8412-9DF6-4534-8825-7340C7FF6A4C}"/>
              </a:ext>
            </a:extLst>
          </p:cNvPr>
          <p:cNvSpPr>
            <a:spLocks noGrp="1"/>
          </p:cNvSpPr>
          <p:nvPr>
            <p:ph idx="1"/>
          </p:nvPr>
        </p:nvSpPr>
        <p:spPr/>
        <p:txBody>
          <a:bodyPr/>
          <a:lstStyle/>
          <a:p>
            <a:r>
              <a:rPr lang="en-US" dirty="0"/>
              <a:t>The following code shows an </a:t>
            </a:r>
            <a:r>
              <a:rPr lang="en-US" dirty="0" err="1"/>
              <a:t>unordered_map</a:t>
            </a:r>
            <a:r>
              <a:rPr lang="en-US" dirty="0"/>
              <a:t> being initialized with elements, and then, an element being retrieved and displayed:</a:t>
            </a:r>
          </a:p>
        </p:txBody>
      </p:sp>
      <p:pic>
        <p:nvPicPr>
          <p:cNvPr id="4" name="Picture 3">
            <a:extLst>
              <a:ext uri="{FF2B5EF4-FFF2-40B4-BE49-F238E27FC236}">
                <a16:creationId xmlns:a16="http://schemas.microsoft.com/office/drawing/2014/main" id="{DF10FE21-761D-CA9E-8642-E8CE68E15714}"/>
              </a:ext>
            </a:extLst>
          </p:cNvPr>
          <p:cNvPicPr>
            <a:picLocks noChangeAspect="1"/>
          </p:cNvPicPr>
          <p:nvPr/>
        </p:nvPicPr>
        <p:blipFill>
          <a:blip r:embed="rId2"/>
          <a:stretch>
            <a:fillRect/>
          </a:stretch>
        </p:blipFill>
        <p:spPr>
          <a:xfrm>
            <a:off x="3152934" y="3015510"/>
            <a:ext cx="5886131" cy="1971568"/>
          </a:xfrm>
          <a:prstGeom prst="rect">
            <a:avLst/>
          </a:prstGeom>
        </p:spPr>
      </p:pic>
    </p:spTree>
    <p:extLst>
      <p:ext uri="{BB962C8B-B14F-4D97-AF65-F5344CB8AC3E}">
        <p14:creationId xmlns:p14="http://schemas.microsoft.com/office/powerpoint/2010/main" val="37514154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828BC-7C71-F0EA-6556-EF70AD5DDA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FBB970-BEA0-961D-12D6-082E92F23A69}"/>
              </a:ext>
            </a:extLst>
          </p:cNvPr>
          <p:cNvSpPr>
            <a:spLocks noGrp="1"/>
          </p:cNvSpPr>
          <p:nvPr>
            <p:ph type="title"/>
          </p:nvPr>
        </p:nvSpPr>
        <p:spPr/>
        <p:txBody>
          <a:bodyPr/>
          <a:lstStyle/>
          <a:p>
            <a:r>
              <a:rPr lang="en-US" dirty="0"/>
              <a:t>The </a:t>
            </a:r>
            <a:r>
              <a:rPr lang="en-US" dirty="0" err="1"/>
              <a:t>unordered_map</a:t>
            </a:r>
            <a:r>
              <a:rPr lang="en-US" dirty="0"/>
              <a:t> Class</a:t>
            </a:r>
          </a:p>
        </p:txBody>
      </p:sp>
      <p:sp>
        <p:nvSpPr>
          <p:cNvPr id="3" name="Content Placeholder 2">
            <a:extLst>
              <a:ext uri="{FF2B5EF4-FFF2-40B4-BE49-F238E27FC236}">
                <a16:creationId xmlns:a16="http://schemas.microsoft.com/office/drawing/2014/main" id="{0762B01E-85EC-C2D5-35A5-2481193264A7}"/>
              </a:ext>
            </a:extLst>
          </p:cNvPr>
          <p:cNvSpPr>
            <a:spLocks noGrp="1"/>
          </p:cNvSpPr>
          <p:nvPr>
            <p:ph idx="1"/>
          </p:nvPr>
        </p:nvSpPr>
        <p:spPr/>
        <p:txBody>
          <a:bodyPr/>
          <a:lstStyle/>
          <a:p>
            <a:pPr algn="l"/>
            <a:r>
              <a:rPr lang="en-US" dirty="0">
                <a:effectLst/>
              </a:rPr>
              <a:t>The following code shows an example of using a range-based for loop to display all of the elements in a map:</a:t>
            </a:r>
          </a:p>
          <a:p>
            <a:pPr marL="0" indent="0">
              <a:buNone/>
            </a:pPr>
            <a:endParaRPr lang="en-US" dirty="0"/>
          </a:p>
        </p:txBody>
      </p:sp>
      <p:pic>
        <p:nvPicPr>
          <p:cNvPr id="5" name="Picture 4">
            <a:extLst>
              <a:ext uri="{FF2B5EF4-FFF2-40B4-BE49-F238E27FC236}">
                <a16:creationId xmlns:a16="http://schemas.microsoft.com/office/drawing/2014/main" id="{E1E30F29-4B5C-A7E1-5F6A-A138CD65EDCB}"/>
              </a:ext>
            </a:extLst>
          </p:cNvPr>
          <p:cNvPicPr>
            <a:picLocks noChangeAspect="1"/>
          </p:cNvPicPr>
          <p:nvPr/>
        </p:nvPicPr>
        <p:blipFill>
          <a:blip r:embed="rId3"/>
          <a:stretch>
            <a:fillRect/>
          </a:stretch>
        </p:blipFill>
        <p:spPr>
          <a:xfrm>
            <a:off x="3161458" y="3079750"/>
            <a:ext cx="5869083" cy="2686736"/>
          </a:xfrm>
          <a:prstGeom prst="rect">
            <a:avLst/>
          </a:prstGeom>
        </p:spPr>
      </p:pic>
    </p:spTree>
    <p:extLst>
      <p:ext uri="{BB962C8B-B14F-4D97-AF65-F5344CB8AC3E}">
        <p14:creationId xmlns:p14="http://schemas.microsoft.com/office/powerpoint/2010/main" val="6170623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0973-BD6B-CFA7-BAC9-3CDAF83C1142}"/>
              </a:ext>
            </a:extLst>
          </p:cNvPr>
          <p:cNvSpPr>
            <a:spLocks noGrp="1"/>
          </p:cNvSpPr>
          <p:nvPr>
            <p:ph type="title"/>
          </p:nvPr>
        </p:nvSpPr>
        <p:spPr/>
        <p:txBody>
          <a:bodyPr/>
          <a:lstStyle/>
          <a:p>
            <a:r>
              <a:rPr lang="en-US" dirty="0"/>
              <a:t>The multimap Class</a:t>
            </a:r>
          </a:p>
        </p:txBody>
      </p:sp>
      <p:sp>
        <p:nvSpPr>
          <p:cNvPr id="3" name="Content Placeholder 2">
            <a:extLst>
              <a:ext uri="{FF2B5EF4-FFF2-40B4-BE49-F238E27FC236}">
                <a16:creationId xmlns:a16="http://schemas.microsoft.com/office/drawing/2014/main" id="{22BA0B4F-A86B-35DC-12C6-1FC81516DD85}"/>
              </a:ext>
            </a:extLst>
          </p:cNvPr>
          <p:cNvSpPr>
            <a:spLocks noGrp="1"/>
          </p:cNvSpPr>
          <p:nvPr>
            <p:ph idx="1"/>
          </p:nvPr>
        </p:nvSpPr>
        <p:spPr/>
        <p:txBody>
          <a:bodyPr>
            <a:normAutofit/>
          </a:bodyPr>
          <a:lstStyle/>
          <a:p>
            <a:r>
              <a:rPr lang="en-US" dirty="0"/>
              <a:t>The </a:t>
            </a:r>
            <a:r>
              <a:rPr lang="en-US" dirty="0">
                <a:solidFill>
                  <a:srgbClr val="FF0000"/>
                </a:solidFill>
              </a:rPr>
              <a:t>multimap class </a:t>
            </a:r>
            <a:r>
              <a:rPr lang="en-US" dirty="0"/>
              <a:t>lets you create a map container in which multiple elements can have the same key. </a:t>
            </a:r>
          </a:p>
          <a:p>
            <a:r>
              <a:rPr lang="en-US" dirty="0"/>
              <a:t>In other words, duplicate keys are allowed in a multimap. </a:t>
            </a:r>
          </a:p>
          <a:p>
            <a:r>
              <a:rPr lang="en-US" dirty="0"/>
              <a:t>To use the multimap class, you will need to write the </a:t>
            </a:r>
            <a:r>
              <a:rPr lang="en-US" i="1" dirty="0">
                <a:solidFill>
                  <a:srgbClr val="FF0000"/>
                </a:solidFill>
              </a:rPr>
              <a:t>#include&lt;map&gt; </a:t>
            </a:r>
            <a:r>
              <a:rPr lang="en-US" dirty="0"/>
              <a:t>directive in your program.</a:t>
            </a:r>
          </a:p>
          <a:p>
            <a:pPr algn="l"/>
            <a:r>
              <a:rPr lang="en-US" dirty="0">
                <a:effectLst/>
              </a:rPr>
              <a:t>In addition to the usual iterator functions, the multimap class supports all the map member functions </a:t>
            </a:r>
          </a:p>
          <a:p>
            <a:pPr algn="l"/>
            <a:r>
              <a:rPr lang="en-US" dirty="0">
                <a:effectLst/>
              </a:rPr>
              <a:t>Additionally, there is a member function - </a:t>
            </a:r>
            <a:r>
              <a:rPr lang="en-US" i="1" dirty="0" err="1">
                <a:solidFill>
                  <a:srgbClr val="FF0000"/>
                </a:solidFill>
                <a:effectLst/>
              </a:rPr>
              <a:t>equal_range</a:t>
            </a:r>
            <a:r>
              <a:rPr lang="en-US" i="1" dirty="0">
                <a:solidFill>
                  <a:srgbClr val="FF0000"/>
                </a:solidFill>
              </a:rPr>
              <a:t>(key) </a:t>
            </a:r>
            <a:r>
              <a:rPr lang="en-US" dirty="0">
                <a:effectLst/>
              </a:rPr>
              <a:t>that is peculiar to multimap. </a:t>
            </a:r>
          </a:p>
          <a:p>
            <a:endParaRPr lang="en-US" dirty="0"/>
          </a:p>
        </p:txBody>
      </p:sp>
    </p:spTree>
    <p:extLst>
      <p:ext uri="{BB962C8B-B14F-4D97-AF65-F5344CB8AC3E}">
        <p14:creationId xmlns:p14="http://schemas.microsoft.com/office/powerpoint/2010/main" val="28107129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08F33-2185-CDA1-768C-2D42F0CAC6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C18943-EB96-FC8C-DBED-9DD03288D628}"/>
              </a:ext>
            </a:extLst>
          </p:cNvPr>
          <p:cNvSpPr>
            <a:spLocks noGrp="1"/>
          </p:cNvSpPr>
          <p:nvPr>
            <p:ph type="title"/>
          </p:nvPr>
        </p:nvSpPr>
        <p:spPr/>
        <p:txBody>
          <a:bodyPr/>
          <a:lstStyle/>
          <a:p>
            <a:r>
              <a:rPr lang="en-US" dirty="0"/>
              <a:t>The multimap Class</a:t>
            </a:r>
          </a:p>
        </p:txBody>
      </p:sp>
      <p:sp>
        <p:nvSpPr>
          <p:cNvPr id="3" name="Content Placeholder 2">
            <a:extLst>
              <a:ext uri="{FF2B5EF4-FFF2-40B4-BE49-F238E27FC236}">
                <a16:creationId xmlns:a16="http://schemas.microsoft.com/office/drawing/2014/main" id="{9BACB26A-25CD-76FC-6DEE-B10E3AE8D091}"/>
              </a:ext>
            </a:extLst>
          </p:cNvPr>
          <p:cNvSpPr>
            <a:spLocks noGrp="1"/>
          </p:cNvSpPr>
          <p:nvPr>
            <p:ph idx="1"/>
          </p:nvPr>
        </p:nvSpPr>
        <p:spPr/>
        <p:txBody>
          <a:bodyPr>
            <a:normAutofit/>
          </a:bodyPr>
          <a:lstStyle/>
          <a:p>
            <a:pPr rtl="0"/>
            <a:r>
              <a:rPr lang="en-US" i="1" dirty="0" err="1">
                <a:solidFill>
                  <a:srgbClr val="FF0000"/>
                </a:solidFill>
                <a:effectLst/>
              </a:rPr>
              <a:t>equal_range</a:t>
            </a:r>
            <a:r>
              <a:rPr lang="en-US" i="1" dirty="0">
                <a:solidFill>
                  <a:srgbClr val="FF0000"/>
                </a:solidFill>
              </a:rPr>
              <a:t>(key) </a:t>
            </a:r>
          </a:p>
          <a:p>
            <a:r>
              <a:rPr lang="en-US" dirty="0"/>
              <a:t>This function returns a pair object whose first member is an iterator pointing to the first element in the multimap that matches the specified key, and whose second member is an iterator pointing to the position </a:t>
            </a:r>
            <a:r>
              <a:rPr lang="en-US" i="1" dirty="0"/>
              <a:t>after</a:t>
            </a:r>
            <a:r>
              <a:rPr lang="en-US" dirty="0"/>
              <a:t> the last element that matches the specified key. </a:t>
            </a:r>
          </a:p>
          <a:p>
            <a:r>
              <a:rPr lang="en-US" dirty="0"/>
              <a:t>If the specified key is not found, both iterators will point to the element that would naturally appear after the element that was searched for.</a:t>
            </a:r>
          </a:p>
        </p:txBody>
      </p:sp>
    </p:spTree>
    <p:extLst>
      <p:ext uri="{BB962C8B-B14F-4D97-AF65-F5344CB8AC3E}">
        <p14:creationId xmlns:p14="http://schemas.microsoft.com/office/powerpoint/2010/main" val="42715999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3B49A-A3CC-7C5C-0A52-D74911E3BA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8143C-57A1-EF57-0B22-0D7A16233F5F}"/>
              </a:ext>
            </a:extLst>
          </p:cNvPr>
          <p:cNvSpPr>
            <a:spLocks noGrp="1"/>
          </p:cNvSpPr>
          <p:nvPr>
            <p:ph type="title"/>
          </p:nvPr>
        </p:nvSpPr>
        <p:spPr/>
        <p:txBody>
          <a:bodyPr/>
          <a:lstStyle/>
          <a:p>
            <a:r>
              <a:rPr lang="en-US" dirty="0"/>
              <a:t>The multimap Class</a:t>
            </a:r>
          </a:p>
        </p:txBody>
      </p:sp>
      <p:sp>
        <p:nvSpPr>
          <p:cNvPr id="3" name="Content Placeholder 2">
            <a:extLst>
              <a:ext uri="{FF2B5EF4-FFF2-40B4-BE49-F238E27FC236}">
                <a16:creationId xmlns:a16="http://schemas.microsoft.com/office/drawing/2014/main" id="{D3EFE600-E35D-511B-107B-2033131C9C93}"/>
              </a:ext>
            </a:extLst>
          </p:cNvPr>
          <p:cNvSpPr>
            <a:spLocks noGrp="1"/>
          </p:cNvSpPr>
          <p:nvPr>
            <p:ph idx="1"/>
          </p:nvPr>
        </p:nvSpPr>
        <p:spPr>
          <a:xfrm>
            <a:off x="838200" y="1825625"/>
            <a:ext cx="6271054" cy="4351338"/>
          </a:xfrm>
        </p:spPr>
        <p:txBody>
          <a:bodyPr>
            <a:normAutofit/>
          </a:bodyPr>
          <a:lstStyle/>
          <a:p>
            <a:pPr rtl="0"/>
            <a:r>
              <a:rPr lang="en-US" dirty="0"/>
              <a:t>Let us consider an example. In a phonebook application, you might store names and phone numbers in a multimap container, using the names as keys and the phone numbers as values. </a:t>
            </a:r>
          </a:p>
          <a:p>
            <a:pPr rtl="0"/>
            <a:r>
              <a:rPr lang="en-US" dirty="0"/>
              <a:t>If a person has multiple phone numbers, you would store multiple elements using that person's name as the key.</a:t>
            </a:r>
          </a:p>
        </p:txBody>
      </p:sp>
      <p:pic>
        <p:nvPicPr>
          <p:cNvPr id="4" name="Picture 3">
            <a:extLst>
              <a:ext uri="{FF2B5EF4-FFF2-40B4-BE49-F238E27FC236}">
                <a16:creationId xmlns:a16="http://schemas.microsoft.com/office/drawing/2014/main" id="{29DE7AF1-FA46-95AE-91DA-F7E7076E0176}"/>
              </a:ext>
            </a:extLst>
          </p:cNvPr>
          <p:cNvPicPr>
            <a:picLocks noChangeAspect="1"/>
          </p:cNvPicPr>
          <p:nvPr/>
        </p:nvPicPr>
        <p:blipFill>
          <a:blip r:embed="rId3"/>
          <a:stretch>
            <a:fillRect/>
          </a:stretch>
        </p:blipFill>
        <p:spPr>
          <a:xfrm>
            <a:off x="7635834" y="1825625"/>
            <a:ext cx="3297905" cy="3723441"/>
          </a:xfrm>
          <a:prstGeom prst="rect">
            <a:avLst/>
          </a:prstGeom>
        </p:spPr>
      </p:pic>
    </p:spTree>
    <p:extLst>
      <p:ext uri="{BB962C8B-B14F-4D97-AF65-F5344CB8AC3E}">
        <p14:creationId xmlns:p14="http://schemas.microsoft.com/office/powerpoint/2010/main" val="42547960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BAB37-6B99-B00C-4551-F1A5867A53FD}"/>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C785D031-3901-87DD-8D69-96C63C489B95}"/>
              </a:ext>
            </a:extLst>
          </p:cNvPr>
          <p:cNvPicPr>
            <a:picLocks noChangeAspect="1"/>
          </p:cNvPicPr>
          <p:nvPr/>
        </p:nvPicPr>
        <p:blipFill>
          <a:blip r:embed="rId2"/>
          <a:stretch>
            <a:fillRect/>
          </a:stretch>
        </p:blipFill>
        <p:spPr>
          <a:xfrm>
            <a:off x="1584431" y="1615040"/>
            <a:ext cx="5165690" cy="4951445"/>
          </a:xfrm>
          <a:prstGeom prst="rect">
            <a:avLst/>
          </a:prstGeom>
        </p:spPr>
      </p:pic>
      <p:pic>
        <p:nvPicPr>
          <p:cNvPr id="5" name="Picture 4">
            <a:extLst>
              <a:ext uri="{FF2B5EF4-FFF2-40B4-BE49-F238E27FC236}">
                <a16:creationId xmlns:a16="http://schemas.microsoft.com/office/drawing/2014/main" id="{75A70C42-C9F9-55DF-CB67-60049788AD30}"/>
              </a:ext>
            </a:extLst>
          </p:cNvPr>
          <p:cNvPicPr>
            <a:picLocks noChangeAspect="1"/>
          </p:cNvPicPr>
          <p:nvPr/>
        </p:nvPicPr>
        <p:blipFill>
          <a:blip r:embed="rId3"/>
          <a:stretch>
            <a:fillRect/>
          </a:stretch>
        </p:blipFill>
        <p:spPr>
          <a:xfrm>
            <a:off x="7618798" y="2808062"/>
            <a:ext cx="3148055" cy="2287436"/>
          </a:xfrm>
          <a:prstGeom prst="rect">
            <a:avLst/>
          </a:prstGeom>
        </p:spPr>
      </p:pic>
    </p:spTree>
    <p:extLst>
      <p:ext uri="{BB962C8B-B14F-4D97-AF65-F5344CB8AC3E}">
        <p14:creationId xmlns:p14="http://schemas.microsoft.com/office/powerpoint/2010/main" val="32982115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9EB6C-8667-6A8A-0607-B57C3E745B50}"/>
              </a:ext>
            </a:extLst>
          </p:cNvPr>
          <p:cNvSpPr>
            <a:spLocks noGrp="1"/>
          </p:cNvSpPr>
          <p:nvPr>
            <p:ph type="title"/>
          </p:nvPr>
        </p:nvSpPr>
        <p:spPr/>
        <p:txBody>
          <a:bodyPr/>
          <a:lstStyle/>
          <a:p>
            <a:r>
              <a:rPr lang="en-US" dirty="0"/>
              <a:t>The multimap Class</a:t>
            </a:r>
          </a:p>
        </p:txBody>
      </p:sp>
      <p:sp>
        <p:nvSpPr>
          <p:cNvPr id="3" name="Content Placeholder 2">
            <a:extLst>
              <a:ext uri="{FF2B5EF4-FFF2-40B4-BE49-F238E27FC236}">
                <a16:creationId xmlns:a16="http://schemas.microsoft.com/office/drawing/2014/main" id="{603282F4-1B9C-A18D-C8BA-3A38E156FAC0}"/>
              </a:ext>
            </a:extLst>
          </p:cNvPr>
          <p:cNvSpPr>
            <a:spLocks noGrp="1"/>
          </p:cNvSpPr>
          <p:nvPr>
            <p:ph idx="1"/>
          </p:nvPr>
        </p:nvSpPr>
        <p:spPr/>
        <p:txBody>
          <a:bodyPr/>
          <a:lstStyle/>
          <a:p>
            <a:r>
              <a:rPr lang="en-US" dirty="0"/>
              <a:t>As with the map class, the elements of a multimap are ordered. When you iterate over a multimap, you retrieve its elements in order of their keys.</a:t>
            </a:r>
          </a:p>
          <a:p>
            <a:r>
              <a:rPr lang="en-US" dirty="0"/>
              <a:t>The multimap class also provides many of the same member functions as the map class. </a:t>
            </a:r>
          </a:p>
          <a:p>
            <a:r>
              <a:rPr lang="en-US" dirty="0"/>
              <a:t>However, there are some differences between the multimap class and the map class</a:t>
            </a:r>
          </a:p>
        </p:txBody>
      </p:sp>
    </p:spTree>
    <p:extLst>
      <p:ext uri="{BB962C8B-B14F-4D97-AF65-F5344CB8AC3E}">
        <p14:creationId xmlns:p14="http://schemas.microsoft.com/office/powerpoint/2010/main" val="8700907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7A2C2-AD9C-79A9-5B3E-17B96CF54989}"/>
              </a:ext>
            </a:extLst>
          </p:cNvPr>
          <p:cNvSpPr>
            <a:spLocks noGrp="1"/>
          </p:cNvSpPr>
          <p:nvPr>
            <p:ph type="title"/>
          </p:nvPr>
        </p:nvSpPr>
        <p:spPr/>
        <p:txBody>
          <a:bodyPr/>
          <a:lstStyle/>
          <a:p>
            <a:r>
              <a:rPr lang="en-US" dirty="0"/>
              <a:t>Adding Elements to a multimap</a:t>
            </a:r>
          </a:p>
        </p:txBody>
      </p:sp>
      <p:sp>
        <p:nvSpPr>
          <p:cNvPr id="3" name="Content Placeholder 2">
            <a:extLst>
              <a:ext uri="{FF2B5EF4-FFF2-40B4-BE49-F238E27FC236}">
                <a16:creationId xmlns:a16="http://schemas.microsoft.com/office/drawing/2014/main" id="{F02AD746-38CE-EBEF-D50D-A4A5E5FA3B2F}"/>
              </a:ext>
            </a:extLst>
          </p:cNvPr>
          <p:cNvSpPr>
            <a:spLocks noGrp="1"/>
          </p:cNvSpPr>
          <p:nvPr>
            <p:ph idx="1"/>
          </p:nvPr>
        </p:nvSpPr>
        <p:spPr/>
        <p:txBody>
          <a:bodyPr/>
          <a:lstStyle/>
          <a:p>
            <a:r>
              <a:rPr lang="en-US" dirty="0"/>
              <a:t>Unlike the map class, the multimap class does not overload the [] operator. </a:t>
            </a:r>
          </a:p>
          <a:p>
            <a:r>
              <a:rPr lang="en-US" dirty="0"/>
              <a:t>So, you cannot write an assignment statement to add a new element to a multimap. </a:t>
            </a:r>
          </a:p>
          <a:p>
            <a:r>
              <a:rPr lang="en-US" dirty="0"/>
              <a:t>Instead, you can use either the emplace() member function, or the insert() member function.</a:t>
            </a:r>
          </a:p>
          <a:p>
            <a:endParaRPr lang="en-US" dirty="0"/>
          </a:p>
        </p:txBody>
      </p:sp>
    </p:spTree>
    <p:extLst>
      <p:ext uri="{BB962C8B-B14F-4D97-AF65-F5344CB8AC3E}">
        <p14:creationId xmlns:p14="http://schemas.microsoft.com/office/powerpoint/2010/main" val="3053036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3D22F-8B38-957B-6529-5AF7D757E9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0457A8-9E11-77DE-E2FA-9C0BB58D115B}"/>
              </a:ext>
            </a:extLst>
          </p:cNvPr>
          <p:cNvSpPr>
            <a:spLocks noGrp="1"/>
          </p:cNvSpPr>
          <p:nvPr>
            <p:ph type="title"/>
          </p:nvPr>
        </p:nvSpPr>
        <p:spPr/>
        <p:txBody>
          <a:bodyPr/>
          <a:lstStyle/>
          <a:p>
            <a:r>
              <a:rPr lang="en-US" dirty="0"/>
              <a:t>Adding Elements to a multimap</a:t>
            </a:r>
          </a:p>
        </p:txBody>
      </p:sp>
      <p:sp>
        <p:nvSpPr>
          <p:cNvPr id="3" name="Content Placeholder 2">
            <a:extLst>
              <a:ext uri="{FF2B5EF4-FFF2-40B4-BE49-F238E27FC236}">
                <a16:creationId xmlns:a16="http://schemas.microsoft.com/office/drawing/2014/main" id="{19E49902-3897-F687-3253-CA5AF728C4A2}"/>
              </a:ext>
            </a:extLst>
          </p:cNvPr>
          <p:cNvSpPr>
            <a:spLocks noGrp="1"/>
          </p:cNvSpPr>
          <p:nvPr>
            <p:ph idx="1"/>
          </p:nvPr>
        </p:nvSpPr>
        <p:spPr>
          <a:xfrm>
            <a:off x="838199" y="1825625"/>
            <a:ext cx="10884243" cy="4351338"/>
          </a:xfrm>
        </p:spPr>
        <p:txBody>
          <a:bodyPr>
            <a:noAutofit/>
          </a:bodyPr>
          <a:lstStyle/>
          <a:p>
            <a:r>
              <a:rPr lang="en-US" sz="2400" dirty="0"/>
              <a:t>The multimap class's emplace() member function adds a new element to the container. </a:t>
            </a:r>
          </a:p>
          <a:p>
            <a:r>
              <a:rPr lang="en-US" sz="2400" dirty="0"/>
              <a:t>You simply call the member function, passing the new element's key and value as arguments.</a:t>
            </a:r>
          </a:p>
          <a:p>
            <a:r>
              <a:rPr lang="en-US" sz="2400" dirty="0"/>
              <a:t>If the element that you are inserting with the emplace() member function has the same key as an existing element, the function adds a new element with the same key. Same for </a:t>
            </a:r>
            <a:r>
              <a:rPr lang="en-US" sz="2400" i="1" dirty="0">
                <a:solidFill>
                  <a:srgbClr val="FF0000"/>
                </a:solidFill>
              </a:rPr>
              <a:t>insert()</a:t>
            </a:r>
          </a:p>
        </p:txBody>
      </p:sp>
      <p:pic>
        <p:nvPicPr>
          <p:cNvPr id="4" name="Picture 3">
            <a:extLst>
              <a:ext uri="{FF2B5EF4-FFF2-40B4-BE49-F238E27FC236}">
                <a16:creationId xmlns:a16="http://schemas.microsoft.com/office/drawing/2014/main" id="{C3B2EBA9-B090-55DC-0730-E62C8329CA94}"/>
              </a:ext>
            </a:extLst>
          </p:cNvPr>
          <p:cNvPicPr>
            <a:picLocks noChangeAspect="1"/>
          </p:cNvPicPr>
          <p:nvPr/>
        </p:nvPicPr>
        <p:blipFill>
          <a:blip r:embed="rId2"/>
          <a:stretch>
            <a:fillRect/>
          </a:stretch>
        </p:blipFill>
        <p:spPr>
          <a:xfrm>
            <a:off x="5319372" y="4256988"/>
            <a:ext cx="4996672" cy="2553044"/>
          </a:xfrm>
          <a:prstGeom prst="rect">
            <a:avLst/>
          </a:prstGeom>
        </p:spPr>
      </p:pic>
    </p:spTree>
    <p:extLst>
      <p:ext uri="{BB962C8B-B14F-4D97-AF65-F5344CB8AC3E}">
        <p14:creationId xmlns:p14="http://schemas.microsoft.com/office/powerpoint/2010/main" val="22683732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E1CA6-F1A4-C07C-0A29-21BA16D861BF}"/>
              </a:ext>
            </a:extLst>
          </p:cNvPr>
          <p:cNvSpPr>
            <a:spLocks noGrp="1"/>
          </p:cNvSpPr>
          <p:nvPr>
            <p:ph type="title"/>
          </p:nvPr>
        </p:nvSpPr>
        <p:spPr/>
        <p:txBody>
          <a:bodyPr/>
          <a:lstStyle/>
          <a:p>
            <a:r>
              <a:rPr lang="en-US" dirty="0"/>
              <a:t>Getting the Number of Elements with a Specified Key</a:t>
            </a:r>
          </a:p>
        </p:txBody>
      </p:sp>
      <p:sp>
        <p:nvSpPr>
          <p:cNvPr id="3" name="Content Placeholder 2">
            <a:extLst>
              <a:ext uri="{FF2B5EF4-FFF2-40B4-BE49-F238E27FC236}">
                <a16:creationId xmlns:a16="http://schemas.microsoft.com/office/drawing/2014/main" id="{9F78DE04-187B-7C68-1E2B-DBD70F556EE7}"/>
              </a:ext>
            </a:extLst>
          </p:cNvPr>
          <p:cNvSpPr>
            <a:spLocks noGrp="1"/>
          </p:cNvSpPr>
          <p:nvPr>
            <p:ph idx="1"/>
          </p:nvPr>
        </p:nvSpPr>
        <p:spPr>
          <a:xfrm>
            <a:off x="838200" y="1825625"/>
            <a:ext cx="4697627" cy="4351338"/>
          </a:xfrm>
        </p:spPr>
        <p:txBody>
          <a:bodyPr/>
          <a:lstStyle/>
          <a:p>
            <a:endParaRPr lang="en-US" dirty="0"/>
          </a:p>
          <a:p>
            <a:r>
              <a:rPr lang="en-US" dirty="0"/>
              <a:t>The multimap class's count() member function accepts a key as its argument, and returns the number of elements that match the specified key.</a:t>
            </a:r>
          </a:p>
        </p:txBody>
      </p:sp>
      <p:pic>
        <p:nvPicPr>
          <p:cNvPr id="4" name="Picture 3">
            <a:extLst>
              <a:ext uri="{FF2B5EF4-FFF2-40B4-BE49-F238E27FC236}">
                <a16:creationId xmlns:a16="http://schemas.microsoft.com/office/drawing/2014/main" id="{65B7F513-3616-1251-4A93-D75B1499D647}"/>
              </a:ext>
            </a:extLst>
          </p:cNvPr>
          <p:cNvPicPr>
            <a:picLocks noChangeAspect="1"/>
          </p:cNvPicPr>
          <p:nvPr/>
        </p:nvPicPr>
        <p:blipFill>
          <a:blip r:embed="rId2"/>
          <a:stretch>
            <a:fillRect/>
          </a:stretch>
        </p:blipFill>
        <p:spPr>
          <a:xfrm>
            <a:off x="6524303" y="1251598"/>
            <a:ext cx="5229333" cy="5499392"/>
          </a:xfrm>
          <a:prstGeom prst="rect">
            <a:avLst/>
          </a:prstGeom>
        </p:spPr>
      </p:pic>
    </p:spTree>
    <p:extLst>
      <p:ext uri="{BB962C8B-B14F-4D97-AF65-F5344CB8AC3E}">
        <p14:creationId xmlns:p14="http://schemas.microsoft.com/office/powerpoint/2010/main" val="21575492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395D2-640D-D47B-F291-EC8AB711CAC9}"/>
              </a:ext>
            </a:extLst>
          </p:cNvPr>
          <p:cNvSpPr>
            <a:spLocks noGrp="1"/>
          </p:cNvSpPr>
          <p:nvPr>
            <p:ph type="title"/>
          </p:nvPr>
        </p:nvSpPr>
        <p:spPr/>
        <p:txBody>
          <a:bodyPr/>
          <a:lstStyle/>
          <a:p>
            <a:r>
              <a:rPr lang="en-US" dirty="0"/>
              <a:t>Retrieving the Elements with a Specified Key</a:t>
            </a:r>
          </a:p>
        </p:txBody>
      </p:sp>
      <p:sp>
        <p:nvSpPr>
          <p:cNvPr id="3" name="Content Placeholder 2">
            <a:extLst>
              <a:ext uri="{FF2B5EF4-FFF2-40B4-BE49-F238E27FC236}">
                <a16:creationId xmlns:a16="http://schemas.microsoft.com/office/drawing/2014/main" id="{44B08B63-745B-253C-4187-3D4212ACD702}"/>
              </a:ext>
            </a:extLst>
          </p:cNvPr>
          <p:cNvSpPr>
            <a:spLocks noGrp="1"/>
          </p:cNvSpPr>
          <p:nvPr>
            <p:ph idx="1"/>
          </p:nvPr>
        </p:nvSpPr>
        <p:spPr/>
        <p:txBody>
          <a:bodyPr/>
          <a:lstStyle/>
          <a:p>
            <a:r>
              <a:rPr lang="en-US" dirty="0"/>
              <a:t>Like the map class, the multimap class has a find() member function that searches for an element with a specified key. </a:t>
            </a:r>
          </a:p>
          <a:p>
            <a:r>
              <a:rPr lang="en-US" dirty="0"/>
              <a:t>If the key is found, the </a:t>
            </a:r>
            <a:r>
              <a:rPr lang="en-US" dirty="0">
                <a:solidFill>
                  <a:srgbClr val="FF0000"/>
                </a:solidFill>
              </a:rPr>
              <a:t>find() </a:t>
            </a:r>
            <a:r>
              <a:rPr lang="en-US" dirty="0"/>
              <a:t>function returns an iterator to the first element matching it. </a:t>
            </a:r>
          </a:p>
          <a:p>
            <a:r>
              <a:rPr lang="en-US" dirty="0"/>
              <a:t>If the element is not found, the find() function returns an iterator to the end of the map.</a:t>
            </a:r>
          </a:p>
        </p:txBody>
      </p:sp>
    </p:spTree>
    <p:extLst>
      <p:ext uri="{BB962C8B-B14F-4D97-AF65-F5344CB8AC3E}">
        <p14:creationId xmlns:p14="http://schemas.microsoft.com/office/powerpoint/2010/main" val="31437115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6B664-F7C8-2E76-EDC7-D9B32672BC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265A8F-41F6-EEA6-1946-27C77380BB67}"/>
              </a:ext>
            </a:extLst>
          </p:cNvPr>
          <p:cNvSpPr>
            <a:spLocks noGrp="1"/>
          </p:cNvSpPr>
          <p:nvPr>
            <p:ph type="title"/>
          </p:nvPr>
        </p:nvSpPr>
        <p:spPr/>
        <p:txBody>
          <a:bodyPr/>
          <a:lstStyle/>
          <a:p>
            <a:r>
              <a:rPr lang="en-US" dirty="0"/>
              <a:t>Retrieving the Elements with a Specified Key</a:t>
            </a:r>
          </a:p>
        </p:txBody>
      </p:sp>
      <p:sp>
        <p:nvSpPr>
          <p:cNvPr id="3" name="Content Placeholder 2">
            <a:extLst>
              <a:ext uri="{FF2B5EF4-FFF2-40B4-BE49-F238E27FC236}">
                <a16:creationId xmlns:a16="http://schemas.microsoft.com/office/drawing/2014/main" id="{C3D688DB-74C6-F60F-528E-016786A55EFD}"/>
              </a:ext>
            </a:extLst>
          </p:cNvPr>
          <p:cNvSpPr>
            <a:spLocks noGrp="1"/>
          </p:cNvSpPr>
          <p:nvPr>
            <p:ph idx="1"/>
          </p:nvPr>
        </p:nvSpPr>
        <p:spPr/>
        <p:txBody>
          <a:bodyPr/>
          <a:lstStyle/>
          <a:p>
            <a:r>
              <a:rPr lang="en-US" dirty="0"/>
              <a:t>If you want to retrieve all of the elements matching a specified key, use the multimap class's </a:t>
            </a:r>
            <a:r>
              <a:rPr lang="en-US" dirty="0" err="1">
                <a:solidFill>
                  <a:srgbClr val="FF0000"/>
                </a:solidFill>
              </a:rPr>
              <a:t>equal_range</a:t>
            </a:r>
            <a:r>
              <a:rPr lang="en-US" dirty="0">
                <a:solidFill>
                  <a:srgbClr val="FF0000"/>
                </a:solidFill>
              </a:rPr>
              <a:t> </a:t>
            </a:r>
            <a:r>
              <a:rPr lang="en-US" dirty="0"/>
              <a:t>member function. </a:t>
            </a:r>
          </a:p>
          <a:p>
            <a:r>
              <a:rPr lang="en-US" dirty="0"/>
              <a:t>The </a:t>
            </a:r>
            <a:r>
              <a:rPr lang="en-US" dirty="0" err="1"/>
              <a:t>equal_range</a:t>
            </a:r>
            <a:r>
              <a:rPr lang="en-US" dirty="0"/>
              <a:t> member function returns a pair object. </a:t>
            </a:r>
          </a:p>
          <a:p>
            <a:r>
              <a:rPr lang="en-US" dirty="0"/>
              <a:t>The pair object's first member is an iterator pointing to the first element in the multimap that matches the specified key. </a:t>
            </a:r>
          </a:p>
          <a:p>
            <a:r>
              <a:rPr lang="en-US" dirty="0"/>
              <a:t>The pair object's second member is an iterator pointing to the position </a:t>
            </a:r>
            <a:r>
              <a:rPr lang="en-US" i="1" dirty="0"/>
              <a:t>after</a:t>
            </a:r>
            <a:r>
              <a:rPr lang="en-US" dirty="0"/>
              <a:t> the last element that matches the specified key. </a:t>
            </a:r>
          </a:p>
        </p:txBody>
      </p:sp>
    </p:spTree>
    <p:extLst>
      <p:ext uri="{BB962C8B-B14F-4D97-AF65-F5344CB8AC3E}">
        <p14:creationId xmlns:p14="http://schemas.microsoft.com/office/powerpoint/2010/main" val="6124017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FFC8D-DF90-97FB-189B-3DA3577B5D12}"/>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0F5E1B60-C8C3-8A2B-03DD-F1D595BA15BA}"/>
              </a:ext>
            </a:extLst>
          </p:cNvPr>
          <p:cNvPicPr>
            <a:picLocks noChangeAspect="1"/>
          </p:cNvPicPr>
          <p:nvPr/>
        </p:nvPicPr>
        <p:blipFill>
          <a:blip r:embed="rId2"/>
          <a:stretch>
            <a:fillRect/>
          </a:stretch>
        </p:blipFill>
        <p:spPr>
          <a:xfrm>
            <a:off x="6592630" y="109129"/>
            <a:ext cx="4641373" cy="6639742"/>
          </a:xfrm>
          <a:prstGeom prst="rect">
            <a:avLst/>
          </a:prstGeom>
        </p:spPr>
      </p:pic>
      <p:pic>
        <p:nvPicPr>
          <p:cNvPr id="5" name="Picture 4">
            <a:extLst>
              <a:ext uri="{FF2B5EF4-FFF2-40B4-BE49-F238E27FC236}">
                <a16:creationId xmlns:a16="http://schemas.microsoft.com/office/drawing/2014/main" id="{28AC4FB1-4D00-13D1-A9A6-9F438D217F34}"/>
              </a:ext>
            </a:extLst>
          </p:cNvPr>
          <p:cNvPicPr>
            <a:picLocks noChangeAspect="1"/>
          </p:cNvPicPr>
          <p:nvPr/>
        </p:nvPicPr>
        <p:blipFill>
          <a:blip r:embed="rId3"/>
          <a:stretch>
            <a:fillRect/>
          </a:stretch>
        </p:blipFill>
        <p:spPr>
          <a:xfrm>
            <a:off x="1711410" y="2243781"/>
            <a:ext cx="3683304" cy="1110037"/>
          </a:xfrm>
          <a:prstGeom prst="rect">
            <a:avLst/>
          </a:prstGeom>
        </p:spPr>
      </p:pic>
      <p:sp>
        <p:nvSpPr>
          <p:cNvPr id="6" name="TextBox 5">
            <a:extLst>
              <a:ext uri="{FF2B5EF4-FFF2-40B4-BE49-F238E27FC236}">
                <a16:creationId xmlns:a16="http://schemas.microsoft.com/office/drawing/2014/main" id="{5D12ADAB-F8B4-ABC8-BFF3-89C63F341FAD}"/>
              </a:ext>
            </a:extLst>
          </p:cNvPr>
          <p:cNvSpPr txBox="1"/>
          <p:nvPr/>
        </p:nvSpPr>
        <p:spPr>
          <a:xfrm>
            <a:off x="708454" y="4388177"/>
            <a:ext cx="5512015" cy="1754326"/>
          </a:xfrm>
          <a:prstGeom prst="rect">
            <a:avLst/>
          </a:prstGeom>
          <a:noFill/>
        </p:spPr>
        <p:txBody>
          <a:bodyPr wrap="square" rtlCol="0">
            <a:spAutoFit/>
          </a:bodyPr>
          <a:lstStyle/>
          <a:p>
            <a:pPr marL="285750" indent="-285750">
              <a:buFont typeface="Arial" panose="020B0604020202020204" pitchFamily="34" charset="0"/>
              <a:buChar char="•"/>
            </a:pPr>
            <a:r>
              <a:rPr lang="en-US" dirty="0"/>
              <a:t>Lines 16 through 17 define a pair variable named range. </a:t>
            </a:r>
          </a:p>
          <a:p>
            <a:pPr marL="285750" indent="-285750">
              <a:buFont typeface="Arial" panose="020B0604020202020204" pitchFamily="34" charset="0"/>
              <a:buChar char="•"/>
            </a:pPr>
            <a:r>
              <a:rPr lang="en-US" dirty="0"/>
              <a:t>The range variable will receive the object that is returned from the </a:t>
            </a:r>
            <a:r>
              <a:rPr lang="en-US" dirty="0" err="1"/>
              <a:t>equal_range</a:t>
            </a:r>
            <a:r>
              <a:rPr lang="en-US" dirty="0"/>
              <a:t> member function. </a:t>
            </a:r>
          </a:p>
          <a:p>
            <a:pPr marL="285750" indent="-285750">
              <a:buFont typeface="Arial" panose="020B0604020202020204" pitchFamily="34" charset="0"/>
              <a:buChar char="•"/>
            </a:pPr>
            <a:r>
              <a:rPr lang="en-US" dirty="0"/>
              <a:t>The object's first and second members will both be iterators for the multimap container.</a:t>
            </a:r>
          </a:p>
        </p:txBody>
      </p:sp>
    </p:spTree>
    <p:extLst>
      <p:ext uri="{BB962C8B-B14F-4D97-AF65-F5344CB8AC3E}">
        <p14:creationId xmlns:p14="http://schemas.microsoft.com/office/powerpoint/2010/main" val="20330483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1AC7F-52DD-88B1-B40C-9FD48216F563}"/>
              </a:ext>
            </a:extLst>
          </p:cNvPr>
          <p:cNvSpPr>
            <a:spLocks noGrp="1"/>
          </p:cNvSpPr>
          <p:nvPr>
            <p:ph type="title"/>
          </p:nvPr>
        </p:nvSpPr>
        <p:spPr/>
        <p:txBody>
          <a:bodyPr/>
          <a:lstStyle/>
          <a:p>
            <a:r>
              <a:rPr lang="en-US" dirty="0"/>
              <a:t>Deleting Elements From a multimap</a:t>
            </a:r>
          </a:p>
        </p:txBody>
      </p:sp>
      <p:sp>
        <p:nvSpPr>
          <p:cNvPr id="3" name="Content Placeholder 2">
            <a:extLst>
              <a:ext uri="{FF2B5EF4-FFF2-40B4-BE49-F238E27FC236}">
                <a16:creationId xmlns:a16="http://schemas.microsoft.com/office/drawing/2014/main" id="{D6969EB8-B9BE-FE97-C351-C0DF706A2824}"/>
              </a:ext>
            </a:extLst>
          </p:cNvPr>
          <p:cNvSpPr>
            <a:spLocks noGrp="1"/>
          </p:cNvSpPr>
          <p:nvPr>
            <p:ph idx="1"/>
          </p:nvPr>
        </p:nvSpPr>
        <p:spPr/>
        <p:txBody>
          <a:bodyPr/>
          <a:lstStyle/>
          <a:p>
            <a:r>
              <a:rPr lang="en-US" dirty="0"/>
              <a:t>You can delete, or erase, elements from a multimap using the </a:t>
            </a:r>
            <a:r>
              <a:rPr lang="en-US" dirty="0">
                <a:solidFill>
                  <a:srgbClr val="FF0000"/>
                </a:solidFill>
              </a:rPr>
              <a:t>erase() </a:t>
            </a:r>
            <a:r>
              <a:rPr lang="en-US" dirty="0"/>
              <a:t>member function. </a:t>
            </a:r>
          </a:p>
          <a:p>
            <a:r>
              <a:rPr lang="en-US" dirty="0"/>
              <a:t>You call the erase() member function, passing the key that is associated with the elements that you want to erase. </a:t>
            </a:r>
          </a:p>
          <a:p>
            <a:r>
              <a:rPr lang="en-US" dirty="0"/>
              <a:t>All of the elements matching the specified key will be erased from the multimap. </a:t>
            </a:r>
          </a:p>
        </p:txBody>
      </p:sp>
      <p:pic>
        <p:nvPicPr>
          <p:cNvPr id="4" name="Picture 3">
            <a:extLst>
              <a:ext uri="{FF2B5EF4-FFF2-40B4-BE49-F238E27FC236}">
                <a16:creationId xmlns:a16="http://schemas.microsoft.com/office/drawing/2014/main" id="{D9340822-13A3-C2FF-6C03-9F9366C6D9E6}"/>
              </a:ext>
            </a:extLst>
          </p:cNvPr>
          <p:cNvPicPr>
            <a:picLocks noChangeAspect="1"/>
          </p:cNvPicPr>
          <p:nvPr/>
        </p:nvPicPr>
        <p:blipFill>
          <a:blip r:embed="rId3"/>
          <a:stretch>
            <a:fillRect/>
          </a:stretch>
        </p:blipFill>
        <p:spPr>
          <a:xfrm>
            <a:off x="3882513" y="4337735"/>
            <a:ext cx="4426974" cy="1975881"/>
          </a:xfrm>
          <a:prstGeom prst="rect">
            <a:avLst/>
          </a:prstGeom>
        </p:spPr>
      </p:pic>
    </p:spTree>
    <p:extLst>
      <p:ext uri="{BB962C8B-B14F-4D97-AF65-F5344CB8AC3E}">
        <p14:creationId xmlns:p14="http://schemas.microsoft.com/office/powerpoint/2010/main" val="8694422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B0090-62AB-742E-C33B-27F2A553427E}"/>
              </a:ext>
            </a:extLst>
          </p:cNvPr>
          <p:cNvSpPr>
            <a:spLocks noGrp="1"/>
          </p:cNvSpPr>
          <p:nvPr>
            <p:ph type="title"/>
          </p:nvPr>
        </p:nvSpPr>
        <p:spPr/>
        <p:txBody>
          <a:bodyPr/>
          <a:lstStyle/>
          <a:p>
            <a:r>
              <a:rPr lang="en-US" dirty="0"/>
              <a:t>The </a:t>
            </a:r>
            <a:r>
              <a:rPr lang="en-US" dirty="0" err="1"/>
              <a:t>unordered_multimap</a:t>
            </a:r>
            <a:r>
              <a:rPr lang="en-US" dirty="0"/>
              <a:t> Class</a:t>
            </a:r>
          </a:p>
        </p:txBody>
      </p:sp>
      <p:sp>
        <p:nvSpPr>
          <p:cNvPr id="3" name="Content Placeholder 2">
            <a:extLst>
              <a:ext uri="{FF2B5EF4-FFF2-40B4-BE49-F238E27FC236}">
                <a16:creationId xmlns:a16="http://schemas.microsoft.com/office/drawing/2014/main" id="{134AD6E6-22D0-FABF-8541-8EF9720B5E96}"/>
              </a:ext>
            </a:extLst>
          </p:cNvPr>
          <p:cNvSpPr>
            <a:spLocks noGrp="1"/>
          </p:cNvSpPr>
          <p:nvPr>
            <p:ph idx="1"/>
          </p:nvPr>
        </p:nvSpPr>
        <p:spPr/>
        <p:txBody>
          <a:bodyPr>
            <a:normAutofit/>
          </a:bodyPr>
          <a:lstStyle/>
          <a:p>
            <a:pPr algn="l"/>
            <a:r>
              <a:rPr lang="en-US" dirty="0">
                <a:effectLst/>
              </a:rPr>
              <a:t>Beginning with C++11, the STL provides a class template named </a:t>
            </a:r>
            <a:r>
              <a:rPr lang="en-US" dirty="0" err="1">
                <a:solidFill>
                  <a:srgbClr val="FF0000"/>
                </a:solidFill>
                <a:effectLst/>
              </a:rPr>
              <a:t>unordered_multimap</a:t>
            </a:r>
            <a:r>
              <a:rPr lang="en-US" dirty="0">
                <a:solidFill>
                  <a:srgbClr val="FF0000"/>
                </a:solidFill>
                <a:effectLst/>
              </a:rPr>
              <a:t> </a:t>
            </a:r>
            <a:r>
              <a:rPr lang="en-US" dirty="0">
                <a:effectLst/>
              </a:rPr>
              <a:t>that is similar to the multimap class, except in two regards:</a:t>
            </a:r>
          </a:p>
          <a:p>
            <a:pPr lvl="1"/>
            <a:r>
              <a:rPr lang="en-US" dirty="0">
                <a:effectLst/>
              </a:rPr>
              <a:t>(1) The keys in an </a:t>
            </a:r>
            <a:r>
              <a:rPr lang="en-US" dirty="0" err="1">
                <a:effectLst/>
              </a:rPr>
              <a:t>unordered_multimap</a:t>
            </a:r>
            <a:r>
              <a:rPr lang="en-US" dirty="0">
                <a:effectLst/>
              </a:rPr>
              <a:t> are not sorted in any particular order, </a:t>
            </a:r>
          </a:p>
          <a:p>
            <a:pPr lvl="1"/>
            <a:r>
              <a:rPr lang="en-US" dirty="0">
                <a:effectLst/>
              </a:rPr>
              <a:t>(2) The </a:t>
            </a:r>
            <a:r>
              <a:rPr lang="en-US" dirty="0" err="1">
                <a:effectLst/>
              </a:rPr>
              <a:t>unordered_multimap</a:t>
            </a:r>
            <a:r>
              <a:rPr lang="en-US" dirty="0">
                <a:effectLst/>
              </a:rPr>
              <a:t> class has better performance. </a:t>
            </a:r>
          </a:p>
          <a:p>
            <a:pPr algn="l"/>
            <a:r>
              <a:rPr lang="en-US" dirty="0">
                <a:effectLst/>
              </a:rPr>
              <a:t>If you will be making a lot of searches on a large number of elements and you are not concerned with retrieving them in key order, you should probably use the </a:t>
            </a:r>
            <a:r>
              <a:rPr lang="en-US" dirty="0" err="1">
                <a:effectLst/>
              </a:rPr>
              <a:t>unordered_multimap</a:t>
            </a:r>
            <a:r>
              <a:rPr lang="en-US" dirty="0">
                <a:effectLst/>
              </a:rPr>
              <a:t> class instead of the multimap class.</a:t>
            </a:r>
          </a:p>
          <a:p>
            <a:endParaRPr lang="en-US" dirty="0"/>
          </a:p>
        </p:txBody>
      </p:sp>
    </p:spTree>
    <p:extLst>
      <p:ext uri="{BB962C8B-B14F-4D97-AF65-F5344CB8AC3E}">
        <p14:creationId xmlns:p14="http://schemas.microsoft.com/office/powerpoint/2010/main" val="17658348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005DE-E4FB-E9DB-98AA-3EDF8A6697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84F90D-9581-E2F2-F347-997875F22B71}"/>
              </a:ext>
            </a:extLst>
          </p:cNvPr>
          <p:cNvSpPr>
            <a:spLocks noGrp="1"/>
          </p:cNvSpPr>
          <p:nvPr>
            <p:ph type="title"/>
          </p:nvPr>
        </p:nvSpPr>
        <p:spPr/>
        <p:txBody>
          <a:bodyPr/>
          <a:lstStyle/>
          <a:p>
            <a:r>
              <a:rPr lang="en-US" dirty="0"/>
              <a:t>The </a:t>
            </a:r>
            <a:r>
              <a:rPr lang="en-US" dirty="0" err="1"/>
              <a:t>unordered_multimap</a:t>
            </a:r>
            <a:r>
              <a:rPr lang="en-US" dirty="0"/>
              <a:t> Class</a:t>
            </a:r>
          </a:p>
        </p:txBody>
      </p:sp>
      <p:sp>
        <p:nvSpPr>
          <p:cNvPr id="3" name="Content Placeholder 2">
            <a:extLst>
              <a:ext uri="{FF2B5EF4-FFF2-40B4-BE49-F238E27FC236}">
                <a16:creationId xmlns:a16="http://schemas.microsoft.com/office/drawing/2014/main" id="{C4FE61EE-DAE8-BE97-A19A-48A11C3F3CDD}"/>
              </a:ext>
            </a:extLst>
          </p:cNvPr>
          <p:cNvSpPr>
            <a:spLocks noGrp="1"/>
          </p:cNvSpPr>
          <p:nvPr>
            <p:ph idx="1"/>
          </p:nvPr>
        </p:nvSpPr>
        <p:spPr/>
        <p:txBody>
          <a:bodyPr>
            <a:normAutofit/>
          </a:bodyPr>
          <a:lstStyle/>
          <a:p>
            <a:pPr algn="l"/>
            <a:r>
              <a:rPr lang="en-US" dirty="0">
                <a:effectLst/>
              </a:rPr>
              <a:t>To use the </a:t>
            </a:r>
            <a:r>
              <a:rPr lang="en-US" dirty="0" err="1">
                <a:effectLst/>
              </a:rPr>
              <a:t>unordered_multimap</a:t>
            </a:r>
            <a:r>
              <a:rPr lang="en-US" dirty="0">
                <a:effectLst/>
              </a:rPr>
              <a:t> class, you must write the </a:t>
            </a:r>
            <a:r>
              <a:rPr lang="en-US" i="1" dirty="0">
                <a:solidFill>
                  <a:srgbClr val="FF0000"/>
                </a:solidFill>
                <a:effectLst/>
              </a:rPr>
              <a:t>#include&lt;</a:t>
            </a:r>
            <a:r>
              <a:rPr lang="en-US" i="1" dirty="0" err="1">
                <a:solidFill>
                  <a:srgbClr val="FF0000"/>
                </a:solidFill>
                <a:effectLst/>
              </a:rPr>
              <a:t>unordered_multimap</a:t>
            </a:r>
            <a:r>
              <a:rPr lang="en-US" i="1" dirty="0">
                <a:solidFill>
                  <a:srgbClr val="FF0000"/>
                </a:solidFill>
                <a:effectLst/>
              </a:rPr>
              <a:t>&gt; </a:t>
            </a:r>
            <a:r>
              <a:rPr lang="en-US" dirty="0">
                <a:effectLst/>
              </a:rPr>
              <a:t>directive in your program. </a:t>
            </a:r>
          </a:p>
          <a:p>
            <a:pPr algn="l"/>
            <a:r>
              <a:rPr lang="en-US" dirty="0">
                <a:effectLst/>
              </a:rPr>
              <a:t>The </a:t>
            </a:r>
            <a:r>
              <a:rPr lang="en-US" dirty="0" err="1">
                <a:effectLst/>
              </a:rPr>
              <a:t>unordered_multimap</a:t>
            </a:r>
            <a:r>
              <a:rPr lang="en-US" dirty="0">
                <a:effectLst/>
              </a:rPr>
              <a:t> class has a similar set of member functions as the multimap class, and in most cases, working with an </a:t>
            </a:r>
            <a:r>
              <a:rPr lang="en-US" dirty="0" err="1">
                <a:effectLst/>
              </a:rPr>
              <a:t>unordered_multimap</a:t>
            </a:r>
            <a:r>
              <a:rPr lang="en-US" dirty="0">
                <a:effectLst/>
              </a:rPr>
              <a:t> is just like working with a multimap.</a:t>
            </a:r>
          </a:p>
          <a:p>
            <a:endParaRPr lang="en-US" dirty="0"/>
          </a:p>
        </p:txBody>
      </p:sp>
    </p:spTree>
    <p:extLst>
      <p:ext uri="{BB962C8B-B14F-4D97-AF65-F5344CB8AC3E}">
        <p14:creationId xmlns:p14="http://schemas.microsoft.com/office/powerpoint/2010/main" val="11639151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AD0A7-7DF5-98CC-E102-2850DB28AE30}"/>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1B569963-6C57-D7AB-2195-CB580A34E750}"/>
              </a:ext>
            </a:extLst>
          </p:cNvPr>
          <p:cNvSpPr>
            <a:spLocks noGrp="1"/>
          </p:cNvSpPr>
          <p:nvPr>
            <p:ph idx="1"/>
          </p:nvPr>
        </p:nvSpPr>
        <p:spPr/>
        <p:txBody>
          <a:bodyPr/>
          <a:lstStyle/>
          <a:p>
            <a:pPr marL="0" indent="0">
              <a:buNone/>
            </a:pPr>
            <a:r>
              <a:rPr lang="en-US" sz="3600" b="1" dirty="0"/>
              <a:t>Final Exam</a:t>
            </a:r>
          </a:p>
          <a:p>
            <a:pPr marL="0" indent="0">
              <a:buNone/>
            </a:pPr>
            <a:endParaRPr lang="en-US" sz="3600" b="1" dirty="0"/>
          </a:p>
          <a:p>
            <a:r>
              <a:rPr lang="en-US" dirty="0">
                <a:solidFill>
                  <a:srgbClr val="FF0000"/>
                </a:solidFill>
              </a:rPr>
              <a:t>Date: </a:t>
            </a:r>
            <a:r>
              <a:rPr lang="en-US" dirty="0"/>
              <a:t>December 17, 2024 </a:t>
            </a:r>
          </a:p>
          <a:p>
            <a:r>
              <a:rPr lang="en-US" dirty="0">
                <a:solidFill>
                  <a:srgbClr val="FF0000"/>
                </a:solidFill>
                <a:latin typeface="Arial" panose="020B0604020202020204" pitchFamily="34" charset="0"/>
              </a:rPr>
              <a:t>Time: </a:t>
            </a:r>
            <a:r>
              <a:rPr lang="en-US" dirty="0">
                <a:latin typeface="Arial" panose="020B0604020202020204" pitchFamily="34" charset="0"/>
              </a:rPr>
              <a:t>F</a:t>
            </a:r>
            <a:r>
              <a:rPr lang="en-US" b="0" i="0" dirty="0">
                <a:effectLst/>
                <a:latin typeface="Arial" panose="020B0604020202020204" pitchFamily="34" charset="0"/>
              </a:rPr>
              <a:t>rom 1:00 PM to 3:00 PM. </a:t>
            </a:r>
          </a:p>
          <a:p>
            <a:r>
              <a:rPr lang="en-US" b="0" i="0" dirty="0">
                <a:solidFill>
                  <a:srgbClr val="FF0000"/>
                </a:solidFill>
                <a:effectLst/>
                <a:latin typeface="Arial" panose="020B0604020202020204" pitchFamily="34" charset="0"/>
              </a:rPr>
              <a:t>Location: </a:t>
            </a:r>
            <a:r>
              <a:rPr lang="en-US" b="0" i="0" dirty="0">
                <a:effectLst/>
                <a:latin typeface="Arial" panose="020B0604020202020204" pitchFamily="34" charset="0"/>
              </a:rPr>
              <a:t>Room KT- 247, Kettler Hall</a:t>
            </a:r>
          </a:p>
          <a:p>
            <a:r>
              <a:rPr lang="en-US" b="1" dirty="0">
                <a:latin typeface="Arial" panose="020B0604020202020204" pitchFamily="34" charset="0"/>
              </a:rPr>
              <a:t>In-person attendance is mandatory </a:t>
            </a:r>
            <a:endParaRPr lang="en-US" b="1" dirty="0"/>
          </a:p>
        </p:txBody>
      </p:sp>
    </p:spTree>
    <p:extLst>
      <p:ext uri="{BB962C8B-B14F-4D97-AF65-F5344CB8AC3E}">
        <p14:creationId xmlns:p14="http://schemas.microsoft.com/office/powerpoint/2010/main" val="31690207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547</TotalTime>
  <Words>2879</Words>
  <Application>Microsoft Macintosh PowerPoint</Application>
  <PresentationFormat>Widescreen</PresentationFormat>
  <Paragraphs>211</Paragraphs>
  <Slides>46</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Aptos</vt:lpstr>
      <vt:lpstr>Aptos Display</vt:lpstr>
      <vt:lpstr>Arial</vt:lpstr>
      <vt:lpstr>Office Theme</vt:lpstr>
      <vt:lpstr>CS 331</vt:lpstr>
      <vt:lpstr>The map, multimap, and unordered_map Classes</vt:lpstr>
      <vt:lpstr>The map, multimap, and unordered_map Classes</vt:lpstr>
      <vt:lpstr>The map, multimap, and unordered_map Classes</vt:lpstr>
      <vt:lpstr>The map Class</vt:lpstr>
      <vt:lpstr>map Class Constructors</vt:lpstr>
      <vt:lpstr>Map member functions</vt:lpstr>
      <vt:lpstr>Map member functions</vt:lpstr>
      <vt:lpstr>Map member functions</vt:lpstr>
      <vt:lpstr>The map Class</vt:lpstr>
      <vt:lpstr>Initializing a Map</vt:lpstr>
      <vt:lpstr>Initializing a Map</vt:lpstr>
      <vt:lpstr>Adding Elements to a Map</vt:lpstr>
      <vt:lpstr>Adding Elements to a Map</vt:lpstr>
      <vt:lpstr>Adding Elements to a Map</vt:lpstr>
      <vt:lpstr>Adding Elements with the insert() Member Function</vt:lpstr>
      <vt:lpstr>Adding Elements with the insert() Member Function</vt:lpstr>
      <vt:lpstr>Adding Elements with the emplace() Member Function</vt:lpstr>
      <vt:lpstr>Retrieving Values from a Map</vt:lpstr>
      <vt:lpstr>Retrieving Values from a Map</vt:lpstr>
      <vt:lpstr>Retrieving Values from a Map</vt:lpstr>
      <vt:lpstr>Deleting Elements</vt:lpstr>
      <vt:lpstr>Iterating Over a Map with the Range-Based for Loop</vt:lpstr>
      <vt:lpstr>Iterating Over a Map with the Range-Based for Loop</vt:lpstr>
      <vt:lpstr>Using an Iterator with a Map</vt:lpstr>
      <vt:lpstr>Example</vt:lpstr>
      <vt:lpstr>Using an Iterator with a Map</vt:lpstr>
      <vt:lpstr>The unordered_map Class</vt:lpstr>
      <vt:lpstr>The unordered_map Class</vt:lpstr>
      <vt:lpstr>The unordered_map Class</vt:lpstr>
      <vt:lpstr>The unordered_map Class</vt:lpstr>
      <vt:lpstr>The multimap Class</vt:lpstr>
      <vt:lpstr>The multimap Class</vt:lpstr>
      <vt:lpstr>The multimap Class</vt:lpstr>
      <vt:lpstr>Example</vt:lpstr>
      <vt:lpstr>The multimap Class</vt:lpstr>
      <vt:lpstr>Adding Elements to a multimap</vt:lpstr>
      <vt:lpstr>Adding Elements to a multimap</vt:lpstr>
      <vt:lpstr>Getting the Number of Elements with a Specified Key</vt:lpstr>
      <vt:lpstr>Retrieving the Elements with a Specified Key</vt:lpstr>
      <vt:lpstr>Retrieving the Elements with a Specified Key</vt:lpstr>
      <vt:lpstr>Example</vt:lpstr>
      <vt:lpstr>Deleting Elements From a multimap</vt:lpstr>
      <vt:lpstr>The unordered_multimap Class</vt:lpstr>
      <vt:lpstr>The unordered_multimap Class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Romael Haque</dc:creator>
  <cp:lastModifiedBy>MD Romael Haque</cp:lastModifiedBy>
  <cp:revision>16</cp:revision>
  <dcterms:created xsi:type="dcterms:W3CDTF">2024-11-20T17:03:17Z</dcterms:created>
  <dcterms:modified xsi:type="dcterms:W3CDTF">2024-12-12T13:20:21Z</dcterms:modified>
</cp:coreProperties>
</file>