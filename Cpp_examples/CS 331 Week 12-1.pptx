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426" r:id="rId3"/>
    <p:sldId id="427" r:id="rId4"/>
    <p:sldId id="428" r:id="rId5"/>
    <p:sldId id="429" r:id="rId6"/>
    <p:sldId id="430" r:id="rId7"/>
    <p:sldId id="431" r:id="rId8"/>
    <p:sldId id="432" r:id="rId9"/>
    <p:sldId id="433" r:id="rId10"/>
    <p:sldId id="434" r:id="rId11"/>
    <p:sldId id="435" r:id="rId12"/>
    <p:sldId id="436" r:id="rId13"/>
    <p:sldId id="437" r:id="rId14"/>
    <p:sldId id="438" r:id="rId15"/>
    <p:sldId id="439" r:id="rId16"/>
    <p:sldId id="440" r:id="rId17"/>
    <p:sldId id="441" r:id="rId18"/>
    <p:sldId id="443" r:id="rId19"/>
    <p:sldId id="444" r:id="rId20"/>
    <p:sldId id="445" r:id="rId21"/>
    <p:sldId id="446" r:id="rId22"/>
    <p:sldId id="447" r:id="rId23"/>
    <p:sldId id="873" r:id="rId24"/>
    <p:sldId id="448" r:id="rId25"/>
    <p:sldId id="449" r:id="rId26"/>
    <p:sldId id="450" r:id="rId27"/>
    <p:sldId id="451" r:id="rId28"/>
    <p:sldId id="452" r:id="rId29"/>
    <p:sldId id="453" r:id="rId30"/>
    <p:sldId id="454" r:id="rId31"/>
    <p:sldId id="455" r:id="rId32"/>
    <p:sldId id="456" r:id="rId33"/>
    <p:sldId id="861" r:id="rId34"/>
    <p:sldId id="442" r:id="rId35"/>
    <p:sldId id="457" r:id="rId36"/>
    <p:sldId id="458" r:id="rId37"/>
    <p:sldId id="459" r:id="rId38"/>
    <p:sldId id="460" r:id="rId39"/>
    <p:sldId id="461" r:id="rId40"/>
    <p:sldId id="462" r:id="rId41"/>
    <p:sldId id="463" r:id="rId42"/>
    <p:sldId id="464" r:id="rId43"/>
    <p:sldId id="465" r:id="rId44"/>
    <p:sldId id="466" r:id="rId45"/>
    <p:sldId id="467" r:id="rId46"/>
    <p:sldId id="468" r:id="rId47"/>
    <p:sldId id="469" r:id="rId48"/>
    <p:sldId id="470" r:id="rId49"/>
    <p:sldId id="471" r:id="rId50"/>
    <p:sldId id="472" r:id="rId51"/>
    <p:sldId id="473" r:id="rId52"/>
    <p:sldId id="857" r:id="rId53"/>
    <p:sldId id="859" r:id="rId54"/>
    <p:sldId id="860" r:id="rId55"/>
    <p:sldId id="868" r:id="rId56"/>
    <p:sldId id="86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1104"/>
    <p:restoredTop sz="94694"/>
  </p:normalViewPr>
  <p:slideViewPr>
    <p:cSldViewPr snapToGrid="0">
      <p:cViewPr varScale="1">
        <p:scale>
          <a:sx n="121" d="100"/>
          <a:sy n="121" d="100"/>
        </p:scale>
        <p:origin x="1032"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6C011-2B12-A349-B423-75820124C188}" type="datetimeFigureOut">
              <a:rPr lang="en-US" smtClean="0"/>
              <a:t>11/12/24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771B0-8F24-4B48-82A1-68205750A15E}" type="slidenum">
              <a:rPr lang="en-US" smtClean="0"/>
              <a:t>‹#›</a:t>
            </a:fld>
            <a:endParaRPr lang="en-US"/>
          </a:p>
        </p:txBody>
      </p:sp>
    </p:spTree>
    <p:extLst>
      <p:ext uri="{BB962C8B-B14F-4D97-AF65-F5344CB8AC3E}">
        <p14:creationId xmlns:p14="http://schemas.microsoft.com/office/powerpoint/2010/main" val="264270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9</a:t>
            </a:fld>
            <a:endParaRPr lang="en-US"/>
          </a:p>
        </p:txBody>
      </p:sp>
    </p:spTree>
    <p:extLst>
      <p:ext uri="{BB962C8B-B14F-4D97-AF65-F5344CB8AC3E}">
        <p14:creationId xmlns:p14="http://schemas.microsoft.com/office/powerpoint/2010/main" val="371770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21</a:t>
            </a:fld>
            <a:endParaRPr lang="en-US"/>
          </a:p>
        </p:txBody>
      </p:sp>
    </p:spTree>
    <p:extLst>
      <p:ext uri="{BB962C8B-B14F-4D97-AF65-F5344CB8AC3E}">
        <p14:creationId xmlns:p14="http://schemas.microsoft.com/office/powerpoint/2010/main" val="132243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366F8-C005-4C75-05CC-EF32B545D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FCBC4D-F759-34C2-47E9-4B0C3BA94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CE0112-3897-43DC-7AB4-61F709FA78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C905F-0DD0-5636-F02E-C61A1A7A0AB4}"/>
              </a:ext>
            </a:extLst>
          </p:cNvPr>
          <p:cNvSpPr>
            <a:spLocks noGrp="1"/>
          </p:cNvSpPr>
          <p:nvPr>
            <p:ph type="sldNum" sz="quarter" idx="5"/>
          </p:nvPr>
        </p:nvSpPr>
        <p:spPr/>
        <p:txBody>
          <a:bodyPr/>
          <a:lstStyle/>
          <a:p>
            <a:fld id="{703771B0-8F24-4B48-82A1-68205750A15E}" type="slidenum">
              <a:rPr lang="en-US" smtClean="0"/>
              <a:t>22</a:t>
            </a:fld>
            <a:endParaRPr lang="en-US"/>
          </a:p>
        </p:txBody>
      </p:sp>
    </p:spTree>
    <p:extLst>
      <p:ext uri="{BB962C8B-B14F-4D97-AF65-F5344CB8AC3E}">
        <p14:creationId xmlns:p14="http://schemas.microsoft.com/office/powerpoint/2010/main" val="34787664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35</a:t>
            </a:fld>
            <a:endParaRPr lang="en-US"/>
          </a:p>
        </p:txBody>
      </p:sp>
    </p:spTree>
    <p:extLst>
      <p:ext uri="{BB962C8B-B14F-4D97-AF65-F5344CB8AC3E}">
        <p14:creationId xmlns:p14="http://schemas.microsoft.com/office/powerpoint/2010/main" val="3021646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38</a:t>
            </a:fld>
            <a:endParaRPr lang="en-US"/>
          </a:p>
        </p:txBody>
      </p:sp>
    </p:spTree>
    <p:extLst>
      <p:ext uri="{BB962C8B-B14F-4D97-AF65-F5344CB8AC3E}">
        <p14:creationId xmlns:p14="http://schemas.microsoft.com/office/powerpoint/2010/main" val="3041413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B962A-B7D0-2934-2DCD-D1A2AEAE1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F9132-4D19-DA32-47A1-55D5D34AF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3B070-CF4F-DD98-E0E3-8BCA9BE39D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7015E2-A3CD-A766-6918-76E23CF9ACF6}"/>
              </a:ext>
            </a:extLst>
          </p:cNvPr>
          <p:cNvSpPr>
            <a:spLocks noGrp="1"/>
          </p:cNvSpPr>
          <p:nvPr>
            <p:ph type="sldNum" sz="quarter" idx="5"/>
          </p:nvPr>
        </p:nvSpPr>
        <p:spPr/>
        <p:txBody>
          <a:bodyPr/>
          <a:lstStyle/>
          <a:p>
            <a:fld id="{703771B0-8F24-4B48-82A1-68205750A15E}" type="slidenum">
              <a:rPr lang="en-US" smtClean="0"/>
              <a:t>39</a:t>
            </a:fld>
            <a:endParaRPr lang="en-US"/>
          </a:p>
        </p:txBody>
      </p:sp>
    </p:spTree>
    <p:extLst>
      <p:ext uri="{BB962C8B-B14F-4D97-AF65-F5344CB8AC3E}">
        <p14:creationId xmlns:p14="http://schemas.microsoft.com/office/powerpoint/2010/main" val="2554038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D0443-27A5-B567-2502-13C885DBE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09F55-416E-F286-144E-4869523B6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F2A8-F5C2-4529-A858-D9D094D295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025CCB-8826-8600-A3AD-F169582A62E0}"/>
              </a:ext>
            </a:extLst>
          </p:cNvPr>
          <p:cNvSpPr>
            <a:spLocks noGrp="1"/>
          </p:cNvSpPr>
          <p:nvPr>
            <p:ph type="sldNum" sz="quarter" idx="5"/>
          </p:nvPr>
        </p:nvSpPr>
        <p:spPr/>
        <p:txBody>
          <a:bodyPr/>
          <a:lstStyle/>
          <a:p>
            <a:fld id="{703771B0-8F24-4B48-82A1-68205750A15E}" type="slidenum">
              <a:rPr lang="en-US" smtClean="0"/>
              <a:t>40</a:t>
            </a:fld>
            <a:endParaRPr lang="en-US"/>
          </a:p>
        </p:txBody>
      </p:sp>
    </p:spTree>
    <p:extLst>
      <p:ext uri="{BB962C8B-B14F-4D97-AF65-F5344CB8AC3E}">
        <p14:creationId xmlns:p14="http://schemas.microsoft.com/office/powerpoint/2010/main" val="2318619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51</a:t>
            </a:fld>
            <a:endParaRPr lang="en-US"/>
          </a:p>
        </p:txBody>
      </p:sp>
    </p:spTree>
    <p:extLst>
      <p:ext uri="{BB962C8B-B14F-4D97-AF65-F5344CB8AC3E}">
        <p14:creationId xmlns:p14="http://schemas.microsoft.com/office/powerpoint/2010/main" val="931345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54</a:t>
            </a:fld>
            <a:endParaRPr lang="en-US"/>
          </a:p>
        </p:txBody>
      </p:sp>
    </p:spTree>
    <p:extLst>
      <p:ext uri="{BB962C8B-B14F-4D97-AF65-F5344CB8AC3E}">
        <p14:creationId xmlns:p14="http://schemas.microsoft.com/office/powerpoint/2010/main" val="68968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7497-2233-5CF0-D049-3FFE529D2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4D115-F585-35D3-86C8-CE06BA1A1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996EB9-ED37-4522-F71D-A51F84C88D9A}"/>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5" name="Footer Placeholder 4">
            <a:extLst>
              <a:ext uri="{FF2B5EF4-FFF2-40B4-BE49-F238E27FC236}">
                <a16:creationId xmlns:a16="http://schemas.microsoft.com/office/drawing/2014/main" id="{668D73EB-6B6D-514E-46B4-AC8E2A7ED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70961-F70B-DCDF-5938-603A6023FACF}"/>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18700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4DE-2D31-0C7A-A721-701831C83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ED0C0D-979C-4AB8-6686-C9351CC22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C67E4-650A-56FF-41C3-1B46C3CB540F}"/>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5" name="Footer Placeholder 4">
            <a:extLst>
              <a:ext uri="{FF2B5EF4-FFF2-40B4-BE49-F238E27FC236}">
                <a16:creationId xmlns:a16="http://schemas.microsoft.com/office/drawing/2014/main" id="{C271C418-59A5-361F-42A4-E3195CC56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58B9A-FAF1-FAEB-3795-06FB6CD79B3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86973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59E4-332F-B0C5-9ADD-446A2A66B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DC95D-4EE4-FE1E-E538-C9EF981D31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B25E69-010B-BEE4-B7A9-B36D23D612C9}"/>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5" name="Footer Placeholder 4">
            <a:extLst>
              <a:ext uri="{FF2B5EF4-FFF2-40B4-BE49-F238E27FC236}">
                <a16:creationId xmlns:a16="http://schemas.microsoft.com/office/drawing/2014/main" id="{F70576AA-DCF5-179A-5EF8-DB0C5D62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DF326-798F-9EBB-37FC-6826A11179D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92715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4D5F-9258-DF13-DCEF-218C81B18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A7483-54CF-CB1C-6F5C-CF86CA1B9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F5A2F-DF1A-A79D-BC75-8F70F087C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468058-E579-F920-BD66-6AF61C39332C}"/>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6" name="Footer Placeholder 5">
            <a:extLst>
              <a:ext uri="{FF2B5EF4-FFF2-40B4-BE49-F238E27FC236}">
                <a16:creationId xmlns:a16="http://schemas.microsoft.com/office/drawing/2014/main" id="{2422F2A9-A4C6-0C5C-6645-32929077A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FC57C-92E4-F87D-E113-E8026EC4261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907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88BF-5473-99A1-0999-2A058B6D0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D4B2D7-B13D-4E6A-A7CB-45FE4391B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4FE831-2105-FC35-6CBC-C1A8A437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50A41-473F-AB64-B608-38AC9065D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A31D-95BF-E042-532F-63CF23591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18247-8390-2DAA-D575-263969C46CFF}"/>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8" name="Footer Placeholder 7">
            <a:extLst>
              <a:ext uri="{FF2B5EF4-FFF2-40B4-BE49-F238E27FC236}">
                <a16:creationId xmlns:a16="http://schemas.microsoft.com/office/drawing/2014/main" id="{7BA1577C-D833-D373-A105-6149F46EA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DA587-16E4-3EC3-9080-0DEDCC317F0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50645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489-8375-52EB-A2BC-C499B78945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45771-1C57-1C89-9263-F224DDBEEA95}"/>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4" name="Footer Placeholder 3">
            <a:extLst>
              <a:ext uri="{FF2B5EF4-FFF2-40B4-BE49-F238E27FC236}">
                <a16:creationId xmlns:a16="http://schemas.microsoft.com/office/drawing/2014/main" id="{1D65A188-9973-35EB-9077-12DDBED8D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3F0DC9-B6C9-3145-FC44-19D0EB210BE7}"/>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4761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73EAA-7F14-9166-7C72-F01F84FEFCEF}"/>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3" name="Footer Placeholder 2">
            <a:extLst>
              <a:ext uri="{FF2B5EF4-FFF2-40B4-BE49-F238E27FC236}">
                <a16:creationId xmlns:a16="http://schemas.microsoft.com/office/drawing/2014/main" id="{030751A4-47E3-CDB6-8894-9AF86C7E7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A304F-1503-1D29-5814-B8DECC3764BA}"/>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410164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920A-6A00-5561-7691-62B039253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EB7932-359D-59CA-2D49-88EA741F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0CEEBE-F16C-AA7F-04CD-DDE66660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2EFDA-8312-C3FD-A13A-9D9C5938515B}"/>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6" name="Footer Placeholder 5">
            <a:extLst>
              <a:ext uri="{FF2B5EF4-FFF2-40B4-BE49-F238E27FC236}">
                <a16:creationId xmlns:a16="http://schemas.microsoft.com/office/drawing/2014/main" id="{2F7E43B2-AA34-EC21-F0C0-603309F72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F55F5-7423-0242-5A2F-09B40472387D}"/>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89444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EE61-E3C2-EA97-A111-262A8FDBD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72FFB-1CB2-ABC5-4969-9FAFA704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19B23-2D62-B991-5FB7-A1DD3A621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CBC6B-C59D-6BDA-29D9-5FAC341F8588}"/>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6" name="Footer Placeholder 5">
            <a:extLst>
              <a:ext uri="{FF2B5EF4-FFF2-40B4-BE49-F238E27FC236}">
                <a16:creationId xmlns:a16="http://schemas.microsoft.com/office/drawing/2014/main" id="{D8F245B9-8BDF-B1B5-8CE5-B3AC592FA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CD5E7-9497-5282-8256-9591208A113C}"/>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98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E768-A793-6624-FED1-9F422AEFDC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B71F-51DC-3C01-BEB7-1AB58B161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81B14-3A7D-295C-274D-4E49DDF4206B}"/>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5" name="Footer Placeholder 4">
            <a:extLst>
              <a:ext uri="{FF2B5EF4-FFF2-40B4-BE49-F238E27FC236}">
                <a16:creationId xmlns:a16="http://schemas.microsoft.com/office/drawing/2014/main" id="{C9E405A0-2609-8DB4-3682-FE6423E70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1D1E-0B56-2D31-63FA-16ECCC4E5521}"/>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043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7ADB8-4CAC-F675-02CB-5F65CFA10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FA8541-0C6C-AA22-D374-80870AF15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11942-24E3-70CB-5920-73AC5FD9C4E7}"/>
              </a:ext>
            </a:extLst>
          </p:cNvPr>
          <p:cNvSpPr>
            <a:spLocks noGrp="1"/>
          </p:cNvSpPr>
          <p:nvPr>
            <p:ph type="dt" sz="half" idx="10"/>
          </p:nvPr>
        </p:nvSpPr>
        <p:spPr/>
        <p:txBody>
          <a:bodyPr/>
          <a:lstStyle/>
          <a:p>
            <a:fld id="{AB0FC227-1C15-4A43-BEB2-13798C94F5EF}" type="datetimeFigureOut">
              <a:rPr lang="en-US" smtClean="0"/>
              <a:t>11/12/24</a:t>
            </a:fld>
            <a:endParaRPr lang="en-US"/>
          </a:p>
        </p:txBody>
      </p:sp>
      <p:sp>
        <p:nvSpPr>
          <p:cNvPr id="5" name="Footer Placeholder 4">
            <a:extLst>
              <a:ext uri="{FF2B5EF4-FFF2-40B4-BE49-F238E27FC236}">
                <a16:creationId xmlns:a16="http://schemas.microsoft.com/office/drawing/2014/main" id="{41D0E9CF-C281-ED40-0225-DFAEFE0D9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0D6DC-533F-C171-BD27-F6902641CA2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598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94179-025D-BD23-9799-BAE5EF15B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62D5CB-8C7A-30FD-22E2-AFEABE0A7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3CC61-648A-B2B0-A5D7-454AF7217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FC227-1C15-4A43-BEB2-13798C94F5EF}" type="datetimeFigureOut">
              <a:rPr lang="en-US" smtClean="0"/>
              <a:t>11/12/24</a:t>
            </a:fld>
            <a:endParaRPr lang="en-US"/>
          </a:p>
        </p:txBody>
      </p:sp>
      <p:sp>
        <p:nvSpPr>
          <p:cNvPr id="5" name="Footer Placeholder 4">
            <a:extLst>
              <a:ext uri="{FF2B5EF4-FFF2-40B4-BE49-F238E27FC236}">
                <a16:creationId xmlns:a16="http://schemas.microsoft.com/office/drawing/2014/main" id="{B9EB0CF4-EDD5-7B2F-27EE-13E5B7269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55604-2777-5B4B-4679-40C254EEC8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A0F0C-220E-F745-AF73-56D3AD921199}" type="slidenum">
              <a:rPr lang="en-US" smtClean="0"/>
              <a:t>‹#›</a:t>
            </a:fld>
            <a:endParaRPr lang="en-US"/>
          </a:p>
        </p:txBody>
      </p:sp>
    </p:spTree>
    <p:extLst>
      <p:ext uri="{BB962C8B-B14F-4D97-AF65-F5344CB8AC3E}">
        <p14:creationId xmlns:p14="http://schemas.microsoft.com/office/powerpoint/2010/main" val="1323111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662f32da-136b-4859-b815-4d1a0ddf21d2?userPreferredType=re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plus.pearson.com/products/38bfda0e-08b5-4b34-9a14-38c88560fefb/pages/urn:pearson:entity:662f32da-136b-4859-b815-4d1a0ddf21d2?userPreferredType=read"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lus.pearson.com/products/38bfda0e-08b5-4b34-9a14-38c88560fefb/pages/urn:pearson:entity:662f32da-136b-4859-b815-4d1a0ddf21d2?userPreferredType=read"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5509be7c-79f3-4ff3-8be7-398aacf045d5?userPreferredType=rea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94ffaa4-a42c-49c2-be3d-33a3b68ef903?userPreferredType=read"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d95b54f-2e3d-463e-a6fb-185a9306f16e?userPreferredType=read"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d95b54f-2e3d-463e-a6fb-185a9306f16e?userPreferredType=read"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ACEA-34DD-C4AE-91D6-A79F7CA59153}"/>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64FF1D7F-4059-C104-E5D6-F9234CEE0B98}"/>
              </a:ext>
            </a:extLst>
          </p:cNvPr>
          <p:cNvSpPr>
            <a:spLocks noGrp="1"/>
          </p:cNvSpPr>
          <p:nvPr>
            <p:ph type="subTitle" idx="1"/>
          </p:nvPr>
        </p:nvSpPr>
        <p:spPr/>
        <p:txBody>
          <a:bodyPr/>
          <a:lstStyle/>
          <a:p>
            <a:r>
              <a:rPr lang="en-US" sz="3000" b="1"/>
              <a:t>Inheritance</a:t>
            </a:r>
            <a:endParaRPr lang="en-US" sz="3000" b="1" dirty="0"/>
          </a:p>
          <a:p>
            <a:r>
              <a:rPr lang="en-US" dirty="0"/>
              <a:t>MD Romael Haque</a:t>
            </a:r>
          </a:p>
        </p:txBody>
      </p:sp>
    </p:spTree>
    <p:extLst>
      <p:ext uri="{BB962C8B-B14F-4D97-AF65-F5344CB8AC3E}">
        <p14:creationId xmlns:p14="http://schemas.microsoft.com/office/powerpoint/2010/main" val="67001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A95A-0FC5-97AB-6B3D-444C480D40ED}"/>
              </a:ext>
            </a:extLst>
          </p:cNvPr>
          <p:cNvSpPr>
            <a:spLocks noGrp="1"/>
          </p:cNvSpPr>
          <p:nvPr>
            <p:ph type="title"/>
          </p:nvPr>
        </p:nvSpPr>
        <p:spPr/>
        <p:txBody>
          <a:bodyPr/>
          <a:lstStyle/>
          <a:p>
            <a:r>
              <a:rPr lang="en-US" dirty="0"/>
              <a:t>Inheritance: Generalization and Specialization</a:t>
            </a:r>
          </a:p>
        </p:txBody>
      </p:sp>
      <p:sp>
        <p:nvSpPr>
          <p:cNvPr id="3" name="Content Placeholder 2">
            <a:extLst>
              <a:ext uri="{FF2B5EF4-FFF2-40B4-BE49-F238E27FC236}">
                <a16:creationId xmlns:a16="http://schemas.microsoft.com/office/drawing/2014/main" id="{9A964CF2-BCB2-1B67-2A9C-97189D8EB417}"/>
              </a:ext>
            </a:extLst>
          </p:cNvPr>
          <p:cNvSpPr>
            <a:spLocks noGrp="1"/>
          </p:cNvSpPr>
          <p:nvPr>
            <p:ph idx="1"/>
          </p:nvPr>
        </p:nvSpPr>
        <p:spPr>
          <a:xfrm>
            <a:off x="838200" y="1825625"/>
            <a:ext cx="7620000" cy="4351338"/>
          </a:xfrm>
        </p:spPr>
        <p:txBody>
          <a:bodyPr>
            <a:normAutofit fontScale="85000" lnSpcReduction="10000"/>
          </a:bodyPr>
          <a:lstStyle/>
          <a:p>
            <a:r>
              <a:rPr lang="en-US" dirty="0"/>
              <a:t>In the real world, you can find many objects that are specialized versions of other objects. </a:t>
            </a:r>
          </a:p>
          <a:p>
            <a:r>
              <a:rPr lang="en-US" dirty="0"/>
              <a:t>For example, the term “insect” describes a very general type of creature with numerous characteristics. </a:t>
            </a:r>
          </a:p>
          <a:p>
            <a:r>
              <a:rPr lang="en-US" dirty="0"/>
              <a:t>Because grasshoppers and bumblebees are insects, they have all the general characteristics of an insect. </a:t>
            </a:r>
          </a:p>
          <a:p>
            <a:r>
              <a:rPr lang="en-US" dirty="0"/>
              <a:t>In addition, they have special characteristics of their own. </a:t>
            </a:r>
          </a:p>
          <a:p>
            <a:r>
              <a:rPr lang="en-US" dirty="0"/>
              <a:t>For example, the grasshopper has its jumping ability, and the bumblebee has its stinger. Grasshoppers and bumblebees are specialized versions of an insect.</a:t>
            </a:r>
          </a:p>
        </p:txBody>
      </p:sp>
      <p:pic>
        <p:nvPicPr>
          <p:cNvPr id="4" name="Picture 3">
            <a:extLst>
              <a:ext uri="{FF2B5EF4-FFF2-40B4-BE49-F238E27FC236}">
                <a16:creationId xmlns:a16="http://schemas.microsoft.com/office/drawing/2014/main" id="{667934E2-0E0C-3675-F53E-8B99F2F3EAD6}"/>
              </a:ext>
            </a:extLst>
          </p:cNvPr>
          <p:cNvPicPr>
            <a:picLocks noChangeAspect="1"/>
          </p:cNvPicPr>
          <p:nvPr/>
        </p:nvPicPr>
        <p:blipFill>
          <a:blip r:embed="rId2"/>
          <a:stretch>
            <a:fillRect/>
          </a:stretch>
        </p:blipFill>
        <p:spPr>
          <a:xfrm>
            <a:off x="8712200" y="2558473"/>
            <a:ext cx="3479800" cy="2260600"/>
          </a:xfrm>
          <a:prstGeom prst="rect">
            <a:avLst/>
          </a:prstGeom>
        </p:spPr>
      </p:pic>
    </p:spTree>
    <p:extLst>
      <p:ext uri="{BB962C8B-B14F-4D97-AF65-F5344CB8AC3E}">
        <p14:creationId xmlns:p14="http://schemas.microsoft.com/office/powerpoint/2010/main" val="3602785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5131-082D-2ADD-A912-22EA8017EECD}"/>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71481712-0196-C546-C48F-8EC2600E75D8}"/>
              </a:ext>
            </a:extLst>
          </p:cNvPr>
          <p:cNvSpPr>
            <a:spLocks noGrp="1"/>
          </p:cNvSpPr>
          <p:nvPr>
            <p:ph idx="1"/>
          </p:nvPr>
        </p:nvSpPr>
        <p:spPr/>
        <p:txBody>
          <a:bodyPr/>
          <a:lstStyle/>
          <a:p>
            <a:r>
              <a:rPr lang="en-US" dirty="0"/>
              <a:t>When one object is a specialized version of another object, there is an </a:t>
            </a:r>
            <a:r>
              <a:rPr lang="en-US" b="1" i="1" dirty="0">
                <a:hlinkClick r:id="rId2">
                  <a:extLst>
                    <a:ext uri="{A12FA001-AC4F-418D-AE19-62706E023703}">
                      <ahyp:hlinkClr xmlns:ahyp="http://schemas.microsoft.com/office/drawing/2018/hyperlinkcolor" val="tx"/>
                    </a:ext>
                  </a:extLst>
                </a:hlinkClick>
              </a:rPr>
              <a:t>is-a relationship</a:t>
            </a:r>
            <a:r>
              <a:rPr lang="en-US" b="1" i="1" dirty="0"/>
              <a:t> </a:t>
            </a:r>
            <a:r>
              <a:rPr lang="en-US" dirty="0"/>
              <a:t>between them. </a:t>
            </a:r>
          </a:p>
          <a:p>
            <a:r>
              <a:rPr lang="en-US" dirty="0"/>
              <a:t>For example, a grasshopper </a:t>
            </a:r>
            <a:r>
              <a:rPr lang="en-US" i="1" dirty="0">
                <a:solidFill>
                  <a:srgbClr val="FF0000"/>
                </a:solidFill>
              </a:rPr>
              <a:t>is an</a:t>
            </a:r>
            <a:r>
              <a:rPr lang="en-US" dirty="0">
                <a:solidFill>
                  <a:srgbClr val="FF0000"/>
                </a:solidFill>
              </a:rPr>
              <a:t> </a:t>
            </a:r>
            <a:r>
              <a:rPr lang="en-US" dirty="0"/>
              <a:t>insect. </a:t>
            </a:r>
          </a:p>
          <a:p>
            <a:r>
              <a:rPr lang="en-US" dirty="0">
                <a:effectLst/>
              </a:rPr>
              <a:t>When an is-a relationship exists between objects, it means that the specialized object has all of the characteristics of the general object, as well as additional characteristics that make it special.</a:t>
            </a:r>
          </a:p>
          <a:p>
            <a:r>
              <a:rPr lang="en-US" dirty="0">
                <a:effectLst/>
              </a:rPr>
              <a:t>In object-oriented programming, </a:t>
            </a:r>
            <a:r>
              <a:rPr lang="en-US" b="1" dirty="0">
                <a:effectLst/>
                <a:hlinkClick r:id="rId2">
                  <a:extLst>
                    <a:ext uri="{A12FA001-AC4F-418D-AE19-62706E023703}">
                      <ahyp:hlinkClr xmlns:ahyp="http://schemas.microsoft.com/office/drawing/2018/hyperlinkcolor" val="tx"/>
                    </a:ext>
                  </a:extLst>
                </a:hlinkClick>
              </a:rPr>
              <a:t>inheritance</a:t>
            </a:r>
            <a:r>
              <a:rPr lang="en-US" dirty="0">
                <a:effectLst/>
              </a:rPr>
              <a:t> is used to create an </a:t>
            </a:r>
            <a:r>
              <a:rPr lang="en-US" i="1" dirty="0">
                <a:solidFill>
                  <a:srgbClr val="FF0000"/>
                </a:solidFill>
                <a:effectLst/>
              </a:rPr>
              <a:t>is-a</a:t>
            </a:r>
            <a:r>
              <a:rPr lang="en-US" dirty="0">
                <a:effectLst/>
              </a:rPr>
              <a:t> relationship between classes.</a:t>
            </a:r>
          </a:p>
          <a:p>
            <a:endParaRPr lang="en-US" dirty="0"/>
          </a:p>
        </p:txBody>
      </p:sp>
    </p:spTree>
    <p:extLst>
      <p:ext uri="{BB962C8B-B14F-4D97-AF65-F5344CB8AC3E}">
        <p14:creationId xmlns:p14="http://schemas.microsoft.com/office/powerpoint/2010/main" val="3219602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2171-C150-51BB-D353-5C1679EB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7D13B-D7DB-E0FE-9B3D-7E864FD19E77}"/>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5B69C7AA-3A12-841D-33AD-A7501CAAE315}"/>
              </a:ext>
            </a:extLst>
          </p:cNvPr>
          <p:cNvSpPr>
            <a:spLocks noGrp="1"/>
          </p:cNvSpPr>
          <p:nvPr>
            <p:ph idx="1"/>
          </p:nvPr>
        </p:nvSpPr>
        <p:spPr/>
        <p:txBody>
          <a:bodyPr/>
          <a:lstStyle/>
          <a:p>
            <a:r>
              <a:rPr lang="en-US" dirty="0"/>
              <a:t>Inheritance involves a base class and a derived class. </a:t>
            </a:r>
          </a:p>
          <a:p>
            <a:r>
              <a:rPr lang="en-US" dirty="0"/>
              <a:t>The </a:t>
            </a:r>
            <a:r>
              <a:rPr lang="en-US" i="1" u="sng" dirty="0"/>
              <a:t>base class</a:t>
            </a:r>
            <a:r>
              <a:rPr lang="en-US" u="sng" dirty="0"/>
              <a:t> </a:t>
            </a:r>
            <a:r>
              <a:rPr lang="en-US" dirty="0"/>
              <a:t>is the general class, and the </a:t>
            </a:r>
            <a:r>
              <a:rPr lang="en-US" dirty="0">
                <a:hlinkClick r:id="rId2">
                  <a:extLst>
                    <a:ext uri="{A12FA001-AC4F-418D-AE19-62706E023703}">
                      <ahyp:hlinkClr xmlns:ahyp="http://schemas.microsoft.com/office/drawing/2018/hyperlinkcolor" val="tx"/>
                    </a:ext>
                  </a:extLst>
                </a:hlinkClick>
              </a:rPr>
              <a:t>derived class</a:t>
            </a:r>
            <a:r>
              <a:rPr lang="en-US" dirty="0"/>
              <a:t> is the specialized class. </a:t>
            </a:r>
          </a:p>
          <a:p>
            <a:r>
              <a:rPr lang="en-US" dirty="0"/>
              <a:t>The derived class is based on, or derived from, the base class. </a:t>
            </a:r>
          </a:p>
          <a:p>
            <a:r>
              <a:rPr lang="en-US" dirty="0"/>
              <a:t>We can think of the base class as the parent and the derived class as the child.</a:t>
            </a:r>
          </a:p>
        </p:txBody>
      </p:sp>
      <p:pic>
        <p:nvPicPr>
          <p:cNvPr id="4" name="Picture 3">
            <a:extLst>
              <a:ext uri="{FF2B5EF4-FFF2-40B4-BE49-F238E27FC236}">
                <a16:creationId xmlns:a16="http://schemas.microsoft.com/office/drawing/2014/main" id="{FD84423E-D51A-D01B-C4DF-EB21EF0028B3}"/>
              </a:ext>
            </a:extLst>
          </p:cNvPr>
          <p:cNvPicPr>
            <a:picLocks noChangeAspect="1"/>
          </p:cNvPicPr>
          <p:nvPr/>
        </p:nvPicPr>
        <p:blipFill>
          <a:blip r:embed="rId3"/>
          <a:stretch>
            <a:fillRect/>
          </a:stretch>
        </p:blipFill>
        <p:spPr>
          <a:xfrm>
            <a:off x="3530600" y="4562475"/>
            <a:ext cx="5130800" cy="1930400"/>
          </a:xfrm>
          <a:prstGeom prst="rect">
            <a:avLst/>
          </a:prstGeom>
        </p:spPr>
      </p:pic>
    </p:spTree>
    <p:extLst>
      <p:ext uri="{BB962C8B-B14F-4D97-AF65-F5344CB8AC3E}">
        <p14:creationId xmlns:p14="http://schemas.microsoft.com/office/powerpoint/2010/main" val="1540715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C8D22-9917-5537-1252-BD77AD693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222EF-F2AF-3B4A-660A-858959C6DF3F}"/>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800C870C-6953-57CC-4787-B448F0571784}"/>
              </a:ext>
            </a:extLst>
          </p:cNvPr>
          <p:cNvSpPr>
            <a:spLocks noGrp="1"/>
          </p:cNvSpPr>
          <p:nvPr>
            <p:ph idx="1"/>
          </p:nvPr>
        </p:nvSpPr>
        <p:spPr/>
        <p:txBody>
          <a:bodyPr/>
          <a:lstStyle/>
          <a:p>
            <a:r>
              <a:rPr lang="en-US" dirty="0"/>
              <a:t>The derived class inherits the member variables and member functions of the base class without any of them being rewritten.</a:t>
            </a:r>
          </a:p>
          <a:p>
            <a:r>
              <a:rPr lang="en-US" dirty="0"/>
              <a:t>Furthermore, new member variables and functions may be added to the derived class to make it more specialized than the base class. </a:t>
            </a:r>
          </a:p>
        </p:txBody>
      </p:sp>
    </p:spTree>
    <p:extLst>
      <p:ext uri="{BB962C8B-B14F-4D97-AF65-F5344CB8AC3E}">
        <p14:creationId xmlns:p14="http://schemas.microsoft.com/office/powerpoint/2010/main" val="102864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59BAE-4680-6577-A435-30733CA10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FFA19-F555-3544-8BA1-C446998BF5B9}"/>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D542AB3E-1512-754C-D717-CAD97C9AF742}"/>
              </a:ext>
            </a:extLst>
          </p:cNvPr>
          <p:cNvSpPr>
            <a:spLocks noGrp="1"/>
          </p:cNvSpPr>
          <p:nvPr>
            <p:ph idx="1"/>
          </p:nvPr>
        </p:nvSpPr>
        <p:spPr/>
        <p:txBody>
          <a:bodyPr/>
          <a:lstStyle/>
          <a:p>
            <a:r>
              <a:rPr lang="en-US" dirty="0"/>
              <a:t>To take a specific example, consider a college or university environment where there are both students and faculty personnel.</a:t>
            </a:r>
          </a:p>
          <a:p>
            <a:r>
              <a:rPr lang="en-US" dirty="0"/>
              <a:t>Suppose that we have a </a:t>
            </a:r>
            <a:r>
              <a:rPr lang="en-US" dirty="0">
                <a:solidFill>
                  <a:srgbClr val="FF0000"/>
                </a:solidFill>
              </a:rPr>
              <a:t>class Person </a:t>
            </a:r>
            <a:r>
              <a:rPr lang="en-US" dirty="0"/>
              <a:t>with a name data member and member functions for working with the name member</a:t>
            </a:r>
          </a:p>
        </p:txBody>
      </p:sp>
      <p:pic>
        <p:nvPicPr>
          <p:cNvPr id="4" name="Picture 3">
            <a:extLst>
              <a:ext uri="{FF2B5EF4-FFF2-40B4-BE49-F238E27FC236}">
                <a16:creationId xmlns:a16="http://schemas.microsoft.com/office/drawing/2014/main" id="{990747DD-0EA1-83D3-1E73-C4B664F189C1}"/>
              </a:ext>
            </a:extLst>
          </p:cNvPr>
          <p:cNvPicPr>
            <a:picLocks noChangeAspect="1"/>
          </p:cNvPicPr>
          <p:nvPr/>
        </p:nvPicPr>
        <p:blipFill>
          <a:blip r:embed="rId2"/>
          <a:stretch>
            <a:fillRect/>
          </a:stretch>
        </p:blipFill>
        <p:spPr>
          <a:xfrm>
            <a:off x="3441700" y="3909291"/>
            <a:ext cx="5308600" cy="2717800"/>
          </a:xfrm>
          <a:prstGeom prst="rect">
            <a:avLst/>
          </a:prstGeom>
        </p:spPr>
      </p:pic>
    </p:spTree>
    <p:extLst>
      <p:ext uri="{BB962C8B-B14F-4D97-AF65-F5344CB8AC3E}">
        <p14:creationId xmlns:p14="http://schemas.microsoft.com/office/powerpoint/2010/main" val="2724450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80B2-F014-3C63-01CF-36FE26FE8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01EE5-7836-C468-F738-C55CE553EE8F}"/>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1C70F6EA-FE43-5F87-4E5D-7F076D12CD31}"/>
              </a:ext>
            </a:extLst>
          </p:cNvPr>
          <p:cNvSpPr>
            <a:spLocks noGrp="1"/>
          </p:cNvSpPr>
          <p:nvPr>
            <p:ph idx="1"/>
          </p:nvPr>
        </p:nvSpPr>
        <p:spPr/>
        <p:txBody>
          <a:bodyPr/>
          <a:lstStyle/>
          <a:p>
            <a:r>
              <a:rPr lang="en-US" dirty="0"/>
              <a:t>Suppose further that we have the enumerated types</a:t>
            </a:r>
          </a:p>
          <a:p>
            <a:endParaRPr lang="en-US" dirty="0"/>
          </a:p>
          <a:p>
            <a:pPr marL="0" indent="0">
              <a:buNone/>
            </a:pPr>
            <a:endParaRPr lang="en-US" dirty="0"/>
          </a:p>
          <a:p>
            <a:r>
              <a:rPr lang="en-US" dirty="0"/>
              <a:t>To define the range of disciplines in which studies are offered and the classification of students. </a:t>
            </a:r>
          </a:p>
          <a:p>
            <a:r>
              <a:rPr lang="en-US" dirty="0"/>
              <a:t>We can use these types to define Student and Faculty classes that inherit from Person. </a:t>
            </a:r>
          </a:p>
          <a:p>
            <a:r>
              <a:rPr lang="en-US" dirty="0"/>
              <a:t>This makes sense because a Student is a Person and a Faculty member is also a Person.</a:t>
            </a:r>
          </a:p>
        </p:txBody>
      </p:sp>
      <p:pic>
        <p:nvPicPr>
          <p:cNvPr id="5" name="Picture 4">
            <a:extLst>
              <a:ext uri="{FF2B5EF4-FFF2-40B4-BE49-F238E27FC236}">
                <a16:creationId xmlns:a16="http://schemas.microsoft.com/office/drawing/2014/main" id="{176366D8-A933-C916-5C86-DBA3243EE1B7}"/>
              </a:ext>
            </a:extLst>
          </p:cNvPr>
          <p:cNvPicPr>
            <a:picLocks noChangeAspect="1"/>
          </p:cNvPicPr>
          <p:nvPr/>
        </p:nvPicPr>
        <p:blipFill>
          <a:blip r:embed="rId2"/>
          <a:stretch>
            <a:fillRect/>
          </a:stretch>
        </p:blipFill>
        <p:spPr>
          <a:xfrm>
            <a:off x="3022600" y="2387023"/>
            <a:ext cx="6146800" cy="546100"/>
          </a:xfrm>
          <a:prstGeom prst="rect">
            <a:avLst/>
          </a:prstGeom>
        </p:spPr>
      </p:pic>
    </p:spTree>
    <p:extLst>
      <p:ext uri="{BB962C8B-B14F-4D97-AF65-F5344CB8AC3E}">
        <p14:creationId xmlns:p14="http://schemas.microsoft.com/office/powerpoint/2010/main" val="527130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3DB7-719C-3795-E181-91F6C6617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870F9-FBE6-8340-2FEC-8E7920670D15}"/>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25DD919F-4CB3-2B89-D4E3-80C9D899AD27}"/>
              </a:ext>
            </a:extLst>
          </p:cNvPr>
          <p:cNvSpPr>
            <a:spLocks noGrp="1"/>
          </p:cNvSpPr>
          <p:nvPr>
            <p:ph idx="1"/>
          </p:nvPr>
        </p:nvSpPr>
        <p:spPr/>
        <p:txBody>
          <a:bodyPr/>
          <a:lstStyle/>
          <a:p>
            <a:r>
              <a:rPr lang="en-US" dirty="0"/>
              <a:t>To define a class by inheritance, we need to specify the base class plus the additional members the derived class adds to the base class. </a:t>
            </a:r>
          </a:p>
          <a:p>
            <a:r>
              <a:rPr lang="en-US" dirty="0"/>
              <a:t>Let’s say that in addition to having all the characteristics of a Person, a Student must declare a major in some discipline and have an academic advisor who is a Person.</a:t>
            </a:r>
          </a:p>
        </p:txBody>
      </p:sp>
    </p:spTree>
    <p:extLst>
      <p:ext uri="{BB962C8B-B14F-4D97-AF65-F5344CB8AC3E}">
        <p14:creationId xmlns:p14="http://schemas.microsoft.com/office/powerpoint/2010/main" val="3509814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9BA6B-86EA-D6FD-318F-35CBB8314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3F0C0-0597-E467-9FDF-687C2509A62E}"/>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7C57808D-11CE-DC3F-995A-29DF7EB7EDA6}"/>
              </a:ext>
            </a:extLst>
          </p:cNvPr>
          <p:cNvSpPr>
            <a:spLocks noGrp="1"/>
          </p:cNvSpPr>
          <p:nvPr>
            <p:ph idx="1"/>
          </p:nvPr>
        </p:nvSpPr>
        <p:spPr/>
        <p:txBody>
          <a:bodyPr>
            <a:normAutofit fontScale="92500" lnSpcReduction="20000"/>
          </a:bodyPr>
          <a:lstStyle/>
          <a:p>
            <a:r>
              <a:rPr lang="en-US" dirty="0"/>
              <a:t>The Student class can be defined as follows:</a:t>
            </a:r>
          </a:p>
          <a:p>
            <a:endParaRPr lang="en-US" dirty="0"/>
          </a:p>
          <a:p>
            <a:endParaRPr lang="en-US" dirty="0"/>
          </a:p>
          <a:p>
            <a:endParaRPr lang="en-US" dirty="0"/>
          </a:p>
          <a:p>
            <a:endParaRPr lang="en-US" dirty="0"/>
          </a:p>
          <a:p>
            <a:endParaRPr lang="en-US" dirty="0"/>
          </a:p>
          <a:p>
            <a:endParaRPr lang="en-US" dirty="0"/>
          </a:p>
          <a:p>
            <a:endParaRPr lang="en-US" dirty="0"/>
          </a:p>
          <a:p>
            <a:r>
              <a:rPr lang="en-US" dirty="0"/>
              <a:t>We assume that many different students may have the same advisor.</a:t>
            </a:r>
          </a:p>
          <a:p>
            <a:r>
              <a:rPr lang="en-US" dirty="0"/>
              <a:t>The Student object stores a shared smart pointer to the advisor to avoid memory management problems.</a:t>
            </a:r>
          </a:p>
        </p:txBody>
      </p:sp>
      <p:pic>
        <p:nvPicPr>
          <p:cNvPr id="4" name="Picture 3">
            <a:extLst>
              <a:ext uri="{FF2B5EF4-FFF2-40B4-BE49-F238E27FC236}">
                <a16:creationId xmlns:a16="http://schemas.microsoft.com/office/drawing/2014/main" id="{5F5C91B3-0143-F7B2-EC0B-A7567D66B5EC}"/>
              </a:ext>
            </a:extLst>
          </p:cNvPr>
          <p:cNvPicPr>
            <a:picLocks noChangeAspect="1"/>
          </p:cNvPicPr>
          <p:nvPr/>
        </p:nvPicPr>
        <p:blipFill>
          <a:blip r:embed="rId3"/>
          <a:stretch>
            <a:fillRect/>
          </a:stretch>
        </p:blipFill>
        <p:spPr>
          <a:xfrm>
            <a:off x="3571297" y="2285423"/>
            <a:ext cx="5049405" cy="2478045"/>
          </a:xfrm>
          <a:prstGeom prst="rect">
            <a:avLst/>
          </a:prstGeom>
        </p:spPr>
      </p:pic>
    </p:spTree>
    <p:extLst>
      <p:ext uri="{BB962C8B-B14F-4D97-AF65-F5344CB8AC3E}">
        <p14:creationId xmlns:p14="http://schemas.microsoft.com/office/powerpoint/2010/main" val="1598738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22459-0E01-EE32-EAC9-1A376AE17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B5658-47E8-5D16-C228-BBFE7AB31751}"/>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4B55CA2C-B000-CCE8-7D15-0626C161EFC5}"/>
              </a:ext>
            </a:extLst>
          </p:cNvPr>
          <p:cNvSpPr>
            <a:spLocks noGrp="1"/>
          </p:cNvSpPr>
          <p:nvPr>
            <p:ph idx="1"/>
          </p:nvPr>
        </p:nvSpPr>
        <p:spPr>
          <a:xfrm>
            <a:off x="166255" y="1825625"/>
            <a:ext cx="6785263" cy="4667250"/>
          </a:xfrm>
        </p:spPr>
        <p:txBody>
          <a:bodyPr>
            <a:normAutofit lnSpcReduction="10000"/>
          </a:bodyPr>
          <a:lstStyle/>
          <a:p>
            <a:r>
              <a:rPr lang="en-US" dirty="0"/>
              <a:t>The first part of the first line of the class declaration specifies Student as the name of the class being defined and specifies the existing class Person as its base class.</a:t>
            </a:r>
          </a:p>
          <a:p>
            <a:r>
              <a:rPr lang="en-US" dirty="0">
                <a:effectLst/>
              </a:rPr>
              <a:t>The key word public that precedes the name of the base class is the </a:t>
            </a:r>
            <a:r>
              <a:rPr lang="en-US" dirty="0">
                <a:solidFill>
                  <a:srgbClr val="FF0000"/>
                </a:solidFill>
                <a:effectLst/>
                <a:hlinkClick r:id="rId2">
                  <a:extLst>
                    <a:ext uri="{A12FA001-AC4F-418D-AE19-62706E023703}">
                      <ahyp:hlinkClr xmlns:ahyp="http://schemas.microsoft.com/office/drawing/2018/hyperlinkcolor" val="tx"/>
                    </a:ext>
                  </a:extLst>
                </a:hlinkClick>
              </a:rPr>
              <a:t>base class access specification</a:t>
            </a:r>
            <a:r>
              <a:rPr lang="en-US" dirty="0">
                <a:effectLst/>
              </a:rPr>
              <a:t>. </a:t>
            </a:r>
          </a:p>
          <a:p>
            <a:r>
              <a:rPr lang="en-US" dirty="0">
                <a:effectLst/>
              </a:rPr>
              <a:t>It affects how the members of the base class will be accessed by the </a:t>
            </a:r>
            <a:r>
              <a:rPr lang="en-US" dirty="0"/>
              <a:t>member functions of the derived class and by code outside of the two classes.</a:t>
            </a:r>
            <a:endParaRPr lang="en-US" dirty="0">
              <a:effectLst/>
            </a:endParaRPr>
          </a:p>
          <a:p>
            <a:endParaRPr lang="en-US" dirty="0"/>
          </a:p>
        </p:txBody>
      </p:sp>
      <p:pic>
        <p:nvPicPr>
          <p:cNvPr id="4" name="Picture 3">
            <a:extLst>
              <a:ext uri="{FF2B5EF4-FFF2-40B4-BE49-F238E27FC236}">
                <a16:creationId xmlns:a16="http://schemas.microsoft.com/office/drawing/2014/main" id="{3A8007A6-4A77-0C16-983C-0542F6B07258}"/>
              </a:ext>
            </a:extLst>
          </p:cNvPr>
          <p:cNvPicPr>
            <a:picLocks noChangeAspect="1"/>
          </p:cNvPicPr>
          <p:nvPr/>
        </p:nvPicPr>
        <p:blipFill>
          <a:blip r:embed="rId3"/>
          <a:stretch>
            <a:fillRect/>
          </a:stretch>
        </p:blipFill>
        <p:spPr>
          <a:xfrm>
            <a:off x="7062642" y="1825625"/>
            <a:ext cx="5049405" cy="2478045"/>
          </a:xfrm>
          <a:prstGeom prst="rect">
            <a:avLst/>
          </a:prstGeom>
        </p:spPr>
      </p:pic>
      <p:pic>
        <p:nvPicPr>
          <p:cNvPr id="5" name="Picture 4">
            <a:extLst>
              <a:ext uri="{FF2B5EF4-FFF2-40B4-BE49-F238E27FC236}">
                <a16:creationId xmlns:a16="http://schemas.microsoft.com/office/drawing/2014/main" id="{AA4DE941-B64F-C3ED-31CC-D59344116483}"/>
              </a:ext>
            </a:extLst>
          </p:cNvPr>
          <p:cNvPicPr>
            <a:picLocks noChangeAspect="1"/>
          </p:cNvPicPr>
          <p:nvPr/>
        </p:nvPicPr>
        <p:blipFill>
          <a:blip r:embed="rId4"/>
          <a:stretch>
            <a:fillRect/>
          </a:stretch>
        </p:blipFill>
        <p:spPr>
          <a:xfrm>
            <a:off x="7866494" y="4934527"/>
            <a:ext cx="3441700" cy="1041400"/>
          </a:xfrm>
          <a:prstGeom prst="rect">
            <a:avLst/>
          </a:prstGeom>
        </p:spPr>
      </p:pic>
    </p:spTree>
    <p:extLst>
      <p:ext uri="{BB962C8B-B14F-4D97-AF65-F5344CB8AC3E}">
        <p14:creationId xmlns:p14="http://schemas.microsoft.com/office/powerpoint/2010/main" val="179740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F356-F1FC-1B0F-1982-241F4763A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679B9-F060-1DA8-A92B-493C11F1C356}"/>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58C8FD3D-8A98-6E1E-D517-57DE2FCE66C9}"/>
              </a:ext>
            </a:extLst>
          </p:cNvPr>
          <p:cNvSpPr>
            <a:spLocks noGrp="1"/>
          </p:cNvSpPr>
          <p:nvPr>
            <p:ph idx="1"/>
          </p:nvPr>
        </p:nvSpPr>
        <p:spPr>
          <a:xfrm>
            <a:off x="914400" y="1617807"/>
            <a:ext cx="11087100" cy="4667250"/>
          </a:xfrm>
        </p:spPr>
        <p:txBody>
          <a:bodyPr>
            <a:normAutofit lnSpcReduction="10000"/>
          </a:bodyPr>
          <a:lstStyle/>
          <a:p>
            <a:r>
              <a:rPr lang="en-US" dirty="0"/>
              <a:t>A class can be used as the base class for more than one derived class. </a:t>
            </a:r>
          </a:p>
          <a:p>
            <a:r>
              <a:rPr lang="en-US" dirty="0"/>
              <a:t>A Faculty class can also be derived from the Person class as follows:</a:t>
            </a:r>
          </a:p>
          <a:p>
            <a:endParaRPr lang="en-US" dirty="0"/>
          </a:p>
          <a:p>
            <a:endParaRPr lang="en-US" dirty="0"/>
          </a:p>
          <a:p>
            <a:endParaRPr lang="en-US" dirty="0"/>
          </a:p>
          <a:p>
            <a:endParaRPr lang="en-US" dirty="0"/>
          </a:p>
          <a:p>
            <a:endParaRPr lang="en-US" dirty="0"/>
          </a:p>
          <a:p>
            <a:r>
              <a:rPr lang="en-US" dirty="0"/>
              <a:t>Thus, a Faculty object is a Person object that has a home department in some discipline. </a:t>
            </a:r>
          </a:p>
        </p:txBody>
      </p:sp>
      <p:pic>
        <p:nvPicPr>
          <p:cNvPr id="6" name="Picture 5">
            <a:extLst>
              <a:ext uri="{FF2B5EF4-FFF2-40B4-BE49-F238E27FC236}">
                <a16:creationId xmlns:a16="http://schemas.microsoft.com/office/drawing/2014/main" id="{BE782389-E9FD-FBDB-B576-7BAB173DD2C0}"/>
              </a:ext>
            </a:extLst>
          </p:cNvPr>
          <p:cNvPicPr>
            <a:picLocks noChangeAspect="1"/>
          </p:cNvPicPr>
          <p:nvPr/>
        </p:nvPicPr>
        <p:blipFill>
          <a:blip r:embed="rId2"/>
          <a:stretch>
            <a:fillRect/>
          </a:stretch>
        </p:blipFill>
        <p:spPr>
          <a:xfrm>
            <a:off x="3925166" y="3045259"/>
            <a:ext cx="5065568" cy="2035173"/>
          </a:xfrm>
          <a:prstGeom prst="rect">
            <a:avLst/>
          </a:prstGeom>
        </p:spPr>
      </p:pic>
    </p:spTree>
    <p:extLst>
      <p:ext uri="{BB962C8B-B14F-4D97-AF65-F5344CB8AC3E}">
        <p14:creationId xmlns:p14="http://schemas.microsoft.com/office/powerpoint/2010/main" val="3895960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8649D-F69E-80F8-23F5-68B2AE4DA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C4FB7-8321-022D-9D74-E9FE6352509B}"/>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3F8A842A-7CC0-B05E-977B-C3820B099EB6}"/>
              </a:ext>
            </a:extLst>
          </p:cNvPr>
          <p:cNvSpPr>
            <a:spLocks noGrp="1"/>
          </p:cNvSpPr>
          <p:nvPr>
            <p:ph idx="1"/>
          </p:nvPr>
        </p:nvSpPr>
        <p:spPr>
          <a:xfrm>
            <a:off x="914400" y="1617807"/>
            <a:ext cx="11087100" cy="4667250"/>
          </a:xfrm>
        </p:spPr>
        <p:txBody>
          <a:bodyPr>
            <a:normAutofit/>
          </a:bodyPr>
          <a:lstStyle/>
          <a:p>
            <a:r>
              <a:rPr lang="en-US" dirty="0"/>
              <a:t>It is also important to note that each object of the derived class will contain all members of the base class.</a:t>
            </a:r>
          </a:p>
          <a:p>
            <a:endParaRPr lang="en-US" dirty="0"/>
          </a:p>
        </p:txBody>
      </p:sp>
      <p:pic>
        <p:nvPicPr>
          <p:cNvPr id="4" name="Picture 3">
            <a:extLst>
              <a:ext uri="{FF2B5EF4-FFF2-40B4-BE49-F238E27FC236}">
                <a16:creationId xmlns:a16="http://schemas.microsoft.com/office/drawing/2014/main" id="{F8F41E97-B8FE-8A5B-CD7E-F058B2B3EE16}"/>
              </a:ext>
            </a:extLst>
          </p:cNvPr>
          <p:cNvPicPr>
            <a:picLocks noChangeAspect="1"/>
          </p:cNvPicPr>
          <p:nvPr/>
        </p:nvPicPr>
        <p:blipFill>
          <a:blip r:embed="rId2"/>
          <a:stretch>
            <a:fillRect/>
          </a:stretch>
        </p:blipFill>
        <p:spPr>
          <a:xfrm>
            <a:off x="2717800" y="2943370"/>
            <a:ext cx="6756400" cy="3213100"/>
          </a:xfrm>
          <a:prstGeom prst="rect">
            <a:avLst/>
          </a:prstGeom>
        </p:spPr>
      </p:pic>
    </p:spTree>
    <p:extLst>
      <p:ext uri="{BB962C8B-B14F-4D97-AF65-F5344CB8AC3E}">
        <p14:creationId xmlns:p14="http://schemas.microsoft.com/office/powerpoint/2010/main" val="2420964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8D7C-14AA-9F3C-7986-CDA77FFEDD91}"/>
              </a:ext>
            </a:extLst>
          </p:cNvPr>
          <p:cNvSpPr>
            <a:spLocks noGrp="1"/>
          </p:cNvSpPr>
          <p:nvPr>
            <p:ph type="title"/>
          </p:nvPr>
        </p:nvSpPr>
        <p:spPr/>
        <p:txBody>
          <a:bodyPr/>
          <a:lstStyle/>
          <a:p>
            <a:r>
              <a:rPr lang="en-US" dirty="0"/>
              <a:t>Inheritance and Pointers</a:t>
            </a:r>
          </a:p>
        </p:txBody>
      </p:sp>
      <p:sp>
        <p:nvSpPr>
          <p:cNvPr id="3" name="Content Placeholder 2">
            <a:extLst>
              <a:ext uri="{FF2B5EF4-FFF2-40B4-BE49-F238E27FC236}">
                <a16:creationId xmlns:a16="http://schemas.microsoft.com/office/drawing/2014/main" id="{B8436E7B-55E3-FCD8-2362-016B62DC7509}"/>
              </a:ext>
            </a:extLst>
          </p:cNvPr>
          <p:cNvSpPr>
            <a:spLocks noGrp="1"/>
          </p:cNvSpPr>
          <p:nvPr>
            <p:ph idx="1"/>
          </p:nvPr>
        </p:nvSpPr>
        <p:spPr/>
        <p:txBody>
          <a:bodyPr/>
          <a:lstStyle/>
          <a:p>
            <a:r>
              <a:rPr lang="en-US" dirty="0"/>
              <a:t>Whenever inheritance is involved, all objects should be dynamically allocated and accessed through pointers. </a:t>
            </a:r>
          </a:p>
          <a:p>
            <a:r>
              <a:rPr lang="en-US" dirty="0"/>
              <a:t>To see why, consider a program that works with both Student and Person types. </a:t>
            </a:r>
          </a:p>
          <a:p>
            <a:r>
              <a:rPr lang="en-US" dirty="0"/>
              <a:t>Because a Student is a Person, we should be able to pass Student objects to functions that expect a parameter of type Person or assign a Student object to a variable of type Person.</a:t>
            </a:r>
          </a:p>
          <a:p>
            <a:pPr lvl="1"/>
            <a:r>
              <a:rPr lang="en-US" dirty="0">
                <a:solidFill>
                  <a:srgbClr val="FF0000"/>
                </a:solidFill>
              </a:rPr>
              <a:t>Person p; </a:t>
            </a:r>
          </a:p>
          <a:p>
            <a:pPr lvl="1"/>
            <a:r>
              <a:rPr lang="en-US" dirty="0">
                <a:solidFill>
                  <a:srgbClr val="FF0000"/>
                </a:solidFill>
              </a:rPr>
              <a:t>Student s; </a:t>
            </a:r>
          </a:p>
          <a:p>
            <a:pPr lvl="1"/>
            <a:r>
              <a:rPr lang="en-US" dirty="0">
                <a:solidFill>
                  <a:srgbClr val="FF0000"/>
                </a:solidFill>
              </a:rPr>
              <a:t>p = s; </a:t>
            </a:r>
          </a:p>
        </p:txBody>
      </p:sp>
    </p:spTree>
    <p:extLst>
      <p:ext uri="{BB962C8B-B14F-4D97-AF65-F5344CB8AC3E}">
        <p14:creationId xmlns:p14="http://schemas.microsoft.com/office/powerpoint/2010/main" val="4064280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7E4D-70BF-58A1-DFAE-1CD0FB80C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69D5-B3EA-A0E8-DA4F-184C2A5C458F}"/>
              </a:ext>
            </a:extLst>
          </p:cNvPr>
          <p:cNvSpPr>
            <a:spLocks noGrp="1"/>
          </p:cNvSpPr>
          <p:nvPr>
            <p:ph type="title"/>
          </p:nvPr>
        </p:nvSpPr>
        <p:spPr/>
        <p:txBody>
          <a:bodyPr/>
          <a:lstStyle/>
          <a:p>
            <a:r>
              <a:rPr lang="en-US" dirty="0"/>
              <a:t>Inheritance and Pointers</a:t>
            </a:r>
          </a:p>
        </p:txBody>
      </p:sp>
      <p:sp>
        <p:nvSpPr>
          <p:cNvPr id="3" name="Content Placeholder 2">
            <a:extLst>
              <a:ext uri="{FF2B5EF4-FFF2-40B4-BE49-F238E27FC236}">
                <a16:creationId xmlns:a16="http://schemas.microsoft.com/office/drawing/2014/main" id="{7C94234F-A112-4B39-AAFB-3C882D49D4CD}"/>
              </a:ext>
            </a:extLst>
          </p:cNvPr>
          <p:cNvSpPr>
            <a:spLocks noGrp="1"/>
          </p:cNvSpPr>
          <p:nvPr>
            <p:ph idx="1"/>
          </p:nvPr>
        </p:nvSpPr>
        <p:spPr/>
        <p:txBody>
          <a:bodyPr/>
          <a:lstStyle/>
          <a:p>
            <a:r>
              <a:rPr lang="en-US" dirty="0"/>
              <a:t>However, a Student object, with its additional members, will not fit in a memory location allocated for a Person object. </a:t>
            </a:r>
          </a:p>
          <a:p>
            <a:r>
              <a:rPr lang="en-US" dirty="0"/>
              <a:t>To carry out such an assignment, the compiler will slice off the Student parts that do not belong to Person, leaving only the inherited parts and resulting in loss of information. </a:t>
            </a:r>
          </a:p>
          <a:p>
            <a:r>
              <a:rPr lang="en-US" dirty="0"/>
              <a:t>This does not occur if we are dealing with pointers because all pointers have the same size.</a:t>
            </a:r>
            <a:endParaRPr lang="en-US" dirty="0">
              <a:solidFill>
                <a:srgbClr val="FF0000"/>
              </a:solidFill>
            </a:endParaRPr>
          </a:p>
        </p:txBody>
      </p:sp>
    </p:spTree>
    <p:extLst>
      <p:ext uri="{BB962C8B-B14F-4D97-AF65-F5344CB8AC3E}">
        <p14:creationId xmlns:p14="http://schemas.microsoft.com/office/powerpoint/2010/main" val="1966017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848D-5EF0-831D-66F4-9E281281D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82A7B-865F-8FDC-843D-4BD664952911}"/>
              </a:ext>
            </a:extLst>
          </p:cNvPr>
          <p:cNvSpPr>
            <a:spLocks noGrp="1"/>
          </p:cNvSpPr>
          <p:nvPr>
            <p:ph type="title"/>
          </p:nvPr>
        </p:nvSpPr>
        <p:spPr/>
        <p:txBody>
          <a:bodyPr/>
          <a:lstStyle/>
          <a:p>
            <a:r>
              <a:rPr lang="en-US" dirty="0"/>
              <a:t>Inheritance and Pointers</a:t>
            </a:r>
          </a:p>
        </p:txBody>
      </p:sp>
      <p:sp>
        <p:nvSpPr>
          <p:cNvPr id="3" name="Content Placeholder 2">
            <a:extLst>
              <a:ext uri="{FF2B5EF4-FFF2-40B4-BE49-F238E27FC236}">
                <a16:creationId xmlns:a16="http://schemas.microsoft.com/office/drawing/2014/main" id="{B7242941-D527-A226-BDA8-8AA29DD2A113}"/>
              </a:ext>
            </a:extLst>
          </p:cNvPr>
          <p:cNvSpPr>
            <a:spLocks noGrp="1"/>
          </p:cNvSpPr>
          <p:nvPr>
            <p:ph idx="1"/>
          </p:nvPr>
        </p:nvSpPr>
        <p:spPr>
          <a:xfrm>
            <a:off x="124691" y="1825625"/>
            <a:ext cx="7273635" cy="4667250"/>
          </a:xfrm>
        </p:spPr>
        <p:txBody>
          <a:bodyPr>
            <a:normAutofit/>
          </a:bodyPr>
          <a:lstStyle/>
          <a:p>
            <a:r>
              <a:rPr lang="en-US" dirty="0">
                <a:effectLst/>
              </a:rPr>
              <a:t>This example demonstrates the creation and use of an object of a derived class by creating a Faculty object. </a:t>
            </a:r>
          </a:p>
          <a:p>
            <a:r>
              <a:rPr lang="en-US" dirty="0">
                <a:effectLst/>
              </a:rPr>
              <a:t>The program uses arrays of strings that map values of enumerated types to strings to enable printing of values of enumerated types in the form of strings. </a:t>
            </a:r>
          </a:p>
          <a:p>
            <a:r>
              <a:rPr lang="en-US" dirty="0">
                <a:effectLst/>
              </a:rPr>
              <a:t>The included “</a:t>
            </a:r>
            <a:r>
              <a:rPr lang="en-US" dirty="0" err="1">
                <a:effectLst/>
              </a:rPr>
              <a:t>inheritance.h</a:t>
            </a:r>
            <a:r>
              <a:rPr lang="en-US" dirty="0">
                <a:effectLst/>
              </a:rPr>
              <a:t>” file contains declarations of the Person, Student, and Faculty classes, as well as the enumerated types Discipline and Classification.</a:t>
            </a:r>
          </a:p>
          <a:p>
            <a:endParaRPr lang="en-US" dirty="0">
              <a:solidFill>
                <a:srgbClr val="FF0000"/>
              </a:solidFill>
            </a:endParaRPr>
          </a:p>
        </p:txBody>
      </p:sp>
      <p:pic>
        <p:nvPicPr>
          <p:cNvPr id="4" name="Picture 3">
            <a:extLst>
              <a:ext uri="{FF2B5EF4-FFF2-40B4-BE49-F238E27FC236}">
                <a16:creationId xmlns:a16="http://schemas.microsoft.com/office/drawing/2014/main" id="{007C032B-C367-3B33-DA6A-9BE6BC7772BC}"/>
              </a:ext>
            </a:extLst>
          </p:cNvPr>
          <p:cNvPicPr>
            <a:picLocks noChangeAspect="1"/>
          </p:cNvPicPr>
          <p:nvPr/>
        </p:nvPicPr>
        <p:blipFill>
          <a:blip r:embed="rId2"/>
          <a:stretch>
            <a:fillRect/>
          </a:stretch>
        </p:blipFill>
        <p:spPr>
          <a:xfrm>
            <a:off x="7741003" y="0"/>
            <a:ext cx="4233011" cy="6858000"/>
          </a:xfrm>
          <a:prstGeom prst="rect">
            <a:avLst/>
          </a:prstGeom>
        </p:spPr>
      </p:pic>
    </p:spTree>
    <p:extLst>
      <p:ext uri="{BB962C8B-B14F-4D97-AF65-F5344CB8AC3E}">
        <p14:creationId xmlns:p14="http://schemas.microsoft.com/office/powerpoint/2010/main" val="964225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CE9FD-774A-9966-BAF3-1B55C0B92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1FA3B-0EDF-A6A1-80D8-E806A5C7C138}"/>
              </a:ext>
            </a:extLst>
          </p:cNvPr>
          <p:cNvSpPr>
            <a:spLocks noGrp="1"/>
          </p:cNvSpPr>
          <p:nvPr>
            <p:ph type="title"/>
          </p:nvPr>
        </p:nvSpPr>
        <p:spPr/>
        <p:txBody>
          <a:bodyPr/>
          <a:lstStyle/>
          <a:p>
            <a:r>
              <a:rPr lang="en-US" dirty="0"/>
              <a:t>Inheritance and Pointers</a:t>
            </a:r>
          </a:p>
        </p:txBody>
      </p:sp>
      <p:pic>
        <p:nvPicPr>
          <p:cNvPr id="7" name="Picture 6">
            <a:extLst>
              <a:ext uri="{FF2B5EF4-FFF2-40B4-BE49-F238E27FC236}">
                <a16:creationId xmlns:a16="http://schemas.microsoft.com/office/drawing/2014/main" id="{5671F3EB-CE7E-9786-EB2F-B52CD3175D2B}"/>
              </a:ext>
            </a:extLst>
          </p:cNvPr>
          <p:cNvPicPr>
            <a:picLocks noChangeAspect="1"/>
          </p:cNvPicPr>
          <p:nvPr/>
        </p:nvPicPr>
        <p:blipFill>
          <a:blip r:embed="rId2"/>
          <a:stretch>
            <a:fillRect/>
          </a:stretch>
        </p:blipFill>
        <p:spPr>
          <a:xfrm>
            <a:off x="7365331" y="0"/>
            <a:ext cx="4090737" cy="6858000"/>
          </a:xfrm>
          <a:prstGeom prst="rect">
            <a:avLst/>
          </a:prstGeom>
        </p:spPr>
      </p:pic>
      <p:pic>
        <p:nvPicPr>
          <p:cNvPr id="8" name="Picture 7">
            <a:extLst>
              <a:ext uri="{FF2B5EF4-FFF2-40B4-BE49-F238E27FC236}">
                <a16:creationId xmlns:a16="http://schemas.microsoft.com/office/drawing/2014/main" id="{B86CC735-2FB2-C775-6A59-D8628B0D0BF0}"/>
              </a:ext>
            </a:extLst>
          </p:cNvPr>
          <p:cNvPicPr>
            <a:picLocks noChangeAspect="1"/>
          </p:cNvPicPr>
          <p:nvPr/>
        </p:nvPicPr>
        <p:blipFill>
          <a:blip r:embed="rId3"/>
          <a:stretch>
            <a:fillRect/>
          </a:stretch>
        </p:blipFill>
        <p:spPr>
          <a:xfrm>
            <a:off x="1073150" y="3002972"/>
            <a:ext cx="5138175" cy="1504373"/>
          </a:xfrm>
          <a:prstGeom prst="rect">
            <a:avLst/>
          </a:prstGeom>
        </p:spPr>
      </p:pic>
    </p:spTree>
    <p:extLst>
      <p:ext uri="{BB962C8B-B14F-4D97-AF65-F5344CB8AC3E}">
        <p14:creationId xmlns:p14="http://schemas.microsoft.com/office/powerpoint/2010/main" val="3485605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1F69-BDB7-E6D1-8277-131788D9BE76}"/>
              </a:ext>
            </a:extLst>
          </p:cNvPr>
          <p:cNvSpPr>
            <a:spLocks noGrp="1"/>
          </p:cNvSpPr>
          <p:nvPr>
            <p:ph type="title"/>
          </p:nvPr>
        </p:nvSpPr>
        <p:spPr/>
        <p:txBody>
          <a:bodyPr/>
          <a:lstStyle/>
          <a:p>
            <a:r>
              <a:rPr lang="en-US" dirty="0" err="1"/>
              <a:t>Superclasses</a:t>
            </a:r>
            <a:r>
              <a:rPr lang="en-US" dirty="0"/>
              <a:t> and Subclasses</a:t>
            </a:r>
          </a:p>
        </p:txBody>
      </p:sp>
      <p:sp>
        <p:nvSpPr>
          <p:cNvPr id="3" name="Content Placeholder 2">
            <a:extLst>
              <a:ext uri="{FF2B5EF4-FFF2-40B4-BE49-F238E27FC236}">
                <a16:creationId xmlns:a16="http://schemas.microsoft.com/office/drawing/2014/main" id="{A23E720E-4C7E-275E-4E55-53FEB7922FF0}"/>
              </a:ext>
            </a:extLst>
          </p:cNvPr>
          <p:cNvSpPr>
            <a:spLocks noGrp="1"/>
          </p:cNvSpPr>
          <p:nvPr>
            <p:ph idx="1"/>
          </p:nvPr>
        </p:nvSpPr>
        <p:spPr/>
        <p:txBody>
          <a:bodyPr/>
          <a:lstStyle/>
          <a:p>
            <a:r>
              <a:rPr lang="en-US" dirty="0"/>
              <a:t>We can think of a class as describing the set of all objects that have certain characteristics. </a:t>
            </a:r>
          </a:p>
          <a:p>
            <a:r>
              <a:rPr lang="en-US" dirty="0"/>
              <a:t>An object of a derived class inherits all the characteristics of the base class, so it can be regarded as belonging to the base class.</a:t>
            </a:r>
          </a:p>
          <a:p>
            <a:r>
              <a:rPr lang="en-US" dirty="0"/>
              <a:t>Thus, objects of the derived class are just specialized objects of the base class. </a:t>
            </a:r>
          </a:p>
          <a:p>
            <a:r>
              <a:rPr lang="en-US" dirty="0"/>
              <a:t>For this reason, the derived class is often called a</a:t>
            </a:r>
            <a:r>
              <a:rPr lang="en-US" dirty="0">
                <a:solidFill>
                  <a:srgbClr val="FF0000"/>
                </a:solidFill>
              </a:rPr>
              <a:t> </a:t>
            </a:r>
            <a:r>
              <a:rPr lang="en-US" dirty="0">
                <a:solidFill>
                  <a:srgbClr val="FF0000"/>
                </a:solidFill>
                <a:hlinkClick r:id="rId2">
                  <a:extLst>
                    <a:ext uri="{A12FA001-AC4F-418D-AE19-62706E023703}">
                      <ahyp:hlinkClr xmlns:ahyp="http://schemas.microsoft.com/office/drawing/2018/hyperlinkcolor" val="tx"/>
                    </a:ext>
                  </a:extLst>
                </a:hlinkClick>
              </a:rPr>
              <a:t>subclass</a:t>
            </a:r>
            <a:r>
              <a:rPr lang="en-US" dirty="0">
                <a:solidFill>
                  <a:srgbClr val="FF0000"/>
                </a:solidFill>
              </a:rPr>
              <a:t> </a:t>
            </a:r>
            <a:r>
              <a:rPr lang="en-US" dirty="0"/>
              <a:t>of the base class, and the base class is called a </a:t>
            </a:r>
            <a:r>
              <a:rPr lang="en-US" dirty="0">
                <a:solidFill>
                  <a:srgbClr val="FF0000"/>
                </a:solidFill>
                <a:hlinkClick r:id="rId2">
                  <a:extLst>
                    <a:ext uri="{A12FA001-AC4F-418D-AE19-62706E023703}">
                      <ahyp:hlinkClr xmlns:ahyp="http://schemas.microsoft.com/office/drawing/2018/hyperlinkcolor" val="tx"/>
                    </a:ext>
                  </a:extLst>
                </a:hlinkClick>
              </a:rPr>
              <a:t>superclass</a:t>
            </a:r>
            <a:r>
              <a:rPr lang="en-US" dirty="0"/>
              <a:t> of the derived class.</a:t>
            </a:r>
          </a:p>
        </p:txBody>
      </p:sp>
    </p:spTree>
    <p:extLst>
      <p:ext uri="{BB962C8B-B14F-4D97-AF65-F5344CB8AC3E}">
        <p14:creationId xmlns:p14="http://schemas.microsoft.com/office/powerpoint/2010/main" val="4025220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227E9-07DC-F278-6794-481638CFE70D}"/>
              </a:ext>
            </a:extLst>
          </p:cNvPr>
          <p:cNvSpPr>
            <a:spLocks noGrp="1"/>
          </p:cNvSpPr>
          <p:nvPr>
            <p:ph type="title"/>
          </p:nvPr>
        </p:nvSpPr>
        <p:spPr/>
        <p:txBody>
          <a:bodyPr/>
          <a:lstStyle/>
          <a:p>
            <a:r>
              <a:rPr lang="en-US" dirty="0"/>
              <a:t>Protected Members and Class Access</a:t>
            </a:r>
          </a:p>
        </p:txBody>
      </p:sp>
      <p:sp>
        <p:nvSpPr>
          <p:cNvPr id="3" name="Content Placeholder 2">
            <a:extLst>
              <a:ext uri="{FF2B5EF4-FFF2-40B4-BE49-F238E27FC236}">
                <a16:creationId xmlns:a16="http://schemas.microsoft.com/office/drawing/2014/main" id="{847DB354-A6D4-940E-3747-50B9C6BA6374}"/>
              </a:ext>
            </a:extLst>
          </p:cNvPr>
          <p:cNvSpPr>
            <a:spLocks noGrp="1"/>
          </p:cNvSpPr>
          <p:nvPr>
            <p:ph idx="1"/>
          </p:nvPr>
        </p:nvSpPr>
        <p:spPr/>
        <p:txBody>
          <a:bodyPr/>
          <a:lstStyle/>
          <a:p>
            <a:r>
              <a:rPr lang="en-US" dirty="0"/>
              <a:t>Protected members of a base class are like private members, except they may be accessed by derived classes. </a:t>
            </a:r>
          </a:p>
          <a:p>
            <a:r>
              <a:rPr lang="en-US" dirty="0"/>
              <a:t>The base class access specification determines how private, protected, and public base class members are accessed when they are inherited by the derived class.</a:t>
            </a:r>
          </a:p>
        </p:txBody>
      </p:sp>
    </p:spTree>
    <p:extLst>
      <p:ext uri="{BB962C8B-B14F-4D97-AF65-F5344CB8AC3E}">
        <p14:creationId xmlns:p14="http://schemas.microsoft.com/office/powerpoint/2010/main" val="300911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44FE-4CC6-D9DF-9322-CC10913E8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CADEE-F758-D07D-08E8-0D469EA25AF3}"/>
              </a:ext>
            </a:extLst>
          </p:cNvPr>
          <p:cNvSpPr>
            <a:spLocks noGrp="1"/>
          </p:cNvSpPr>
          <p:nvPr>
            <p:ph type="title"/>
          </p:nvPr>
        </p:nvSpPr>
        <p:spPr/>
        <p:txBody>
          <a:bodyPr/>
          <a:lstStyle/>
          <a:p>
            <a:r>
              <a:rPr lang="en-US" dirty="0"/>
              <a:t>Protected Members and Class Access</a:t>
            </a:r>
          </a:p>
        </p:txBody>
      </p:sp>
      <p:sp>
        <p:nvSpPr>
          <p:cNvPr id="3" name="Content Placeholder 2">
            <a:extLst>
              <a:ext uri="{FF2B5EF4-FFF2-40B4-BE49-F238E27FC236}">
                <a16:creationId xmlns:a16="http://schemas.microsoft.com/office/drawing/2014/main" id="{D6BB672D-B6BF-FEC5-8419-2F29304EABB6}"/>
              </a:ext>
            </a:extLst>
          </p:cNvPr>
          <p:cNvSpPr>
            <a:spLocks noGrp="1"/>
          </p:cNvSpPr>
          <p:nvPr>
            <p:ph idx="1"/>
          </p:nvPr>
        </p:nvSpPr>
        <p:spPr/>
        <p:txBody>
          <a:bodyPr/>
          <a:lstStyle/>
          <a:p>
            <a:r>
              <a:rPr lang="en-US" dirty="0"/>
              <a:t>Until now you have used two access specifications within a class: private and public. </a:t>
            </a:r>
          </a:p>
          <a:p>
            <a:r>
              <a:rPr lang="en-US" dirty="0"/>
              <a:t>C++ provides a third access specification, protected. </a:t>
            </a:r>
          </a:p>
          <a:p>
            <a:r>
              <a:rPr lang="en-US" dirty="0"/>
              <a:t>Protected members of a base class are like private members, except they may be accessed by member functions of a derived class. </a:t>
            </a:r>
          </a:p>
          <a:p>
            <a:r>
              <a:rPr lang="en-US" dirty="0"/>
              <a:t>Protected members are inaccessible to all other code in the program</a:t>
            </a:r>
          </a:p>
        </p:txBody>
      </p:sp>
    </p:spTree>
    <p:extLst>
      <p:ext uri="{BB962C8B-B14F-4D97-AF65-F5344CB8AC3E}">
        <p14:creationId xmlns:p14="http://schemas.microsoft.com/office/powerpoint/2010/main" val="1714777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D8D51-93C2-F524-BD2F-929117913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3C33F-B981-5172-BAD3-2C3B0492C0B4}"/>
              </a:ext>
            </a:extLst>
          </p:cNvPr>
          <p:cNvSpPr>
            <a:spLocks noGrp="1"/>
          </p:cNvSpPr>
          <p:nvPr>
            <p:ph type="title"/>
          </p:nvPr>
        </p:nvSpPr>
        <p:spPr/>
        <p:txBody>
          <a:bodyPr/>
          <a:lstStyle/>
          <a:p>
            <a:r>
              <a:rPr lang="en-US" dirty="0"/>
              <a:t>Protected Members and Class Access</a:t>
            </a:r>
          </a:p>
        </p:txBody>
      </p:sp>
      <p:sp>
        <p:nvSpPr>
          <p:cNvPr id="3" name="Content Placeholder 2">
            <a:extLst>
              <a:ext uri="{FF2B5EF4-FFF2-40B4-BE49-F238E27FC236}">
                <a16:creationId xmlns:a16="http://schemas.microsoft.com/office/drawing/2014/main" id="{0806DABC-6DF8-3178-9259-A7197E8DF74A}"/>
              </a:ext>
            </a:extLst>
          </p:cNvPr>
          <p:cNvSpPr>
            <a:spLocks noGrp="1"/>
          </p:cNvSpPr>
          <p:nvPr>
            <p:ph idx="1"/>
          </p:nvPr>
        </p:nvSpPr>
        <p:spPr/>
        <p:txBody>
          <a:bodyPr/>
          <a:lstStyle/>
          <a:p>
            <a:r>
              <a:rPr lang="en-US" dirty="0"/>
              <a:t>Until now you have used two access specifications within a class: private and public. </a:t>
            </a:r>
          </a:p>
          <a:p>
            <a:r>
              <a:rPr lang="en-US" dirty="0"/>
              <a:t>C++ provides a third access specification, protected. </a:t>
            </a:r>
          </a:p>
          <a:p>
            <a:r>
              <a:rPr lang="en-US" dirty="0"/>
              <a:t>Protected members of a base class are like private members, except they may be accessed by member functions of a derived class. </a:t>
            </a:r>
          </a:p>
          <a:p>
            <a:r>
              <a:rPr lang="en-US" dirty="0"/>
              <a:t>Protected members are inaccessible to all other code in the program</a:t>
            </a:r>
          </a:p>
        </p:txBody>
      </p:sp>
    </p:spTree>
    <p:extLst>
      <p:ext uri="{BB962C8B-B14F-4D97-AF65-F5344CB8AC3E}">
        <p14:creationId xmlns:p14="http://schemas.microsoft.com/office/powerpoint/2010/main" val="2969376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E34AC-3591-4BEA-0923-F4BD6578D3C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E36726B-6E13-1DB2-2A14-BABB910C78FF}"/>
              </a:ext>
            </a:extLst>
          </p:cNvPr>
          <p:cNvSpPr>
            <a:spLocks noGrp="1"/>
          </p:cNvSpPr>
          <p:nvPr>
            <p:ph idx="1"/>
          </p:nvPr>
        </p:nvSpPr>
        <p:spPr>
          <a:xfrm>
            <a:off x="220717" y="1825624"/>
            <a:ext cx="6095999" cy="4879975"/>
          </a:xfrm>
        </p:spPr>
        <p:txBody>
          <a:bodyPr>
            <a:normAutofit fontScale="92500" lnSpcReduction="10000"/>
          </a:bodyPr>
          <a:lstStyle/>
          <a:p>
            <a:r>
              <a:rPr lang="en-US" dirty="0"/>
              <a:t>Let us suppose we want to add to the Faculty class a constructor that takes as parameter the name and department of a professor. </a:t>
            </a:r>
          </a:p>
          <a:p>
            <a:r>
              <a:rPr lang="en-US" dirty="0"/>
              <a:t>The best way to accomplish this is to have the constructor call the </a:t>
            </a:r>
            <a:r>
              <a:rPr lang="en-US" dirty="0" err="1">
                <a:solidFill>
                  <a:srgbClr val="FF0000"/>
                </a:solidFill>
              </a:rPr>
              <a:t>setName</a:t>
            </a:r>
            <a:r>
              <a:rPr lang="en-US" dirty="0">
                <a:solidFill>
                  <a:srgbClr val="FF0000"/>
                </a:solidFill>
              </a:rPr>
              <a:t>() </a:t>
            </a:r>
            <a:r>
              <a:rPr lang="en-US" dirty="0"/>
              <a:t>member function inherited from the Person class.</a:t>
            </a:r>
          </a:p>
          <a:p>
            <a:r>
              <a:rPr lang="en-US" dirty="0"/>
              <a:t>To see the use of protected members, however, </a:t>
            </a:r>
            <a:r>
              <a:rPr lang="en-US" b="1" dirty="0"/>
              <a:t>we will change the access specification of the name field of the Person class to protected </a:t>
            </a:r>
            <a:r>
              <a:rPr lang="en-US" dirty="0"/>
              <a:t>and have the Faculty constructor access it directly.</a:t>
            </a:r>
          </a:p>
        </p:txBody>
      </p:sp>
      <p:pic>
        <p:nvPicPr>
          <p:cNvPr id="4" name="Picture 3">
            <a:extLst>
              <a:ext uri="{FF2B5EF4-FFF2-40B4-BE49-F238E27FC236}">
                <a16:creationId xmlns:a16="http://schemas.microsoft.com/office/drawing/2014/main" id="{8F4AB045-952B-AF14-603D-FF928D257D14}"/>
              </a:ext>
            </a:extLst>
          </p:cNvPr>
          <p:cNvPicPr>
            <a:picLocks noChangeAspect="1"/>
          </p:cNvPicPr>
          <p:nvPr/>
        </p:nvPicPr>
        <p:blipFill>
          <a:blip r:embed="rId3"/>
          <a:stretch>
            <a:fillRect/>
          </a:stretch>
        </p:blipFill>
        <p:spPr>
          <a:xfrm>
            <a:off x="6488958" y="2079571"/>
            <a:ext cx="5623032" cy="4185908"/>
          </a:xfrm>
          <a:prstGeom prst="rect">
            <a:avLst/>
          </a:prstGeom>
        </p:spPr>
      </p:pic>
    </p:spTree>
    <p:extLst>
      <p:ext uri="{BB962C8B-B14F-4D97-AF65-F5344CB8AC3E}">
        <p14:creationId xmlns:p14="http://schemas.microsoft.com/office/powerpoint/2010/main" val="3349621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325E9-5E08-9A52-48A6-215892976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D14C2-0672-7DF6-6072-1446A7899D11}"/>
              </a:ext>
            </a:extLst>
          </p:cNvPr>
          <p:cNvSpPr>
            <a:spLocks noGrp="1"/>
          </p:cNvSpPr>
          <p:nvPr>
            <p:ph type="title"/>
          </p:nvPr>
        </p:nvSpPr>
        <p:spPr>
          <a:xfrm>
            <a:off x="3581400" y="148766"/>
            <a:ext cx="2514600" cy="1325563"/>
          </a:xfrm>
        </p:spPr>
        <p:txBody>
          <a:bodyPr/>
          <a:lstStyle/>
          <a:p>
            <a:r>
              <a:rPr lang="en-US" dirty="0"/>
              <a:t>Example</a:t>
            </a:r>
          </a:p>
        </p:txBody>
      </p:sp>
      <p:pic>
        <p:nvPicPr>
          <p:cNvPr id="5" name="Picture 4">
            <a:extLst>
              <a:ext uri="{FF2B5EF4-FFF2-40B4-BE49-F238E27FC236}">
                <a16:creationId xmlns:a16="http://schemas.microsoft.com/office/drawing/2014/main" id="{69E5AD56-8CA5-9D54-45A1-3308AD0D9EF6}"/>
              </a:ext>
            </a:extLst>
          </p:cNvPr>
          <p:cNvPicPr>
            <a:picLocks noChangeAspect="1"/>
          </p:cNvPicPr>
          <p:nvPr/>
        </p:nvPicPr>
        <p:blipFill>
          <a:blip r:embed="rId3"/>
          <a:stretch>
            <a:fillRect/>
          </a:stretch>
        </p:blipFill>
        <p:spPr>
          <a:xfrm>
            <a:off x="6873764" y="0"/>
            <a:ext cx="4845269" cy="3481569"/>
          </a:xfrm>
          <a:prstGeom prst="rect">
            <a:avLst/>
          </a:prstGeom>
        </p:spPr>
      </p:pic>
      <p:pic>
        <p:nvPicPr>
          <p:cNvPr id="8" name="Picture 7">
            <a:extLst>
              <a:ext uri="{FF2B5EF4-FFF2-40B4-BE49-F238E27FC236}">
                <a16:creationId xmlns:a16="http://schemas.microsoft.com/office/drawing/2014/main" id="{756DF00F-FA1E-B7FE-227D-7459103563AA}"/>
              </a:ext>
            </a:extLst>
          </p:cNvPr>
          <p:cNvPicPr>
            <a:picLocks noChangeAspect="1"/>
          </p:cNvPicPr>
          <p:nvPr/>
        </p:nvPicPr>
        <p:blipFill>
          <a:blip r:embed="rId4"/>
          <a:stretch>
            <a:fillRect/>
          </a:stretch>
        </p:blipFill>
        <p:spPr>
          <a:xfrm>
            <a:off x="82499" y="1474329"/>
            <a:ext cx="6013501" cy="3587204"/>
          </a:xfrm>
          <a:prstGeom prst="rect">
            <a:avLst/>
          </a:prstGeom>
        </p:spPr>
      </p:pic>
      <p:pic>
        <p:nvPicPr>
          <p:cNvPr id="9" name="Picture 8">
            <a:extLst>
              <a:ext uri="{FF2B5EF4-FFF2-40B4-BE49-F238E27FC236}">
                <a16:creationId xmlns:a16="http://schemas.microsoft.com/office/drawing/2014/main" id="{64EED6E5-1347-0C40-01D3-4E21A072E268}"/>
              </a:ext>
            </a:extLst>
          </p:cNvPr>
          <p:cNvPicPr>
            <a:picLocks noChangeAspect="1"/>
          </p:cNvPicPr>
          <p:nvPr/>
        </p:nvPicPr>
        <p:blipFill>
          <a:blip r:embed="rId5"/>
          <a:stretch>
            <a:fillRect/>
          </a:stretch>
        </p:blipFill>
        <p:spPr>
          <a:xfrm>
            <a:off x="6873764" y="3609450"/>
            <a:ext cx="4217495" cy="3155233"/>
          </a:xfrm>
          <a:prstGeom prst="rect">
            <a:avLst/>
          </a:prstGeom>
        </p:spPr>
      </p:pic>
    </p:spTree>
    <p:extLst>
      <p:ext uri="{BB962C8B-B14F-4D97-AF65-F5344CB8AC3E}">
        <p14:creationId xmlns:p14="http://schemas.microsoft.com/office/powerpoint/2010/main" val="334471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E5AD6AA-35DC-557E-5BE5-95D0923AE6D4}"/>
              </a:ext>
            </a:extLst>
          </p:cNvPr>
          <p:cNvSpPr>
            <a:spLocks noGrp="1" noChangeArrowheads="1"/>
          </p:cNvSpPr>
          <p:nvPr>
            <p:ph type="title"/>
          </p:nvPr>
        </p:nvSpPr>
        <p:spPr/>
        <p:txBody>
          <a:bodyPr/>
          <a:lstStyle/>
          <a:p>
            <a:r>
              <a:rPr lang="en-US" altLang="en-US"/>
              <a:t>Protected Members</a:t>
            </a:r>
          </a:p>
        </p:txBody>
      </p:sp>
      <p:sp>
        <p:nvSpPr>
          <p:cNvPr id="22531" name="Rectangle 3">
            <a:extLst>
              <a:ext uri="{FF2B5EF4-FFF2-40B4-BE49-F238E27FC236}">
                <a16:creationId xmlns:a16="http://schemas.microsoft.com/office/drawing/2014/main" id="{49733306-C9FF-5173-BE5E-37B9E57E3B1B}"/>
              </a:ext>
            </a:extLst>
          </p:cNvPr>
          <p:cNvSpPr>
            <a:spLocks noGrp="1" noChangeArrowheads="1"/>
          </p:cNvSpPr>
          <p:nvPr>
            <p:ph type="body" idx="1"/>
          </p:nvPr>
        </p:nvSpPr>
        <p:spPr/>
        <p:txBody>
          <a:bodyPr/>
          <a:lstStyle/>
          <a:p>
            <a:pPr>
              <a:defRPr/>
            </a:pPr>
            <a:r>
              <a:rPr lang="en-US" dirty="0"/>
              <a:t>Inheriting protected data members (data fields) slightly increases performance</a:t>
            </a:r>
          </a:p>
          <a:p>
            <a:pPr lvl="1">
              <a:defRPr/>
            </a:pPr>
            <a:r>
              <a:rPr lang="en-US" dirty="0"/>
              <a:t>We can directly access the members without activating set or get functions</a:t>
            </a:r>
          </a:p>
          <a:p>
            <a:pPr lvl="1">
              <a:defRPr/>
            </a:pPr>
            <a:r>
              <a:rPr lang="en-US" dirty="0"/>
              <a:t>But it breaks the data encapsulation; Better to use private data members</a:t>
            </a:r>
          </a:p>
          <a:p>
            <a:pPr marL="393700" indent="-285750">
              <a:defRPr/>
            </a:pPr>
            <a:r>
              <a:rPr lang="en-US" dirty="0"/>
              <a:t>Derived class can depend on protected visibility member functions which are inherited</a:t>
            </a:r>
          </a:p>
          <a:p>
            <a:pPr marL="742950" lvl="1" indent="-285750">
              <a:defRPr/>
            </a:pPr>
            <a:r>
              <a:rPr lang="en-US" dirty="0"/>
              <a:t>If the base-class implementation changes, it may affect all derived classes of that base class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22C0F-D4F6-B4F4-FB02-C6842307295C}"/>
              </a:ext>
            </a:extLst>
          </p:cNvPr>
          <p:cNvSpPr>
            <a:spLocks noGrp="1"/>
          </p:cNvSpPr>
          <p:nvPr>
            <p:ph type="title"/>
          </p:nvPr>
        </p:nvSpPr>
        <p:spPr/>
        <p:txBody>
          <a:bodyPr/>
          <a:lstStyle/>
          <a:p>
            <a:r>
              <a:rPr lang="en-US" dirty="0"/>
              <a:t>Base Access Specifications</a:t>
            </a:r>
          </a:p>
        </p:txBody>
      </p:sp>
      <p:sp>
        <p:nvSpPr>
          <p:cNvPr id="3" name="Content Placeholder 2">
            <a:extLst>
              <a:ext uri="{FF2B5EF4-FFF2-40B4-BE49-F238E27FC236}">
                <a16:creationId xmlns:a16="http://schemas.microsoft.com/office/drawing/2014/main" id="{00F5E552-C9E8-7254-72CA-5E55A3DE5C9C}"/>
              </a:ext>
            </a:extLst>
          </p:cNvPr>
          <p:cNvSpPr>
            <a:spLocks noGrp="1"/>
          </p:cNvSpPr>
          <p:nvPr>
            <p:ph idx="1"/>
          </p:nvPr>
        </p:nvSpPr>
        <p:spPr/>
        <p:txBody>
          <a:bodyPr/>
          <a:lstStyle/>
          <a:p>
            <a:r>
              <a:rPr lang="en-US" dirty="0"/>
              <a:t>In addition to public, C++ permits the use of protected and private as base access specifications</a:t>
            </a:r>
          </a:p>
        </p:txBody>
      </p:sp>
      <p:pic>
        <p:nvPicPr>
          <p:cNvPr id="4" name="Picture 3">
            <a:extLst>
              <a:ext uri="{FF2B5EF4-FFF2-40B4-BE49-F238E27FC236}">
                <a16:creationId xmlns:a16="http://schemas.microsoft.com/office/drawing/2014/main" id="{944B494C-86E4-5A95-EBC2-FF77857B6E26}"/>
              </a:ext>
            </a:extLst>
          </p:cNvPr>
          <p:cNvPicPr>
            <a:picLocks noChangeAspect="1"/>
          </p:cNvPicPr>
          <p:nvPr/>
        </p:nvPicPr>
        <p:blipFill>
          <a:blip r:embed="rId2"/>
          <a:stretch>
            <a:fillRect/>
          </a:stretch>
        </p:blipFill>
        <p:spPr>
          <a:xfrm>
            <a:off x="4584700" y="3182144"/>
            <a:ext cx="3022600" cy="1638300"/>
          </a:xfrm>
          <a:prstGeom prst="rect">
            <a:avLst/>
          </a:prstGeom>
        </p:spPr>
      </p:pic>
    </p:spTree>
    <p:extLst>
      <p:ext uri="{BB962C8B-B14F-4D97-AF65-F5344CB8AC3E}">
        <p14:creationId xmlns:p14="http://schemas.microsoft.com/office/powerpoint/2010/main" val="1000065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05F65-0477-517B-F56D-A321D6C75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9A411-E37B-72EC-1398-0C68AED90BD5}"/>
              </a:ext>
            </a:extLst>
          </p:cNvPr>
          <p:cNvSpPr>
            <a:spLocks noGrp="1"/>
          </p:cNvSpPr>
          <p:nvPr>
            <p:ph type="title"/>
          </p:nvPr>
        </p:nvSpPr>
        <p:spPr/>
        <p:txBody>
          <a:bodyPr/>
          <a:lstStyle/>
          <a:p>
            <a:r>
              <a:rPr lang="en-US" dirty="0"/>
              <a:t>Base Access Specifications</a:t>
            </a:r>
          </a:p>
        </p:txBody>
      </p:sp>
      <p:sp>
        <p:nvSpPr>
          <p:cNvPr id="3" name="Content Placeholder 2">
            <a:extLst>
              <a:ext uri="{FF2B5EF4-FFF2-40B4-BE49-F238E27FC236}">
                <a16:creationId xmlns:a16="http://schemas.microsoft.com/office/drawing/2014/main" id="{BCA195D4-D58E-DD33-0B78-8A9EADEEE239}"/>
              </a:ext>
            </a:extLst>
          </p:cNvPr>
          <p:cNvSpPr>
            <a:spLocks noGrp="1"/>
          </p:cNvSpPr>
          <p:nvPr>
            <p:ph idx="1"/>
          </p:nvPr>
        </p:nvSpPr>
        <p:spPr/>
        <p:txBody>
          <a:bodyPr/>
          <a:lstStyle/>
          <a:p>
            <a:r>
              <a:rPr lang="en-US" dirty="0"/>
              <a:t>Be careful not to confuse base access specification with member access specification. </a:t>
            </a:r>
          </a:p>
          <a:p>
            <a:r>
              <a:rPr lang="en-US" dirty="0"/>
              <a:t>Member access specification determines the type of access for members </a:t>
            </a:r>
            <a:r>
              <a:rPr lang="en-US" b="1" i="1" dirty="0"/>
              <a:t>defined</a:t>
            </a:r>
            <a:r>
              <a:rPr lang="en-US" b="1" dirty="0"/>
              <a:t> </a:t>
            </a:r>
            <a:r>
              <a:rPr lang="en-US" dirty="0"/>
              <a:t>in the class, whereas base access specification determines the type of access for </a:t>
            </a:r>
            <a:r>
              <a:rPr lang="en-US" b="1" i="1" dirty="0"/>
              <a:t>inherited</a:t>
            </a:r>
            <a:r>
              <a:rPr lang="en-US" dirty="0"/>
              <a:t> members</a:t>
            </a:r>
          </a:p>
        </p:txBody>
      </p:sp>
    </p:spTree>
    <p:extLst>
      <p:ext uri="{BB962C8B-B14F-4D97-AF65-F5344CB8AC3E}">
        <p14:creationId xmlns:p14="http://schemas.microsoft.com/office/powerpoint/2010/main" val="3999777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BBC29-5D18-7A77-82D7-A7EB6C51D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1900F-D337-D32D-242D-AAEE6B850EB0}"/>
              </a:ext>
            </a:extLst>
          </p:cNvPr>
          <p:cNvSpPr>
            <a:spLocks noGrp="1"/>
          </p:cNvSpPr>
          <p:nvPr>
            <p:ph type="title"/>
          </p:nvPr>
        </p:nvSpPr>
        <p:spPr/>
        <p:txBody>
          <a:bodyPr/>
          <a:lstStyle/>
          <a:p>
            <a:r>
              <a:rPr lang="en-US" dirty="0"/>
              <a:t>Base Access Specifications</a:t>
            </a:r>
          </a:p>
        </p:txBody>
      </p:sp>
      <p:pic>
        <p:nvPicPr>
          <p:cNvPr id="4" name="Picture 3">
            <a:extLst>
              <a:ext uri="{FF2B5EF4-FFF2-40B4-BE49-F238E27FC236}">
                <a16:creationId xmlns:a16="http://schemas.microsoft.com/office/drawing/2014/main" id="{0B0EEE81-6BA6-8151-5664-3BB6849ED612}"/>
              </a:ext>
            </a:extLst>
          </p:cNvPr>
          <p:cNvPicPr>
            <a:picLocks noChangeAspect="1"/>
          </p:cNvPicPr>
          <p:nvPr/>
        </p:nvPicPr>
        <p:blipFill>
          <a:blip r:embed="rId2"/>
          <a:stretch>
            <a:fillRect/>
          </a:stretch>
        </p:blipFill>
        <p:spPr>
          <a:xfrm>
            <a:off x="1624321" y="1907408"/>
            <a:ext cx="8943358" cy="3768178"/>
          </a:xfrm>
          <a:prstGeom prst="rect">
            <a:avLst/>
          </a:prstGeom>
        </p:spPr>
      </p:pic>
    </p:spTree>
    <p:extLst>
      <p:ext uri="{BB962C8B-B14F-4D97-AF65-F5344CB8AC3E}">
        <p14:creationId xmlns:p14="http://schemas.microsoft.com/office/powerpoint/2010/main" val="1514499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C253B-0A53-0E11-1144-DC54B6005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2078C-B388-8B91-3048-378AAFD6FE9B}"/>
              </a:ext>
            </a:extLst>
          </p:cNvPr>
          <p:cNvSpPr>
            <a:spLocks noGrp="1"/>
          </p:cNvSpPr>
          <p:nvPr>
            <p:ph type="title"/>
          </p:nvPr>
        </p:nvSpPr>
        <p:spPr/>
        <p:txBody>
          <a:bodyPr/>
          <a:lstStyle/>
          <a:p>
            <a:r>
              <a:rPr lang="en-US" dirty="0"/>
              <a:t>Base Access Specifications</a:t>
            </a:r>
          </a:p>
        </p:txBody>
      </p:sp>
      <p:pic>
        <p:nvPicPr>
          <p:cNvPr id="4" name="Picture 3">
            <a:extLst>
              <a:ext uri="{FF2B5EF4-FFF2-40B4-BE49-F238E27FC236}">
                <a16:creationId xmlns:a16="http://schemas.microsoft.com/office/drawing/2014/main" id="{1AD4B687-3A14-0CFB-F5CB-0264F634E4B9}"/>
              </a:ext>
            </a:extLst>
          </p:cNvPr>
          <p:cNvPicPr>
            <a:picLocks noChangeAspect="1"/>
          </p:cNvPicPr>
          <p:nvPr/>
        </p:nvPicPr>
        <p:blipFill>
          <a:blip r:embed="rId2"/>
          <a:srcRect b="64822"/>
          <a:stretch/>
        </p:blipFill>
        <p:spPr>
          <a:xfrm>
            <a:off x="1624321" y="1907408"/>
            <a:ext cx="8943358" cy="1325563"/>
          </a:xfrm>
          <a:prstGeom prst="rect">
            <a:avLst/>
          </a:prstGeom>
        </p:spPr>
      </p:pic>
      <p:pic>
        <p:nvPicPr>
          <p:cNvPr id="3" name="Picture 2">
            <a:extLst>
              <a:ext uri="{FF2B5EF4-FFF2-40B4-BE49-F238E27FC236}">
                <a16:creationId xmlns:a16="http://schemas.microsoft.com/office/drawing/2014/main" id="{38F2A3F4-76E6-C32C-6B96-A4909E8C2F30}"/>
              </a:ext>
            </a:extLst>
          </p:cNvPr>
          <p:cNvPicPr>
            <a:picLocks noChangeAspect="1"/>
          </p:cNvPicPr>
          <p:nvPr/>
        </p:nvPicPr>
        <p:blipFill>
          <a:blip r:embed="rId3"/>
          <a:stretch>
            <a:fillRect/>
          </a:stretch>
        </p:blipFill>
        <p:spPr>
          <a:xfrm>
            <a:off x="1624321" y="3232970"/>
            <a:ext cx="8954684" cy="2242919"/>
          </a:xfrm>
          <a:prstGeom prst="rect">
            <a:avLst/>
          </a:prstGeom>
        </p:spPr>
      </p:pic>
    </p:spTree>
    <p:extLst>
      <p:ext uri="{BB962C8B-B14F-4D97-AF65-F5344CB8AC3E}">
        <p14:creationId xmlns:p14="http://schemas.microsoft.com/office/powerpoint/2010/main" val="2147500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0A306-4987-57D4-572A-D2C0FCCA1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9BF9B-9DEF-5BA4-E90C-DB2079372CB7}"/>
              </a:ext>
            </a:extLst>
          </p:cNvPr>
          <p:cNvSpPr>
            <a:spLocks noGrp="1"/>
          </p:cNvSpPr>
          <p:nvPr>
            <p:ph type="title"/>
          </p:nvPr>
        </p:nvSpPr>
        <p:spPr/>
        <p:txBody>
          <a:bodyPr/>
          <a:lstStyle/>
          <a:p>
            <a:r>
              <a:rPr lang="en-US" dirty="0"/>
              <a:t>Base Access Specifications</a:t>
            </a:r>
          </a:p>
        </p:txBody>
      </p:sp>
      <p:pic>
        <p:nvPicPr>
          <p:cNvPr id="4" name="Picture 3">
            <a:extLst>
              <a:ext uri="{FF2B5EF4-FFF2-40B4-BE49-F238E27FC236}">
                <a16:creationId xmlns:a16="http://schemas.microsoft.com/office/drawing/2014/main" id="{05C650A3-276C-2D0C-FEA8-FF3CF098718F}"/>
              </a:ext>
            </a:extLst>
          </p:cNvPr>
          <p:cNvPicPr>
            <a:picLocks noChangeAspect="1"/>
          </p:cNvPicPr>
          <p:nvPr/>
        </p:nvPicPr>
        <p:blipFill>
          <a:blip r:embed="rId2"/>
          <a:srcRect b="64822"/>
          <a:stretch/>
        </p:blipFill>
        <p:spPr>
          <a:xfrm>
            <a:off x="1624321" y="1907408"/>
            <a:ext cx="8943358" cy="1325563"/>
          </a:xfrm>
          <a:prstGeom prst="rect">
            <a:avLst/>
          </a:prstGeom>
        </p:spPr>
      </p:pic>
      <p:pic>
        <p:nvPicPr>
          <p:cNvPr id="5" name="Picture 4">
            <a:extLst>
              <a:ext uri="{FF2B5EF4-FFF2-40B4-BE49-F238E27FC236}">
                <a16:creationId xmlns:a16="http://schemas.microsoft.com/office/drawing/2014/main" id="{15A2EF78-43D4-3C73-9A72-58B137D11387}"/>
              </a:ext>
            </a:extLst>
          </p:cNvPr>
          <p:cNvPicPr>
            <a:picLocks noChangeAspect="1"/>
          </p:cNvPicPr>
          <p:nvPr/>
        </p:nvPicPr>
        <p:blipFill>
          <a:blip r:embed="rId3"/>
          <a:stretch>
            <a:fillRect/>
          </a:stretch>
        </p:blipFill>
        <p:spPr>
          <a:xfrm>
            <a:off x="1624321" y="3232971"/>
            <a:ext cx="8962422" cy="2358532"/>
          </a:xfrm>
          <a:prstGeom prst="rect">
            <a:avLst/>
          </a:prstGeom>
        </p:spPr>
      </p:pic>
    </p:spTree>
    <p:extLst>
      <p:ext uri="{BB962C8B-B14F-4D97-AF65-F5344CB8AC3E}">
        <p14:creationId xmlns:p14="http://schemas.microsoft.com/office/powerpoint/2010/main" val="1919154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D4460-1A4C-497A-C41D-A5E12A3500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57FB5-A6C0-A2A8-5F6C-09156E4D1F0C}"/>
              </a:ext>
            </a:extLst>
          </p:cNvPr>
          <p:cNvSpPr>
            <a:spLocks noGrp="1"/>
          </p:cNvSpPr>
          <p:nvPr>
            <p:ph type="title"/>
          </p:nvPr>
        </p:nvSpPr>
        <p:spPr/>
        <p:txBody>
          <a:bodyPr/>
          <a:lstStyle/>
          <a:p>
            <a:r>
              <a:rPr lang="en-US" dirty="0"/>
              <a:t>Base Access Specifications</a:t>
            </a:r>
          </a:p>
        </p:txBody>
      </p:sp>
      <p:pic>
        <p:nvPicPr>
          <p:cNvPr id="1026" name="Picture 2" descr="A chart illustrates levels of access to base class members.">
            <a:extLst>
              <a:ext uri="{FF2B5EF4-FFF2-40B4-BE49-F238E27FC236}">
                <a16:creationId xmlns:a16="http://schemas.microsoft.com/office/drawing/2014/main" id="{F09888BD-5153-9142-254B-149BDBE51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4531" y="1672295"/>
            <a:ext cx="7302938" cy="5081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343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23EB-A03F-9DEB-6C9F-5DFC75647E9D}"/>
              </a:ext>
            </a:extLst>
          </p:cNvPr>
          <p:cNvSpPr>
            <a:spLocks noGrp="1"/>
          </p:cNvSpPr>
          <p:nvPr>
            <p:ph type="title"/>
          </p:nvPr>
        </p:nvSpPr>
        <p:spPr/>
        <p:txBody>
          <a:bodyPr/>
          <a:lstStyle/>
          <a:p>
            <a:r>
              <a:rPr lang="en-US" dirty="0"/>
              <a:t>Constructors, Destructors, and Inheritance</a:t>
            </a:r>
          </a:p>
        </p:txBody>
      </p:sp>
      <p:sp>
        <p:nvSpPr>
          <p:cNvPr id="3" name="Content Placeholder 2">
            <a:extLst>
              <a:ext uri="{FF2B5EF4-FFF2-40B4-BE49-F238E27FC236}">
                <a16:creationId xmlns:a16="http://schemas.microsoft.com/office/drawing/2014/main" id="{9A92A150-051B-7AFC-21E4-2084C0F47F2F}"/>
              </a:ext>
            </a:extLst>
          </p:cNvPr>
          <p:cNvSpPr>
            <a:spLocks noGrp="1"/>
          </p:cNvSpPr>
          <p:nvPr>
            <p:ph idx="1"/>
          </p:nvPr>
        </p:nvSpPr>
        <p:spPr/>
        <p:txBody>
          <a:bodyPr/>
          <a:lstStyle/>
          <a:p>
            <a:r>
              <a:rPr lang="en-US" dirty="0"/>
              <a:t>When an object of a derived class is being instantiated, the base class constructor is called before the derived class constructor.</a:t>
            </a:r>
          </a:p>
          <a:p>
            <a:r>
              <a:rPr lang="en-US" dirty="0"/>
              <a:t>When the object is destroyed, the derived class destructor is called before the base class destructor.</a:t>
            </a:r>
          </a:p>
        </p:txBody>
      </p:sp>
    </p:spTree>
    <p:extLst>
      <p:ext uri="{BB962C8B-B14F-4D97-AF65-F5344CB8AC3E}">
        <p14:creationId xmlns:p14="http://schemas.microsoft.com/office/powerpoint/2010/main" val="2333311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AF8BF-A5A3-0DAC-A966-CD2F93DB0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2D16F-41E4-CFD0-F6C3-05B7F2E73DDC}"/>
              </a:ext>
            </a:extLst>
          </p:cNvPr>
          <p:cNvSpPr>
            <a:spLocks noGrp="1"/>
          </p:cNvSpPr>
          <p:nvPr>
            <p:ph type="title"/>
          </p:nvPr>
        </p:nvSpPr>
        <p:spPr/>
        <p:txBody>
          <a:bodyPr/>
          <a:lstStyle/>
          <a:p>
            <a:r>
              <a:rPr lang="en-US" dirty="0"/>
              <a:t>Constructors, Destructors, and Inheritance</a:t>
            </a:r>
          </a:p>
        </p:txBody>
      </p:sp>
      <p:sp>
        <p:nvSpPr>
          <p:cNvPr id="3" name="Content Placeholder 2">
            <a:extLst>
              <a:ext uri="{FF2B5EF4-FFF2-40B4-BE49-F238E27FC236}">
                <a16:creationId xmlns:a16="http://schemas.microsoft.com/office/drawing/2014/main" id="{87EE68EA-FB95-C24C-8034-4486677A6CAA}"/>
              </a:ext>
            </a:extLst>
          </p:cNvPr>
          <p:cNvSpPr>
            <a:spLocks noGrp="1"/>
          </p:cNvSpPr>
          <p:nvPr>
            <p:ph idx="1"/>
          </p:nvPr>
        </p:nvSpPr>
        <p:spPr/>
        <p:txBody>
          <a:bodyPr>
            <a:normAutofit/>
          </a:bodyPr>
          <a:lstStyle/>
          <a:p>
            <a:r>
              <a:rPr lang="en-US" dirty="0"/>
              <a:t>We know that hat constructors are automatically called by the compiler whenever an object of a class is being created. </a:t>
            </a:r>
          </a:p>
          <a:p>
            <a:r>
              <a:rPr lang="en-US" dirty="0"/>
              <a:t>Because every object of a derived class can be regarded as having an object of the base class embedded within it, the creation of a derived class object involves the creation of the embedded base class object. </a:t>
            </a:r>
          </a:p>
          <a:p>
            <a:r>
              <a:rPr lang="en-US" dirty="0"/>
              <a:t>The compiler will always call the base class constructor before it calls the derived class constructor. </a:t>
            </a:r>
          </a:p>
        </p:txBody>
      </p:sp>
    </p:spTree>
    <p:extLst>
      <p:ext uri="{BB962C8B-B14F-4D97-AF65-F5344CB8AC3E}">
        <p14:creationId xmlns:p14="http://schemas.microsoft.com/office/powerpoint/2010/main" val="3735232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37008-5DDA-9CA1-CE83-D6E8594AC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6BAC5-4682-5745-337B-B4CC6F2540D8}"/>
              </a:ext>
            </a:extLst>
          </p:cNvPr>
          <p:cNvSpPr>
            <a:spLocks noGrp="1"/>
          </p:cNvSpPr>
          <p:nvPr>
            <p:ph type="title"/>
          </p:nvPr>
        </p:nvSpPr>
        <p:spPr/>
        <p:txBody>
          <a:bodyPr/>
          <a:lstStyle/>
          <a:p>
            <a:r>
              <a:rPr lang="en-US" dirty="0"/>
              <a:t>Constructors, Destructors, and Inheritance</a:t>
            </a:r>
          </a:p>
        </p:txBody>
      </p:sp>
      <p:sp>
        <p:nvSpPr>
          <p:cNvPr id="3" name="Content Placeholder 2">
            <a:extLst>
              <a:ext uri="{FF2B5EF4-FFF2-40B4-BE49-F238E27FC236}">
                <a16:creationId xmlns:a16="http://schemas.microsoft.com/office/drawing/2014/main" id="{D99A1148-58AB-D3D3-48CE-04F8648CE0A8}"/>
              </a:ext>
            </a:extLst>
          </p:cNvPr>
          <p:cNvSpPr>
            <a:spLocks noGrp="1"/>
          </p:cNvSpPr>
          <p:nvPr>
            <p:ph idx="1"/>
          </p:nvPr>
        </p:nvSpPr>
        <p:spPr/>
        <p:txBody>
          <a:bodyPr>
            <a:normAutofit/>
          </a:bodyPr>
          <a:lstStyle/>
          <a:p>
            <a:r>
              <a:rPr lang="en-US" dirty="0"/>
              <a:t>This order is reversed upon destruction of a derived class object; the destructor in the derived class is called before the destructor in the base class. </a:t>
            </a:r>
          </a:p>
          <a:p>
            <a:r>
              <a:rPr lang="en-US" dirty="0"/>
              <a:t>This order permits the derived class constructors and destructors to use data or member functions of the base class in doing their work.</a:t>
            </a:r>
          </a:p>
        </p:txBody>
      </p:sp>
    </p:spTree>
    <p:extLst>
      <p:ext uri="{BB962C8B-B14F-4D97-AF65-F5344CB8AC3E}">
        <p14:creationId xmlns:p14="http://schemas.microsoft.com/office/powerpoint/2010/main" val="586244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20D0-C48F-B7A3-B7E8-F53A8E650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72041-7788-4018-6A4A-963CE371BBAE}"/>
              </a:ext>
            </a:extLst>
          </p:cNvPr>
          <p:cNvSpPr>
            <a:spLocks noGrp="1"/>
          </p:cNvSpPr>
          <p:nvPr>
            <p:ph type="title"/>
          </p:nvPr>
        </p:nvSpPr>
        <p:spPr/>
        <p:txBody>
          <a:bodyPr/>
          <a:lstStyle/>
          <a:p>
            <a:r>
              <a:rPr lang="en-US" dirty="0"/>
              <a:t>Constructors, Destructors, and Inheritance</a:t>
            </a:r>
          </a:p>
        </p:txBody>
      </p:sp>
      <p:sp>
        <p:nvSpPr>
          <p:cNvPr id="3" name="Content Placeholder 2">
            <a:extLst>
              <a:ext uri="{FF2B5EF4-FFF2-40B4-BE49-F238E27FC236}">
                <a16:creationId xmlns:a16="http://schemas.microsoft.com/office/drawing/2014/main" id="{83B35087-9DE0-87FA-F4B1-CEAECCDF339C}"/>
              </a:ext>
            </a:extLst>
          </p:cNvPr>
          <p:cNvSpPr>
            <a:spLocks noGrp="1"/>
          </p:cNvSpPr>
          <p:nvPr>
            <p:ph idx="1"/>
          </p:nvPr>
        </p:nvSpPr>
        <p:spPr/>
        <p:txBody>
          <a:bodyPr>
            <a:normAutofit/>
          </a:bodyPr>
          <a:lstStyle/>
          <a:p>
            <a:r>
              <a:rPr lang="en-US" dirty="0"/>
              <a:t>Important to note that </a:t>
            </a:r>
            <a:r>
              <a:rPr lang="en-US" b="1" dirty="0"/>
              <a:t>constructors</a:t>
            </a:r>
            <a:r>
              <a:rPr lang="en-US" dirty="0"/>
              <a:t>, </a:t>
            </a:r>
            <a:r>
              <a:rPr lang="en-US" b="1" dirty="0"/>
              <a:t>destructors</a:t>
            </a:r>
            <a:r>
              <a:rPr lang="en-US" dirty="0"/>
              <a:t>, and </a:t>
            </a:r>
            <a:r>
              <a:rPr lang="en-US" b="1" dirty="0"/>
              <a:t>overloaded assignment operators</a:t>
            </a:r>
            <a:r>
              <a:rPr lang="en-US" dirty="0"/>
              <a:t> of the base class are </a:t>
            </a:r>
            <a:r>
              <a:rPr lang="en-US" b="1" dirty="0"/>
              <a:t>not inherited</a:t>
            </a:r>
            <a:r>
              <a:rPr lang="en-US" dirty="0"/>
              <a:t> by the derived class, regardless of the inheritance type. </a:t>
            </a:r>
          </a:p>
          <a:p>
            <a:r>
              <a:rPr lang="en-US" dirty="0"/>
              <a:t>Constructors, destructors, and overloaded assignment operators are </a:t>
            </a:r>
            <a:r>
              <a:rPr lang="en-US" b="1" dirty="0"/>
              <a:t>not inherited</a:t>
            </a:r>
            <a:r>
              <a:rPr lang="en-US" dirty="0"/>
              <a:t> because each derived class must define its own versions to handle specific initialization, destruction, or assignment needs.</a:t>
            </a:r>
          </a:p>
          <a:p>
            <a:r>
              <a:rPr lang="en-US" dirty="0"/>
              <a:t>The derived class can call the base class’s constructor, destructor, or assignment operator as needed to manage inherited resources.</a:t>
            </a:r>
          </a:p>
        </p:txBody>
      </p:sp>
    </p:spTree>
    <p:extLst>
      <p:ext uri="{BB962C8B-B14F-4D97-AF65-F5344CB8AC3E}">
        <p14:creationId xmlns:p14="http://schemas.microsoft.com/office/powerpoint/2010/main" val="1009310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30F3-5201-BF12-42FA-4B8C7D564E9E}"/>
              </a:ext>
            </a:extLst>
          </p:cNvPr>
          <p:cNvSpPr>
            <a:spLocks noGrp="1"/>
          </p:cNvSpPr>
          <p:nvPr>
            <p:ph type="title"/>
          </p:nvPr>
        </p:nvSpPr>
        <p:spPr/>
        <p:txBody>
          <a:bodyPr/>
          <a:lstStyle/>
          <a:p>
            <a:r>
              <a:rPr lang="en-US" dirty="0"/>
              <a:t>Multiple Inheritance</a:t>
            </a:r>
          </a:p>
        </p:txBody>
      </p:sp>
      <p:sp>
        <p:nvSpPr>
          <p:cNvPr id="3" name="Content Placeholder 2">
            <a:extLst>
              <a:ext uri="{FF2B5EF4-FFF2-40B4-BE49-F238E27FC236}">
                <a16:creationId xmlns:a16="http://schemas.microsoft.com/office/drawing/2014/main" id="{78C61921-44A8-5192-6754-C5DE1607AACE}"/>
              </a:ext>
            </a:extLst>
          </p:cNvPr>
          <p:cNvSpPr>
            <a:spLocks noGrp="1"/>
          </p:cNvSpPr>
          <p:nvPr>
            <p:ph idx="1"/>
          </p:nvPr>
        </p:nvSpPr>
        <p:spPr/>
        <p:txBody>
          <a:bodyPr/>
          <a:lstStyle/>
          <a:p>
            <a:r>
              <a:rPr lang="en-US" dirty="0"/>
              <a:t>C++ supports </a:t>
            </a:r>
            <a:r>
              <a:rPr lang="en-US" dirty="0">
                <a:hlinkClick r:id="rId2">
                  <a:extLst>
                    <a:ext uri="{A12FA001-AC4F-418D-AE19-62706E023703}">
                      <ahyp:hlinkClr xmlns:ahyp="http://schemas.microsoft.com/office/drawing/2018/hyperlinkcolor" val="tx"/>
                    </a:ext>
                  </a:extLst>
                </a:hlinkClick>
              </a:rPr>
              <a:t>multiple inheritance</a:t>
            </a:r>
            <a:r>
              <a:rPr lang="en-US" dirty="0"/>
              <a:t> in which a derived class simultaneously derives from two or more base classes. </a:t>
            </a:r>
          </a:p>
          <a:p>
            <a:r>
              <a:rPr lang="en-US" dirty="0"/>
              <a:t>Though interesting, multiple inheritance can lead to programs that are very difficult to understand and is rarely useful in practice. </a:t>
            </a:r>
          </a:p>
          <a:p>
            <a:r>
              <a:rPr lang="en-US" dirty="0"/>
              <a:t>We will not go through that in this semester. </a:t>
            </a:r>
          </a:p>
        </p:txBody>
      </p:sp>
    </p:spTree>
    <p:extLst>
      <p:ext uri="{BB962C8B-B14F-4D97-AF65-F5344CB8AC3E}">
        <p14:creationId xmlns:p14="http://schemas.microsoft.com/office/powerpoint/2010/main" val="5051932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2747A-A15F-4C8A-57F5-458D1CB6E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FBCA3E-4209-66FD-2A15-20A69A720262}"/>
              </a:ext>
            </a:extLst>
          </p:cNvPr>
          <p:cNvSpPr>
            <a:spLocks noGrp="1"/>
          </p:cNvSpPr>
          <p:nvPr>
            <p:ph type="title"/>
          </p:nvPr>
        </p:nvSpPr>
        <p:spPr/>
        <p:txBody>
          <a:bodyPr/>
          <a:lstStyle/>
          <a:p>
            <a:r>
              <a:rPr lang="en-US" dirty="0"/>
              <a:t>Example</a:t>
            </a:r>
          </a:p>
        </p:txBody>
      </p:sp>
      <p:pic>
        <p:nvPicPr>
          <p:cNvPr id="5" name="Picture 4">
            <a:extLst>
              <a:ext uri="{FF2B5EF4-FFF2-40B4-BE49-F238E27FC236}">
                <a16:creationId xmlns:a16="http://schemas.microsoft.com/office/drawing/2014/main" id="{9185AB54-97E4-C66C-823A-2DB7B01E587A}"/>
              </a:ext>
            </a:extLst>
          </p:cNvPr>
          <p:cNvPicPr>
            <a:picLocks noChangeAspect="1"/>
          </p:cNvPicPr>
          <p:nvPr/>
        </p:nvPicPr>
        <p:blipFill>
          <a:blip r:embed="rId3"/>
          <a:stretch>
            <a:fillRect/>
          </a:stretch>
        </p:blipFill>
        <p:spPr>
          <a:xfrm>
            <a:off x="6311836" y="4644210"/>
            <a:ext cx="4687459" cy="2213790"/>
          </a:xfrm>
          <a:prstGeom prst="rect">
            <a:avLst/>
          </a:prstGeom>
        </p:spPr>
      </p:pic>
      <p:pic>
        <p:nvPicPr>
          <p:cNvPr id="6" name="Picture 5">
            <a:extLst>
              <a:ext uri="{FF2B5EF4-FFF2-40B4-BE49-F238E27FC236}">
                <a16:creationId xmlns:a16="http://schemas.microsoft.com/office/drawing/2014/main" id="{9BB2A205-EE7B-61FE-F840-B94ED6D52004}"/>
              </a:ext>
            </a:extLst>
          </p:cNvPr>
          <p:cNvPicPr>
            <a:picLocks noChangeAspect="1"/>
          </p:cNvPicPr>
          <p:nvPr/>
        </p:nvPicPr>
        <p:blipFill>
          <a:blip r:embed="rId4"/>
          <a:stretch>
            <a:fillRect/>
          </a:stretch>
        </p:blipFill>
        <p:spPr>
          <a:xfrm>
            <a:off x="155028" y="1719757"/>
            <a:ext cx="5330333" cy="4627183"/>
          </a:xfrm>
          <a:prstGeom prst="rect">
            <a:avLst/>
          </a:prstGeom>
        </p:spPr>
      </p:pic>
      <p:pic>
        <p:nvPicPr>
          <p:cNvPr id="7" name="Picture 6">
            <a:extLst>
              <a:ext uri="{FF2B5EF4-FFF2-40B4-BE49-F238E27FC236}">
                <a16:creationId xmlns:a16="http://schemas.microsoft.com/office/drawing/2014/main" id="{84665788-9C70-E6CE-6697-8DCAA62608E0}"/>
              </a:ext>
            </a:extLst>
          </p:cNvPr>
          <p:cNvPicPr>
            <a:picLocks noChangeAspect="1"/>
          </p:cNvPicPr>
          <p:nvPr/>
        </p:nvPicPr>
        <p:blipFill>
          <a:blip r:embed="rId5"/>
          <a:stretch>
            <a:fillRect/>
          </a:stretch>
        </p:blipFill>
        <p:spPr>
          <a:xfrm>
            <a:off x="6311836" y="0"/>
            <a:ext cx="4687459" cy="4402754"/>
          </a:xfrm>
          <a:prstGeom prst="rect">
            <a:avLst/>
          </a:prstGeom>
        </p:spPr>
      </p:pic>
    </p:spTree>
    <p:extLst>
      <p:ext uri="{BB962C8B-B14F-4D97-AF65-F5344CB8AC3E}">
        <p14:creationId xmlns:p14="http://schemas.microsoft.com/office/powerpoint/2010/main" val="20907449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DDC0F-935B-70C3-3CBD-2D4F58119BD3}"/>
              </a:ext>
            </a:extLst>
          </p:cNvPr>
          <p:cNvSpPr>
            <a:spLocks noGrp="1"/>
          </p:cNvSpPr>
          <p:nvPr>
            <p:ph type="title"/>
          </p:nvPr>
        </p:nvSpPr>
        <p:spPr/>
        <p:txBody>
          <a:bodyPr/>
          <a:lstStyle/>
          <a:p>
            <a:r>
              <a:rPr lang="en-US" dirty="0"/>
              <a:t>Passing Arguments to Base Class Constructors</a:t>
            </a:r>
          </a:p>
        </p:txBody>
      </p:sp>
      <p:sp>
        <p:nvSpPr>
          <p:cNvPr id="3" name="Content Placeholder 2">
            <a:extLst>
              <a:ext uri="{FF2B5EF4-FFF2-40B4-BE49-F238E27FC236}">
                <a16:creationId xmlns:a16="http://schemas.microsoft.com/office/drawing/2014/main" id="{DDDA85DC-8DAE-5F23-E366-1F9E74240436}"/>
              </a:ext>
            </a:extLst>
          </p:cNvPr>
          <p:cNvSpPr>
            <a:spLocks noGrp="1"/>
          </p:cNvSpPr>
          <p:nvPr>
            <p:ph idx="1"/>
          </p:nvPr>
        </p:nvSpPr>
        <p:spPr/>
        <p:txBody>
          <a:bodyPr/>
          <a:lstStyle/>
          <a:p>
            <a:r>
              <a:rPr lang="en-US" dirty="0">
                <a:effectLst/>
              </a:rPr>
              <a:t>As already mentioned, the compiler will automatically call a base class constructor before executing the derived class constructor.</a:t>
            </a:r>
          </a:p>
          <a:p>
            <a:r>
              <a:rPr lang="en-US" dirty="0">
                <a:effectLst/>
              </a:rPr>
              <a:t>The compiler’s default action is to call the default constructor in the base class. </a:t>
            </a:r>
          </a:p>
          <a:p>
            <a:r>
              <a:rPr lang="en-US" dirty="0">
                <a:effectLst/>
              </a:rPr>
              <a:t>Some classes, however, may not have a default constructor. </a:t>
            </a:r>
          </a:p>
          <a:p>
            <a:r>
              <a:rPr lang="en-US" dirty="0">
                <a:effectLst/>
              </a:rPr>
              <a:t>Also, the programmer may want to specify which of several base class constructors should be called during the creation of a derived class object.</a:t>
            </a:r>
          </a:p>
          <a:p>
            <a:endParaRPr lang="en-US" dirty="0"/>
          </a:p>
        </p:txBody>
      </p:sp>
    </p:spTree>
    <p:extLst>
      <p:ext uri="{BB962C8B-B14F-4D97-AF65-F5344CB8AC3E}">
        <p14:creationId xmlns:p14="http://schemas.microsoft.com/office/powerpoint/2010/main" val="2491117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4971-5201-7E97-B987-FCF99E5D9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BAB7B-370C-168A-039C-E42F8336EABE}"/>
              </a:ext>
            </a:extLst>
          </p:cNvPr>
          <p:cNvSpPr>
            <a:spLocks noGrp="1"/>
          </p:cNvSpPr>
          <p:nvPr>
            <p:ph type="title"/>
          </p:nvPr>
        </p:nvSpPr>
        <p:spPr/>
        <p:txBody>
          <a:bodyPr/>
          <a:lstStyle/>
          <a:p>
            <a:r>
              <a:rPr lang="en-US" dirty="0"/>
              <a:t>Passing Arguments to Base Class Constructors</a:t>
            </a:r>
          </a:p>
        </p:txBody>
      </p:sp>
      <p:sp>
        <p:nvSpPr>
          <p:cNvPr id="3" name="Content Placeholder 2">
            <a:extLst>
              <a:ext uri="{FF2B5EF4-FFF2-40B4-BE49-F238E27FC236}">
                <a16:creationId xmlns:a16="http://schemas.microsoft.com/office/drawing/2014/main" id="{CE509E97-B36C-FF36-8C49-080A1E796B1D}"/>
              </a:ext>
            </a:extLst>
          </p:cNvPr>
          <p:cNvSpPr>
            <a:spLocks noGrp="1"/>
          </p:cNvSpPr>
          <p:nvPr>
            <p:ph idx="1"/>
          </p:nvPr>
        </p:nvSpPr>
        <p:spPr/>
        <p:txBody>
          <a:bodyPr/>
          <a:lstStyle/>
          <a:p>
            <a:r>
              <a:rPr lang="en-US" dirty="0"/>
              <a:t>In these cases, the programmer must explicitly specify which base class constructor should be called by the compiler. </a:t>
            </a:r>
          </a:p>
          <a:p>
            <a:r>
              <a:rPr lang="en-US" dirty="0"/>
              <a:t>This is done by specifying the arguments to the selected base class constructor in the definition of the derived class constructor.</a:t>
            </a:r>
          </a:p>
        </p:txBody>
      </p:sp>
    </p:spTree>
    <p:extLst>
      <p:ext uri="{BB962C8B-B14F-4D97-AF65-F5344CB8AC3E}">
        <p14:creationId xmlns:p14="http://schemas.microsoft.com/office/powerpoint/2010/main" val="1421171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7D70-719F-FB3C-645B-3D9EFDE94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5A288-5122-D5F3-7653-B070A7BACCB8}"/>
              </a:ext>
            </a:extLst>
          </p:cNvPr>
          <p:cNvSpPr>
            <a:spLocks noGrp="1"/>
          </p:cNvSpPr>
          <p:nvPr>
            <p:ph type="title"/>
          </p:nvPr>
        </p:nvSpPr>
        <p:spPr/>
        <p:txBody>
          <a:bodyPr/>
          <a:lstStyle/>
          <a:p>
            <a:r>
              <a:rPr lang="en-US" dirty="0"/>
              <a:t>Passing Arguments to Base Class Constructors</a:t>
            </a:r>
          </a:p>
        </p:txBody>
      </p:sp>
      <p:sp>
        <p:nvSpPr>
          <p:cNvPr id="3" name="Content Placeholder 2">
            <a:extLst>
              <a:ext uri="{FF2B5EF4-FFF2-40B4-BE49-F238E27FC236}">
                <a16:creationId xmlns:a16="http://schemas.microsoft.com/office/drawing/2014/main" id="{A83CB72B-FF7C-369E-5032-23E885FF7814}"/>
              </a:ext>
            </a:extLst>
          </p:cNvPr>
          <p:cNvSpPr>
            <a:spLocks noGrp="1"/>
          </p:cNvSpPr>
          <p:nvPr>
            <p:ph idx="1"/>
          </p:nvPr>
        </p:nvSpPr>
        <p:spPr>
          <a:xfrm>
            <a:off x="838200" y="1825625"/>
            <a:ext cx="5888421" cy="4351338"/>
          </a:xfrm>
        </p:spPr>
        <p:txBody>
          <a:bodyPr>
            <a:normAutofit lnSpcReduction="10000"/>
          </a:bodyPr>
          <a:lstStyle/>
          <a:p>
            <a:r>
              <a:rPr lang="en-US" dirty="0"/>
              <a:t>The syntax for passing arguments to base class constructors is simple:</a:t>
            </a:r>
          </a:p>
          <a:p>
            <a:r>
              <a:rPr lang="en-US" b="1" dirty="0"/>
              <a:t>The header for the derived class constructor is followed by a colon, an indication of which base class constructor to call, and the arguments to be passed. </a:t>
            </a:r>
          </a:p>
          <a:p>
            <a:r>
              <a:rPr lang="en-US" dirty="0"/>
              <a:t>Example, we will modify the constructor for the Faculty class so that it invokes a constructor in the Person class.</a:t>
            </a:r>
          </a:p>
        </p:txBody>
      </p:sp>
      <p:pic>
        <p:nvPicPr>
          <p:cNvPr id="4" name="Picture 3">
            <a:extLst>
              <a:ext uri="{FF2B5EF4-FFF2-40B4-BE49-F238E27FC236}">
                <a16:creationId xmlns:a16="http://schemas.microsoft.com/office/drawing/2014/main" id="{3E07A169-199F-1C92-C080-A9CBBAC912C3}"/>
              </a:ext>
            </a:extLst>
          </p:cNvPr>
          <p:cNvPicPr>
            <a:picLocks noChangeAspect="1"/>
          </p:cNvPicPr>
          <p:nvPr/>
        </p:nvPicPr>
        <p:blipFill>
          <a:blip r:embed="rId3"/>
          <a:stretch>
            <a:fillRect/>
          </a:stretch>
        </p:blipFill>
        <p:spPr>
          <a:xfrm>
            <a:off x="7182507" y="1825625"/>
            <a:ext cx="5009493" cy="3512403"/>
          </a:xfrm>
          <a:prstGeom prst="rect">
            <a:avLst/>
          </a:prstGeom>
        </p:spPr>
      </p:pic>
    </p:spTree>
    <p:extLst>
      <p:ext uri="{BB962C8B-B14F-4D97-AF65-F5344CB8AC3E}">
        <p14:creationId xmlns:p14="http://schemas.microsoft.com/office/powerpoint/2010/main" val="3693640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34C5-608A-854D-6909-DFE2B06A7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F0CAB-1FF0-0A26-FC6A-F1398B01AF83}"/>
              </a:ext>
            </a:extLst>
          </p:cNvPr>
          <p:cNvSpPr>
            <a:spLocks noGrp="1"/>
          </p:cNvSpPr>
          <p:nvPr>
            <p:ph type="title"/>
          </p:nvPr>
        </p:nvSpPr>
        <p:spPr/>
        <p:txBody>
          <a:bodyPr/>
          <a:lstStyle/>
          <a:p>
            <a:r>
              <a:rPr lang="en-US" dirty="0"/>
              <a:t>Passing Arguments to Base Class Constructors</a:t>
            </a:r>
          </a:p>
        </p:txBody>
      </p:sp>
      <p:sp>
        <p:nvSpPr>
          <p:cNvPr id="3" name="Content Placeholder 2">
            <a:extLst>
              <a:ext uri="{FF2B5EF4-FFF2-40B4-BE49-F238E27FC236}">
                <a16:creationId xmlns:a16="http://schemas.microsoft.com/office/drawing/2014/main" id="{B8A286D0-F1D3-C74E-C8BD-3290FB9AFAB6}"/>
              </a:ext>
            </a:extLst>
          </p:cNvPr>
          <p:cNvSpPr>
            <a:spLocks noGrp="1"/>
          </p:cNvSpPr>
          <p:nvPr>
            <p:ph idx="1"/>
          </p:nvPr>
        </p:nvSpPr>
        <p:spPr>
          <a:xfrm>
            <a:off x="838200" y="1825625"/>
            <a:ext cx="11038490" cy="4351338"/>
          </a:xfrm>
        </p:spPr>
        <p:txBody>
          <a:bodyPr>
            <a:normAutofit/>
          </a:bodyPr>
          <a:lstStyle/>
          <a:p>
            <a:r>
              <a:rPr lang="en-US" dirty="0"/>
              <a:t>Notice that one of the arguments passed to the derived class constructor is passed to the base class constructor. </a:t>
            </a:r>
          </a:p>
          <a:p>
            <a:r>
              <a:rPr lang="en-US" dirty="0"/>
              <a:t>In general, the argument passed to the base class constructor may be any expression and may involve any variables that are in scope at the point of the call to the derived class constructor. </a:t>
            </a:r>
          </a:p>
          <a:p>
            <a:r>
              <a:rPr lang="en-US" dirty="0"/>
              <a:t>For example, a string literal, or even a global string variable, could have been passed as the argument to the Person constructor. </a:t>
            </a:r>
          </a:p>
        </p:txBody>
      </p:sp>
    </p:spTree>
    <p:extLst>
      <p:ext uri="{BB962C8B-B14F-4D97-AF65-F5344CB8AC3E}">
        <p14:creationId xmlns:p14="http://schemas.microsoft.com/office/powerpoint/2010/main" val="23226055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F46F-CE1A-26F5-4078-327EAC98A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E75D3-B8D0-3105-C019-2271316908A4}"/>
              </a:ext>
            </a:extLst>
          </p:cNvPr>
          <p:cNvSpPr>
            <a:spLocks noGrp="1"/>
          </p:cNvSpPr>
          <p:nvPr>
            <p:ph type="title"/>
          </p:nvPr>
        </p:nvSpPr>
        <p:spPr/>
        <p:txBody>
          <a:bodyPr/>
          <a:lstStyle/>
          <a:p>
            <a:r>
              <a:rPr lang="en-US" dirty="0"/>
              <a:t>Passing Arguments to Base Class Constructors</a:t>
            </a:r>
          </a:p>
        </p:txBody>
      </p:sp>
      <p:sp>
        <p:nvSpPr>
          <p:cNvPr id="3" name="Content Placeholder 2">
            <a:extLst>
              <a:ext uri="{FF2B5EF4-FFF2-40B4-BE49-F238E27FC236}">
                <a16:creationId xmlns:a16="http://schemas.microsoft.com/office/drawing/2014/main" id="{A095EECA-7F8F-989A-C359-00015813BA69}"/>
              </a:ext>
            </a:extLst>
          </p:cNvPr>
          <p:cNvSpPr>
            <a:spLocks noGrp="1"/>
          </p:cNvSpPr>
          <p:nvPr>
            <p:ph idx="1"/>
          </p:nvPr>
        </p:nvSpPr>
        <p:spPr>
          <a:xfrm>
            <a:off x="838200" y="1825625"/>
            <a:ext cx="11038490" cy="4351338"/>
          </a:xfrm>
        </p:spPr>
        <p:txBody>
          <a:bodyPr>
            <a:normAutofit/>
          </a:bodyPr>
          <a:lstStyle/>
          <a:p>
            <a:r>
              <a:rPr lang="en-US" dirty="0"/>
              <a:t>If, for example, it was desired that the name of a faculty member default to that of the ubiquitous “Dr. Staff,” the following constructor would be just what we want:</a:t>
            </a:r>
          </a:p>
        </p:txBody>
      </p:sp>
      <p:pic>
        <p:nvPicPr>
          <p:cNvPr id="5" name="Picture 4" descr="A white background with black text&#10;&#10;Description automatically generated">
            <a:extLst>
              <a:ext uri="{FF2B5EF4-FFF2-40B4-BE49-F238E27FC236}">
                <a16:creationId xmlns:a16="http://schemas.microsoft.com/office/drawing/2014/main" id="{00BB94BE-985B-6E17-25EB-245A020E4F10}"/>
              </a:ext>
            </a:extLst>
          </p:cNvPr>
          <p:cNvPicPr>
            <a:picLocks noChangeAspect="1"/>
          </p:cNvPicPr>
          <p:nvPr/>
        </p:nvPicPr>
        <p:blipFill>
          <a:blip r:embed="rId3"/>
          <a:stretch>
            <a:fillRect/>
          </a:stretch>
        </p:blipFill>
        <p:spPr>
          <a:xfrm>
            <a:off x="3937000" y="3674417"/>
            <a:ext cx="4318000" cy="1295400"/>
          </a:xfrm>
          <a:prstGeom prst="rect">
            <a:avLst/>
          </a:prstGeom>
        </p:spPr>
      </p:pic>
    </p:spTree>
    <p:extLst>
      <p:ext uri="{BB962C8B-B14F-4D97-AF65-F5344CB8AC3E}">
        <p14:creationId xmlns:p14="http://schemas.microsoft.com/office/powerpoint/2010/main" val="293858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03C61-3B05-A70B-95BC-0C6DCD2716A5}"/>
              </a:ext>
            </a:extLst>
          </p:cNvPr>
          <p:cNvSpPr>
            <a:spLocks noGrp="1"/>
          </p:cNvSpPr>
          <p:nvPr>
            <p:ph type="title"/>
          </p:nvPr>
        </p:nvSpPr>
        <p:spPr>
          <a:xfrm>
            <a:off x="838200" y="365125"/>
            <a:ext cx="2367455" cy="1325563"/>
          </a:xfrm>
        </p:spPr>
        <p:txBody>
          <a:bodyPr/>
          <a:lstStyle/>
          <a:p>
            <a:r>
              <a:rPr lang="en-US" dirty="0"/>
              <a:t>Example</a:t>
            </a:r>
          </a:p>
        </p:txBody>
      </p:sp>
      <p:pic>
        <p:nvPicPr>
          <p:cNvPr id="4" name="Picture 3">
            <a:extLst>
              <a:ext uri="{FF2B5EF4-FFF2-40B4-BE49-F238E27FC236}">
                <a16:creationId xmlns:a16="http://schemas.microsoft.com/office/drawing/2014/main" id="{5500A525-0C92-8F59-2B6D-40421A9196F2}"/>
              </a:ext>
            </a:extLst>
          </p:cNvPr>
          <p:cNvPicPr>
            <a:picLocks noChangeAspect="1"/>
          </p:cNvPicPr>
          <p:nvPr/>
        </p:nvPicPr>
        <p:blipFill>
          <a:blip r:embed="rId2"/>
          <a:stretch>
            <a:fillRect/>
          </a:stretch>
        </p:blipFill>
        <p:spPr>
          <a:xfrm>
            <a:off x="5969876" y="109045"/>
            <a:ext cx="5588000" cy="2667000"/>
          </a:xfrm>
          <a:prstGeom prst="rect">
            <a:avLst/>
          </a:prstGeom>
        </p:spPr>
      </p:pic>
      <p:pic>
        <p:nvPicPr>
          <p:cNvPr id="5" name="Picture 4">
            <a:extLst>
              <a:ext uri="{FF2B5EF4-FFF2-40B4-BE49-F238E27FC236}">
                <a16:creationId xmlns:a16="http://schemas.microsoft.com/office/drawing/2014/main" id="{701E7001-D774-BC09-936B-715C361A3122}"/>
              </a:ext>
            </a:extLst>
          </p:cNvPr>
          <p:cNvPicPr>
            <a:picLocks noChangeAspect="1"/>
          </p:cNvPicPr>
          <p:nvPr/>
        </p:nvPicPr>
        <p:blipFill>
          <a:blip r:embed="rId3"/>
          <a:stretch>
            <a:fillRect/>
          </a:stretch>
        </p:blipFill>
        <p:spPr>
          <a:xfrm>
            <a:off x="5969876" y="3136900"/>
            <a:ext cx="6096000" cy="3721100"/>
          </a:xfrm>
          <a:prstGeom prst="rect">
            <a:avLst/>
          </a:prstGeom>
        </p:spPr>
      </p:pic>
      <p:sp>
        <p:nvSpPr>
          <p:cNvPr id="7" name="TextBox 6">
            <a:extLst>
              <a:ext uri="{FF2B5EF4-FFF2-40B4-BE49-F238E27FC236}">
                <a16:creationId xmlns:a16="http://schemas.microsoft.com/office/drawing/2014/main" id="{BD8420F7-BE67-AEB1-DF9E-3F363EEEFF39}"/>
              </a:ext>
            </a:extLst>
          </p:cNvPr>
          <p:cNvSpPr txBox="1"/>
          <p:nvPr/>
        </p:nvSpPr>
        <p:spPr>
          <a:xfrm>
            <a:off x="838200" y="2301765"/>
            <a:ext cx="4288221" cy="2893100"/>
          </a:xfrm>
          <a:prstGeom prst="rect">
            <a:avLst/>
          </a:prstGeom>
          <a:noFill/>
        </p:spPr>
        <p:txBody>
          <a:bodyPr wrap="square" rtlCol="0">
            <a:spAutoFit/>
          </a:bodyPr>
          <a:lstStyle/>
          <a:p>
            <a:r>
              <a:rPr lang="en-US" sz="2600" dirty="0"/>
              <a:t>It is important to remember that the arguments to the base class constructor must be specified in the </a:t>
            </a:r>
            <a:r>
              <a:rPr lang="en-US" sz="2600" i="1" dirty="0"/>
              <a:t>definition</a:t>
            </a:r>
            <a:r>
              <a:rPr lang="en-US" sz="2600" dirty="0"/>
              <a:t> of the derived class constructor, and not in its </a:t>
            </a:r>
            <a:r>
              <a:rPr lang="en-US" sz="2600" i="1" dirty="0"/>
              <a:t>declaration</a:t>
            </a:r>
            <a:r>
              <a:rPr lang="en-US" sz="2600" dirty="0"/>
              <a:t>.</a:t>
            </a:r>
          </a:p>
        </p:txBody>
      </p:sp>
    </p:spTree>
    <p:extLst>
      <p:ext uri="{BB962C8B-B14F-4D97-AF65-F5344CB8AC3E}">
        <p14:creationId xmlns:p14="http://schemas.microsoft.com/office/powerpoint/2010/main" val="3444157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AD52D-E4BE-7B93-005D-4E0EA4891A82}"/>
              </a:ext>
            </a:extLst>
          </p:cNvPr>
          <p:cNvSpPr>
            <a:spLocks noGrp="1"/>
          </p:cNvSpPr>
          <p:nvPr>
            <p:ph type="title"/>
          </p:nvPr>
        </p:nvSpPr>
        <p:spPr/>
        <p:txBody>
          <a:bodyPr/>
          <a:lstStyle/>
          <a:p>
            <a:r>
              <a:rPr lang="en-US" dirty="0"/>
              <a:t>Overriding Base Class Functions</a:t>
            </a:r>
          </a:p>
        </p:txBody>
      </p:sp>
      <p:sp>
        <p:nvSpPr>
          <p:cNvPr id="3" name="Content Placeholder 2">
            <a:extLst>
              <a:ext uri="{FF2B5EF4-FFF2-40B4-BE49-F238E27FC236}">
                <a16:creationId xmlns:a16="http://schemas.microsoft.com/office/drawing/2014/main" id="{501ED723-8EAD-1C2E-4F69-7857DC0CB62F}"/>
              </a:ext>
            </a:extLst>
          </p:cNvPr>
          <p:cNvSpPr>
            <a:spLocks noGrp="1"/>
          </p:cNvSpPr>
          <p:nvPr>
            <p:ph idx="1"/>
          </p:nvPr>
        </p:nvSpPr>
        <p:spPr/>
        <p:txBody>
          <a:bodyPr/>
          <a:lstStyle/>
          <a:p>
            <a:r>
              <a:rPr lang="en-US" dirty="0"/>
              <a:t>A derived class can override a member function of its base class by defining a derived class member function with the same name and parameter list.</a:t>
            </a:r>
          </a:p>
          <a:p>
            <a:r>
              <a:rPr lang="en-US" dirty="0">
                <a:effectLst/>
              </a:rPr>
              <a:t>It is often useful for a derived class to define its own version of a member function inherited from its base class. </a:t>
            </a:r>
          </a:p>
          <a:p>
            <a:r>
              <a:rPr lang="en-US" dirty="0">
                <a:effectLst/>
              </a:rPr>
              <a:t>This may be done to specialize the member function to the needs of the derived class. </a:t>
            </a:r>
          </a:p>
          <a:p>
            <a:r>
              <a:rPr lang="en-US" dirty="0">
                <a:effectLst/>
              </a:rPr>
              <a:t>When this happens, the base class member function is said to be </a:t>
            </a:r>
            <a:r>
              <a:rPr lang="en-US" b="1" dirty="0">
                <a:effectLst/>
                <a:hlinkClick r:id="rId2">
                  <a:extLst>
                    <a:ext uri="{A12FA001-AC4F-418D-AE19-62706E023703}">
                      <ahyp:hlinkClr xmlns:ahyp="http://schemas.microsoft.com/office/drawing/2018/hyperlinkcolor" val="tx"/>
                    </a:ext>
                  </a:extLst>
                </a:hlinkClick>
              </a:rPr>
              <a:t>overridden</a:t>
            </a:r>
            <a:r>
              <a:rPr lang="en-US" dirty="0">
                <a:effectLst/>
              </a:rPr>
              <a:t>, or </a:t>
            </a:r>
            <a:r>
              <a:rPr lang="en-US" b="1" dirty="0">
                <a:effectLst/>
                <a:hlinkClick r:id="rId2">
                  <a:extLst>
                    <a:ext uri="{A12FA001-AC4F-418D-AE19-62706E023703}">
                      <ahyp:hlinkClr xmlns:ahyp="http://schemas.microsoft.com/office/drawing/2018/hyperlinkcolor" val="tx"/>
                    </a:ext>
                  </a:extLst>
                </a:hlinkClick>
              </a:rPr>
              <a:t>redefined</a:t>
            </a:r>
            <a:r>
              <a:rPr lang="en-US" dirty="0">
                <a:effectLst/>
              </a:rPr>
              <a:t>, by the derived class.</a:t>
            </a:r>
          </a:p>
          <a:p>
            <a:endParaRPr lang="en-US" dirty="0"/>
          </a:p>
        </p:txBody>
      </p:sp>
    </p:spTree>
    <p:extLst>
      <p:ext uri="{BB962C8B-B14F-4D97-AF65-F5344CB8AC3E}">
        <p14:creationId xmlns:p14="http://schemas.microsoft.com/office/powerpoint/2010/main" val="725555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64D0A-CF4C-A757-AE13-3272D79A3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B7305-FB40-D57F-4F9F-FD2DCC18DC5A}"/>
              </a:ext>
            </a:extLst>
          </p:cNvPr>
          <p:cNvSpPr>
            <a:spLocks noGrp="1"/>
          </p:cNvSpPr>
          <p:nvPr>
            <p:ph type="title"/>
          </p:nvPr>
        </p:nvSpPr>
        <p:spPr/>
        <p:txBody>
          <a:bodyPr/>
          <a:lstStyle/>
          <a:p>
            <a:r>
              <a:rPr lang="en-US" dirty="0"/>
              <a:t>Overriding Base Class Functions</a:t>
            </a:r>
          </a:p>
        </p:txBody>
      </p:sp>
      <p:sp>
        <p:nvSpPr>
          <p:cNvPr id="3" name="Content Placeholder 2">
            <a:extLst>
              <a:ext uri="{FF2B5EF4-FFF2-40B4-BE49-F238E27FC236}">
                <a16:creationId xmlns:a16="http://schemas.microsoft.com/office/drawing/2014/main" id="{00763A7C-9784-3301-D7E3-0D03A3363F2B}"/>
              </a:ext>
            </a:extLst>
          </p:cNvPr>
          <p:cNvSpPr>
            <a:spLocks noGrp="1"/>
          </p:cNvSpPr>
          <p:nvPr>
            <p:ph idx="1"/>
          </p:nvPr>
        </p:nvSpPr>
        <p:spPr/>
        <p:txBody>
          <a:bodyPr/>
          <a:lstStyle/>
          <a:p>
            <a:r>
              <a:rPr lang="en-US" dirty="0"/>
              <a:t>A derived class can override a member function of its base class by defining a derived class member function with the same name and parameter list.</a:t>
            </a:r>
          </a:p>
          <a:p>
            <a:r>
              <a:rPr lang="en-US" dirty="0">
                <a:effectLst/>
              </a:rPr>
              <a:t>It is often useful for a derived class to define its own version of a member function inherited from its base class. </a:t>
            </a:r>
          </a:p>
          <a:p>
            <a:r>
              <a:rPr lang="en-US" dirty="0">
                <a:effectLst/>
              </a:rPr>
              <a:t>This may be done to specialize the member function to the needs of the derived class. </a:t>
            </a:r>
          </a:p>
          <a:p>
            <a:r>
              <a:rPr lang="en-US" dirty="0">
                <a:effectLst/>
              </a:rPr>
              <a:t>When this happens, the base class member function is said to be </a:t>
            </a:r>
            <a:r>
              <a:rPr lang="en-US" b="1" dirty="0">
                <a:effectLst/>
                <a:hlinkClick r:id="rId2">
                  <a:extLst>
                    <a:ext uri="{A12FA001-AC4F-418D-AE19-62706E023703}">
                      <ahyp:hlinkClr xmlns:ahyp="http://schemas.microsoft.com/office/drawing/2018/hyperlinkcolor" val="tx"/>
                    </a:ext>
                  </a:extLst>
                </a:hlinkClick>
              </a:rPr>
              <a:t>overridden</a:t>
            </a:r>
            <a:r>
              <a:rPr lang="en-US" dirty="0">
                <a:effectLst/>
              </a:rPr>
              <a:t>, or </a:t>
            </a:r>
            <a:r>
              <a:rPr lang="en-US" b="1" dirty="0">
                <a:effectLst/>
                <a:hlinkClick r:id="rId2">
                  <a:extLst>
                    <a:ext uri="{A12FA001-AC4F-418D-AE19-62706E023703}">
                      <ahyp:hlinkClr xmlns:ahyp="http://schemas.microsoft.com/office/drawing/2018/hyperlinkcolor" val="tx"/>
                    </a:ext>
                  </a:extLst>
                </a:hlinkClick>
              </a:rPr>
              <a:t>redefined</a:t>
            </a:r>
            <a:r>
              <a:rPr lang="en-US" dirty="0">
                <a:effectLst/>
              </a:rPr>
              <a:t>, by the derived class.</a:t>
            </a:r>
          </a:p>
          <a:p>
            <a:endParaRPr lang="en-US" dirty="0"/>
          </a:p>
        </p:txBody>
      </p:sp>
    </p:spTree>
    <p:extLst>
      <p:ext uri="{BB962C8B-B14F-4D97-AF65-F5344CB8AC3E}">
        <p14:creationId xmlns:p14="http://schemas.microsoft.com/office/powerpoint/2010/main" val="37492594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0D66-DDF2-61EE-8E81-60F93670A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4BD45-6B4D-0128-B6B1-43F81033C64F}"/>
              </a:ext>
            </a:extLst>
          </p:cNvPr>
          <p:cNvSpPr>
            <a:spLocks noGrp="1"/>
          </p:cNvSpPr>
          <p:nvPr>
            <p:ph type="title"/>
          </p:nvPr>
        </p:nvSpPr>
        <p:spPr/>
        <p:txBody>
          <a:bodyPr/>
          <a:lstStyle/>
          <a:p>
            <a:r>
              <a:rPr lang="en-US" dirty="0"/>
              <a:t>Overriding Base Class Functions</a:t>
            </a:r>
          </a:p>
        </p:txBody>
      </p:sp>
      <p:sp>
        <p:nvSpPr>
          <p:cNvPr id="3" name="Content Placeholder 2">
            <a:extLst>
              <a:ext uri="{FF2B5EF4-FFF2-40B4-BE49-F238E27FC236}">
                <a16:creationId xmlns:a16="http://schemas.microsoft.com/office/drawing/2014/main" id="{B88F7DD7-7133-13CC-50A0-3CDB3985697B}"/>
              </a:ext>
            </a:extLst>
          </p:cNvPr>
          <p:cNvSpPr>
            <a:spLocks noGrp="1"/>
          </p:cNvSpPr>
          <p:nvPr>
            <p:ph idx="1"/>
          </p:nvPr>
        </p:nvSpPr>
        <p:spPr>
          <a:xfrm>
            <a:off x="155028" y="1825624"/>
            <a:ext cx="7170682" cy="4753852"/>
          </a:xfrm>
        </p:spPr>
        <p:txBody>
          <a:bodyPr>
            <a:normAutofit/>
          </a:bodyPr>
          <a:lstStyle/>
          <a:p>
            <a:r>
              <a:rPr lang="en-US" dirty="0"/>
              <a:t>As a simple example, suppose that we want to have a class </a:t>
            </a:r>
            <a:r>
              <a:rPr lang="en-US" dirty="0" err="1"/>
              <a:t>Tfaculty</a:t>
            </a:r>
            <a:r>
              <a:rPr lang="en-US" dirty="0"/>
              <a:t> that will allow us to associate with each member of the faculty a title such as “Dr.,” “Professor,” or “Dean.” </a:t>
            </a:r>
          </a:p>
          <a:p>
            <a:r>
              <a:rPr lang="en-US" dirty="0"/>
              <a:t>To accomplish this, we derive the new class from the Faculty class by adding a title data member, an appropriate constructor, a member function to set the title, and then overriding the inherited </a:t>
            </a:r>
            <a:r>
              <a:rPr lang="en-US" dirty="0" err="1"/>
              <a:t>getName</a:t>
            </a:r>
            <a:r>
              <a:rPr lang="en-US" dirty="0"/>
              <a:t>() member function to return a “titled” name.</a:t>
            </a:r>
          </a:p>
        </p:txBody>
      </p:sp>
      <p:pic>
        <p:nvPicPr>
          <p:cNvPr id="4" name="Picture 3">
            <a:extLst>
              <a:ext uri="{FF2B5EF4-FFF2-40B4-BE49-F238E27FC236}">
                <a16:creationId xmlns:a16="http://schemas.microsoft.com/office/drawing/2014/main" id="{8CEE2264-43F6-29EF-2F50-4600D435006A}"/>
              </a:ext>
            </a:extLst>
          </p:cNvPr>
          <p:cNvPicPr>
            <a:picLocks noChangeAspect="1"/>
          </p:cNvPicPr>
          <p:nvPr/>
        </p:nvPicPr>
        <p:blipFill>
          <a:blip r:embed="rId2"/>
          <a:stretch>
            <a:fillRect/>
          </a:stretch>
        </p:blipFill>
        <p:spPr>
          <a:xfrm>
            <a:off x="7498912" y="2229933"/>
            <a:ext cx="4693088" cy="3542721"/>
          </a:xfrm>
          <a:prstGeom prst="rect">
            <a:avLst/>
          </a:prstGeom>
        </p:spPr>
      </p:pic>
    </p:spTree>
    <p:extLst>
      <p:ext uri="{BB962C8B-B14F-4D97-AF65-F5344CB8AC3E}">
        <p14:creationId xmlns:p14="http://schemas.microsoft.com/office/powerpoint/2010/main" val="4129797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54036-F53A-96AD-06B5-53C95AC80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D97D2-79D9-68C2-D2D8-99AFA716CA0A}"/>
              </a:ext>
            </a:extLst>
          </p:cNvPr>
          <p:cNvSpPr>
            <a:spLocks noGrp="1"/>
          </p:cNvSpPr>
          <p:nvPr>
            <p:ph type="title"/>
          </p:nvPr>
        </p:nvSpPr>
        <p:spPr/>
        <p:txBody>
          <a:bodyPr/>
          <a:lstStyle/>
          <a:p>
            <a:r>
              <a:rPr lang="en-US" dirty="0"/>
              <a:t>Overriding Base Class Functions</a:t>
            </a:r>
          </a:p>
        </p:txBody>
      </p:sp>
      <p:pic>
        <p:nvPicPr>
          <p:cNvPr id="4" name="Picture 3">
            <a:extLst>
              <a:ext uri="{FF2B5EF4-FFF2-40B4-BE49-F238E27FC236}">
                <a16:creationId xmlns:a16="http://schemas.microsoft.com/office/drawing/2014/main" id="{80B674D5-4D31-9119-713B-8E4A2EF1EFD5}"/>
              </a:ext>
            </a:extLst>
          </p:cNvPr>
          <p:cNvPicPr>
            <a:picLocks noChangeAspect="1"/>
          </p:cNvPicPr>
          <p:nvPr/>
        </p:nvPicPr>
        <p:blipFill>
          <a:blip r:embed="rId2"/>
          <a:stretch>
            <a:fillRect/>
          </a:stretch>
        </p:blipFill>
        <p:spPr>
          <a:xfrm>
            <a:off x="7498912" y="2229933"/>
            <a:ext cx="4693088" cy="3542721"/>
          </a:xfrm>
          <a:prstGeom prst="rect">
            <a:avLst/>
          </a:prstGeom>
        </p:spPr>
      </p:pic>
      <p:pic>
        <p:nvPicPr>
          <p:cNvPr id="7" name="Picture 6">
            <a:extLst>
              <a:ext uri="{FF2B5EF4-FFF2-40B4-BE49-F238E27FC236}">
                <a16:creationId xmlns:a16="http://schemas.microsoft.com/office/drawing/2014/main" id="{E4D1C44B-C935-DB78-D854-ADC5EC6F3549}"/>
              </a:ext>
            </a:extLst>
          </p:cNvPr>
          <p:cNvPicPr>
            <a:picLocks noChangeAspect="1"/>
          </p:cNvPicPr>
          <p:nvPr/>
        </p:nvPicPr>
        <p:blipFill>
          <a:blip r:embed="rId3"/>
          <a:stretch>
            <a:fillRect/>
          </a:stretch>
        </p:blipFill>
        <p:spPr>
          <a:xfrm>
            <a:off x="974834" y="1987550"/>
            <a:ext cx="5372100" cy="2882900"/>
          </a:xfrm>
          <a:prstGeom prst="rect">
            <a:avLst/>
          </a:prstGeom>
        </p:spPr>
      </p:pic>
    </p:spTree>
    <p:extLst>
      <p:ext uri="{BB962C8B-B14F-4D97-AF65-F5344CB8AC3E}">
        <p14:creationId xmlns:p14="http://schemas.microsoft.com/office/powerpoint/2010/main" val="41285580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353B-A738-A688-2315-605A15E9448C}"/>
              </a:ext>
            </a:extLst>
          </p:cNvPr>
          <p:cNvSpPr>
            <a:spLocks noGrp="1"/>
          </p:cNvSpPr>
          <p:nvPr>
            <p:ph type="title"/>
          </p:nvPr>
        </p:nvSpPr>
        <p:spPr/>
        <p:txBody>
          <a:bodyPr/>
          <a:lstStyle/>
          <a:p>
            <a:r>
              <a:rPr lang="en-US" dirty="0"/>
              <a:t>Choosing Between Base and Derived Class Versions of an </a:t>
            </a:r>
            <a:r>
              <a:rPr lang="en-US" dirty="0" err="1"/>
              <a:t>Overriden</a:t>
            </a:r>
            <a:r>
              <a:rPr lang="en-US" dirty="0"/>
              <a:t> Function</a:t>
            </a:r>
          </a:p>
        </p:txBody>
      </p:sp>
      <p:sp>
        <p:nvSpPr>
          <p:cNvPr id="3" name="Content Placeholder 2">
            <a:extLst>
              <a:ext uri="{FF2B5EF4-FFF2-40B4-BE49-F238E27FC236}">
                <a16:creationId xmlns:a16="http://schemas.microsoft.com/office/drawing/2014/main" id="{1F62A9FE-F743-0A4D-7C91-F7057073FFD4}"/>
              </a:ext>
            </a:extLst>
          </p:cNvPr>
          <p:cNvSpPr>
            <a:spLocks noGrp="1"/>
          </p:cNvSpPr>
          <p:nvPr>
            <p:ph idx="1"/>
          </p:nvPr>
        </p:nvSpPr>
        <p:spPr/>
        <p:txBody>
          <a:bodyPr/>
          <a:lstStyle/>
          <a:p>
            <a:r>
              <a:rPr lang="en-US" dirty="0"/>
              <a:t>An object of a derived class that has overridden a base class member function contains more than one version of the member function. </a:t>
            </a:r>
          </a:p>
          <a:p>
            <a:r>
              <a:rPr lang="en-US" b="1" dirty="0"/>
              <a:t>The compiler will determine which of the several versions to call by using type information in the expression used to make the call to the member function.</a:t>
            </a:r>
          </a:p>
        </p:txBody>
      </p:sp>
    </p:spTree>
    <p:extLst>
      <p:ext uri="{BB962C8B-B14F-4D97-AF65-F5344CB8AC3E}">
        <p14:creationId xmlns:p14="http://schemas.microsoft.com/office/powerpoint/2010/main" val="2622818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33319-C44E-F685-5777-962CECC74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D88C7-CA72-DCE5-67FD-CAEB5AB13286}"/>
              </a:ext>
            </a:extLst>
          </p:cNvPr>
          <p:cNvSpPr>
            <a:spLocks noGrp="1"/>
          </p:cNvSpPr>
          <p:nvPr>
            <p:ph type="title"/>
          </p:nvPr>
        </p:nvSpPr>
        <p:spPr/>
        <p:txBody>
          <a:bodyPr/>
          <a:lstStyle/>
          <a:p>
            <a:r>
              <a:rPr lang="en-US" dirty="0"/>
              <a:t>Choosing Between Base and Derived Class Versions of an </a:t>
            </a:r>
            <a:r>
              <a:rPr lang="en-US" dirty="0" err="1"/>
              <a:t>Overriden</a:t>
            </a:r>
            <a:r>
              <a:rPr lang="en-US" dirty="0"/>
              <a:t> Function</a:t>
            </a:r>
          </a:p>
        </p:txBody>
      </p:sp>
      <p:sp>
        <p:nvSpPr>
          <p:cNvPr id="3" name="Content Placeholder 2">
            <a:extLst>
              <a:ext uri="{FF2B5EF4-FFF2-40B4-BE49-F238E27FC236}">
                <a16:creationId xmlns:a16="http://schemas.microsoft.com/office/drawing/2014/main" id="{12008F2E-C6F7-1956-DA52-93C515110E57}"/>
              </a:ext>
            </a:extLst>
          </p:cNvPr>
          <p:cNvSpPr>
            <a:spLocks noGrp="1"/>
          </p:cNvSpPr>
          <p:nvPr>
            <p:ph idx="1"/>
          </p:nvPr>
        </p:nvSpPr>
        <p:spPr/>
        <p:txBody>
          <a:bodyPr/>
          <a:lstStyle/>
          <a:p>
            <a:pPr algn="l"/>
            <a:r>
              <a:rPr lang="en-US" dirty="0">
                <a:effectLst/>
              </a:rPr>
              <a:t>For example, in our example, if there are two calls to </a:t>
            </a:r>
            <a:r>
              <a:rPr lang="en-US" dirty="0" err="1">
                <a:effectLst/>
              </a:rPr>
              <a:t>getName</a:t>
            </a:r>
            <a:r>
              <a:rPr lang="en-US" dirty="0">
                <a:effectLst/>
              </a:rPr>
              <a:t>():</a:t>
            </a:r>
          </a:p>
          <a:p>
            <a:pPr>
              <a:buFont typeface="+mj-lt"/>
              <a:buAutoNum type="arabicPeriod"/>
            </a:pPr>
            <a:r>
              <a:rPr lang="en-US" dirty="0"/>
              <a:t>If prof is an object of </a:t>
            </a:r>
            <a:r>
              <a:rPr lang="en-US" dirty="0" err="1"/>
              <a:t>TFaculty</a:t>
            </a:r>
            <a:r>
              <a:rPr lang="en-US" dirty="0"/>
              <a:t>, the call </a:t>
            </a:r>
            <a:r>
              <a:rPr lang="en-US" dirty="0" err="1"/>
              <a:t>prof.getName</a:t>
            </a:r>
            <a:r>
              <a:rPr lang="en-US" dirty="0"/>
              <a:t>() returns Dr. Indiana Jones because the function is called through prof, which has type </a:t>
            </a:r>
            <a:r>
              <a:rPr lang="en-US" dirty="0" err="1"/>
              <a:t>TFaculty</a:t>
            </a:r>
            <a:r>
              <a:rPr lang="en-US" dirty="0"/>
              <a:t>. </a:t>
            </a:r>
            <a:r>
              <a:rPr lang="en-US" b="1" dirty="0"/>
              <a:t>The compiler calls the </a:t>
            </a:r>
            <a:r>
              <a:rPr lang="en-US" b="1" dirty="0" err="1"/>
              <a:t>TFaculty</a:t>
            </a:r>
            <a:r>
              <a:rPr lang="en-US" b="1" dirty="0"/>
              <a:t> version </a:t>
            </a:r>
            <a:r>
              <a:rPr lang="en-US" b="1" dirty="0" err="1"/>
              <a:t>getName</a:t>
            </a:r>
            <a:r>
              <a:rPr lang="en-US" b="1" dirty="0"/>
              <a:t>().</a:t>
            </a:r>
          </a:p>
          <a:p>
            <a:pPr>
              <a:buFont typeface="+mj-lt"/>
              <a:buAutoNum type="arabicPeriod"/>
            </a:pPr>
            <a:r>
              <a:rPr lang="en-US" dirty="0"/>
              <a:t>If the function is called through the pointer </a:t>
            </a:r>
            <a:r>
              <a:rPr lang="en-US" dirty="0" err="1"/>
              <a:t>pAdvisor</a:t>
            </a:r>
            <a:r>
              <a:rPr lang="en-US" dirty="0"/>
              <a:t>, which is a pointer to Person, the call </a:t>
            </a:r>
            <a:r>
              <a:rPr lang="en-US" dirty="0" err="1"/>
              <a:t>pAdvisor</a:t>
            </a:r>
            <a:r>
              <a:rPr lang="en-US" dirty="0"/>
              <a:t>−&gt;</a:t>
            </a:r>
            <a:r>
              <a:rPr lang="en-US" dirty="0" err="1"/>
              <a:t>getName</a:t>
            </a:r>
            <a:r>
              <a:rPr lang="en-US" dirty="0"/>
              <a:t>() returns Indiana Jones without the “Dr.” because the function is called through the pointer </a:t>
            </a:r>
            <a:r>
              <a:rPr lang="en-US" dirty="0" err="1"/>
              <a:t>pAdvisor</a:t>
            </a:r>
            <a:r>
              <a:rPr lang="en-US" dirty="0"/>
              <a:t>, which is a pointer to Person. </a:t>
            </a:r>
            <a:r>
              <a:rPr lang="en-US" b="1" dirty="0"/>
              <a:t>The compiler calls the Person version of </a:t>
            </a:r>
            <a:r>
              <a:rPr lang="en-US" b="1" dirty="0" err="1"/>
              <a:t>getName</a:t>
            </a:r>
            <a:r>
              <a:rPr lang="en-US" b="1" dirty="0"/>
              <a:t>().</a:t>
            </a:r>
          </a:p>
        </p:txBody>
      </p:sp>
    </p:spTree>
    <p:extLst>
      <p:ext uri="{BB962C8B-B14F-4D97-AF65-F5344CB8AC3E}">
        <p14:creationId xmlns:p14="http://schemas.microsoft.com/office/powerpoint/2010/main" val="3502571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85A4-C0B6-7F85-5DD4-82659CDD8E09}"/>
              </a:ext>
            </a:extLst>
          </p:cNvPr>
          <p:cNvSpPr>
            <a:spLocks noGrp="1"/>
          </p:cNvSpPr>
          <p:nvPr>
            <p:ph type="title"/>
          </p:nvPr>
        </p:nvSpPr>
        <p:spPr/>
        <p:txBody>
          <a:bodyPr/>
          <a:lstStyle/>
          <a:p>
            <a:r>
              <a:rPr lang="en-US" dirty="0"/>
              <a:t>The Difference Between Overloading and Overriding</a:t>
            </a:r>
          </a:p>
        </p:txBody>
      </p:sp>
      <p:sp>
        <p:nvSpPr>
          <p:cNvPr id="3" name="Content Placeholder 2">
            <a:extLst>
              <a:ext uri="{FF2B5EF4-FFF2-40B4-BE49-F238E27FC236}">
                <a16:creationId xmlns:a16="http://schemas.microsoft.com/office/drawing/2014/main" id="{BC6E0422-6508-3436-F302-0BA9AB87F7B9}"/>
              </a:ext>
            </a:extLst>
          </p:cNvPr>
          <p:cNvSpPr>
            <a:spLocks noGrp="1"/>
          </p:cNvSpPr>
          <p:nvPr>
            <p:ph idx="1"/>
          </p:nvPr>
        </p:nvSpPr>
        <p:spPr>
          <a:xfrm>
            <a:off x="838200" y="1825625"/>
            <a:ext cx="10515600" cy="4774872"/>
          </a:xfrm>
        </p:spPr>
        <p:txBody>
          <a:bodyPr>
            <a:normAutofit lnSpcReduction="10000"/>
          </a:bodyPr>
          <a:lstStyle/>
          <a:p>
            <a:r>
              <a:rPr lang="en-US" dirty="0"/>
              <a:t>Th overloading and overriding involve the definition of different functions with the same name. </a:t>
            </a:r>
          </a:p>
          <a:p>
            <a:r>
              <a:rPr lang="en-US" dirty="0"/>
              <a:t>There are differences between the two concepts, however.</a:t>
            </a:r>
          </a:p>
          <a:p>
            <a:r>
              <a:rPr lang="en-US" dirty="0"/>
              <a:t>Overriding can only be done in the context of inheritance and refers to the defining of a member function by a derived class when the base class already has a member function of the same name and parameter list. </a:t>
            </a:r>
          </a:p>
          <a:p>
            <a:r>
              <a:rPr lang="en-US" dirty="0"/>
              <a:t>Overloading refers to the definition of different functions within the same class with the same name and </a:t>
            </a:r>
            <a:r>
              <a:rPr lang="en-US" i="1" dirty="0"/>
              <a:t>different</a:t>
            </a:r>
            <a:r>
              <a:rPr lang="en-US" dirty="0"/>
              <a:t> parameter lists.</a:t>
            </a:r>
          </a:p>
          <a:p>
            <a:r>
              <a:rPr lang="en-US" dirty="0"/>
              <a:t>Overloading can also refer to the definition of different functions with different parameter lists at the global level.</a:t>
            </a:r>
          </a:p>
        </p:txBody>
      </p:sp>
    </p:spTree>
    <p:extLst>
      <p:ext uri="{BB962C8B-B14F-4D97-AF65-F5344CB8AC3E}">
        <p14:creationId xmlns:p14="http://schemas.microsoft.com/office/powerpoint/2010/main" val="22039484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381D-47F5-2A77-7F8B-EECFB6DA5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E9000-1019-D80F-368C-9A26F742D394}"/>
              </a:ext>
            </a:extLst>
          </p:cNvPr>
          <p:cNvSpPr>
            <a:spLocks noGrp="1"/>
          </p:cNvSpPr>
          <p:nvPr>
            <p:ph type="title"/>
          </p:nvPr>
        </p:nvSpPr>
        <p:spPr/>
        <p:txBody>
          <a:bodyPr/>
          <a:lstStyle/>
          <a:p>
            <a:r>
              <a:rPr lang="en-US" dirty="0"/>
              <a:t>Gaining Access to an Overridden Member Function</a:t>
            </a:r>
          </a:p>
        </p:txBody>
      </p:sp>
      <p:sp>
        <p:nvSpPr>
          <p:cNvPr id="3" name="Content Placeholder 2">
            <a:extLst>
              <a:ext uri="{FF2B5EF4-FFF2-40B4-BE49-F238E27FC236}">
                <a16:creationId xmlns:a16="http://schemas.microsoft.com/office/drawing/2014/main" id="{C04244B6-74AD-0D04-667A-8AA293F98C94}"/>
              </a:ext>
            </a:extLst>
          </p:cNvPr>
          <p:cNvSpPr>
            <a:spLocks noGrp="1"/>
          </p:cNvSpPr>
          <p:nvPr>
            <p:ph idx="1"/>
          </p:nvPr>
        </p:nvSpPr>
        <p:spPr>
          <a:xfrm>
            <a:off x="838200" y="1825625"/>
            <a:ext cx="10515600" cy="4774872"/>
          </a:xfrm>
        </p:spPr>
        <p:txBody>
          <a:bodyPr>
            <a:normAutofit/>
          </a:bodyPr>
          <a:lstStyle/>
          <a:p>
            <a:r>
              <a:rPr lang="en-US" dirty="0"/>
              <a:t>If a derived class overrides a base class member function, member functions of the derived class that would have otherwise called the overridden base class member function will now call the version in the derived class.</a:t>
            </a:r>
          </a:p>
          <a:p>
            <a:r>
              <a:rPr lang="en-US" dirty="0"/>
              <a:t>It is occasionally useful to be able to call the overridden version. In fact, the new member function of the derived class may want to call the base class member function that it is overriding. </a:t>
            </a:r>
          </a:p>
          <a:p>
            <a:r>
              <a:rPr lang="en-US" b="1" dirty="0"/>
              <a:t>This is done by using the scope resolution operator to specify the class of the overridden member function being accessed.</a:t>
            </a:r>
          </a:p>
        </p:txBody>
      </p:sp>
    </p:spTree>
    <p:extLst>
      <p:ext uri="{BB962C8B-B14F-4D97-AF65-F5344CB8AC3E}">
        <p14:creationId xmlns:p14="http://schemas.microsoft.com/office/powerpoint/2010/main" val="13050527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E363-010A-DD1A-4A53-5A3A9E7853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E65B9-987C-7E87-67C8-B54CA2695023}"/>
              </a:ext>
            </a:extLst>
          </p:cNvPr>
          <p:cNvSpPr>
            <a:spLocks noGrp="1"/>
          </p:cNvSpPr>
          <p:nvPr>
            <p:ph type="title"/>
          </p:nvPr>
        </p:nvSpPr>
        <p:spPr/>
        <p:txBody>
          <a:bodyPr/>
          <a:lstStyle/>
          <a:p>
            <a:r>
              <a:rPr lang="en-US" dirty="0"/>
              <a:t>Gaining Access to an Overridden Member Function</a:t>
            </a:r>
          </a:p>
        </p:txBody>
      </p:sp>
      <p:sp>
        <p:nvSpPr>
          <p:cNvPr id="3" name="Content Placeholder 2">
            <a:extLst>
              <a:ext uri="{FF2B5EF4-FFF2-40B4-BE49-F238E27FC236}">
                <a16:creationId xmlns:a16="http://schemas.microsoft.com/office/drawing/2014/main" id="{CF807128-1EA0-AD37-6D29-30AC8859DFB9}"/>
              </a:ext>
            </a:extLst>
          </p:cNvPr>
          <p:cNvSpPr>
            <a:spLocks noGrp="1"/>
          </p:cNvSpPr>
          <p:nvPr>
            <p:ph idx="1"/>
          </p:nvPr>
        </p:nvSpPr>
        <p:spPr>
          <a:xfrm>
            <a:off x="838200" y="1825625"/>
            <a:ext cx="10515600" cy="4774872"/>
          </a:xfrm>
        </p:spPr>
        <p:txBody>
          <a:bodyPr>
            <a:normAutofit/>
          </a:bodyPr>
          <a:lstStyle/>
          <a:p>
            <a:r>
              <a:rPr lang="en-US" dirty="0"/>
              <a:t>If a derived class overrides a base class member function, member functions of the derived class that would have otherwise called the overridden base class member function will now call the version in the derived class.</a:t>
            </a:r>
          </a:p>
          <a:p>
            <a:r>
              <a:rPr lang="en-US" dirty="0"/>
              <a:t>It is occasionally useful to be able to call the overridden version.</a:t>
            </a:r>
          </a:p>
          <a:p>
            <a:r>
              <a:rPr lang="en-US" dirty="0"/>
              <a:t>In fact, the new member function of the derived class may want to call the base class member function that it is overriding. </a:t>
            </a:r>
          </a:p>
          <a:p>
            <a:r>
              <a:rPr lang="en-US" b="1" dirty="0"/>
              <a:t>This is done by using the scope resolution operator to specify the class of the overridden member function being accessed.</a:t>
            </a:r>
          </a:p>
          <a:p>
            <a:pPr lvl="1"/>
            <a:r>
              <a:rPr lang="en-US" i="1" dirty="0">
                <a:solidFill>
                  <a:srgbClr val="FF0000"/>
                </a:solidFill>
              </a:rPr>
              <a:t>Person::</a:t>
            </a:r>
            <a:r>
              <a:rPr lang="en-US" i="1" dirty="0" err="1">
                <a:solidFill>
                  <a:srgbClr val="FF0000"/>
                </a:solidFill>
                <a:effectLst/>
              </a:rPr>
              <a:t>getName</a:t>
            </a:r>
            <a:r>
              <a:rPr lang="en-US" i="1" dirty="0">
                <a:solidFill>
                  <a:srgbClr val="FF0000"/>
                </a:solidFill>
              </a:rPr>
              <a:t>();</a:t>
            </a:r>
            <a:endParaRPr lang="en-US" b="1" i="1" dirty="0">
              <a:solidFill>
                <a:srgbClr val="FF0000"/>
              </a:solidFill>
            </a:endParaRPr>
          </a:p>
        </p:txBody>
      </p:sp>
    </p:spTree>
    <p:extLst>
      <p:ext uri="{BB962C8B-B14F-4D97-AF65-F5344CB8AC3E}">
        <p14:creationId xmlns:p14="http://schemas.microsoft.com/office/powerpoint/2010/main" val="85881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AD94F-4BA9-275C-667B-565F151EB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14337-3CFE-33FB-A087-7AD94C150CF6}"/>
              </a:ext>
            </a:extLst>
          </p:cNvPr>
          <p:cNvSpPr>
            <a:spLocks noGrp="1"/>
          </p:cNvSpPr>
          <p:nvPr>
            <p:ph type="title"/>
          </p:nvPr>
        </p:nvSpPr>
        <p:spPr/>
        <p:txBody>
          <a:bodyPr/>
          <a:lstStyle/>
          <a:p>
            <a:r>
              <a:rPr lang="en-US" dirty="0"/>
              <a:t>Gaining Access to an Overridden Member Function</a:t>
            </a:r>
          </a:p>
        </p:txBody>
      </p:sp>
      <p:sp>
        <p:nvSpPr>
          <p:cNvPr id="3" name="Content Placeholder 2">
            <a:extLst>
              <a:ext uri="{FF2B5EF4-FFF2-40B4-BE49-F238E27FC236}">
                <a16:creationId xmlns:a16="http://schemas.microsoft.com/office/drawing/2014/main" id="{58C62756-D9A1-4ACD-D485-E1785E780DB9}"/>
              </a:ext>
            </a:extLst>
          </p:cNvPr>
          <p:cNvSpPr>
            <a:spLocks noGrp="1"/>
          </p:cNvSpPr>
          <p:nvPr>
            <p:ph idx="1"/>
          </p:nvPr>
        </p:nvSpPr>
        <p:spPr>
          <a:xfrm>
            <a:off x="838200" y="1825625"/>
            <a:ext cx="4816366" cy="4774872"/>
          </a:xfrm>
        </p:spPr>
        <p:txBody>
          <a:bodyPr>
            <a:normAutofit/>
          </a:bodyPr>
          <a:lstStyle/>
          <a:p>
            <a:r>
              <a:rPr lang="en-US" dirty="0">
                <a:effectLst/>
              </a:rPr>
              <a:t>Thus, a better version of the </a:t>
            </a:r>
            <a:r>
              <a:rPr lang="en-US" dirty="0" err="1">
                <a:effectLst/>
              </a:rPr>
              <a:t>TFaculty</a:t>
            </a:r>
            <a:r>
              <a:rPr lang="en-US" dirty="0">
                <a:effectLst/>
              </a:rPr>
              <a:t> class is the following. </a:t>
            </a:r>
          </a:p>
          <a:p>
            <a:r>
              <a:rPr lang="en-US" dirty="0">
                <a:effectLst/>
              </a:rPr>
              <a:t>Note that the overriding function does not need to access any protected members of Person, but instead calls the public member function </a:t>
            </a:r>
            <a:r>
              <a:rPr lang="en-US" dirty="0" err="1">
                <a:effectLst/>
              </a:rPr>
              <a:t>getName</a:t>
            </a:r>
            <a:r>
              <a:rPr lang="en-US" dirty="0">
                <a:effectLst/>
              </a:rPr>
              <a:t>.</a:t>
            </a:r>
          </a:p>
          <a:p>
            <a:endParaRPr lang="en-US" b="1" i="1" dirty="0">
              <a:solidFill>
                <a:srgbClr val="FF0000"/>
              </a:solidFill>
            </a:endParaRPr>
          </a:p>
        </p:txBody>
      </p:sp>
      <p:pic>
        <p:nvPicPr>
          <p:cNvPr id="4" name="Picture 3">
            <a:extLst>
              <a:ext uri="{FF2B5EF4-FFF2-40B4-BE49-F238E27FC236}">
                <a16:creationId xmlns:a16="http://schemas.microsoft.com/office/drawing/2014/main" id="{3557C29E-FDBC-B071-386D-8428213B35C8}"/>
              </a:ext>
            </a:extLst>
          </p:cNvPr>
          <p:cNvPicPr>
            <a:picLocks noChangeAspect="1"/>
          </p:cNvPicPr>
          <p:nvPr/>
        </p:nvPicPr>
        <p:blipFill>
          <a:blip r:embed="rId3"/>
          <a:stretch>
            <a:fillRect/>
          </a:stretch>
        </p:blipFill>
        <p:spPr>
          <a:xfrm>
            <a:off x="6275981" y="1690688"/>
            <a:ext cx="5302039" cy="4043362"/>
          </a:xfrm>
          <a:prstGeom prst="rect">
            <a:avLst/>
          </a:prstGeom>
        </p:spPr>
      </p:pic>
    </p:spTree>
    <p:extLst>
      <p:ext uri="{BB962C8B-B14F-4D97-AF65-F5344CB8AC3E}">
        <p14:creationId xmlns:p14="http://schemas.microsoft.com/office/powerpoint/2010/main" val="38595078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D2DECB8-C3DA-B289-3549-D493B21EA4F2}"/>
              </a:ext>
            </a:extLst>
          </p:cNvPr>
          <p:cNvSpPr>
            <a:spLocks noGrp="1" noChangeArrowheads="1"/>
          </p:cNvSpPr>
          <p:nvPr>
            <p:ph type="title"/>
          </p:nvPr>
        </p:nvSpPr>
        <p:spPr/>
        <p:txBody>
          <a:bodyPr/>
          <a:lstStyle/>
          <a:p>
            <a:r>
              <a:rPr lang="en-US" altLang="en-US"/>
              <a:t>Benefits of Inheritance</a:t>
            </a:r>
          </a:p>
        </p:txBody>
      </p:sp>
      <p:sp>
        <p:nvSpPr>
          <p:cNvPr id="9219" name="Rectangle 3">
            <a:extLst>
              <a:ext uri="{FF2B5EF4-FFF2-40B4-BE49-F238E27FC236}">
                <a16:creationId xmlns:a16="http://schemas.microsoft.com/office/drawing/2014/main" id="{ED158AEA-E6E0-ECB2-902D-7657662590BA}"/>
              </a:ext>
            </a:extLst>
          </p:cNvPr>
          <p:cNvSpPr>
            <a:spLocks noGrp="1" noChangeArrowheads="1"/>
          </p:cNvSpPr>
          <p:nvPr>
            <p:ph type="body" idx="1"/>
          </p:nvPr>
        </p:nvSpPr>
        <p:spPr/>
        <p:txBody>
          <a:bodyPr/>
          <a:lstStyle/>
          <a:p>
            <a:pPr>
              <a:lnSpc>
                <a:spcPct val="90000"/>
              </a:lnSpc>
            </a:pPr>
            <a:r>
              <a:rPr lang="en-US" altLang="en-US" dirty="0"/>
              <a:t>Software reusability</a:t>
            </a:r>
          </a:p>
          <a:p>
            <a:pPr lvl="1">
              <a:lnSpc>
                <a:spcPct val="90000"/>
              </a:lnSpc>
            </a:pPr>
            <a:r>
              <a:rPr lang="en-US" altLang="ko-KR" dirty="0">
                <a:ea typeface="굴림" panose="020B0600000101010101" pitchFamily="34" charset="-127"/>
              </a:rPr>
              <a:t>C</a:t>
            </a:r>
            <a:r>
              <a:rPr lang="en-US" altLang="en-US" dirty="0"/>
              <a:t>ode for the common behavior does not need to be rewritten for the child class</a:t>
            </a:r>
            <a:r>
              <a:rPr lang="en-US" altLang="ko-KR" dirty="0">
                <a:ea typeface="굴림" panose="020B0600000101010101" pitchFamily="34" charset="-127"/>
              </a:rPr>
              <a:t> </a:t>
            </a:r>
            <a:endParaRPr lang="en-US" altLang="en-US" dirty="0"/>
          </a:p>
          <a:p>
            <a:pPr>
              <a:lnSpc>
                <a:spcPct val="90000"/>
              </a:lnSpc>
            </a:pPr>
            <a:r>
              <a:rPr lang="en-US" altLang="ko-KR" dirty="0">
                <a:ea typeface="굴림" panose="020B0600000101010101" pitchFamily="34" charset="-127"/>
              </a:rPr>
              <a:t>I</a:t>
            </a:r>
            <a:r>
              <a:rPr lang="en-US" altLang="zh-CN" dirty="0">
                <a:ea typeface="宋体" panose="02010600030101010101" pitchFamily="2" charset="-122"/>
              </a:rPr>
              <a:t>mproved reliability </a:t>
            </a:r>
            <a:endParaRPr lang="en-US" altLang="ko-KR" dirty="0">
              <a:ea typeface="굴림" panose="020B0600000101010101" pitchFamily="34" charset="-127"/>
            </a:endParaRPr>
          </a:p>
          <a:p>
            <a:pPr lvl="1">
              <a:lnSpc>
                <a:spcPct val="90000"/>
              </a:lnSpc>
            </a:pPr>
            <a:r>
              <a:rPr lang="en-US" altLang="zh-CN" dirty="0">
                <a:ea typeface="宋体" panose="02010600030101010101" pitchFamily="2" charset="-122"/>
              </a:rPr>
              <a:t>Code in a parent class </a:t>
            </a:r>
            <a:r>
              <a:rPr lang="en-US" altLang="ko-KR" dirty="0">
                <a:ea typeface="굴림" panose="020B0600000101010101" pitchFamily="34" charset="-127"/>
              </a:rPr>
              <a:t>has been tested and </a:t>
            </a:r>
            <a:r>
              <a:rPr lang="en-US" altLang="zh-CN" dirty="0">
                <a:ea typeface="宋体" panose="02010600030101010101" pitchFamily="2" charset="-122"/>
              </a:rPr>
              <a:t>is more likely to remain valid</a:t>
            </a:r>
            <a:endParaRPr lang="en-US" altLang="en-US" dirty="0"/>
          </a:p>
          <a:p>
            <a:pPr>
              <a:lnSpc>
                <a:spcPct val="90000"/>
              </a:lnSpc>
            </a:pPr>
            <a:r>
              <a:rPr lang="en-US" altLang="ko-KR" dirty="0">
                <a:ea typeface="굴림" panose="020B0600000101010101" pitchFamily="34" charset="-127"/>
              </a:rPr>
              <a:t>Reduce maintenance</a:t>
            </a:r>
          </a:p>
          <a:p>
            <a:pPr lvl="1">
              <a:lnSpc>
                <a:spcPct val="90000"/>
              </a:lnSpc>
            </a:pPr>
            <a:r>
              <a:rPr lang="en-US" altLang="ko-KR" dirty="0">
                <a:ea typeface="굴림" panose="020B0600000101010101" pitchFamily="34" charset="-127"/>
              </a:rPr>
              <a:t>Once the super class has been corrected, code in all subclasses is updated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A36424B-AFFF-2D25-EE25-350F63C525E9}"/>
              </a:ext>
            </a:extLst>
          </p:cNvPr>
          <p:cNvSpPr>
            <a:spLocks noGrp="1" noChangeArrowheads="1"/>
          </p:cNvSpPr>
          <p:nvPr>
            <p:ph type="title"/>
          </p:nvPr>
        </p:nvSpPr>
        <p:spPr/>
        <p:txBody>
          <a:bodyPr/>
          <a:lstStyle/>
          <a:p>
            <a:r>
              <a:rPr lang="en-US" altLang="en-US"/>
              <a:t>Benefits of Inheritance</a:t>
            </a:r>
          </a:p>
        </p:txBody>
      </p:sp>
      <p:sp>
        <p:nvSpPr>
          <p:cNvPr id="10243" name="Rectangle 3">
            <a:extLst>
              <a:ext uri="{FF2B5EF4-FFF2-40B4-BE49-F238E27FC236}">
                <a16:creationId xmlns:a16="http://schemas.microsoft.com/office/drawing/2014/main" id="{65E183AD-8FC5-5E85-7102-0038337689B8}"/>
              </a:ext>
            </a:extLst>
          </p:cNvPr>
          <p:cNvSpPr>
            <a:spLocks noGrp="1" noChangeArrowheads="1"/>
          </p:cNvSpPr>
          <p:nvPr>
            <p:ph type="body" idx="1"/>
          </p:nvPr>
        </p:nvSpPr>
        <p:spPr/>
        <p:txBody>
          <a:bodyPr/>
          <a:lstStyle/>
          <a:p>
            <a:r>
              <a:rPr lang="en-US" altLang="en-US" sz="2600" dirty="0"/>
              <a:t>Allow to cluster similar classes together</a:t>
            </a:r>
          </a:p>
          <a:p>
            <a:pPr lvl="1"/>
            <a:r>
              <a:rPr lang="en-US" altLang="en-US" dirty="0"/>
              <a:t>Help effective abstractions for large complex systems</a:t>
            </a:r>
          </a:p>
          <a:p>
            <a:r>
              <a:rPr lang="en-US" altLang="en-US" sz="2600" dirty="0"/>
              <a:t>Consistency of interface</a:t>
            </a:r>
          </a:p>
          <a:p>
            <a:pPr lvl="1"/>
            <a:r>
              <a:rPr lang="en-US" altLang="en-US" dirty="0"/>
              <a:t>Several classes inherit from the same superclass </a:t>
            </a:r>
          </a:p>
          <a:p>
            <a:pPr lvl="1"/>
            <a:r>
              <a:rPr lang="en-US" altLang="en-US" dirty="0"/>
              <a:t>Easier to guarantee that interfaces to similar objects are similar</a:t>
            </a:r>
          </a:p>
          <a:p>
            <a:r>
              <a:rPr lang="en-US" altLang="en-US" sz="2600" dirty="0"/>
              <a:t>Can use polymorphism; </a:t>
            </a:r>
            <a:r>
              <a:rPr lang="en-US" altLang="ko-KR" sz="2600" dirty="0">
                <a:ea typeface="굴림" panose="020B0600000101010101" pitchFamily="34" charset="-127"/>
              </a:rPr>
              <a:t>Increase productivity (Will learn in the next class)</a:t>
            </a:r>
            <a:endParaRPr lang="en-US" altLang="en-US" sz="2600" dirty="0"/>
          </a:p>
          <a:p>
            <a:pPr lvl="1"/>
            <a:r>
              <a:rPr lang="en-US" altLang="ko-KR" dirty="0">
                <a:ea typeface="굴림" panose="020B0600000101010101" pitchFamily="34" charset="-127"/>
              </a:rPr>
              <a:t>T</a:t>
            </a:r>
            <a:r>
              <a:rPr lang="en-US" altLang="zh-CN" dirty="0">
                <a:ea typeface="宋体" panose="02010600030101010101" pitchFamily="2" charset="-122"/>
              </a:rPr>
              <a:t>he same operation behaves differently in different objects depending on the object’s implementation of it </a:t>
            </a:r>
            <a:endParaRPr lang="en-US" altLang="ko-KR" dirty="0">
              <a:ea typeface="굴림" panose="020B0600000101010101" pitchFamily="34" charset="-127"/>
            </a:endParaRPr>
          </a:p>
          <a:p>
            <a:pPr lvl="1"/>
            <a:r>
              <a:rPr lang="en-US" altLang="en-US" dirty="0"/>
              <a:t>Easiness of expandability</a:t>
            </a:r>
            <a:endParaRPr lang="en-US" altLang="ko-KR" dirty="0">
              <a:ea typeface="굴림" panose="020B0600000101010101" pitchFamily="34" charset="-127"/>
            </a:endParaRPr>
          </a:p>
          <a:p>
            <a:pPr lvl="1">
              <a:buFont typeface="Wingdings" pitchFamily="2" charset="2"/>
              <a:buNone/>
            </a:pPr>
            <a:endParaRPr lang="en-US"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0A3C175-ABEF-FA54-8CED-DC49C22FAD02}"/>
              </a:ext>
            </a:extLst>
          </p:cNvPr>
          <p:cNvSpPr>
            <a:spLocks noGrp="1" noChangeArrowheads="1"/>
          </p:cNvSpPr>
          <p:nvPr>
            <p:ph type="title"/>
          </p:nvPr>
        </p:nvSpPr>
        <p:spPr/>
        <p:txBody>
          <a:bodyPr/>
          <a:lstStyle/>
          <a:p>
            <a:r>
              <a:rPr lang="en-US" altLang="en-US"/>
              <a:t>Cost of inheritance</a:t>
            </a:r>
          </a:p>
        </p:txBody>
      </p:sp>
      <p:sp>
        <p:nvSpPr>
          <p:cNvPr id="11267" name="Rectangle 3">
            <a:extLst>
              <a:ext uri="{FF2B5EF4-FFF2-40B4-BE49-F238E27FC236}">
                <a16:creationId xmlns:a16="http://schemas.microsoft.com/office/drawing/2014/main" id="{B480F5D9-A01B-6FE5-7D87-D01AE76B29C1}"/>
              </a:ext>
            </a:extLst>
          </p:cNvPr>
          <p:cNvSpPr>
            <a:spLocks noGrp="1" noChangeArrowheads="1"/>
          </p:cNvSpPr>
          <p:nvPr>
            <p:ph type="body" idx="1"/>
          </p:nvPr>
        </p:nvSpPr>
        <p:spPr/>
        <p:txBody>
          <a:bodyPr/>
          <a:lstStyle/>
          <a:p>
            <a:r>
              <a:rPr lang="en-US" altLang="ko-KR" sz="2400" dirty="0">
                <a:ea typeface="굴림" panose="020B0600000101010101" pitchFamily="34" charset="-127"/>
              </a:rPr>
              <a:t>Inheritance </a:t>
            </a:r>
            <a:r>
              <a:rPr lang="en-US" altLang="zh-CN" sz="2400" dirty="0">
                <a:ea typeface="宋体" panose="02010600030101010101" pitchFamily="2" charset="-122"/>
              </a:rPr>
              <a:t>can increase interdependencies that make code more complex and harder to maintain </a:t>
            </a:r>
          </a:p>
          <a:p>
            <a:r>
              <a:rPr lang="en-US" altLang="en-US" sz="2400" dirty="0"/>
              <a:t>Execution speed</a:t>
            </a:r>
          </a:p>
          <a:p>
            <a:pPr lvl="1"/>
            <a:r>
              <a:rPr lang="en-US" altLang="en-US" sz="2000" dirty="0"/>
              <a:t>Inherited methods are slower than specialized code</a:t>
            </a:r>
          </a:p>
          <a:p>
            <a:pPr lvl="1"/>
            <a:r>
              <a:rPr lang="en-US" altLang="en-US" sz="2000" dirty="0"/>
              <a:t>Ex: Matching overriding method along the class hierarchy</a:t>
            </a:r>
          </a:p>
          <a:p>
            <a:r>
              <a:rPr lang="en-US" altLang="en-US" sz="2400" dirty="0"/>
              <a:t>Increasing program size</a:t>
            </a:r>
          </a:p>
          <a:p>
            <a:pPr lvl="1"/>
            <a:r>
              <a:rPr lang="en-US" altLang="en-US" sz="2000" dirty="0"/>
              <a:t>Reusable software components may include unnecessary behavior</a:t>
            </a:r>
          </a:p>
          <a:p>
            <a:r>
              <a:rPr lang="en-US" altLang="en-US" sz="2400" dirty="0"/>
              <a:t>Message-passing overhead than simple procedure call</a:t>
            </a:r>
          </a:p>
          <a:p>
            <a:pPr lvl="1"/>
            <a:r>
              <a:rPr lang="en-US" altLang="en-US" sz="2000" dirty="0"/>
              <a:t>Object has more attributes that means more time for stacking attributes before move control to other method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1943437-559F-1F40-E2DA-C9DDA81DD321}"/>
              </a:ext>
            </a:extLst>
          </p:cNvPr>
          <p:cNvSpPr>
            <a:spLocks noGrp="1" noChangeArrowheads="1"/>
          </p:cNvSpPr>
          <p:nvPr>
            <p:ph type="title"/>
          </p:nvPr>
        </p:nvSpPr>
        <p:spPr/>
        <p:txBody>
          <a:bodyPr/>
          <a:lstStyle/>
          <a:p>
            <a:r>
              <a:rPr lang="en-US" altLang="en-US"/>
              <a:t>Improper use of Inheritance</a:t>
            </a:r>
          </a:p>
        </p:txBody>
      </p:sp>
      <p:sp>
        <p:nvSpPr>
          <p:cNvPr id="62467" name="Rectangle 3">
            <a:extLst>
              <a:ext uri="{FF2B5EF4-FFF2-40B4-BE49-F238E27FC236}">
                <a16:creationId xmlns:a16="http://schemas.microsoft.com/office/drawing/2014/main" id="{1F82F2D0-8F50-4402-6FDC-33016022C07E}"/>
              </a:ext>
            </a:extLst>
          </p:cNvPr>
          <p:cNvSpPr>
            <a:spLocks noGrp="1" noChangeArrowheads="1"/>
          </p:cNvSpPr>
          <p:nvPr>
            <p:ph type="body" idx="1"/>
          </p:nvPr>
        </p:nvSpPr>
        <p:spPr/>
        <p:txBody>
          <a:bodyPr/>
          <a:lstStyle/>
          <a:p>
            <a:r>
              <a:rPr lang="en-US" altLang="zh-CN" dirty="0">
                <a:ea typeface="宋体" panose="02010600030101010101" pitchFamily="2" charset="-122"/>
              </a:rPr>
              <a:t>Potential problems can be caused when we apply inheritance improperly</a:t>
            </a:r>
          </a:p>
          <a:p>
            <a:pPr lvl="1"/>
            <a:r>
              <a:rPr lang="en-US" altLang="zh-CN" dirty="0">
                <a:ea typeface="宋体" panose="02010600030101010101" pitchFamily="2" charset="-122"/>
              </a:rPr>
              <a:t>Decrease code comprehensibility </a:t>
            </a:r>
          </a:p>
          <a:p>
            <a:pPr lvl="2"/>
            <a:r>
              <a:rPr lang="en-US" altLang="zh-CN" dirty="0">
                <a:ea typeface="宋体" panose="02010600030101010101" pitchFamily="2" charset="-122"/>
              </a:rPr>
              <a:t>May give difficulties to a programmer who tries to follow a system’s execution by tracing methods execution</a:t>
            </a:r>
          </a:p>
          <a:p>
            <a:pPr lvl="1"/>
            <a:r>
              <a:rPr lang="en-US" altLang="zh-CN" dirty="0">
                <a:ea typeface="宋体" panose="02010600030101010101" pitchFamily="2" charset="-122"/>
              </a:rPr>
              <a:t>Increases maintenance </a:t>
            </a:r>
          </a:p>
          <a:p>
            <a:pPr lvl="2"/>
            <a:r>
              <a:rPr lang="en-US" altLang="zh-CN" dirty="0">
                <a:ea typeface="宋体" panose="02010600030101010101" pitchFamily="2" charset="-122"/>
              </a:rPr>
              <a:t>Users may need to examine two or more classes to determine the behavior of a single class</a:t>
            </a:r>
            <a:endParaRPr lang="en-US" altLang="en-US" dirty="0"/>
          </a:p>
          <a:p>
            <a:pPr lvl="1"/>
            <a:r>
              <a:rPr lang="en-US" altLang="zh-CN" dirty="0">
                <a:solidFill>
                  <a:srgbClr val="0000FF"/>
                </a:solidFill>
                <a:ea typeface="宋体" panose="02010600030101010101" pitchFamily="2" charset="-122"/>
              </a:rPr>
              <a:t>Inheritance can increase the dependencies between the code in the parent class and in subclasses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BBDDC083-4AF1-1090-965F-196071564092}"/>
              </a:ext>
            </a:extLst>
          </p:cNvPr>
          <p:cNvSpPr>
            <a:spLocks noGrp="1" noChangeArrowheads="1"/>
          </p:cNvSpPr>
          <p:nvPr>
            <p:ph type="title"/>
          </p:nvPr>
        </p:nvSpPr>
        <p:spPr/>
        <p:txBody>
          <a:bodyPr/>
          <a:lstStyle/>
          <a:p>
            <a:r>
              <a:rPr lang="en-US" altLang="zh-CN">
                <a:ea typeface="宋体" panose="02010600030101010101" pitchFamily="2" charset="-122"/>
              </a:rPr>
              <a:t>Inheritance guidelines </a:t>
            </a:r>
            <a:endParaRPr lang="en-US" altLang="en-US"/>
          </a:p>
        </p:txBody>
      </p:sp>
      <p:sp>
        <p:nvSpPr>
          <p:cNvPr id="63491" name="Rectangle 3">
            <a:extLst>
              <a:ext uri="{FF2B5EF4-FFF2-40B4-BE49-F238E27FC236}">
                <a16:creationId xmlns:a16="http://schemas.microsoft.com/office/drawing/2014/main" id="{B5152B90-A21F-6ED9-2D30-9DFE41F5D453}"/>
              </a:ext>
            </a:extLst>
          </p:cNvPr>
          <p:cNvSpPr>
            <a:spLocks noGrp="1" noChangeArrowheads="1"/>
          </p:cNvSpPr>
          <p:nvPr>
            <p:ph type="body" idx="1"/>
          </p:nvPr>
        </p:nvSpPr>
        <p:spPr>
          <a:xfrm>
            <a:off x="838200" y="1825625"/>
            <a:ext cx="10515600" cy="4922016"/>
          </a:xfrm>
        </p:spPr>
        <p:txBody>
          <a:bodyPr>
            <a:normAutofit/>
          </a:bodyPr>
          <a:lstStyle/>
          <a:p>
            <a:pPr>
              <a:lnSpc>
                <a:spcPct val="90000"/>
              </a:lnSpc>
            </a:pPr>
            <a:r>
              <a:rPr lang="en-US" altLang="ko-KR" dirty="0">
                <a:ea typeface="굴림" panose="020B0600000101010101" pitchFamily="34" charset="-127"/>
              </a:rPr>
              <a:t>Don’t </a:t>
            </a:r>
            <a:r>
              <a:rPr lang="en-US" altLang="zh-CN" dirty="0">
                <a:ea typeface="宋体" panose="02010600030101010101" pitchFamily="2" charset="-122"/>
              </a:rPr>
              <a:t>tempt to inherit a </a:t>
            </a:r>
            <a:r>
              <a:rPr lang="en-US" altLang="ko-KR" dirty="0">
                <a:ea typeface="굴림" panose="020B0600000101010101" pitchFamily="34" charset="-127"/>
              </a:rPr>
              <a:t>new </a:t>
            </a:r>
            <a:r>
              <a:rPr lang="en-US" altLang="zh-CN" dirty="0">
                <a:ea typeface="宋体" panose="02010600030101010101" pitchFamily="2" charset="-122"/>
              </a:rPr>
              <a:t>class from a previous </a:t>
            </a:r>
            <a:r>
              <a:rPr lang="en-US" altLang="ko-KR" dirty="0">
                <a:ea typeface="굴림" panose="020B0600000101010101" pitchFamily="34" charset="-127"/>
              </a:rPr>
              <a:t>similar class while </a:t>
            </a:r>
            <a:r>
              <a:rPr lang="en-US" altLang="zh-CN" dirty="0" err="1">
                <a:ea typeface="宋体" panose="02010600030101010101" pitchFamily="2" charset="-122"/>
              </a:rPr>
              <a:t>overrid</a:t>
            </a:r>
            <a:r>
              <a:rPr lang="en-US" altLang="ko-KR" dirty="0" err="1">
                <a:ea typeface="굴림" panose="020B0600000101010101" pitchFamily="34" charset="-127"/>
              </a:rPr>
              <a:t>ding</a:t>
            </a:r>
            <a:r>
              <a:rPr lang="en-US" altLang="zh-CN" dirty="0">
                <a:ea typeface="宋体" panose="02010600030101010101" pitchFamily="2" charset="-122"/>
              </a:rPr>
              <a:t> unwanted operations in the subclass</a:t>
            </a:r>
            <a:endParaRPr lang="en-US" altLang="ko-KR" dirty="0">
              <a:ea typeface="굴림" panose="020B0600000101010101" pitchFamily="34" charset="-127"/>
            </a:endParaRPr>
          </a:p>
          <a:p>
            <a:pPr lvl="1">
              <a:lnSpc>
                <a:spcPct val="90000"/>
              </a:lnSpc>
            </a:pPr>
            <a:r>
              <a:rPr lang="en-US" altLang="zh-CN" dirty="0">
                <a:ea typeface="宋体" panose="02010600030101010101" pitchFamily="2" charset="-122"/>
              </a:rPr>
              <a:t>Instead of artificially inheriting classes by overriding operations, factor out the shared features of the existing class and the new class to produce a third class </a:t>
            </a:r>
          </a:p>
          <a:p>
            <a:pPr>
              <a:lnSpc>
                <a:spcPct val="90000"/>
              </a:lnSpc>
            </a:pPr>
            <a:r>
              <a:rPr lang="en-US" altLang="zh-CN" dirty="0">
                <a:ea typeface="宋体" panose="02010600030101010101" pitchFamily="2" charset="-122"/>
              </a:rPr>
              <a:t>Avoid deep inheritance trees</a:t>
            </a:r>
          </a:p>
          <a:p>
            <a:pPr lvl="1">
              <a:lnSpc>
                <a:spcPct val="90000"/>
              </a:lnSpc>
            </a:pPr>
            <a:r>
              <a:rPr lang="en-US" altLang="ko-KR" dirty="0">
                <a:ea typeface="굴림" panose="020B0600000101010101" pitchFamily="34" charset="-127"/>
              </a:rPr>
              <a:t>The deeper they are, the more difficult to understand &amp; implement</a:t>
            </a:r>
          </a:p>
          <a:p>
            <a:r>
              <a:rPr lang="en-US" altLang="ko-KR" sz="2400" dirty="0">
                <a:solidFill>
                  <a:srgbClr val="0000FF"/>
                </a:solidFill>
                <a:ea typeface="굴림" panose="020B0600000101010101" pitchFamily="34" charset="-127"/>
              </a:rPr>
              <a:t>Define common </a:t>
            </a:r>
            <a:r>
              <a:rPr lang="en-US" altLang="zh-CN" sz="2400" dirty="0">
                <a:solidFill>
                  <a:srgbClr val="0000FF"/>
                </a:solidFill>
                <a:ea typeface="宋体" panose="02010600030101010101" pitchFamily="2" charset="-122"/>
              </a:rPr>
              <a:t>structure, behavior, and relationships</a:t>
            </a:r>
            <a:r>
              <a:rPr lang="en-US" altLang="ko-KR" sz="2400" dirty="0">
                <a:solidFill>
                  <a:srgbClr val="0000FF"/>
                </a:solidFill>
                <a:ea typeface="굴림" panose="020B0600000101010101" pitchFamily="34" charset="-127"/>
              </a:rPr>
              <a:t> </a:t>
            </a:r>
            <a:r>
              <a:rPr lang="en-US" altLang="zh-CN" sz="2400" dirty="0">
                <a:solidFill>
                  <a:srgbClr val="0000FF"/>
                </a:solidFill>
                <a:ea typeface="宋体" panose="02010600030101010101" pitchFamily="2" charset="-122"/>
              </a:rPr>
              <a:t>at the highest level in the inheritance hierarchy at which they are applicable </a:t>
            </a:r>
            <a:endParaRPr lang="en-US" altLang="ko-KR" sz="2400" dirty="0">
              <a:solidFill>
                <a:srgbClr val="0000FF"/>
              </a:solidFill>
              <a:ea typeface="굴림" panose="020B0600000101010101" pitchFamily="34" charset="-127"/>
            </a:endParaRPr>
          </a:p>
          <a:p>
            <a:r>
              <a:rPr lang="en-US" altLang="ko-KR" sz="2400" dirty="0">
                <a:ea typeface="굴림" panose="020B0600000101010101" pitchFamily="34" charset="-127"/>
              </a:rPr>
              <a:t>Classes </a:t>
            </a:r>
            <a:r>
              <a:rPr lang="en-US" altLang="zh-CN" sz="2400" dirty="0">
                <a:ea typeface="宋体" panose="02010600030101010101" pitchFamily="2" charset="-122"/>
              </a:rPr>
              <a:t>relationship should always be able to pass the “is a” test </a:t>
            </a:r>
            <a:endParaRPr lang="en-US" altLang="ko-KR" sz="2400" dirty="0">
              <a:ea typeface="굴림" panose="020B0600000101010101" pitchFamily="34" charset="-127"/>
            </a:endParaRPr>
          </a:p>
          <a:p>
            <a:pPr lvl="1"/>
            <a:r>
              <a:rPr lang="en-US" altLang="ko-KR" sz="2000" dirty="0">
                <a:ea typeface="굴림" panose="020B0600000101010101" pitchFamily="34" charset="-127"/>
              </a:rPr>
              <a:t>A</a:t>
            </a:r>
            <a:r>
              <a:rPr lang="en-US" altLang="zh-CN" sz="2000" dirty="0">
                <a:ea typeface="宋体" panose="02010600030101010101" pitchFamily="2" charset="-122"/>
              </a:rPr>
              <a:t> subclass must maintain complete compatibility with its superclass</a:t>
            </a:r>
            <a:endParaRPr lang="en-US" altLang="ko-KR" dirty="0">
              <a:ea typeface="굴림" panose="020B0600000101010101" pitchFamily="34" charset="-127"/>
            </a:endParaRPr>
          </a:p>
          <a:p>
            <a:pPr>
              <a:lnSpc>
                <a:spcPct val="90000"/>
              </a:lnSpc>
              <a:buFont typeface="Wingdings" pitchFamily="2" charset="2"/>
              <a:buNone/>
            </a:pPr>
            <a:endParaRPr lang="en-US" altLang="ko-KR" dirty="0">
              <a:ea typeface="굴림" panose="020B0600000101010101" pitchFamily="34"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702</TotalTime>
  <Words>3336</Words>
  <Application>Microsoft Macintosh PowerPoint</Application>
  <PresentationFormat>Widescreen</PresentationFormat>
  <Paragraphs>243</Paragraphs>
  <Slides>56</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굴림</vt:lpstr>
      <vt:lpstr>宋体</vt:lpstr>
      <vt:lpstr>Aptos</vt:lpstr>
      <vt:lpstr>Aptos Display</vt:lpstr>
      <vt:lpstr>Arial</vt:lpstr>
      <vt:lpstr>Wingdings</vt:lpstr>
      <vt:lpstr>Office Theme</vt:lpstr>
      <vt:lpstr>CS 331</vt:lpstr>
      <vt:lpstr>Inheritance: Generalization and Specialization</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Pointers</vt:lpstr>
      <vt:lpstr>Inheritance and Pointers</vt:lpstr>
      <vt:lpstr>Inheritance and Pointers</vt:lpstr>
      <vt:lpstr>Inheritance and Pointers</vt:lpstr>
      <vt:lpstr>Superclasses and Subclasses</vt:lpstr>
      <vt:lpstr>Protected Members and Class Access</vt:lpstr>
      <vt:lpstr>Protected Members and Class Access</vt:lpstr>
      <vt:lpstr>Protected Members and Class Access</vt:lpstr>
      <vt:lpstr>Example</vt:lpstr>
      <vt:lpstr>Example</vt:lpstr>
      <vt:lpstr>Protected Members</vt:lpstr>
      <vt:lpstr>Base Access Specifications</vt:lpstr>
      <vt:lpstr>Base Access Specifications</vt:lpstr>
      <vt:lpstr>Base Access Specifications</vt:lpstr>
      <vt:lpstr>Base Access Specifications</vt:lpstr>
      <vt:lpstr>Base Access Specifications</vt:lpstr>
      <vt:lpstr>Base Access Specifications</vt:lpstr>
      <vt:lpstr>Constructors, Destructors, and Inheritance</vt:lpstr>
      <vt:lpstr>Constructors, Destructors, and Inheritance</vt:lpstr>
      <vt:lpstr>Constructors, Destructors, and Inheritance</vt:lpstr>
      <vt:lpstr>Constructors, Destructors, and Inheritance</vt:lpstr>
      <vt:lpstr>Multiple Inheritance</vt:lpstr>
      <vt:lpstr>Example</vt:lpstr>
      <vt:lpstr>Passing Arguments to Base Class Constructors</vt:lpstr>
      <vt:lpstr>Passing Arguments to Base Class Constructors</vt:lpstr>
      <vt:lpstr>Passing Arguments to Base Class Constructors</vt:lpstr>
      <vt:lpstr>Passing Arguments to Base Class Constructors</vt:lpstr>
      <vt:lpstr>Passing Arguments to Base Class Constructors</vt:lpstr>
      <vt:lpstr>Example</vt:lpstr>
      <vt:lpstr>Overriding Base Class Functions</vt:lpstr>
      <vt:lpstr>Overriding Base Class Functions</vt:lpstr>
      <vt:lpstr>Overriding Base Class Functions</vt:lpstr>
      <vt:lpstr>Overriding Base Class Functions</vt:lpstr>
      <vt:lpstr>Choosing Between Base and Derived Class Versions of an Overriden Function</vt:lpstr>
      <vt:lpstr>Choosing Between Base and Derived Class Versions of an Overriden Function</vt:lpstr>
      <vt:lpstr>The Difference Between Overloading and Overriding</vt:lpstr>
      <vt:lpstr>Gaining Access to an Overridden Member Function</vt:lpstr>
      <vt:lpstr>Gaining Access to an Overridden Member Function</vt:lpstr>
      <vt:lpstr>Gaining Access to an Overridden Member Function</vt:lpstr>
      <vt:lpstr>Benefits of Inheritance</vt:lpstr>
      <vt:lpstr>Benefits of Inheritance</vt:lpstr>
      <vt:lpstr>Cost of inheritance</vt:lpstr>
      <vt:lpstr>Improper use of Inheritance</vt:lpstr>
      <vt:lpstr>Inheritance guidelines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22</cp:revision>
  <dcterms:created xsi:type="dcterms:W3CDTF">2024-10-24T09:12:51Z</dcterms:created>
  <dcterms:modified xsi:type="dcterms:W3CDTF">2024-11-12T12:37:15Z</dcterms:modified>
</cp:coreProperties>
</file>