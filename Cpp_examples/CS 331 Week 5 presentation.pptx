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ferSingleView="1">
    <p:restoredLeft sz="15637"/>
    <p:restoredTop sz="94694"/>
  </p:normalViewPr>
  <p:slideViewPr>
    <p:cSldViewPr snapToGrid="0">
      <p:cViewPr varScale="1">
        <p:scale>
          <a:sx n="129" d="100"/>
          <a:sy n="129" d="100"/>
        </p:scale>
        <p:origin x="1144" y="200"/>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CE01D0-F1EC-1243-9AD4-91C9E3646098}" type="datetimeFigureOut">
              <a:rPr lang="en-US" smtClean="0"/>
              <a:t>9/24/24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CC06A0-375C-314B-86CC-A06D6D3EE7A1}" type="slidenum">
              <a:rPr lang="en-US" smtClean="0"/>
              <a:t>‹#›</a:t>
            </a:fld>
            <a:endParaRPr lang="en-US"/>
          </a:p>
        </p:txBody>
      </p:sp>
    </p:spTree>
    <p:extLst>
      <p:ext uri="{BB962C8B-B14F-4D97-AF65-F5344CB8AC3E}">
        <p14:creationId xmlns:p14="http://schemas.microsoft.com/office/powerpoint/2010/main" val="1352329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CC06A0-375C-314B-86CC-A06D6D3EE7A1}" type="slidenum">
              <a:rPr lang="en-US" smtClean="0"/>
              <a:t>7</a:t>
            </a:fld>
            <a:endParaRPr lang="en-US"/>
          </a:p>
        </p:txBody>
      </p:sp>
    </p:spTree>
    <p:extLst>
      <p:ext uri="{BB962C8B-B14F-4D97-AF65-F5344CB8AC3E}">
        <p14:creationId xmlns:p14="http://schemas.microsoft.com/office/powerpoint/2010/main" val="306640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34952-0ABB-E3EB-BD54-A7557F3238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ADF8661-4A68-2DCB-2825-C4F5457F6D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E25DB5-CAF9-64FC-0029-B294877BF38B}"/>
              </a:ext>
            </a:extLst>
          </p:cNvPr>
          <p:cNvSpPr>
            <a:spLocks noGrp="1"/>
          </p:cNvSpPr>
          <p:nvPr>
            <p:ph type="dt" sz="half" idx="10"/>
          </p:nvPr>
        </p:nvSpPr>
        <p:spPr/>
        <p:txBody>
          <a:bodyPr/>
          <a:lstStyle/>
          <a:p>
            <a:fld id="{E3547F81-CA9E-F24D-B7CB-69EC3EA8820C}" type="datetimeFigureOut">
              <a:rPr lang="en-US" smtClean="0"/>
              <a:t>9/24/24</a:t>
            </a:fld>
            <a:endParaRPr lang="en-US"/>
          </a:p>
        </p:txBody>
      </p:sp>
      <p:sp>
        <p:nvSpPr>
          <p:cNvPr id="5" name="Footer Placeholder 4">
            <a:extLst>
              <a:ext uri="{FF2B5EF4-FFF2-40B4-BE49-F238E27FC236}">
                <a16:creationId xmlns:a16="http://schemas.microsoft.com/office/drawing/2014/main" id="{166B4977-201F-0C21-0256-FC1ADA898E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9E8D20-4A2E-8F60-E6D7-19557A88CDF5}"/>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3419331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5D48F-2BA6-E202-08C2-05C2BCE2B5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25EA6C-020D-105D-067E-389A4932D1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E353D1-D40C-387A-DD01-FAFA3FCC1EBB}"/>
              </a:ext>
            </a:extLst>
          </p:cNvPr>
          <p:cNvSpPr>
            <a:spLocks noGrp="1"/>
          </p:cNvSpPr>
          <p:nvPr>
            <p:ph type="dt" sz="half" idx="10"/>
          </p:nvPr>
        </p:nvSpPr>
        <p:spPr/>
        <p:txBody>
          <a:bodyPr/>
          <a:lstStyle/>
          <a:p>
            <a:fld id="{E3547F81-CA9E-F24D-B7CB-69EC3EA8820C}" type="datetimeFigureOut">
              <a:rPr lang="en-US" smtClean="0"/>
              <a:t>9/24/24</a:t>
            </a:fld>
            <a:endParaRPr lang="en-US"/>
          </a:p>
        </p:txBody>
      </p:sp>
      <p:sp>
        <p:nvSpPr>
          <p:cNvPr id="5" name="Footer Placeholder 4">
            <a:extLst>
              <a:ext uri="{FF2B5EF4-FFF2-40B4-BE49-F238E27FC236}">
                <a16:creationId xmlns:a16="http://schemas.microsoft.com/office/drawing/2014/main" id="{93F4B1D8-77AE-0B15-9FAA-392CB29758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EA40F1-3C1B-CAC3-8399-FFEB625F1705}"/>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718605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7F26-2EF7-FD02-0C22-A366DD89EB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8B4405-A4E8-F8D6-38D4-4C68063029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434D4B-27E8-7017-206E-08C37750BCE9}"/>
              </a:ext>
            </a:extLst>
          </p:cNvPr>
          <p:cNvSpPr>
            <a:spLocks noGrp="1"/>
          </p:cNvSpPr>
          <p:nvPr>
            <p:ph type="dt" sz="half" idx="10"/>
          </p:nvPr>
        </p:nvSpPr>
        <p:spPr/>
        <p:txBody>
          <a:bodyPr/>
          <a:lstStyle/>
          <a:p>
            <a:fld id="{E3547F81-CA9E-F24D-B7CB-69EC3EA8820C}" type="datetimeFigureOut">
              <a:rPr lang="en-US" smtClean="0"/>
              <a:t>9/24/24</a:t>
            </a:fld>
            <a:endParaRPr lang="en-US"/>
          </a:p>
        </p:txBody>
      </p:sp>
      <p:sp>
        <p:nvSpPr>
          <p:cNvPr id="5" name="Footer Placeholder 4">
            <a:extLst>
              <a:ext uri="{FF2B5EF4-FFF2-40B4-BE49-F238E27FC236}">
                <a16:creationId xmlns:a16="http://schemas.microsoft.com/office/drawing/2014/main" id="{4AA59759-7973-2BDC-8EE4-15D2334D17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9EEEB8-EFFB-39A0-A87A-7F1DFE6584BC}"/>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1785961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29B84-9CA6-9492-3F92-6C112BF907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36D44B-E729-0741-FEC6-1A2844A9AE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4F0704C-DD2D-10AE-BEB1-76FFB55C27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28559A8-F758-3D1C-1375-96B5F9267B59}"/>
              </a:ext>
            </a:extLst>
          </p:cNvPr>
          <p:cNvSpPr>
            <a:spLocks noGrp="1"/>
          </p:cNvSpPr>
          <p:nvPr>
            <p:ph type="dt" sz="half" idx="10"/>
          </p:nvPr>
        </p:nvSpPr>
        <p:spPr/>
        <p:txBody>
          <a:bodyPr/>
          <a:lstStyle/>
          <a:p>
            <a:fld id="{E3547F81-CA9E-F24D-B7CB-69EC3EA8820C}" type="datetimeFigureOut">
              <a:rPr lang="en-US" smtClean="0"/>
              <a:t>9/24/24</a:t>
            </a:fld>
            <a:endParaRPr lang="en-US"/>
          </a:p>
        </p:txBody>
      </p:sp>
      <p:sp>
        <p:nvSpPr>
          <p:cNvPr id="6" name="Footer Placeholder 5">
            <a:extLst>
              <a:ext uri="{FF2B5EF4-FFF2-40B4-BE49-F238E27FC236}">
                <a16:creationId xmlns:a16="http://schemas.microsoft.com/office/drawing/2014/main" id="{98237F09-6E19-D116-13CB-6735D16604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BCB829-85C9-F371-3105-1395E4EBD3D6}"/>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1048541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5924E-DD50-B31D-30DB-19794757D1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92B59F-859F-DC0B-DC6D-0C9AD93D4A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16500F-D950-B7A2-EEE5-7AA132076D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7FAE6B-EB20-3D6B-6B80-4F778C7830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6A375D-3378-E9E3-CF82-77F0010C6B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C5E8BA-7980-17AA-56EB-5C72F4A04EAC}"/>
              </a:ext>
            </a:extLst>
          </p:cNvPr>
          <p:cNvSpPr>
            <a:spLocks noGrp="1"/>
          </p:cNvSpPr>
          <p:nvPr>
            <p:ph type="dt" sz="half" idx="10"/>
          </p:nvPr>
        </p:nvSpPr>
        <p:spPr/>
        <p:txBody>
          <a:bodyPr/>
          <a:lstStyle/>
          <a:p>
            <a:fld id="{E3547F81-CA9E-F24D-B7CB-69EC3EA8820C}" type="datetimeFigureOut">
              <a:rPr lang="en-US" smtClean="0"/>
              <a:t>9/24/24</a:t>
            </a:fld>
            <a:endParaRPr lang="en-US"/>
          </a:p>
        </p:txBody>
      </p:sp>
      <p:sp>
        <p:nvSpPr>
          <p:cNvPr id="8" name="Footer Placeholder 7">
            <a:extLst>
              <a:ext uri="{FF2B5EF4-FFF2-40B4-BE49-F238E27FC236}">
                <a16:creationId xmlns:a16="http://schemas.microsoft.com/office/drawing/2014/main" id="{15B21345-B93C-5CE9-90EA-6B0A6CB6091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4CAE7F-DF38-ED3D-A1D9-FA469BA9D326}"/>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4058527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192A8-88CD-3790-753F-5D1433CE30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15C9387-1113-3F28-FB23-6C6DE0B9056E}"/>
              </a:ext>
            </a:extLst>
          </p:cNvPr>
          <p:cNvSpPr>
            <a:spLocks noGrp="1"/>
          </p:cNvSpPr>
          <p:nvPr>
            <p:ph type="dt" sz="half" idx="10"/>
          </p:nvPr>
        </p:nvSpPr>
        <p:spPr/>
        <p:txBody>
          <a:bodyPr/>
          <a:lstStyle/>
          <a:p>
            <a:fld id="{E3547F81-CA9E-F24D-B7CB-69EC3EA8820C}" type="datetimeFigureOut">
              <a:rPr lang="en-US" smtClean="0"/>
              <a:t>9/24/24</a:t>
            </a:fld>
            <a:endParaRPr lang="en-US"/>
          </a:p>
        </p:txBody>
      </p:sp>
      <p:sp>
        <p:nvSpPr>
          <p:cNvPr id="4" name="Footer Placeholder 3">
            <a:extLst>
              <a:ext uri="{FF2B5EF4-FFF2-40B4-BE49-F238E27FC236}">
                <a16:creationId xmlns:a16="http://schemas.microsoft.com/office/drawing/2014/main" id="{E451F55F-4346-7F59-3022-33FEDC36EF1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42DE72-9C3B-3D2E-9459-ED4C986A36FC}"/>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841970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E8181F-73B4-CB9D-9D73-633F1F617F7F}"/>
              </a:ext>
            </a:extLst>
          </p:cNvPr>
          <p:cNvSpPr>
            <a:spLocks noGrp="1"/>
          </p:cNvSpPr>
          <p:nvPr>
            <p:ph type="dt" sz="half" idx="10"/>
          </p:nvPr>
        </p:nvSpPr>
        <p:spPr/>
        <p:txBody>
          <a:bodyPr/>
          <a:lstStyle/>
          <a:p>
            <a:fld id="{E3547F81-CA9E-F24D-B7CB-69EC3EA8820C}" type="datetimeFigureOut">
              <a:rPr lang="en-US" smtClean="0"/>
              <a:t>9/24/24</a:t>
            </a:fld>
            <a:endParaRPr lang="en-US"/>
          </a:p>
        </p:txBody>
      </p:sp>
      <p:sp>
        <p:nvSpPr>
          <p:cNvPr id="3" name="Footer Placeholder 2">
            <a:extLst>
              <a:ext uri="{FF2B5EF4-FFF2-40B4-BE49-F238E27FC236}">
                <a16:creationId xmlns:a16="http://schemas.microsoft.com/office/drawing/2014/main" id="{62067ED3-4B7B-34DE-569E-FF69A72B5F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446D9C-6B2D-5ADE-C9E3-BF73C5B2634E}"/>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259294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109AE-F972-937D-5266-650428DFE1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AF151A8-D835-3C20-2B8C-442C55F09F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7DAF806-E7F8-2BD9-4038-9CD35D24B1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8846B1-A463-A1FF-B9B0-5AEF42456641}"/>
              </a:ext>
            </a:extLst>
          </p:cNvPr>
          <p:cNvSpPr>
            <a:spLocks noGrp="1"/>
          </p:cNvSpPr>
          <p:nvPr>
            <p:ph type="dt" sz="half" idx="10"/>
          </p:nvPr>
        </p:nvSpPr>
        <p:spPr/>
        <p:txBody>
          <a:bodyPr/>
          <a:lstStyle/>
          <a:p>
            <a:fld id="{E3547F81-CA9E-F24D-B7CB-69EC3EA8820C}" type="datetimeFigureOut">
              <a:rPr lang="en-US" smtClean="0"/>
              <a:t>9/24/24</a:t>
            </a:fld>
            <a:endParaRPr lang="en-US"/>
          </a:p>
        </p:txBody>
      </p:sp>
      <p:sp>
        <p:nvSpPr>
          <p:cNvPr id="6" name="Footer Placeholder 5">
            <a:extLst>
              <a:ext uri="{FF2B5EF4-FFF2-40B4-BE49-F238E27FC236}">
                <a16:creationId xmlns:a16="http://schemas.microsoft.com/office/drawing/2014/main" id="{37D6AF0B-78F4-1D9E-B541-F2D7C47E00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8CD184-94DE-CD9F-70D3-1332A3D0F8A9}"/>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3666784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29F04-DDF3-37EB-575F-7BBEE51A9B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B59522-66AE-1960-C03A-FA27FDE7C3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F15A31-FD6C-6193-E04C-7030A3C176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D29C75-412B-2254-C5C1-341D13F153BF}"/>
              </a:ext>
            </a:extLst>
          </p:cNvPr>
          <p:cNvSpPr>
            <a:spLocks noGrp="1"/>
          </p:cNvSpPr>
          <p:nvPr>
            <p:ph type="dt" sz="half" idx="10"/>
          </p:nvPr>
        </p:nvSpPr>
        <p:spPr/>
        <p:txBody>
          <a:bodyPr/>
          <a:lstStyle/>
          <a:p>
            <a:fld id="{E3547F81-CA9E-F24D-B7CB-69EC3EA8820C}" type="datetimeFigureOut">
              <a:rPr lang="en-US" smtClean="0"/>
              <a:t>9/24/24</a:t>
            </a:fld>
            <a:endParaRPr lang="en-US"/>
          </a:p>
        </p:txBody>
      </p:sp>
      <p:sp>
        <p:nvSpPr>
          <p:cNvPr id="6" name="Footer Placeholder 5">
            <a:extLst>
              <a:ext uri="{FF2B5EF4-FFF2-40B4-BE49-F238E27FC236}">
                <a16:creationId xmlns:a16="http://schemas.microsoft.com/office/drawing/2014/main" id="{804575A7-1B37-B6B6-24BC-ADB35B96D0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34706C-3B1F-3685-02C5-0EA62C839535}"/>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2974976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EF329-8993-25B6-97FB-01AB6162E05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32DA59-569B-4611-34DE-745FDEA539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6C2564-7BB5-A362-6C7E-6F6C5401DE6A}"/>
              </a:ext>
            </a:extLst>
          </p:cNvPr>
          <p:cNvSpPr>
            <a:spLocks noGrp="1"/>
          </p:cNvSpPr>
          <p:nvPr>
            <p:ph type="dt" sz="half" idx="10"/>
          </p:nvPr>
        </p:nvSpPr>
        <p:spPr/>
        <p:txBody>
          <a:bodyPr/>
          <a:lstStyle/>
          <a:p>
            <a:fld id="{E3547F81-CA9E-F24D-B7CB-69EC3EA8820C}" type="datetimeFigureOut">
              <a:rPr lang="en-US" smtClean="0"/>
              <a:t>9/24/24</a:t>
            </a:fld>
            <a:endParaRPr lang="en-US"/>
          </a:p>
        </p:txBody>
      </p:sp>
      <p:sp>
        <p:nvSpPr>
          <p:cNvPr id="5" name="Footer Placeholder 4">
            <a:extLst>
              <a:ext uri="{FF2B5EF4-FFF2-40B4-BE49-F238E27FC236}">
                <a16:creationId xmlns:a16="http://schemas.microsoft.com/office/drawing/2014/main" id="{AE7768D0-C914-98EA-7050-F3FF2D778C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484331-885E-7491-2FD6-9472506B5CB7}"/>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1245694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1DB481-7DBF-230C-88AD-FAC3D8D45A5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E3D89F-7639-AC23-B279-9BC66DAA3F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1CA1C4-1F33-1B6A-62DE-3B91FBAD94B5}"/>
              </a:ext>
            </a:extLst>
          </p:cNvPr>
          <p:cNvSpPr>
            <a:spLocks noGrp="1"/>
          </p:cNvSpPr>
          <p:nvPr>
            <p:ph type="dt" sz="half" idx="10"/>
          </p:nvPr>
        </p:nvSpPr>
        <p:spPr/>
        <p:txBody>
          <a:bodyPr/>
          <a:lstStyle/>
          <a:p>
            <a:fld id="{E3547F81-CA9E-F24D-B7CB-69EC3EA8820C}" type="datetimeFigureOut">
              <a:rPr lang="en-US" smtClean="0"/>
              <a:t>9/24/24</a:t>
            </a:fld>
            <a:endParaRPr lang="en-US"/>
          </a:p>
        </p:txBody>
      </p:sp>
      <p:sp>
        <p:nvSpPr>
          <p:cNvPr id="5" name="Footer Placeholder 4">
            <a:extLst>
              <a:ext uri="{FF2B5EF4-FFF2-40B4-BE49-F238E27FC236}">
                <a16:creationId xmlns:a16="http://schemas.microsoft.com/office/drawing/2014/main" id="{6E71D24E-634B-FB12-B648-D3E28D9510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3D0D47-A0AF-D529-F54C-0CB2FDDA2ED9}"/>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1315067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D9F07B-52EF-1B2F-57CD-913C702057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FA861F-FDB9-3320-6E9E-002B09D8F9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375EC4-3E99-51C5-A984-3376CB2A4E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547F81-CA9E-F24D-B7CB-69EC3EA8820C}" type="datetimeFigureOut">
              <a:rPr lang="en-US" smtClean="0"/>
              <a:t>9/24/24</a:t>
            </a:fld>
            <a:endParaRPr lang="en-US"/>
          </a:p>
        </p:txBody>
      </p:sp>
      <p:sp>
        <p:nvSpPr>
          <p:cNvPr id="5" name="Footer Placeholder 4">
            <a:extLst>
              <a:ext uri="{FF2B5EF4-FFF2-40B4-BE49-F238E27FC236}">
                <a16:creationId xmlns:a16="http://schemas.microsoft.com/office/drawing/2014/main" id="{CE3C1D67-CF29-4574-668F-26B8C49914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D4B7BE8-88D0-5035-02C1-50A579A5F4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5ECC7B-11E3-F246-9687-BB39A0F3A7BF}" type="slidenum">
              <a:rPr lang="en-US" smtClean="0"/>
              <a:t>‹#›</a:t>
            </a:fld>
            <a:endParaRPr lang="en-US"/>
          </a:p>
        </p:txBody>
      </p:sp>
    </p:spTree>
    <p:extLst>
      <p:ext uri="{BB962C8B-B14F-4D97-AF65-F5344CB8AC3E}">
        <p14:creationId xmlns:p14="http://schemas.microsoft.com/office/powerpoint/2010/main" val="39512463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plus.pearson.com/products/38bfda0e-08b5-4b34-9a14-38c88560fefb/pages/urn:pearson:entity:12555258-4579-4fdc-b953-d963ed78638a?userPreferredType=read"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plus.pearson.com/products/38bfda0e-08b5-4b34-9a14-38c88560fefb/pages/urn:pearson:entity:435f4058-1b5f-45af-879a-7ada7c8effd5?userPreferredType=read"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plus.pearson.com/products/38bfda0e-08b5-4b34-9a14-38c88560fefb/pages/urn:pearson:entity:432d2def-9ac0-4cef-86b7-4644c375586b?userPreferredType=read"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5436D-51CD-D0A4-CC87-277B6B4EF724}"/>
              </a:ext>
            </a:extLst>
          </p:cNvPr>
          <p:cNvSpPr>
            <a:spLocks noGrp="1"/>
          </p:cNvSpPr>
          <p:nvPr>
            <p:ph type="ctrTitle"/>
          </p:nvPr>
        </p:nvSpPr>
        <p:spPr/>
        <p:txBody>
          <a:bodyPr/>
          <a:lstStyle/>
          <a:p>
            <a:r>
              <a:rPr lang="en-US" dirty="0"/>
              <a:t>Week 5</a:t>
            </a:r>
            <a:br>
              <a:rPr lang="en-US" dirty="0"/>
            </a:br>
            <a:r>
              <a:rPr lang="en-US" dirty="0"/>
              <a:t>Array and Vector part 1</a:t>
            </a:r>
          </a:p>
        </p:txBody>
      </p:sp>
      <p:sp>
        <p:nvSpPr>
          <p:cNvPr id="3" name="Subtitle 2">
            <a:extLst>
              <a:ext uri="{FF2B5EF4-FFF2-40B4-BE49-F238E27FC236}">
                <a16:creationId xmlns:a16="http://schemas.microsoft.com/office/drawing/2014/main" id="{ED5EC1F6-1004-49AB-1B9A-8B4C198642CF}"/>
              </a:ext>
            </a:extLst>
          </p:cNvPr>
          <p:cNvSpPr>
            <a:spLocks noGrp="1"/>
          </p:cNvSpPr>
          <p:nvPr>
            <p:ph type="subTitle" idx="1"/>
          </p:nvPr>
        </p:nvSpPr>
        <p:spPr/>
        <p:txBody>
          <a:bodyPr/>
          <a:lstStyle/>
          <a:p>
            <a:r>
              <a:rPr lang="en-US" dirty="0"/>
              <a:t>CS 331</a:t>
            </a:r>
          </a:p>
          <a:p>
            <a:r>
              <a:rPr lang="en-US" dirty="0"/>
              <a:t>An introduction to C++ and Object-Oriented Programming</a:t>
            </a:r>
          </a:p>
          <a:p>
            <a:r>
              <a:rPr lang="en-US" dirty="0"/>
              <a:t>MD Romael Haque</a:t>
            </a:r>
          </a:p>
          <a:p>
            <a:endParaRPr lang="en-US" dirty="0"/>
          </a:p>
        </p:txBody>
      </p:sp>
    </p:spTree>
    <p:extLst>
      <p:ext uri="{BB962C8B-B14F-4D97-AF65-F5344CB8AC3E}">
        <p14:creationId xmlns:p14="http://schemas.microsoft.com/office/powerpoint/2010/main" val="1775600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5FA54-0C3C-257D-19AD-67AB4B58DDF7}"/>
              </a:ext>
            </a:extLst>
          </p:cNvPr>
          <p:cNvSpPr>
            <a:spLocks noGrp="1"/>
          </p:cNvSpPr>
          <p:nvPr>
            <p:ph type="title"/>
          </p:nvPr>
        </p:nvSpPr>
        <p:spPr/>
        <p:txBody>
          <a:bodyPr/>
          <a:lstStyle/>
          <a:p>
            <a:r>
              <a:rPr lang="en-US" dirty="0"/>
              <a:t>Arrays Hold Multiple Values</a:t>
            </a:r>
          </a:p>
        </p:txBody>
      </p:sp>
      <p:sp>
        <p:nvSpPr>
          <p:cNvPr id="3" name="Content Placeholder 2">
            <a:extLst>
              <a:ext uri="{FF2B5EF4-FFF2-40B4-BE49-F238E27FC236}">
                <a16:creationId xmlns:a16="http://schemas.microsoft.com/office/drawing/2014/main" id="{FF5C4562-309D-5A9B-08E1-9A8652830C83}"/>
              </a:ext>
            </a:extLst>
          </p:cNvPr>
          <p:cNvSpPr>
            <a:spLocks noGrp="1"/>
          </p:cNvSpPr>
          <p:nvPr>
            <p:ph idx="1"/>
          </p:nvPr>
        </p:nvSpPr>
        <p:spPr/>
        <p:txBody>
          <a:bodyPr/>
          <a:lstStyle/>
          <a:p>
            <a:r>
              <a:rPr lang="en-US" dirty="0"/>
              <a:t>An array allows you to store and work with multiple values of the same data type.</a:t>
            </a:r>
          </a:p>
          <a:p>
            <a:endParaRPr lang="en-US" dirty="0"/>
          </a:p>
          <a:p>
            <a:endParaRPr lang="en-US" dirty="0"/>
          </a:p>
          <a:p>
            <a:endParaRPr lang="en-US" dirty="0"/>
          </a:p>
          <a:p>
            <a:r>
              <a:rPr lang="en-US" dirty="0"/>
              <a:t>An array works like a variable that can store a group of values, all of the same type. The values are stored together in consecutive memory locations. Here is a definition of an array of integers:</a:t>
            </a:r>
          </a:p>
          <a:p>
            <a:pPr lvl="1"/>
            <a:r>
              <a:rPr lang="en-US" b="1" i="1" dirty="0">
                <a:solidFill>
                  <a:srgbClr val="0070C0"/>
                </a:solidFill>
                <a:effectLst/>
              </a:rPr>
              <a:t>int</a:t>
            </a:r>
            <a:r>
              <a:rPr lang="en-US" b="1" i="1" dirty="0">
                <a:solidFill>
                  <a:srgbClr val="0070C0"/>
                </a:solidFill>
              </a:rPr>
              <a:t> hours[</a:t>
            </a:r>
            <a:r>
              <a:rPr lang="en-US" b="1" i="1" dirty="0">
                <a:solidFill>
                  <a:srgbClr val="0070C0"/>
                </a:solidFill>
                <a:effectLst/>
              </a:rPr>
              <a:t>6</a:t>
            </a:r>
            <a:r>
              <a:rPr lang="en-US" b="1" i="1" dirty="0">
                <a:solidFill>
                  <a:srgbClr val="0070C0"/>
                </a:solidFill>
              </a:rPr>
              <a:t>];</a:t>
            </a:r>
          </a:p>
          <a:p>
            <a:endParaRPr lang="en-US" dirty="0"/>
          </a:p>
        </p:txBody>
      </p:sp>
      <p:pic>
        <p:nvPicPr>
          <p:cNvPr id="4" name="Picture 3">
            <a:extLst>
              <a:ext uri="{FF2B5EF4-FFF2-40B4-BE49-F238E27FC236}">
                <a16:creationId xmlns:a16="http://schemas.microsoft.com/office/drawing/2014/main" id="{FCFC257D-E8CC-0220-54BD-A6BAF50B529A}"/>
              </a:ext>
            </a:extLst>
          </p:cNvPr>
          <p:cNvPicPr>
            <a:picLocks noChangeAspect="1"/>
          </p:cNvPicPr>
          <p:nvPr/>
        </p:nvPicPr>
        <p:blipFill>
          <a:blip r:embed="rId2"/>
          <a:stretch>
            <a:fillRect/>
          </a:stretch>
        </p:blipFill>
        <p:spPr>
          <a:xfrm>
            <a:off x="3625850" y="2895600"/>
            <a:ext cx="4940300" cy="1066800"/>
          </a:xfrm>
          <a:prstGeom prst="rect">
            <a:avLst/>
          </a:prstGeom>
        </p:spPr>
      </p:pic>
      <p:pic>
        <p:nvPicPr>
          <p:cNvPr id="5" name="Picture 4">
            <a:extLst>
              <a:ext uri="{FF2B5EF4-FFF2-40B4-BE49-F238E27FC236}">
                <a16:creationId xmlns:a16="http://schemas.microsoft.com/office/drawing/2014/main" id="{B1179398-A6F3-C001-9DB4-06878C6673D6}"/>
              </a:ext>
            </a:extLst>
          </p:cNvPr>
          <p:cNvPicPr>
            <a:picLocks noChangeAspect="1"/>
          </p:cNvPicPr>
          <p:nvPr/>
        </p:nvPicPr>
        <p:blipFill>
          <a:blip r:embed="rId3"/>
          <a:stretch>
            <a:fillRect/>
          </a:stretch>
        </p:blipFill>
        <p:spPr>
          <a:xfrm>
            <a:off x="4965235" y="5675313"/>
            <a:ext cx="4838700" cy="1003300"/>
          </a:xfrm>
          <a:prstGeom prst="rect">
            <a:avLst/>
          </a:prstGeom>
        </p:spPr>
      </p:pic>
    </p:spTree>
    <p:extLst>
      <p:ext uri="{BB962C8B-B14F-4D97-AF65-F5344CB8AC3E}">
        <p14:creationId xmlns:p14="http://schemas.microsoft.com/office/powerpoint/2010/main" val="1206366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93F40-D188-5ACE-252E-2ADBBA2A23F3}"/>
              </a:ext>
            </a:extLst>
          </p:cNvPr>
          <p:cNvSpPr>
            <a:spLocks noGrp="1"/>
          </p:cNvSpPr>
          <p:nvPr>
            <p:ph type="title"/>
          </p:nvPr>
        </p:nvSpPr>
        <p:spPr/>
        <p:txBody>
          <a:bodyPr/>
          <a:lstStyle/>
          <a:p>
            <a:r>
              <a:rPr lang="en-US" dirty="0"/>
              <a:t>Arrays Hold Multiple Values</a:t>
            </a:r>
          </a:p>
        </p:txBody>
      </p:sp>
      <p:sp>
        <p:nvSpPr>
          <p:cNvPr id="3" name="Content Placeholder 2">
            <a:extLst>
              <a:ext uri="{FF2B5EF4-FFF2-40B4-BE49-F238E27FC236}">
                <a16:creationId xmlns:a16="http://schemas.microsoft.com/office/drawing/2014/main" id="{15D246EB-F2A9-2FB3-21DF-1CC15A30ED8F}"/>
              </a:ext>
            </a:extLst>
          </p:cNvPr>
          <p:cNvSpPr>
            <a:spLocks noGrp="1"/>
          </p:cNvSpPr>
          <p:nvPr>
            <p:ph idx="1"/>
          </p:nvPr>
        </p:nvSpPr>
        <p:spPr/>
        <p:txBody>
          <a:bodyPr/>
          <a:lstStyle/>
          <a:p>
            <a:r>
              <a:rPr lang="en-US" dirty="0"/>
              <a:t>An array’s size declarator must be a constant integer expression with a value greater than zero. It can be either a literal, as in the previous example, or a named constant</a:t>
            </a:r>
          </a:p>
          <a:p>
            <a:endParaRPr lang="en-US" dirty="0"/>
          </a:p>
          <a:p>
            <a:endParaRPr lang="en-US" dirty="0"/>
          </a:p>
          <a:p>
            <a:r>
              <a:rPr lang="en-US" dirty="0"/>
              <a:t>Arrays of any data type can be defined. The following are all valid array definitions:</a:t>
            </a:r>
          </a:p>
          <a:p>
            <a:endParaRPr lang="en-US" dirty="0"/>
          </a:p>
        </p:txBody>
      </p:sp>
      <p:pic>
        <p:nvPicPr>
          <p:cNvPr id="4" name="Picture 3">
            <a:extLst>
              <a:ext uri="{FF2B5EF4-FFF2-40B4-BE49-F238E27FC236}">
                <a16:creationId xmlns:a16="http://schemas.microsoft.com/office/drawing/2014/main" id="{B27904CB-D5D5-F0C8-F383-6E5D1716D29C}"/>
              </a:ext>
            </a:extLst>
          </p:cNvPr>
          <p:cNvPicPr>
            <a:picLocks noChangeAspect="1"/>
          </p:cNvPicPr>
          <p:nvPr/>
        </p:nvPicPr>
        <p:blipFill>
          <a:blip r:embed="rId2"/>
          <a:stretch>
            <a:fillRect/>
          </a:stretch>
        </p:blipFill>
        <p:spPr>
          <a:xfrm>
            <a:off x="1602059" y="3159203"/>
            <a:ext cx="2781986" cy="888690"/>
          </a:xfrm>
          <a:prstGeom prst="rect">
            <a:avLst/>
          </a:prstGeom>
        </p:spPr>
      </p:pic>
      <p:pic>
        <p:nvPicPr>
          <p:cNvPr id="5" name="Picture 4">
            <a:extLst>
              <a:ext uri="{FF2B5EF4-FFF2-40B4-BE49-F238E27FC236}">
                <a16:creationId xmlns:a16="http://schemas.microsoft.com/office/drawing/2014/main" id="{3992A3FF-ED1C-DFA0-30F6-B21AE29F5FF4}"/>
              </a:ext>
            </a:extLst>
          </p:cNvPr>
          <p:cNvPicPr>
            <a:picLocks noChangeAspect="1"/>
          </p:cNvPicPr>
          <p:nvPr/>
        </p:nvPicPr>
        <p:blipFill>
          <a:blip r:embed="rId3"/>
          <a:stretch>
            <a:fillRect/>
          </a:stretch>
        </p:blipFill>
        <p:spPr>
          <a:xfrm>
            <a:off x="1602059" y="5181600"/>
            <a:ext cx="5600700" cy="1130300"/>
          </a:xfrm>
          <a:prstGeom prst="rect">
            <a:avLst/>
          </a:prstGeom>
        </p:spPr>
      </p:pic>
    </p:spTree>
    <p:extLst>
      <p:ext uri="{BB962C8B-B14F-4D97-AF65-F5344CB8AC3E}">
        <p14:creationId xmlns:p14="http://schemas.microsoft.com/office/powerpoint/2010/main" val="3884880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64A15-4B9B-B9FD-8BB6-A344EAB38631}"/>
              </a:ext>
            </a:extLst>
          </p:cNvPr>
          <p:cNvSpPr>
            <a:spLocks noGrp="1"/>
          </p:cNvSpPr>
          <p:nvPr>
            <p:ph type="title"/>
          </p:nvPr>
        </p:nvSpPr>
        <p:spPr/>
        <p:txBody>
          <a:bodyPr/>
          <a:lstStyle/>
          <a:p>
            <a:r>
              <a:rPr lang="en-US" dirty="0"/>
              <a:t>Memory Requirements of Arrays</a:t>
            </a:r>
          </a:p>
        </p:txBody>
      </p:sp>
      <p:sp>
        <p:nvSpPr>
          <p:cNvPr id="3" name="Content Placeholder 2">
            <a:extLst>
              <a:ext uri="{FF2B5EF4-FFF2-40B4-BE49-F238E27FC236}">
                <a16:creationId xmlns:a16="http://schemas.microsoft.com/office/drawing/2014/main" id="{42F53296-2468-9D7E-C912-D748BB11B6AB}"/>
              </a:ext>
            </a:extLst>
          </p:cNvPr>
          <p:cNvSpPr>
            <a:spLocks noGrp="1"/>
          </p:cNvSpPr>
          <p:nvPr>
            <p:ph idx="1"/>
          </p:nvPr>
        </p:nvSpPr>
        <p:spPr/>
        <p:txBody>
          <a:bodyPr/>
          <a:lstStyle/>
          <a:p>
            <a:r>
              <a:rPr lang="en-US" dirty="0"/>
              <a:t>The amount of memory used by an array depends on the array’s data type and the number of elements.</a:t>
            </a:r>
          </a:p>
          <a:p>
            <a:r>
              <a:rPr lang="en-US" dirty="0"/>
              <a:t>The size of an array can be calculated by multiplying the number of bytes needed to store an individual element by the number of elements in the array.</a:t>
            </a:r>
          </a:p>
          <a:p>
            <a:endParaRPr lang="en-US" dirty="0"/>
          </a:p>
        </p:txBody>
      </p:sp>
      <p:pic>
        <p:nvPicPr>
          <p:cNvPr id="4" name="Picture 3">
            <a:extLst>
              <a:ext uri="{FF2B5EF4-FFF2-40B4-BE49-F238E27FC236}">
                <a16:creationId xmlns:a16="http://schemas.microsoft.com/office/drawing/2014/main" id="{D649C6B1-5858-453D-E94C-CD9A2A4CEA33}"/>
              </a:ext>
            </a:extLst>
          </p:cNvPr>
          <p:cNvPicPr>
            <a:picLocks noChangeAspect="1"/>
          </p:cNvPicPr>
          <p:nvPr/>
        </p:nvPicPr>
        <p:blipFill>
          <a:blip r:embed="rId2"/>
          <a:stretch>
            <a:fillRect/>
          </a:stretch>
        </p:blipFill>
        <p:spPr>
          <a:xfrm>
            <a:off x="3067050" y="4084908"/>
            <a:ext cx="6057900" cy="2501900"/>
          </a:xfrm>
          <a:prstGeom prst="rect">
            <a:avLst/>
          </a:prstGeom>
        </p:spPr>
      </p:pic>
    </p:spTree>
    <p:extLst>
      <p:ext uri="{BB962C8B-B14F-4D97-AF65-F5344CB8AC3E}">
        <p14:creationId xmlns:p14="http://schemas.microsoft.com/office/powerpoint/2010/main" val="3732326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930CB-6228-48DD-3817-822345A497C2}"/>
              </a:ext>
            </a:extLst>
          </p:cNvPr>
          <p:cNvSpPr>
            <a:spLocks noGrp="1"/>
          </p:cNvSpPr>
          <p:nvPr>
            <p:ph type="title"/>
          </p:nvPr>
        </p:nvSpPr>
        <p:spPr/>
        <p:txBody>
          <a:bodyPr/>
          <a:lstStyle/>
          <a:p>
            <a:r>
              <a:rPr lang="en-US" dirty="0"/>
              <a:t>Accessing Array Elements</a:t>
            </a:r>
          </a:p>
        </p:txBody>
      </p:sp>
      <p:sp>
        <p:nvSpPr>
          <p:cNvPr id="3" name="Content Placeholder 2">
            <a:extLst>
              <a:ext uri="{FF2B5EF4-FFF2-40B4-BE49-F238E27FC236}">
                <a16:creationId xmlns:a16="http://schemas.microsoft.com/office/drawing/2014/main" id="{89ABD899-B52A-31CD-CC05-93A641FC527B}"/>
              </a:ext>
            </a:extLst>
          </p:cNvPr>
          <p:cNvSpPr>
            <a:spLocks noGrp="1"/>
          </p:cNvSpPr>
          <p:nvPr>
            <p:ph idx="1"/>
          </p:nvPr>
        </p:nvSpPr>
        <p:spPr/>
        <p:txBody>
          <a:bodyPr/>
          <a:lstStyle/>
          <a:p>
            <a:r>
              <a:rPr lang="en-US" dirty="0"/>
              <a:t>Even though an entire array has only one name, the elements may be accessed and used as individual variables. </a:t>
            </a:r>
          </a:p>
          <a:p>
            <a:r>
              <a:rPr lang="en-US" dirty="0"/>
              <a:t>This is possible because each element is assigned a number known as a </a:t>
            </a:r>
            <a:r>
              <a:rPr lang="en-US" b="1" dirty="0">
                <a:hlinkClick r:id="rId2"/>
              </a:rPr>
              <a:t>subscript</a:t>
            </a:r>
            <a:r>
              <a:rPr lang="en-US" dirty="0"/>
              <a:t>. </a:t>
            </a:r>
          </a:p>
          <a:p>
            <a:r>
              <a:rPr lang="en-US" dirty="0"/>
              <a:t>A subscript is used as an index to pinpoint a specific element within an array.</a:t>
            </a:r>
          </a:p>
          <a:p>
            <a:pPr lvl="1"/>
            <a:endParaRPr lang="en-US" dirty="0"/>
          </a:p>
        </p:txBody>
      </p:sp>
      <p:pic>
        <p:nvPicPr>
          <p:cNvPr id="4" name="Picture 3">
            <a:extLst>
              <a:ext uri="{FF2B5EF4-FFF2-40B4-BE49-F238E27FC236}">
                <a16:creationId xmlns:a16="http://schemas.microsoft.com/office/drawing/2014/main" id="{8D5F7A8C-B02C-034E-FB4D-4E45988E644C}"/>
              </a:ext>
            </a:extLst>
          </p:cNvPr>
          <p:cNvPicPr>
            <a:picLocks noChangeAspect="1"/>
          </p:cNvPicPr>
          <p:nvPr/>
        </p:nvPicPr>
        <p:blipFill>
          <a:blip r:embed="rId3"/>
          <a:stretch>
            <a:fillRect/>
          </a:stretch>
        </p:blipFill>
        <p:spPr>
          <a:xfrm>
            <a:off x="3727450" y="4848922"/>
            <a:ext cx="4737100" cy="1219200"/>
          </a:xfrm>
          <a:prstGeom prst="rect">
            <a:avLst/>
          </a:prstGeom>
        </p:spPr>
      </p:pic>
    </p:spTree>
    <p:extLst>
      <p:ext uri="{BB962C8B-B14F-4D97-AF65-F5344CB8AC3E}">
        <p14:creationId xmlns:p14="http://schemas.microsoft.com/office/powerpoint/2010/main" val="3058218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B0F07-3835-B605-174B-DEC933E30B01}"/>
              </a:ext>
            </a:extLst>
          </p:cNvPr>
          <p:cNvSpPr>
            <a:spLocks noGrp="1"/>
          </p:cNvSpPr>
          <p:nvPr>
            <p:ph type="title"/>
          </p:nvPr>
        </p:nvSpPr>
        <p:spPr/>
        <p:txBody>
          <a:bodyPr/>
          <a:lstStyle/>
          <a:p>
            <a:r>
              <a:rPr lang="en-US" dirty="0"/>
              <a:t>Accessing Array Elements</a:t>
            </a:r>
          </a:p>
        </p:txBody>
      </p:sp>
      <p:sp>
        <p:nvSpPr>
          <p:cNvPr id="3" name="Content Placeholder 2">
            <a:extLst>
              <a:ext uri="{FF2B5EF4-FFF2-40B4-BE49-F238E27FC236}">
                <a16:creationId xmlns:a16="http://schemas.microsoft.com/office/drawing/2014/main" id="{A24245C2-B0A0-9A22-37BC-4C29D7E58971}"/>
              </a:ext>
            </a:extLst>
          </p:cNvPr>
          <p:cNvSpPr>
            <a:spLocks noGrp="1"/>
          </p:cNvSpPr>
          <p:nvPr>
            <p:ph idx="1"/>
          </p:nvPr>
        </p:nvSpPr>
        <p:spPr/>
        <p:txBody>
          <a:bodyPr/>
          <a:lstStyle/>
          <a:p>
            <a:r>
              <a:rPr lang="en-US" dirty="0"/>
              <a:t>hours[</a:t>
            </a:r>
            <a:r>
              <a:rPr lang="en-US" dirty="0">
                <a:solidFill>
                  <a:srgbClr val="1D7C7C"/>
                </a:solidFill>
                <a:effectLst/>
              </a:rPr>
              <a:t>0</a:t>
            </a:r>
            <a:r>
              <a:rPr lang="en-US" dirty="0"/>
              <a:t>] = </a:t>
            </a:r>
            <a:r>
              <a:rPr lang="en-US" dirty="0">
                <a:solidFill>
                  <a:srgbClr val="1D7C7C"/>
                </a:solidFill>
                <a:effectLst/>
              </a:rPr>
              <a:t>20</a:t>
            </a:r>
            <a:r>
              <a:rPr lang="en-US" dirty="0"/>
              <a:t>;</a:t>
            </a:r>
          </a:p>
          <a:p>
            <a:endParaRPr lang="en-US" dirty="0"/>
          </a:p>
          <a:p>
            <a:endParaRPr lang="en-US" dirty="0"/>
          </a:p>
          <a:p>
            <a:r>
              <a:rPr lang="en-US" dirty="0"/>
              <a:t>hours[3]=30;</a:t>
            </a:r>
          </a:p>
          <a:p>
            <a:endParaRPr lang="en-US" dirty="0"/>
          </a:p>
          <a:p>
            <a:r>
              <a:rPr lang="en-US" dirty="0"/>
              <a:t>Array elements may receive values with assignment statements just like other variables. However, entire arrays may not receive values for all their elements at once. </a:t>
            </a:r>
          </a:p>
        </p:txBody>
      </p:sp>
      <p:pic>
        <p:nvPicPr>
          <p:cNvPr id="4" name="Picture 3">
            <a:extLst>
              <a:ext uri="{FF2B5EF4-FFF2-40B4-BE49-F238E27FC236}">
                <a16:creationId xmlns:a16="http://schemas.microsoft.com/office/drawing/2014/main" id="{D8F25A90-FDFF-8F82-4400-24516772C263}"/>
              </a:ext>
            </a:extLst>
          </p:cNvPr>
          <p:cNvPicPr>
            <a:picLocks noChangeAspect="1"/>
          </p:cNvPicPr>
          <p:nvPr/>
        </p:nvPicPr>
        <p:blipFill>
          <a:blip r:embed="rId2"/>
          <a:stretch>
            <a:fillRect/>
          </a:stretch>
        </p:blipFill>
        <p:spPr>
          <a:xfrm>
            <a:off x="4196244" y="1531662"/>
            <a:ext cx="5062379" cy="1065764"/>
          </a:xfrm>
          <a:prstGeom prst="rect">
            <a:avLst/>
          </a:prstGeom>
        </p:spPr>
      </p:pic>
      <p:pic>
        <p:nvPicPr>
          <p:cNvPr id="5" name="Picture 4">
            <a:extLst>
              <a:ext uri="{FF2B5EF4-FFF2-40B4-BE49-F238E27FC236}">
                <a16:creationId xmlns:a16="http://schemas.microsoft.com/office/drawing/2014/main" id="{25513673-C272-7EC2-C7D1-1AF6E01AA3F9}"/>
              </a:ext>
            </a:extLst>
          </p:cNvPr>
          <p:cNvPicPr>
            <a:picLocks noChangeAspect="1"/>
          </p:cNvPicPr>
          <p:nvPr/>
        </p:nvPicPr>
        <p:blipFill>
          <a:blip r:embed="rId3"/>
          <a:stretch>
            <a:fillRect/>
          </a:stretch>
        </p:blipFill>
        <p:spPr>
          <a:xfrm>
            <a:off x="4196244" y="2920173"/>
            <a:ext cx="5062378" cy="1071292"/>
          </a:xfrm>
          <a:prstGeom prst="rect">
            <a:avLst/>
          </a:prstGeom>
        </p:spPr>
      </p:pic>
      <p:pic>
        <p:nvPicPr>
          <p:cNvPr id="6" name="Picture 5">
            <a:extLst>
              <a:ext uri="{FF2B5EF4-FFF2-40B4-BE49-F238E27FC236}">
                <a16:creationId xmlns:a16="http://schemas.microsoft.com/office/drawing/2014/main" id="{DD41DF35-9B8D-15BC-8487-69091EC07D91}"/>
              </a:ext>
            </a:extLst>
          </p:cNvPr>
          <p:cNvPicPr>
            <a:picLocks noChangeAspect="1"/>
          </p:cNvPicPr>
          <p:nvPr/>
        </p:nvPicPr>
        <p:blipFill>
          <a:blip r:embed="rId4"/>
          <a:stretch>
            <a:fillRect/>
          </a:stretch>
        </p:blipFill>
        <p:spPr>
          <a:xfrm>
            <a:off x="3187700" y="5757863"/>
            <a:ext cx="5816600" cy="838200"/>
          </a:xfrm>
          <a:prstGeom prst="rect">
            <a:avLst/>
          </a:prstGeom>
        </p:spPr>
      </p:pic>
    </p:spTree>
    <p:extLst>
      <p:ext uri="{BB962C8B-B14F-4D97-AF65-F5344CB8AC3E}">
        <p14:creationId xmlns:p14="http://schemas.microsoft.com/office/powerpoint/2010/main" val="3201948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3BACE-1A07-EAB0-5520-84FC5DED09B3}"/>
              </a:ext>
            </a:extLst>
          </p:cNvPr>
          <p:cNvSpPr>
            <a:spLocks noGrp="1"/>
          </p:cNvSpPr>
          <p:nvPr>
            <p:ph type="title"/>
          </p:nvPr>
        </p:nvSpPr>
        <p:spPr>
          <a:xfrm>
            <a:off x="1265582" y="153005"/>
            <a:ext cx="10515600" cy="1325563"/>
          </a:xfrm>
        </p:spPr>
        <p:txBody>
          <a:bodyPr/>
          <a:lstStyle/>
          <a:p>
            <a:r>
              <a:rPr lang="en-US" dirty="0"/>
              <a:t>Inputting and Displaying Array Data</a:t>
            </a:r>
          </a:p>
        </p:txBody>
      </p:sp>
      <p:pic>
        <p:nvPicPr>
          <p:cNvPr id="4" name="Content Placeholder 3">
            <a:extLst>
              <a:ext uri="{FF2B5EF4-FFF2-40B4-BE49-F238E27FC236}">
                <a16:creationId xmlns:a16="http://schemas.microsoft.com/office/drawing/2014/main" id="{6D789B9C-39D4-3AC5-F29A-C5D15D94F2A4}"/>
              </a:ext>
            </a:extLst>
          </p:cNvPr>
          <p:cNvPicPr>
            <a:picLocks noGrp="1" noChangeAspect="1"/>
          </p:cNvPicPr>
          <p:nvPr>
            <p:ph idx="1"/>
          </p:nvPr>
        </p:nvPicPr>
        <p:blipFill>
          <a:blip r:embed="rId3"/>
          <a:stretch>
            <a:fillRect/>
          </a:stretch>
        </p:blipFill>
        <p:spPr>
          <a:xfrm>
            <a:off x="1341782" y="1347738"/>
            <a:ext cx="4157870" cy="5357257"/>
          </a:xfrm>
          <a:prstGeom prst="rect">
            <a:avLst/>
          </a:prstGeom>
        </p:spPr>
      </p:pic>
      <p:pic>
        <p:nvPicPr>
          <p:cNvPr id="5" name="Picture 4">
            <a:extLst>
              <a:ext uri="{FF2B5EF4-FFF2-40B4-BE49-F238E27FC236}">
                <a16:creationId xmlns:a16="http://schemas.microsoft.com/office/drawing/2014/main" id="{C7E90839-17C4-1CC1-9D7F-DA3CD1026965}"/>
              </a:ext>
            </a:extLst>
          </p:cNvPr>
          <p:cNvPicPr>
            <a:picLocks noChangeAspect="1"/>
          </p:cNvPicPr>
          <p:nvPr/>
        </p:nvPicPr>
        <p:blipFill>
          <a:blip r:embed="rId4"/>
          <a:stretch>
            <a:fillRect/>
          </a:stretch>
        </p:blipFill>
        <p:spPr>
          <a:xfrm>
            <a:off x="6131072" y="3648772"/>
            <a:ext cx="5575300" cy="1790700"/>
          </a:xfrm>
          <a:prstGeom prst="rect">
            <a:avLst/>
          </a:prstGeom>
        </p:spPr>
      </p:pic>
      <p:pic>
        <p:nvPicPr>
          <p:cNvPr id="6" name="Picture 5">
            <a:extLst>
              <a:ext uri="{FF2B5EF4-FFF2-40B4-BE49-F238E27FC236}">
                <a16:creationId xmlns:a16="http://schemas.microsoft.com/office/drawing/2014/main" id="{BA50E3AB-87E6-2EDB-1778-131EE993E5DA}"/>
              </a:ext>
            </a:extLst>
          </p:cNvPr>
          <p:cNvPicPr>
            <a:picLocks noChangeAspect="1"/>
          </p:cNvPicPr>
          <p:nvPr/>
        </p:nvPicPr>
        <p:blipFill>
          <a:blip r:embed="rId5"/>
          <a:stretch>
            <a:fillRect/>
          </a:stretch>
        </p:blipFill>
        <p:spPr>
          <a:xfrm>
            <a:off x="6379323" y="1967995"/>
            <a:ext cx="5078798" cy="975926"/>
          </a:xfrm>
          <a:prstGeom prst="rect">
            <a:avLst/>
          </a:prstGeom>
        </p:spPr>
      </p:pic>
    </p:spTree>
    <p:extLst>
      <p:ext uri="{BB962C8B-B14F-4D97-AF65-F5344CB8AC3E}">
        <p14:creationId xmlns:p14="http://schemas.microsoft.com/office/powerpoint/2010/main" val="2595569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7091C-4D86-F8C5-2FDB-90D9CD86DD47}"/>
              </a:ext>
            </a:extLst>
          </p:cNvPr>
          <p:cNvSpPr>
            <a:spLocks noGrp="1"/>
          </p:cNvSpPr>
          <p:nvPr>
            <p:ph type="title"/>
          </p:nvPr>
        </p:nvSpPr>
        <p:spPr/>
        <p:txBody>
          <a:bodyPr/>
          <a:lstStyle/>
          <a:p>
            <a:r>
              <a:rPr lang="en-US" dirty="0"/>
              <a:t>Inputting and Displaying Array Data</a:t>
            </a:r>
          </a:p>
        </p:txBody>
      </p:sp>
      <p:sp>
        <p:nvSpPr>
          <p:cNvPr id="3" name="Content Placeholder 2">
            <a:extLst>
              <a:ext uri="{FF2B5EF4-FFF2-40B4-BE49-F238E27FC236}">
                <a16:creationId xmlns:a16="http://schemas.microsoft.com/office/drawing/2014/main" id="{1637DCA3-D6DB-6037-52A7-E33C4C1F7C87}"/>
              </a:ext>
            </a:extLst>
          </p:cNvPr>
          <p:cNvSpPr>
            <a:spLocks noGrp="1"/>
          </p:cNvSpPr>
          <p:nvPr>
            <p:ph idx="1"/>
          </p:nvPr>
        </p:nvSpPr>
        <p:spPr/>
        <p:txBody>
          <a:bodyPr/>
          <a:lstStyle/>
          <a:p>
            <a:r>
              <a:rPr lang="en-US" dirty="0"/>
              <a:t>Even though most C++ compilers require the size declarator of an array definition to be a constant or a literal, subscript numbers can be stored in variables. This makes it possible to use a loop to “cycle through” an entire array, performing the same operation on each element.</a:t>
            </a:r>
          </a:p>
          <a:p>
            <a:r>
              <a:rPr lang="en-US" dirty="0"/>
              <a:t>Example: </a:t>
            </a:r>
            <a:r>
              <a:rPr lang="en-US" b="1" dirty="0"/>
              <a:t>Store and display </a:t>
            </a:r>
            <a:r>
              <a:rPr lang="en-US" dirty="0"/>
              <a:t>the hours worked by the employee but use loop to perform both operations.</a:t>
            </a:r>
          </a:p>
        </p:txBody>
      </p:sp>
    </p:spTree>
    <p:extLst>
      <p:ext uri="{BB962C8B-B14F-4D97-AF65-F5344CB8AC3E}">
        <p14:creationId xmlns:p14="http://schemas.microsoft.com/office/powerpoint/2010/main" val="701974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A4E8B-8CAC-E029-B4CD-54F6F674691D}"/>
              </a:ext>
            </a:extLst>
          </p:cNvPr>
          <p:cNvSpPr>
            <a:spLocks noGrp="1"/>
          </p:cNvSpPr>
          <p:nvPr>
            <p:ph type="title"/>
          </p:nvPr>
        </p:nvSpPr>
        <p:spPr/>
        <p:txBody>
          <a:bodyPr/>
          <a:lstStyle/>
          <a:p>
            <a:r>
              <a:rPr lang="en-US" dirty="0"/>
              <a:t>No Bounds Checking in C++</a:t>
            </a:r>
          </a:p>
        </p:txBody>
      </p:sp>
      <p:sp>
        <p:nvSpPr>
          <p:cNvPr id="3" name="Content Placeholder 2">
            <a:extLst>
              <a:ext uri="{FF2B5EF4-FFF2-40B4-BE49-F238E27FC236}">
                <a16:creationId xmlns:a16="http://schemas.microsoft.com/office/drawing/2014/main" id="{CA207637-3EEB-A490-70EA-3C8158037C10}"/>
              </a:ext>
            </a:extLst>
          </p:cNvPr>
          <p:cNvSpPr>
            <a:spLocks noGrp="1"/>
          </p:cNvSpPr>
          <p:nvPr>
            <p:ph idx="1"/>
          </p:nvPr>
        </p:nvSpPr>
        <p:spPr/>
        <p:txBody>
          <a:bodyPr>
            <a:normAutofit/>
          </a:bodyPr>
          <a:lstStyle/>
          <a:p>
            <a:r>
              <a:rPr lang="en-US" dirty="0"/>
              <a:t>One of the reasons for C++’s popularity has been the freedom it gives programmers to work with the computer’s memory.</a:t>
            </a:r>
          </a:p>
          <a:p>
            <a:r>
              <a:rPr lang="en-US" dirty="0"/>
              <a:t>This means that many of the safeguards provided by other languages to prevent programs from unsafely accessing memory are absent in C++</a:t>
            </a:r>
          </a:p>
          <a:p>
            <a:r>
              <a:rPr lang="en-US" dirty="0"/>
              <a:t>For example, C++ does not perform array bounds checking. This means you could write a program that accidentally allows an array’s subscript to go beyond its boundaries.</a:t>
            </a:r>
          </a:p>
        </p:txBody>
      </p:sp>
    </p:spTree>
    <p:extLst>
      <p:ext uri="{BB962C8B-B14F-4D97-AF65-F5344CB8AC3E}">
        <p14:creationId xmlns:p14="http://schemas.microsoft.com/office/powerpoint/2010/main" val="534762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A4E8B-8CAC-E029-B4CD-54F6F674691D}"/>
              </a:ext>
            </a:extLst>
          </p:cNvPr>
          <p:cNvSpPr>
            <a:spLocks noGrp="1"/>
          </p:cNvSpPr>
          <p:nvPr>
            <p:ph type="title"/>
          </p:nvPr>
        </p:nvSpPr>
        <p:spPr/>
        <p:txBody>
          <a:bodyPr/>
          <a:lstStyle/>
          <a:p>
            <a:r>
              <a:rPr lang="en-US" dirty="0"/>
              <a:t>No Bounds Checking in C++</a:t>
            </a:r>
          </a:p>
        </p:txBody>
      </p:sp>
      <p:sp>
        <p:nvSpPr>
          <p:cNvPr id="3" name="Content Placeholder 2">
            <a:extLst>
              <a:ext uri="{FF2B5EF4-FFF2-40B4-BE49-F238E27FC236}">
                <a16:creationId xmlns:a16="http://schemas.microsoft.com/office/drawing/2014/main" id="{CA207637-3EEB-A490-70EA-3C8158037C10}"/>
              </a:ext>
            </a:extLst>
          </p:cNvPr>
          <p:cNvSpPr>
            <a:spLocks noGrp="1"/>
          </p:cNvSpPr>
          <p:nvPr>
            <p:ph idx="1"/>
          </p:nvPr>
        </p:nvSpPr>
        <p:spPr/>
        <p:txBody>
          <a:bodyPr>
            <a:normAutofit/>
          </a:bodyPr>
          <a:lstStyle/>
          <a:p>
            <a:r>
              <a:rPr lang="en-US" dirty="0"/>
              <a:t>If the program tried to read in all the items in a file that contained more items than the array could hold, it could cause serious problems. </a:t>
            </a:r>
          </a:p>
          <a:p>
            <a:r>
              <a:rPr lang="en-US" dirty="0"/>
              <a:t>What exactly occurs depends on how your system manages memory.</a:t>
            </a:r>
          </a:p>
          <a:p>
            <a:r>
              <a:rPr lang="en-US" dirty="0"/>
              <a:t>On many systems it causes other nearby variables to have their contents overwritten, losing their correct value. On some systems it can even cause the computer to crash.</a:t>
            </a:r>
          </a:p>
        </p:txBody>
      </p:sp>
    </p:spTree>
    <p:extLst>
      <p:ext uri="{BB962C8B-B14F-4D97-AF65-F5344CB8AC3E}">
        <p14:creationId xmlns:p14="http://schemas.microsoft.com/office/powerpoint/2010/main" val="923302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A4E8B-8CAC-E029-B4CD-54F6F674691D}"/>
              </a:ext>
            </a:extLst>
          </p:cNvPr>
          <p:cNvSpPr>
            <a:spLocks noGrp="1"/>
          </p:cNvSpPr>
          <p:nvPr>
            <p:ph type="title"/>
          </p:nvPr>
        </p:nvSpPr>
        <p:spPr/>
        <p:txBody>
          <a:bodyPr/>
          <a:lstStyle/>
          <a:p>
            <a:r>
              <a:rPr lang="en-US" dirty="0"/>
              <a:t>No Bounds Checking in C++</a:t>
            </a:r>
          </a:p>
        </p:txBody>
      </p:sp>
      <p:pic>
        <p:nvPicPr>
          <p:cNvPr id="4" name="Content Placeholder 3">
            <a:extLst>
              <a:ext uri="{FF2B5EF4-FFF2-40B4-BE49-F238E27FC236}">
                <a16:creationId xmlns:a16="http://schemas.microsoft.com/office/drawing/2014/main" id="{DAE6B70E-E2B8-3BE7-35AA-747A2E9CF5FA}"/>
              </a:ext>
            </a:extLst>
          </p:cNvPr>
          <p:cNvPicPr>
            <a:picLocks noGrp="1" noChangeAspect="1"/>
          </p:cNvPicPr>
          <p:nvPr>
            <p:ph idx="1"/>
          </p:nvPr>
        </p:nvPicPr>
        <p:blipFill>
          <a:blip r:embed="rId2"/>
          <a:stretch>
            <a:fillRect/>
          </a:stretch>
        </p:blipFill>
        <p:spPr>
          <a:xfrm>
            <a:off x="1799034" y="1312668"/>
            <a:ext cx="3375132" cy="5427150"/>
          </a:xfrm>
          <a:prstGeom prst="rect">
            <a:avLst/>
          </a:prstGeom>
        </p:spPr>
      </p:pic>
      <p:pic>
        <p:nvPicPr>
          <p:cNvPr id="5" name="Picture 4">
            <a:extLst>
              <a:ext uri="{FF2B5EF4-FFF2-40B4-BE49-F238E27FC236}">
                <a16:creationId xmlns:a16="http://schemas.microsoft.com/office/drawing/2014/main" id="{08C21FB5-F0E0-A954-25AA-C55741854C82}"/>
              </a:ext>
            </a:extLst>
          </p:cNvPr>
          <p:cNvPicPr>
            <a:picLocks noChangeAspect="1"/>
          </p:cNvPicPr>
          <p:nvPr/>
        </p:nvPicPr>
        <p:blipFill>
          <a:blip r:embed="rId3"/>
          <a:stretch>
            <a:fillRect/>
          </a:stretch>
        </p:blipFill>
        <p:spPr>
          <a:xfrm>
            <a:off x="6549948" y="1496586"/>
            <a:ext cx="3631116" cy="2412280"/>
          </a:xfrm>
          <a:prstGeom prst="rect">
            <a:avLst/>
          </a:prstGeom>
        </p:spPr>
      </p:pic>
      <p:pic>
        <p:nvPicPr>
          <p:cNvPr id="6" name="Picture 5">
            <a:extLst>
              <a:ext uri="{FF2B5EF4-FFF2-40B4-BE49-F238E27FC236}">
                <a16:creationId xmlns:a16="http://schemas.microsoft.com/office/drawing/2014/main" id="{B4F591A5-95FF-9166-7E8E-30C1DFC7BDC2}"/>
              </a:ext>
            </a:extLst>
          </p:cNvPr>
          <p:cNvPicPr>
            <a:picLocks noChangeAspect="1"/>
          </p:cNvPicPr>
          <p:nvPr/>
        </p:nvPicPr>
        <p:blipFill>
          <a:blip r:embed="rId4"/>
          <a:stretch>
            <a:fillRect/>
          </a:stretch>
        </p:blipFill>
        <p:spPr>
          <a:xfrm>
            <a:off x="6508432" y="4239305"/>
            <a:ext cx="4175436" cy="2412279"/>
          </a:xfrm>
          <a:prstGeom prst="rect">
            <a:avLst/>
          </a:prstGeom>
        </p:spPr>
      </p:pic>
    </p:spTree>
    <p:extLst>
      <p:ext uri="{BB962C8B-B14F-4D97-AF65-F5344CB8AC3E}">
        <p14:creationId xmlns:p14="http://schemas.microsoft.com/office/powerpoint/2010/main" val="1041100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67F0E-8047-32C6-1E42-2EA5FACED1FE}"/>
              </a:ext>
            </a:extLst>
          </p:cNvPr>
          <p:cNvSpPr>
            <a:spLocks noGrp="1"/>
          </p:cNvSpPr>
          <p:nvPr>
            <p:ph type="title"/>
          </p:nvPr>
        </p:nvSpPr>
        <p:spPr/>
        <p:txBody>
          <a:bodyPr/>
          <a:lstStyle/>
          <a:p>
            <a:r>
              <a:rPr lang="en-US" dirty="0"/>
              <a:t>Watch for Off-By-One Errors</a:t>
            </a:r>
          </a:p>
        </p:txBody>
      </p:sp>
      <p:sp>
        <p:nvSpPr>
          <p:cNvPr id="3" name="Content Placeholder 2">
            <a:extLst>
              <a:ext uri="{FF2B5EF4-FFF2-40B4-BE49-F238E27FC236}">
                <a16:creationId xmlns:a16="http://schemas.microsoft.com/office/drawing/2014/main" id="{C1D2FD10-B2C0-BC63-A0F6-21A83390F035}"/>
              </a:ext>
            </a:extLst>
          </p:cNvPr>
          <p:cNvSpPr>
            <a:spLocks noGrp="1"/>
          </p:cNvSpPr>
          <p:nvPr>
            <p:ph idx="1"/>
          </p:nvPr>
        </p:nvSpPr>
        <p:spPr/>
        <p:txBody>
          <a:bodyPr/>
          <a:lstStyle/>
          <a:p>
            <a:r>
              <a:rPr lang="en-US" dirty="0"/>
              <a:t>When working with arrays, a common type of mistake is the </a:t>
            </a:r>
            <a:r>
              <a:rPr lang="en-US" b="1" dirty="0">
                <a:hlinkClick r:id="rId2"/>
              </a:rPr>
              <a:t>off-by-one error</a:t>
            </a:r>
            <a:r>
              <a:rPr lang="en-US" i="1" dirty="0"/>
              <a:t>.</a:t>
            </a:r>
            <a:r>
              <a:rPr lang="en-US" dirty="0"/>
              <a:t> This is an easy mistake to make because array subscripts start at 0 rather than 1.</a:t>
            </a:r>
          </a:p>
        </p:txBody>
      </p:sp>
      <p:pic>
        <p:nvPicPr>
          <p:cNvPr id="4" name="Picture 3">
            <a:extLst>
              <a:ext uri="{FF2B5EF4-FFF2-40B4-BE49-F238E27FC236}">
                <a16:creationId xmlns:a16="http://schemas.microsoft.com/office/drawing/2014/main" id="{93A4683F-BF6D-C43E-5636-8ED87DD40082}"/>
              </a:ext>
            </a:extLst>
          </p:cNvPr>
          <p:cNvPicPr>
            <a:picLocks noChangeAspect="1"/>
          </p:cNvPicPr>
          <p:nvPr/>
        </p:nvPicPr>
        <p:blipFill>
          <a:blip r:embed="rId3"/>
          <a:stretch>
            <a:fillRect/>
          </a:stretch>
        </p:blipFill>
        <p:spPr>
          <a:xfrm>
            <a:off x="3384550" y="3791415"/>
            <a:ext cx="5422900" cy="1371600"/>
          </a:xfrm>
          <a:prstGeom prst="rect">
            <a:avLst/>
          </a:prstGeom>
        </p:spPr>
      </p:pic>
    </p:spTree>
    <p:extLst>
      <p:ext uri="{BB962C8B-B14F-4D97-AF65-F5344CB8AC3E}">
        <p14:creationId xmlns:p14="http://schemas.microsoft.com/office/powerpoint/2010/main" val="2336232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D379F-7224-BC0B-1E74-49FADA97FC96}"/>
              </a:ext>
            </a:extLst>
          </p:cNvPr>
          <p:cNvSpPr>
            <a:spLocks noGrp="1"/>
          </p:cNvSpPr>
          <p:nvPr>
            <p:ph type="title"/>
          </p:nvPr>
        </p:nvSpPr>
        <p:spPr/>
        <p:txBody>
          <a:bodyPr/>
          <a:lstStyle/>
          <a:p>
            <a:r>
              <a:rPr lang="en-US" dirty="0"/>
              <a:t>Array Initialization</a:t>
            </a:r>
          </a:p>
        </p:txBody>
      </p:sp>
      <p:sp>
        <p:nvSpPr>
          <p:cNvPr id="3" name="Content Placeholder 2">
            <a:extLst>
              <a:ext uri="{FF2B5EF4-FFF2-40B4-BE49-F238E27FC236}">
                <a16:creationId xmlns:a16="http://schemas.microsoft.com/office/drawing/2014/main" id="{67238885-AEEF-906A-715B-4D40FC2299E2}"/>
              </a:ext>
            </a:extLst>
          </p:cNvPr>
          <p:cNvSpPr>
            <a:spLocks noGrp="1"/>
          </p:cNvSpPr>
          <p:nvPr>
            <p:ph idx="1"/>
          </p:nvPr>
        </p:nvSpPr>
        <p:spPr/>
        <p:txBody>
          <a:bodyPr/>
          <a:lstStyle/>
          <a:p>
            <a:r>
              <a:rPr lang="en-US" dirty="0"/>
              <a:t>Arrays may be initialized when they are defined.</a:t>
            </a:r>
          </a:p>
          <a:p>
            <a:r>
              <a:rPr lang="en-US" dirty="0"/>
              <a:t>Sometimes it is more appropriate to set variable values within a program than to input them. </a:t>
            </a:r>
          </a:p>
          <a:p>
            <a:r>
              <a:rPr lang="en-US" dirty="0"/>
              <a:t>However, writing separate assignment statements for the individual elements of an array can mean a lot of typing, especially for large arrays. </a:t>
            </a:r>
          </a:p>
        </p:txBody>
      </p:sp>
      <p:pic>
        <p:nvPicPr>
          <p:cNvPr id="4" name="Picture 3">
            <a:extLst>
              <a:ext uri="{FF2B5EF4-FFF2-40B4-BE49-F238E27FC236}">
                <a16:creationId xmlns:a16="http://schemas.microsoft.com/office/drawing/2014/main" id="{A00E3891-C81A-7E5E-3AFF-F349F0E16FC6}"/>
              </a:ext>
            </a:extLst>
          </p:cNvPr>
          <p:cNvPicPr>
            <a:picLocks noChangeAspect="1"/>
          </p:cNvPicPr>
          <p:nvPr/>
        </p:nvPicPr>
        <p:blipFill>
          <a:blip r:embed="rId2"/>
          <a:stretch>
            <a:fillRect/>
          </a:stretch>
        </p:blipFill>
        <p:spPr>
          <a:xfrm>
            <a:off x="4654550" y="4220272"/>
            <a:ext cx="2882900" cy="2476500"/>
          </a:xfrm>
          <a:prstGeom prst="rect">
            <a:avLst/>
          </a:prstGeom>
        </p:spPr>
      </p:pic>
    </p:spTree>
    <p:extLst>
      <p:ext uri="{BB962C8B-B14F-4D97-AF65-F5344CB8AC3E}">
        <p14:creationId xmlns:p14="http://schemas.microsoft.com/office/powerpoint/2010/main" val="3406209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D379F-7224-BC0B-1E74-49FADA97FC96}"/>
              </a:ext>
            </a:extLst>
          </p:cNvPr>
          <p:cNvSpPr>
            <a:spLocks noGrp="1"/>
          </p:cNvSpPr>
          <p:nvPr>
            <p:ph type="title"/>
          </p:nvPr>
        </p:nvSpPr>
        <p:spPr/>
        <p:txBody>
          <a:bodyPr/>
          <a:lstStyle/>
          <a:p>
            <a:r>
              <a:rPr lang="en-US" dirty="0"/>
              <a:t>Array Initialization</a:t>
            </a:r>
          </a:p>
        </p:txBody>
      </p:sp>
      <p:sp>
        <p:nvSpPr>
          <p:cNvPr id="3" name="Content Placeholder 2">
            <a:extLst>
              <a:ext uri="{FF2B5EF4-FFF2-40B4-BE49-F238E27FC236}">
                <a16:creationId xmlns:a16="http://schemas.microsoft.com/office/drawing/2014/main" id="{67238885-AEEF-906A-715B-4D40FC2299E2}"/>
              </a:ext>
            </a:extLst>
          </p:cNvPr>
          <p:cNvSpPr>
            <a:spLocks noGrp="1"/>
          </p:cNvSpPr>
          <p:nvPr>
            <p:ph idx="1"/>
          </p:nvPr>
        </p:nvSpPr>
        <p:spPr/>
        <p:txBody>
          <a:bodyPr/>
          <a:lstStyle/>
          <a:p>
            <a:r>
              <a:rPr lang="en-US" dirty="0"/>
              <a:t>Solution:</a:t>
            </a:r>
          </a:p>
          <a:p>
            <a:pPr lvl="1"/>
            <a:r>
              <a:rPr lang="en-US" b="1" i="1" dirty="0">
                <a:solidFill>
                  <a:srgbClr val="333333"/>
                </a:solidFill>
                <a:effectLst/>
              </a:rPr>
              <a:t>int</a:t>
            </a:r>
            <a:r>
              <a:rPr lang="en-US" i="1" dirty="0"/>
              <a:t> days[NUM_MONTHS] = {</a:t>
            </a:r>
            <a:r>
              <a:rPr lang="en-US" i="1" dirty="0">
                <a:solidFill>
                  <a:srgbClr val="1D7C7C"/>
                </a:solidFill>
                <a:effectLst/>
              </a:rPr>
              <a:t>31</a:t>
            </a:r>
            <a:r>
              <a:rPr lang="en-US" i="1" dirty="0"/>
              <a:t>, </a:t>
            </a:r>
            <a:r>
              <a:rPr lang="en-US" i="1" dirty="0">
                <a:solidFill>
                  <a:srgbClr val="1D7C7C"/>
                </a:solidFill>
                <a:effectLst/>
              </a:rPr>
              <a:t>28</a:t>
            </a:r>
            <a:r>
              <a:rPr lang="en-US" i="1" dirty="0"/>
              <a:t>, </a:t>
            </a:r>
            <a:r>
              <a:rPr lang="en-US" i="1" dirty="0">
                <a:solidFill>
                  <a:srgbClr val="1D7C7C"/>
                </a:solidFill>
                <a:effectLst/>
              </a:rPr>
              <a:t>31</a:t>
            </a:r>
            <a:r>
              <a:rPr lang="en-US" i="1" dirty="0"/>
              <a:t>, </a:t>
            </a:r>
            <a:r>
              <a:rPr lang="en-US" i="1" dirty="0">
                <a:solidFill>
                  <a:srgbClr val="1D7C7C"/>
                </a:solidFill>
                <a:effectLst/>
              </a:rPr>
              <a:t>30</a:t>
            </a:r>
            <a:r>
              <a:rPr lang="en-US" i="1" dirty="0"/>
              <a:t>, </a:t>
            </a:r>
            <a:r>
              <a:rPr lang="en-US" i="1" dirty="0">
                <a:solidFill>
                  <a:srgbClr val="1D7C7C"/>
                </a:solidFill>
                <a:effectLst/>
              </a:rPr>
              <a:t>31</a:t>
            </a:r>
            <a:r>
              <a:rPr lang="en-US" i="1" dirty="0"/>
              <a:t>, </a:t>
            </a:r>
            <a:r>
              <a:rPr lang="en-US" i="1" dirty="0">
                <a:solidFill>
                  <a:srgbClr val="1D7C7C"/>
                </a:solidFill>
                <a:effectLst/>
              </a:rPr>
              <a:t>30</a:t>
            </a:r>
            <a:r>
              <a:rPr lang="en-US" i="1" dirty="0"/>
              <a:t>, </a:t>
            </a:r>
            <a:r>
              <a:rPr lang="en-US" i="1" dirty="0">
                <a:solidFill>
                  <a:srgbClr val="1D7C7C"/>
                </a:solidFill>
                <a:effectLst/>
              </a:rPr>
              <a:t>31</a:t>
            </a:r>
            <a:r>
              <a:rPr lang="en-US" i="1" dirty="0"/>
              <a:t>, </a:t>
            </a:r>
            <a:r>
              <a:rPr lang="en-US" i="1" dirty="0">
                <a:solidFill>
                  <a:srgbClr val="1D7C7C"/>
                </a:solidFill>
                <a:effectLst/>
              </a:rPr>
              <a:t>31</a:t>
            </a:r>
            <a:r>
              <a:rPr lang="en-US" i="1" dirty="0"/>
              <a:t>, </a:t>
            </a:r>
            <a:r>
              <a:rPr lang="en-US" i="1" dirty="0">
                <a:solidFill>
                  <a:srgbClr val="1D7C7C"/>
                </a:solidFill>
                <a:effectLst/>
              </a:rPr>
              <a:t>30</a:t>
            </a:r>
            <a:r>
              <a:rPr lang="en-US" i="1" dirty="0"/>
              <a:t>, </a:t>
            </a:r>
            <a:r>
              <a:rPr lang="en-US" i="1" dirty="0">
                <a:solidFill>
                  <a:srgbClr val="1D7C7C"/>
                </a:solidFill>
                <a:effectLst/>
              </a:rPr>
              <a:t>31</a:t>
            </a:r>
            <a:r>
              <a:rPr lang="en-US" i="1" dirty="0"/>
              <a:t>, </a:t>
            </a:r>
            <a:r>
              <a:rPr lang="en-US" i="1" dirty="0">
                <a:solidFill>
                  <a:srgbClr val="1D7C7C"/>
                </a:solidFill>
                <a:effectLst/>
              </a:rPr>
              <a:t>30</a:t>
            </a:r>
            <a:r>
              <a:rPr lang="en-US" i="1" dirty="0"/>
              <a:t>, </a:t>
            </a:r>
            <a:r>
              <a:rPr lang="en-US" i="1" dirty="0">
                <a:solidFill>
                  <a:srgbClr val="1D7C7C"/>
                </a:solidFill>
                <a:effectLst/>
              </a:rPr>
              <a:t>31</a:t>
            </a:r>
            <a:r>
              <a:rPr lang="en-US" i="1" dirty="0"/>
              <a:t>}; </a:t>
            </a:r>
          </a:p>
        </p:txBody>
      </p:sp>
      <p:pic>
        <p:nvPicPr>
          <p:cNvPr id="5" name="Picture 4">
            <a:extLst>
              <a:ext uri="{FF2B5EF4-FFF2-40B4-BE49-F238E27FC236}">
                <a16:creationId xmlns:a16="http://schemas.microsoft.com/office/drawing/2014/main" id="{30CAA90B-1092-FCDD-E2FF-47197A13A14F}"/>
              </a:ext>
            </a:extLst>
          </p:cNvPr>
          <p:cNvPicPr>
            <a:picLocks noChangeAspect="1"/>
          </p:cNvPicPr>
          <p:nvPr/>
        </p:nvPicPr>
        <p:blipFill>
          <a:blip r:embed="rId2"/>
          <a:stretch>
            <a:fillRect/>
          </a:stretch>
        </p:blipFill>
        <p:spPr>
          <a:xfrm>
            <a:off x="3149600" y="2921000"/>
            <a:ext cx="5892800" cy="1016000"/>
          </a:xfrm>
          <a:prstGeom prst="rect">
            <a:avLst/>
          </a:prstGeom>
        </p:spPr>
      </p:pic>
    </p:spTree>
    <p:extLst>
      <p:ext uri="{BB962C8B-B14F-4D97-AF65-F5344CB8AC3E}">
        <p14:creationId xmlns:p14="http://schemas.microsoft.com/office/powerpoint/2010/main" val="1004827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41263-29AB-98F5-456B-368A2192916A}"/>
              </a:ext>
            </a:extLst>
          </p:cNvPr>
          <p:cNvSpPr>
            <a:spLocks noGrp="1"/>
          </p:cNvSpPr>
          <p:nvPr>
            <p:ph type="title"/>
          </p:nvPr>
        </p:nvSpPr>
        <p:spPr/>
        <p:txBody>
          <a:bodyPr/>
          <a:lstStyle/>
          <a:p>
            <a:r>
              <a:rPr lang="en-US" dirty="0"/>
              <a:t>Array Initialization: Example</a:t>
            </a:r>
          </a:p>
        </p:txBody>
      </p:sp>
      <p:pic>
        <p:nvPicPr>
          <p:cNvPr id="4" name="Content Placeholder 3">
            <a:extLst>
              <a:ext uri="{FF2B5EF4-FFF2-40B4-BE49-F238E27FC236}">
                <a16:creationId xmlns:a16="http://schemas.microsoft.com/office/drawing/2014/main" id="{DAEF1BF6-86EC-526B-6ED3-73AF3C96EF17}"/>
              </a:ext>
            </a:extLst>
          </p:cNvPr>
          <p:cNvPicPr>
            <a:picLocks noGrp="1" noChangeAspect="1"/>
          </p:cNvPicPr>
          <p:nvPr>
            <p:ph idx="1"/>
          </p:nvPr>
        </p:nvPicPr>
        <p:blipFill>
          <a:blip r:embed="rId2"/>
          <a:stretch>
            <a:fillRect/>
          </a:stretch>
        </p:blipFill>
        <p:spPr>
          <a:xfrm>
            <a:off x="1141561" y="1424180"/>
            <a:ext cx="4211025" cy="5290526"/>
          </a:xfrm>
          <a:prstGeom prst="rect">
            <a:avLst/>
          </a:prstGeom>
        </p:spPr>
      </p:pic>
      <p:pic>
        <p:nvPicPr>
          <p:cNvPr id="5" name="Picture 4">
            <a:extLst>
              <a:ext uri="{FF2B5EF4-FFF2-40B4-BE49-F238E27FC236}">
                <a16:creationId xmlns:a16="http://schemas.microsoft.com/office/drawing/2014/main" id="{A6BEFC80-1A3C-4A42-CF96-B962500A4D3E}"/>
              </a:ext>
            </a:extLst>
          </p:cNvPr>
          <p:cNvPicPr>
            <a:picLocks noChangeAspect="1"/>
          </p:cNvPicPr>
          <p:nvPr/>
        </p:nvPicPr>
        <p:blipFill>
          <a:blip r:embed="rId3"/>
          <a:stretch>
            <a:fillRect/>
          </a:stretch>
        </p:blipFill>
        <p:spPr>
          <a:xfrm>
            <a:off x="6303847" y="1979961"/>
            <a:ext cx="4055427" cy="2898078"/>
          </a:xfrm>
          <a:prstGeom prst="rect">
            <a:avLst/>
          </a:prstGeom>
        </p:spPr>
      </p:pic>
    </p:spTree>
    <p:extLst>
      <p:ext uri="{BB962C8B-B14F-4D97-AF65-F5344CB8AC3E}">
        <p14:creationId xmlns:p14="http://schemas.microsoft.com/office/powerpoint/2010/main" val="1152482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13423-AA47-CB28-6D5D-3B85CEBB054F}"/>
              </a:ext>
            </a:extLst>
          </p:cNvPr>
          <p:cNvSpPr>
            <a:spLocks noGrp="1"/>
          </p:cNvSpPr>
          <p:nvPr>
            <p:ph type="title"/>
          </p:nvPr>
        </p:nvSpPr>
        <p:spPr/>
        <p:txBody>
          <a:bodyPr/>
          <a:lstStyle/>
          <a:p>
            <a:r>
              <a:rPr lang="en-US" dirty="0"/>
              <a:t>Array Initialization: Example</a:t>
            </a:r>
          </a:p>
        </p:txBody>
      </p:sp>
      <p:pic>
        <p:nvPicPr>
          <p:cNvPr id="4" name="Picture 3">
            <a:extLst>
              <a:ext uri="{FF2B5EF4-FFF2-40B4-BE49-F238E27FC236}">
                <a16:creationId xmlns:a16="http://schemas.microsoft.com/office/drawing/2014/main" id="{A5F42890-8C0F-DD6E-5A9C-79F916895924}"/>
              </a:ext>
            </a:extLst>
          </p:cNvPr>
          <p:cNvPicPr>
            <a:picLocks noChangeAspect="1"/>
          </p:cNvPicPr>
          <p:nvPr/>
        </p:nvPicPr>
        <p:blipFill>
          <a:blip r:embed="rId2"/>
          <a:stretch>
            <a:fillRect/>
          </a:stretch>
        </p:blipFill>
        <p:spPr>
          <a:xfrm>
            <a:off x="7668126" y="0"/>
            <a:ext cx="4170947" cy="6858000"/>
          </a:xfrm>
          <a:prstGeom prst="rect">
            <a:avLst/>
          </a:prstGeom>
        </p:spPr>
      </p:pic>
      <p:pic>
        <p:nvPicPr>
          <p:cNvPr id="5" name="Picture 4">
            <a:extLst>
              <a:ext uri="{FF2B5EF4-FFF2-40B4-BE49-F238E27FC236}">
                <a16:creationId xmlns:a16="http://schemas.microsoft.com/office/drawing/2014/main" id="{54D5F547-B0A4-BC2F-EB78-E0CBDEAFD126}"/>
              </a:ext>
            </a:extLst>
          </p:cNvPr>
          <p:cNvPicPr>
            <a:picLocks noChangeAspect="1"/>
          </p:cNvPicPr>
          <p:nvPr/>
        </p:nvPicPr>
        <p:blipFill>
          <a:blip r:embed="rId3"/>
          <a:stretch>
            <a:fillRect/>
          </a:stretch>
        </p:blipFill>
        <p:spPr>
          <a:xfrm>
            <a:off x="1869107" y="2055812"/>
            <a:ext cx="4170947" cy="3921075"/>
          </a:xfrm>
          <a:prstGeom prst="rect">
            <a:avLst/>
          </a:prstGeom>
        </p:spPr>
      </p:pic>
    </p:spTree>
    <p:extLst>
      <p:ext uri="{BB962C8B-B14F-4D97-AF65-F5344CB8AC3E}">
        <p14:creationId xmlns:p14="http://schemas.microsoft.com/office/powerpoint/2010/main" val="2297336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6FC3D-B918-85DE-9390-415629409BD4}"/>
              </a:ext>
            </a:extLst>
          </p:cNvPr>
          <p:cNvSpPr>
            <a:spLocks noGrp="1"/>
          </p:cNvSpPr>
          <p:nvPr>
            <p:ph type="title"/>
          </p:nvPr>
        </p:nvSpPr>
        <p:spPr/>
        <p:txBody>
          <a:bodyPr/>
          <a:lstStyle/>
          <a:p>
            <a:r>
              <a:rPr lang="en-US" dirty="0"/>
              <a:t>Starting with Array Element 1</a:t>
            </a:r>
          </a:p>
        </p:txBody>
      </p:sp>
      <p:sp>
        <p:nvSpPr>
          <p:cNvPr id="3" name="Content Placeholder 2">
            <a:extLst>
              <a:ext uri="{FF2B5EF4-FFF2-40B4-BE49-F238E27FC236}">
                <a16:creationId xmlns:a16="http://schemas.microsoft.com/office/drawing/2014/main" id="{DC2E979A-9D50-DBFF-76E1-8B9B31BECFC0}"/>
              </a:ext>
            </a:extLst>
          </p:cNvPr>
          <p:cNvSpPr>
            <a:spLocks noGrp="1"/>
          </p:cNvSpPr>
          <p:nvPr>
            <p:ph idx="1"/>
          </p:nvPr>
        </p:nvSpPr>
        <p:spPr/>
        <p:txBody>
          <a:bodyPr/>
          <a:lstStyle/>
          <a:p>
            <a:r>
              <a:rPr lang="en-US" dirty="0"/>
              <a:t>Some instructors prefer that you not use array element 0 and, instead, begin storing the actual data in element 1 when you are modeling something in the real world that logically begins with 1. The months of the year are a good example. </a:t>
            </a:r>
          </a:p>
        </p:txBody>
      </p:sp>
      <p:pic>
        <p:nvPicPr>
          <p:cNvPr id="4" name="Picture 3">
            <a:extLst>
              <a:ext uri="{FF2B5EF4-FFF2-40B4-BE49-F238E27FC236}">
                <a16:creationId xmlns:a16="http://schemas.microsoft.com/office/drawing/2014/main" id="{F26FFB79-281C-FF3E-A0D3-E63B1D7309BE}"/>
              </a:ext>
            </a:extLst>
          </p:cNvPr>
          <p:cNvPicPr>
            <a:picLocks noChangeAspect="1"/>
          </p:cNvPicPr>
          <p:nvPr/>
        </p:nvPicPr>
        <p:blipFill>
          <a:blip r:embed="rId2"/>
          <a:stretch>
            <a:fillRect/>
          </a:stretch>
        </p:blipFill>
        <p:spPr>
          <a:xfrm>
            <a:off x="1030868" y="4001294"/>
            <a:ext cx="5892800" cy="1866900"/>
          </a:xfrm>
          <a:prstGeom prst="rect">
            <a:avLst/>
          </a:prstGeom>
        </p:spPr>
      </p:pic>
      <p:pic>
        <p:nvPicPr>
          <p:cNvPr id="5" name="Picture 4">
            <a:extLst>
              <a:ext uri="{FF2B5EF4-FFF2-40B4-BE49-F238E27FC236}">
                <a16:creationId xmlns:a16="http://schemas.microsoft.com/office/drawing/2014/main" id="{0C9BA4B5-AFE3-123F-CBBA-8F6546E2FFBD}"/>
              </a:ext>
            </a:extLst>
          </p:cNvPr>
          <p:cNvPicPr>
            <a:picLocks noChangeAspect="1"/>
          </p:cNvPicPr>
          <p:nvPr/>
        </p:nvPicPr>
        <p:blipFill>
          <a:blip r:embed="rId3"/>
          <a:stretch>
            <a:fillRect/>
          </a:stretch>
        </p:blipFill>
        <p:spPr>
          <a:xfrm>
            <a:off x="7444678" y="4304370"/>
            <a:ext cx="4623015" cy="1190083"/>
          </a:xfrm>
          <a:prstGeom prst="rect">
            <a:avLst/>
          </a:prstGeom>
        </p:spPr>
      </p:pic>
    </p:spTree>
    <p:extLst>
      <p:ext uri="{BB962C8B-B14F-4D97-AF65-F5344CB8AC3E}">
        <p14:creationId xmlns:p14="http://schemas.microsoft.com/office/powerpoint/2010/main" val="3298879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EFF92-5AE0-218C-9B7D-CF733F109DBA}"/>
              </a:ext>
            </a:extLst>
          </p:cNvPr>
          <p:cNvSpPr>
            <a:spLocks noGrp="1"/>
          </p:cNvSpPr>
          <p:nvPr>
            <p:ph type="title"/>
          </p:nvPr>
        </p:nvSpPr>
        <p:spPr/>
        <p:txBody>
          <a:bodyPr/>
          <a:lstStyle/>
          <a:p>
            <a:r>
              <a:rPr lang="en-US" dirty="0"/>
              <a:t>Partial Array Initialization</a:t>
            </a:r>
          </a:p>
        </p:txBody>
      </p:sp>
      <p:sp>
        <p:nvSpPr>
          <p:cNvPr id="3" name="Content Placeholder 2">
            <a:extLst>
              <a:ext uri="{FF2B5EF4-FFF2-40B4-BE49-F238E27FC236}">
                <a16:creationId xmlns:a16="http://schemas.microsoft.com/office/drawing/2014/main" id="{EA7DA55B-0570-A395-7555-6E4CB2968B9F}"/>
              </a:ext>
            </a:extLst>
          </p:cNvPr>
          <p:cNvSpPr>
            <a:spLocks noGrp="1"/>
          </p:cNvSpPr>
          <p:nvPr>
            <p:ph idx="1"/>
          </p:nvPr>
        </p:nvSpPr>
        <p:spPr>
          <a:xfrm>
            <a:off x="838200" y="1825624"/>
            <a:ext cx="10515600" cy="4838065"/>
          </a:xfrm>
        </p:spPr>
        <p:txBody>
          <a:bodyPr>
            <a:normAutofit/>
          </a:bodyPr>
          <a:lstStyle/>
          <a:p>
            <a:r>
              <a:rPr lang="en-US" dirty="0"/>
              <a:t>When an array is being initialized, C++ does not require a value for every element. It’s possible to only initialize part of an array, like this: </a:t>
            </a:r>
            <a:r>
              <a:rPr lang="en-US" b="1" i="1" dirty="0">
                <a:solidFill>
                  <a:srgbClr val="0070C0"/>
                </a:solidFill>
                <a:effectLst/>
              </a:rPr>
              <a:t>int</a:t>
            </a:r>
            <a:r>
              <a:rPr lang="en-US" i="1" dirty="0">
                <a:solidFill>
                  <a:srgbClr val="0070C0"/>
                </a:solidFill>
              </a:rPr>
              <a:t> numbers[</a:t>
            </a:r>
            <a:r>
              <a:rPr lang="en-US" i="1" dirty="0">
                <a:solidFill>
                  <a:srgbClr val="0070C0"/>
                </a:solidFill>
                <a:effectLst/>
              </a:rPr>
              <a:t>7</a:t>
            </a:r>
            <a:r>
              <a:rPr lang="en-US" i="1" dirty="0">
                <a:solidFill>
                  <a:srgbClr val="0070C0"/>
                </a:solidFill>
              </a:rPr>
              <a:t>] = {</a:t>
            </a:r>
            <a:r>
              <a:rPr lang="en-US" i="1" dirty="0">
                <a:solidFill>
                  <a:srgbClr val="0070C0"/>
                </a:solidFill>
                <a:effectLst/>
              </a:rPr>
              <a:t>1</a:t>
            </a:r>
            <a:r>
              <a:rPr lang="en-US" i="1" dirty="0">
                <a:solidFill>
                  <a:srgbClr val="0070C0"/>
                </a:solidFill>
              </a:rPr>
              <a:t>, </a:t>
            </a:r>
            <a:r>
              <a:rPr lang="en-US" i="1" dirty="0">
                <a:solidFill>
                  <a:srgbClr val="0070C0"/>
                </a:solidFill>
                <a:effectLst/>
              </a:rPr>
              <a:t>2</a:t>
            </a:r>
            <a:r>
              <a:rPr lang="en-US" i="1" dirty="0">
                <a:solidFill>
                  <a:srgbClr val="0070C0"/>
                </a:solidFill>
              </a:rPr>
              <a:t>, </a:t>
            </a:r>
            <a:r>
              <a:rPr lang="en-US" i="1" dirty="0">
                <a:solidFill>
                  <a:srgbClr val="0070C0"/>
                </a:solidFill>
                <a:effectLst/>
              </a:rPr>
              <a:t>4</a:t>
            </a:r>
            <a:r>
              <a:rPr lang="en-US" i="1" dirty="0">
                <a:solidFill>
                  <a:srgbClr val="0070C0"/>
                </a:solidFill>
              </a:rPr>
              <a:t>, </a:t>
            </a:r>
            <a:r>
              <a:rPr lang="en-US" i="1" dirty="0">
                <a:solidFill>
                  <a:srgbClr val="0070C0"/>
                </a:solidFill>
                <a:effectLst/>
              </a:rPr>
              <a:t>8</a:t>
            </a:r>
            <a:r>
              <a:rPr lang="en-US" i="1" dirty="0">
                <a:solidFill>
                  <a:srgbClr val="0070C0"/>
                </a:solidFill>
              </a:rPr>
              <a:t>};</a:t>
            </a:r>
          </a:p>
          <a:p>
            <a:endParaRPr lang="en-US" b="1" dirty="0">
              <a:solidFill>
                <a:srgbClr val="333333"/>
              </a:solidFill>
              <a:effectLst/>
            </a:endParaRPr>
          </a:p>
          <a:p>
            <a:endParaRPr lang="en-US" b="1" dirty="0">
              <a:solidFill>
                <a:srgbClr val="333333"/>
              </a:solidFill>
            </a:endParaRPr>
          </a:p>
          <a:p>
            <a:endParaRPr lang="en-US" b="1" dirty="0">
              <a:solidFill>
                <a:srgbClr val="333333"/>
              </a:solidFill>
              <a:effectLst/>
            </a:endParaRPr>
          </a:p>
          <a:p>
            <a:pPr marL="0" indent="0">
              <a:buNone/>
            </a:pPr>
            <a:endParaRPr lang="en-US" b="1" dirty="0">
              <a:solidFill>
                <a:srgbClr val="333333"/>
              </a:solidFill>
              <a:effectLst/>
            </a:endParaRPr>
          </a:p>
          <a:p>
            <a:r>
              <a:rPr lang="en-US" b="1" dirty="0">
                <a:solidFill>
                  <a:srgbClr val="333333"/>
                </a:solidFill>
                <a:effectLst/>
              </a:rPr>
              <a:t>int</a:t>
            </a:r>
            <a:r>
              <a:rPr lang="en-US" dirty="0"/>
              <a:t> numbers[</a:t>
            </a:r>
            <a:r>
              <a:rPr lang="en-US" dirty="0">
                <a:solidFill>
                  <a:srgbClr val="1D7C7C"/>
                </a:solidFill>
                <a:effectLst/>
              </a:rPr>
              <a:t>7</a:t>
            </a:r>
            <a:r>
              <a:rPr lang="en-US" dirty="0"/>
              <a:t>] = {</a:t>
            </a:r>
            <a:r>
              <a:rPr lang="en-US" dirty="0">
                <a:solidFill>
                  <a:srgbClr val="1D7C7C"/>
                </a:solidFill>
                <a:effectLst/>
              </a:rPr>
              <a:t>1</a:t>
            </a:r>
            <a:r>
              <a:rPr lang="en-US" dirty="0"/>
              <a:t>, </a:t>
            </a:r>
            <a:r>
              <a:rPr lang="en-US" dirty="0">
                <a:solidFill>
                  <a:srgbClr val="1D7C7C"/>
                </a:solidFill>
                <a:effectLst/>
              </a:rPr>
              <a:t>2</a:t>
            </a:r>
            <a:r>
              <a:rPr lang="en-US" dirty="0"/>
              <a:t>, </a:t>
            </a:r>
            <a:r>
              <a:rPr lang="en-US" dirty="0">
                <a:solidFill>
                  <a:srgbClr val="1D7C7C"/>
                </a:solidFill>
                <a:effectLst/>
              </a:rPr>
              <a:t>4</a:t>
            </a:r>
            <a:r>
              <a:rPr lang="en-US" dirty="0"/>
              <a:t>, </a:t>
            </a:r>
            <a:r>
              <a:rPr lang="en-US" dirty="0">
                <a:solidFill>
                  <a:srgbClr val="1D7C7C"/>
                </a:solidFill>
                <a:effectLst/>
              </a:rPr>
              <a:t>8</a:t>
            </a:r>
            <a:r>
              <a:rPr lang="en-US" dirty="0"/>
              <a:t>, </a:t>
            </a:r>
            <a:r>
              <a:rPr lang="en-US" dirty="0">
                <a:solidFill>
                  <a:srgbClr val="1D7C7C"/>
                </a:solidFill>
                <a:effectLst/>
              </a:rPr>
              <a:t>3</a:t>
            </a:r>
            <a:r>
              <a:rPr lang="en-US" dirty="0"/>
              <a:t>, </a:t>
            </a:r>
            <a:r>
              <a:rPr lang="en-US" dirty="0">
                <a:solidFill>
                  <a:srgbClr val="1D7C7C"/>
                </a:solidFill>
                <a:effectLst/>
              </a:rPr>
              <a:t>5</a:t>
            </a:r>
            <a:r>
              <a:rPr lang="en-US" dirty="0"/>
              <a:t>, </a:t>
            </a:r>
            <a:r>
              <a:rPr lang="en-US" dirty="0">
                <a:solidFill>
                  <a:srgbClr val="1D7C7C"/>
                </a:solidFill>
                <a:effectLst/>
              </a:rPr>
              <a:t>7</a:t>
            </a:r>
            <a:r>
              <a:rPr lang="en-US" dirty="0"/>
              <a:t>, </a:t>
            </a:r>
            <a:r>
              <a:rPr lang="en-US" dirty="0">
                <a:solidFill>
                  <a:srgbClr val="1D7C7C"/>
                </a:solidFill>
                <a:effectLst/>
              </a:rPr>
              <a:t>9</a:t>
            </a:r>
            <a:r>
              <a:rPr lang="en-US" dirty="0"/>
              <a:t>}; </a:t>
            </a:r>
            <a:r>
              <a:rPr lang="en-US" i="1" dirty="0">
                <a:solidFill>
                  <a:srgbClr val="717160"/>
                </a:solidFill>
                <a:effectLst/>
              </a:rPr>
              <a:t>// NOT legal! 8 values</a:t>
            </a:r>
          </a:p>
          <a:p>
            <a:r>
              <a:rPr lang="en-US" b="1" dirty="0">
                <a:solidFill>
                  <a:srgbClr val="333333"/>
                </a:solidFill>
                <a:effectLst/>
              </a:rPr>
              <a:t>int</a:t>
            </a:r>
            <a:r>
              <a:rPr lang="en-US" dirty="0"/>
              <a:t> numbers[</a:t>
            </a:r>
            <a:r>
              <a:rPr lang="en-US" dirty="0">
                <a:solidFill>
                  <a:srgbClr val="1D7C7C"/>
                </a:solidFill>
                <a:effectLst/>
              </a:rPr>
              <a:t>7</a:t>
            </a:r>
            <a:r>
              <a:rPr lang="en-US" dirty="0"/>
              <a:t>] = {</a:t>
            </a:r>
            <a:r>
              <a:rPr lang="en-US" dirty="0">
                <a:solidFill>
                  <a:srgbClr val="1D7C7C"/>
                </a:solidFill>
                <a:effectLst/>
              </a:rPr>
              <a:t>1</a:t>
            </a:r>
            <a:r>
              <a:rPr lang="en-US" dirty="0"/>
              <a:t>, , </a:t>
            </a:r>
            <a:r>
              <a:rPr lang="en-US" dirty="0">
                <a:solidFill>
                  <a:srgbClr val="1D7C7C"/>
                </a:solidFill>
                <a:effectLst/>
              </a:rPr>
              <a:t>4</a:t>
            </a:r>
            <a:r>
              <a:rPr lang="en-US" dirty="0"/>
              <a:t>, , </a:t>
            </a:r>
            <a:r>
              <a:rPr lang="en-US" dirty="0">
                <a:solidFill>
                  <a:srgbClr val="1D7C7C"/>
                </a:solidFill>
                <a:effectLst/>
              </a:rPr>
              <a:t>3</a:t>
            </a:r>
            <a:r>
              <a:rPr lang="en-US" dirty="0"/>
              <a:t>, </a:t>
            </a:r>
            <a:r>
              <a:rPr lang="en-US" dirty="0">
                <a:solidFill>
                  <a:srgbClr val="1D7C7C"/>
                </a:solidFill>
                <a:effectLst/>
              </a:rPr>
              <a:t>5</a:t>
            </a:r>
            <a:r>
              <a:rPr lang="en-US" dirty="0"/>
              <a:t>, </a:t>
            </a:r>
            <a:r>
              <a:rPr lang="en-US" dirty="0">
                <a:solidFill>
                  <a:srgbClr val="1D7C7C"/>
                </a:solidFill>
                <a:effectLst/>
              </a:rPr>
              <a:t>7</a:t>
            </a:r>
            <a:r>
              <a:rPr lang="en-US" dirty="0"/>
              <a:t>}; </a:t>
            </a:r>
            <a:r>
              <a:rPr lang="en-US" i="1" dirty="0">
                <a:solidFill>
                  <a:srgbClr val="717160"/>
                </a:solidFill>
                <a:effectLst/>
              </a:rPr>
              <a:t>// NOT legal! Can’t skip</a:t>
            </a:r>
            <a:endParaRPr lang="en-US" i="1" dirty="0">
              <a:solidFill>
                <a:srgbClr val="0070C0"/>
              </a:solidFill>
            </a:endParaRPr>
          </a:p>
        </p:txBody>
      </p:sp>
      <p:pic>
        <p:nvPicPr>
          <p:cNvPr id="4" name="Picture 3">
            <a:extLst>
              <a:ext uri="{FF2B5EF4-FFF2-40B4-BE49-F238E27FC236}">
                <a16:creationId xmlns:a16="http://schemas.microsoft.com/office/drawing/2014/main" id="{64814302-7C58-1170-99C1-B34D067F817F}"/>
              </a:ext>
            </a:extLst>
          </p:cNvPr>
          <p:cNvPicPr>
            <a:picLocks noChangeAspect="1"/>
          </p:cNvPicPr>
          <p:nvPr/>
        </p:nvPicPr>
        <p:blipFill>
          <a:blip r:embed="rId2"/>
          <a:stretch>
            <a:fillRect/>
          </a:stretch>
        </p:blipFill>
        <p:spPr>
          <a:xfrm>
            <a:off x="3397250" y="3219450"/>
            <a:ext cx="4718050" cy="1596106"/>
          </a:xfrm>
          <a:prstGeom prst="rect">
            <a:avLst/>
          </a:prstGeom>
        </p:spPr>
      </p:pic>
    </p:spTree>
    <p:extLst>
      <p:ext uri="{BB962C8B-B14F-4D97-AF65-F5344CB8AC3E}">
        <p14:creationId xmlns:p14="http://schemas.microsoft.com/office/powerpoint/2010/main" val="255855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33524-E2AA-E31F-C653-E7ED19699717}"/>
              </a:ext>
            </a:extLst>
          </p:cNvPr>
          <p:cNvSpPr>
            <a:spLocks noGrp="1"/>
          </p:cNvSpPr>
          <p:nvPr>
            <p:ph type="title"/>
          </p:nvPr>
        </p:nvSpPr>
        <p:spPr/>
        <p:txBody>
          <a:bodyPr/>
          <a:lstStyle/>
          <a:p>
            <a:r>
              <a:rPr lang="en-US" dirty="0"/>
              <a:t>Implicit Array Sizing</a:t>
            </a:r>
          </a:p>
        </p:txBody>
      </p:sp>
      <p:sp>
        <p:nvSpPr>
          <p:cNvPr id="3" name="Content Placeholder 2">
            <a:extLst>
              <a:ext uri="{FF2B5EF4-FFF2-40B4-BE49-F238E27FC236}">
                <a16:creationId xmlns:a16="http://schemas.microsoft.com/office/drawing/2014/main" id="{46585C6F-00CF-0744-A4CC-D85A183B2432}"/>
              </a:ext>
            </a:extLst>
          </p:cNvPr>
          <p:cNvSpPr>
            <a:spLocks noGrp="1"/>
          </p:cNvSpPr>
          <p:nvPr>
            <p:ph idx="1"/>
          </p:nvPr>
        </p:nvSpPr>
        <p:spPr/>
        <p:txBody>
          <a:bodyPr>
            <a:normAutofit/>
          </a:bodyPr>
          <a:lstStyle/>
          <a:p>
            <a:r>
              <a:rPr lang="en-US" dirty="0"/>
              <a:t>You can define an array without specifying its size by providing an initialization list that includes a value for every element. C++ counts the number of items in the initialization list and gives the array that many elements.</a:t>
            </a:r>
          </a:p>
          <a:p>
            <a:pPr lvl="1"/>
            <a:r>
              <a:rPr lang="en-US" b="1" i="1" dirty="0">
                <a:solidFill>
                  <a:srgbClr val="0070C0"/>
                </a:solidFill>
                <a:effectLst/>
              </a:rPr>
              <a:t>double</a:t>
            </a:r>
            <a:r>
              <a:rPr lang="en-US" i="1" dirty="0">
                <a:solidFill>
                  <a:srgbClr val="0070C0"/>
                </a:solidFill>
              </a:rPr>
              <a:t> ratings[] = {</a:t>
            </a:r>
            <a:r>
              <a:rPr lang="en-US" i="1" dirty="0">
                <a:solidFill>
                  <a:srgbClr val="0070C0"/>
                </a:solidFill>
                <a:effectLst/>
              </a:rPr>
              <a:t>1.0</a:t>
            </a:r>
            <a:r>
              <a:rPr lang="en-US" i="1" dirty="0">
                <a:solidFill>
                  <a:srgbClr val="0070C0"/>
                </a:solidFill>
              </a:rPr>
              <a:t>, </a:t>
            </a:r>
            <a:r>
              <a:rPr lang="en-US" i="1" dirty="0">
                <a:solidFill>
                  <a:srgbClr val="0070C0"/>
                </a:solidFill>
                <a:effectLst/>
              </a:rPr>
              <a:t>1.5</a:t>
            </a:r>
            <a:r>
              <a:rPr lang="en-US" i="1" dirty="0">
                <a:solidFill>
                  <a:srgbClr val="0070C0"/>
                </a:solidFill>
              </a:rPr>
              <a:t>, </a:t>
            </a:r>
            <a:r>
              <a:rPr lang="en-US" i="1" dirty="0">
                <a:solidFill>
                  <a:srgbClr val="0070C0"/>
                </a:solidFill>
                <a:effectLst/>
              </a:rPr>
              <a:t>2.0</a:t>
            </a:r>
            <a:r>
              <a:rPr lang="en-US" i="1" dirty="0">
                <a:solidFill>
                  <a:srgbClr val="0070C0"/>
                </a:solidFill>
              </a:rPr>
              <a:t>, </a:t>
            </a:r>
            <a:r>
              <a:rPr lang="en-US" i="1" dirty="0">
                <a:solidFill>
                  <a:srgbClr val="0070C0"/>
                </a:solidFill>
                <a:effectLst/>
              </a:rPr>
              <a:t>2.5</a:t>
            </a:r>
            <a:r>
              <a:rPr lang="en-US" i="1" dirty="0">
                <a:solidFill>
                  <a:srgbClr val="0070C0"/>
                </a:solidFill>
              </a:rPr>
              <a:t>, </a:t>
            </a:r>
            <a:r>
              <a:rPr lang="en-US" i="1" dirty="0">
                <a:solidFill>
                  <a:srgbClr val="0070C0"/>
                </a:solidFill>
                <a:effectLst/>
              </a:rPr>
              <a:t>3.0</a:t>
            </a:r>
            <a:r>
              <a:rPr lang="en-US" i="1" dirty="0">
                <a:solidFill>
                  <a:srgbClr val="0070C0"/>
                </a:solidFill>
              </a:rPr>
              <a:t>};</a:t>
            </a:r>
          </a:p>
          <a:p>
            <a:pPr marL="0" indent="0">
              <a:buNone/>
            </a:pPr>
            <a:endParaRPr lang="en-US" dirty="0"/>
          </a:p>
          <a:p>
            <a:r>
              <a:rPr lang="en-US" dirty="0"/>
              <a:t>You </a:t>
            </a:r>
            <a:r>
              <a:rPr lang="en-US" i="1" dirty="0"/>
              <a:t>must</a:t>
            </a:r>
            <a:r>
              <a:rPr lang="en-US" dirty="0"/>
              <a:t> specify an initialization list if you leave out the size declarator. Otherwise, C++ doesn’t know how large to make the array.</a:t>
            </a:r>
          </a:p>
          <a:p>
            <a:pPr lvl="1"/>
            <a:endParaRPr lang="en-US" i="1" dirty="0">
              <a:solidFill>
                <a:srgbClr val="0070C0"/>
              </a:solidFill>
            </a:endParaRPr>
          </a:p>
          <a:p>
            <a:pPr lvl="1"/>
            <a:endParaRPr lang="en-US" i="1" dirty="0">
              <a:solidFill>
                <a:srgbClr val="0070C0"/>
              </a:solidFill>
            </a:endParaRPr>
          </a:p>
        </p:txBody>
      </p:sp>
    </p:spTree>
    <p:extLst>
      <p:ext uri="{BB962C8B-B14F-4D97-AF65-F5344CB8AC3E}">
        <p14:creationId xmlns:p14="http://schemas.microsoft.com/office/powerpoint/2010/main" val="19002015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730B0-C945-6473-CF86-FD52953AE332}"/>
              </a:ext>
            </a:extLst>
          </p:cNvPr>
          <p:cNvSpPr>
            <a:spLocks noGrp="1"/>
          </p:cNvSpPr>
          <p:nvPr>
            <p:ph type="title"/>
          </p:nvPr>
        </p:nvSpPr>
        <p:spPr/>
        <p:txBody>
          <a:bodyPr/>
          <a:lstStyle/>
          <a:p>
            <a:r>
              <a:rPr lang="en-US" dirty="0"/>
              <a:t>The Range-Based for Loop</a:t>
            </a:r>
          </a:p>
        </p:txBody>
      </p:sp>
      <p:sp>
        <p:nvSpPr>
          <p:cNvPr id="3" name="Content Placeholder 2">
            <a:extLst>
              <a:ext uri="{FF2B5EF4-FFF2-40B4-BE49-F238E27FC236}">
                <a16:creationId xmlns:a16="http://schemas.microsoft.com/office/drawing/2014/main" id="{BB2CB8C2-2B5D-2FEB-47FF-81A573FF78D0}"/>
              </a:ext>
            </a:extLst>
          </p:cNvPr>
          <p:cNvSpPr>
            <a:spLocks noGrp="1"/>
          </p:cNvSpPr>
          <p:nvPr>
            <p:ph idx="1"/>
          </p:nvPr>
        </p:nvSpPr>
        <p:spPr/>
        <p:txBody>
          <a:bodyPr>
            <a:normAutofit fontScale="92500" lnSpcReduction="10000"/>
          </a:bodyPr>
          <a:lstStyle/>
          <a:p>
            <a:r>
              <a:rPr lang="en-US" dirty="0"/>
              <a:t>The range-based for loop is a loop that iterates once for each element in an array. </a:t>
            </a:r>
          </a:p>
          <a:p>
            <a:r>
              <a:rPr lang="en-US" dirty="0"/>
              <a:t>Each time the loop iterates, it copies an element from the array to a variable. </a:t>
            </a:r>
          </a:p>
          <a:p>
            <a:r>
              <a:rPr lang="en-US" dirty="0"/>
              <a:t>When you use the range-based for loop with an array, the loop automatically iterates once for each element in the array. </a:t>
            </a:r>
          </a:p>
          <a:p>
            <a:r>
              <a:rPr lang="en-US" dirty="0"/>
              <a:t>For example, if you use the range-based for loop with an eight-element array, the loop will iterate eight times. Because the range-based for loop automatically knows the number of elements in an array, you do not have to use a counter variable to control its iterations or have to worry about stepping outside the bounds of the array.</a:t>
            </a:r>
          </a:p>
        </p:txBody>
      </p:sp>
    </p:spTree>
    <p:extLst>
      <p:ext uri="{BB962C8B-B14F-4D97-AF65-F5344CB8AC3E}">
        <p14:creationId xmlns:p14="http://schemas.microsoft.com/office/powerpoint/2010/main" val="21472902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0F713-C81A-7B37-84A7-144366C3F7A3}"/>
              </a:ext>
            </a:extLst>
          </p:cNvPr>
          <p:cNvSpPr>
            <a:spLocks noGrp="1"/>
          </p:cNvSpPr>
          <p:nvPr>
            <p:ph type="title"/>
          </p:nvPr>
        </p:nvSpPr>
        <p:spPr/>
        <p:txBody>
          <a:bodyPr/>
          <a:lstStyle/>
          <a:p>
            <a:r>
              <a:rPr lang="en-US" dirty="0"/>
              <a:t>The Range-Based for Loop</a:t>
            </a:r>
          </a:p>
        </p:txBody>
      </p:sp>
      <p:sp>
        <p:nvSpPr>
          <p:cNvPr id="3" name="Content Placeholder 2">
            <a:extLst>
              <a:ext uri="{FF2B5EF4-FFF2-40B4-BE49-F238E27FC236}">
                <a16:creationId xmlns:a16="http://schemas.microsoft.com/office/drawing/2014/main" id="{31378004-24A8-0D56-FA60-422059E5DB52}"/>
              </a:ext>
            </a:extLst>
          </p:cNvPr>
          <p:cNvSpPr>
            <a:spLocks noGrp="1"/>
          </p:cNvSpPr>
          <p:nvPr>
            <p:ph idx="1"/>
          </p:nvPr>
        </p:nvSpPr>
        <p:spPr/>
        <p:txBody>
          <a:bodyPr/>
          <a:lstStyle/>
          <a:p>
            <a:r>
              <a:rPr lang="en-US" dirty="0"/>
              <a:t>Here is the general format of the range-based for loop:</a:t>
            </a:r>
          </a:p>
          <a:p>
            <a:r>
              <a:rPr lang="en-US" dirty="0"/>
              <a:t>The range-based for loop works with a built-in variable known as the </a:t>
            </a:r>
            <a:r>
              <a:rPr lang="en-US" dirty="0">
                <a:hlinkClick r:id="rId2"/>
              </a:rPr>
              <a:t>range variable</a:t>
            </a:r>
            <a:r>
              <a:rPr lang="en-US"/>
              <a:t>. </a:t>
            </a:r>
          </a:p>
          <a:p>
            <a:r>
              <a:rPr lang="en-US"/>
              <a:t>Each </a:t>
            </a:r>
            <a:r>
              <a:rPr lang="en-US" dirty="0"/>
              <a:t>time the range-based for loop iterates, it copies the next array element to the range variable. </a:t>
            </a:r>
          </a:p>
        </p:txBody>
      </p:sp>
      <p:pic>
        <p:nvPicPr>
          <p:cNvPr id="4" name="Picture 3">
            <a:extLst>
              <a:ext uri="{FF2B5EF4-FFF2-40B4-BE49-F238E27FC236}">
                <a16:creationId xmlns:a16="http://schemas.microsoft.com/office/drawing/2014/main" id="{1AFBE1EB-D1D7-F263-824D-EB1EE7504A22}"/>
              </a:ext>
            </a:extLst>
          </p:cNvPr>
          <p:cNvPicPr>
            <a:picLocks noChangeAspect="1"/>
          </p:cNvPicPr>
          <p:nvPr/>
        </p:nvPicPr>
        <p:blipFill>
          <a:blip r:embed="rId3"/>
          <a:stretch>
            <a:fillRect/>
          </a:stretch>
        </p:blipFill>
        <p:spPr>
          <a:xfrm>
            <a:off x="3138169" y="4462780"/>
            <a:ext cx="4888755" cy="875030"/>
          </a:xfrm>
          <a:prstGeom prst="rect">
            <a:avLst/>
          </a:prstGeom>
        </p:spPr>
      </p:pic>
    </p:spTree>
    <p:extLst>
      <p:ext uri="{BB962C8B-B14F-4D97-AF65-F5344CB8AC3E}">
        <p14:creationId xmlns:p14="http://schemas.microsoft.com/office/powerpoint/2010/main" val="16369135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C1E15-02F1-BFA8-A7E2-07164800FB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396907-524B-C60F-4603-FA785EC003CF}"/>
              </a:ext>
            </a:extLst>
          </p:cNvPr>
          <p:cNvSpPr>
            <a:spLocks noGrp="1"/>
          </p:cNvSpPr>
          <p:nvPr>
            <p:ph type="title"/>
          </p:nvPr>
        </p:nvSpPr>
        <p:spPr/>
        <p:txBody>
          <a:bodyPr/>
          <a:lstStyle/>
          <a:p>
            <a:r>
              <a:rPr lang="en-US" dirty="0"/>
              <a:t>The Range-Based for Loop: Example</a:t>
            </a:r>
          </a:p>
        </p:txBody>
      </p:sp>
      <p:pic>
        <p:nvPicPr>
          <p:cNvPr id="5" name="Content Placeholder 4">
            <a:extLst>
              <a:ext uri="{FF2B5EF4-FFF2-40B4-BE49-F238E27FC236}">
                <a16:creationId xmlns:a16="http://schemas.microsoft.com/office/drawing/2014/main" id="{62D33E5C-3AE0-1C6B-10C8-DD6BB1327D71}"/>
              </a:ext>
            </a:extLst>
          </p:cNvPr>
          <p:cNvPicPr>
            <a:picLocks noGrp="1" noChangeAspect="1"/>
          </p:cNvPicPr>
          <p:nvPr>
            <p:ph idx="1"/>
          </p:nvPr>
        </p:nvPicPr>
        <p:blipFill>
          <a:blip r:embed="rId2"/>
          <a:stretch>
            <a:fillRect/>
          </a:stretch>
        </p:blipFill>
        <p:spPr>
          <a:xfrm>
            <a:off x="1053139" y="1846645"/>
            <a:ext cx="4872592" cy="4351338"/>
          </a:xfrm>
          <a:prstGeom prst="rect">
            <a:avLst/>
          </a:prstGeom>
        </p:spPr>
      </p:pic>
      <p:pic>
        <p:nvPicPr>
          <p:cNvPr id="6" name="Picture 5">
            <a:extLst>
              <a:ext uri="{FF2B5EF4-FFF2-40B4-BE49-F238E27FC236}">
                <a16:creationId xmlns:a16="http://schemas.microsoft.com/office/drawing/2014/main" id="{1554D0D8-1969-F0DB-B86B-8DDAD36AF8F1}"/>
              </a:ext>
            </a:extLst>
          </p:cNvPr>
          <p:cNvPicPr>
            <a:picLocks noChangeAspect="1"/>
          </p:cNvPicPr>
          <p:nvPr/>
        </p:nvPicPr>
        <p:blipFill>
          <a:blip r:embed="rId3"/>
          <a:stretch>
            <a:fillRect/>
          </a:stretch>
        </p:blipFill>
        <p:spPr>
          <a:xfrm>
            <a:off x="6850269" y="2623930"/>
            <a:ext cx="4010205" cy="2539172"/>
          </a:xfrm>
          <a:prstGeom prst="rect">
            <a:avLst/>
          </a:prstGeom>
        </p:spPr>
      </p:pic>
    </p:spTree>
    <p:extLst>
      <p:ext uri="{BB962C8B-B14F-4D97-AF65-F5344CB8AC3E}">
        <p14:creationId xmlns:p14="http://schemas.microsoft.com/office/powerpoint/2010/main" val="8373382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33949-BBE8-FFF1-464B-DAA7C83BDB2C}"/>
              </a:ext>
            </a:extLst>
          </p:cNvPr>
          <p:cNvSpPr>
            <a:spLocks noGrp="1"/>
          </p:cNvSpPr>
          <p:nvPr>
            <p:ph type="title"/>
          </p:nvPr>
        </p:nvSpPr>
        <p:spPr/>
        <p:txBody>
          <a:bodyPr/>
          <a:lstStyle/>
          <a:p>
            <a:r>
              <a:rPr lang="en-US" dirty="0"/>
              <a:t>Modifying an Array with a Range-Based for Loop</a:t>
            </a:r>
          </a:p>
        </p:txBody>
      </p:sp>
      <p:sp>
        <p:nvSpPr>
          <p:cNvPr id="3" name="Content Placeholder 2">
            <a:extLst>
              <a:ext uri="{FF2B5EF4-FFF2-40B4-BE49-F238E27FC236}">
                <a16:creationId xmlns:a16="http://schemas.microsoft.com/office/drawing/2014/main" id="{76427D64-D436-92BD-293D-59A6FDF48D18}"/>
              </a:ext>
            </a:extLst>
          </p:cNvPr>
          <p:cNvSpPr>
            <a:spLocks noGrp="1"/>
          </p:cNvSpPr>
          <p:nvPr>
            <p:ph idx="1"/>
          </p:nvPr>
        </p:nvSpPr>
        <p:spPr/>
        <p:txBody>
          <a:bodyPr/>
          <a:lstStyle/>
          <a:p>
            <a:r>
              <a:rPr lang="en-US" dirty="0"/>
              <a:t>As the range-based for loop executes, its range variable contains only a copy of an array element. </a:t>
            </a:r>
          </a:p>
          <a:p>
            <a:r>
              <a:rPr lang="en-US" dirty="0"/>
              <a:t>As a consequence, you cannot use a range-based for loop to modify the contents of an array unless you declare the range variable as a reference. </a:t>
            </a:r>
          </a:p>
          <a:p>
            <a:r>
              <a:rPr lang="en-US" dirty="0"/>
              <a:t>A reference variable is an alias for another value. Any changes made to the reference variable are actually made to the value for which it is an alias.</a:t>
            </a:r>
          </a:p>
          <a:p>
            <a:r>
              <a:rPr lang="en-US" dirty="0"/>
              <a:t>To declare the range variable as a reference variable, place an ampersand (&amp;) in front of its name in the loop header. </a:t>
            </a:r>
          </a:p>
        </p:txBody>
      </p:sp>
    </p:spTree>
    <p:extLst>
      <p:ext uri="{BB962C8B-B14F-4D97-AF65-F5344CB8AC3E}">
        <p14:creationId xmlns:p14="http://schemas.microsoft.com/office/powerpoint/2010/main" val="3214789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DEFE6-16C8-E799-9F4E-8844C0859C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765376-70C3-AC4C-7D69-2A7EDEFBDFEA}"/>
              </a:ext>
            </a:extLst>
          </p:cNvPr>
          <p:cNvSpPr>
            <a:spLocks noGrp="1"/>
          </p:cNvSpPr>
          <p:nvPr>
            <p:ph type="title"/>
          </p:nvPr>
        </p:nvSpPr>
        <p:spPr/>
        <p:txBody>
          <a:bodyPr/>
          <a:lstStyle/>
          <a:p>
            <a:r>
              <a:rPr lang="en-US" dirty="0"/>
              <a:t>Modifying an Array with a Range-Based for Loop</a:t>
            </a:r>
          </a:p>
        </p:txBody>
      </p:sp>
      <p:pic>
        <p:nvPicPr>
          <p:cNvPr id="6" name="Picture 5">
            <a:extLst>
              <a:ext uri="{FF2B5EF4-FFF2-40B4-BE49-F238E27FC236}">
                <a16:creationId xmlns:a16="http://schemas.microsoft.com/office/drawing/2014/main" id="{84029D0C-1597-8803-D364-1EB9BB574E65}"/>
              </a:ext>
            </a:extLst>
          </p:cNvPr>
          <p:cNvPicPr>
            <a:picLocks noChangeAspect="1"/>
          </p:cNvPicPr>
          <p:nvPr/>
        </p:nvPicPr>
        <p:blipFill>
          <a:blip r:embed="rId2"/>
          <a:stretch>
            <a:fillRect/>
          </a:stretch>
        </p:blipFill>
        <p:spPr>
          <a:xfrm>
            <a:off x="1370521" y="1900997"/>
            <a:ext cx="4165827" cy="4591878"/>
          </a:xfrm>
          <a:prstGeom prst="rect">
            <a:avLst/>
          </a:prstGeom>
        </p:spPr>
      </p:pic>
      <p:pic>
        <p:nvPicPr>
          <p:cNvPr id="7" name="Picture 6">
            <a:extLst>
              <a:ext uri="{FF2B5EF4-FFF2-40B4-BE49-F238E27FC236}">
                <a16:creationId xmlns:a16="http://schemas.microsoft.com/office/drawing/2014/main" id="{C37BEB73-885B-456A-C669-B586F8028ED1}"/>
              </a:ext>
            </a:extLst>
          </p:cNvPr>
          <p:cNvPicPr>
            <a:picLocks noChangeAspect="1"/>
          </p:cNvPicPr>
          <p:nvPr/>
        </p:nvPicPr>
        <p:blipFill>
          <a:blip r:embed="rId3"/>
          <a:stretch>
            <a:fillRect/>
          </a:stretch>
        </p:blipFill>
        <p:spPr>
          <a:xfrm>
            <a:off x="6655654" y="2743199"/>
            <a:ext cx="4420576" cy="2287933"/>
          </a:xfrm>
          <a:prstGeom prst="rect">
            <a:avLst/>
          </a:prstGeom>
        </p:spPr>
      </p:pic>
    </p:spTree>
    <p:extLst>
      <p:ext uri="{BB962C8B-B14F-4D97-AF65-F5344CB8AC3E}">
        <p14:creationId xmlns:p14="http://schemas.microsoft.com/office/powerpoint/2010/main" val="3457057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D7709-F131-2A04-DC92-4FAF003359FC}"/>
              </a:ext>
            </a:extLst>
          </p:cNvPr>
          <p:cNvSpPr>
            <a:spLocks noGrp="1"/>
          </p:cNvSpPr>
          <p:nvPr>
            <p:ph type="title"/>
          </p:nvPr>
        </p:nvSpPr>
        <p:spPr/>
        <p:txBody>
          <a:bodyPr>
            <a:normAutofit fontScale="90000"/>
          </a:bodyPr>
          <a:lstStyle/>
          <a:p>
            <a:r>
              <a:rPr lang="en-US" dirty="0">
                <a:effectLst/>
              </a:rPr>
              <a:t>The Range-Based for Loop versus the Regular for Loop</a:t>
            </a:r>
            <a:br>
              <a:rPr lang="en-US" b="1" dirty="0">
                <a:effectLst/>
              </a:rPr>
            </a:br>
            <a:endParaRPr lang="en-US" dirty="0"/>
          </a:p>
        </p:txBody>
      </p:sp>
      <p:sp>
        <p:nvSpPr>
          <p:cNvPr id="3" name="Content Placeholder 2">
            <a:extLst>
              <a:ext uri="{FF2B5EF4-FFF2-40B4-BE49-F238E27FC236}">
                <a16:creationId xmlns:a16="http://schemas.microsoft.com/office/drawing/2014/main" id="{9229213A-A22F-73F2-D745-1A1091545103}"/>
              </a:ext>
            </a:extLst>
          </p:cNvPr>
          <p:cNvSpPr>
            <a:spLocks noGrp="1"/>
          </p:cNvSpPr>
          <p:nvPr>
            <p:ph idx="1"/>
          </p:nvPr>
        </p:nvSpPr>
        <p:spPr/>
        <p:txBody>
          <a:bodyPr/>
          <a:lstStyle/>
          <a:p>
            <a:r>
              <a:rPr lang="en-US" dirty="0">
                <a:effectLst/>
              </a:rPr>
              <a:t>The range-based for loop can be used in any situation where you need to step through all the elements of an array, and you do not need to use the element subscripts. </a:t>
            </a:r>
          </a:p>
          <a:p>
            <a:r>
              <a:rPr lang="en-US" dirty="0">
                <a:effectLst/>
              </a:rPr>
              <a:t>It will not work, however, in situations where you need the element subscript for some purpose. </a:t>
            </a:r>
          </a:p>
          <a:p>
            <a:r>
              <a:rPr lang="en-US" dirty="0">
                <a:effectLst/>
              </a:rPr>
              <a:t>It will also not work if the loop control variable is being used to access elements of two or more different arrays. </a:t>
            </a:r>
          </a:p>
          <a:p>
            <a:r>
              <a:rPr lang="en-US" dirty="0">
                <a:effectLst/>
              </a:rPr>
              <a:t>In these situations, you need to use the regular for loop.</a:t>
            </a:r>
          </a:p>
          <a:p>
            <a:endParaRPr lang="en-US" dirty="0"/>
          </a:p>
        </p:txBody>
      </p:sp>
    </p:spTree>
    <p:extLst>
      <p:ext uri="{BB962C8B-B14F-4D97-AF65-F5344CB8AC3E}">
        <p14:creationId xmlns:p14="http://schemas.microsoft.com/office/powerpoint/2010/main" val="28453812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TotalTime>
  <Words>1315</Words>
  <Application>Microsoft Macintosh PowerPoint</Application>
  <PresentationFormat>Widescreen</PresentationFormat>
  <Paragraphs>91</Paragraphs>
  <Slides>25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Aptos Display</vt:lpstr>
      <vt:lpstr>Arial</vt:lpstr>
      <vt:lpstr>Office Theme</vt:lpstr>
      <vt:lpstr>Week 5 Array and Vector part 1</vt:lpstr>
      <vt:lpstr>Arrays Hold Multiple Values</vt:lpstr>
      <vt:lpstr>Arrays Hold Multiple Values</vt:lpstr>
      <vt:lpstr>Memory Requirements of Arrays</vt:lpstr>
      <vt:lpstr>Accessing Array Elements</vt:lpstr>
      <vt:lpstr>Accessing Array Elements</vt:lpstr>
      <vt:lpstr>Inputting and Displaying Array Data</vt:lpstr>
      <vt:lpstr>Inputting and Displaying Array Data</vt:lpstr>
      <vt:lpstr>No Bounds Checking in C++</vt:lpstr>
      <vt:lpstr>No Bounds Checking in C++</vt:lpstr>
      <vt:lpstr>No Bounds Checking in C++</vt:lpstr>
      <vt:lpstr>Watch for Off-By-One Errors</vt:lpstr>
      <vt:lpstr>Array Initialization</vt:lpstr>
      <vt:lpstr>Array Initialization</vt:lpstr>
      <vt:lpstr>Array Initialization: Example</vt:lpstr>
      <vt:lpstr>Array Initialization: Example</vt:lpstr>
      <vt:lpstr>Starting with Array Element 1</vt:lpstr>
      <vt:lpstr>Partial Array Initialization</vt:lpstr>
      <vt:lpstr>Implicit Array Sizing</vt:lpstr>
      <vt:lpstr>The Range-Based for Loop</vt:lpstr>
      <vt:lpstr>The Range-Based for Loop</vt:lpstr>
      <vt:lpstr>The Range-Based for Loop: Example</vt:lpstr>
      <vt:lpstr>Modifying an Array with a Range-Based for Loop</vt:lpstr>
      <vt:lpstr>Modifying an Array with a Range-Based for Loop</vt:lpstr>
      <vt:lpstr>The Range-Based for Loop versus the Regular for Loop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Romael Haque</dc:creator>
  <cp:lastModifiedBy>MD Romael Haque</cp:lastModifiedBy>
  <cp:revision>5</cp:revision>
  <dcterms:created xsi:type="dcterms:W3CDTF">2024-09-24T11:41:01Z</dcterms:created>
  <dcterms:modified xsi:type="dcterms:W3CDTF">2024-09-24T14:01:46Z</dcterms:modified>
</cp:coreProperties>
</file>