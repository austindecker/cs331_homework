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3"/>
  </p:notesMasterIdLst>
  <p:sldIdLst>
    <p:sldId id="257" r:id="rId2"/>
    <p:sldId id="346" r:id="rId3"/>
    <p:sldId id="347" r:id="rId4"/>
    <p:sldId id="348" r:id="rId5"/>
    <p:sldId id="349" r:id="rId6"/>
    <p:sldId id="350" r:id="rId7"/>
    <p:sldId id="351" r:id="rId8"/>
    <p:sldId id="352" r:id="rId9"/>
    <p:sldId id="353" r:id="rId10"/>
    <p:sldId id="354" r:id="rId11"/>
    <p:sldId id="355" r:id="rId12"/>
    <p:sldId id="356" r:id="rId13"/>
    <p:sldId id="357" r:id="rId14"/>
    <p:sldId id="358" r:id="rId15"/>
    <p:sldId id="359" r:id="rId16"/>
    <p:sldId id="360" r:id="rId17"/>
    <p:sldId id="361" r:id="rId18"/>
    <p:sldId id="362" r:id="rId19"/>
    <p:sldId id="363" r:id="rId20"/>
    <p:sldId id="364" r:id="rId21"/>
    <p:sldId id="365" r:id="rId22"/>
    <p:sldId id="369" r:id="rId23"/>
    <p:sldId id="366" r:id="rId24"/>
    <p:sldId id="367" r:id="rId25"/>
    <p:sldId id="368" r:id="rId26"/>
    <p:sldId id="370" r:id="rId27"/>
    <p:sldId id="371" r:id="rId28"/>
    <p:sldId id="372" r:id="rId29"/>
    <p:sldId id="373" r:id="rId30"/>
    <p:sldId id="374" r:id="rId31"/>
    <p:sldId id="375" r:id="rId32"/>
    <p:sldId id="376" r:id="rId33"/>
    <p:sldId id="377" r:id="rId34"/>
    <p:sldId id="378" r:id="rId35"/>
    <p:sldId id="379" r:id="rId36"/>
    <p:sldId id="380" r:id="rId37"/>
    <p:sldId id="381" r:id="rId38"/>
    <p:sldId id="382" r:id="rId39"/>
    <p:sldId id="383" r:id="rId40"/>
    <p:sldId id="384" r:id="rId41"/>
    <p:sldId id="385" r:id="rId42"/>
    <p:sldId id="386" r:id="rId43"/>
    <p:sldId id="387" r:id="rId44"/>
    <p:sldId id="388" r:id="rId45"/>
    <p:sldId id="389" r:id="rId46"/>
    <p:sldId id="390" r:id="rId47"/>
    <p:sldId id="391" r:id="rId48"/>
    <p:sldId id="392" r:id="rId49"/>
    <p:sldId id="393" r:id="rId50"/>
    <p:sldId id="394" r:id="rId51"/>
    <p:sldId id="395" r:id="rId52"/>
    <p:sldId id="396" r:id="rId53"/>
    <p:sldId id="397" r:id="rId54"/>
    <p:sldId id="398" r:id="rId55"/>
    <p:sldId id="399" r:id="rId56"/>
    <p:sldId id="400" r:id="rId57"/>
    <p:sldId id="401" r:id="rId58"/>
    <p:sldId id="402" r:id="rId59"/>
    <p:sldId id="403" r:id="rId60"/>
    <p:sldId id="404" r:id="rId61"/>
    <p:sldId id="405"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ferSingleView="1">
    <p:restoredLeft sz="13769"/>
    <p:restoredTop sz="84115"/>
  </p:normalViewPr>
  <p:slideViewPr>
    <p:cSldViewPr snapToGrid="0">
      <p:cViewPr varScale="1">
        <p:scale>
          <a:sx n="149" d="100"/>
          <a:sy n="149" d="100"/>
        </p:scale>
        <p:origin x="208" y="880"/>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0FDF5A-A32C-8547-BE32-BBF162778E9A}" type="datetimeFigureOut">
              <a:rPr lang="en-US" smtClean="0"/>
              <a:t>12/3/24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942356-7B73-6841-A35C-74E1C107F8AF}" type="slidenum">
              <a:rPr lang="en-US" smtClean="0"/>
              <a:t>‹#›</a:t>
            </a:fld>
            <a:endParaRPr lang="en-US"/>
          </a:p>
        </p:txBody>
      </p:sp>
    </p:spTree>
    <p:extLst>
      <p:ext uri="{BB962C8B-B14F-4D97-AF65-F5344CB8AC3E}">
        <p14:creationId xmlns:p14="http://schemas.microsoft.com/office/powerpoint/2010/main" val="13883775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942356-7B73-6841-A35C-74E1C107F8AF}" type="slidenum">
              <a:rPr lang="en-US" smtClean="0"/>
              <a:t>3</a:t>
            </a:fld>
            <a:endParaRPr lang="en-US"/>
          </a:p>
        </p:txBody>
      </p:sp>
    </p:spTree>
    <p:extLst>
      <p:ext uri="{BB962C8B-B14F-4D97-AF65-F5344CB8AC3E}">
        <p14:creationId xmlns:p14="http://schemas.microsoft.com/office/powerpoint/2010/main" val="25372074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942356-7B73-6841-A35C-74E1C107F8AF}" type="slidenum">
              <a:rPr lang="en-US" smtClean="0"/>
              <a:t>14</a:t>
            </a:fld>
            <a:endParaRPr lang="en-US"/>
          </a:p>
        </p:txBody>
      </p:sp>
    </p:spTree>
    <p:extLst>
      <p:ext uri="{BB962C8B-B14F-4D97-AF65-F5344CB8AC3E}">
        <p14:creationId xmlns:p14="http://schemas.microsoft.com/office/powerpoint/2010/main" val="28264966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942356-7B73-6841-A35C-74E1C107F8AF}" type="slidenum">
              <a:rPr lang="en-US" smtClean="0"/>
              <a:t>18</a:t>
            </a:fld>
            <a:endParaRPr lang="en-US"/>
          </a:p>
        </p:txBody>
      </p:sp>
    </p:spTree>
    <p:extLst>
      <p:ext uri="{BB962C8B-B14F-4D97-AF65-F5344CB8AC3E}">
        <p14:creationId xmlns:p14="http://schemas.microsoft.com/office/powerpoint/2010/main" val="19125581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B53AC-CC8C-BF6A-618C-D7BFB7CA6D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FF21A7-1125-35BB-5153-D3562D379B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97A3E6-2931-24AA-7AAA-9022942680B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A750ED7-77F8-BF01-1CD7-F18EA49DFA66}"/>
              </a:ext>
            </a:extLst>
          </p:cNvPr>
          <p:cNvSpPr>
            <a:spLocks noGrp="1"/>
          </p:cNvSpPr>
          <p:nvPr>
            <p:ph type="sldNum" sz="quarter" idx="5"/>
          </p:nvPr>
        </p:nvSpPr>
        <p:spPr/>
        <p:txBody>
          <a:bodyPr/>
          <a:lstStyle/>
          <a:p>
            <a:fld id="{C6942356-7B73-6841-A35C-74E1C107F8AF}" type="slidenum">
              <a:rPr lang="en-US" smtClean="0"/>
              <a:t>22</a:t>
            </a:fld>
            <a:endParaRPr lang="en-US"/>
          </a:p>
        </p:txBody>
      </p:sp>
    </p:spTree>
    <p:extLst>
      <p:ext uri="{BB962C8B-B14F-4D97-AF65-F5344CB8AC3E}">
        <p14:creationId xmlns:p14="http://schemas.microsoft.com/office/powerpoint/2010/main" val="2721084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942356-7B73-6841-A35C-74E1C107F8AF}" type="slidenum">
              <a:rPr lang="en-US" smtClean="0"/>
              <a:t>23</a:t>
            </a:fld>
            <a:endParaRPr lang="en-US"/>
          </a:p>
        </p:txBody>
      </p:sp>
    </p:spTree>
    <p:extLst>
      <p:ext uri="{BB962C8B-B14F-4D97-AF65-F5344CB8AC3E}">
        <p14:creationId xmlns:p14="http://schemas.microsoft.com/office/powerpoint/2010/main" val="37493833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942356-7B73-6841-A35C-74E1C107F8AF}" type="slidenum">
              <a:rPr lang="en-US" smtClean="0"/>
              <a:t>24</a:t>
            </a:fld>
            <a:endParaRPr lang="en-US"/>
          </a:p>
        </p:txBody>
      </p:sp>
    </p:spTree>
    <p:extLst>
      <p:ext uri="{BB962C8B-B14F-4D97-AF65-F5344CB8AC3E}">
        <p14:creationId xmlns:p14="http://schemas.microsoft.com/office/powerpoint/2010/main" val="20847829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AA913B-D918-5DCD-E1E2-C59E4DB703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E449A0-7FEB-2123-E81D-B439F6B6B5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59CF8F-476C-867A-2A71-43B8E609739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1F7465C-35F2-674C-3BC1-A111C1B67FBA}"/>
              </a:ext>
            </a:extLst>
          </p:cNvPr>
          <p:cNvSpPr>
            <a:spLocks noGrp="1"/>
          </p:cNvSpPr>
          <p:nvPr>
            <p:ph type="sldNum" sz="quarter" idx="5"/>
          </p:nvPr>
        </p:nvSpPr>
        <p:spPr/>
        <p:txBody>
          <a:bodyPr/>
          <a:lstStyle/>
          <a:p>
            <a:fld id="{C6942356-7B73-6841-A35C-74E1C107F8AF}" type="slidenum">
              <a:rPr lang="en-US" smtClean="0"/>
              <a:t>25</a:t>
            </a:fld>
            <a:endParaRPr lang="en-US"/>
          </a:p>
        </p:txBody>
      </p:sp>
    </p:spTree>
    <p:extLst>
      <p:ext uri="{BB962C8B-B14F-4D97-AF65-F5344CB8AC3E}">
        <p14:creationId xmlns:p14="http://schemas.microsoft.com/office/powerpoint/2010/main" val="19137018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942356-7B73-6841-A35C-74E1C107F8AF}" type="slidenum">
              <a:rPr lang="en-US" smtClean="0"/>
              <a:t>35</a:t>
            </a:fld>
            <a:endParaRPr lang="en-US"/>
          </a:p>
        </p:txBody>
      </p:sp>
    </p:spTree>
    <p:extLst>
      <p:ext uri="{BB962C8B-B14F-4D97-AF65-F5344CB8AC3E}">
        <p14:creationId xmlns:p14="http://schemas.microsoft.com/office/powerpoint/2010/main" val="26544675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942356-7B73-6841-A35C-74E1C107F8AF}" type="slidenum">
              <a:rPr lang="en-US" smtClean="0"/>
              <a:t>36</a:t>
            </a:fld>
            <a:endParaRPr lang="en-US"/>
          </a:p>
        </p:txBody>
      </p:sp>
    </p:spTree>
    <p:extLst>
      <p:ext uri="{BB962C8B-B14F-4D97-AF65-F5344CB8AC3E}">
        <p14:creationId xmlns:p14="http://schemas.microsoft.com/office/powerpoint/2010/main" val="20644591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942356-7B73-6841-A35C-74E1C107F8AF}" type="slidenum">
              <a:rPr lang="en-US" smtClean="0"/>
              <a:t>39</a:t>
            </a:fld>
            <a:endParaRPr lang="en-US"/>
          </a:p>
        </p:txBody>
      </p:sp>
    </p:spTree>
    <p:extLst>
      <p:ext uri="{BB962C8B-B14F-4D97-AF65-F5344CB8AC3E}">
        <p14:creationId xmlns:p14="http://schemas.microsoft.com/office/powerpoint/2010/main" val="965945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942356-7B73-6841-A35C-74E1C107F8AF}" type="slidenum">
              <a:rPr lang="en-US" smtClean="0"/>
              <a:t>40</a:t>
            </a:fld>
            <a:endParaRPr lang="en-US"/>
          </a:p>
        </p:txBody>
      </p:sp>
    </p:spTree>
    <p:extLst>
      <p:ext uri="{BB962C8B-B14F-4D97-AF65-F5344CB8AC3E}">
        <p14:creationId xmlns:p14="http://schemas.microsoft.com/office/powerpoint/2010/main" val="38081653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942356-7B73-6841-A35C-74E1C107F8AF}" type="slidenum">
              <a:rPr lang="en-US" smtClean="0"/>
              <a:t>42</a:t>
            </a:fld>
            <a:endParaRPr lang="en-US"/>
          </a:p>
        </p:txBody>
      </p:sp>
    </p:spTree>
    <p:extLst>
      <p:ext uri="{BB962C8B-B14F-4D97-AF65-F5344CB8AC3E}">
        <p14:creationId xmlns:p14="http://schemas.microsoft.com/office/powerpoint/2010/main" val="6234755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942356-7B73-6841-A35C-74E1C107F8AF}" type="slidenum">
              <a:rPr lang="en-US" smtClean="0"/>
              <a:t>46</a:t>
            </a:fld>
            <a:endParaRPr lang="en-US"/>
          </a:p>
        </p:txBody>
      </p:sp>
    </p:spTree>
    <p:extLst>
      <p:ext uri="{BB962C8B-B14F-4D97-AF65-F5344CB8AC3E}">
        <p14:creationId xmlns:p14="http://schemas.microsoft.com/office/powerpoint/2010/main" val="26592036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942356-7B73-6841-A35C-74E1C107F8AF}" type="slidenum">
              <a:rPr lang="en-US" smtClean="0"/>
              <a:t>50</a:t>
            </a:fld>
            <a:endParaRPr lang="en-US"/>
          </a:p>
        </p:txBody>
      </p:sp>
    </p:spTree>
    <p:extLst>
      <p:ext uri="{BB962C8B-B14F-4D97-AF65-F5344CB8AC3E}">
        <p14:creationId xmlns:p14="http://schemas.microsoft.com/office/powerpoint/2010/main" val="933867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942356-7B73-6841-A35C-74E1C107F8AF}" type="slidenum">
              <a:rPr lang="en-US" smtClean="0"/>
              <a:t>51</a:t>
            </a:fld>
            <a:endParaRPr lang="en-US"/>
          </a:p>
        </p:txBody>
      </p:sp>
    </p:spTree>
    <p:extLst>
      <p:ext uri="{BB962C8B-B14F-4D97-AF65-F5344CB8AC3E}">
        <p14:creationId xmlns:p14="http://schemas.microsoft.com/office/powerpoint/2010/main" val="13669973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942356-7B73-6841-A35C-74E1C107F8AF}" type="slidenum">
              <a:rPr lang="en-US" smtClean="0"/>
              <a:t>52</a:t>
            </a:fld>
            <a:endParaRPr lang="en-US"/>
          </a:p>
        </p:txBody>
      </p:sp>
    </p:spTree>
    <p:extLst>
      <p:ext uri="{BB962C8B-B14F-4D97-AF65-F5344CB8AC3E}">
        <p14:creationId xmlns:p14="http://schemas.microsoft.com/office/powerpoint/2010/main" val="41186352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942356-7B73-6841-A35C-74E1C107F8AF}" type="slidenum">
              <a:rPr lang="en-US" smtClean="0"/>
              <a:t>53</a:t>
            </a:fld>
            <a:endParaRPr lang="en-US"/>
          </a:p>
        </p:txBody>
      </p:sp>
    </p:spTree>
    <p:extLst>
      <p:ext uri="{BB962C8B-B14F-4D97-AF65-F5344CB8AC3E}">
        <p14:creationId xmlns:p14="http://schemas.microsoft.com/office/powerpoint/2010/main" val="10681582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942356-7B73-6841-A35C-74E1C107F8AF}" type="slidenum">
              <a:rPr lang="en-US" smtClean="0"/>
              <a:t>55</a:t>
            </a:fld>
            <a:endParaRPr lang="en-US"/>
          </a:p>
        </p:txBody>
      </p:sp>
    </p:spTree>
    <p:extLst>
      <p:ext uri="{BB962C8B-B14F-4D97-AF65-F5344CB8AC3E}">
        <p14:creationId xmlns:p14="http://schemas.microsoft.com/office/powerpoint/2010/main" val="23527215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942356-7B73-6841-A35C-74E1C107F8AF}" type="slidenum">
              <a:rPr lang="en-US" smtClean="0"/>
              <a:t>61</a:t>
            </a:fld>
            <a:endParaRPr lang="en-US"/>
          </a:p>
        </p:txBody>
      </p:sp>
    </p:spTree>
    <p:extLst>
      <p:ext uri="{BB962C8B-B14F-4D97-AF65-F5344CB8AC3E}">
        <p14:creationId xmlns:p14="http://schemas.microsoft.com/office/powerpoint/2010/main" val="25142416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65A13-B854-FEF1-5B31-E89F4CDAF62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7A55454-25A5-FB24-7BB4-A610D3819EB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972587B-5316-B024-432C-72E39D42ADFD}"/>
              </a:ext>
            </a:extLst>
          </p:cNvPr>
          <p:cNvSpPr>
            <a:spLocks noGrp="1"/>
          </p:cNvSpPr>
          <p:nvPr>
            <p:ph type="dt" sz="half" idx="10"/>
          </p:nvPr>
        </p:nvSpPr>
        <p:spPr/>
        <p:txBody>
          <a:bodyPr/>
          <a:lstStyle/>
          <a:p>
            <a:fld id="{13029EDB-FFA8-DA40-8313-CEFECF7259ED}" type="datetimeFigureOut">
              <a:rPr lang="en-US" smtClean="0"/>
              <a:t>12/3/24</a:t>
            </a:fld>
            <a:endParaRPr lang="en-US"/>
          </a:p>
        </p:txBody>
      </p:sp>
      <p:sp>
        <p:nvSpPr>
          <p:cNvPr id="5" name="Footer Placeholder 4">
            <a:extLst>
              <a:ext uri="{FF2B5EF4-FFF2-40B4-BE49-F238E27FC236}">
                <a16:creationId xmlns:a16="http://schemas.microsoft.com/office/drawing/2014/main" id="{6B8A05AD-A334-7417-B5BA-C201B78D80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148CB7-6DE2-340F-BE6C-400C95B05025}"/>
              </a:ext>
            </a:extLst>
          </p:cNvPr>
          <p:cNvSpPr>
            <a:spLocks noGrp="1"/>
          </p:cNvSpPr>
          <p:nvPr>
            <p:ph type="sldNum" sz="quarter" idx="12"/>
          </p:nvPr>
        </p:nvSpPr>
        <p:spPr/>
        <p:txBody>
          <a:bodyPr/>
          <a:lstStyle/>
          <a:p>
            <a:fld id="{2618EE3C-F706-004C-A6D7-32EE5C5EF9A9}" type="slidenum">
              <a:rPr lang="en-US" smtClean="0"/>
              <a:t>‹#›</a:t>
            </a:fld>
            <a:endParaRPr lang="en-US"/>
          </a:p>
        </p:txBody>
      </p:sp>
    </p:spTree>
    <p:extLst>
      <p:ext uri="{BB962C8B-B14F-4D97-AF65-F5344CB8AC3E}">
        <p14:creationId xmlns:p14="http://schemas.microsoft.com/office/powerpoint/2010/main" val="11565290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DE20A-C054-B157-9CEA-1F4CB1A6027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71AA796-AF15-1136-8BF1-2AC06689645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3A8EAA-5AC0-6C29-0B19-C45A4A554100}"/>
              </a:ext>
            </a:extLst>
          </p:cNvPr>
          <p:cNvSpPr>
            <a:spLocks noGrp="1"/>
          </p:cNvSpPr>
          <p:nvPr>
            <p:ph type="dt" sz="half" idx="10"/>
          </p:nvPr>
        </p:nvSpPr>
        <p:spPr/>
        <p:txBody>
          <a:bodyPr/>
          <a:lstStyle/>
          <a:p>
            <a:fld id="{13029EDB-FFA8-DA40-8313-CEFECF7259ED}" type="datetimeFigureOut">
              <a:rPr lang="en-US" smtClean="0"/>
              <a:t>12/3/24</a:t>
            </a:fld>
            <a:endParaRPr lang="en-US"/>
          </a:p>
        </p:txBody>
      </p:sp>
      <p:sp>
        <p:nvSpPr>
          <p:cNvPr id="5" name="Footer Placeholder 4">
            <a:extLst>
              <a:ext uri="{FF2B5EF4-FFF2-40B4-BE49-F238E27FC236}">
                <a16:creationId xmlns:a16="http://schemas.microsoft.com/office/drawing/2014/main" id="{B1349CB5-1429-911E-B92C-F98D5B2EF4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E908C9-24B9-0B36-6AE2-1065FCFD4D55}"/>
              </a:ext>
            </a:extLst>
          </p:cNvPr>
          <p:cNvSpPr>
            <a:spLocks noGrp="1"/>
          </p:cNvSpPr>
          <p:nvPr>
            <p:ph type="sldNum" sz="quarter" idx="12"/>
          </p:nvPr>
        </p:nvSpPr>
        <p:spPr/>
        <p:txBody>
          <a:bodyPr/>
          <a:lstStyle/>
          <a:p>
            <a:fld id="{2618EE3C-F706-004C-A6D7-32EE5C5EF9A9}" type="slidenum">
              <a:rPr lang="en-US" smtClean="0"/>
              <a:t>‹#›</a:t>
            </a:fld>
            <a:endParaRPr lang="en-US"/>
          </a:p>
        </p:txBody>
      </p:sp>
    </p:spTree>
    <p:extLst>
      <p:ext uri="{BB962C8B-B14F-4D97-AF65-F5344CB8AC3E}">
        <p14:creationId xmlns:p14="http://schemas.microsoft.com/office/powerpoint/2010/main" val="20976673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78788-5297-31E7-66F3-C7004B66CD5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9C5BEDA-3DDF-4A1E-03AB-C6DDEB093D3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65FD719-6098-1540-27B3-D463741F6128}"/>
              </a:ext>
            </a:extLst>
          </p:cNvPr>
          <p:cNvSpPr>
            <a:spLocks noGrp="1"/>
          </p:cNvSpPr>
          <p:nvPr>
            <p:ph type="dt" sz="half" idx="10"/>
          </p:nvPr>
        </p:nvSpPr>
        <p:spPr/>
        <p:txBody>
          <a:bodyPr/>
          <a:lstStyle/>
          <a:p>
            <a:fld id="{13029EDB-FFA8-DA40-8313-CEFECF7259ED}" type="datetimeFigureOut">
              <a:rPr lang="en-US" smtClean="0"/>
              <a:t>12/3/24</a:t>
            </a:fld>
            <a:endParaRPr lang="en-US"/>
          </a:p>
        </p:txBody>
      </p:sp>
      <p:sp>
        <p:nvSpPr>
          <p:cNvPr id="5" name="Footer Placeholder 4">
            <a:extLst>
              <a:ext uri="{FF2B5EF4-FFF2-40B4-BE49-F238E27FC236}">
                <a16:creationId xmlns:a16="http://schemas.microsoft.com/office/drawing/2014/main" id="{EC4D9247-4A81-5B56-9F6A-CEF5B8F5C1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BA2CA9-5931-01CA-02FB-6510FD9B7401}"/>
              </a:ext>
            </a:extLst>
          </p:cNvPr>
          <p:cNvSpPr>
            <a:spLocks noGrp="1"/>
          </p:cNvSpPr>
          <p:nvPr>
            <p:ph type="sldNum" sz="quarter" idx="12"/>
          </p:nvPr>
        </p:nvSpPr>
        <p:spPr/>
        <p:txBody>
          <a:bodyPr/>
          <a:lstStyle/>
          <a:p>
            <a:fld id="{2618EE3C-F706-004C-A6D7-32EE5C5EF9A9}" type="slidenum">
              <a:rPr lang="en-US" smtClean="0"/>
              <a:t>‹#›</a:t>
            </a:fld>
            <a:endParaRPr lang="en-US"/>
          </a:p>
        </p:txBody>
      </p:sp>
    </p:spTree>
    <p:extLst>
      <p:ext uri="{BB962C8B-B14F-4D97-AF65-F5344CB8AC3E}">
        <p14:creationId xmlns:p14="http://schemas.microsoft.com/office/powerpoint/2010/main" val="24258712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BC85D-2F0F-3529-47BD-3EBD0265CC1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3105297-B806-E6DC-3960-C65606D3AE0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1081DB2-9D29-5D99-B5B2-D41F009C37A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ABFF187-5880-DDA4-7B9D-AA33B0DF1853}"/>
              </a:ext>
            </a:extLst>
          </p:cNvPr>
          <p:cNvSpPr>
            <a:spLocks noGrp="1"/>
          </p:cNvSpPr>
          <p:nvPr>
            <p:ph type="dt" sz="half" idx="10"/>
          </p:nvPr>
        </p:nvSpPr>
        <p:spPr/>
        <p:txBody>
          <a:bodyPr/>
          <a:lstStyle/>
          <a:p>
            <a:fld id="{13029EDB-FFA8-DA40-8313-CEFECF7259ED}" type="datetimeFigureOut">
              <a:rPr lang="en-US" smtClean="0"/>
              <a:t>12/3/24</a:t>
            </a:fld>
            <a:endParaRPr lang="en-US"/>
          </a:p>
        </p:txBody>
      </p:sp>
      <p:sp>
        <p:nvSpPr>
          <p:cNvPr id="6" name="Footer Placeholder 5">
            <a:extLst>
              <a:ext uri="{FF2B5EF4-FFF2-40B4-BE49-F238E27FC236}">
                <a16:creationId xmlns:a16="http://schemas.microsoft.com/office/drawing/2014/main" id="{484868B9-3D0E-C8D5-B3AA-88AFF19BD0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9999339-A896-E3B3-0FC3-FD98813FFE3D}"/>
              </a:ext>
            </a:extLst>
          </p:cNvPr>
          <p:cNvSpPr>
            <a:spLocks noGrp="1"/>
          </p:cNvSpPr>
          <p:nvPr>
            <p:ph type="sldNum" sz="quarter" idx="12"/>
          </p:nvPr>
        </p:nvSpPr>
        <p:spPr/>
        <p:txBody>
          <a:bodyPr/>
          <a:lstStyle/>
          <a:p>
            <a:fld id="{2618EE3C-F706-004C-A6D7-32EE5C5EF9A9}" type="slidenum">
              <a:rPr lang="en-US" smtClean="0"/>
              <a:t>‹#›</a:t>
            </a:fld>
            <a:endParaRPr lang="en-US"/>
          </a:p>
        </p:txBody>
      </p:sp>
    </p:spTree>
    <p:extLst>
      <p:ext uri="{BB962C8B-B14F-4D97-AF65-F5344CB8AC3E}">
        <p14:creationId xmlns:p14="http://schemas.microsoft.com/office/powerpoint/2010/main" val="24596825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AE7D8-D9E7-5C3C-D708-1EA2AE03EE1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39D503D-C13D-C21F-71F3-8C03A4514E3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8BBAD4A-3EBB-E280-1F1E-8CDC959FC19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7EFF078-1BD8-4BDA-2040-D66DB72B1CB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8994DCB-5FE9-DE22-8F28-A227C73F95B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D45C9F4-E7BE-C0DD-DCC6-6CA15F642A9F}"/>
              </a:ext>
            </a:extLst>
          </p:cNvPr>
          <p:cNvSpPr>
            <a:spLocks noGrp="1"/>
          </p:cNvSpPr>
          <p:nvPr>
            <p:ph type="dt" sz="half" idx="10"/>
          </p:nvPr>
        </p:nvSpPr>
        <p:spPr/>
        <p:txBody>
          <a:bodyPr/>
          <a:lstStyle/>
          <a:p>
            <a:fld id="{13029EDB-FFA8-DA40-8313-CEFECF7259ED}" type="datetimeFigureOut">
              <a:rPr lang="en-US" smtClean="0"/>
              <a:t>12/3/24</a:t>
            </a:fld>
            <a:endParaRPr lang="en-US"/>
          </a:p>
        </p:txBody>
      </p:sp>
      <p:sp>
        <p:nvSpPr>
          <p:cNvPr id="8" name="Footer Placeholder 7">
            <a:extLst>
              <a:ext uri="{FF2B5EF4-FFF2-40B4-BE49-F238E27FC236}">
                <a16:creationId xmlns:a16="http://schemas.microsoft.com/office/drawing/2014/main" id="{B1203063-761A-C4B8-F6E7-FDEE437EA4C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4B83961-A0EB-140F-3D33-567F3923E40D}"/>
              </a:ext>
            </a:extLst>
          </p:cNvPr>
          <p:cNvSpPr>
            <a:spLocks noGrp="1"/>
          </p:cNvSpPr>
          <p:nvPr>
            <p:ph type="sldNum" sz="quarter" idx="12"/>
          </p:nvPr>
        </p:nvSpPr>
        <p:spPr/>
        <p:txBody>
          <a:bodyPr/>
          <a:lstStyle/>
          <a:p>
            <a:fld id="{2618EE3C-F706-004C-A6D7-32EE5C5EF9A9}" type="slidenum">
              <a:rPr lang="en-US" smtClean="0"/>
              <a:t>‹#›</a:t>
            </a:fld>
            <a:endParaRPr lang="en-US"/>
          </a:p>
        </p:txBody>
      </p:sp>
    </p:spTree>
    <p:extLst>
      <p:ext uri="{BB962C8B-B14F-4D97-AF65-F5344CB8AC3E}">
        <p14:creationId xmlns:p14="http://schemas.microsoft.com/office/powerpoint/2010/main" val="3406676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CA51F-92B1-EA67-F548-611673F17F5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276160C-DD99-AA5A-408B-2DCD716F397C}"/>
              </a:ext>
            </a:extLst>
          </p:cNvPr>
          <p:cNvSpPr>
            <a:spLocks noGrp="1"/>
          </p:cNvSpPr>
          <p:nvPr>
            <p:ph type="dt" sz="half" idx="10"/>
          </p:nvPr>
        </p:nvSpPr>
        <p:spPr/>
        <p:txBody>
          <a:bodyPr/>
          <a:lstStyle/>
          <a:p>
            <a:fld id="{13029EDB-FFA8-DA40-8313-CEFECF7259ED}" type="datetimeFigureOut">
              <a:rPr lang="en-US" smtClean="0"/>
              <a:t>12/3/24</a:t>
            </a:fld>
            <a:endParaRPr lang="en-US"/>
          </a:p>
        </p:txBody>
      </p:sp>
      <p:sp>
        <p:nvSpPr>
          <p:cNvPr id="4" name="Footer Placeholder 3">
            <a:extLst>
              <a:ext uri="{FF2B5EF4-FFF2-40B4-BE49-F238E27FC236}">
                <a16:creationId xmlns:a16="http://schemas.microsoft.com/office/drawing/2014/main" id="{F9FE18C4-63A9-149B-450C-184E96549AD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5F24E41-A0DD-FE17-0361-5365C57F8C09}"/>
              </a:ext>
            </a:extLst>
          </p:cNvPr>
          <p:cNvSpPr>
            <a:spLocks noGrp="1"/>
          </p:cNvSpPr>
          <p:nvPr>
            <p:ph type="sldNum" sz="quarter" idx="12"/>
          </p:nvPr>
        </p:nvSpPr>
        <p:spPr/>
        <p:txBody>
          <a:bodyPr/>
          <a:lstStyle/>
          <a:p>
            <a:fld id="{2618EE3C-F706-004C-A6D7-32EE5C5EF9A9}" type="slidenum">
              <a:rPr lang="en-US" smtClean="0"/>
              <a:t>‹#›</a:t>
            </a:fld>
            <a:endParaRPr lang="en-US"/>
          </a:p>
        </p:txBody>
      </p:sp>
    </p:spTree>
    <p:extLst>
      <p:ext uri="{BB962C8B-B14F-4D97-AF65-F5344CB8AC3E}">
        <p14:creationId xmlns:p14="http://schemas.microsoft.com/office/powerpoint/2010/main" val="17925776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C37C97A-4E62-6B3D-9A4F-CD8A09B65715}"/>
              </a:ext>
            </a:extLst>
          </p:cNvPr>
          <p:cNvSpPr>
            <a:spLocks noGrp="1"/>
          </p:cNvSpPr>
          <p:nvPr>
            <p:ph type="dt" sz="half" idx="10"/>
          </p:nvPr>
        </p:nvSpPr>
        <p:spPr/>
        <p:txBody>
          <a:bodyPr/>
          <a:lstStyle/>
          <a:p>
            <a:fld id="{13029EDB-FFA8-DA40-8313-CEFECF7259ED}" type="datetimeFigureOut">
              <a:rPr lang="en-US" smtClean="0"/>
              <a:t>12/3/24</a:t>
            </a:fld>
            <a:endParaRPr lang="en-US"/>
          </a:p>
        </p:txBody>
      </p:sp>
      <p:sp>
        <p:nvSpPr>
          <p:cNvPr id="3" name="Footer Placeholder 2">
            <a:extLst>
              <a:ext uri="{FF2B5EF4-FFF2-40B4-BE49-F238E27FC236}">
                <a16:creationId xmlns:a16="http://schemas.microsoft.com/office/drawing/2014/main" id="{DE930152-4671-32A9-6B67-369A92674B6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ABF3506-875B-C506-6876-FD0D1971AF9B}"/>
              </a:ext>
            </a:extLst>
          </p:cNvPr>
          <p:cNvSpPr>
            <a:spLocks noGrp="1"/>
          </p:cNvSpPr>
          <p:nvPr>
            <p:ph type="sldNum" sz="quarter" idx="12"/>
          </p:nvPr>
        </p:nvSpPr>
        <p:spPr/>
        <p:txBody>
          <a:bodyPr/>
          <a:lstStyle/>
          <a:p>
            <a:fld id="{2618EE3C-F706-004C-A6D7-32EE5C5EF9A9}" type="slidenum">
              <a:rPr lang="en-US" smtClean="0"/>
              <a:t>‹#›</a:t>
            </a:fld>
            <a:endParaRPr lang="en-US"/>
          </a:p>
        </p:txBody>
      </p:sp>
    </p:spTree>
    <p:extLst>
      <p:ext uri="{BB962C8B-B14F-4D97-AF65-F5344CB8AC3E}">
        <p14:creationId xmlns:p14="http://schemas.microsoft.com/office/powerpoint/2010/main" val="2513347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95C23-AF3E-B01F-67EC-EF453D8637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30811C3-C184-DB58-8DFA-8556AEEE158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62DA31C-62CD-4699-F1C4-3FEE574179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47B9975-8A8D-A2A9-CC31-3CB96807C25A}"/>
              </a:ext>
            </a:extLst>
          </p:cNvPr>
          <p:cNvSpPr>
            <a:spLocks noGrp="1"/>
          </p:cNvSpPr>
          <p:nvPr>
            <p:ph type="dt" sz="half" idx="10"/>
          </p:nvPr>
        </p:nvSpPr>
        <p:spPr/>
        <p:txBody>
          <a:bodyPr/>
          <a:lstStyle/>
          <a:p>
            <a:fld id="{13029EDB-FFA8-DA40-8313-CEFECF7259ED}" type="datetimeFigureOut">
              <a:rPr lang="en-US" smtClean="0"/>
              <a:t>12/3/24</a:t>
            </a:fld>
            <a:endParaRPr lang="en-US"/>
          </a:p>
        </p:txBody>
      </p:sp>
      <p:sp>
        <p:nvSpPr>
          <p:cNvPr id="6" name="Footer Placeholder 5">
            <a:extLst>
              <a:ext uri="{FF2B5EF4-FFF2-40B4-BE49-F238E27FC236}">
                <a16:creationId xmlns:a16="http://schemas.microsoft.com/office/drawing/2014/main" id="{4B9D317E-67F6-24F1-C975-03907CA175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22C7BE-29F4-B867-22B5-E8F482E5BF8E}"/>
              </a:ext>
            </a:extLst>
          </p:cNvPr>
          <p:cNvSpPr>
            <a:spLocks noGrp="1"/>
          </p:cNvSpPr>
          <p:nvPr>
            <p:ph type="sldNum" sz="quarter" idx="12"/>
          </p:nvPr>
        </p:nvSpPr>
        <p:spPr/>
        <p:txBody>
          <a:bodyPr/>
          <a:lstStyle/>
          <a:p>
            <a:fld id="{2618EE3C-F706-004C-A6D7-32EE5C5EF9A9}" type="slidenum">
              <a:rPr lang="en-US" smtClean="0"/>
              <a:t>‹#›</a:t>
            </a:fld>
            <a:endParaRPr lang="en-US"/>
          </a:p>
        </p:txBody>
      </p:sp>
    </p:spTree>
    <p:extLst>
      <p:ext uri="{BB962C8B-B14F-4D97-AF65-F5344CB8AC3E}">
        <p14:creationId xmlns:p14="http://schemas.microsoft.com/office/powerpoint/2010/main" val="26619414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86DBB-9E9E-26F8-2E74-3182B3422E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5E70FF9-9C1E-7F10-21DD-AD94BB9E820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C9B9170-07B9-98AF-208B-0643E70A9D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5F7150B-1601-0DAE-8B13-4E76F0478315}"/>
              </a:ext>
            </a:extLst>
          </p:cNvPr>
          <p:cNvSpPr>
            <a:spLocks noGrp="1"/>
          </p:cNvSpPr>
          <p:nvPr>
            <p:ph type="dt" sz="half" idx="10"/>
          </p:nvPr>
        </p:nvSpPr>
        <p:spPr/>
        <p:txBody>
          <a:bodyPr/>
          <a:lstStyle/>
          <a:p>
            <a:fld id="{13029EDB-FFA8-DA40-8313-CEFECF7259ED}" type="datetimeFigureOut">
              <a:rPr lang="en-US" smtClean="0"/>
              <a:t>12/3/24</a:t>
            </a:fld>
            <a:endParaRPr lang="en-US"/>
          </a:p>
        </p:txBody>
      </p:sp>
      <p:sp>
        <p:nvSpPr>
          <p:cNvPr id="6" name="Footer Placeholder 5">
            <a:extLst>
              <a:ext uri="{FF2B5EF4-FFF2-40B4-BE49-F238E27FC236}">
                <a16:creationId xmlns:a16="http://schemas.microsoft.com/office/drawing/2014/main" id="{B8D37555-82FF-9BB2-70F4-8A9523E4833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BCAAC5-27BE-8990-B819-31E31F700C9B}"/>
              </a:ext>
            </a:extLst>
          </p:cNvPr>
          <p:cNvSpPr>
            <a:spLocks noGrp="1"/>
          </p:cNvSpPr>
          <p:nvPr>
            <p:ph type="sldNum" sz="quarter" idx="12"/>
          </p:nvPr>
        </p:nvSpPr>
        <p:spPr/>
        <p:txBody>
          <a:bodyPr/>
          <a:lstStyle/>
          <a:p>
            <a:fld id="{2618EE3C-F706-004C-A6D7-32EE5C5EF9A9}" type="slidenum">
              <a:rPr lang="en-US" smtClean="0"/>
              <a:t>‹#›</a:t>
            </a:fld>
            <a:endParaRPr lang="en-US"/>
          </a:p>
        </p:txBody>
      </p:sp>
    </p:spTree>
    <p:extLst>
      <p:ext uri="{BB962C8B-B14F-4D97-AF65-F5344CB8AC3E}">
        <p14:creationId xmlns:p14="http://schemas.microsoft.com/office/powerpoint/2010/main" val="27085927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94883C-6BD0-A51A-B2F0-70D6A4FE3B4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7128BC8-58C5-80CB-AE01-C5EEA848D8D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83496B-C632-32DF-C3D1-5DAF18A32304}"/>
              </a:ext>
            </a:extLst>
          </p:cNvPr>
          <p:cNvSpPr>
            <a:spLocks noGrp="1"/>
          </p:cNvSpPr>
          <p:nvPr>
            <p:ph type="dt" sz="half" idx="10"/>
          </p:nvPr>
        </p:nvSpPr>
        <p:spPr/>
        <p:txBody>
          <a:bodyPr/>
          <a:lstStyle/>
          <a:p>
            <a:fld id="{13029EDB-FFA8-DA40-8313-CEFECF7259ED}" type="datetimeFigureOut">
              <a:rPr lang="en-US" smtClean="0"/>
              <a:t>12/3/24</a:t>
            </a:fld>
            <a:endParaRPr lang="en-US"/>
          </a:p>
        </p:txBody>
      </p:sp>
      <p:sp>
        <p:nvSpPr>
          <p:cNvPr id="5" name="Footer Placeholder 4">
            <a:extLst>
              <a:ext uri="{FF2B5EF4-FFF2-40B4-BE49-F238E27FC236}">
                <a16:creationId xmlns:a16="http://schemas.microsoft.com/office/drawing/2014/main" id="{DEB93420-2EFF-120F-CD65-8FEB397E90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628D61-73D2-8C27-E682-0C43A5282682}"/>
              </a:ext>
            </a:extLst>
          </p:cNvPr>
          <p:cNvSpPr>
            <a:spLocks noGrp="1"/>
          </p:cNvSpPr>
          <p:nvPr>
            <p:ph type="sldNum" sz="quarter" idx="12"/>
          </p:nvPr>
        </p:nvSpPr>
        <p:spPr/>
        <p:txBody>
          <a:bodyPr/>
          <a:lstStyle/>
          <a:p>
            <a:fld id="{2618EE3C-F706-004C-A6D7-32EE5C5EF9A9}" type="slidenum">
              <a:rPr lang="en-US" smtClean="0"/>
              <a:t>‹#›</a:t>
            </a:fld>
            <a:endParaRPr lang="en-US"/>
          </a:p>
        </p:txBody>
      </p:sp>
    </p:spTree>
    <p:extLst>
      <p:ext uri="{BB962C8B-B14F-4D97-AF65-F5344CB8AC3E}">
        <p14:creationId xmlns:p14="http://schemas.microsoft.com/office/powerpoint/2010/main" val="22941264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B67A467-DE99-E6E3-1BA6-B85CE6E13B8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11E3499-B99D-0687-4C87-50DD685561D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BEEF18-BC9C-07B3-3D4F-4E6622AD86ED}"/>
              </a:ext>
            </a:extLst>
          </p:cNvPr>
          <p:cNvSpPr>
            <a:spLocks noGrp="1"/>
          </p:cNvSpPr>
          <p:nvPr>
            <p:ph type="dt" sz="half" idx="10"/>
          </p:nvPr>
        </p:nvSpPr>
        <p:spPr/>
        <p:txBody>
          <a:bodyPr/>
          <a:lstStyle/>
          <a:p>
            <a:fld id="{13029EDB-FFA8-DA40-8313-CEFECF7259ED}" type="datetimeFigureOut">
              <a:rPr lang="en-US" smtClean="0"/>
              <a:t>12/3/24</a:t>
            </a:fld>
            <a:endParaRPr lang="en-US"/>
          </a:p>
        </p:txBody>
      </p:sp>
      <p:sp>
        <p:nvSpPr>
          <p:cNvPr id="5" name="Footer Placeholder 4">
            <a:extLst>
              <a:ext uri="{FF2B5EF4-FFF2-40B4-BE49-F238E27FC236}">
                <a16:creationId xmlns:a16="http://schemas.microsoft.com/office/drawing/2014/main" id="{800A473C-BA58-0A97-9DDA-4C61B89BE6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D191D6-0922-60FB-67F1-B898480D4D90}"/>
              </a:ext>
            </a:extLst>
          </p:cNvPr>
          <p:cNvSpPr>
            <a:spLocks noGrp="1"/>
          </p:cNvSpPr>
          <p:nvPr>
            <p:ph type="sldNum" sz="quarter" idx="12"/>
          </p:nvPr>
        </p:nvSpPr>
        <p:spPr/>
        <p:txBody>
          <a:bodyPr/>
          <a:lstStyle/>
          <a:p>
            <a:fld id="{2618EE3C-F706-004C-A6D7-32EE5C5EF9A9}" type="slidenum">
              <a:rPr lang="en-US" smtClean="0"/>
              <a:t>‹#›</a:t>
            </a:fld>
            <a:endParaRPr lang="en-US"/>
          </a:p>
        </p:txBody>
      </p:sp>
    </p:spTree>
    <p:extLst>
      <p:ext uri="{BB962C8B-B14F-4D97-AF65-F5344CB8AC3E}">
        <p14:creationId xmlns:p14="http://schemas.microsoft.com/office/powerpoint/2010/main" val="11249570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3814785-6E2D-3051-1A2A-F615A32F27A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CAED476-0069-65CB-C881-B0D2C5B0907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19841C-6D16-B62B-959F-D0057314EC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3029EDB-FFA8-DA40-8313-CEFECF7259ED}" type="datetimeFigureOut">
              <a:rPr lang="en-US" smtClean="0"/>
              <a:t>12/3/24</a:t>
            </a:fld>
            <a:endParaRPr lang="en-US"/>
          </a:p>
        </p:txBody>
      </p:sp>
      <p:sp>
        <p:nvSpPr>
          <p:cNvPr id="5" name="Footer Placeholder 4">
            <a:extLst>
              <a:ext uri="{FF2B5EF4-FFF2-40B4-BE49-F238E27FC236}">
                <a16:creationId xmlns:a16="http://schemas.microsoft.com/office/drawing/2014/main" id="{9F3D9F6A-827D-EDB2-31EC-A56572A1BDF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388BF2A-DB4D-5728-06A8-65BDA379C8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618EE3C-F706-004C-A6D7-32EE5C5EF9A9}" type="slidenum">
              <a:rPr lang="en-US" smtClean="0"/>
              <a:t>‹#›</a:t>
            </a:fld>
            <a:endParaRPr lang="en-US"/>
          </a:p>
        </p:txBody>
      </p:sp>
    </p:spTree>
    <p:extLst>
      <p:ext uri="{BB962C8B-B14F-4D97-AF65-F5344CB8AC3E}">
        <p14:creationId xmlns:p14="http://schemas.microsoft.com/office/powerpoint/2010/main" val="30762575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s://plus.pearson.com/products/38bfda0e-08b5-4b34-9a14-38c88560fefb/pages/urn:pearson:entity:d4a90221-7c00-4f72-8fb9-b8e4ea538430?userPreferredType=study"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https://plus.pearson.com/products/38bfda0e-08b5-4b34-9a14-38c88560fefb/pages/urn:pearson:entity:d4a90221-7c00-4f72-8fb9-b8e4ea538430?userPreferredType=study"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hyperlink" Target="https://plus.pearson.com/products/38bfda0e-08b5-4b34-9a14-38c88560fefb/pages/urn:pearson:entity:7edcca63-1883-4e75-903c-f8e2f15a567c?userPreferredType=study"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hyperlink" Target="https://plus.pearson.com/products/38bfda0e-08b5-4b34-9a14-38c88560fefb/pages/urn:pearson:entity:7edcca63-1883-4e75-903c-f8e2f15a567c?userPreferredType=study"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hyperlink" Target="https://plus.pearson.com/products/38bfda0e-08b5-4b34-9a14-38c88560fefb/pages/urn:pearson:entity:d3b18547-c6f9-477b-95d3-e15b8c9f4255?userPreferredType=study"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4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4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4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5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hyperlink" Target="https://plus.pearson.com/products/38bfda0e-08b5-4b34-9a14-38c88560fefb/pages/urn:pearson:entity:228bcd1c-c348-4d67-9789-dd8766bfbf30?userPreferredType=study" TargetMode="Externa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hyperlink" Target="https://plus.pearson.com/products/38bfda0e-08b5-4b34-9a14-38c88560fefb/pages/urn:pearson:entity:dfbec0d5-2000-4920-9161-f39a94a1df05?userPreferredType=study" TargetMode="Externa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5647B-603B-AF5A-83BF-216E6620EFAA}"/>
              </a:ext>
            </a:extLst>
          </p:cNvPr>
          <p:cNvSpPr>
            <a:spLocks noGrp="1"/>
          </p:cNvSpPr>
          <p:nvPr>
            <p:ph type="ctrTitle"/>
          </p:nvPr>
        </p:nvSpPr>
        <p:spPr/>
        <p:txBody>
          <a:bodyPr/>
          <a:lstStyle/>
          <a:p>
            <a:r>
              <a:rPr lang="en-US" dirty="0"/>
              <a:t>CS 331</a:t>
            </a:r>
          </a:p>
        </p:txBody>
      </p:sp>
      <p:sp>
        <p:nvSpPr>
          <p:cNvPr id="3" name="Subtitle 2">
            <a:extLst>
              <a:ext uri="{FF2B5EF4-FFF2-40B4-BE49-F238E27FC236}">
                <a16:creationId xmlns:a16="http://schemas.microsoft.com/office/drawing/2014/main" id="{494582B3-C32A-7B08-8F83-037FA7F6E197}"/>
              </a:ext>
            </a:extLst>
          </p:cNvPr>
          <p:cNvSpPr>
            <a:spLocks noGrp="1"/>
          </p:cNvSpPr>
          <p:nvPr>
            <p:ph type="subTitle" idx="1"/>
          </p:nvPr>
        </p:nvSpPr>
        <p:spPr/>
        <p:txBody>
          <a:bodyPr/>
          <a:lstStyle/>
          <a:p>
            <a:r>
              <a:rPr lang="en-US" dirty="0"/>
              <a:t>Topic: </a:t>
            </a:r>
            <a:r>
              <a:rPr lang="en-US" b="1" dirty="0"/>
              <a:t>Advanced File and I/O Operations Part 2</a:t>
            </a:r>
          </a:p>
          <a:p>
            <a:r>
              <a:rPr lang="en-US" b="1" dirty="0"/>
              <a:t>Exceptions and Templates Part 1</a:t>
            </a:r>
          </a:p>
          <a:p>
            <a:r>
              <a:rPr lang="en-US" dirty="0"/>
              <a:t>MD Romael Haque </a:t>
            </a:r>
          </a:p>
        </p:txBody>
      </p:sp>
    </p:spTree>
    <p:extLst>
      <p:ext uri="{BB962C8B-B14F-4D97-AF65-F5344CB8AC3E}">
        <p14:creationId xmlns:p14="http://schemas.microsoft.com/office/powerpoint/2010/main" val="37111604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2C0C2-1A6C-25CF-D044-8471FD317C8F}"/>
              </a:ext>
            </a:extLst>
          </p:cNvPr>
          <p:cNvSpPr>
            <a:spLocks noGrp="1"/>
          </p:cNvSpPr>
          <p:nvPr>
            <p:ph type="title"/>
          </p:nvPr>
        </p:nvSpPr>
        <p:spPr/>
        <p:txBody>
          <a:bodyPr>
            <a:normAutofit/>
          </a:bodyPr>
          <a:lstStyle/>
          <a:p>
            <a:r>
              <a:rPr lang="en-US" sz="4000" dirty="0"/>
              <a:t>Member Functions for Reading and Writing Files</a:t>
            </a:r>
          </a:p>
        </p:txBody>
      </p:sp>
      <p:sp>
        <p:nvSpPr>
          <p:cNvPr id="3" name="Content Placeholder 2">
            <a:extLst>
              <a:ext uri="{FF2B5EF4-FFF2-40B4-BE49-F238E27FC236}">
                <a16:creationId xmlns:a16="http://schemas.microsoft.com/office/drawing/2014/main" id="{87E64377-0E15-B896-2D68-B687D0997E9C}"/>
              </a:ext>
            </a:extLst>
          </p:cNvPr>
          <p:cNvSpPr>
            <a:spLocks noGrp="1"/>
          </p:cNvSpPr>
          <p:nvPr>
            <p:ph idx="1"/>
          </p:nvPr>
        </p:nvSpPr>
        <p:spPr/>
        <p:txBody>
          <a:bodyPr/>
          <a:lstStyle/>
          <a:p>
            <a:r>
              <a:rPr lang="en-US" dirty="0"/>
              <a:t>File stream objects have member functions for more specialized file reading and writing.</a:t>
            </a:r>
          </a:p>
          <a:p>
            <a:r>
              <a:rPr lang="en-US" dirty="0"/>
              <a:t>If whitespace characters are part of the information in a file, a problem arises when the file is read by the &gt;&gt; operator. </a:t>
            </a:r>
          </a:p>
          <a:p>
            <a:r>
              <a:rPr lang="en-US" dirty="0"/>
              <a:t>Since the operator considers whitespace characters as delimiters, it does not read them. </a:t>
            </a:r>
          </a:p>
        </p:txBody>
      </p:sp>
    </p:spTree>
    <p:extLst>
      <p:ext uri="{BB962C8B-B14F-4D97-AF65-F5344CB8AC3E}">
        <p14:creationId xmlns:p14="http://schemas.microsoft.com/office/powerpoint/2010/main" val="18371354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7C1696-038D-61EB-0894-BF207B7F83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A8C736-0A33-B5F4-01A6-312E044A7C01}"/>
              </a:ext>
            </a:extLst>
          </p:cNvPr>
          <p:cNvSpPr>
            <a:spLocks noGrp="1"/>
          </p:cNvSpPr>
          <p:nvPr>
            <p:ph type="title"/>
          </p:nvPr>
        </p:nvSpPr>
        <p:spPr/>
        <p:txBody>
          <a:bodyPr>
            <a:normAutofit/>
          </a:bodyPr>
          <a:lstStyle/>
          <a:p>
            <a:r>
              <a:rPr lang="en-US" sz="4000" dirty="0"/>
              <a:t>Member Functions for Reading and Writing Files</a:t>
            </a:r>
          </a:p>
        </p:txBody>
      </p:sp>
      <p:sp>
        <p:nvSpPr>
          <p:cNvPr id="3" name="Content Placeholder 2">
            <a:extLst>
              <a:ext uri="{FF2B5EF4-FFF2-40B4-BE49-F238E27FC236}">
                <a16:creationId xmlns:a16="http://schemas.microsoft.com/office/drawing/2014/main" id="{64EF031D-1EE8-8D13-2BBC-BE24BAFE5834}"/>
              </a:ext>
            </a:extLst>
          </p:cNvPr>
          <p:cNvSpPr>
            <a:spLocks noGrp="1"/>
          </p:cNvSpPr>
          <p:nvPr>
            <p:ph idx="1"/>
          </p:nvPr>
        </p:nvSpPr>
        <p:spPr/>
        <p:txBody>
          <a:bodyPr/>
          <a:lstStyle/>
          <a:p>
            <a:r>
              <a:rPr lang="en-US" dirty="0"/>
              <a:t>For example, consider the file </a:t>
            </a:r>
            <a:r>
              <a:rPr lang="en-US" dirty="0" err="1"/>
              <a:t>murphy.txt</a:t>
            </a:r>
            <a:r>
              <a:rPr lang="en-US" dirty="0"/>
              <a:t> that contains the following information:</a:t>
            </a:r>
          </a:p>
          <a:p>
            <a:endParaRPr lang="en-US" dirty="0"/>
          </a:p>
          <a:p>
            <a:pPr marL="0" indent="0">
              <a:buNone/>
            </a:pPr>
            <a:endParaRPr lang="en-US" dirty="0"/>
          </a:p>
          <a:p>
            <a:r>
              <a:rPr lang="en-US" dirty="0"/>
              <a:t>The following figure shows the way the information is recorded in the file.</a:t>
            </a:r>
          </a:p>
        </p:txBody>
      </p:sp>
      <p:pic>
        <p:nvPicPr>
          <p:cNvPr id="4" name="Picture 3">
            <a:extLst>
              <a:ext uri="{FF2B5EF4-FFF2-40B4-BE49-F238E27FC236}">
                <a16:creationId xmlns:a16="http://schemas.microsoft.com/office/drawing/2014/main" id="{A437062E-C416-53B7-2F54-7DAE81BF4D44}"/>
              </a:ext>
            </a:extLst>
          </p:cNvPr>
          <p:cNvPicPr>
            <a:picLocks noChangeAspect="1"/>
          </p:cNvPicPr>
          <p:nvPr/>
        </p:nvPicPr>
        <p:blipFill>
          <a:blip r:embed="rId3"/>
          <a:stretch>
            <a:fillRect/>
          </a:stretch>
        </p:blipFill>
        <p:spPr>
          <a:xfrm>
            <a:off x="5010150" y="2445456"/>
            <a:ext cx="2171700" cy="1244600"/>
          </a:xfrm>
          <a:prstGeom prst="rect">
            <a:avLst/>
          </a:prstGeom>
        </p:spPr>
      </p:pic>
      <p:pic>
        <p:nvPicPr>
          <p:cNvPr id="6" name="Picture 5">
            <a:extLst>
              <a:ext uri="{FF2B5EF4-FFF2-40B4-BE49-F238E27FC236}">
                <a16:creationId xmlns:a16="http://schemas.microsoft.com/office/drawing/2014/main" id="{AA3B199F-1001-7D94-8EAB-611AF3C95B50}"/>
              </a:ext>
            </a:extLst>
          </p:cNvPr>
          <p:cNvPicPr>
            <a:picLocks noChangeAspect="1"/>
          </p:cNvPicPr>
          <p:nvPr/>
        </p:nvPicPr>
        <p:blipFill>
          <a:blip r:embed="rId4"/>
          <a:stretch>
            <a:fillRect/>
          </a:stretch>
        </p:blipFill>
        <p:spPr>
          <a:xfrm>
            <a:off x="3041650" y="4713282"/>
            <a:ext cx="6108700" cy="2006600"/>
          </a:xfrm>
          <a:prstGeom prst="rect">
            <a:avLst/>
          </a:prstGeom>
        </p:spPr>
      </p:pic>
    </p:spTree>
    <p:extLst>
      <p:ext uri="{BB962C8B-B14F-4D97-AF65-F5344CB8AC3E}">
        <p14:creationId xmlns:p14="http://schemas.microsoft.com/office/powerpoint/2010/main" val="11589217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14D09-709F-6517-11C7-C2E1ED3C00AE}"/>
              </a:ext>
            </a:extLst>
          </p:cNvPr>
          <p:cNvSpPr>
            <a:spLocks noGrp="1"/>
          </p:cNvSpPr>
          <p:nvPr>
            <p:ph type="title"/>
          </p:nvPr>
        </p:nvSpPr>
        <p:spPr>
          <a:xfrm>
            <a:off x="838200" y="365125"/>
            <a:ext cx="5167489" cy="1325563"/>
          </a:xfrm>
        </p:spPr>
        <p:txBody>
          <a:bodyPr>
            <a:normAutofit/>
          </a:bodyPr>
          <a:lstStyle/>
          <a:p>
            <a:r>
              <a:rPr lang="en-US" sz="3600" dirty="0"/>
              <a:t>Member Functions for Reading and Writing Files</a:t>
            </a:r>
          </a:p>
        </p:txBody>
      </p:sp>
      <p:sp>
        <p:nvSpPr>
          <p:cNvPr id="3" name="Content Placeholder 2">
            <a:extLst>
              <a:ext uri="{FF2B5EF4-FFF2-40B4-BE49-F238E27FC236}">
                <a16:creationId xmlns:a16="http://schemas.microsoft.com/office/drawing/2014/main" id="{382B07C6-1218-9691-CF90-585E7210B6E7}"/>
              </a:ext>
            </a:extLst>
          </p:cNvPr>
          <p:cNvSpPr>
            <a:spLocks noGrp="1"/>
          </p:cNvSpPr>
          <p:nvPr>
            <p:ph idx="1"/>
          </p:nvPr>
        </p:nvSpPr>
        <p:spPr>
          <a:xfrm>
            <a:off x="838200" y="1825625"/>
            <a:ext cx="4693356" cy="4351338"/>
          </a:xfrm>
        </p:spPr>
        <p:txBody>
          <a:bodyPr/>
          <a:lstStyle/>
          <a:p>
            <a:r>
              <a:rPr lang="en-US" dirty="0"/>
              <a:t>The problem that arises from use of the &gt;&gt; operator is evident in the output of this example</a:t>
            </a:r>
          </a:p>
        </p:txBody>
      </p:sp>
      <p:pic>
        <p:nvPicPr>
          <p:cNvPr id="6" name="Picture 5">
            <a:extLst>
              <a:ext uri="{FF2B5EF4-FFF2-40B4-BE49-F238E27FC236}">
                <a16:creationId xmlns:a16="http://schemas.microsoft.com/office/drawing/2014/main" id="{1DF1CC5B-7720-0790-1E05-D8540A257D75}"/>
              </a:ext>
            </a:extLst>
          </p:cNvPr>
          <p:cNvPicPr>
            <a:picLocks noChangeAspect="1"/>
          </p:cNvPicPr>
          <p:nvPr/>
        </p:nvPicPr>
        <p:blipFill>
          <a:blip r:embed="rId2"/>
          <a:stretch>
            <a:fillRect/>
          </a:stretch>
        </p:blipFill>
        <p:spPr>
          <a:xfrm>
            <a:off x="6466261" y="0"/>
            <a:ext cx="4407212" cy="6858000"/>
          </a:xfrm>
          <a:prstGeom prst="rect">
            <a:avLst/>
          </a:prstGeom>
        </p:spPr>
      </p:pic>
      <p:pic>
        <p:nvPicPr>
          <p:cNvPr id="7" name="Picture 6">
            <a:extLst>
              <a:ext uri="{FF2B5EF4-FFF2-40B4-BE49-F238E27FC236}">
                <a16:creationId xmlns:a16="http://schemas.microsoft.com/office/drawing/2014/main" id="{271007D4-E69F-361C-1C9C-960272A085EE}"/>
              </a:ext>
            </a:extLst>
          </p:cNvPr>
          <p:cNvPicPr>
            <a:picLocks noChangeAspect="1"/>
          </p:cNvPicPr>
          <p:nvPr/>
        </p:nvPicPr>
        <p:blipFill>
          <a:blip r:embed="rId3"/>
          <a:stretch>
            <a:fillRect/>
          </a:stretch>
        </p:blipFill>
        <p:spPr>
          <a:xfrm>
            <a:off x="691444" y="4001294"/>
            <a:ext cx="5461000" cy="1549400"/>
          </a:xfrm>
          <a:prstGeom prst="rect">
            <a:avLst/>
          </a:prstGeom>
        </p:spPr>
      </p:pic>
    </p:spTree>
    <p:extLst>
      <p:ext uri="{BB962C8B-B14F-4D97-AF65-F5344CB8AC3E}">
        <p14:creationId xmlns:p14="http://schemas.microsoft.com/office/powerpoint/2010/main" val="9773688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9199B-B001-8882-5851-6F9A4EEA4FCE}"/>
              </a:ext>
            </a:extLst>
          </p:cNvPr>
          <p:cNvSpPr>
            <a:spLocks noGrp="1"/>
          </p:cNvSpPr>
          <p:nvPr>
            <p:ph type="title"/>
          </p:nvPr>
        </p:nvSpPr>
        <p:spPr/>
        <p:txBody>
          <a:bodyPr/>
          <a:lstStyle/>
          <a:p>
            <a:r>
              <a:rPr lang="en-US" dirty="0"/>
              <a:t>The </a:t>
            </a:r>
            <a:r>
              <a:rPr lang="en-US" dirty="0" err="1">
                <a:solidFill>
                  <a:srgbClr val="FF0000"/>
                </a:solidFill>
              </a:rPr>
              <a:t>getline</a:t>
            </a:r>
            <a:r>
              <a:rPr lang="en-US" dirty="0"/>
              <a:t> function</a:t>
            </a:r>
          </a:p>
        </p:txBody>
      </p:sp>
      <p:sp>
        <p:nvSpPr>
          <p:cNvPr id="3" name="Content Placeholder 2">
            <a:extLst>
              <a:ext uri="{FF2B5EF4-FFF2-40B4-BE49-F238E27FC236}">
                <a16:creationId xmlns:a16="http://schemas.microsoft.com/office/drawing/2014/main" id="{A4B9A55E-5332-FA06-10EB-4E9997C898B4}"/>
              </a:ext>
            </a:extLst>
          </p:cNvPr>
          <p:cNvSpPr>
            <a:spLocks noGrp="1"/>
          </p:cNvSpPr>
          <p:nvPr>
            <p:ph idx="1"/>
          </p:nvPr>
        </p:nvSpPr>
        <p:spPr/>
        <p:txBody>
          <a:bodyPr/>
          <a:lstStyle/>
          <a:p>
            <a:r>
              <a:rPr lang="en-US" dirty="0"/>
              <a:t>One way to get around the problem in </a:t>
            </a:r>
            <a:r>
              <a:rPr lang="en-US" b="1" dirty="0"/>
              <a:t>previous example </a:t>
            </a:r>
            <a:r>
              <a:rPr lang="en-US" dirty="0"/>
              <a:t>is to use a function that reads an entire line of text. </a:t>
            </a:r>
          </a:p>
          <a:p>
            <a:r>
              <a:rPr lang="en-US" dirty="0"/>
              <a:t>There is a global function that is part of the string library that you can use for this purpose:</a:t>
            </a:r>
          </a:p>
          <a:p>
            <a:endParaRPr lang="en-US" dirty="0"/>
          </a:p>
        </p:txBody>
      </p:sp>
      <p:pic>
        <p:nvPicPr>
          <p:cNvPr id="4" name="Picture 3">
            <a:extLst>
              <a:ext uri="{FF2B5EF4-FFF2-40B4-BE49-F238E27FC236}">
                <a16:creationId xmlns:a16="http://schemas.microsoft.com/office/drawing/2014/main" id="{4977792B-2825-0AEA-3E24-BC74484ADC72}"/>
              </a:ext>
            </a:extLst>
          </p:cNvPr>
          <p:cNvPicPr>
            <a:picLocks noChangeAspect="1"/>
          </p:cNvPicPr>
          <p:nvPr/>
        </p:nvPicPr>
        <p:blipFill>
          <a:blip r:embed="rId2"/>
          <a:stretch>
            <a:fillRect/>
          </a:stretch>
        </p:blipFill>
        <p:spPr>
          <a:xfrm>
            <a:off x="2205223" y="3720483"/>
            <a:ext cx="7781554" cy="535428"/>
          </a:xfrm>
          <a:prstGeom prst="rect">
            <a:avLst/>
          </a:prstGeom>
        </p:spPr>
      </p:pic>
    </p:spTree>
    <p:extLst>
      <p:ext uri="{BB962C8B-B14F-4D97-AF65-F5344CB8AC3E}">
        <p14:creationId xmlns:p14="http://schemas.microsoft.com/office/powerpoint/2010/main" val="8079209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A8377-10AE-F084-0675-DD4147FFCA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AE8AFF-C3E7-722B-3EE4-85162175B7E8}"/>
              </a:ext>
            </a:extLst>
          </p:cNvPr>
          <p:cNvSpPr>
            <a:spLocks noGrp="1"/>
          </p:cNvSpPr>
          <p:nvPr>
            <p:ph type="title"/>
          </p:nvPr>
        </p:nvSpPr>
        <p:spPr/>
        <p:txBody>
          <a:bodyPr/>
          <a:lstStyle/>
          <a:p>
            <a:r>
              <a:rPr lang="en-US" dirty="0"/>
              <a:t>The </a:t>
            </a:r>
            <a:r>
              <a:rPr lang="en-US" dirty="0" err="1">
                <a:solidFill>
                  <a:srgbClr val="FF0000"/>
                </a:solidFill>
              </a:rPr>
              <a:t>getline</a:t>
            </a:r>
            <a:r>
              <a:rPr lang="en-US" dirty="0"/>
              <a:t> function</a:t>
            </a:r>
          </a:p>
        </p:txBody>
      </p:sp>
      <p:sp>
        <p:nvSpPr>
          <p:cNvPr id="3" name="Content Placeholder 2">
            <a:extLst>
              <a:ext uri="{FF2B5EF4-FFF2-40B4-BE49-F238E27FC236}">
                <a16:creationId xmlns:a16="http://schemas.microsoft.com/office/drawing/2014/main" id="{BA37085E-8DEB-4C45-E9AD-5744830A50EB}"/>
              </a:ext>
            </a:extLst>
          </p:cNvPr>
          <p:cNvSpPr>
            <a:spLocks noGrp="1"/>
          </p:cNvSpPr>
          <p:nvPr>
            <p:ph idx="1"/>
          </p:nvPr>
        </p:nvSpPr>
        <p:spPr/>
        <p:txBody>
          <a:bodyPr>
            <a:normAutofit lnSpcReduction="10000"/>
          </a:bodyPr>
          <a:lstStyle/>
          <a:p>
            <a:endParaRPr lang="en-US" dirty="0"/>
          </a:p>
          <a:p>
            <a:endParaRPr lang="en-US" dirty="0"/>
          </a:p>
          <a:p>
            <a:r>
              <a:rPr lang="en-US" dirty="0"/>
              <a:t>This function reads a line of text from a stream </a:t>
            </a:r>
            <a:r>
              <a:rPr lang="en-US" dirty="0">
                <a:solidFill>
                  <a:srgbClr val="FF0000"/>
                </a:solidFill>
              </a:rPr>
              <a:t>is</a:t>
            </a:r>
            <a:r>
              <a:rPr lang="en-US" dirty="0"/>
              <a:t> and stores it into a string variable </a:t>
            </a:r>
            <a:r>
              <a:rPr lang="en-US" dirty="0">
                <a:solidFill>
                  <a:srgbClr val="FF0000"/>
                </a:solidFill>
              </a:rPr>
              <a:t>str</a:t>
            </a:r>
            <a:r>
              <a:rPr lang="en-US" dirty="0"/>
              <a:t>. </a:t>
            </a:r>
          </a:p>
          <a:p>
            <a:r>
              <a:rPr lang="en-US" dirty="0"/>
              <a:t>The function has an optional parameter </a:t>
            </a:r>
            <a:r>
              <a:rPr lang="en-US" dirty="0" err="1">
                <a:solidFill>
                  <a:srgbClr val="FF0000"/>
                </a:solidFill>
              </a:rPr>
              <a:t>delim</a:t>
            </a:r>
            <a:r>
              <a:rPr lang="en-US" dirty="0"/>
              <a:t> that marks the end of the line to be read. </a:t>
            </a:r>
          </a:p>
          <a:p>
            <a:r>
              <a:rPr lang="en-US" dirty="0"/>
              <a:t>The delimiting character is removed from the stream and discarded. </a:t>
            </a:r>
          </a:p>
          <a:p>
            <a:r>
              <a:rPr lang="en-US" dirty="0"/>
              <a:t>If </a:t>
            </a:r>
            <a:r>
              <a:rPr lang="en-US" dirty="0" err="1">
                <a:solidFill>
                  <a:srgbClr val="FF0000"/>
                </a:solidFill>
              </a:rPr>
              <a:t>getline</a:t>
            </a:r>
            <a:r>
              <a:rPr lang="en-US" dirty="0"/>
              <a:t> is called without the third parameter, the delimiter is assumed to be the end of line character '\n'.</a:t>
            </a:r>
          </a:p>
          <a:p>
            <a:endParaRPr lang="en-US" dirty="0"/>
          </a:p>
        </p:txBody>
      </p:sp>
      <p:pic>
        <p:nvPicPr>
          <p:cNvPr id="4" name="Picture 3">
            <a:extLst>
              <a:ext uri="{FF2B5EF4-FFF2-40B4-BE49-F238E27FC236}">
                <a16:creationId xmlns:a16="http://schemas.microsoft.com/office/drawing/2014/main" id="{15A5AB96-0F08-AB9F-F9AF-E7A6D83EB021}"/>
              </a:ext>
            </a:extLst>
          </p:cNvPr>
          <p:cNvPicPr>
            <a:picLocks noChangeAspect="1"/>
          </p:cNvPicPr>
          <p:nvPr/>
        </p:nvPicPr>
        <p:blipFill>
          <a:blip r:embed="rId2"/>
          <a:stretch>
            <a:fillRect/>
          </a:stretch>
        </p:blipFill>
        <p:spPr>
          <a:xfrm>
            <a:off x="2205223" y="2004572"/>
            <a:ext cx="7781554" cy="535428"/>
          </a:xfrm>
          <a:prstGeom prst="rect">
            <a:avLst/>
          </a:prstGeom>
        </p:spPr>
      </p:pic>
    </p:spTree>
    <p:extLst>
      <p:ext uri="{BB962C8B-B14F-4D97-AF65-F5344CB8AC3E}">
        <p14:creationId xmlns:p14="http://schemas.microsoft.com/office/powerpoint/2010/main" val="2513422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499CD7-C31D-F483-FE81-E943223F45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81702C-B931-3FBD-E194-B42959456175}"/>
              </a:ext>
            </a:extLst>
          </p:cNvPr>
          <p:cNvSpPr>
            <a:spLocks noGrp="1"/>
          </p:cNvSpPr>
          <p:nvPr>
            <p:ph type="title"/>
          </p:nvPr>
        </p:nvSpPr>
        <p:spPr/>
        <p:txBody>
          <a:bodyPr/>
          <a:lstStyle/>
          <a:p>
            <a:r>
              <a:rPr lang="en-US" dirty="0"/>
              <a:t>The </a:t>
            </a:r>
            <a:r>
              <a:rPr lang="en-US" dirty="0" err="1"/>
              <a:t>getline</a:t>
            </a:r>
            <a:r>
              <a:rPr lang="en-US" dirty="0"/>
              <a:t> function</a:t>
            </a:r>
          </a:p>
        </p:txBody>
      </p:sp>
      <p:sp>
        <p:nvSpPr>
          <p:cNvPr id="3" name="Content Placeholder 2">
            <a:extLst>
              <a:ext uri="{FF2B5EF4-FFF2-40B4-BE49-F238E27FC236}">
                <a16:creationId xmlns:a16="http://schemas.microsoft.com/office/drawing/2014/main" id="{B646BCCC-1878-34B3-2D93-6BF21E448C3E}"/>
              </a:ext>
            </a:extLst>
          </p:cNvPr>
          <p:cNvSpPr>
            <a:spLocks noGrp="1"/>
          </p:cNvSpPr>
          <p:nvPr>
            <p:ph idx="1"/>
          </p:nvPr>
        </p:nvSpPr>
        <p:spPr>
          <a:xfrm>
            <a:off x="434623" y="1836913"/>
            <a:ext cx="7459133" cy="4351338"/>
          </a:xfrm>
        </p:spPr>
        <p:txBody>
          <a:bodyPr>
            <a:normAutofit lnSpcReduction="10000"/>
          </a:bodyPr>
          <a:lstStyle/>
          <a:p>
            <a:r>
              <a:rPr lang="en-US" dirty="0"/>
              <a:t>The first parameter, is, must be an object of the class </a:t>
            </a:r>
            <a:r>
              <a:rPr lang="en-US" dirty="0" err="1"/>
              <a:t>istream</a:t>
            </a:r>
            <a:r>
              <a:rPr lang="en-US" dirty="0"/>
              <a:t>. </a:t>
            </a:r>
          </a:p>
          <a:p>
            <a:r>
              <a:rPr lang="en-US" dirty="0"/>
              <a:t>It can also be any object of the classes </a:t>
            </a:r>
            <a:r>
              <a:rPr lang="en-US" dirty="0" err="1"/>
              <a:t>istringstream</a:t>
            </a:r>
            <a:r>
              <a:rPr lang="en-US" dirty="0"/>
              <a:t>, </a:t>
            </a:r>
            <a:r>
              <a:rPr lang="en-US" dirty="0" err="1"/>
              <a:t>ifstream</a:t>
            </a:r>
            <a:r>
              <a:rPr lang="en-US" dirty="0"/>
              <a:t>, or </a:t>
            </a:r>
            <a:r>
              <a:rPr lang="en-US" dirty="0" err="1"/>
              <a:t>fstream</a:t>
            </a:r>
            <a:r>
              <a:rPr lang="en-US" dirty="0"/>
              <a:t> (if an </a:t>
            </a:r>
            <a:r>
              <a:rPr lang="en-US" dirty="0" err="1"/>
              <a:t>fstream</a:t>
            </a:r>
            <a:r>
              <a:rPr lang="en-US" dirty="0"/>
              <a:t> object is passed, it must have been opened for input). </a:t>
            </a:r>
          </a:p>
          <a:p>
            <a:r>
              <a:rPr lang="en-US" dirty="0"/>
              <a:t>The value returned is a reference to the input stream that was just read. </a:t>
            </a:r>
          </a:p>
          <a:p>
            <a:r>
              <a:rPr lang="en-US" dirty="0"/>
              <a:t>This allows the return value to be tested to ascertain the success or failure of the call as in this code fragment:</a:t>
            </a:r>
          </a:p>
        </p:txBody>
      </p:sp>
      <p:pic>
        <p:nvPicPr>
          <p:cNvPr id="5" name="Picture 4">
            <a:extLst>
              <a:ext uri="{FF2B5EF4-FFF2-40B4-BE49-F238E27FC236}">
                <a16:creationId xmlns:a16="http://schemas.microsoft.com/office/drawing/2014/main" id="{FC7BB96A-0BDF-77C9-D3C2-491E5495446A}"/>
              </a:ext>
            </a:extLst>
          </p:cNvPr>
          <p:cNvPicPr>
            <a:picLocks noChangeAspect="1"/>
          </p:cNvPicPr>
          <p:nvPr/>
        </p:nvPicPr>
        <p:blipFill>
          <a:blip r:embed="rId2"/>
          <a:stretch>
            <a:fillRect/>
          </a:stretch>
        </p:blipFill>
        <p:spPr>
          <a:xfrm>
            <a:off x="7758289" y="2190750"/>
            <a:ext cx="4216400" cy="2476500"/>
          </a:xfrm>
          <a:prstGeom prst="rect">
            <a:avLst/>
          </a:prstGeom>
        </p:spPr>
      </p:pic>
    </p:spTree>
    <p:extLst>
      <p:ext uri="{BB962C8B-B14F-4D97-AF65-F5344CB8AC3E}">
        <p14:creationId xmlns:p14="http://schemas.microsoft.com/office/powerpoint/2010/main" val="32532292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EB6B6-DD3C-2F66-4E59-FC174FBBBEFE}"/>
              </a:ext>
            </a:extLst>
          </p:cNvPr>
          <p:cNvSpPr>
            <a:spLocks noGrp="1"/>
          </p:cNvSpPr>
          <p:nvPr>
            <p:ph type="title"/>
          </p:nvPr>
        </p:nvSpPr>
        <p:spPr>
          <a:xfrm>
            <a:off x="838200" y="365125"/>
            <a:ext cx="2435578" cy="1325563"/>
          </a:xfrm>
        </p:spPr>
        <p:txBody>
          <a:bodyPr/>
          <a:lstStyle/>
          <a:p>
            <a:r>
              <a:rPr lang="en-US" dirty="0"/>
              <a:t>Example</a:t>
            </a:r>
          </a:p>
        </p:txBody>
      </p:sp>
      <p:pic>
        <p:nvPicPr>
          <p:cNvPr id="4" name="Picture 3">
            <a:extLst>
              <a:ext uri="{FF2B5EF4-FFF2-40B4-BE49-F238E27FC236}">
                <a16:creationId xmlns:a16="http://schemas.microsoft.com/office/drawing/2014/main" id="{84310E09-6D8C-81E4-A831-8B88A14C696A}"/>
              </a:ext>
            </a:extLst>
          </p:cNvPr>
          <p:cNvPicPr>
            <a:picLocks noChangeAspect="1"/>
          </p:cNvPicPr>
          <p:nvPr/>
        </p:nvPicPr>
        <p:blipFill>
          <a:blip r:embed="rId2"/>
          <a:stretch>
            <a:fillRect/>
          </a:stretch>
        </p:blipFill>
        <p:spPr>
          <a:xfrm>
            <a:off x="5850040" y="0"/>
            <a:ext cx="4601075" cy="6858000"/>
          </a:xfrm>
          <a:prstGeom prst="rect">
            <a:avLst/>
          </a:prstGeom>
        </p:spPr>
      </p:pic>
      <p:pic>
        <p:nvPicPr>
          <p:cNvPr id="5" name="Picture 4">
            <a:extLst>
              <a:ext uri="{FF2B5EF4-FFF2-40B4-BE49-F238E27FC236}">
                <a16:creationId xmlns:a16="http://schemas.microsoft.com/office/drawing/2014/main" id="{4D53E1EB-F887-BABF-B657-06942FB219EB}"/>
              </a:ext>
            </a:extLst>
          </p:cNvPr>
          <p:cNvPicPr>
            <a:picLocks noChangeAspect="1"/>
          </p:cNvPicPr>
          <p:nvPr/>
        </p:nvPicPr>
        <p:blipFill>
          <a:blip r:embed="rId3"/>
          <a:stretch>
            <a:fillRect/>
          </a:stretch>
        </p:blipFill>
        <p:spPr>
          <a:xfrm>
            <a:off x="838200" y="2302934"/>
            <a:ext cx="3949700" cy="1981200"/>
          </a:xfrm>
          <a:prstGeom prst="rect">
            <a:avLst/>
          </a:prstGeom>
        </p:spPr>
      </p:pic>
    </p:spTree>
    <p:extLst>
      <p:ext uri="{BB962C8B-B14F-4D97-AF65-F5344CB8AC3E}">
        <p14:creationId xmlns:p14="http://schemas.microsoft.com/office/powerpoint/2010/main" val="29877056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59A48-0D6D-CEC0-236C-306522928A9D}"/>
              </a:ext>
            </a:extLst>
          </p:cNvPr>
          <p:cNvSpPr>
            <a:spLocks noGrp="1"/>
          </p:cNvSpPr>
          <p:nvPr>
            <p:ph type="title"/>
          </p:nvPr>
        </p:nvSpPr>
        <p:spPr/>
        <p:txBody>
          <a:bodyPr/>
          <a:lstStyle/>
          <a:p>
            <a:r>
              <a:rPr lang="en-US" dirty="0"/>
              <a:t>The </a:t>
            </a:r>
            <a:r>
              <a:rPr lang="en-US" dirty="0" err="1"/>
              <a:t>getline</a:t>
            </a:r>
            <a:r>
              <a:rPr lang="en-US" dirty="0"/>
              <a:t> function</a:t>
            </a:r>
          </a:p>
        </p:txBody>
      </p:sp>
      <p:sp>
        <p:nvSpPr>
          <p:cNvPr id="3" name="Content Placeholder 2">
            <a:extLst>
              <a:ext uri="{FF2B5EF4-FFF2-40B4-BE49-F238E27FC236}">
                <a16:creationId xmlns:a16="http://schemas.microsoft.com/office/drawing/2014/main" id="{FB40E03C-FAB9-DBED-A813-D881B2D8A564}"/>
              </a:ext>
            </a:extLst>
          </p:cNvPr>
          <p:cNvSpPr>
            <a:spLocks noGrp="1"/>
          </p:cNvSpPr>
          <p:nvPr>
            <p:ph idx="1"/>
          </p:nvPr>
        </p:nvSpPr>
        <p:spPr/>
        <p:txBody>
          <a:bodyPr/>
          <a:lstStyle/>
          <a:p>
            <a:r>
              <a:rPr lang="en-US" dirty="0"/>
              <a:t>Because the third argument of the </a:t>
            </a:r>
            <a:r>
              <a:rPr lang="en-US" dirty="0" err="1"/>
              <a:t>getline</a:t>
            </a:r>
            <a:r>
              <a:rPr lang="en-US" dirty="0"/>
              <a:t> function was left out in </a:t>
            </a:r>
            <a:r>
              <a:rPr lang="en-US" b="1" dirty="0"/>
              <a:t>previous example</a:t>
            </a:r>
            <a:r>
              <a:rPr lang="en-US" dirty="0"/>
              <a:t>, its default value is \n. </a:t>
            </a:r>
          </a:p>
          <a:p>
            <a:r>
              <a:rPr lang="en-US" dirty="0"/>
              <a:t>Sometimes you might want to specify another delimiter. </a:t>
            </a:r>
          </a:p>
          <a:p>
            <a:r>
              <a:rPr lang="en-US" dirty="0"/>
              <a:t>For example, consider a file that contains multiple names and addresses internally formatted in the following manner:</a:t>
            </a:r>
          </a:p>
        </p:txBody>
      </p:sp>
      <p:pic>
        <p:nvPicPr>
          <p:cNvPr id="4" name="Picture 3">
            <a:extLst>
              <a:ext uri="{FF2B5EF4-FFF2-40B4-BE49-F238E27FC236}">
                <a16:creationId xmlns:a16="http://schemas.microsoft.com/office/drawing/2014/main" id="{B9C6163A-4B83-B7AB-2323-D29DAA10E2E4}"/>
              </a:ext>
            </a:extLst>
          </p:cNvPr>
          <p:cNvPicPr>
            <a:picLocks noChangeAspect="1"/>
          </p:cNvPicPr>
          <p:nvPr/>
        </p:nvPicPr>
        <p:blipFill>
          <a:blip r:embed="rId2"/>
          <a:stretch>
            <a:fillRect/>
          </a:stretch>
        </p:blipFill>
        <p:spPr>
          <a:xfrm>
            <a:off x="2163410" y="4815770"/>
            <a:ext cx="7865180" cy="1284111"/>
          </a:xfrm>
          <a:prstGeom prst="rect">
            <a:avLst/>
          </a:prstGeom>
        </p:spPr>
      </p:pic>
      <p:pic>
        <p:nvPicPr>
          <p:cNvPr id="5" name="Picture 4">
            <a:extLst>
              <a:ext uri="{FF2B5EF4-FFF2-40B4-BE49-F238E27FC236}">
                <a16:creationId xmlns:a16="http://schemas.microsoft.com/office/drawing/2014/main" id="{D2B85D1D-8360-3944-FBF0-8F095F95524D}"/>
              </a:ext>
            </a:extLst>
          </p:cNvPr>
          <p:cNvPicPr>
            <a:picLocks noChangeAspect="1"/>
          </p:cNvPicPr>
          <p:nvPr/>
        </p:nvPicPr>
        <p:blipFill>
          <a:blip r:embed="rId3"/>
          <a:stretch>
            <a:fillRect/>
          </a:stretch>
        </p:blipFill>
        <p:spPr>
          <a:xfrm>
            <a:off x="4289250" y="4332288"/>
            <a:ext cx="2882900" cy="406400"/>
          </a:xfrm>
          <a:prstGeom prst="rect">
            <a:avLst/>
          </a:prstGeom>
        </p:spPr>
      </p:pic>
    </p:spTree>
    <p:extLst>
      <p:ext uri="{BB962C8B-B14F-4D97-AF65-F5344CB8AC3E}">
        <p14:creationId xmlns:p14="http://schemas.microsoft.com/office/powerpoint/2010/main" val="20679871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63C8E-6C14-3587-D8BE-8E608C5219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A16DEF-F985-535C-7110-D6F68C41D2F5}"/>
              </a:ext>
            </a:extLst>
          </p:cNvPr>
          <p:cNvSpPr>
            <a:spLocks noGrp="1"/>
          </p:cNvSpPr>
          <p:nvPr>
            <p:ph type="title"/>
          </p:nvPr>
        </p:nvSpPr>
        <p:spPr/>
        <p:txBody>
          <a:bodyPr/>
          <a:lstStyle/>
          <a:p>
            <a:r>
              <a:rPr lang="en-US" dirty="0"/>
              <a:t>The </a:t>
            </a:r>
            <a:r>
              <a:rPr lang="en-US" dirty="0" err="1"/>
              <a:t>getline</a:t>
            </a:r>
            <a:r>
              <a:rPr lang="en-US" dirty="0"/>
              <a:t> function</a:t>
            </a:r>
          </a:p>
        </p:txBody>
      </p:sp>
      <p:sp>
        <p:nvSpPr>
          <p:cNvPr id="3" name="Content Placeholder 2">
            <a:extLst>
              <a:ext uri="{FF2B5EF4-FFF2-40B4-BE49-F238E27FC236}">
                <a16:creationId xmlns:a16="http://schemas.microsoft.com/office/drawing/2014/main" id="{5D7BDD02-30FC-49D4-86DB-0198AD58B250}"/>
              </a:ext>
            </a:extLst>
          </p:cNvPr>
          <p:cNvSpPr>
            <a:spLocks noGrp="1"/>
          </p:cNvSpPr>
          <p:nvPr>
            <p:ph idx="1"/>
          </p:nvPr>
        </p:nvSpPr>
        <p:spPr>
          <a:xfrm>
            <a:off x="838200" y="2683581"/>
            <a:ext cx="10515600" cy="4351338"/>
          </a:xfrm>
        </p:spPr>
        <p:txBody>
          <a:bodyPr>
            <a:normAutofit/>
          </a:bodyPr>
          <a:lstStyle/>
          <a:p>
            <a:r>
              <a:rPr lang="en-US" dirty="0"/>
              <a:t>Think of this file as consisting of three records. </a:t>
            </a:r>
          </a:p>
          <a:p>
            <a:r>
              <a:rPr lang="en-US" dirty="0"/>
              <a:t>A record is a complete set of information about a single item. </a:t>
            </a:r>
          </a:p>
          <a:p>
            <a:r>
              <a:rPr lang="en-US" dirty="0"/>
              <a:t>Also, the records in the file are made of three fields. </a:t>
            </a:r>
          </a:p>
          <a:p>
            <a:pPr lvl="1"/>
            <a:r>
              <a:rPr lang="en-US" dirty="0"/>
              <a:t>The first field is the person’s name. </a:t>
            </a:r>
          </a:p>
          <a:p>
            <a:pPr lvl="1"/>
            <a:r>
              <a:rPr lang="en-US" dirty="0"/>
              <a:t>The second field is the person’s street address or PO box number.</a:t>
            </a:r>
          </a:p>
          <a:p>
            <a:pPr lvl="1"/>
            <a:r>
              <a:rPr lang="en-US" dirty="0"/>
              <a:t>The third field contains the person’s city, state, and ZIP code.</a:t>
            </a:r>
          </a:p>
          <a:p>
            <a:r>
              <a:rPr lang="en-US" dirty="0"/>
              <a:t>Notice that each field ends with a $ character, and each record ends with a \n character. </a:t>
            </a:r>
          </a:p>
        </p:txBody>
      </p:sp>
      <p:pic>
        <p:nvPicPr>
          <p:cNvPr id="4" name="Picture 3">
            <a:extLst>
              <a:ext uri="{FF2B5EF4-FFF2-40B4-BE49-F238E27FC236}">
                <a16:creationId xmlns:a16="http://schemas.microsoft.com/office/drawing/2014/main" id="{0180E9AA-2F77-E5E1-E0C6-CD433ACABE9D}"/>
              </a:ext>
            </a:extLst>
          </p:cNvPr>
          <p:cNvPicPr>
            <a:picLocks noChangeAspect="1"/>
          </p:cNvPicPr>
          <p:nvPr/>
        </p:nvPicPr>
        <p:blipFill>
          <a:blip r:embed="rId2"/>
          <a:stretch>
            <a:fillRect/>
          </a:stretch>
        </p:blipFill>
        <p:spPr>
          <a:xfrm>
            <a:off x="2050521" y="1312685"/>
            <a:ext cx="7865180" cy="1284111"/>
          </a:xfrm>
          <a:prstGeom prst="rect">
            <a:avLst/>
          </a:prstGeom>
        </p:spPr>
      </p:pic>
    </p:spTree>
    <p:extLst>
      <p:ext uri="{BB962C8B-B14F-4D97-AF65-F5344CB8AC3E}">
        <p14:creationId xmlns:p14="http://schemas.microsoft.com/office/powerpoint/2010/main" val="22970951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AF804-DF77-A61F-D12D-899087D6CF56}"/>
              </a:ext>
            </a:extLst>
          </p:cNvPr>
          <p:cNvSpPr>
            <a:spLocks noGrp="1"/>
          </p:cNvSpPr>
          <p:nvPr>
            <p:ph type="title"/>
          </p:nvPr>
        </p:nvSpPr>
        <p:spPr>
          <a:xfrm>
            <a:off x="838200" y="235479"/>
            <a:ext cx="10515600" cy="1325563"/>
          </a:xfrm>
        </p:spPr>
        <p:txBody>
          <a:bodyPr/>
          <a:lstStyle/>
          <a:p>
            <a:r>
              <a:rPr lang="en-US" dirty="0"/>
              <a:t>The </a:t>
            </a:r>
            <a:r>
              <a:rPr lang="en-US" dirty="0" err="1"/>
              <a:t>getline</a:t>
            </a:r>
            <a:r>
              <a:rPr lang="en-US" dirty="0"/>
              <a:t> function</a:t>
            </a:r>
          </a:p>
        </p:txBody>
      </p:sp>
      <p:sp>
        <p:nvSpPr>
          <p:cNvPr id="3" name="Content Placeholder 2">
            <a:extLst>
              <a:ext uri="{FF2B5EF4-FFF2-40B4-BE49-F238E27FC236}">
                <a16:creationId xmlns:a16="http://schemas.microsoft.com/office/drawing/2014/main" id="{AE3A9C99-2557-E36C-F40C-FE10C2542634}"/>
              </a:ext>
            </a:extLst>
          </p:cNvPr>
          <p:cNvSpPr>
            <a:spLocks noGrp="1"/>
          </p:cNvSpPr>
          <p:nvPr>
            <p:ph idx="1"/>
          </p:nvPr>
        </p:nvSpPr>
        <p:spPr>
          <a:xfrm>
            <a:off x="646573" y="1441803"/>
            <a:ext cx="6375400" cy="1199797"/>
          </a:xfrm>
        </p:spPr>
        <p:txBody>
          <a:bodyPr>
            <a:normAutofit/>
          </a:bodyPr>
          <a:lstStyle/>
          <a:p>
            <a:r>
              <a:rPr lang="en-US" dirty="0"/>
              <a:t>In this example we used </a:t>
            </a:r>
            <a:r>
              <a:rPr lang="en-US" dirty="0" err="1"/>
              <a:t>getline</a:t>
            </a:r>
            <a:r>
              <a:rPr lang="en-US" dirty="0"/>
              <a:t> function to detect the $ characters.</a:t>
            </a:r>
          </a:p>
        </p:txBody>
      </p:sp>
      <p:pic>
        <p:nvPicPr>
          <p:cNvPr id="4" name="Picture 3">
            <a:extLst>
              <a:ext uri="{FF2B5EF4-FFF2-40B4-BE49-F238E27FC236}">
                <a16:creationId xmlns:a16="http://schemas.microsoft.com/office/drawing/2014/main" id="{C5BC1899-ADEF-2C1C-C7A8-850209014FBB}"/>
              </a:ext>
            </a:extLst>
          </p:cNvPr>
          <p:cNvPicPr>
            <a:picLocks noChangeAspect="1"/>
          </p:cNvPicPr>
          <p:nvPr/>
        </p:nvPicPr>
        <p:blipFill>
          <a:blip r:embed="rId2"/>
          <a:stretch>
            <a:fillRect/>
          </a:stretch>
        </p:blipFill>
        <p:spPr>
          <a:xfrm>
            <a:off x="6763743" y="0"/>
            <a:ext cx="4848288" cy="6858000"/>
          </a:xfrm>
          <a:prstGeom prst="rect">
            <a:avLst/>
          </a:prstGeom>
        </p:spPr>
      </p:pic>
      <p:pic>
        <p:nvPicPr>
          <p:cNvPr id="5" name="Picture 4">
            <a:extLst>
              <a:ext uri="{FF2B5EF4-FFF2-40B4-BE49-F238E27FC236}">
                <a16:creationId xmlns:a16="http://schemas.microsoft.com/office/drawing/2014/main" id="{7CE76423-66D9-B913-A16F-9BED3FDB0E3F}"/>
              </a:ext>
            </a:extLst>
          </p:cNvPr>
          <p:cNvPicPr>
            <a:picLocks noChangeAspect="1"/>
          </p:cNvPicPr>
          <p:nvPr/>
        </p:nvPicPr>
        <p:blipFill>
          <a:blip r:embed="rId3"/>
          <a:stretch>
            <a:fillRect/>
          </a:stretch>
        </p:blipFill>
        <p:spPr>
          <a:xfrm>
            <a:off x="1674760" y="2641600"/>
            <a:ext cx="3753498" cy="3318139"/>
          </a:xfrm>
          <a:prstGeom prst="rect">
            <a:avLst/>
          </a:prstGeom>
        </p:spPr>
      </p:pic>
    </p:spTree>
    <p:extLst>
      <p:ext uri="{BB962C8B-B14F-4D97-AF65-F5344CB8AC3E}">
        <p14:creationId xmlns:p14="http://schemas.microsoft.com/office/powerpoint/2010/main" val="18608011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D8BBA-B433-FD36-A7D4-FF6A526DD1CC}"/>
              </a:ext>
            </a:extLst>
          </p:cNvPr>
          <p:cNvSpPr>
            <a:spLocks noGrp="1"/>
          </p:cNvSpPr>
          <p:nvPr>
            <p:ph type="title"/>
          </p:nvPr>
        </p:nvSpPr>
        <p:spPr/>
        <p:txBody>
          <a:bodyPr/>
          <a:lstStyle/>
          <a:p>
            <a:r>
              <a:rPr lang="en-US" dirty="0"/>
              <a:t>The </a:t>
            </a:r>
            <a:r>
              <a:rPr lang="en-US" dirty="0" err="1"/>
              <a:t>getline</a:t>
            </a:r>
            <a:r>
              <a:rPr lang="en-US" dirty="0"/>
              <a:t> function</a:t>
            </a:r>
          </a:p>
        </p:txBody>
      </p:sp>
      <p:sp>
        <p:nvSpPr>
          <p:cNvPr id="3" name="Content Placeholder 2">
            <a:extLst>
              <a:ext uri="{FF2B5EF4-FFF2-40B4-BE49-F238E27FC236}">
                <a16:creationId xmlns:a16="http://schemas.microsoft.com/office/drawing/2014/main" id="{FC1EC351-303F-FDE6-F16B-9DE314FA439E}"/>
              </a:ext>
            </a:extLst>
          </p:cNvPr>
          <p:cNvSpPr>
            <a:spLocks noGrp="1"/>
          </p:cNvSpPr>
          <p:nvPr>
            <p:ph idx="1"/>
          </p:nvPr>
        </p:nvSpPr>
        <p:spPr/>
        <p:txBody>
          <a:bodyPr>
            <a:normAutofit fontScale="92500" lnSpcReduction="10000"/>
          </a:bodyPr>
          <a:lstStyle/>
          <a:p>
            <a:r>
              <a:rPr lang="en-US" dirty="0"/>
              <a:t>Notice that the \n characters, which mark the end of each record, are also part of the output. </a:t>
            </a:r>
          </a:p>
          <a:p>
            <a:r>
              <a:rPr lang="en-US" dirty="0"/>
              <a:t>They cause an extra blank line to be printed on the screen, separating the records.</a:t>
            </a:r>
          </a:p>
          <a:p>
            <a:r>
              <a:rPr lang="en-US" dirty="0"/>
              <a:t>When using a printable character such as $ to delimit information in a file, be sure to select a character that will not actually appear in the information itself. </a:t>
            </a:r>
          </a:p>
          <a:p>
            <a:r>
              <a:rPr lang="en-US" dirty="0"/>
              <a:t>Since it’s doubtful that anyone’s name or address contains a $ character, it’s an acceptable delimiter. </a:t>
            </a:r>
          </a:p>
          <a:p>
            <a:r>
              <a:rPr lang="en-US" dirty="0"/>
              <a:t>If the file contained dollar amounts, however, another delimiter would have been chosen.</a:t>
            </a:r>
          </a:p>
          <a:p>
            <a:endParaRPr lang="en-US" dirty="0"/>
          </a:p>
        </p:txBody>
      </p:sp>
    </p:spTree>
    <p:extLst>
      <p:ext uri="{BB962C8B-B14F-4D97-AF65-F5344CB8AC3E}">
        <p14:creationId xmlns:p14="http://schemas.microsoft.com/office/powerpoint/2010/main" val="25288224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44FDB-A601-9EA5-E1A7-B20979AC3036}"/>
              </a:ext>
            </a:extLst>
          </p:cNvPr>
          <p:cNvSpPr>
            <a:spLocks noGrp="1"/>
          </p:cNvSpPr>
          <p:nvPr>
            <p:ph type="title"/>
          </p:nvPr>
        </p:nvSpPr>
        <p:spPr/>
        <p:txBody>
          <a:bodyPr/>
          <a:lstStyle/>
          <a:p>
            <a:r>
              <a:rPr lang="en-US" dirty="0">
                <a:effectLst/>
              </a:rPr>
              <a:t>The get Family of Member Functions</a:t>
            </a:r>
            <a:br>
              <a:rPr lang="en-US" b="1" dirty="0">
                <a:effectLst/>
              </a:rPr>
            </a:br>
            <a:endParaRPr lang="en-US" dirty="0"/>
          </a:p>
        </p:txBody>
      </p:sp>
      <p:sp>
        <p:nvSpPr>
          <p:cNvPr id="3" name="Content Placeholder 2">
            <a:extLst>
              <a:ext uri="{FF2B5EF4-FFF2-40B4-BE49-F238E27FC236}">
                <a16:creationId xmlns:a16="http://schemas.microsoft.com/office/drawing/2014/main" id="{D1840F39-6C3F-7908-2DF7-B4FB43A799C0}"/>
              </a:ext>
            </a:extLst>
          </p:cNvPr>
          <p:cNvSpPr>
            <a:spLocks noGrp="1"/>
          </p:cNvSpPr>
          <p:nvPr>
            <p:ph idx="1"/>
          </p:nvPr>
        </p:nvSpPr>
        <p:spPr/>
        <p:txBody>
          <a:bodyPr>
            <a:normAutofit lnSpcReduction="10000"/>
          </a:bodyPr>
          <a:lstStyle/>
          <a:p>
            <a:r>
              <a:rPr lang="en-US" dirty="0"/>
              <a:t>Each of the input classes </a:t>
            </a:r>
            <a:r>
              <a:rPr lang="en-US" dirty="0" err="1"/>
              <a:t>ifstream</a:t>
            </a:r>
            <a:r>
              <a:rPr lang="en-US" dirty="0"/>
              <a:t> , </a:t>
            </a:r>
            <a:r>
              <a:rPr lang="en-US" dirty="0" err="1"/>
              <a:t>fstream</a:t>
            </a:r>
            <a:r>
              <a:rPr lang="en-US" dirty="0"/>
              <a:t> , and </a:t>
            </a:r>
            <a:r>
              <a:rPr lang="en-US" dirty="0" err="1"/>
              <a:t>istringstream</a:t>
            </a:r>
            <a:r>
              <a:rPr lang="en-US" dirty="0"/>
              <a:t> has a family of get member functions that can be used to read single characters:</a:t>
            </a:r>
          </a:p>
          <a:p>
            <a:endParaRPr lang="en-US" dirty="0"/>
          </a:p>
          <a:p>
            <a:endParaRPr lang="en-US" dirty="0"/>
          </a:p>
          <a:p>
            <a:r>
              <a:rPr lang="en-US" dirty="0"/>
              <a:t>The first version reads a single character. </a:t>
            </a:r>
          </a:p>
          <a:p>
            <a:r>
              <a:rPr lang="en-US" dirty="0"/>
              <a:t>If successful, it returns an integer code representing the character that was read. </a:t>
            </a:r>
          </a:p>
          <a:p>
            <a:r>
              <a:rPr lang="en-US" dirty="0"/>
              <a:t>If unsuccessful, it sets the error codes on the stream and returns the special value EOF</a:t>
            </a:r>
          </a:p>
        </p:txBody>
      </p:sp>
      <p:pic>
        <p:nvPicPr>
          <p:cNvPr id="4" name="Picture 3">
            <a:extLst>
              <a:ext uri="{FF2B5EF4-FFF2-40B4-BE49-F238E27FC236}">
                <a16:creationId xmlns:a16="http://schemas.microsoft.com/office/drawing/2014/main" id="{134EE115-9EDF-6242-6213-5BBD9325CACD}"/>
              </a:ext>
            </a:extLst>
          </p:cNvPr>
          <p:cNvPicPr>
            <a:picLocks noChangeAspect="1"/>
          </p:cNvPicPr>
          <p:nvPr/>
        </p:nvPicPr>
        <p:blipFill>
          <a:blip r:embed="rId2"/>
          <a:stretch>
            <a:fillRect/>
          </a:stretch>
        </p:blipFill>
        <p:spPr>
          <a:xfrm>
            <a:off x="4613628" y="2750255"/>
            <a:ext cx="2617840" cy="817033"/>
          </a:xfrm>
          <a:prstGeom prst="rect">
            <a:avLst/>
          </a:prstGeom>
        </p:spPr>
      </p:pic>
    </p:spTree>
    <p:extLst>
      <p:ext uri="{BB962C8B-B14F-4D97-AF65-F5344CB8AC3E}">
        <p14:creationId xmlns:p14="http://schemas.microsoft.com/office/powerpoint/2010/main" val="3159746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80E19-A59C-6A38-AEFB-6F6F9F09863D}"/>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7A2FC70D-49F6-2226-8B3A-D8D8D4A6DEB9}"/>
              </a:ext>
            </a:extLst>
          </p:cNvPr>
          <p:cNvSpPr>
            <a:spLocks noGrp="1"/>
          </p:cNvSpPr>
          <p:nvPr>
            <p:ph idx="1"/>
          </p:nvPr>
        </p:nvSpPr>
        <p:spPr>
          <a:xfrm>
            <a:off x="838200" y="1825625"/>
            <a:ext cx="6443133" cy="4351338"/>
          </a:xfrm>
        </p:spPr>
        <p:txBody>
          <a:bodyPr>
            <a:normAutofit/>
          </a:bodyPr>
          <a:lstStyle/>
          <a:p>
            <a:pPr algn="l"/>
            <a:r>
              <a:rPr lang="en-US" dirty="0">
                <a:effectLst/>
              </a:rPr>
              <a:t>This program will display the contents of any file. </a:t>
            </a:r>
          </a:p>
          <a:p>
            <a:pPr algn="l"/>
            <a:r>
              <a:rPr lang="en-US" dirty="0">
                <a:effectLst/>
              </a:rPr>
              <a:t>Because the get function does not skip whitespaces, all the characters will be shown exactly as they appear in the file.</a:t>
            </a:r>
          </a:p>
        </p:txBody>
      </p:sp>
      <p:pic>
        <p:nvPicPr>
          <p:cNvPr id="4" name="Picture 3">
            <a:extLst>
              <a:ext uri="{FF2B5EF4-FFF2-40B4-BE49-F238E27FC236}">
                <a16:creationId xmlns:a16="http://schemas.microsoft.com/office/drawing/2014/main" id="{497AE0E0-6112-77FF-D1DC-D234F3072E04}"/>
              </a:ext>
            </a:extLst>
          </p:cNvPr>
          <p:cNvPicPr>
            <a:picLocks noChangeAspect="1"/>
          </p:cNvPicPr>
          <p:nvPr/>
        </p:nvPicPr>
        <p:blipFill>
          <a:blip r:embed="rId3"/>
          <a:stretch>
            <a:fillRect/>
          </a:stretch>
        </p:blipFill>
        <p:spPr>
          <a:xfrm>
            <a:off x="8214315" y="0"/>
            <a:ext cx="4184882" cy="6858000"/>
          </a:xfrm>
          <a:prstGeom prst="rect">
            <a:avLst/>
          </a:prstGeom>
        </p:spPr>
      </p:pic>
    </p:spTree>
    <p:extLst>
      <p:ext uri="{BB962C8B-B14F-4D97-AF65-F5344CB8AC3E}">
        <p14:creationId xmlns:p14="http://schemas.microsoft.com/office/powerpoint/2010/main" val="26583420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67E8F-95A0-FD9F-751D-3936BE78D532}"/>
              </a:ext>
            </a:extLst>
          </p:cNvPr>
          <p:cNvSpPr>
            <a:spLocks noGrp="1"/>
          </p:cNvSpPr>
          <p:nvPr>
            <p:ph type="title"/>
          </p:nvPr>
        </p:nvSpPr>
        <p:spPr/>
        <p:txBody>
          <a:bodyPr/>
          <a:lstStyle/>
          <a:p>
            <a:r>
              <a:rPr lang="en-US" dirty="0"/>
              <a:t>The peek Member Function</a:t>
            </a:r>
          </a:p>
        </p:txBody>
      </p:sp>
      <p:sp>
        <p:nvSpPr>
          <p:cNvPr id="3" name="Content Placeholder 2">
            <a:extLst>
              <a:ext uri="{FF2B5EF4-FFF2-40B4-BE49-F238E27FC236}">
                <a16:creationId xmlns:a16="http://schemas.microsoft.com/office/drawing/2014/main" id="{D94E6E4B-D48C-B6AB-EE06-76AAAD6C6D68}"/>
              </a:ext>
            </a:extLst>
          </p:cNvPr>
          <p:cNvSpPr>
            <a:spLocks noGrp="1"/>
          </p:cNvSpPr>
          <p:nvPr>
            <p:ph idx="1"/>
          </p:nvPr>
        </p:nvSpPr>
        <p:spPr/>
        <p:txBody>
          <a:bodyPr/>
          <a:lstStyle/>
          <a:p>
            <a:r>
              <a:rPr lang="en-US" dirty="0"/>
              <a:t>The peek member function is similar to get, but there is an important difference. </a:t>
            </a:r>
          </a:p>
          <a:p>
            <a:r>
              <a:rPr lang="en-US" dirty="0"/>
              <a:t>When the get function is called, it returns the next character available from the input stream and removes that character from the stream. </a:t>
            </a:r>
          </a:p>
          <a:p>
            <a:r>
              <a:rPr lang="en-US" dirty="0"/>
              <a:t>In contrast, the peek function returns a copy of the next character available without removing it from the stream. </a:t>
            </a:r>
          </a:p>
          <a:p>
            <a:r>
              <a:rPr lang="en-US" dirty="0"/>
              <a:t>Thus, get()reads a character from the file, but peek() just “looks” at the next character without actually reading it.</a:t>
            </a:r>
          </a:p>
        </p:txBody>
      </p:sp>
    </p:spTree>
    <p:extLst>
      <p:ext uri="{BB962C8B-B14F-4D97-AF65-F5344CB8AC3E}">
        <p14:creationId xmlns:p14="http://schemas.microsoft.com/office/powerpoint/2010/main" val="9600497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C340E-673D-A663-B04E-5108C0F216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0FB56A-A65B-EB9C-252F-F603A98F4F60}"/>
              </a:ext>
            </a:extLst>
          </p:cNvPr>
          <p:cNvSpPr>
            <a:spLocks noGrp="1"/>
          </p:cNvSpPr>
          <p:nvPr>
            <p:ph type="title"/>
          </p:nvPr>
        </p:nvSpPr>
        <p:spPr/>
        <p:txBody>
          <a:bodyPr/>
          <a:lstStyle/>
          <a:p>
            <a:r>
              <a:rPr lang="en-US" dirty="0"/>
              <a:t>The peek Member Function</a:t>
            </a:r>
          </a:p>
        </p:txBody>
      </p:sp>
      <p:sp>
        <p:nvSpPr>
          <p:cNvPr id="3" name="Content Placeholder 2">
            <a:extLst>
              <a:ext uri="{FF2B5EF4-FFF2-40B4-BE49-F238E27FC236}">
                <a16:creationId xmlns:a16="http://schemas.microsoft.com/office/drawing/2014/main" id="{0871BCF3-479F-24B1-383D-6CF585172DE8}"/>
              </a:ext>
            </a:extLst>
          </p:cNvPr>
          <p:cNvSpPr>
            <a:spLocks noGrp="1"/>
          </p:cNvSpPr>
          <p:nvPr>
            <p:ph idx="1"/>
          </p:nvPr>
        </p:nvSpPr>
        <p:spPr>
          <a:xfrm>
            <a:off x="838200" y="1565275"/>
            <a:ext cx="10515600" cy="4351338"/>
          </a:xfrm>
        </p:spPr>
        <p:txBody>
          <a:bodyPr/>
          <a:lstStyle/>
          <a:p>
            <a:r>
              <a:rPr lang="en-US" dirty="0"/>
              <a:t>To see the difference, suppose that a newly opened file contains the string "</a:t>
            </a:r>
            <a:r>
              <a:rPr lang="en-US" dirty="0" err="1"/>
              <a:t>abc</a:t>
            </a:r>
            <a:r>
              <a:rPr lang="en-US" dirty="0"/>
              <a:t>". </a:t>
            </a:r>
          </a:p>
          <a:p>
            <a:r>
              <a:rPr lang="en-US" dirty="0"/>
              <a:t>Then the sequence of statements will print the two characters "ab" on the screen.</a:t>
            </a:r>
          </a:p>
          <a:p>
            <a:pPr marL="0" indent="0">
              <a:buNone/>
            </a:pPr>
            <a:endParaRPr lang="en-US" dirty="0"/>
          </a:p>
          <a:p>
            <a:pPr marL="0" indent="0">
              <a:buNone/>
            </a:pPr>
            <a:endParaRPr lang="en-US" dirty="0"/>
          </a:p>
          <a:p>
            <a:r>
              <a:rPr lang="en-US" dirty="0"/>
              <a:t>However, the statements will print the two characters "aa" on the screen.</a:t>
            </a:r>
          </a:p>
        </p:txBody>
      </p:sp>
      <p:pic>
        <p:nvPicPr>
          <p:cNvPr id="4" name="Picture 3">
            <a:extLst>
              <a:ext uri="{FF2B5EF4-FFF2-40B4-BE49-F238E27FC236}">
                <a16:creationId xmlns:a16="http://schemas.microsoft.com/office/drawing/2014/main" id="{D4A76A5D-9CEC-C0E6-6D3D-3D3B2805F6B5}"/>
              </a:ext>
            </a:extLst>
          </p:cNvPr>
          <p:cNvPicPr>
            <a:picLocks noChangeAspect="1"/>
          </p:cNvPicPr>
          <p:nvPr/>
        </p:nvPicPr>
        <p:blipFill>
          <a:blip r:embed="rId2"/>
          <a:stretch>
            <a:fillRect/>
          </a:stretch>
        </p:blipFill>
        <p:spPr>
          <a:xfrm>
            <a:off x="4273550" y="3048705"/>
            <a:ext cx="4768850" cy="1127677"/>
          </a:xfrm>
          <a:prstGeom prst="rect">
            <a:avLst/>
          </a:prstGeom>
        </p:spPr>
      </p:pic>
      <p:pic>
        <p:nvPicPr>
          <p:cNvPr id="5" name="Picture 4">
            <a:extLst>
              <a:ext uri="{FF2B5EF4-FFF2-40B4-BE49-F238E27FC236}">
                <a16:creationId xmlns:a16="http://schemas.microsoft.com/office/drawing/2014/main" id="{8356D19A-130D-63DC-890E-404A219B874C}"/>
              </a:ext>
            </a:extLst>
          </p:cNvPr>
          <p:cNvPicPr>
            <a:picLocks noChangeAspect="1"/>
          </p:cNvPicPr>
          <p:nvPr/>
        </p:nvPicPr>
        <p:blipFill>
          <a:blip r:embed="rId3"/>
          <a:stretch>
            <a:fillRect/>
          </a:stretch>
        </p:blipFill>
        <p:spPr>
          <a:xfrm>
            <a:off x="3887611" y="5184223"/>
            <a:ext cx="5816600" cy="1041400"/>
          </a:xfrm>
          <a:prstGeom prst="rect">
            <a:avLst/>
          </a:prstGeom>
        </p:spPr>
      </p:pic>
    </p:spTree>
    <p:extLst>
      <p:ext uri="{BB962C8B-B14F-4D97-AF65-F5344CB8AC3E}">
        <p14:creationId xmlns:p14="http://schemas.microsoft.com/office/powerpoint/2010/main" val="32442879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964D5-48E9-699D-9EA1-6ABE40F596F2}"/>
              </a:ext>
            </a:extLst>
          </p:cNvPr>
          <p:cNvSpPr>
            <a:spLocks noGrp="1"/>
          </p:cNvSpPr>
          <p:nvPr>
            <p:ph type="title"/>
          </p:nvPr>
        </p:nvSpPr>
        <p:spPr/>
        <p:txBody>
          <a:bodyPr/>
          <a:lstStyle/>
          <a:p>
            <a:r>
              <a:rPr lang="en-US" dirty="0"/>
              <a:t>The peek Member Function</a:t>
            </a:r>
          </a:p>
        </p:txBody>
      </p:sp>
      <p:sp>
        <p:nvSpPr>
          <p:cNvPr id="3" name="Content Placeholder 2">
            <a:extLst>
              <a:ext uri="{FF2B5EF4-FFF2-40B4-BE49-F238E27FC236}">
                <a16:creationId xmlns:a16="http://schemas.microsoft.com/office/drawing/2014/main" id="{A2B07DFB-E84E-2D6A-5C8D-E14239131992}"/>
              </a:ext>
            </a:extLst>
          </p:cNvPr>
          <p:cNvSpPr>
            <a:spLocks noGrp="1"/>
          </p:cNvSpPr>
          <p:nvPr>
            <p:ph idx="1"/>
          </p:nvPr>
        </p:nvSpPr>
        <p:spPr/>
        <p:txBody>
          <a:bodyPr/>
          <a:lstStyle/>
          <a:p>
            <a:r>
              <a:rPr lang="en-US" dirty="0"/>
              <a:t>The peek function is useful when you need to know what kind of data you are about to read before you actually read it, so you can decide on the best input method to use. </a:t>
            </a:r>
          </a:p>
          <a:p>
            <a:r>
              <a:rPr lang="en-US" dirty="0"/>
              <a:t>If the data is numeric, it is best read with the stream extraction operator &gt;&gt;, but if the data is a non-numeric sequence of characters, then it should be read with get or </a:t>
            </a:r>
            <a:r>
              <a:rPr lang="en-US" dirty="0" err="1"/>
              <a:t>getline</a:t>
            </a:r>
            <a:r>
              <a:rPr lang="en-US" dirty="0"/>
              <a:t>. </a:t>
            </a:r>
          </a:p>
        </p:txBody>
      </p:sp>
    </p:spTree>
    <p:extLst>
      <p:ext uri="{BB962C8B-B14F-4D97-AF65-F5344CB8AC3E}">
        <p14:creationId xmlns:p14="http://schemas.microsoft.com/office/powerpoint/2010/main" val="19813946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DA870-DDF5-5C99-2CA7-5B61BD548D24}"/>
              </a:ext>
            </a:extLst>
          </p:cNvPr>
          <p:cNvSpPr>
            <a:spLocks noGrp="1"/>
          </p:cNvSpPr>
          <p:nvPr>
            <p:ph type="title"/>
          </p:nvPr>
        </p:nvSpPr>
        <p:spPr>
          <a:xfrm>
            <a:off x="840851" y="-112257"/>
            <a:ext cx="2401711" cy="1325563"/>
          </a:xfrm>
        </p:spPr>
        <p:txBody>
          <a:bodyPr/>
          <a:lstStyle/>
          <a:p>
            <a:r>
              <a:rPr lang="en-US" dirty="0"/>
              <a:t>Example</a:t>
            </a:r>
          </a:p>
        </p:txBody>
      </p:sp>
      <p:pic>
        <p:nvPicPr>
          <p:cNvPr id="4" name="Picture 3">
            <a:extLst>
              <a:ext uri="{FF2B5EF4-FFF2-40B4-BE49-F238E27FC236}">
                <a16:creationId xmlns:a16="http://schemas.microsoft.com/office/drawing/2014/main" id="{8BEA8925-0063-D12C-6AEC-4044B7A55A87}"/>
              </a:ext>
            </a:extLst>
          </p:cNvPr>
          <p:cNvPicPr>
            <a:picLocks noChangeAspect="1"/>
          </p:cNvPicPr>
          <p:nvPr/>
        </p:nvPicPr>
        <p:blipFill>
          <a:blip r:embed="rId3"/>
          <a:stretch>
            <a:fillRect/>
          </a:stretch>
        </p:blipFill>
        <p:spPr>
          <a:xfrm>
            <a:off x="64041" y="1040161"/>
            <a:ext cx="3955327" cy="5632768"/>
          </a:xfrm>
          <a:prstGeom prst="rect">
            <a:avLst/>
          </a:prstGeom>
        </p:spPr>
      </p:pic>
      <p:pic>
        <p:nvPicPr>
          <p:cNvPr id="5" name="Picture 4">
            <a:extLst>
              <a:ext uri="{FF2B5EF4-FFF2-40B4-BE49-F238E27FC236}">
                <a16:creationId xmlns:a16="http://schemas.microsoft.com/office/drawing/2014/main" id="{4DDFCEAC-1D3D-0FCA-351E-BB26C9764EE1}"/>
              </a:ext>
            </a:extLst>
          </p:cNvPr>
          <p:cNvPicPr>
            <a:picLocks noChangeAspect="1"/>
          </p:cNvPicPr>
          <p:nvPr/>
        </p:nvPicPr>
        <p:blipFill>
          <a:blip r:embed="rId4"/>
          <a:stretch>
            <a:fillRect/>
          </a:stretch>
        </p:blipFill>
        <p:spPr>
          <a:xfrm>
            <a:off x="4235468" y="459046"/>
            <a:ext cx="4270793" cy="5488073"/>
          </a:xfrm>
          <a:prstGeom prst="rect">
            <a:avLst/>
          </a:prstGeom>
        </p:spPr>
      </p:pic>
      <p:pic>
        <p:nvPicPr>
          <p:cNvPr id="3" name="Picture 2">
            <a:extLst>
              <a:ext uri="{FF2B5EF4-FFF2-40B4-BE49-F238E27FC236}">
                <a16:creationId xmlns:a16="http://schemas.microsoft.com/office/drawing/2014/main" id="{0045C86F-54C1-4E37-0DB9-B729001A638A}"/>
              </a:ext>
            </a:extLst>
          </p:cNvPr>
          <p:cNvPicPr>
            <a:picLocks noChangeAspect="1"/>
          </p:cNvPicPr>
          <p:nvPr/>
        </p:nvPicPr>
        <p:blipFill>
          <a:blip r:embed="rId5"/>
          <a:stretch>
            <a:fillRect/>
          </a:stretch>
        </p:blipFill>
        <p:spPr>
          <a:xfrm>
            <a:off x="8722360" y="2269235"/>
            <a:ext cx="3405598" cy="2319530"/>
          </a:xfrm>
          <a:prstGeom prst="rect">
            <a:avLst/>
          </a:prstGeom>
        </p:spPr>
      </p:pic>
    </p:spTree>
    <p:extLst>
      <p:ext uri="{BB962C8B-B14F-4D97-AF65-F5344CB8AC3E}">
        <p14:creationId xmlns:p14="http://schemas.microsoft.com/office/powerpoint/2010/main" val="13163168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E6A72-EE92-E93D-E100-1F31478CB311}"/>
              </a:ext>
            </a:extLst>
          </p:cNvPr>
          <p:cNvSpPr>
            <a:spLocks noGrp="1"/>
          </p:cNvSpPr>
          <p:nvPr>
            <p:ph type="title"/>
          </p:nvPr>
        </p:nvSpPr>
        <p:spPr/>
        <p:txBody>
          <a:bodyPr/>
          <a:lstStyle/>
          <a:p>
            <a:r>
              <a:rPr lang="en-US" dirty="0"/>
              <a:t>The peek Member Function</a:t>
            </a:r>
          </a:p>
        </p:txBody>
      </p:sp>
      <p:sp>
        <p:nvSpPr>
          <p:cNvPr id="3" name="Content Placeholder 2">
            <a:extLst>
              <a:ext uri="{FF2B5EF4-FFF2-40B4-BE49-F238E27FC236}">
                <a16:creationId xmlns:a16="http://schemas.microsoft.com/office/drawing/2014/main" id="{02B4898C-B4AC-EA91-26C9-0646F914F8D7}"/>
              </a:ext>
            </a:extLst>
          </p:cNvPr>
          <p:cNvSpPr>
            <a:spLocks noGrp="1"/>
          </p:cNvSpPr>
          <p:nvPr>
            <p:ph idx="1"/>
          </p:nvPr>
        </p:nvSpPr>
        <p:spPr/>
        <p:txBody>
          <a:bodyPr>
            <a:normAutofit lnSpcReduction="10000"/>
          </a:bodyPr>
          <a:lstStyle/>
          <a:p>
            <a:r>
              <a:rPr lang="en-US" dirty="0"/>
              <a:t>The program cannot tell beforehand whether the next character to be read is a digit that starts a number (in which case the entire number should be read using the stream extraction operator &gt;&gt;) or just an ordinary </a:t>
            </a:r>
            <a:r>
              <a:rPr lang="en-US" dirty="0" err="1"/>
              <a:t>nondigit</a:t>
            </a:r>
            <a:r>
              <a:rPr lang="en-US" dirty="0"/>
              <a:t> character (in which case the character should be read using a call to the </a:t>
            </a:r>
            <a:r>
              <a:rPr lang="en-US" dirty="0">
                <a:solidFill>
                  <a:srgbClr val="FF0000"/>
                </a:solidFill>
              </a:rPr>
              <a:t>get() </a:t>
            </a:r>
            <a:r>
              <a:rPr lang="en-US" dirty="0"/>
              <a:t>member function). </a:t>
            </a:r>
          </a:p>
          <a:p>
            <a:r>
              <a:rPr lang="en-US" dirty="0"/>
              <a:t>The program therefore uses </a:t>
            </a:r>
            <a:r>
              <a:rPr lang="en-US" dirty="0">
                <a:solidFill>
                  <a:srgbClr val="FF0000"/>
                </a:solidFill>
              </a:rPr>
              <a:t>peek() </a:t>
            </a:r>
            <a:r>
              <a:rPr lang="en-US" dirty="0"/>
              <a:t>to examine characters without actually reading them (lines 38 and 55). </a:t>
            </a:r>
          </a:p>
          <a:p>
            <a:r>
              <a:rPr lang="en-US" dirty="0"/>
              <a:t>If a character is a digit, the extraction operator is called to read the number that starts with that character (lines 44–46). </a:t>
            </a:r>
          </a:p>
          <a:p>
            <a:r>
              <a:rPr lang="en-US" dirty="0"/>
              <a:t>Otherwise, the character is read using a call to </a:t>
            </a:r>
            <a:r>
              <a:rPr lang="en-US" dirty="0">
                <a:solidFill>
                  <a:srgbClr val="FF0000"/>
                </a:solidFill>
              </a:rPr>
              <a:t>get() </a:t>
            </a:r>
            <a:r>
              <a:rPr lang="en-US" dirty="0"/>
              <a:t>(lines 50–52) and copied to the target file.</a:t>
            </a:r>
          </a:p>
        </p:txBody>
      </p:sp>
    </p:spTree>
    <p:extLst>
      <p:ext uri="{BB962C8B-B14F-4D97-AF65-F5344CB8AC3E}">
        <p14:creationId xmlns:p14="http://schemas.microsoft.com/office/powerpoint/2010/main" val="21573231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2DB76-CBBA-EA45-BB04-FB5E15E309F2}"/>
              </a:ext>
            </a:extLst>
          </p:cNvPr>
          <p:cNvSpPr>
            <a:spLocks noGrp="1"/>
          </p:cNvSpPr>
          <p:nvPr>
            <p:ph type="title"/>
          </p:nvPr>
        </p:nvSpPr>
        <p:spPr/>
        <p:txBody>
          <a:bodyPr/>
          <a:lstStyle/>
          <a:p>
            <a:r>
              <a:rPr lang="en-US" dirty="0"/>
              <a:t>The put Member Function</a:t>
            </a:r>
          </a:p>
        </p:txBody>
      </p:sp>
      <p:sp>
        <p:nvSpPr>
          <p:cNvPr id="3" name="Content Placeholder 2">
            <a:extLst>
              <a:ext uri="{FF2B5EF4-FFF2-40B4-BE49-F238E27FC236}">
                <a16:creationId xmlns:a16="http://schemas.microsoft.com/office/drawing/2014/main" id="{808DFD65-710D-3391-4EA3-D92865F356E0}"/>
              </a:ext>
            </a:extLst>
          </p:cNvPr>
          <p:cNvSpPr>
            <a:spLocks noGrp="1"/>
          </p:cNvSpPr>
          <p:nvPr>
            <p:ph idx="1"/>
          </p:nvPr>
        </p:nvSpPr>
        <p:spPr>
          <a:xfrm>
            <a:off x="344311" y="1690688"/>
            <a:ext cx="11503378" cy="4351338"/>
          </a:xfrm>
        </p:spPr>
        <p:txBody>
          <a:bodyPr/>
          <a:lstStyle/>
          <a:p>
            <a:pPr algn="l"/>
            <a:r>
              <a:rPr lang="en-US" dirty="0">
                <a:effectLst/>
              </a:rPr>
              <a:t>Each of the output stream classes </a:t>
            </a:r>
            <a:r>
              <a:rPr lang="en-US" dirty="0" err="1">
                <a:effectLst/>
              </a:rPr>
              <a:t>ofstream</a:t>
            </a:r>
            <a:r>
              <a:rPr lang="en-US" dirty="0">
                <a:effectLst/>
              </a:rPr>
              <a:t>, </a:t>
            </a:r>
            <a:r>
              <a:rPr lang="en-US" dirty="0" err="1">
                <a:effectLst/>
              </a:rPr>
              <a:t>fstream</a:t>
            </a:r>
            <a:r>
              <a:rPr lang="en-US" dirty="0">
                <a:effectLst/>
              </a:rPr>
              <a:t>, and </a:t>
            </a:r>
            <a:r>
              <a:rPr lang="en-US" dirty="0" err="1">
                <a:effectLst/>
              </a:rPr>
              <a:t>ostringstream</a:t>
            </a:r>
            <a:r>
              <a:rPr lang="en-US" dirty="0">
                <a:effectLst/>
              </a:rPr>
              <a:t> has a member function </a:t>
            </a:r>
            <a:r>
              <a:rPr lang="en-US" dirty="0"/>
              <a:t>that takes the integer code of a character and writes the corresponding character to the stream. </a:t>
            </a:r>
          </a:p>
          <a:p>
            <a:pPr lvl="1"/>
            <a:r>
              <a:rPr lang="en-US" i="1" dirty="0" err="1">
                <a:solidFill>
                  <a:srgbClr val="FF0000"/>
                </a:solidFill>
              </a:rPr>
              <a:t>ostream</a:t>
            </a:r>
            <a:r>
              <a:rPr lang="en-US" i="1" dirty="0">
                <a:solidFill>
                  <a:srgbClr val="FF0000"/>
                </a:solidFill>
              </a:rPr>
              <a:t>&amp; </a:t>
            </a:r>
            <a:r>
              <a:rPr lang="en-US" b="1" i="1" dirty="0">
                <a:solidFill>
                  <a:srgbClr val="FF0000"/>
                </a:solidFill>
                <a:effectLst/>
              </a:rPr>
              <a:t>put</a:t>
            </a:r>
            <a:r>
              <a:rPr lang="en-US" i="1" dirty="0">
                <a:solidFill>
                  <a:srgbClr val="FF0000"/>
                </a:solidFill>
              </a:rPr>
              <a:t>(</a:t>
            </a:r>
            <a:r>
              <a:rPr lang="en-US" b="1" i="1" dirty="0">
                <a:solidFill>
                  <a:srgbClr val="FF0000"/>
                </a:solidFill>
                <a:effectLst/>
              </a:rPr>
              <a:t>int</a:t>
            </a:r>
            <a:r>
              <a:rPr lang="en-US" i="1" dirty="0">
                <a:solidFill>
                  <a:srgbClr val="FF0000"/>
                </a:solidFill>
              </a:rPr>
              <a:t> c); </a:t>
            </a:r>
          </a:p>
          <a:p>
            <a:r>
              <a:rPr lang="en-US" dirty="0"/>
              <a:t>You can think of put as the output stream counterpart to the input stream get functions. </a:t>
            </a:r>
          </a:p>
          <a:p>
            <a:r>
              <a:rPr lang="en-US" dirty="0"/>
              <a:t>As an example, the following simple program prints AB on the screen.</a:t>
            </a:r>
            <a:endParaRPr lang="en-US" dirty="0">
              <a:effectLst/>
            </a:endParaRPr>
          </a:p>
          <a:p>
            <a:pPr algn="l"/>
            <a:endParaRPr lang="en-US" i="1" dirty="0">
              <a:solidFill>
                <a:srgbClr val="FF0000"/>
              </a:solidFill>
            </a:endParaRPr>
          </a:p>
          <a:p>
            <a:endParaRPr lang="en-US" dirty="0"/>
          </a:p>
        </p:txBody>
      </p:sp>
      <p:pic>
        <p:nvPicPr>
          <p:cNvPr id="4" name="Picture 3">
            <a:extLst>
              <a:ext uri="{FF2B5EF4-FFF2-40B4-BE49-F238E27FC236}">
                <a16:creationId xmlns:a16="http://schemas.microsoft.com/office/drawing/2014/main" id="{6B748005-B9D8-1981-0CA9-5441B2740292}"/>
              </a:ext>
            </a:extLst>
          </p:cNvPr>
          <p:cNvPicPr>
            <a:picLocks noChangeAspect="1"/>
          </p:cNvPicPr>
          <p:nvPr/>
        </p:nvPicPr>
        <p:blipFill>
          <a:blip r:embed="rId2"/>
          <a:stretch>
            <a:fillRect/>
          </a:stretch>
        </p:blipFill>
        <p:spPr>
          <a:xfrm>
            <a:off x="4747930" y="4784988"/>
            <a:ext cx="2431803" cy="2073012"/>
          </a:xfrm>
          <a:prstGeom prst="rect">
            <a:avLst/>
          </a:prstGeom>
        </p:spPr>
      </p:pic>
    </p:spTree>
    <p:extLst>
      <p:ext uri="{BB962C8B-B14F-4D97-AF65-F5344CB8AC3E}">
        <p14:creationId xmlns:p14="http://schemas.microsoft.com/office/powerpoint/2010/main" val="12100128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F5F25-9DB8-88BE-65D9-C1BF21F9CC44}"/>
              </a:ext>
            </a:extLst>
          </p:cNvPr>
          <p:cNvSpPr>
            <a:spLocks noGrp="1"/>
          </p:cNvSpPr>
          <p:nvPr>
            <p:ph type="title"/>
          </p:nvPr>
        </p:nvSpPr>
        <p:spPr/>
        <p:txBody>
          <a:bodyPr/>
          <a:lstStyle/>
          <a:p>
            <a:r>
              <a:rPr lang="en-US" dirty="0"/>
              <a:t>Rewinding a File</a:t>
            </a:r>
          </a:p>
        </p:txBody>
      </p:sp>
      <p:sp>
        <p:nvSpPr>
          <p:cNvPr id="3" name="Content Placeholder 2">
            <a:extLst>
              <a:ext uri="{FF2B5EF4-FFF2-40B4-BE49-F238E27FC236}">
                <a16:creationId xmlns:a16="http://schemas.microsoft.com/office/drawing/2014/main" id="{C414343B-B822-4ECE-07A7-7B7F8AB28A2A}"/>
              </a:ext>
            </a:extLst>
          </p:cNvPr>
          <p:cNvSpPr>
            <a:spLocks noGrp="1"/>
          </p:cNvSpPr>
          <p:nvPr>
            <p:ph idx="1"/>
          </p:nvPr>
        </p:nvSpPr>
        <p:spPr/>
        <p:txBody>
          <a:bodyPr/>
          <a:lstStyle/>
          <a:p>
            <a:r>
              <a:rPr lang="en-US" dirty="0"/>
              <a:t>Many times it is useful to open a file, process all the data in it, rewind the file back to the beginning, and process it again, perhaps in a slightly different fashion. </a:t>
            </a:r>
          </a:p>
          <a:p>
            <a:r>
              <a:rPr lang="en-US" dirty="0"/>
              <a:t>For example, a user may ask the program to search a database for all records of a certain kind, and when those are found, the user may want to search the database for all records of some other kind.</a:t>
            </a:r>
          </a:p>
          <a:p>
            <a:r>
              <a:rPr lang="en-US" dirty="0"/>
              <a:t>File stream classes offer a number of different member functions that can be used to move around in a file. </a:t>
            </a:r>
          </a:p>
        </p:txBody>
      </p:sp>
    </p:spTree>
    <p:extLst>
      <p:ext uri="{BB962C8B-B14F-4D97-AF65-F5344CB8AC3E}">
        <p14:creationId xmlns:p14="http://schemas.microsoft.com/office/powerpoint/2010/main" val="36978041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A05C3F-9833-B472-5F7F-DA35E2D4C4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BF0CF8-57EB-9BD4-0724-B1C35AAEA764}"/>
              </a:ext>
            </a:extLst>
          </p:cNvPr>
          <p:cNvSpPr>
            <a:spLocks noGrp="1"/>
          </p:cNvSpPr>
          <p:nvPr>
            <p:ph type="title"/>
          </p:nvPr>
        </p:nvSpPr>
        <p:spPr/>
        <p:txBody>
          <a:bodyPr/>
          <a:lstStyle/>
          <a:p>
            <a:r>
              <a:rPr lang="en-US" dirty="0"/>
              <a:t>Rewinding a File</a:t>
            </a:r>
          </a:p>
        </p:txBody>
      </p:sp>
      <p:sp>
        <p:nvSpPr>
          <p:cNvPr id="3" name="Content Placeholder 2">
            <a:extLst>
              <a:ext uri="{FF2B5EF4-FFF2-40B4-BE49-F238E27FC236}">
                <a16:creationId xmlns:a16="http://schemas.microsoft.com/office/drawing/2014/main" id="{21B20D49-731B-1747-FB2B-6B4D631E9AD7}"/>
              </a:ext>
            </a:extLst>
          </p:cNvPr>
          <p:cNvSpPr>
            <a:spLocks noGrp="1"/>
          </p:cNvSpPr>
          <p:nvPr>
            <p:ph idx="1"/>
          </p:nvPr>
        </p:nvSpPr>
        <p:spPr>
          <a:xfrm>
            <a:off x="838199" y="1658056"/>
            <a:ext cx="10083325" cy="4834819"/>
          </a:xfrm>
        </p:spPr>
        <p:txBody>
          <a:bodyPr>
            <a:normAutofit/>
          </a:bodyPr>
          <a:lstStyle/>
          <a:p>
            <a:r>
              <a:rPr lang="en-US" dirty="0"/>
              <a:t>One such method is the member function of the input stream classes is </a:t>
            </a:r>
            <a:r>
              <a:rPr lang="en-US" i="1" dirty="0" err="1">
                <a:solidFill>
                  <a:srgbClr val="FF0000"/>
                </a:solidFill>
              </a:rPr>
              <a:t>seekg</a:t>
            </a:r>
            <a:r>
              <a:rPr lang="en-US" dirty="0"/>
              <a:t> </a:t>
            </a:r>
          </a:p>
          <a:p>
            <a:r>
              <a:rPr lang="en-US" dirty="0"/>
              <a:t>The file “seeks” to a certain place in the file; the ‘g’ is for “get” and denotes that the function works on an input stream, because we “get” data from an input stream. </a:t>
            </a:r>
          </a:p>
          <a:p>
            <a:r>
              <a:rPr lang="en-US" i="1" dirty="0" err="1">
                <a:solidFill>
                  <a:srgbClr val="FF0000"/>
                </a:solidFill>
                <a:effectLst/>
              </a:rPr>
              <a:t>seekg</a:t>
            </a:r>
            <a:r>
              <a:rPr lang="en-US" i="1" dirty="0">
                <a:solidFill>
                  <a:srgbClr val="FF0000"/>
                </a:solidFill>
              </a:rPr>
              <a:t>(offset, place); </a:t>
            </a:r>
          </a:p>
        </p:txBody>
      </p:sp>
    </p:spTree>
    <p:extLst>
      <p:ext uri="{BB962C8B-B14F-4D97-AF65-F5344CB8AC3E}">
        <p14:creationId xmlns:p14="http://schemas.microsoft.com/office/powerpoint/2010/main" val="11683772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3FEB7-A666-4A5F-246C-0E1C66E310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5C58E3-7295-8939-EE5E-02C07EE9813F}"/>
              </a:ext>
            </a:extLst>
          </p:cNvPr>
          <p:cNvSpPr>
            <a:spLocks noGrp="1"/>
          </p:cNvSpPr>
          <p:nvPr>
            <p:ph type="title"/>
          </p:nvPr>
        </p:nvSpPr>
        <p:spPr/>
        <p:txBody>
          <a:bodyPr/>
          <a:lstStyle/>
          <a:p>
            <a:r>
              <a:rPr lang="en-US" dirty="0"/>
              <a:t>Rewinding a File</a:t>
            </a:r>
          </a:p>
        </p:txBody>
      </p:sp>
      <p:sp>
        <p:nvSpPr>
          <p:cNvPr id="3" name="Content Placeholder 2">
            <a:extLst>
              <a:ext uri="{FF2B5EF4-FFF2-40B4-BE49-F238E27FC236}">
                <a16:creationId xmlns:a16="http://schemas.microsoft.com/office/drawing/2014/main" id="{3965CA2D-0185-C04D-3B6F-49EB841DBF76}"/>
              </a:ext>
            </a:extLst>
          </p:cNvPr>
          <p:cNvSpPr>
            <a:spLocks noGrp="1"/>
          </p:cNvSpPr>
          <p:nvPr>
            <p:ph idx="1"/>
          </p:nvPr>
        </p:nvSpPr>
        <p:spPr>
          <a:xfrm>
            <a:off x="922945" y="1765803"/>
            <a:ext cx="10152405" cy="4834819"/>
          </a:xfrm>
        </p:spPr>
        <p:txBody>
          <a:bodyPr>
            <a:normAutofit/>
          </a:bodyPr>
          <a:lstStyle/>
          <a:p>
            <a:r>
              <a:rPr lang="en-US" i="1" dirty="0" err="1">
                <a:solidFill>
                  <a:srgbClr val="FF0000"/>
                </a:solidFill>
                <a:effectLst/>
              </a:rPr>
              <a:t>seekg</a:t>
            </a:r>
            <a:r>
              <a:rPr lang="en-US" i="1" dirty="0">
                <a:solidFill>
                  <a:srgbClr val="FF0000"/>
                </a:solidFill>
              </a:rPr>
              <a:t>(offset, place); </a:t>
            </a:r>
          </a:p>
          <a:p>
            <a:r>
              <a:rPr lang="en-US" dirty="0"/>
              <a:t>The new location in the file to seek to is given by the two parameters: the new location is at an offset of offset bytes from the starting point given by place. </a:t>
            </a:r>
          </a:p>
          <a:p>
            <a:r>
              <a:rPr lang="en-US" dirty="0"/>
              <a:t>The offset parameter is a long integer, while place can be one of three values defined in the </a:t>
            </a:r>
            <a:r>
              <a:rPr lang="en-US" dirty="0" err="1"/>
              <a:t>ios</a:t>
            </a:r>
            <a:r>
              <a:rPr lang="en-US" dirty="0"/>
              <a:t> class. </a:t>
            </a:r>
          </a:p>
          <a:p>
            <a:r>
              <a:rPr lang="en-US" dirty="0"/>
              <a:t>The starting place may be the beginning of the file, the current place in the file, or the end of the file. </a:t>
            </a:r>
          </a:p>
          <a:p>
            <a:r>
              <a:rPr lang="en-US" dirty="0"/>
              <a:t>These places are indicated by the constants </a:t>
            </a:r>
            <a:r>
              <a:rPr lang="en-US" dirty="0" err="1"/>
              <a:t>ios:beg</a:t>
            </a:r>
            <a:r>
              <a:rPr lang="en-US" dirty="0"/>
              <a:t>, </a:t>
            </a:r>
            <a:r>
              <a:rPr lang="en-US" dirty="0" err="1"/>
              <a:t>ios</a:t>
            </a:r>
            <a:r>
              <a:rPr lang="en-US" dirty="0"/>
              <a:t>::cur, and </a:t>
            </a:r>
            <a:r>
              <a:rPr lang="en-US" dirty="0" err="1"/>
              <a:t>ios</a:t>
            </a:r>
            <a:r>
              <a:rPr lang="en-US" dirty="0"/>
              <a:t>::end, respectively.</a:t>
            </a:r>
            <a:endParaRPr lang="en-US" i="1" dirty="0">
              <a:solidFill>
                <a:srgbClr val="FF0000"/>
              </a:solidFill>
            </a:endParaRPr>
          </a:p>
        </p:txBody>
      </p:sp>
    </p:spTree>
    <p:extLst>
      <p:ext uri="{BB962C8B-B14F-4D97-AF65-F5344CB8AC3E}">
        <p14:creationId xmlns:p14="http://schemas.microsoft.com/office/powerpoint/2010/main" val="23559926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5FA7C-1C2A-277F-E103-8EF3EE898179}"/>
              </a:ext>
            </a:extLst>
          </p:cNvPr>
          <p:cNvSpPr>
            <a:spLocks noGrp="1"/>
          </p:cNvSpPr>
          <p:nvPr>
            <p:ph type="title"/>
          </p:nvPr>
        </p:nvSpPr>
        <p:spPr/>
        <p:txBody>
          <a:bodyPr/>
          <a:lstStyle/>
          <a:p>
            <a:r>
              <a:rPr lang="en-US" dirty="0"/>
              <a:t>Rewinding a File</a:t>
            </a:r>
          </a:p>
        </p:txBody>
      </p:sp>
      <p:sp>
        <p:nvSpPr>
          <p:cNvPr id="3" name="Content Placeholder 2">
            <a:extLst>
              <a:ext uri="{FF2B5EF4-FFF2-40B4-BE49-F238E27FC236}">
                <a16:creationId xmlns:a16="http://schemas.microsoft.com/office/drawing/2014/main" id="{BC0DC36B-4D27-60C8-CBA4-0720755499E0}"/>
              </a:ext>
            </a:extLst>
          </p:cNvPr>
          <p:cNvSpPr>
            <a:spLocks noGrp="1"/>
          </p:cNvSpPr>
          <p:nvPr>
            <p:ph idx="1"/>
          </p:nvPr>
        </p:nvSpPr>
        <p:spPr/>
        <p:txBody>
          <a:bodyPr/>
          <a:lstStyle/>
          <a:p>
            <a:r>
              <a:rPr lang="en-US" dirty="0"/>
              <a:t>To move to the beginning of a file, use the call to move 0 bytes relative to the beginning of the file.</a:t>
            </a:r>
          </a:p>
          <a:p>
            <a:r>
              <a:rPr lang="en-US" i="1" dirty="0" err="1">
                <a:solidFill>
                  <a:srgbClr val="FF0000"/>
                </a:solidFill>
                <a:effectLst/>
              </a:rPr>
              <a:t>seekg</a:t>
            </a:r>
            <a:r>
              <a:rPr lang="en-US" i="1" dirty="0">
                <a:solidFill>
                  <a:srgbClr val="FF0000"/>
                </a:solidFill>
              </a:rPr>
              <a:t>(</a:t>
            </a:r>
            <a:r>
              <a:rPr lang="en-US" i="1" dirty="0">
                <a:solidFill>
                  <a:srgbClr val="FF0000"/>
                </a:solidFill>
                <a:effectLst/>
              </a:rPr>
              <a:t>0L</a:t>
            </a:r>
            <a:r>
              <a:rPr lang="en-US" i="1" dirty="0">
                <a:solidFill>
                  <a:srgbClr val="FF0000"/>
                </a:solidFill>
              </a:rPr>
              <a:t>, </a:t>
            </a:r>
            <a:r>
              <a:rPr lang="en-US" i="1" dirty="0" err="1">
                <a:solidFill>
                  <a:srgbClr val="FF0000"/>
                </a:solidFill>
              </a:rPr>
              <a:t>ios</a:t>
            </a:r>
            <a:r>
              <a:rPr lang="en-US" i="1" dirty="0">
                <a:solidFill>
                  <a:srgbClr val="FF0000"/>
                </a:solidFill>
              </a:rPr>
              <a:t>::beg); </a:t>
            </a:r>
          </a:p>
          <a:p>
            <a:r>
              <a:rPr lang="en-US" dirty="0"/>
              <a:t>If you are already at the end of the file, you must clear the end of file flag </a:t>
            </a:r>
            <a:r>
              <a:rPr lang="en-US" i="1" dirty="0"/>
              <a:t>before</a:t>
            </a:r>
            <a:r>
              <a:rPr lang="en-US" dirty="0"/>
              <a:t> calling this function. </a:t>
            </a:r>
          </a:p>
          <a:p>
            <a:r>
              <a:rPr lang="en-US" dirty="0"/>
              <a:t>Thus, to move to the beginning of a file stream </a:t>
            </a:r>
            <a:r>
              <a:rPr lang="en-US" dirty="0" err="1"/>
              <a:t>dataIn</a:t>
            </a:r>
            <a:r>
              <a:rPr lang="en-US" dirty="0"/>
              <a:t> that you have just read to the end, you need the two statements</a:t>
            </a:r>
            <a:endParaRPr lang="en-US" i="1" dirty="0">
              <a:solidFill>
                <a:srgbClr val="FF0000"/>
              </a:solidFill>
            </a:endParaRPr>
          </a:p>
        </p:txBody>
      </p:sp>
      <p:pic>
        <p:nvPicPr>
          <p:cNvPr id="6" name="Picture 5">
            <a:extLst>
              <a:ext uri="{FF2B5EF4-FFF2-40B4-BE49-F238E27FC236}">
                <a16:creationId xmlns:a16="http://schemas.microsoft.com/office/drawing/2014/main" id="{4A15882A-76D7-1E2F-C666-2D304CC25C8E}"/>
              </a:ext>
            </a:extLst>
          </p:cNvPr>
          <p:cNvPicPr>
            <a:picLocks noChangeAspect="1"/>
          </p:cNvPicPr>
          <p:nvPr/>
        </p:nvPicPr>
        <p:blipFill>
          <a:blip r:embed="rId3"/>
          <a:stretch>
            <a:fillRect/>
          </a:stretch>
        </p:blipFill>
        <p:spPr>
          <a:xfrm>
            <a:off x="4515555" y="5228872"/>
            <a:ext cx="3160889" cy="806685"/>
          </a:xfrm>
          <a:prstGeom prst="rect">
            <a:avLst/>
          </a:prstGeom>
        </p:spPr>
      </p:pic>
    </p:spTree>
    <p:extLst>
      <p:ext uri="{BB962C8B-B14F-4D97-AF65-F5344CB8AC3E}">
        <p14:creationId xmlns:p14="http://schemas.microsoft.com/office/powerpoint/2010/main" val="31977824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B9CBF9-0741-E64C-928B-46AFB60A2F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0044CC-74ED-2B91-2BB0-5049A0DA1517}"/>
              </a:ext>
            </a:extLst>
          </p:cNvPr>
          <p:cNvSpPr>
            <a:spLocks noGrp="1"/>
          </p:cNvSpPr>
          <p:nvPr>
            <p:ph type="title"/>
          </p:nvPr>
        </p:nvSpPr>
        <p:spPr>
          <a:xfrm>
            <a:off x="5132534" y="11289"/>
            <a:ext cx="2446867" cy="1325563"/>
          </a:xfrm>
        </p:spPr>
        <p:txBody>
          <a:bodyPr/>
          <a:lstStyle/>
          <a:p>
            <a:r>
              <a:rPr lang="en-US" dirty="0"/>
              <a:t>Example</a:t>
            </a:r>
          </a:p>
        </p:txBody>
      </p:sp>
      <p:pic>
        <p:nvPicPr>
          <p:cNvPr id="7" name="Picture 6">
            <a:extLst>
              <a:ext uri="{FF2B5EF4-FFF2-40B4-BE49-F238E27FC236}">
                <a16:creationId xmlns:a16="http://schemas.microsoft.com/office/drawing/2014/main" id="{7D38A0CC-CA6A-24EC-E6E1-3D5974977FBE}"/>
              </a:ext>
            </a:extLst>
          </p:cNvPr>
          <p:cNvPicPr>
            <a:picLocks noChangeAspect="1"/>
          </p:cNvPicPr>
          <p:nvPr/>
        </p:nvPicPr>
        <p:blipFill>
          <a:blip r:embed="rId3"/>
          <a:stretch>
            <a:fillRect/>
          </a:stretch>
        </p:blipFill>
        <p:spPr>
          <a:xfrm>
            <a:off x="240975" y="0"/>
            <a:ext cx="4643203" cy="6858000"/>
          </a:xfrm>
          <a:prstGeom prst="rect">
            <a:avLst/>
          </a:prstGeom>
        </p:spPr>
      </p:pic>
      <p:pic>
        <p:nvPicPr>
          <p:cNvPr id="8" name="Picture 7">
            <a:extLst>
              <a:ext uri="{FF2B5EF4-FFF2-40B4-BE49-F238E27FC236}">
                <a16:creationId xmlns:a16="http://schemas.microsoft.com/office/drawing/2014/main" id="{F6D07188-48EE-B497-2A17-15A4D07CAD67}"/>
              </a:ext>
            </a:extLst>
          </p:cNvPr>
          <p:cNvPicPr>
            <a:picLocks noChangeAspect="1"/>
          </p:cNvPicPr>
          <p:nvPr/>
        </p:nvPicPr>
        <p:blipFill>
          <a:blip r:embed="rId4"/>
          <a:stretch>
            <a:fillRect/>
          </a:stretch>
        </p:blipFill>
        <p:spPr>
          <a:xfrm>
            <a:off x="5018617" y="1409700"/>
            <a:ext cx="3848100" cy="4851400"/>
          </a:xfrm>
          <a:prstGeom prst="rect">
            <a:avLst/>
          </a:prstGeom>
        </p:spPr>
      </p:pic>
      <p:pic>
        <p:nvPicPr>
          <p:cNvPr id="9" name="Picture 8">
            <a:extLst>
              <a:ext uri="{FF2B5EF4-FFF2-40B4-BE49-F238E27FC236}">
                <a16:creationId xmlns:a16="http://schemas.microsoft.com/office/drawing/2014/main" id="{40FD8DF8-DB4A-EC2C-C351-F1C8B1F5A87F}"/>
              </a:ext>
            </a:extLst>
          </p:cNvPr>
          <p:cNvPicPr>
            <a:picLocks noChangeAspect="1"/>
          </p:cNvPicPr>
          <p:nvPr/>
        </p:nvPicPr>
        <p:blipFill>
          <a:blip r:embed="rId5"/>
          <a:stretch>
            <a:fillRect/>
          </a:stretch>
        </p:blipFill>
        <p:spPr>
          <a:xfrm>
            <a:off x="9148939" y="2458861"/>
            <a:ext cx="2654300" cy="2120900"/>
          </a:xfrm>
          <a:prstGeom prst="rect">
            <a:avLst/>
          </a:prstGeom>
        </p:spPr>
      </p:pic>
    </p:spTree>
    <p:extLst>
      <p:ext uri="{BB962C8B-B14F-4D97-AF65-F5344CB8AC3E}">
        <p14:creationId xmlns:p14="http://schemas.microsoft.com/office/powerpoint/2010/main" val="13625891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40D81-FFDC-94F1-0B25-0FC651E94ED7}"/>
              </a:ext>
            </a:extLst>
          </p:cNvPr>
          <p:cNvSpPr>
            <a:spLocks noGrp="1"/>
          </p:cNvSpPr>
          <p:nvPr>
            <p:ph type="title"/>
          </p:nvPr>
        </p:nvSpPr>
        <p:spPr/>
        <p:txBody>
          <a:bodyPr/>
          <a:lstStyle/>
          <a:p>
            <a:r>
              <a:rPr lang="en-US" dirty="0"/>
              <a:t>Exceptions</a:t>
            </a:r>
          </a:p>
        </p:txBody>
      </p:sp>
      <p:sp>
        <p:nvSpPr>
          <p:cNvPr id="3" name="Content Placeholder 2">
            <a:extLst>
              <a:ext uri="{FF2B5EF4-FFF2-40B4-BE49-F238E27FC236}">
                <a16:creationId xmlns:a16="http://schemas.microsoft.com/office/drawing/2014/main" id="{3DDE8DCE-3F50-D9EB-4AC2-1D8C55C74317}"/>
              </a:ext>
            </a:extLst>
          </p:cNvPr>
          <p:cNvSpPr>
            <a:spLocks noGrp="1"/>
          </p:cNvSpPr>
          <p:nvPr>
            <p:ph idx="1"/>
          </p:nvPr>
        </p:nvSpPr>
        <p:spPr/>
        <p:txBody>
          <a:bodyPr/>
          <a:lstStyle/>
          <a:p>
            <a:r>
              <a:rPr lang="en-US" dirty="0"/>
              <a:t>Error testing is usually a straightforward process involving if statements or other control mechanisms. </a:t>
            </a:r>
          </a:p>
          <a:p>
            <a:r>
              <a:rPr lang="en-US" dirty="0"/>
              <a:t>For example, the following code segment will trap a division-by-zero error before it occurs:</a:t>
            </a:r>
          </a:p>
        </p:txBody>
      </p:sp>
      <p:pic>
        <p:nvPicPr>
          <p:cNvPr id="4" name="Picture 3">
            <a:extLst>
              <a:ext uri="{FF2B5EF4-FFF2-40B4-BE49-F238E27FC236}">
                <a16:creationId xmlns:a16="http://schemas.microsoft.com/office/drawing/2014/main" id="{2F18D562-5EA6-9D2F-956E-1BD00C65CBA4}"/>
              </a:ext>
            </a:extLst>
          </p:cNvPr>
          <p:cNvPicPr>
            <a:picLocks noChangeAspect="1"/>
          </p:cNvPicPr>
          <p:nvPr/>
        </p:nvPicPr>
        <p:blipFill>
          <a:blip r:embed="rId2"/>
          <a:stretch>
            <a:fillRect/>
          </a:stretch>
        </p:blipFill>
        <p:spPr>
          <a:xfrm>
            <a:off x="3708679" y="4146016"/>
            <a:ext cx="4774641" cy="1427470"/>
          </a:xfrm>
          <a:prstGeom prst="rect">
            <a:avLst/>
          </a:prstGeom>
        </p:spPr>
      </p:pic>
    </p:spTree>
    <p:extLst>
      <p:ext uri="{BB962C8B-B14F-4D97-AF65-F5344CB8AC3E}">
        <p14:creationId xmlns:p14="http://schemas.microsoft.com/office/powerpoint/2010/main" val="17612569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EF779-3DB2-A52C-93AA-4D9CC1499A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0DD5BB-B2E7-7CF5-675F-DF79708B27D6}"/>
              </a:ext>
            </a:extLst>
          </p:cNvPr>
          <p:cNvSpPr>
            <a:spLocks noGrp="1"/>
          </p:cNvSpPr>
          <p:nvPr>
            <p:ph type="title"/>
          </p:nvPr>
        </p:nvSpPr>
        <p:spPr/>
        <p:txBody>
          <a:bodyPr/>
          <a:lstStyle/>
          <a:p>
            <a:r>
              <a:rPr lang="en-US" dirty="0"/>
              <a:t>Exceptions</a:t>
            </a:r>
          </a:p>
        </p:txBody>
      </p:sp>
      <p:sp>
        <p:nvSpPr>
          <p:cNvPr id="3" name="Content Placeholder 2">
            <a:extLst>
              <a:ext uri="{FF2B5EF4-FFF2-40B4-BE49-F238E27FC236}">
                <a16:creationId xmlns:a16="http://schemas.microsoft.com/office/drawing/2014/main" id="{6B84F292-9F58-81C7-E428-EFA183B9EF34}"/>
              </a:ext>
            </a:extLst>
          </p:cNvPr>
          <p:cNvSpPr>
            <a:spLocks noGrp="1"/>
          </p:cNvSpPr>
          <p:nvPr>
            <p:ph idx="1"/>
          </p:nvPr>
        </p:nvSpPr>
        <p:spPr/>
        <p:txBody>
          <a:bodyPr/>
          <a:lstStyle/>
          <a:p>
            <a:r>
              <a:rPr lang="en-US" dirty="0"/>
              <a:t>But what if similar code is part of a function that returns the quotient as in the following example:</a:t>
            </a:r>
          </a:p>
        </p:txBody>
      </p:sp>
      <p:pic>
        <p:nvPicPr>
          <p:cNvPr id="5" name="Picture 4">
            <a:extLst>
              <a:ext uri="{FF2B5EF4-FFF2-40B4-BE49-F238E27FC236}">
                <a16:creationId xmlns:a16="http://schemas.microsoft.com/office/drawing/2014/main" id="{22F00708-E2BC-1C67-5630-4384261BEBC5}"/>
              </a:ext>
            </a:extLst>
          </p:cNvPr>
          <p:cNvPicPr>
            <a:picLocks noChangeAspect="1"/>
          </p:cNvPicPr>
          <p:nvPr/>
        </p:nvPicPr>
        <p:blipFill>
          <a:blip r:embed="rId2"/>
          <a:stretch>
            <a:fillRect/>
          </a:stretch>
        </p:blipFill>
        <p:spPr>
          <a:xfrm>
            <a:off x="3627572" y="3038927"/>
            <a:ext cx="4936856" cy="2774043"/>
          </a:xfrm>
          <a:prstGeom prst="rect">
            <a:avLst/>
          </a:prstGeom>
        </p:spPr>
      </p:pic>
    </p:spTree>
    <p:extLst>
      <p:ext uri="{BB962C8B-B14F-4D97-AF65-F5344CB8AC3E}">
        <p14:creationId xmlns:p14="http://schemas.microsoft.com/office/powerpoint/2010/main" val="16573324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E7DB3C-E32B-12B1-F363-A6C3F9928A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9947B0-CBFD-B62A-E3C0-0CF0F7B7FE12}"/>
              </a:ext>
            </a:extLst>
          </p:cNvPr>
          <p:cNvSpPr>
            <a:spLocks noGrp="1"/>
          </p:cNvSpPr>
          <p:nvPr>
            <p:ph type="title"/>
          </p:nvPr>
        </p:nvSpPr>
        <p:spPr/>
        <p:txBody>
          <a:bodyPr/>
          <a:lstStyle/>
          <a:p>
            <a:r>
              <a:rPr lang="en-US" dirty="0"/>
              <a:t>Exceptions</a:t>
            </a:r>
          </a:p>
        </p:txBody>
      </p:sp>
      <p:sp>
        <p:nvSpPr>
          <p:cNvPr id="3" name="Content Placeholder 2">
            <a:extLst>
              <a:ext uri="{FF2B5EF4-FFF2-40B4-BE49-F238E27FC236}">
                <a16:creationId xmlns:a16="http://schemas.microsoft.com/office/drawing/2014/main" id="{90B4D648-CBBA-5340-F7D9-2584D2363D2B}"/>
              </a:ext>
            </a:extLst>
          </p:cNvPr>
          <p:cNvSpPr>
            <a:spLocks noGrp="1"/>
          </p:cNvSpPr>
          <p:nvPr>
            <p:ph idx="1"/>
          </p:nvPr>
        </p:nvSpPr>
        <p:spPr/>
        <p:txBody>
          <a:bodyPr>
            <a:normAutofit fontScale="92500" lnSpcReduction="10000"/>
          </a:bodyPr>
          <a:lstStyle/>
          <a:p>
            <a:r>
              <a:rPr lang="en-US" dirty="0"/>
              <a:t>Functions commonly signal error conditions by returning a predetermined value. </a:t>
            </a:r>
          </a:p>
          <a:p>
            <a:r>
              <a:rPr lang="en-US" dirty="0"/>
              <a:t>In this example, the function returns 0 when division by zero has been attempted. </a:t>
            </a:r>
          </a:p>
          <a:p>
            <a:r>
              <a:rPr lang="en-US" dirty="0"/>
              <a:t>This is unreliable, however, because 0 is a valid result of a division operation. </a:t>
            </a:r>
          </a:p>
          <a:p>
            <a:r>
              <a:rPr lang="en-US" dirty="0"/>
              <a:t>Even though the function displays an error message, the part of the program that calls the function will not know when an error has occurred. </a:t>
            </a:r>
          </a:p>
          <a:p>
            <a:r>
              <a:rPr lang="en-US" dirty="0"/>
              <a:t>Problems like these require more sophisticated error-handling techniques.</a:t>
            </a:r>
          </a:p>
        </p:txBody>
      </p:sp>
    </p:spTree>
    <p:extLst>
      <p:ext uri="{BB962C8B-B14F-4D97-AF65-F5344CB8AC3E}">
        <p14:creationId xmlns:p14="http://schemas.microsoft.com/office/powerpoint/2010/main" val="2210098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4F351-2979-620A-2419-A6D80F40FC32}"/>
              </a:ext>
            </a:extLst>
          </p:cNvPr>
          <p:cNvSpPr>
            <a:spLocks noGrp="1"/>
          </p:cNvSpPr>
          <p:nvPr>
            <p:ph type="title"/>
          </p:nvPr>
        </p:nvSpPr>
        <p:spPr/>
        <p:txBody>
          <a:bodyPr/>
          <a:lstStyle/>
          <a:p>
            <a:r>
              <a:rPr lang="en-US" dirty="0"/>
              <a:t>Throwing an Exception</a:t>
            </a:r>
          </a:p>
        </p:txBody>
      </p:sp>
      <p:sp>
        <p:nvSpPr>
          <p:cNvPr id="3" name="Content Placeholder 2">
            <a:extLst>
              <a:ext uri="{FF2B5EF4-FFF2-40B4-BE49-F238E27FC236}">
                <a16:creationId xmlns:a16="http://schemas.microsoft.com/office/drawing/2014/main" id="{543C14C6-FAC6-7163-A912-37283C0EFE18}"/>
              </a:ext>
            </a:extLst>
          </p:cNvPr>
          <p:cNvSpPr>
            <a:spLocks noGrp="1"/>
          </p:cNvSpPr>
          <p:nvPr>
            <p:ph idx="1"/>
          </p:nvPr>
        </p:nvSpPr>
        <p:spPr/>
        <p:txBody>
          <a:bodyPr/>
          <a:lstStyle/>
          <a:p>
            <a:r>
              <a:rPr lang="en-US" dirty="0"/>
              <a:t>One way of handling complex error conditions is with </a:t>
            </a:r>
            <a:r>
              <a:rPr lang="en-US" dirty="0">
                <a:hlinkClick r:id="rId2"/>
              </a:rPr>
              <a:t>exceptions</a:t>
            </a:r>
            <a:r>
              <a:rPr lang="en-US" dirty="0"/>
              <a:t>.</a:t>
            </a:r>
          </a:p>
          <a:p>
            <a:r>
              <a:rPr lang="en-US" dirty="0"/>
              <a:t>An exception is a value or an object that signals an error. </a:t>
            </a:r>
          </a:p>
          <a:p>
            <a:r>
              <a:rPr lang="en-US" dirty="0"/>
              <a:t>When the error occurs, an exception is said to be “thrown” because control will pass to a part of the program that catches and handles that type of error. </a:t>
            </a:r>
          </a:p>
        </p:txBody>
      </p:sp>
    </p:spTree>
    <p:extLst>
      <p:ext uri="{BB962C8B-B14F-4D97-AF65-F5344CB8AC3E}">
        <p14:creationId xmlns:p14="http://schemas.microsoft.com/office/powerpoint/2010/main" val="23145176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3E8FF7-D111-1079-0A59-75320FC753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F11FC1-06B2-F992-C80A-0440D283C120}"/>
              </a:ext>
            </a:extLst>
          </p:cNvPr>
          <p:cNvSpPr>
            <a:spLocks noGrp="1"/>
          </p:cNvSpPr>
          <p:nvPr>
            <p:ph type="title"/>
          </p:nvPr>
        </p:nvSpPr>
        <p:spPr/>
        <p:txBody>
          <a:bodyPr/>
          <a:lstStyle/>
          <a:p>
            <a:r>
              <a:rPr lang="en-US" dirty="0"/>
              <a:t>Throwing an Exception</a:t>
            </a:r>
          </a:p>
        </p:txBody>
      </p:sp>
      <p:sp>
        <p:nvSpPr>
          <p:cNvPr id="3" name="Content Placeholder 2">
            <a:extLst>
              <a:ext uri="{FF2B5EF4-FFF2-40B4-BE49-F238E27FC236}">
                <a16:creationId xmlns:a16="http://schemas.microsoft.com/office/drawing/2014/main" id="{2A52B921-2556-4934-2548-A2DEB35D98D1}"/>
              </a:ext>
            </a:extLst>
          </p:cNvPr>
          <p:cNvSpPr>
            <a:spLocks noGrp="1"/>
          </p:cNvSpPr>
          <p:nvPr>
            <p:ph idx="1"/>
          </p:nvPr>
        </p:nvSpPr>
        <p:spPr/>
        <p:txBody>
          <a:bodyPr/>
          <a:lstStyle/>
          <a:p>
            <a:r>
              <a:rPr lang="en-US" dirty="0"/>
              <a:t>For example, the following code shows the divide function, modified to throw an exception when division by zero has been attempted.</a:t>
            </a:r>
          </a:p>
        </p:txBody>
      </p:sp>
      <p:pic>
        <p:nvPicPr>
          <p:cNvPr id="4" name="Picture 3">
            <a:extLst>
              <a:ext uri="{FF2B5EF4-FFF2-40B4-BE49-F238E27FC236}">
                <a16:creationId xmlns:a16="http://schemas.microsoft.com/office/drawing/2014/main" id="{6F91527A-0A4D-57C5-A19D-A03B77B46D39}"/>
              </a:ext>
            </a:extLst>
          </p:cNvPr>
          <p:cNvPicPr>
            <a:picLocks noChangeAspect="1"/>
          </p:cNvPicPr>
          <p:nvPr/>
        </p:nvPicPr>
        <p:blipFill>
          <a:blip r:embed="rId2"/>
          <a:stretch>
            <a:fillRect/>
          </a:stretch>
        </p:blipFill>
        <p:spPr>
          <a:xfrm>
            <a:off x="3154182" y="3429000"/>
            <a:ext cx="5883635" cy="2244273"/>
          </a:xfrm>
          <a:prstGeom prst="rect">
            <a:avLst/>
          </a:prstGeom>
        </p:spPr>
      </p:pic>
    </p:spTree>
    <p:extLst>
      <p:ext uri="{BB962C8B-B14F-4D97-AF65-F5344CB8AC3E}">
        <p14:creationId xmlns:p14="http://schemas.microsoft.com/office/powerpoint/2010/main" val="3876228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F1DB5-4591-800E-5A04-9902B993D5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663B3A-3955-8A73-52F8-4FB96E2719BD}"/>
              </a:ext>
            </a:extLst>
          </p:cNvPr>
          <p:cNvSpPr>
            <a:spLocks noGrp="1"/>
          </p:cNvSpPr>
          <p:nvPr>
            <p:ph type="title"/>
          </p:nvPr>
        </p:nvSpPr>
        <p:spPr/>
        <p:txBody>
          <a:bodyPr/>
          <a:lstStyle/>
          <a:p>
            <a:r>
              <a:rPr lang="en-US" dirty="0"/>
              <a:t>Throwing an Exception</a:t>
            </a:r>
          </a:p>
        </p:txBody>
      </p:sp>
      <p:sp>
        <p:nvSpPr>
          <p:cNvPr id="3" name="Content Placeholder 2">
            <a:extLst>
              <a:ext uri="{FF2B5EF4-FFF2-40B4-BE49-F238E27FC236}">
                <a16:creationId xmlns:a16="http://schemas.microsoft.com/office/drawing/2014/main" id="{1C2CC59E-AEAE-9D64-6E62-B81278BB8344}"/>
              </a:ext>
            </a:extLst>
          </p:cNvPr>
          <p:cNvSpPr>
            <a:spLocks noGrp="1"/>
          </p:cNvSpPr>
          <p:nvPr>
            <p:ph idx="1"/>
          </p:nvPr>
        </p:nvSpPr>
        <p:spPr/>
        <p:txBody>
          <a:bodyPr/>
          <a:lstStyle/>
          <a:p>
            <a:r>
              <a:rPr lang="en-US" dirty="0"/>
              <a:t>The following statement causes the exception to be thrown.</a:t>
            </a:r>
          </a:p>
          <a:p>
            <a:endParaRPr lang="en-US" dirty="0"/>
          </a:p>
          <a:p>
            <a:endParaRPr lang="en-US" dirty="0"/>
          </a:p>
          <a:p>
            <a:r>
              <a:rPr lang="en-US" dirty="0"/>
              <a:t>The throw key word is followed by an argument, which can be any value. </a:t>
            </a:r>
          </a:p>
          <a:p>
            <a:r>
              <a:rPr lang="en-US" dirty="0"/>
              <a:t>As you will see, the type of the argument is used to determine the nature of the error. </a:t>
            </a:r>
          </a:p>
          <a:p>
            <a:r>
              <a:rPr lang="en-US" dirty="0"/>
              <a:t>The function above simply throws a string object containing a descriptive error message.</a:t>
            </a:r>
          </a:p>
        </p:txBody>
      </p:sp>
      <p:pic>
        <p:nvPicPr>
          <p:cNvPr id="5" name="Picture 4">
            <a:extLst>
              <a:ext uri="{FF2B5EF4-FFF2-40B4-BE49-F238E27FC236}">
                <a16:creationId xmlns:a16="http://schemas.microsoft.com/office/drawing/2014/main" id="{0EC02CAE-97E5-9074-151F-958090DB3D16}"/>
              </a:ext>
            </a:extLst>
          </p:cNvPr>
          <p:cNvPicPr>
            <a:picLocks noChangeAspect="1"/>
          </p:cNvPicPr>
          <p:nvPr/>
        </p:nvPicPr>
        <p:blipFill>
          <a:blip r:embed="rId2"/>
          <a:stretch>
            <a:fillRect/>
          </a:stretch>
        </p:blipFill>
        <p:spPr>
          <a:xfrm>
            <a:off x="3297311" y="2509158"/>
            <a:ext cx="5597377" cy="582386"/>
          </a:xfrm>
          <a:prstGeom prst="rect">
            <a:avLst/>
          </a:prstGeom>
        </p:spPr>
      </p:pic>
    </p:spTree>
    <p:extLst>
      <p:ext uri="{BB962C8B-B14F-4D97-AF65-F5344CB8AC3E}">
        <p14:creationId xmlns:p14="http://schemas.microsoft.com/office/powerpoint/2010/main" val="29371024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301F1-19B0-49FC-97D2-726EEF17BF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0CDE97-1BC7-C507-D97E-78BE66D8BB93}"/>
              </a:ext>
            </a:extLst>
          </p:cNvPr>
          <p:cNvSpPr>
            <a:spLocks noGrp="1"/>
          </p:cNvSpPr>
          <p:nvPr>
            <p:ph type="title"/>
          </p:nvPr>
        </p:nvSpPr>
        <p:spPr/>
        <p:txBody>
          <a:bodyPr/>
          <a:lstStyle/>
          <a:p>
            <a:r>
              <a:rPr lang="en-US" dirty="0"/>
              <a:t>Throwing an Exception</a:t>
            </a:r>
          </a:p>
        </p:txBody>
      </p:sp>
      <p:sp>
        <p:nvSpPr>
          <p:cNvPr id="3" name="Content Placeholder 2">
            <a:extLst>
              <a:ext uri="{FF2B5EF4-FFF2-40B4-BE49-F238E27FC236}">
                <a16:creationId xmlns:a16="http://schemas.microsoft.com/office/drawing/2014/main" id="{670E8F75-967E-0CEA-1BCA-0C463EEBC542}"/>
              </a:ext>
            </a:extLst>
          </p:cNvPr>
          <p:cNvSpPr>
            <a:spLocks noGrp="1"/>
          </p:cNvSpPr>
          <p:nvPr>
            <p:ph idx="1"/>
          </p:nvPr>
        </p:nvSpPr>
        <p:spPr/>
        <p:txBody>
          <a:bodyPr/>
          <a:lstStyle/>
          <a:p>
            <a:r>
              <a:rPr lang="en-US" dirty="0"/>
              <a:t>The line containing a throw statement is known as the </a:t>
            </a:r>
            <a:r>
              <a:rPr lang="en-US" b="1" dirty="0">
                <a:hlinkClick r:id="rId2">
                  <a:extLst>
                    <a:ext uri="{A12FA001-AC4F-418D-AE19-62706E023703}">
                      <ahyp:hlinkClr xmlns:ahyp="http://schemas.microsoft.com/office/drawing/2018/hyperlinkcolor" val="tx"/>
                    </a:ext>
                  </a:extLst>
                </a:hlinkClick>
              </a:rPr>
              <a:t>throw point</a:t>
            </a:r>
            <a:r>
              <a:rPr lang="en-US" b="1" dirty="0"/>
              <a:t>.</a:t>
            </a:r>
          </a:p>
          <a:p>
            <a:pPr marL="0" indent="0">
              <a:buNone/>
            </a:pPr>
            <a:endParaRPr lang="en-US" b="1" dirty="0"/>
          </a:p>
          <a:p>
            <a:r>
              <a:rPr lang="en-US" dirty="0"/>
              <a:t>When a throw statement is executed, control is passed to another part of the program known as an </a:t>
            </a:r>
            <a:r>
              <a:rPr lang="en-US" b="1" dirty="0">
                <a:hlinkClick r:id="rId2">
                  <a:extLst>
                    <a:ext uri="{A12FA001-AC4F-418D-AE19-62706E023703}">
                      <ahyp:hlinkClr xmlns:ahyp="http://schemas.microsoft.com/office/drawing/2018/hyperlinkcolor" val="tx"/>
                    </a:ext>
                  </a:extLst>
                </a:hlinkClick>
              </a:rPr>
              <a:t>exception handler</a:t>
            </a:r>
            <a:endParaRPr lang="en-US" b="1" dirty="0"/>
          </a:p>
        </p:txBody>
      </p:sp>
    </p:spTree>
    <p:extLst>
      <p:ext uri="{BB962C8B-B14F-4D97-AF65-F5344CB8AC3E}">
        <p14:creationId xmlns:p14="http://schemas.microsoft.com/office/powerpoint/2010/main" val="30569644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E61C1-4A93-E290-EAD5-D15FC3C0268F}"/>
              </a:ext>
            </a:extLst>
          </p:cNvPr>
          <p:cNvSpPr>
            <a:spLocks noGrp="1"/>
          </p:cNvSpPr>
          <p:nvPr>
            <p:ph type="title"/>
          </p:nvPr>
        </p:nvSpPr>
        <p:spPr/>
        <p:txBody>
          <a:bodyPr/>
          <a:lstStyle/>
          <a:p>
            <a:r>
              <a:rPr lang="en-US" dirty="0"/>
              <a:t>Handling an Exception</a:t>
            </a:r>
          </a:p>
        </p:txBody>
      </p:sp>
      <p:sp>
        <p:nvSpPr>
          <p:cNvPr id="3" name="Content Placeholder 2">
            <a:extLst>
              <a:ext uri="{FF2B5EF4-FFF2-40B4-BE49-F238E27FC236}">
                <a16:creationId xmlns:a16="http://schemas.microsoft.com/office/drawing/2014/main" id="{0AC08084-31D0-CD5F-EB06-C30E37AFA91F}"/>
              </a:ext>
            </a:extLst>
          </p:cNvPr>
          <p:cNvSpPr>
            <a:spLocks noGrp="1"/>
          </p:cNvSpPr>
          <p:nvPr>
            <p:ph idx="1"/>
          </p:nvPr>
        </p:nvSpPr>
        <p:spPr/>
        <p:txBody>
          <a:bodyPr/>
          <a:lstStyle/>
          <a:p>
            <a:r>
              <a:rPr lang="en-US" dirty="0"/>
              <a:t>To handle an exception, a program must have a </a:t>
            </a:r>
            <a:r>
              <a:rPr lang="en-US" dirty="0">
                <a:hlinkClick r:id="rId2"/>
              </a:rPr>
              <a:t>try/catch</a:t>
            </a:r>
            <a:r>
              <a:rPr lang="en-US" dirty="0"/>
              <a:t> construct. </a:t>
            </a:r>
          </a:p>
          <a:p>
            <a:r>
              <a:rPr lang="en-US" dirty="0"/>
              <a:t>The general format of the try/catch construct is:</a:t>
            </a:r>
          </a:p>
        </p:txBody>
      </p:sp>
      <p:pic>
        <p:nvPicPr>
          <p:cNvPr id="4" name="Picture 3">
            <a:extLst>
              <a:ext uri="{FF2B5EF4-FFF2-40B4-BE49-F238E27FC236}">
                <a16:creationId xmlns:a16="http://schemas.microsoft.com/office/drawing/2014/main" id="{504AFE36-9B87-1286-9113-8C5A4542DAC3}"/>
              </a:ext>
            </a:extLst>
          </p:cNvPr>
          <p:cNvPicPr>
            <a:picLocks noChangeAspect="1"/>
          </p:cNvPicPr>
          <p:nvPr/>
        </p:nvPicPr>
        <p:blipFill>
          <a:blip r:embed="rId3"/>
          <a:stretch>
            <a:fillRect/>
          </a:stretch>
        </p:blipFill>
        <p:spPr>
          <a:xfrm>
            <a:off x="3636117" y="3429000"/>
            <a:ext cx="4919766" cy="2881993"/>
          </a:xfrm>
          <a:prstGeom prst="rect">
            <a:avLst/>
          </a:prstGeom>
        </p:spPr>
      </p:pic>
    </p:spTree>
    <p:extLst>
      <p:ext uri="{BB962C8B-B14F-4D97-AF65-F5344CB8AC3E}">
        <p14:creationId xmlns:p14="http://schemas.microsoft.com/office/powerpoint/2010/main" val="38633705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D1B496-12C8-0C1C-996A-59672B6876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1177A1-4731-9EE4-7E47-BE5FA2A2A52E}"/>
              </a:ext>
            </a:extLst>
          </p:cNvPr>
          <p:cNvSpPr>
            <a:spLocks noGrp="1"/>
          </p:cNvSpPr>
          <p:nvPr>
            <p:ph type="title"/>
          </p:nvPr>
        </p:nvSpPr>
        <p:spPr/>
        <p:txBody>
          <a:bodyPr/>
          <a:lstStyle/>
          <a:p>
            <a:r>
              <a:rPr lang="en-US" dirty="0"/>
              <a:t>Handling an Exception</a:t>
            </a:r>
          </a:p>
        </p:txBody>
      </p:sp>
      <p:sp>
        <p:nvSpPr>
          <p:cNvPr id="3" name="Content Placeholder 2">
            <a:extLst>
              <a:ext uri="{FF2B5EF4-FFF2-40B4-BE49-F238E27FC236}">
                <a16:creationId xmlns:a16="http://schemas.microsoft.com/office/drawing/2014/main" id="{36FABF50-1558-3094-CD7B-EC5D00AFB021}"/>
              </a:ext>
            </a:extLst>
          </p:cNvPr>
          <p:cNvSpPr>
            <a:spLocks noGrp="1"/>
          </p:cNvSpPr>
          <p:nvPr>
            <p:ph idx="1"/>
          </p:nvPr>
        </p:nvSpPr>
        <p:spPr>
          <a:xfrm>
            <a:off x="452927" y="1825625"/>
            <a:ext cx="6511895" cy="4351338"/>
          </a:xfrm>
        </p:spPr>
        <p:txBody>
          <a:bodyPr>
            <a:normAutofit fontScale="92500" lnSpcReduction="20000"/>
          </a:bodyPr>
          <a:lstStyle/>
          <a:p>
            <a:r>
              <a:rPr lang="en-US" dirty="0"/>
              <a:t>The first part of the construct is the </a:t>
            </a:r>
            <a:r>
              <a:rPr lang="en-US" dirty="0">
                <a:hlinkClick r:id="rId2"/>
              </a:rPr>
              <a:t>try block</a:t>
            </a:r>
            <a:r>
              <a:rPr lang="en-US" dirty="0"/>
              <a:t>. </a:t>
            </a:r>
          </a:p>
          <a:p>
            <a:r>
              <a:rPr lang="en-US" dirty="0"/>
              <a:t>This starts with the key word try and is followed by a block of code executing any statements that might directly or indirectly cause an exception to be thrown. </a:t>
            </a:r>
          </a:p>
          <a:p>
            <a:r>
              <a:rPr lang="en-US" dirty="0"/>
              <a:t>The try block is immediately followed by one or more </a:t>
            </a:r>
            <a:r>
              <a:rPr lang="en-US" dirty="0">
                <a:hlinkClick r:id="rId2"/>
              </a:rPr>
              <a:t>catch blocks</a:t>
            </a:r>
            <a:r>
              <a:rPr lang="en-US" dirty="0"/>
              <a:t>, which are the exception handlers. </a:t>
            </a:r>
          </a:p>
          <a:p>
            <a:r>
              <a:rPr lang="en-US" dirty="0"/>
              <a:t>A catch block starts with the key word catch, followed by a set of parentheses containing the declaration of an exception parameter.</a:t>
            </a:r>
          </a:p>
        </p:txBody>
      </p:sp>
      <p:pic>
        <p:nvPicPr>
          <p:cNvPr id="4" name="Picture 3">
            <a:extLst>
              <a:ext uri="{FF2B5EF4-FFF2-40B4-BE49-F238E27FC236}">
                <a16:creationId xmlns:a16="http://schemas.microsoft.com/office/drawing/2014/main" id="{A98EE813-8B10-997B-0D86-963F299F5524}"/>
              </a:ext>
            </a:extLst>
          </p:cNvPr>
          <p:cNvPicPr>
            <a:picLocks noChangeAspect="1"/>
          </p:cNvPicPr>
          <p:nvPr/>
        </p:nvPicPr>
        <p:blipFill>
          <a:blip r:embed="rId3"/>
          <a:stretch>
            <a:fillRect/>
          </a:stretch>
        </p:blipFill>
        <p:spPr>
          <a:xfrm>
            <a:off x="7105710" y="2121494"/>
            <a:ext cx="4919766" cy="2881993"/>
          </a:xfrm>
          <a:prstGeom prst="rect">
            <a:avLst/>
          </a:prstGeom>
        </p:spPr>
      </p:pic>
    </p:spTree>
    <p:extLst>
      <p:ext uri="{BB962C8B-B14F-4D97-AF65-F5344CB8AC3E}">
        <p14:creationId xmlns:p14="http://schemas.microsoft.com/office/powerpoint/2010/main" val="39513014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86DB7-E582-2EA3-AC5E-27B46A477CBA}"/>
              </a:ext>
            </a:extLst>
          </p:cNvPr>
          <p:cNvSpPr>
            <a:spLocks noGrp="1"/>
          </p:cNvSpPr>
          <p:nvPr>
            <p:ph type="title"/>
          </p:nvPr>
        </p:nvSpPr>
        <p:spPr/>
        <p:txBody>
          <a:bodyPr/>
          <a:lstStyle/>
          <a:p>
            <a:r>
              <a:rPr lang="en-US" dirty="0"/>
              <a:t>Handling an Exception</a:t>
            </a:r>
          </a:p>
        </p:txBody>
      </p:sp>
      <p:sp>
        <p:nvSpPr>
          <p:cNvPr id="3" name="Content Placeholder 2">
            <a:extLst>
              <a:ext uri="{FF2B5EF4-FFF2-40B4-BE49-F238E27FC236}">
                <a16:creationId xmlns:a16="http://schemas.microsoft.com/office/drawing/2014/main" id="{7FB8AADB-B3EC-29DF-6788-08DB55D55C15}"/>
              </a:ext>
            </a:extLst>
          </p:cNvPr>
          <p:cNvSpPr>
            <a:spLocks noGrp="1"/>
          </p:cNvSpPr>
          <p:nvPr>
            <p:ph idx="1"/>
          </p:nvPr>
        </p:nvSpPr>
        <p:spPr/>
        <p:txBody>
          <a:bodyPr>
            <a:normAutofit lnSpcReduction="10000"/>
          </a:bodyPr>
          <a:lstStyle/>
          <a:p>
            <a:r>
              <a:rPr lang="en-US" dirty="0"/>
              <a:t>Here is a try/catch construct that can be used with the divide function:</a:t>
            </a:r>
          </a:p>
          <a:p>
            <a:endParaRPr lang="en-US" dirty="0"/>
          </a:p>
          <a:p>
            <a:endParaRPr lang="en-US" dirty="0"/>
          </a:p>
          <a:p>
            <a:endParaRPr lang="en-US" dirty="0"/>
          </a:p>
          <a:p>
            <a:endParaRPr lang="en-US" dirty="0"/>
          </a:p>
          <a:p>
            <a:r>
              <a:rPr lang="en-US" dirty="0"/>
              <a:t>Because the divide function throws an exception whose type is a string, there must be an exception handler that catches a string.</a:t>
            </a:r>
          </a:p>
          <a:p>
            <a:r>
              <a:rPr lang="en-US" dirty="0"/>
              <a:t>The catch block shown catches the error message in the </a:t>
            </a:r>
            <a:r>
              <a:rPr lang="en-US" i="1" dirty="0" err="1">
                <a:solidFill>
                  <a:srgbClr val="0070C0"/>
                </a:solidFill>
              </a:rPr>
              <a:t>exceptionString</a:t>
            </a:r>
            <a:r>
              <a:rPr lang="en-US" dirty="0"/>
              <a:t> parameter, then displays it with </a:t>
            </a:r>
            <a:r>
              <a:rPr lang="en-US" i="1" dirty="0" err="1">
                <a:solidFill>
                  <a:srgbClr val="0070C0"/>
                </a:solidFill>
              </a:rPr>
              <a:t>cout</a:t>
            </a:r>
            <a:r>
              <a:rPr lang="en-US" i="1" dirty="0">
                <a:solidFill>
                  <a:srgbClr val="0070C0"/>
                </a:solidFill>
              </a:rPr>
              <a:t>.</a:t>
            </a:r>
          </a:p>
        </p:txBody>
      </p:sp>
      <p:pic>
        <p:nvPicPr>
          <p:cNvPr id="4" name="Picture 3">
            <a:extLst>
              <a:ext uri="{FF2B5EF4-FFF2-40B4-BE49-F238E27FC236}">
                <a16:creationId xmlns:a16="http://schemas.microsoft.com/office/drawing/2014/main" id="{8E6C8B37-3948-18CA-34B8-DB6735C913AA}"/>
              </a:ext>
            </a:extLst>
          </p:cNvPr>
          <p:cNvPicPr>
            <a:picLocks noChangeAspect="1"/>
          </p:cNvPicPr>
          <p:nvPr/>
        </p:nvPicPr>
        <p:blipFill>
          <a:blip r:embed="rId3"/>
          <a:stretch>
            <a:fillRect/>
          </a:stretch>
        </p:blipFill>
        <p:spPr>
          <a:xfrm>
            <a:off x="4048980" y="2351324"/>
            <a:ext cx="4094040" cy="2035710"/>
          </a:xfrm>
          <a:prstGeom prst="rect">
            <a:avLst/>
          </a:prstGeom>
        </p:spPr>
      </p:pic>
    </p:spTree>
    <p:extLst>
      <p:ext uri="{BB962C8B-B14F-4D97-AF65-F5344CB8AC3E}">
        <p14:creationId xmlns:p14="http://schemas.microsoft.com/office/powerpoint/2010/main" val="1105788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26625-6AF2-08BE-3190-B1262EF10A98}"/>
              </a:ext>
            </a:extLst>
          </p:cNvPr>
          <p:cNvSpPr>
            <a:spLocks noGrp="1"/>
          </p:cNvSpPr>
          <p:nvPr>
            <p:ph type="title"/>
          </p:nvPr>
        </p:nvSpPr>
        <p:spPr/>
        <p:txBody>
          <a:bodyPr/>
          <a:lstStyle/>
          <a:p>
            <a:r>
              <a:rPr lang="en-US" dirty="0"/>
              <a:t>Complete example</a:t>
            </a:r>
          </a:p>
        </p:txBody>
      </p:sp>
      <p:pic>
        <p:nvPicPr>
          <p:cNvPr id="4" name="Picture 3">
            <a:extLst>
              <a:ext uri="{FF2B5EF4-FFF2-40B4-BE49-F238E27FC236}">
                <a16:creationId xmlns:a16="http://schemas.microsoft.com/office/drawing/2014/main" id="{B49BF18B-9E95-911E-CA65-0264F115B2F6}"/>
              </a:ext>
            </a:extLst>
          </p:cNvPr>
          <p:cNvPicPr>
            <a:picLocks noChangeAspect="1"/>
          </p:cNvPicPr>
          <p:nvPr/>
        </p:nvPicPr>
        <p:blipFill>
          <a:blip r:embed="rId3"/>
          <a:stretch>
            <a:fillRect/>
          </a:stretch>
        </p:blipFill>
        <p:spPr>
          <a:xfrm>
            <a:off x="6521450" y="0"/>
            <a:ext cx="4396693" cy="6858000"/>
          </a:xfrm>
          <a:prstGeom prst="rect">
            <a:avLst/>
          </a:prstGeom>
        </p:spPr>
      </p:pic>
      <p:pic>
        <p:nvPicPr>
          <p:cNvPr id="5" name="Picture 4">
            <a:extLst>
              <a:ext uri="{FF2B5EF4-FFF2-40B4-BE49-F238E27FC236}">
                <a16:creationId xmlns:a16="http://schemas.microsoft.com/office/drawing/2014/main" id="{B838D4D7-41F4-2393-7202-3167CB982865}"/>
              </a:ext>
            </a:extLst>
          </p:cNvPr>
          <p:cNvPicPr>
            <a:picLocks noChangeAspect="1"/>
          </p:cNvPicPr>
          <p:nvPr/>
        </p:nvPicPr>
        <p:blipFill>
          <a:blip r:embed="rId4"/>
          <a:stretch>
            <a:fillRect/>
          </a:stretch>
        </p:blipFill>
        <p:spPr>
          <a:xfrm>
            <a:off x="988786" y="2460170"/>
            <a:ext cx="4533203" cy="3243943"/>
          </a:xfrm>
          <a:prstGeom prst="rect">
            <a:avLst/>
          </a:prstGeom>
        </p:spPr>
      </p:pic>
    </p:spTree>
    <p:extLst>
      <p:ext uri="{BB962C8B-B14F-4D97-AF65-F5344CB8AC3E}">
        <p14:creationId xmlns:p14="http://schemas.microsoft.com/office/powerpoint/2010/main" val="21630180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60301-7DF4-BF77-30E5-F99BC092D435}"/>
              </a:ext>
            </a:extLst>
          </p:cNvPr>
          <p:cNvSpPr>
            <a:spLocks noGrp="1"/>
          </p:cNvSpPr>
          <p:nvPr>
            <p:ph type="title"/>
          </p:nvPr>
        </p:nvSpPr>
        <p:spPr/>
        <p:txBody>
          <a:bodyPr/>
          <a:lstStyle/>
          <a:p>
            <a:r>
              <a:rPr lang="en-US" dirty="0"/>
              <a:t>What If an Exception Is Not Caught?</a:t>
            </a:r>
          </a:p>
        </p:txBody>
      </p:sp>
      <p:sp>
        <p:nvSpPr>
          <p:cNvPr id="3" name="Content Placeholder 2">
            <a:extLst>
              <a:ext uri="{FF2B5EF4-FFF2-40B4-BE49-F238E27FC236}">
                <a16:creationId xmlns:a16="http://schemas.microsoft.com/office/drawing/2014/main" id="{22D30388-AEBA-12A1-830C-34E39AB052AA}"/>
              </a:ext>
            </a:extLst>
          </p:cNvPr>
          <p:cNvSpPr>
            <a:spLocks noGrp="1"/>
          </p:cNvSpPr>
          <p:nvPr>
            <p:ph idx="1"/>
          </p:nvPr>
        </p:nvSpPr>
        <p:spPr/>
        <p:txBody>
          <a:bodyPr/>
          <a:lstStyle/>
          <a:p>
            <a:r>
              <a:rPr lang="en-US" dirty="0"/>
              <a:t>There are two possible ways for a thrown exception to go uncaught. </a:t>
            </a:r>
          </a:p>
          <a:p>
            <a:r>
              <a:rPr lang="en-US" dirty="0"/>
              <a:t>The first possibility is for the program to contain no catch blocks with an exception parameter of the right data type. </a:t>
            </a:r>
          </a:p>
          <a:p>
            <a:r>
              <a:rPr lang="en-US" dirty="0"/>
              <a:t>The second possibility is for the exception to be thrown from outside a try block. </a:t>
            </a:r>
          </a:p>
          <a:p>
            <a:r>
              <a:rPr lang="en-US" b="1" dirty="0"/>
              <a:t>In either case, the exception will cause the entire program to abort execution.</a:t>
            </a:r>
          </a:p>
        </p:txBody>
      </p:sp>
    </p:spTree>
    <p:extLst>
      <p:ext uri="{BB962C8B-B14F-4D97-AF65-F5344CB8AC3E}">
        <p14:creationId xmlns:p14="http://schemas.microsoft.com/office/powerpoint/2010/main" val="14364589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199BF-C985-741F-B8DC-59C5AA07CAA3}"/>
              </a:ext>
            </a:extLst>
          </p:cNvPr>
          <p:cNvSpPr>
            <a:spLocks noGrp="1"/>
          </p:cNvSpPr>
          <p:nvPr>
            <p:ph type="title"/>
          </p:nvPr>
        </p:nvSpPr>
        <p:spPr/>
        <p:txBody>
          <a:bodyPr/>
          <a:lstStyle/>
          <a:p>
            <a:r>
              <a:rPr lang="en-US" dirty="0"/>
              <a:t>Object-Oriented Exception Handling with Classes</a:t>
            </a:r>
          </a:p>
        </p:txBody>
      </p:sp>
      <p:sp>
        <p:nvSpPr>
          <p:cNvPr id="3" name="Content Placeholder 2">
            <a:extLst>
              <a:ext uri="{FF2B5EF4-FFF2-40B4-BE49-F238E27FC236}">
                <a16:creationId xmlns:a16="http://schemas.microsoft.com/office/drawing/2014/main" id="{FDBA221C-04E6-4353-DA2C-C74CF86F120C}"/>
              </a:ext>
            </a:extLst>
          </p:cNvPr>
          <p:cNvSpPr>
            <a:spLocks noGrp="1"/>
          </p:cNvSpPr>
          <p:nvPr>
            <p:ph idx="1"/>
          </p:nvPr>
        </p:nvSpPr>
        <p:spPr/>
        <p:txBody>
          <a:bodyPr/>
          <a:lstStyle/>
          <a:p>
            <a:r>
              <a:rPr lang="en-US" dirty="0"/>
              <a:t>Now that you have an idea of how the exception mechanism in C++ works, we will examine an object-oriented approach to exception handling.</a:t>
            </a:r>
          </a:p>
        </p:txBody>
      </p:sp>
    </p:spTree>
    <p:extLst>
      <p:ext uri="{BB962C8B-B14F-4D97-AF65-F5344CB8AC3E}">
        <p14:creationId xmlns:p14="http://schemas.microsoft.com/office/powerpoint/2010/main" val="16047383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0D614-6DE4-424F-4068-036938FE8B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FF93F8-63F4-CDBC-F863-9C9F60B050A4}"/>
              </a:ext>
            </a:extLst>
          </p:cNvPr>
          <p:cNvSpPr>
            <a:spLocks noGrp="1"/>
          </p:cNvSpPr>
          <p:nvPr>
            <p:ph type="title"/>
          </p:nvPr>
        </p:nvSpPr>
        <p:spPr>
          <a:xfrm>
            <a:off x="838200" y="365125"/>
            <a:ext cx="6879771" cy="1325563"/>
          </a:xfrm>
        </p:spPr>
        <p:txBody>
          <a:bodyPr/>
          <a:lstStyle/>
          <a:p>
            <a:r>
              <a:rPr lang="en-US" dirty="0"/>
              <a:t>Object-Oriented Exception Handling with Classes</a:t>
            </a:r>
          </a:p>
        </p:txBody>
      </p:sp>
      <p:sp>
        <p:nvSpPr>
          <p:cNvPr id="3" name="Content Placeholder 2">
            <a:extLst>
              <a:ext uri="{FF2B5EF4-FFF2-40B4-BE49-F238E27FC236}">
                <a16:creationId xmlns:a16="http://schemas.microsoft.com/office/drawing/2014/main" id="{D66B1901-A4D2-D5BB-39E9-C649AA118E59}"/>
              </a:ext>
            </a:extLst>
          </p:cNvPr>
          <p:cNvSpPr>
            <a:spLocks noGrp="1"/>
          </p:cNvSpPr>
          <p:nvPr>
            <p:ph idx="1"/>
          </p:nvPr>
        </p:nvSpPr>
        <p:spPr>
          <a:xfrm>
            <a:off x="641645" y="1842715"/>
            <a:ext cx="6964112" cy="4737547"/>
          </a:xfrm>
        </p:spPr>
        <p:txBody>
          <a:bodyPr>
            <a:normAutofit fontScale="92500" lnSpcReduction="20000"/>
          </a:bodyPr>
          <a:lstStyle/>
          <a:p>
            <a:pPr algn="l"/>
            <a:r>
              <a:rPr lang="en-US" dirty="0" err="1">
                <a:effectLst/>
              </a:rPr>
              <a:t>IntRange</a:t>
            </a:r>
            <a:r>
              <a:rPr lang="en-US" dirty="0">
                <a:effectLst/>
              </a:rPr>
              <a:t> is a simple class whose member function, </a:t>
            </a:r>
            <a:r>
              <a:rPr lang="en-US" dirty="0" err="1">
                <a:effectLst/>
              </a:rPr>
              <a:t>getInput</a:t>
            </a:r>
            <a:r>
              <a:rPr lang="en-US" dirty="0">
                <a:effectLst/>
              </a:rPr>
              <a:t>, lets the user enter an integer value. </a:t>
            </a:r>
          </a:p>
          <a:p>
            <a:pPr algn="l"/>
            <a:r>
              <a:rPr lang="en-US" dirty="0">
                <a:effectLst/>
              </a:rPr>
              <a:t>The value is compared against the member variables lower and upper (which are initialized by the class constructor). </a:t>
            </a:r>
          </a:p>
          <a:p>
            <a:pPr algn="l"/>
            <a:r>
              <a:rPr lang="en-US" dirty="0">
                <a:effectLst/>
              </a:rPr>
              <a:t>If the value entered is less than lower or greater than upper, an exception is thrown indicating the value is out of range. </a:t>
            </a:r>
          </a:p>
          <a:p>
            <a:pPr algn="l"/>
            <a:r>
              <a:rPr lang="en-US" dirty="0">
                <a:effectLst/>
              </a:rPr>
              <a:t>Otherwise, the value is returned from the function.</a:t>
            </a:r>
          </a:p>
          <a:p>
            <a:pPr algn="l"/>
            <a:r>
              <a:rPr lang="en-US" dirty="0">
                <a:effectLst/>
              </a:rPr>
              <a:t>Instead of throwing a string or some value of a primitive type, this function throws an </a:t>
            </a:r>
            <a:r>
              <a:rPr lang="en-US" b="1" dirty="0">
                <a:effectLst/>
                <a:hlinkClick r:id="rId3">
                  <a:extLst>
                    <a:ext uri="{A12FA001-AC4F-418D-AE19-62706E023703}">
                      <ahyp:hlinkClr xmlns:ahyp="http://schemas.microsoft.com/office/drawing/2018/hyperlinkcolor" val="tx"/>
                    </a:ext>
                  </a:extLst>
                </a:hlinkClick>
              </a:rPr>
              <a:t>exception class</a:t>
            </a:r>
            <a:r>
              <a:rPr lang="en-US" b="1" dirty="0">
                <a:effectLst/>
              </a:rPr>
              <a:t>.</a:t>
            </a:r>
          </a:p>
        </p:txBody>
      </p:sp>
      <p:pic>
        <p:nvPicPr>
          <p:cNvPr id="4" name="Picture 3">
            <a:extLst>
              <a:ext uri="{FF2B5EF4-FFF2-40B4-BE49-F238E27FC236}">
                <a16:creationId xmlns:a16="http://schemas.microsoft.com/office/drawing/2014/main" id="{5AF18507-85DA-D37E-805B-232ECD45A286}"/>
              </a:ext>
            </a:extLst>
          </p:cNvPr>
          <p:cNvPicPr>
            <a:picLocks noChangeAspect="1"/>
          </p:cNvPicPr>
          <p:nvPr/>
        </p:nvPicPr>
        <p:blipFill>
          <a:blip r:embed="rId4"/>
          <a:stretch>
            <a:fillRect/>
          </a:stretch>
        </p:blipFill>
        <p:spPr>
          <a:xfrm>
            <a:off x="7717971" y="0"/>
            <a:ext cx="4143880" cy="6858000"/>
          </a:xfrm>
          <a:prstGeom prst="rect">
            <a:avLst/>
          </a:prstGeom>
        </p:spPr>
      </p:pic>
    </p:spTree>
    <p:extLst>
      <p:ext uri="{BB962C8B-B14F-4D97-AF65-F5344CB8AC3E}">
        <p14:creationId xmlns:p14="http://schemas.microsoft.com/office/powerpoint/2010/main" val="34914888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E666F-3C13-5C47-497C-858B04DFA229}"/>
              </a:ext>
            </a:extLst>
          </p:cNvPr>
          <p:cNvSpPr>
            <a:spLocks noGrp="1"/>
          </p:cNvSpPr>
          <p:nvPr>
            <p:ph type="title"/>
          </p:nvPr>
        </p:nvSpPr>
        <p:spPr/>
        <p:txBody>
          <a:bodyPr/>
          <a:lstStyle/>
          <a:p>
            <a:r>
              <a:rPr lang="en-US" dirty="0"/>
              <a:t>Object-Oriented Exception Handling with Classes</a:t>
            </a:r>
          </a:p>
        </p:txBody>
      </p:sp>
      <p:sp>
        <p:nvSpPr>
          <p:cNvPr id="3" name="Content Placeholder 2">
            <a:extLst>
              <a:ext uri="{FF2B5EF4-FFF2-40B4-BE49-F238E27FC236}">
                <a16:creationId xmlns:a16="http://schemas.microsoft.com/office/drawing/2014/main" id="{88AD7DBA-36F7-E828-CE01-43B6144126F6}"/>
              </a:ext>
            </a:extLst>
          </p:cNvPr>
          <p:cNvSpPr>
            <a:spLocks noGrp="1"/>
          </p:cNvSpPr>
          <p:nvPr>
            <p:ph idx="1"/>
          </p:nvPr>
        </p:nvSpPr>
        <p:spPr/>
        <p:txBody>
          <a:bodyPr/>
          <a:lstStyle/>
          <a:p>
            <a:r>
              <a:rPr lang="en-US" dirty="0">
                <a:effectLst/>
              </a:rPr>
              <a:t>Notice the empty class declaration that appears in the public section:</a:t>
            </a:r>
          </a:p>
          <a:p>
            <a:endParaRPr lang="en-US" dirty="0"/>
          </a:p>
          <a:p>
            <a:endParaRPr lang="en-US" dirty="0">
              <a:effectLst/>
            </a:endParaRPr>
          </a:p>
          <a:p>
            <a:r>
              <a:rPr lang="en-US" dirty="0"/>
              <a:t>The only important part of this class is its name, which will be used by the exception-handling code. </a:t>
            </a:r>
          </a:p>
          <a:p>
            <a:r>
              <a:rPr lang="en-US" dirty="0"/>
              <a:t>Look at the if statement in the </a:t>
            </a:r>
            <a:r>
              <a:rPr lang="en-US" i="1" dirty="0" err="1">
                <a:solidFill>
                  <a:srgbClr val="FF0000"/>
                </a:solidFill>
              </a:rPr>
              <a:t>getinput</a:t>
            </a:r>
            <a:r>
              <a:rPr lang="en-US" dirty="0"/>
              <a:t> function:</a:t>
            </a:r>
            <a:endParaRPr lang="en-US" dirty="0">
              <a:effectLst/>
            </a:endParaRPr>
          </a:p>
          <a:p>
            <a:endParaRPr lang="en-US" dirty="0"/>
          </a:p>
        </p:txBody>
      </p:sp>
      <p:pic>
        <p:nvPicPr>
          <p:cNvPr id="4" name="Picture 3">
            <a:extLst>
              <a:ext uri="{FF2B5EF4-FFF2-40B4-BE49-F238E27FC236}">
                <a16:creationId xmlns:a16="http://schemas.microsoft.com/office/drawing/2014/main" id="{ECBAEC7B-D813-8B47-0B00-6EA14E1BB30E}"/>
              </a:ext>
            </a:extLst>
          </p:cNvPr>
          <p:cNvPicPr>
            <a:picLocks noChangeAspect="1"/>
          </p:cNvPicPr>
          <p:nvPr/>
        </p:nvPicPr>
        <p:blipFill>
          <a:blip r:embed="rId3"/>
          <a:stretch>
            <a:fillRect/>
          </a:stretch>
        </p:blipFill>
        <p:spPr>
          <a:xfrm>
            <a:off x="3410857" y="2647043"/>
            <a:ext cx="5182918" cy="890814"/>
          </a:xfrm>
          <a:prstGeom prst="rect">
            <a:avLst/>
          </a:prstGeom>
        </p:spPr>
      </p:pic>
      <p:pic>
        <p:nvPicPr>
          <p:cNvPr id="5" name="Picture 4">
            <a:extLst>
              <a:ext uri="{FF2B5EF4-FFF2-40B4-BE49-F238E27FC236}">
                <a16:creationId xmlns:a16="http://schemas.microsoft.com/office/drawing/2014/main" id="{EBE56B18-0848-0B2C-760F-7B3C38410F59}"/>
              </a:ext>
            </a:extLst>
          </p:cNvPr>
          <p:cNvPicPr>
            <a:picLocks noChangeAspect="1"/>
          </p:cNvPicPr>
          <p:nvPr/>
        </p:nvPicPr>
        <p:blipFill>
          <a:blip r:embed="rId4"/>
          <a:stretch>
            <a:fillRect/>
          </a:stretch>
        </p:blipFill>
        <p:spPr>
          <a:xfrm>
            <a:off x="3857090" y="5288587"/>
            <a:ext cx="4477819" cy="895564"/>
          </a:xfrm>
          <a:prstGeom prst="rect">
            <a:avLst/>
          </a:prstGeom>
        </p:spPr>
      </p:pic>
    </p:spTree>
    <p:extLst>
      <p:ext uri="{BB962C8B-B14F-4D97-AF65-F5344CB8AC3E}">
        <p14:creationId xmlns:p14="http://schemas.microsoft.com/office/powerpoint/2010/main" val="23301911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2F9F6-1EC3-3765-03C4-86273DF492F6}"/>
              </a:ext>
            </a:extLst>
          </p:cNvPr>
          <p:cNvSpPr>
            <a:spLocks noGrp="1"/>
          </p:cNvSpPr>
          <p:nvPr>
            <p:ph type="title"/>
          </p:nvPr>
        </p:nvSpPr>
        <p:spPr/>
        <p:txBody>
          <a:bodyPr/>
          <a:lstStyle/>
          <a:p>
            <a:r>
              <a:rPr lang="en-US" dirty="0"/>
              <a:t>Object-Oriented Exception Handling with Classes</a:t>
            </a:r>
          </a:p>
        </p:txBody>
      </p:sp>
      <p:sp>
        <p:nvSpPr>
          <p:cNvPr id="3" name="Content Placeholder 2">
            <a:extLst>
              <a:ext uri="{FF2B5EF4-FFF2-40B4-BE49-F238E27FC236}">
                <a16:creationId xmlns:a16="http://schemas.microsoft.com/office/drawing/2014/main" id="{C27F2E7F-E837-3300-20CD-E4F7DC76E04D}"/>
              </a:ext>
            </a:extLst>
          </p:cNvPr>
          <p:cNvSpPr>
            <a:spLocks noGrp="1"/>
          </p:cNvSpPr>
          <p:nvPr>
            <p:ph idx="1"/>
          </p:nvPr>
        </p:nvSpPr>
        <p:spPr/>
        <p:txBody>
          <a:bodyPr/>
          <a:lstStyle/>
          <a:p>
            <a:r>
              <a:rPr lang="en-US" dirty="0"/>
              <a:t>The throw statement’s argument, </a:t>
            </a:r>
            <a:r>
              <a:rPr lang="en-US" i="1" dirty="0" err="1">
                <a:solidFill>
                  <a:srgbClr val="FF0000"/>
                </a:solidFill>
              </a:rPr>
              <a:t>OutOfRange</a:t>
            </a:r>
            <a:r>
              <a:rPr lang="en-US" i="1" dirty="0">
                <a:solidFill>
                  <a:srgbClr val="FF0000"/>
                </a:solidFill>
              </a:rPr>
              <a:t>(), </a:t>
            </a:r>
            <a:r>
              <a:rPr lang="en-US" dirty="0"/>
              <a:t>causes an instance of the </a:t>
            </a:r>
            <a:r>
              <a:rPr lang="en-US" i="1" dirty="0" err="1">
                <a:solidFill>
                  <a:srgbClr val="FF0000"/>
                </a:solidFill>
              </a:rPr>
              <a:t>OutOfRange</a:t>
            </a:r>
            <a:r>
              <a:rPr lang="en-US" dirty="0"/>
              <a:t> class to be created and thrown as an exception. </a:t>
            </a:r>
          </a:p>
          <a:p>
            <a:r>
              <a:rPr lang="en-US" dirty="0"/>
              <a:t>All that remains is for a catch block to handle the exception. </a:t>
            </a:r>
          </a:p>
          <a:p>
            <a:endParaRPr lang="en-US" dirty="0"/>
          </a:p>
          <a:p>
            <a:endParaRPr lang="en-US" dirty="0"/>
          </a:p>
          <a:p>
            <a:endParaRPr lang="en-US" dirty="0"/>
          </a:p>
          <a:p>
            <a:r>
              <a:rPr lang="en-US" dirty="0"/>
              <a:t>Since the </a:t>
            </a:r>
            <a:r>
              <a:rPr lang="en-US" dirty="0" err="1"/>
              <a:t>OutOfRange</a:t>
            </a:r>
            <a:r>
              <a:rPr lang="en-US" dirty="0"/>
              <a:t> class is declared in the </a:t>
            </a:r>
            <a:r>
              <a:rPr lang="en-US" dirty="0" err="1"/>
              <a:t>IntRange</a:t>
            </a:r>
            <a:r>
              <a:rPr lang="en-US" dirty="0"/>
              <a:t> class, its name must be fully qualified with the scope resolution operator</a:t>
            </a:r>
          </a:p>
        </p:txBody>
      </p:sp>
      <p:pic>
        <p:nvPicPr>
          <p:cNvPr id="4" name="Picture 3">
            <a:extLst>
              <a:ext uri="{FF2B5EF4-FFF2-40B4-BE49-F238E27FC236}">
                <a16:creationId xmlns:a16="http://schemas.microsoft.com/office/drawing/2014/main" id="{B7CB49DB-7451-DAD8-E6F5-F7E5B72D8423}"/>
              </a:ext>
            </a:extLst>
          </p:cNvPr>
          <p:cNvPicPr>
            <a:picLocks noChangeAspect="1"/>
          </p:cNvPicPr>
          <p:nvPr/>
        </p:nvPicPr>
        <p:blipFill>
          <a:blip r:embed="rId2"/>
          <a:stretch>
            <a:fillRect/>
          </a:stretch>
        </p:blipFill>
        <p:spPr>
          <a:xfrm>
            <a:off x="3882570" y="3768270"/>
            <a:ext cx="4267049" cy="1141187"/>
          </a:xfrm>
          <a:prstGeom prst="rect">
            <a:avLst/>
          </a:prstGeom>
        </p:spPr>
      </p:pic>
    </p:spTree>
    <p:extLst>
      <p:ext uri="{BB962C8B-B14F-4D97-AF65-F5344CB8AC3E}">
        <p14:creationId xmlns:p14="http://schemas.microsoft.com/office/powerpoint/2010/main" val="38818926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98F35-1959-F716-0FD7-4D0024908997}"/>
              </a:ext>
            </a:extLst>
          </p:cNvPr>
          <p:cNvSpPr>
            <a:spLocks noGrp="1"/>
          </p:cNvSpPr>
          <p:nvPr>
            <p:ph type="title"/>
          </p:nvPr>
        </p:nvSpPr>
        <p:spPr>
          <a:xfrm>
            <a:off x="1850570" y="365125"/>
            <a:ext cx="9503229" cy="1325563"/>
          </a:xfrm>
        </p:spPr>
        <p:txBody>
          <a:bodyPr/>
          <a:lstStyle/>
          <a:p>
            <a:r>
              <a:rPr lang="en-US" dirty="0"/>
              <a:t>Main() </a:t>
            </a:r>
          </a:p>
        </p:txBody>
      </p:sp>
      <p:pic>
        <p:nvPicPr>
          <p:cNvPr id="4" name="Picture 3">
            <a:extLst>
              <a:ext uri="{FF2B5EF4-FFF2-40B4-BE49-F238E27FC236}">
                <a16:creationId xmlns:a16="http://schemas.microsoft.com/office/drawing/2014/main" id="{B96CA367-3282-3792-3E94-A2B36E8555C3}"/>
              </a:ext>
            </a:extLst>
          </p:cNvPr>
          <p:cNvPicPr>
            <a:picLocks noChangeAspect="1"/>
          </p:cNvPicPr>
          <p:nvPr/>
        </p:nvPicPr>
        <p:blipFill>
          <a:blip r:embed="rId3"/>
          <a:stretch>
            <a:fillRect/>
          </a:stretch>
        </p:blipFill>
        <p:spPr>
          <a:xfrm>
            <a:off x="5993493" y="538844"/>
            <a:ext cx="5567136" cy="6059116"/>
          </a:xfrm>
          <a:prstGeom prst="rect">
            <a:avLst/>
          </a:prstGeom>
        </p:spPr>
      </p:pic>
      <p:pic>
        <p:nvPicPr>
          <p:cNvPr id="5" name="Picture 4">
            <a:extLst>
              <a:ext uri="{FF2B5EF4-FFF2-40B4-BE49-F238E27FC236}">
                <a16:creationId xmlns:a16="http://schemas.microsoft.com/office/drawing/2014/main" id="{D7959208-1454-38B1-1A5C-8A6D16959250}"/>
              </a:ext>
            </a:extLst>
          </p:cNvPr>
          <p:cNvPicPr>
            <a:picLocks noChangeAspect="1"/>
          </p:cNvPicPr>
          <p:nvPr/>
        </p:nvPicPr>
        <p:blipFill>
          <a:blip r:embed="rId4"/>
          <a:stretch>
            <a:fillRect/>
          </a:stretch>
        </p:blipFill>
        <p:spPr>
          <a:xfrm>
            <a:off x="1097642" y="2940050"/>
            <a:ext cx="4435411" cy="1566636"/>
          </a:xfrm>
          <a:prstGeom prst="rect">
            <a:avLst/>
          </a:prstGeom>
        </p:spPr>
      </p:pic>
    </p:spTree>
    <p:extLst>
      <p:ext uri="{BB962C8B-B14F-4D97-AF65-F5344CB8AC3E}">
        <p14:creationId xmlns:p14="http://schemas.microsoft.com/office/powerpoint/2010/main" val="151747181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2FE18-9D0F-B9E4-5939-B6B7F63C5829}"/>
              </a:ext>
            </a:extLst>
          </p:cNvPr>
          <p:cNvSpPr>
            <a:spLocks noGrp="1"/>
          </p:cNvSpPr>
          <p:nvPr>
            <p:ph type="title"/>
          </p:nvPr>
        </p:nvSpPr>
        <p:spPr/>
        <p:txBody>
          <a:bodyPr/>
          <a:lstStyle/>
          <a:p>
            <a:r>
              <a:rPr lang="en-US" dirty="0"/>
              <a:t>Multiple Exceptions</a:t>
            </a:r>
          </a:p>
        </p:txBody>
      </p:sp>
      <p:sp>
        <p:nvSpPr>
          <p:cNvPr id="3" name="Content Placeholder 2">
            <a:extLst>
              <a:ext uri="{FF2B5EF4-FFF2-40B4-BE49-F238E27FC236}">
                <a16:creationId xmlns:a16="http://schemas.microsoft.com/office/drawing/2014/main" id="{29B66726-C72B-7E37-6AB1-417F1FB8DE6F}"/>
              </a:ext>
            </a:extLst>
          </p:cNvPr>
          <p:cNvSpPr>
            <a:spLocks noGrp="1"/>
          </p:cNvSpPr>
          <p:nvPr>
            <p:ph idx="1"/>
          </p:nvPr>
        </p:nvSpPr>
        <p:spPr/>
        <p:txBody>
          <a:bodyPr/>
          <a:lstStyle/>
          <a:p>
            <a:r>
              <a:rPr lang="en-US" dirty="0"/>
              <a:t>The programs we have studied so far test only for a single type of error and throw only a single type of exception. </a:t>
            </a:r>
          </a:p>
          <a:p>
            <a:r>
              <a:rPr lang="en-US" dirty="0"/>
              <a:t>In many cases, a program will need to test for several different types of errors and signal which one has occurred. </a:t>
            </a:r>
          </a:p>
          <a:p>
            <a:r>
              <a:rPr lang="en-US" dirty="0"/>
              <a:t>C++ allows you to throw and catch multiple exceptions. </a:t>
            </a:r>
          </a:p>
          <a:p>
            <a:r>
              <a:rPr lang="en-US" dirty="0"/>
              <a:t>The only requirement is that each different exception be of a different type. </a:t>
            </a:r>
          </a:p>
          <a:p>
            <a:r>
              <a:rPr lang="en-US" dirty="0"/>
              <a:t>You then code a separate catch block for each type of exception that may be thrown in the try block.</a:t>
            </a:r>
          </a:p>
        </p:txBody>
      </p:sp>
    </p:spTree>
    <p:extLst>
      <p:ext uri="{BB962C8B-B14F-4D97-AF65-F5344CB8AC3E}">
        <p14:creationId xmlns:p14="http://schemas.microsoft.com/office/powerpoint/2010/main" val="148693121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8D898-F135-DC83-6E48-2F35802676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26F0E1-FA15-FAAE-14CB-48A40A36A174}"/>
              </a:ext>
            </a:extLst>
          </p:cNvPr>
          <p:cNvSpPr>
            <a:spLocks noGrp="1"/>
          </p:cNvSpPr>
          <p:nvPr>
            <p:ph type="title"/>
          </p:nvPr>
        </p:nvSpPr>
        <p:spPr/>
        <p:txBody>
          <a:bodyPr/>
          <a:lstStyle/>
          <a:p>
            <a:r>
              <a:rPr lang="en-US" dirty="0"/>
              <a:t>Multiple Exceptions</a:t>
            </a:r>
          </a:p>
        </p:txBody>
      </p:sp>
      <p:sp>
        <p:nvSpPr>
          <p:cNvPr id="3" name="Content Placeholder 2">
            <a:extLst>
              <a:ext uri="{FF2B5EF4-FFF2-40B4-BE49-F238E27FC236}">
                <a16:creationId xmlns:a16="http://schemas.microsoft.com/office/drawing/2014/main" id="{A8090488-9AF2-48A2-471E-2E9D6581B31B}"/>
              </a:ext>
            </a:extLst>
          </p:cNvPr>
          <p:cNvSpPr>
            <a:spLocks noGrp="1"/>
          </p:cNvSpPr>
          <p:nvPr>
            <p:ph idx="1"/>
          </p:nvPr>
        </p:nvSpPr>
        <p:spPr>
          <a:xfrm>
            <a:off x="838200" y="1825625"/>
            <a:ext cx="10515600" cy="4667250"/>
          </a:xfrm>
        </p:spPr>
        <p:txBody>
          <a:bodyPr>
            <a:normAutofit/>
          </a:bodyPr>
          <a:lstStyle/>
          <a:p>
            <a:r>
              <a:rPr lang="en-US" dirty="0"/>
              <a:t>For example, suppose we wish to expand the</a:t>
            </a:r>
            <a:r>
              <a:rPr lang="en-US" i="1" dirty="0">
                <a:solidFill>
                  <a:srgbClr val="FF0000"/>
                </a:solidFill>
              </a:rPr>
              <a:t> </a:t>
            </a:r>
            <a:r>
              <a:rPr lang="en-US" i="1" dirty="0" err="1">
                <a:solidFill>
                  <a:srgbClr val="FF0000"/>
                </a:solidFill>
              </a:rPr>
              <a:t>IntRange</a:t>
            </a:r>
            <a:r>
              <a:rPr lang="en-US" i="1" dirty="0">
                <a:solidFill>
                  <a:srgbClr val="FF0000"/>
                </a:solidFill>
              </a:rPr>
              <a:t> </a:t>
            </a:r>
            <a:r>
              <a:rPr lang="en-US" dirty="0"/>
              <a:t>class so that it throws one type of exception if the user enters a value that is too low, and another type if the user enters a value that is too high. </a:t>
            </a:r>
          </a:p>
          <a:p>
            <a:r>
              <a:rPr lang="en-US" dirty="0"/>
              <a:t>First, we declare two different exception classes, such as</a:t>
            </a:r>
          </a:p>
          <a:p>
            <a:endParaRPr lang="en-US" dirty="0"/>
          </a:p>
          <a:p>
            <a:endParaRPr lang="en-US" dirty="0"/>
          </a:p>
          <a:p>
            <a:r>
              <a:rPr lang="en-US" dirty="0"/>
              <a:t>An instance of the </a:t>
            </a:r>
            <a:r>
              <a:rPr lang="en-US" dirty="0" err="1"/>
              <a:t>TooLow</a:t>
            </a:r>
            <a:r>
              <a:rPr lang="en-US" dirty="0"/>
              <a:t> class will be thrown when the user enters a low value, and an instance of the </a:t>
            </a:r>
            <a:r>
              <a:rPr lang="en-US" dirty="0" err="1"/>
              <a:t>TooHigh</a:t>
            </a:r>
            <a:r>
              <a:rPr lang="en-US" dirty="0"/>
              <a:t> class will be thrown when a high value is entered.</a:t>
            </a:r>
          </a:p>
        </p:txBody>
      </p:sp>
      <p:pic>
        <p:nvPicPr>
          <p:cNvPr id="4" name="Picture 3">
            <a:extLst>
              <a:ext uri="{FF2B5EF4-FFF2-40B4-BE49-F238E27FC236}">
                <a16:creationId xmlns:a16="http://schemas.microsoft.com/office/drawing/2014/main" id="{4BF81DDF-CD07-B0B8-A2AE-582616F7BD13}"/>
              </a:ext>
            </a:extLst>
          </p:cNvPr>
          <p:cNvPicPr>
            <a:picLocks noChangeAspect="1"/>
          </p:cNvPicPr>
          <p:nvPr/>
        </p:nvPicPr>
        <p:blipFill>
          <a:blip r:embed="rId2"/>
          <a:stretch>
            <a:fillRect/>
          </a:stretch>
        </p:blipFill>
        <p:spPr>
          <a:xfrm>
            <a:off x="5290850" y="3959730"/>
            <a:ext cx="1610299" cy="1039560"/>
          </a:xfrm>
          <a:prstGeom prst="rect">
            <a:avLst/>
          </a:prstGeom>
        </p:spPr>
      </p:pic>
    </p:spTree>
    <p:extLst>
      <p:ext uri="{BB962C8B-B14F-4D97-AF65-F5344CB8AC3E}">
        <p14:creationId xmlns:p14="http://schemas.microsoft.com/office/powerpoint/2010/main" val="30476275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C94D4-7DC5-11FF-ED4A-9DAC3DCCCC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BF47AF-A6BD-3ACD-173B-C73D5DF77866}"/>
              </a:ext>
            </a:extLst>
          </p:cNvPr>
          <p:cNvSpPr>
            <a:spLocks noGrp="1"/>
          </p:cNvSpPr>
          <p:nvPr>
            <p:ph type="title"/>
          </p:nvPr>
        </p:nvSpPr>
        <p:spPr/>
        <p:txBody>
          <a:bodyPr/>
          <a:lstStyle/>
          <a:p>
            <a:r>
              <a:rPr lang="en-US" dirty="0"/>
              <a:t>Multiple Exceptions</a:t>
            </a:r>
          </a:p>
        </p:txBody>
      </p:sp>
      <p:sp>
        <p:nvSpPr>
          <p:cNvPr id="3" name="Content Placeholder 2">
            <a:extLst>
              <a:ext uri="{FF2B5EF4-FFF2-40B4-BE49-F238E27FC236}">
                <a16:creationId xmlns:a16="http://schemas.microsoft.com/office/drawing/2014/main" id="{7B5574F2-6657-9A98-5F45-4D1ED0B8589A}"/>
              </a:ext>
            </a:extLst>
          </p:cNvPr>
          <p:cNvSpPr>
            <a:spLocks noGrp="1"/>
          </p:cNvSpPr>
          <p:nvPr>
            <p:ph idx="1"/>
          </p:nvPr>
        </p:nvSpPr>
        <p:spPr>
          <a:xfrm>
            <a:off x="838200" y="1825625"/>
            <a:ext cx="10515600" cy="4667250"/>
          </a:xfrm>
        </p:spPr>
        <p:txBody>
          <a:bodyPr>
            <a:normAutofit/>
          </a:bodyPr>
          <a:lstStyle/>
          <a:p>
            <a:r>
              <a:rPr lang="en-US" dirty="0"/>
              <a:t>Now, we modify the </a:t>
            </a:r>
            <a:r>
              <a:rPr lang="en-US" i="1" dirty="0" err="1">
                <a:solidFill>
                  <a:srgbClr val="FF0000"/>
                </a:solidFill>
              </a:rPr>
              <a:t>getInput</a:t>
            </a:r>
            <a:r>
              <a:rPr lang="en-US" dirty="0"/>
              <a:t> member function to perform the two error tests and throw the appropriate exception:</a:t>
            </a:r>
          </a:p>
          <a:p>
            <a:endParaRPr lang="en-US" dirty="0"/>
          </a:p>
        </p:txBody>
      </p:sp>
      <p:pic>
        <p:nvPicPr>
          <p:cNvPr id="5" name="Picture 4">
            <a:extLst>
              <a:ext uri="{FF2B5EF4-FFF2-40B4-BE49-F238E27FC236}">
                <a16:creationId xmlns:a16="http://schemas.microsoft.com/office/drawing/2014/main" id="{BE4B774B-66E9-48BD-BA08-8F8D2488E7A1}"/>
              </a:ext>
            </a:extLst>
          </p:cNvPr>
          <p:cNvPicPr>
            <a:picLocks noChangeAspect="1"/>
          </p:cNvPicPr>
          <p:nvPr/>
        </p:nvPicPr>
        <p:blipFill>
          <a:blip r:embed="rId2"/>
          <a:stretch>
            <a:fillRect/>
          </a:stretch>
        </p:blipFill>
        <p:spPr>
          <a:xfrm>
            <a:off x="4240846" y="3150506"/>
            <a:ext cx="3710307" cy="1954893"/>
          </a:xfrm>
          <a:prstGeom prst="rect">
            <a:avLst/>
          </a:prstGeom>
        </p:spPr>
      </p:pic>
    </p:spTree>
    <p:extLst>
      <p:ext uri="{BB962C8B-B14F-4D97-AF65-F5344CB8AC3E}">
        <p14:creationId xmlns:p14="http://schemas.microsoft.com/office/powerpoint/2010/main" val="37227183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F0FEE-70C5-6B8E-D3A6-121EB16A2A76}"/>
              </a:ext>
            </a:extLst>
          </p:cNvPr>
          <p:cNvSpPr>
            <a:spLocks noGrp="1"/>
          </p:cNvSpPr>
          <p:nvPr>
            <p:ph type="title"/>
          </p:nvPr>
        </p:nvSpPr>
        <p:spPr/>
        <p:txBody>
          <a:bodyPr/>
          <a:lstStyle/>
          <a:p>
            <a:r>
              <a:rPr lang="en-US" dirty="0"/>
              <a:t>Contents of IntRange2.h</a:t>
            </a:r>
          </a:p>
        </p:txBody>
      </p:sp>
      <p:pic>
        <p:nvPicPr>
          <p:cNvPr id="4" name="Picture 3">
            <a:extLst>
              <a:ext uri="{FF2B5EF4-FFF2-40B4-BE49-F238E27FC236}">
                <a16:creationId xmlns:a16="http://schemas.microsoft.com/office/drawing/2014/main" id="{BACF3C45-C35A-3330-ED86-BEC172B974CF}"/>
              </a:ext>
            </a:extLst>
          </p:cNvPr>
          <p:cNvPicPr>
            <a:picLocks noChangeAspect="1"/>
          </p:cNvPicPr>
          <p:nvPr/>
        </p:nvPicPr>
        <p:blipFill>
          <a:blip r:embed="rId3"/>
          <a:stretch>
            <a:fillRect/>
          </a:stretch>
        </p:blipFill>
        <p:spPr>
          <a:xfrm>
            <a:off x="1399136" y="2294900"/>
            <a:ext cx="4549637" cy="2593293"/>
          </a:xfrm>
          <a:prstGeom prst="rect">
            <a:avLst/>
          </a:prstGeom>
        </p:spPr>
      </p:pic>
      <p:pic>
        <p:nvPicPr>
          <p:cNvPr id="5" name="Picture 4">
            <a:extLst>
              <a:ext uri="{FF2B5EF4-FFF2-40B4-BE49-F238E27FC236}">
                <a16:creationId xmlns:a16="http://schemas.microsoft.com/office/drawing/2014/main" id="{8369C513-CF6A-22B1-5769-43FCE900F63D}"/>
              </a:ext>
            </a:extLst>
          </p:cNvPr>
          <p:cNvPicPr>
            <a:picLocks noChangeAspect="1"/>
          </p:cNvPicPr>
          <p:nvPr/>
        </p:nvPicPr>
        <p:blipFill>
          <a:blip r:embed="rId4"/>
          <a:stretch>
            <a:fillRect/>
          </a:stretch>
        </p:blipFill>
        <p:spPr>
          <a:xfrm>
            <a:off x="7211285" y="1049616"/>
            <a:ext cx="4299900" cy="5083860"/>
          </a:xfrm>
          <a:prstGeom prst="rect">
            <a:avLst/>
          </a:prstGeom>
        </p:spPr>
      </p:pic>
    </p:spTree>
    <p:extLst>
      <p:ext uri="{BB962C8B-B14F-4D97-AF65-F5344CB8AC3E}">
        <p14:creationId xmlns:p14="http://schemas.microsoft.com/office/powerpoint/2010/main" val="329671444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5F9ED-D49E-F020-2411-6A278A7848A2}"/>
              </a:ext>
            </a:extLst>
          </p:cNvPr>
          <p:cNvSpPr>
            <a:spLocks noGrp="1"/>
          </p:cNvSpPr>
          <p:nvPr>
            <p:ph type="title"/>
          </p:nvPr>
        </p:nvSpPr>
        <p:spPr/>
        <p:txBody>
          <a:bodyPr/>
          <a:lstStyle/>
          <a:p>
            <a:r>
              <a:rPr lang="en-US" dirty="0"/>
              <a:t>Main()</a:t>
            </a:r>
          </a:p>
        </p:txBody>
      </p:sp>
      <p:pic>
        <p:nvPicPr>
          <p:cNvPr id="4" name="Picture 3">
            <a:extLst>
              <a:ext uri="{FF2B5EF4-FFF2-40B4-BE49-F238E27FC236}">
                <a16:creationId xmlns:a16="http://schemas.microsoft.com/office/drawing/2014/main" id="{AB74546F-7306-9126-395B-3112143443FD}"/>
              </a:ext>
            </a:extLst>
          </p:cNvPr>
          <p:cNvPicPr>
            <a:picLocks noChangeAspect="1"/>
          </p:cNvPicPr>
          <p:nvPr/>
        </p:nvPicPr>
        <p:blipFill>
          <a:blip r:embed="rId2"/>
          <a:stretch>
            <a:fillRect/>
          </a:stretch>
        </p:blipFill>
        <p:spPr>
          <a:xfrm>
            <a:off x="5976257" y="62996"/>
            <a:ext cx="5279571" cy="6795004"/>
          </a:xfrm>
          <a:prstGeom prst="rect">
            <a:avLst/>
          </a:prstGeom>
        </p:spPr>
      </p:pic>
      <p:pic>
        <p:nvPicPr>
          <p:cNvPr id="5" name="Picture 4">
            <a:extLst>
              <a:ext uri="{FF2B5EF4-FFF2-40B4-BE49-F238E27FC236}">
                <a16:creationId xmlns:a16="http://schemas.microsoft.com/office/drawing/2014/main" id="{D2D5BBA9-52BB-399B-EF08-898B8BABFFB4}"/>
              </a:ext>
            </a:extLst>
          </p:cNvPr>
          <p:cNvPicPr>
            <a:picLocks noChangeAspect="1"/>
          </p:cNvPicPr>
          <p:nvPr/>
        </p:nvPicPr>
        <p:blipFill>
          <a:blip r:embed="rId3"/>
          <a:stretch>
            <a:fillRect/>
          </a:stretch>
        </p:blipFill>
        <p:spPr>
          <a:xfrm>
            <a:off x="718458" y="2963635"/>
            <a:ext cx="4941390" cy="1684565"/>
          </a:xfrm>
          <a:prstGeom prst="rect">
            <a:avLst/>
          </a:prstGeom>
        </p:spPr>
      </p:pic>
    </p:spTree>
    <p:extLst>
      <p:ext uri="{BB962C8B-B14F-4D97-AF65-F5344CB8AC3E}">
        <p14:creationId xmlns:p14="http://schemas.microsoft.com/office/powerpoint/2010/main" val="81494610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4D0E2-DCB9-01A6-A576-EA32BB9491E4}"/>
              </a:ext>
            </a:extLst>
          </p:cNvPr>
          <p:cNvSpPr>
            <a:spLocks noGrp="1"/>
          </p:cNvSpPr>
          <p:nvPr>
            <p:ph type="title"/>
          </p:nvPr>
        </p:nvSpPr>
        <p:spPr/>
        <p:txBody>
          <a:bodyPr/>
          <a:lstStyle/>
          <a:p>
            <a:r>
              <a:rPr lang="en-US" dirty="0"/>
              <a:t>Extracting Information from the Exception Class</a:t>
            </a:r>
          </a:p>
        </p:txBody>
      </p:sp>
      <p:sp>
        <p:nvSpPr>
          <p:cNvPr id="3" name="Content Placeholder 2">
            <a:extLst>
              <a:ext uri="{FF2B5EF4-FFF2-40B4-BE49-F238E27FC236}">
                <a16:creationId xmlns:a16="http://schemas.microsoft.com/office/drawing/2014/main" id="{7D72A51E-76B4-FABA-9214-BD3239C48B9A}"/>
              </a:ext>
            </a:extLst>
          </p:cNvPr>
          <p:cNvSpPr>
            <a:spLocks noGrp="1"/>
          </p:cNvSpPr>
          <p:nvPr>
            <p:ph idx="1"/>
          </p:nvPr>
        </p:nvSpPr>
        <p:spPr/>
        <p:txBody>
          <a:bodyPr/>
          <a:lstStyle/>
          <a:p>
            <a:r>
              <a:rPr lang="en-US" dirty="0"/>
              <a:t>Sometimes we might want an exception to pass information back to the exception handler. </a:t>
            </a:r>
          </a:p>
          <a:p>
            <a:r>
              <a:rPr lang="en-US" dirty="0"/>
              <a:t>For example, suppose we would like the </a:t>
            </a:r>
            <a:r>
              <a:rPr lang="en-US" dirty="0" err="1"/>
              <a:t>IntRange</a:t>
            </a:r>
            <a:r>
              <a:rPr lang="en-US" dirty="0"/>
              <a:t> class not only to signal when an invalid value has been entered, but to pass the value back. </a:t>
            </a:r>
          </a:p>
          <a:p>
            <a:r>
              <a:rPr lang="en-US" dirty="0"/>
              <a:t>This can be accomplished by giving the exception class members in which information can be stored</a:t>
            </a:r>
          </a:p>
        </p:txBody>
      </p:sp>
    </p:spTree>
    <p:extLst>
      <p:ext uri="{BB962C8B-B14F-4D97-AF65-F5344CB8AC3E}">
        <p14:creationId xmlns:p14="http://schemas.microsoft.com/office/powerpoint/2010/main" val="23869719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4EA7F6-7E0C-9E46-402A-A8BC616857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E61213-7DA8-3B37-2F97-33EC9C736975}"/>
              </a:ext>
            </a:extLst>
          </p:cNvPr>
          <p:cNvSpPr>
            <a:spLocks noGrp="1"/>
          </p:cNvSpPr>
          <p:nvPr>
            <p:ph type="title"/>
          </p:nvPr>
        </p:nvSpPr>
        <p:spPr/>
        <p:txBody>
          <a:bodyPr/>
          <a:lstStyle/>
          <a:p>
            <a:r>
              <a:rPr lang="en-US" dirty="0"/>
              <a:t>Extracting Information from the Exception Class</a:t>
            </a:r>
          </a:p>
        </p:txBody>
      </p:sp>
      <p:sp>
        <p:nvSpPr>
          <p:cNvPr id="3" name="Content Placeholder 2">
            <a:extLst>
              <a:ext uri="{FF2B5EF4-FFF2-40B4-BE49-F238E27FC236}">
                <a16:creationId xmlns:a16="http://schemas.microsoft.com/office/drawing/2014/main" id="{9DE21FD5-6C68-9AB2-7B44-0A3F08FDAD85}"/>
              </a:ext>
            </a:extLst>
          </p:cNvPr>
          <p:cNvSpPr>
            <a:spLocks noGrp="1"/>
          </p:cNvSpPr>
          <p:nvPr>
            <p:ph idx="1"/>
          </p:nvPr>
        </p:nvSpPr>
        <p:spPr/>
        <p:txBody>
          <a:bodyPr/>
          <a:lstStyle/>
          <a:p>
            <a:r>
              <a:rPr lang="en-US" dirty="0"/>
              <a:t>IntRange3, our next modification of the </a:t>
            </a:r>
            <a:r>
              <a:rPr lang="en-US" i="1" dirty="0" err="1">
                <a:solidFill>
                  <a:srgbClr val="FF0000"/>
                </a:solidFill>
              </a:rPr>
              <a:t>IntRange</a:t>
            </a:r>
            <a:r>
              <a:rPr lang="en-US" dirty="0"/>
              <a:t> class, again uses a single exception class: </a:t>
            </a:r>
            <a:r>
              <a:rPr lang="en-US" i="1" dirty="0" err="1">
                <a:solidFill>
                  <a:srgbClr val="FF0000"/>
                </a:solidFill>
              </a:rPr>
              <a:t>OutOfRange</a:t>
            </a:r>
            <a:r>
              <a:rPr lang="en-US" dirty="0"/>
              <a:t>. </a:t>
            </a:r>
          </a:p>
          <a:p>
            <a:r>
              <a:rPr lang="en-US" dirty="0"/>
              <a:t>This version of </a:t>
            </a:r>
            <a:r>
              <a:rPr lang="en-US" i="1" dirty="0" err="1">
                <a:solidFill>
                  <a:srgbClr val="FF0000"/>
                </a:solidFill>
              </a:rPr>
              <a:t>OutOfRange</a:t>
            </a:r>
            <a:r>
              <a:rPr lang="en-US" dirty="0"/>
              <a:t>, however, has a member variable and a constructor that initializes it:</a:t>
            </a:r>
          </a:p>
        </p:txBody>
      </p:sp>
      <p:pic>
        <p:nvPicPr>
          <p:cNvPr id="4" name="Picture 3">
            <a:extLst>
              <a:ext uri="{FF2B5EF4-FFF2-40B4-BE49-F238E27FC236}">
                <a16:creationId xmlns:a16="http://schemas.microsoft.com/office/drawing/2014/main" id="{5204D2D4-E01A-4F8E-B528-6E2D8CEFC8AA}"/>
              </a:ext>
            </a:extLst>
          </p:cNvPr>
          <p:cNvPicPr>
            <a:picLocks noChangeAspect="1"/>
          </p:cNvPicPr>
          <p:nvPr/>
        </p:nvPicPr>
        <p:blipFill>
          <a:blip r:embed="rId2"/>
          <a:stretch>
            <a:fillRect/>
          </a:stretch>
        </p:blipFill>
        <p:spPr>
          <a:xfrm>
            <a:off x="4322535" y="3648833"/>
            <a:ext cx="3546929" cy="2528130"/>
          </a:xfrm>
          <a:prstGeom prst="rect">
            <a:avLst/>
          </a:prstGeom>
        </p:spPr>
      </p:pic>
    </p:spTree>
    <p:extLst>
      <p:ext uri="{BB962C8B-B14F-4D97-AF65-F5344CB8AC3E}">
        <p14:creationId xmlns:p14="http://schemas.microsoft.com/office/powerpoint/2010/main" val="17658343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CC0DD-827E-C915-63D3-189B8F60B96A}"/>
              </a:ext>
            </a:extLst>
          </p:cNvPr>
          <p:cNvSpPr>
            <a:spLocks noGrp="1"/>
          </p:cNvSpPr>
          <p:nvPr>
            <p:ph type="title"/>
          </p:nvPr>
        </p:nvSpPr>
        <p:spPr/>
        <p:txBody>
          <a:bodyPr/>
          <a:lstStyle/>
          <a:p>
            <a:r>
              <a:rPr lang="en-US" dirty="0"/>
              <a:t>Extracting Information from the Exception Class</a:t>
            </a:r>
          </a:p>
        </p:txBody>
      </p:sp>
      <p:sp>
        <p:nvSpPr>
          <p:cNvPr id="3" name="Content Placeholder 2">
            <a:extLst>
              <a:ext uri="{FF2B5EF4-FFF2-40B4-BE49-F238E27FC236}">
                <a16:creationId xmlns:a16="http://schemas.microsoft.com/office/drawing/2014/main" id="{EE1E4963-AEEF-3C90-DCB6-A8320928B19B}"/>
              </a:ext>
            </a:extLst>
          </p:cNvPr>
          <p:cNvSpPr>
            <a:spLocks noGrp="1"/>
          </p:cNvSpPr>
          <p:nvPr>
            <p:ph idx="1"/>
          </p:nvPr>
        </p:nvSpPr>
        <p:spPr>
          <a:xfrm>
            <a:off x="838200" y="1825625"/>
            <a:ext cx="10515600" cy="4667250"/>
          </a:xfrm>
        </p:spPr>
        <p:txBody>
          <a:bodyPr>
            <a:normAutofit fontScale="92500" lnSpcReduction="10000"/>
          </a:bodyPr>
          <a:lstStyle/>
          <a:p>
            <a:r>
              <a:rPr lang="en-US" dirty="0"/>
              <a:t>When we throw this exception, we want to pass the value entered by the user to the </a:t>
            </a:r>
            <a:r>
              <a:rPr lang="en-US" i="1" dirty="0" err="1">
                <a:solidFill>
                  <a:srgbClr val="FF0000"/>
                </a:solidFill>
              </a:rPr>
              <a:t>OutOfRange’s</a:t>
            </a:r>
            <a:r>
              <a:rPr lang="en-US" dirty="0"/>
              <a:t> constructor. </a:t>
            </a:r>
          </a:p>
          <a:p>
            <a:r>
              <a:rPr lang="en-US" dirty="0"/>
              <a:t>This is done with the following statement:</a:t>
            </a:r>
          </a:p>
          <a:p>
            <a:endParaRPr lang="en-US" dirty="0"/>
          </a:p>
          <a:p>
            <a:endParaRPr lang="en-US" dirty="0"/>
          </a:p>
          <a:p>
            <a:r>
              <a:rPr lang="en-US" dirty="0"/>
              <a:t>This throw statement creates an instance of the </a:t>
            </a:r>
            <a:r>
              <a:rPr lang="en-US" i="1" dirty="0" err="1">
                <a:solidFill>
                  <a:srgbClr val="FF0000"/>
                </a:solidFill>
              </a:rPr>
              <a:t>OutOfRange</a:t>
            </a:r>
            <a:r>
              <a:rPr lang="en-US" dirty="0"/>
              <a:t> class and passes a copy of the input variable to the constructor. </a:t>
            </a:r>
          </a:p>
          <a:p>
            <a:r>
              <a:rPr lang="en-US" dirty="0"/>
              <a:t>The constructor then stores this number in </a:t>
            </a:r>
            <a:r>
              <a:rPr lang="en-US" i="1" dirty="0" err="1">
                <a:solidFill>
                  <a:srgbClr val="FF0000"/>
                </a:solidFill>
              </a:rPr>
              <a:t>OutOfRange’s</a:t>
            </a:r>
            <a:r>
              <a:rPr lang="en-US" dirty="0"/>
              <a:t> member variable value. </a:t>
            </a:r>
          </a:p>
          <a:p>
            <a:r>
              <a:rPr lang="en-US" dirty="0"/>
              <a:t>The class instance carries this member variable to the catch block that intercepts the exception.</a:t>
            </a:r>
          </a:p>
        </p:txBody>
      </p:sp>
      <p:pic>
        <p:nvPicPr>
          <p:cNvPr id="4" name="Picture 3">
            <a:extLst>
              <a:ext uri="{FF2B5EF4-FFF2-40B4-BE49-F238E27FC236}">
                <a16:creationId xmlns:a16="http://schemas.microsoft.com/office/drawing/2014/main" id="{4B51BD33-996D-C165-3290-97B4ED331218}"/>
              </a:ext>
            </a:extLst>
          </p:cNvPr>
          <p:cNvPicPr>
            <a:picLocks noChangeAspect="1"/>
          </p:cNvPicPr>
          <p:nvPr/>
        </p:nvPicPr>
        <p:blipFill>
          <a:blip r:embed="rId3"/>
          <a:stretch>
            <a:fillRect/>
          </a:stretch>
        </p:blipFill>
        <p:spPr>
          <a:xfrm>
            <a:off x="4304806" y="3241988"/>
            <a:ext cx="3104397" cy="374024"/>
          </a:xfrm>
          <a:prstGeom prst="rect">
            <a:avLst/>
          </a:prstGeom>
        </p:spPr>
      </p:pic>
    </p:spTree>
    <p:extLst>
      <p:ext uri="{BB962C8B-B14F-4D97-AF65-F5344CB8AC3E}">
        <p14:creationId xmlns:p14="http://schemas.microsoft.com/office/powerpoint/2010/main" val="341173753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70BAE-A471-F7CB-5FC1-D1AAAED1DB0E}"/>
              </a:ext>
            </a:extLst>
          </p:cNvPr>
          <p:cNvSpPr>
            <a:spLocks noGrp="1"/>
          </p:cNvSpPr>
          <p:nvPr>
            <p:ph type="title"/>
          </p:nvPr>
        </p:nvSpPr>
        <p:spPr/>
        <p:txBody>
          <a:bodyPr/>
          <a:lstStyle/>
          <a:p>
            <a:r>
              <a:rPr lang="en-US" dirty="0"/>
              <a:t>Extracting Information from the Exception Class</a:t>
            </a:r>
          </a:p>
        </p:txBody>
      </p:sp>
      <p:sp>
        <p:nvSpPr>
          <p:cNvPr id="3" name="Content Placeholder 2">
            <a:extLst>
              <a:ext uri="{FF2B5EF4-FFF2-40B4-BE49-F238E27FC236}">
                <a16:creationId xmlns:a16="http://schemas.microsoft.com/office/drawing/2014/main" id="{4666AE11-7831-C9BA-C298-11C025C45065}"/>
              </a:ext>
            </a:extLst>
          </p:cNvPr>
          <p:cNvSpPr>
            <a:spLocks noGrp="1"/>
          </p:cNvSpPr>
          <p:nvPr>
            <p:ph idx="1"/>
          </p:nvPr>
        </p:nvSpPr>
        <p:spPr/>
        <p:txBody>
          <a:bodyPr>
            <a:normAutofit fontScale="92500"/>
          </a:bodyPr>
          <a:lstStyle/>
          <a:p>
            <a:r>
              <a:rPr lang="en-US" dirty="0"/>
              <a:t>Back in the catch block, the value is extracted:</a:t>
            </a:r>
          </a:p>
          <a:p>
            <a:endParaRPr lang="en-US" dirty="0"/>
          </a:p>
          <a:p>
            <a:endParaRPr lang="en-US" dirty="0"/>
          </a:p>
          <a:p>
            <a:endParaRPr lang="en-US" dirty="0"/>
          </a:p>
          <a:p>
            <a:endParaRPr lang="en-US" dirty="0"/>
          </a:p>
          <a:p>
            <a:endParaRPr lang="en-US" dirty="0"/>
          </a:p>
          <a:p>
            <a:r>
              <a:rPr lang="en-US" dirty="0"/>
              <a:t>Notice that the catch block declares a parameter object named ex. </a:t>
            </a:r>
          </a:p>
          <a:p>
            <a:r>
              <a:rPr lang="en-US" dirty="0"/>
              <a:t>This is necessary because the exception has a member variable that we want to examine.</a:t>
            </a:r>
          </a:p>
        </p:txBody>
      </p:sp>
      <p:pic>
        <p:nvPicPr>
          <p:cNvPr id="4" name="Picture 3">
            <a:extLst>
              <a:ext uri="{FF2B5EF4-FFF2-40B4-BE49-F238E27FC236}">
                <a16:creationId xmlns:a16="http://schemas.microsoft.com/office/drawing/2014/main" id="{98DB0C4E-0ECE-7D33-736B-FF70682EEF9C}"/>
              </a:ext>
            </a:extLst>
          </p:cNvPr>
          <p:cNvPicPr>
            <a:picLocks noChangeAspect="1"/>
          </p:cNvPicPr>
          <p:nvPr/>
        </p:nvPicPr>
        <p:blipFill>
          <a:blip r:embed="rId3"/>
          <a:stretch>
            <a:fillRect/>
          </a:stretch>
        </p:blipFill>
        <p:spPr>
          <a:xfrm>
            <a:off x="3762629" y="2697843"/>
            <a:ext cx="4666741" cy="1754414"/>
          </a:xfrm>
          <a:prstGeom prst="rect">
            <a:avLst/>
          </a:prstGeom>
        </p:spPr>
      </p:pic>
    </p:spTree>
    <p:extLst>
      <p:ext uri="{BB962C8B-B14F-4D97-AF65-F5344CB8AC3E}">
        <p14:creationId xmlns:p14="http://schemas.microsoft.com/office/powerpoint/2010/main" val="326516026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47BC4-42E2-CB13-BB8F-A858E7F1E843}"/>
              </a:ext>
            </a:extLst>
          </p:cNvPr>
          <p:cNvSpPr>
            <a:spLocks noGrp="1"/>
          </p:cNvSpPr>
          <p:nvPr>
            <p:ph type="title"/>
          </p:nvPr>
        </p:nvSpPr>
        <p:spPr/>
        <p:txBody>
          <a:bodyPr/>
          <a:lstStyle/>
          <a:p>
            <a:r>
              <a:rPr lang="en-US" dirty="0"/>
              <a:t>Contents of IntRange3.h</a:t>
            </a:r>
          </a:p>
        </p:txBody>
      </p:sp>
      <p:pic>
        <p:nvPicPr>
          <p:cNvPr id="4" name="Picture 3">
            <a:extLst>
              <a:ext uri="{FF2B5EF4-FFF2-40B4-BE49-F238E27FC236}">
                <a16:creationId xmlns:a16="http://schemas.microsoft.com/office/drawing/2014/main" id="{836FBE62-B931-9B9F-BC07-44DDC9D08A7B}"/>
              </a:ext>
            </a:extLst>
          </p:cNvPr>
          <p:cNvPicPr>
            <a:picLocks noChangeAspect="1"/>
          </p:cNvPicPr>
          <p:nvPr/>
        </p:nvPicPr>
        <p:blipFill>
          <a:blip r:embed="rId3"/>
          <a:stretch>
            <a:fillRect/>
          </a:stretch>
        </p:blipFill>
        <p:spPr>
          <a:xfrm>
            <a:off x="1361868" y="2109091"/>
            <a:ext cx="3895530" cy="3026932"/>
          </a:xfrm>
          <a:prstGeom prst="rect">
            <a:avLst/>
          </a:prstGeom>
        </p:spPr>
      </p:pic>
      <p:pic>
        <p:nvPicPr>
          <p:cNvPr id="5" name="Picture 4">
            <a:extLst>
              <a:ext uri="{FF2B5EF4-FFF2-40B4-BE49-F238E27FC236}">
                <a16:creationId xmlns:a16="http://schemas.microsoft.com/office/drawing/2014/main" id="{F7F2FE5A-EE1F-46D8-23F4-79F02E58DAFC}"/>
              </a:ext>
            </a:extLst>
          </p:cNvPr>
          <p:cNvPicPr>
            <a:picLocks noChangeAspect="1"/>
          </p:cNvPicPr>
          <p:nvPr/>
        </p:nvPicPr>
        <p:blipFill>
          <a:blip r:embed="rId4"/>
          <a:stretch>
            <a:fillRect/>
          </a:stretch>
        </p:blipFill>
        <p:spPr>
          <a:xfrm>
            <a:off x="6934604" y="747730"/>
            <a:ext cx="4197825" cy="5362539"/>
          </a:xfrm>
          <a:prstGeom prst="rect">
            <a:avLst/>
          </a:prstGeom>
        </p:spPr>
      </p:pic>
    </p:spTree>
    <p:extLst>
      <p:ext uri="{BB962C8B-B14F-4D97-AF65-F5344CB8AC3E}">
        <p14:creationId xmlns:p14="http://schemas.microsoft.com/office/powerpoint/2010/main" val="327371886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59E7C-CB90-79A8-37B7-5A7B708776B0}"/>
              </a:ext>
            </a:extLst>
          </p:cNvPr>
          <p:cNvSpPr>
            <a:spLocks noGrp="1"/>
          </p:cNvSpPr>
          <p:nvPr>
            <p:ph type="title"/>
          </p:nvPr>
        </p:nvSpPr>
        <p:spPr>
          <a:xfrm>
            <a:off x="1512606" y="365125"/>
            <a:ext cx="9841194" cy="1325563"/>
          </a:xfrm>
        </p:spPr>
        <p:txBody>
          <a:bodyPr/>
          <a:lstStyle/>
          <a:p>
            <a:r>
              <a:rPr lang="en-US" dirty="0"/>
              <a:t>Main()</a:t>
            </a:r>
          </a:p>
        </p:txBody>
      </p:sp>
      <p:pic>
        <p:nvPicPr>
          <p:cNvPr id="4" name="Picture 3">
            <a:extLst>
              <a:ext uri="{FF2B5EF4-FFF2-40B4-BE49-F238E27FC236}">
                <a16:creationId xmlns:a16="http://schemas.microsoft.com/office/drawing/2014/main" id="{89A55496-E858-9AC2-6205-111B3D1A47A1}"/>
              </a:ext>
            </a:extLst>
          </p:cNvPr>
          <p:cNvPicPr>
            <a:picLocks noChangeAspect="1"/>
          </p:cNvPicPr>
          <p:nvPr/>
        </p:nvPicPr>
        <p:blipFill>
          <a:blip r:embed="rId3"/>
          <a:stretch>
            <a:fillRect/>
          </a:stretch>
        </p:blipFill>
        <p:spPr>
          <a:xfrm>
            <a:off x="4504404" y="28816"/>
            <a:ext cx="4749785" cy="6829184"/>
          </a:xfrm>
          <a:prstGeom prst="rect">
            <a:avLst/>
          </a:prstGeom>
        </p:spPr>
      </p:pic>
    </p:spTree>
    <p:extLst>
      <p:ext uri="{BB962C8B-B14F-4D97-AF65-F5344CB8AC3E}">
        <p14:creationId xmlns:p14="http://schemas.microsoft.com/office/powerpoint/2010/main" val="6541965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14F8F-E8F4-AECA-E69A-99927944E61F}"/>
              </a:ext>
            </a:extLst>
          </p:cNvPr>
          <p:cNvSpPr>
            <a:spLocks noGrp="1"/>
          </p:cNvSpPr>
          <p:nvPr>
            <p:ph type="title"/>
          </p:nvPr>
        </p:nvSpPr>
        <p:spPr/>
        <p:txBody>
          <a:bodyPr/>
          <a:lstStyle/>
          <a:p>
            <a:r>
              <a:rPr lang="en-US" dirty="0"/>
              <a:t>Handling the </a:t>
            </a:r>
            <a:r>
              <a:rPr lang="en-US" dirty="0" err="1"/>
              <a:t>bad_alloc</a:t>
            </a:r>
            <a:r>
              <a:rPr lang="en-US" dirty="0"/>
              <a:t> Exception Thrown by new</a:t>
            </a:r>
          </a:p>
        </p:txBody>
      </p:sp>
      <p:sp>
        <p:nvSpPr>
          <p:cNvPr id="3" name="Content Placeholder 2">
            <a:extLst>
              <a:ext uri="{FF2B5EF4-FFF2-40B4-BE49-F238E27FC236}">
                <a16:creationId xmlns:a16="http://schemas.microsoft.com/office/drawing/2014/main" id="{1FEA597D-3D01-D60F-FE35-5979E2CD9A14}"/>
              </a:ext>
            </a:extLst>
          </p:cNvPr>
          <p:cNvSpPr>
            <a:spLocks noGrp="1"/>
          </p:cNvSpPr>
          <p:nvPr>
            <p:ph idx="1"/>
          </p:nvPr>
        </p:nvSpPr>
        <p:spPr>
          <a:xfrm>
            <a:off x="838200" y="1825625"/>
            <a:ext cx="5609422" cy="4351338"/>
          </a:xfrm>
        </p:spPr>
        <p:txBody>
          <a:bodyPr>
            <a:normAutofit/>
          </a:bodyPr>
          <a:lstStyle/>
          <a:p>
            <a:r>
              <a:rPr lang="en-US" dirty="0"/>
              <a:t>The new operator throws a system-defined exception of type </a:t>
            </a:r>
            <a:r>
              <a:rPr lang="en-US" dirty="0" err="1">
                <a:solidFill>
                  <a:srgbClr val="FF0000"/>
                </a:solidFill>
              </a:rPr>
              <a:t>bad_alloc</a:t>
            </a:r>
            <a:r>
              <a:rPr lang="en-US" dirty="0">
                <a:solidFill>
                  <a:srgbClr val="FF0000"/>
                </a:solidFill>
              </a:rPr>
              <a:t> </a:t>
            </a:r>
            <a:r>
              <a:rPr lang="en-US" dirty="0"/>
              <a:t>if it is unable to allocate the requested storage. </a:t>
            </a:r>
          </a:p>
          <a:p>
            <a:r>
              <a:rPr lang="en-US" dirty="0"/>
              <a:t>For example, this program attempts to allocate an array of two integers using the new operator inside a try block. </a:t>
            </a:r>
          </a:p>
        </p:txBody>
      </p:sp>
      <p:pic>
        <p:nvPicPr>
          <p:cNvPr id="4" name="Picture 3">
            <a:extLst>
              <a:ext uri="{FF2B5EF4-FFF2-40B4-BE49-F238E27FC236}">
                <a16:creationId xmlns:a16="http://schemas.microsoft.com/office/drawing/2014/main" id="{6470C561-074D-53DA-088C-B01337BB6DE7}"/>
              </a:ext>
            </a:extLst>
          </p:cNvPr>
          <p:cNvPicPr>
            <a:picLocks noChangeAspect="1"/>
          </p:cNvPicPr>
          <p:nvPr/>
        </p:nvPicPr>
        <p:blipFill>
          <a:blip r:embed="rId2"/>
          <a:stretch>
            <a:fillRect/>
          </a:stretch>
        </p:blipFill>
        <p:spPr>
          <a:xfrm>
            <a:off x="6854260" y="1170951"/>
            <a:ext cx="4092902" cy="5591711"/>
          </a:xfrm>
          <a:prstGeom prst="rect">
            <a:avLst/>
          </a:prstGeom>
        </p:spPr>
      </p:pic>
    </p:spTree>
    <p:extLst>
      <p:ext uri="{BB962C8B-B14F-4D97-AF65-F5344CB8AC3E}">
        <p14:creationId xmlns:p14="http://schemas.microsoft.com/office/powerpoint/2010/main" val="270637530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E458D-DD3A-E894-2CBB-ED8EE28F4B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7D10B8-1DBF-F6D4-A399-B0872FD1A7A4}"/>
              </a:ext>
            </a:extLst>
          </p:cNvPr>
          <p:cNvSpPr>
            <a:spLocks noGrp="1"/>
          </p:cNvSpPr>
          <p:nvPr>
            <p:ph type="title"/>
          </p:nvPr>
        </p:nvSpPr>
        <p:spPr/>
        <p:txBody>
          <a:bodyPr/>
          <a:lstStyle/>
          <a:p>
            <a:r>
              <a:rPr lang="en-US" dirty="0"/>
              <a:t>Handling the </a:t>
            </a:r>
            <a:r>
              <a:rPr lang="en-US" dirty="0" err="1"/>
              <a:t>bad_alloc</a:t>
            </a:r>
            <a:r>
              <a:rPr lang="en-US" dirty="0"/>
              <a:t> Exception Thrown by new</a:t>
            </a:r>
          </a:p>
        </p:txBody>
      </p:sp>
      <p:sp>
        <p:nvSpPr>
          <p:cNvPr id="3" name="Content Placeholder 2">
            <a:extLst>
              <a:ext uri="{FF2B5EF4-FFF2-40B4-BE49-F238E27FC236}">
                <a16:creationId xmlns:a16="http://schemas.microsoft.com/office/drawing/2014/main" id="{210F35B2-D83F-B0EE-B285-98C227C77875}"/>
              </a:ext>
            </a:extLst>
          </p:cNvPr>
          <p:cNvSpPr>
            <a:spLocks noGrp="1"/>
          </p:cNvSpPr>
          <p:nvPr>
            <p:ph idx="1"/>
          </p:nvPr>
        </p:nvSpPr>
        <p:spPr>
          <a:xfrm>
            <a:off x="838200" y="1825625"/>
            <a:ext cx="5609422" cy="4351338"/>
          </a:xfrm>
        </p:spPr>
        <p:txBody>
          <a:bodyPr>
            <a:normAutofit fontScale="92500"/>
          </a:bodyPr>
          <a:lstStyle/>
          <a:p>
            <a:r>
              <a:rPr lang="en-US" dirty="0"/>
              <a:t>If the allocation fails, the resulting </a:t>
            </a:r>
            <a:r>
              <a:rPr lang="en-US" dirty="0" err="1">
                <a:solidFill>
                  <a:srgbClr val="FF0000"/>
                </a:solidFill>
              </a:rPr>
              <a:t>bad_alloc</a:t>
            </a:r>
            <a:r>
              <a:rPr lang="en-US" dirty="0">
                <a:solidFill>
                  <a:srgbClr val="FF0000"/>
                </a:solidFill>
              </a:rPr>
              <a:t> </a:t>
            </a:r>
            <a:r>
              <a:rPr lang="en-US" dirty="0"/>
              <a:t>exception is caught in the attached catch block and the program is terminated with an appropriate error message. </a:t>
            </a:r>
          </a:p>
          <a:p>
            <a:r>
              <a:rPr lang="en-US" dirty="0"/>
              <a:t>If the allocation succeeds, the program proceeds to print the two numbers 10 and 20. </a:t>
            </a:r>
          </a:p>
          <a:p>
            <a:r>
              <a:rPr lang="en-US" dirty="0"/>
              <a:t>The </a:t>
            </a:r>
            <a:r>
              <a:rPr lang="en-US" dirty="0" err="1">
                <a:solidFill>
                  <a:srgbClr val="FF0000"/>
                </a:solidFill>
              </a:rPr>
              <a:t>bad_alloc</a:t>
            </a:r>
            <a:r>
              <a:rPr lang="en-US" dirty="0">
                <a:solidFill>
                  <a:srgbClr val="FF0000"/>
                </a:solidFill>
              </a:rPr>
              <a:t> </a:t>
            </a:r>
            <a:r>
              <a:rPr lang="en-US" dirty="0"/>
              <a:t>type is defined in the header file </a:t>
            </a:r>
            <a:r>
              <a:rPr lang="en-US" i="1" dirty="0">
                <a:solidFill>
                  <a:srgbClr val="FF0000"/>
                </a:solidFill>
              </a:rPr>
              <a:t>new</a:t>
            </a:r>
            <a:r>
              <a:rPr lang="en-US" dirty="0"/>
              <a:t>, which must be included in programs that refer to it.</a:t>
            </a:r>
          </a:p>
        </p:txBody>
      </p:sp>
      <p:pic>
        <p:nvPicPr>
          <p:cNvPr id="4" name="Picture 3">
            <a:extLst>
              <a:ext uri="{FF2B5EF4-FFF2-40B4-BE49-F238E27FC236}">
                <a16:creationId xmlns:a16="http://schemas.microsoft.com/office/drawing/2014/main" id="{DB38F663-7A57-1CAF-2574-7A32529701E2}"/>
              </a:ext>
            </a:extLst>
          </p:cNvPr>
          <p:cNvPicPr>
            <a:picLocks noChangeAspect="1"/>
          </p:cNvPicPr>
          <p:nvPr/>
        </p:nvPicPr>
        <p:blipFill>
          <a:blip r:embed="rId3"/>
          <a:stretch>
            <a:fillRect/>
          </a:stretch>
        </p:blipFill>
        <p:spPr>
          <a:xfrm>
            <a:off x="6854260" y="1170951"/>
            <a:ext cx="4092902" cy="5591711"/>
          </a:xfrm>
          <a:prstGeom prst="rect">
            <a:avLst/>
          </a:prstGeom>
        </p:spPr>
      </p:pic>
    </p:spTree>
    <p:extLst>
      <p:ext uri="{BB962C8B-B14F-4D97-AF65-F5344CB8AC3E}">
        <p14:creationId xmlns:p14="http://schemas.microsoft.com/office/powerpoint/2010/main" val="281523135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D3566-A1D3-442F-B932-E4D094A7CFEE}"/>
              </a:ext>
            </a:extLst>
          </p:cNvPr>
          <p:cNvSpPr>
            <a:spLocks noGrp="1"/>
          </p:cNvSpPr>
          <p:nvPr>
            <p:ph type="title"/>
          </p:nvPr>
        </p:nvSpPr>
        <p:spPr/>
        <p:txBody>
          <a:bodyPr/>
          <a:lstStyle/>
          <a:p>
            <a:r>
              <a:rPr lang="en-US" dirty="0"/>
              <a:t>Unwinding the Stack</a:t>
            </a:r>
          </a:p>
        </p:txBody>
      </p:sp>
      <p:sp>
        <p:nvSpPr>
          <p:cNvPr id="3" name="Content Placeholder 2">
            <a:extLst>
              <a:ext uri="{FF2B5EF4-FFF2-40B4-BE49-F238E27FC236}">
                <a16:creationId xmlns:a16="http://schemas.microsoft.com/office/drawing/2014/main" id="{1352021D-BD7D-C0E6-9799-4DF77CCB00C7}"/>
              </a:ext>
            </a:extLst>
          </p:cNvPr>
          <p:cNvSpPr>
            <a:spLocks noGrp="1"/>
          </p:cNvSpPr>
          <p:nvPr>
            <p:ph idx="1"/>
          </p:nvPr>
        </p:nvSpPr>
        <p:spPr/>
        <p:txBody>
          <a:bodyPr/>
          <a:lstStyle/>
          <a:p>
            <a:r>
              <a:rPr lang="en-US" dirty="0"/>
              <a:t>If an exception is thrown in a try block that has a catch block capable of handling the exception, control transfers from the throw point to the catch block. </a:t>
            </a:r>
          </a:p>
          <a:p>
            <a:r>
              <a:rPr lang="en-US" dirty="0"/>
              <a:t>Assuming that the catch block executes to completion without throwing further exceptions, returning from the function, or terminating the program, execution will continue at the first statement after the sequence of catch blocks attached to the try block.</a:t>
            </a:r>
          </a:p>
        </p:txBody>
      </p:sp>
    </p:spTree>
    <p:extLst>
      <p:ext uri="{BB962C8B-B14F-4D97-AF65-F5344CB8AC3E}">
        <p14:creationId xmlns:p14="http://schemas.microsoft.com/office/powerpoint/2010/main" val="53006163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03102E-44A7-59D9-097A-6F41ECF277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E4CB87-8747-51A1-A32A-856785275DE8}"/>
              </a:ext>
            </a:extLst>
          </p:cNvPr>
          <p:cNvSpPr>
            <a:spLocks noGrp="1"/>
          </p:cNvSpPr>
          <p:nvPr>
            <p:ph type="title"/>
          </p:nvPr>
        </p:nvSpPr>
        <p:spPr/>
        <p:txBody>
          <a:bodyPr/>
          <a:lstStyle/>
          <a:p>
            <a:r>
              <a:rPr lang="en-US" dirty="0"/>
              <a:t>Unwinding the Stack</a:t>
            </a:r>
          </a:p>
        </p:txBody>
      </p:sp>
      <p:sp>
        <p:nvSpPr>
          <p:cNvPr id="3" name="Content Placeholder 2">
            <a:extLst>
              <a:ext uri="{FF2B5EF4-FFF2-40B4-BE49-F238E27FC236}">
                <a16:creationId xmlns:a16="http://schemas.microsoft.com/office/drawing/2014/main" id="{45E77CE0-AD41-6C71-2DDC-C280C95A6EE6}"/>
              </a:ext>
            </a:extLst>
          </p:cNvPr>
          <p:cNvSpPr>
            <a:spLocks noGrp="1"/>
          </p:cNvSpPr>
          <p:nvPr>
            <p:ph idx="1"/>
          </p:nvPr>
        </p:nvSpPr>
        <p:spPr/>
        <p:txBody>
          <a:bodyPr>
            <a:normAutofit fontScale="92500"/>
          </a:bodyPr>
          <a:lstStyle/>
          <a:p>
            <a:r>
              <a:rPr lang="en-US" dirty="0"/>
              <a:t>If the function does not contain a catch block capable of handling the exception, control passes out of the function, and the exception is automatically rethrown at the point of the call in the calling function. </a:t>
            </a:r>
          </a:p>
          <a:p>
            <a:r>
              <a:rPr lang="en-US" dirty="0"/>
              <a:t>By this process, an exception can propagate backwards along the chain of function calls until the exception is thrown out of a try block that has a catch block that can handle it. </a:t>
            </a:r>
          </a:p>
          <a:p>
            <a:r>
              <a:rPr lang="en-US" dirty="0"/>
              <a:t>If no such try block is ever found, the exception will eventually be thrown out of the main function, causing the program to be terminated.</a:t>
            </a:r>
          </a:p>
          <a:p>
            <a:r>
              <a:rPr lang="en-US" dirty="0"/>
              <a:t>This process of propagating uncaught exceptions from a function to its caller is called </a:t>
            </a:r>
            <a:r>
              <a:rPr lang="en-US" b="1" dirty="0">
                <a:hlinkClick r:id="rId2">
                  <a:extLst>
                    <a:ext uri="{A12FA001-AC4F-418D-AE19-62706E023703}">
                      <ahyp:hlinkClr xmlns:ahyp="http://schemas.microsoft.com/office/drawing/2018/hyperlinkcolor" val="tx"/>
                    </a:ext>
                  </a:extLst>
                </a:hlinkClick>
              </a:rPr>
              <a:t>unwinding the stack</a:t>
            </a:r>
            <a:r>
              <a:rPr lang="en-US" b="1" dirty="0"/>
              <a:t> </a:t>
            </a:r>
            <a:r>
              <a:rPr lang="en-US" dirty="0"/>
              <a:t>of function calls.</a:t>
            </a:r>
          </a:p>
        </p:txBody>
      </p:sp>
    </p:spTree>
    <p:extLst>
      <p:ext uri="{BB962C8B-B14F-4D97-AF65-F5344CB8AC3E}">
        <p14:creationId xmlns:p14="http://schemas.microsoft.com/office/powerpoint/2010/main" val="98741594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D96C4-9D7B-0BA3-9AC9-66BA64C90AE7}"/>
              </a:ext>
            </a:extLst>
          </p:cNvPr>
          <p:cNvSpPr>
            <a:spLocks noGrp="1"/>
          </p:cNvSpPr>
          <p:nvPr>
            <p:ph type="title"/>
          </p:nvPr>
        </p:nvSpPr>
        <p:spPr/>
        <p:txBody>
          <a:bodyPr/>
          <a:lstStyle/>
          <a:p>
            <a:r>
              <a:rPr lang="en-US" dirty="0"/>
              <a:t>Rethrowing an Exception</a:t>
            </a:r>
          </a:p>
        </p:txBody>
      </p:sp>
      <p:sp>
        <p:nvSpPr>
          <p:cNvPr id="3" name="Content Placeholder 2">
            <a:extLst>
              <a:ext uri="{FF2B5EF4-FFF2-40B4-BE49-F238E27FC236}">
                <a16:creationId xmlns:a16="http://schemas.microsoft.com/office/drawing/2014/main" id="{194CE9E6-1EB5-216A-047B-967EB8A369BE}"/>
              </a:ext>
            </a:extLst>
          </p:cNvPr>
          <p:cNvSpPr>
            <a:spLocks noGrp="1"/>
          </p:cNvSpPr>
          <p:nvPr>
            <p:ph idx="1"/>
          </p:nvPr>
        </p:nvSpPr>
        <p:spPr>
          <a:xfrm>
            <a:off x="838200" y="1825624"/>
            <a:ext cx="7049568" cy="4566629"/>
          </a:xfrm>
        </p:spPr>
        <p:txBody>
          <a:bodyPr>
            <a:normAutofit/>
          </a:bodyPr>
          <a:lstStyle/>
          <a:p>
            <a:r>
              <a:rPr lang="en-US" dirty="0"/>
              <a:t>It is possible for try blocks to be nested. </a:t>
            </a:r>
          </a:p>
          <a:p>
            <a:r>
              <a:rPr lang="en-US" dirty="0"/>
              <a:t>For example, look at this code segment:</a:t>
            </a:r>
          </a:p>
          <a:p>
            <a:r>
              <a:rPr lang="en-US" dirty="0"/>
              <a:t>In this try block, the function </a:t>
            </a:r>
            <a:r>
              <a:rPr lang="en-US" i="1" dirty="0" err="1">
                <a:solidFill>
                  <a:srgbClr val="FF0000"/>
                </a:solidFill>
              </a:rPr>
              <a:t>doSomething</a:t>
            </a:r>
            <a:r>
              <a:rPr lang="en-US" dirty="0"/>
              <a:t> is called. </a:t>
            </a:r>
          </a:p>
          <a:p>
            <a:r>
              <a:rPr lang="en-US" dirty="0"/>
              <a:t>There are two catch blocks, one that handles exception1 and another that handles exception2. </a:t>
            </a:r>
          </a:p>
          <a:p>
            <a:r>
              <a:rPr lang="en-US" dirty="0"/>
              <a:t>If the </a:t>
            </a:r>
            <a:r>
              <a:rPr lang="en-US" i="1" dirty="0" err="1">
                <a:solidFill>
                  <a:srgbClr val="FF0000"/>
                </a:solidFill>
              </a:rPr>
              <a:t>doSomething</a:t>
            </a:r>
            <a:r>
              <a:rPr lang="en-US" dirty="0"/>
              <a:t> function contains a try block, then it is nested inside the one shown.</a:t>
            </a:r>
          </a:p>
        </p:txBody>
      </p:sp>
      <p:pic>
        <p:nvPicPr>
          <p:cNvPr id="4" name="Picture 3">
            <a:extLst>
              <a:ext uri="{FF2B5EF4-FFF2-40B4-BE49-F238E27FC236}">
                <a16:creationId xmlns:a16="http://schemas.microsoft.com/office/drawing/2014/main" id="{A4EC48A2-6163-A8CE-EE0D-0FB99BF5E94F}"/>
              </a:ext>
            </a:extLst>
          </p:cNvPr>
          <p:cNvPicPr>
            <a:picLocks noChangeAspect="1"/>
          </p:cNvPicPr>
          <p:nvPr/>
        </p:nvPicPr>
        <p:blipFill>
          <a:blip r:embed="rId2"/>
          <a:stretch>
            <a:fillRect/>
          </a:stretch>
        </p:blipFill>
        <p:spPr>
          <a:xfrm>
            <a:off x="8525650" y="2012331"/>
            <a:ext cx="2917372" cy="3135086"/>
          </a:xfrm>
          <a:prstGeom prst="rect">
            <a:avLst/>
          </a:prstGeom>
        </p:spPr>
      </p:pic>
    </p:spTree>
    <p:extLst>
      <p:ext uri="{BB962C8B-B14F-4D97-AF65-F5344CB8AC3E}">
        <p14:creationId xmlns:p14="http://schemas.microsoft.com/office/powerpoint/2010/main" val="91865626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D5F139-8734-4C44-848C-5A96161920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C0BB31-16BD-01DD-11EE-1CC688521BB2}"/>
              </a:ext>
            </a:extLst>
          </p:cNvPr>
          <p:cNvSpPr>
            <a:spLocks noGrp="1"/>
          </p:cNvSpPr>
          <p:nvPr>
            <p:ph type="title"/>
          </p:nvPr>
        </p:nvSpPr>
        <p:spPr/>
        <p:txBody>
          <a:bodyPr/>
          <a:lstStyle/>
          <a:p>
            <a:r>
              <a:rPr lang="en-US" dirty="0"/>
              <a:t>Rethrowing an Exception</a:t>
            </a:r>
          </a:p>
        </p:txBody>
      </p:sp>
      <p:sp>
        <p:nvSpPr>
          <p:cNvPr id="3" name="Content Placeholder 2">
            <a:extLst>
              <a:ext uri="{FF2B5EF4-FFF2-40B4-BE49-F238E27FC236}">
                <a16:creationId xmlns:a16="http://schemas.microsoft.com/office/drawing/2014/main" id="{C72C8094-9AD1-12EA-2076-4560D3B30E05}"/>
              </a:ext>
            </a:extLst>
          </p:cNvPr>
          <p:cNvSpPr>
            <a:spLocks noGrp="1"/>
          </p:cNvSpPr>
          <p:nvPr>
            <p:ph idx="1"/>
          </p:nvPr>
        </p:nvSpPr>
        <p:spPr/>
        <p:txBody>
          <a:bodyPr/>
          <a:lstStyle/>
          <a:p>
            <a:r>
              <a:rPr lang="en-US" dirty="0"/>
              <a:t>With nested try blocks, it is sometimes necessary for an inner exception handler to pass an exception to an outer exception handler. </a:t>
            </a:r>
          </a:p>
          <a:p>
            <a:r>
              <a:rPr lang="en-US" dirty="0"/>
              <a:t>Sometimes, both an inner and an outer catch block must perform operations when a particular exception is thrown. </a:t>
            </a:r>
          </a:p>
          <a:p>
            <a:r>
              <a:rPr lang="en-US" dirty="0"/>
              <a:t>These situations require that the inner catch block </a:t>
            </a:r>
            <a:r>
              <a:rPr lang="en-US" dirty="0">
                <a:hlinkClick r:id="rId2"/>
              </a:rPr>
              <a:t>rethrow</a:t>
            </a:r>
            <a:r>
              <a:rPr lang="en-US" dirty="0"/>
              <a:t> the exception so the outer catch block can catch it.</a:t>
            </a:r>
          </a:p>
        </p:txBody>
      </p:sp>
    </p:spTree>
    <p:extLst>
      <p:ext uri="{BB962C8B-B14F-4D97-AF65-F5344CB8AC3E}">
        <p14:creationId xmlns:p14="http://schemas.microsoft.com/office/powerpoint/2010/main" val="210895413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CDADA0-B55B-27ED-1C69-2663BAB24B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FE35ED-4EF1-6409-47BC-F513BFA64383}"/>
              </a:ext>
            </a:extLst>
          </p:cNvPr>
          <p:cNvSpPr>
            <a:spLocks noGrp="1"/>
          </p:cNvSpPr>
          <p:nvPr>
            <p:ph type="title"/>
          </p:nvPr>
        </p:nvSpPr>
        <p:spPr/>
        <p:txBody>
          <a:bodyPr/>
          <a:lstStyle/>
          <a:p>
            <a:r>
              <a:rPr lang="en-US" dirty="0"/>
              <a:t>Rethrowing an Exception</a:t>
            </a:r>
          </a:p>
        </p:txBody>
      </p:sp>
      <p:sp>
        <p:nvSpPr>
          <p:cNvPr id="3" name="Content Placeholder 2">
            <a:extLst>
              <a:ext uri="{FF2B5EF4-FFF2-40B4-BE49-F238E27FC236}">
                <a16:creationId xmlns:a16="http://schemas.microsoft.com/office/drawing/2014/main" id="{3A6F7319-788C-9559-7C29-B5703B7C927A}"/>
              </a:ext>
            </a:extLst>
          </p:cNvPr>
          <p:cNvSpPr>
            <a:spLocks noGrp="1"/>
          </p:cNvSpPr>
          <p:nvPr>
            <p:ph idx="1"/>
          </p:nvPr>
        </p:nvSpPr>
        <p:spPr/>
        <p:txBody>
          <a:bodyPr/>
          <a:lstStyle/>
          <a:p>
            <a:r>
              <a:rPr lang="en-US" dirty="0"/>
              <a:t>A catch block can rethrow an exception with the throw; statement with no parameter. </a:t>
            </a:r>
          </a:p>
          <a:p>
            <a:r>
              <a:rPr lang="en-US" dirty="0"/>
              <a:t>For example, suppose the </a:t>
            </a:r>
            <a:r>
              <a:rPr lang="en-US" dirty="0" err="1"/>
              <a:t>doSomething</a:t>
            </a:r>
            <a:r>
              <a:rPr lang="en-US" dirty="0"/>
              <a:t> function (called in the try block above) executes code that potentially can throw exception1 or exception3. </a:t>
            </a:r>
          </a:p>
          <a:p>
            <a:r>
              <a:rPr lang="en-US" dirty="0"/>
              <a:t>Suppose we do not want to handle the exception1 error in </a:t>
            </a:r>
            <a:r>
              <a:rPr lang="en-US" dirty="0" err="1"/>
              <a:t>doSomething</a:t>
            </a:r>
            <a:r>
              <a:rPr lang="en-US" dirty="0"/>
              <a:t>, but instead want to rethrow it to the outer block</a:t>
            </a:r>
          </a:p>
        </p:txBody>
      </p:sp>
    </p:spTree>
    <p:extLst>
      <p:ext uri="{BB962C8B-B14F-4D97-AF65-F5344CB8AC3E}">
        <p14:creationId xmlns:p14="http://schemas.microsoft.com/office/powerpoint/2010/main" val="386236531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EB2095-1CB7-E49E-50A3-19BDC83EAF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8B1B9B-0C1E-8986-3C68-06994E3F2C96}"/>
              </a:ext>
            </a:extLst>
          </p:cNvPr>
          <p:cNvSpPr>
            <a:spLocks noGrp="1"/>
          </p:cNvSpPr>
          <p:nvPr>
            <p:ph type="title"/>
          </p:nvPr>
        </p:nvSpPr>
        <p:spPr/>
        <p:txBody>
          <a:bodyPr/>
          <a:lstStyle/>
          <a:p>
            <a:r>
              <a:rPr lang="en-US" dirty="0"/>
              <a:t>Rethrowing an Exception</a:t>
            </a:r>
          </a:p>
        </p:txBody>
      </p:sp>
      <p:pic>
        <p:nvPicPr>
          <p:cNvPr id="6" name="Picture 5">
            <a:extLst>
              <a:ext uri="{FF2B5EF4-FFF2-40B4-BE49-F238E27FC236}">
                <a16:creationId xmlns:a16="http://schemas.microsoft.com/office/drawing/2014/main" id="{5DB9B277-EFAB-835D-EDD4-5B22AFDA9766}"/>
              </a:ext>
            </a:extLst>
          </p:cNvPr>
          <p:cNvPicPr>
            <a:picLocks noChangeAspect="1"/>
          </p:cNvPicPr>
          <p:nvPr/>
        </p:nvPicPr>
        <p:blipFill>
          <a:blip r:embed="rId3"/>
          <a:stretch>
            <a:fillRect/>
          </a:stretch>
        </p:blipFill>
        <p:spPr>
          <a:xfrm>
            <a:off x="6737804" y="1896835"/>
            <a:ext cx="4855936" cy="4078986"/>
          </a:xfrm>
          <a:prstGeom prst="rect">
            <a:avLst/>
          </a:prstGeom>
        </p:spPr>
      </p:pic>
      <p:sp>
        <p:nvSpPr>
          <p:cNvPr id="8" name="TextBox 7">
            <a:extLst>
              <a:ext uri="{FF2B5EF4-FFF2-40B4-BE49-F238E27FC236}">
                <a16:creationId xmlns:a16="http://schemas.microsoft.com/office/drawing/2014/main" id="{D2FDA288-6B05-55D8-159B-B6DC38E21A74}"/>
              </a:ext>
            </a:extLst>
          </p:cNvPr>
          <p:cNvSpPr txBox="1"/>
          <p:nvPr/>
        </p:nvSpPr>
        <p:spPr>
          <a:xfrm>
            <a:off x="598260" y="2036281"/>
            <a:ext cx="5571804" cy="2785378"/>
          </a:xfrm>
          <a:prstGeom prst="rect">
            <a:avLst/>
          </a:prstGeom>
          <a:noFill/>
        </p:spPr>
        <p:txBody>
          <a:bodyPr wrap="square">
            <a:spAutoFit/>
          </a:bodyPr>
          <a:lstStyle/>
          <a:p>
            <a:pPr marL="342900" indent="-342900">
              <a:buFont typeface="Arial" panose="020B0604020202020204" pitchFamily="34" charset="0"/>
              <a:buChar char="•"/>
            </a:pPr>
            <a:r>
              <a:rPr lang="en-US" sz="2500" dirty="0"/>
              <a:t>When the first catch block catches exception1, the throw; statement simply throws the exception again.</a:t>
            </a:r>
          </a:p>
          <a:p>
            <a:pPr marL="342900" indent="-342900">
              <a:buFont typeface="Arial" panose="020B0604020202020204" pitchFamily="34" charset="0"/>
              <a:buChar char="•"/>
            </a:pPr>
            <a:r>
              <a:rPr lang="en-US" sz="2500" dirty="0"/>
              <a:t>The catch block in the outer try/catch construct, in this case the one in the main function, will then handle the exception.</a:t>
            </a:r>
          </a:p>
        </p:txBody>
      </p:sp>
    </p:spTree>
    <p:extLst>
      <p:ext uri="{BB962C8B-B14F-4D97-AF65-F5344CB8AC3E}">
        <p14:creationId xmlns:p14="http://schemas.microsoft.com/office/powerpoint/2010/main" val="2449779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301</TotalTime>
  <Words>3411</Words>
  <Application>Microsoft Macintosh PowerPoint</Application>
  <PresentationFormat>Widescreen</PresentationFormat>
  <Paragraphs>271</Paragraphs>
  <Slides>61</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61</vt:i4>
      </vt:variant>
    </vt:vector>
  </HeadingPairs>
  <TitlesOfParts>
    <vt:vector size="65" baseType="lpstr">
      <vt:lpstr>Aptos</vt:lpstr>
      <vt:lpstr>Aptos Display</vt:lpstr>
      <vt:lpstr>Arial</vt:lpstr>
      <vt:lpstr>Office Theme</vt:lpstr>
      <vt:lpstr>CS 331</vt:lpstr>
      <vt:lpstr>Member Functions for Reading and Writing Files</vt:lpstr>
      <vt:lpstr>Member Functions for Reading and Writing Files</vt:lpstr>
      <vt:lpstr>Member Functions for Reading and Writing Files</vt:lpstr>
      <vt:lpstr>The getline function</vt:lpstr>
      <vt:lpstr>The getline function</vt:lpstr>
      <vt:lpstr>The getline function</vt:lpstr>
      <vt:lpstr>Example</vt:lpstr>
      <vt:lpstr>The getline function</vt:lpstr>
      <vt:lpstr>The getline function</vt:lpstr>
      <vt:lpstr>The getline function</vt:lpstr>
      <vt:lpstr>The getline function</vt:lpstr>
      <vt:lpstr>The get Family of Member Functions </vt:lpstr>
      <vt:lpstr>Example</vt:lpstr>
      <vt:lpstr>The peek Member Function</vt:lpstr>
      <vt:lpstr>The peek Member Function</vt:lpstr>
      <vt:lpstr>The peek Member Function</vt:lpstr>
      <vt:lpstr>Example</vt:lpstr>
      <vt:lpstr>The peek Member Function</vt:lpstr>
      <vt:lpstr>The put Member Function</vt:lpstr>
      <vt:lpstr>Rewinding a File</vt:lpstr>
      <vt:lpstr>Rewinding a File</vt:lpstr>
      <vt:lpstr>Rewinding a File</vt:lpstr>
      <vt:lpstr>Rewinding a File</vt:lpstr>
      <vt:lpstr>Example</vt:lpstr>
      <vt:lpstr>Exceptions</vt:lpstr>
      <vt:lpstr>Exceptions</vt:lpstr>
      <vt:lpstr>Exceptions</vt:lpstr>
      <vt:lpstr>Throwing an Exception</vt:lpstr>
      <vt:lpstr>Throwing an Exception</vt:lpstr>
      <vt:lpstr>Throwing an Exception</vt:lpstr>
      <vt:lpstr>Throwing an Exception</vt:lpstr>
      <vt:lpstr>Handling an Exception</vt:lpstr>
      <vt:lpstr>Handling an Exception</vt:lpstr>
      <vt:lpstr>Handling an Exception</vt:lpstr>
      <vt:lpstr>Complete example</vt:lpstr>
      <vt:lpstr>What If an Exception Is Not Caught?</vt:lpstr>
      <vt:lpstr>Object-Oriented Exception Handling with Classes</vt:lpstr>
      <vt:lpstr>Object-Oriented Exception Handling with Classes</vt:lpstr>
      <vt:lpstr>Object-Oriented Exception Handling with Classes</vt:lpstr>
      <vt:lpstr>Object-Oriented Exception Handling with Classes</vt:lpstr>
      <vt:lpstr>Main() </vt:lpstr>
      <vt:lpstr>Multiple Exceptions</vt:lpstr>
      <vt:lpstr>Multiple Exceptions</vt:lpstr>
      <vt:lpstr>Multiple Exceptions</vt:lpstr>
      <vt:lpstr>Contents of IntRange2.h</vt:lpstr>
      <vt:lpstr>Main()</vt:lpstr>
      <vt:lpstr>Extracting Information from the Exception Class</vt:lpstr>
      <vt:lpstr>Extracting Information from the Exception Class</vt:lpstr>
      <vt:lpstr>Extracting Information from the Exception Class</vt:lpstr>
      <vt:lpstr>Extracting Information from the Exception Class</vt:lpstr>
      <vt:lpstr>Contents of IntRange3.h</vt:lpstr>
      <vt:lpstr>Main()</vt:lpstr>
      <vt:lpstr>Handling the bad_alloc Exception Thrown by new</vt:lpstr>
      <vt:lpstr>Handling the bad_alloc Exception Thrown by new</vt:lpstr>
      <vt:lpstr>Unwinding the Stack</vt:lpstr>
      <vt:lpstr>Unwinding the Stack</vt:lpstr>
      <vt:lpstr>Rethrowing an Exception</vt:lpstr>
      <vt:lpstr>Rethrowing an Exception</vt:lpstr>
      <vt:lpstr>Rethrowing an Exception</vt:lpstr>
      <vt:lpstr>Rethrowing an Exception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MD Romael Haque</dc:creator>
  <cp:lastModifiedBy>MD Romael Haque</cp:lastModifiedBy>
  <cp:revision>9</cp:revision>
  <dcterms:created xsi:type="dcterms:W3CDTF">2024-11-20T17:03:17Z</dcterms:created>
  <dcterms:modified xsi:type="dcterms:W3CDTF">2024-12-03T13:09:34Z</dcterms:modified>
</cp:coreProperties>
</file>