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98" r:id="rId3"/>
    <p:sldId id="299" r:id="rId4"/>
    <p:sldId id="300" r:id="rId5"/>
    <p:sldId id="301"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 id="319" r:id="rId24"/>
    <p:sldId id="320" r:id="rId25"/>
    <p:sldId id="321" r:id="rId26"/>
    <p:sldId id="322" r:id="rId27"/>
    <p:sldId id="324" r:id="rId28"/>
    <p:sldId id="323" r:id="rId29"/>
    <p:sldId id="325" r:id="rId30"/>
    <p:sldId id="326"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3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ferSingleView="1">
    <p:restoredLeft sz="15620"/>
    <p:restoredTop sz="94660"/>
  </p:normalViewPr>
  <p:slideViewPr>
    <p:cSldViewPr snapToGrid="0">
      <p:cViewPr varScale="1">
        <p:scale>
          <a:sx n="123" d="100"/>
          <a:sy n="123" d="100"/>
        </p:scale>
        <p:origin x="1328" y="176"/>
      </p:cViewPr>
      <p:guideLst/>
    </p:cSldViewPr>
  </p:slide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2AD53-9005-0422-50AD-95E82E33FE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BEACF1-A989-0A29-7284-BC8AFBB06C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65A9A-ADCD-FD67-C83D-169BB0C235B4}"/>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5" name="Footer Placeholder 4">
            <a:extLst>
              <a:ext uri="{FF2B5EF4-FFF2-40B4-BE49-F238E27FC236}">
                <a16:creationId xmlns:a16="http://schemas.microsoft.com/office/drawing/2014/main" id="{7A86C386-2233-1F54-A45B-F251529A1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0C5C46-928F-AB0B-4085-D40D90B8D23F}"/>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468513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A8F1B-9C35-BB98-5A2B-32A59E0812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F9F156-7DD0-E6BB-1B8F-38279A5351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5ABDCA-C019-B7B4-8FA8-4093294FB680}"/>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5" name="Footer Placeholder 4">
            <a:extLst>
              <a:ext uri="{FF2B5EF4-FFF2-40B4-BE49-F238E27FC236}">
                <a16:creationId xmlns:a16="http://schemas.microsoft.com/office/drawing/2014/main" id="{63D0C138-B398-DC34-A848-D579CAE72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20071-208D-B38C-435C-B09EAD2490CF}"/>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2788688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D676F-C6F8-8658-555A-C76E018A08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194CA5-B921-417B-BBEE-01A34BA8B4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A4FAE1-1570-2442-0B28-B9DE8D5C0C7E}"/>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5" name="Footer Placeholder 4">
            <a:extLst>
              <a:ext uri="{FF2B5EF4-FFF2-40B4-BE49-F238E27FC236}">
                <a16:creationId xmlns:a16="http://schemas.microsoft.com/office/drawing/2014/main" id="{46AB42D1-0BD6-27AD-73F1-E70B832AC5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F7455-572A-2795-EE11-1200A3F90F34}"/>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1724565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0C229-4B9F-D934-F522-C74BAD6F9D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AAA1E6-4F94-AE98-5F03-59B3179829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1052A4-9CB6-7340-4472-445C8FBB1F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1BFEEB-6C0E-1EDA-8442-F3AF187B6199}"/>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6" name="Footer Placeholder 5">
            <a:extLst>
              <a:ext uri="{FF2B5EF4-FFF2-40B4-BE49-F238E27FC236}">
                <a16:creationId xmlns:a16="http://schemas.microsoft.com/office/drawing/2014/main" id="{F9BFA2F9-A248-0591-78EA-7882A46FC1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9CA364-C158-CB41-D34C-67627DAC5186}"/>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47789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DFBCE-04D8-CEA2-103A-A1E65445FD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E5C154-32FD-F8DF-6196-55AEC2E21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DBF817-4001-CECC-E87F-A268EBCC56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8F2980-9372-6E72-6A84-2D9B6748B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E2D912-162A-E349-C47A-EF0ABF4199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804B66-6FA5-A673-E2DF-23500305E99A}"/>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8" name="Footer Placeholder 7">
            <a:extLst>
              <a:ext uri="{FF2B5EF4-FFF2-40B4-BE49-F238E27FC236}">
                <a16:creationId xmlns:a16="http://schemas.microsoft.com/office/drawing/2014/main" id="{CCAA520F-1D28-4D5D-74C9-526B1E5722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E10B85-3828-EC08-F84E-164D57F62FB9}"/>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1867651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9C8A-2B34-849D-C46E-466EDE89DD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36E434-7EB0-CD2F-2882-D4132FE9D001}"/>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4" name="Footer Placeholder 3">
            <a:extLst>
              <a:ext uri="{FF2B5EF4-FFF2-40B4-BE49-F238E27FC236}">
                <a16:creationId xmlns:a16="http://schemas.microsoft.com/office/drawing/2014/main" id="{38CB4A22-3BBD-F553-CCB5-C607981C54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79368D-C1F3-AFFD-FF2F-679755E38A76}"/>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8410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336E51-985F-2CB3-381E-52733E8DE22E}"/>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3" name="Footer Placeholder 2">
            <a:extLst>
              <a:ext uri="{FF2B5EF4-FFF2-40B4-BE49-F238E27FC236}">
                <a16:creationId xmlns:a16="http://schemas.microsoft.com/office/drawing/2014/main" id="{70410E52-3ABC-5CA3-25AE-AEA3689A3F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150812-17B7-D4F2-3422-7FC782E5FB0F}"/>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3782843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A9072-30D3-D449-6422-FF3E82860C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8DF061-945D-56C5-A7BB-9B8FC32CC5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2FE4AC-C8D9-A055-3B74-064B38F0C6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A9F780-5654-E709-136C-E29067791D9B}"/>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6" name="Footer Placeholder 5">
            <a:extLst>
              <a:ext uri="{FF2B5EF4-FFF2-40B4-BE49-F238E27FC236}">
                <a16:creationId xmlns:a16="http://schemas.microsoft.com/office/drawing/2014/main" id="{FEAF5CBA-EF4B-CEF7-D827-19679C21D2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1F6BB9-704C-69A8-D25D-F21279EBB7D5}"/>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2348850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4F000-0CBF-C268-FD5A-67301F40DA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E5FC2B-6E63-DBFF-EC5A-951AFD687B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66F3F7-BFC6-C575-F196-A4AEA25646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51ACD1-9F09-3BAD-E9B8-3F53229798C5}"/>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6" name="Footer Placeholder 5">
            <a:extLst>
              <a:ext uri="{FF2B5EF4-FFF2-40B4-BE49-F238E27FC236}">
                <a16:creationId xmlns:a16="http://schemas.microsoft.com/office/drawing/2014/main" id="{3E828687-D622-141A-041C-C34074109A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AB56CD-8934-F48E-E287-62C9E1A1A1FB}"/>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219972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9472-7F43-8B79-4BC0-EB8C9229D2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9474CF-F215-FF77-C528-4CCA4CFEDB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401493-6710-CB23-3127-30A293ECD948}"/>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5" name="Footer Placeholder 4">
            <a:extLst>
              <a:ext uri="{FF2B5EF4-FFF2-40B4-BE49-F238E27FC236}">
                <a16:creationId xmlns:a16="http://schemas.microsoft.com/office/drawing/2014/main" id="{446197BA-E567-1F2C-5725-364F813F9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06E7C6-08FE-34FA-E0F0-DD42C8D0F5DB}"/>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1886632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711C0-9398-53C8-6A7A-B0C5B50A71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A8926A-81AE-3CE0-7A3A-A051F4A3A0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B91AD2-83CD-A9A7-3053-84AD9B7474B6}"/>
              </a:ext>
            </a:extLst>
          </p:cNvPr>
          <p:cNvSpPr>
            <a:spLocks noGrp="1"/>
          </p:cNvSpPr>
          <p:nvPr>
            <p:ph type="dt" sz="half" idx="10"/>
          </p:nvPr>
        </p:nvSpPr>
        <p:spPr/>
        <p:txBody>
          <a:bodyPr/>
          <a:lstStyle/>
          <a:p>
            <a:fld id="{AB0990A6-897B-F649-B2C1-50A460694113}" type="datetimeFigureOut">
              <a:rPr lang="en-US" smtClean="0"/>
              <a:t>9/18/24</a:t>
            </a:fld>
            <a:endParaRPr lang="en-US"/>
          </a:p>
        </p:txBody>
      </p:sp>
      <p:sp>
        <p:nvSpPr>
          <p:cNvPr id="5" name="Footer Placeholder 4">
            <a:extLst>
              <a:ext uri="{FF2B5EF4-FFF2-40B4-BE49-F238E27FC236}">
                <a16:creationId xmlns:a16="http://schemas.microsoft.com/office/drawing/2014/main" id="{631F9762-3E8A-60F8-9FFD-E08C71CE7B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C365BB-E0D2-3863-5D52-AE7598AFCCE9}"/>
              </a:ext>
            </a:extLst>
          </p:cNvPr>
          <p:cNvSpPr>
            <a:spLocks noGrp="1"/>
          </p:cNvSpPr>
          <p:nvPr>
            <p:ph type="sldNum" sz="quarter" idx="12"/>
          </p:nvPr>
        </p:nvSpPr>
        <p:spPr/>
        <p:txBody>
          <a:bodyPr/>
          <a:lstStyle/>
          <a:p>
            <a:fld id="{91FD1130-364E-F341-B818-CA4E025F57F2}" type="slidenum">
              <a:rPr lang="en-US" smtClean="0"/>
              <a:t>‹#›</a:t>
            </a:fld>
            <a:endParaRPr lang="en-US"/>
          </a:p>
        </p:txBody>
      </p:sp>
    </p:spTree>
    <p:extLst>
      <p:ext uri="{BB962C8B-B14F-4D97-AF65-F5344CB8AC3E}">
        <p14:creationId xmlns:p14="http://schemas.microsoft.com/office/powerpoint/2010/main" val="4074873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E9D2D1-F259-9242-112D-5227D13610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874801-6AF6-12A8-6206-9BE6FE1AB1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4991D6-05D1-D09B-F976-13007930A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0990A6-897B-F649-B2C1-50A460694113}" type="datetimeFigureOut">
              <a:rPr lang="en-US" smtClean="0"/>
              <a:t>9/18/24</a:t>
            </a:fld>
            <a:endParaRPr lang="en-US"/>
          </a:p>
        </p:txBody>
      </p:sp>
      <p:sp>
        <p:nvSpPr>
          <p:cNvPr id="5" name="Footer Placeholder 4">
            <a:extLst>
              <a:ext uri="{FF2B5EF4-FFF2-40B4-BE49-F238E27FC236}">
                <a16:creationId xmlns:a16="http://schemas.microsoft.com/office/drawing/2014/main" id="{A98EFD78-BAF6-BBA2-F242-EA0DC049DB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A5FA6CB-BF1E-2B8E-1C52-2C2D14A87E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FD1130-364E-F341-B818-CA4E025F57F2}" type="slidenum">
              <a:rPr lang="en-US" smtClean="0"/>
              <a:t>‹#›</a:t>
            </a:fld>
            <a:endParaRPr lang="en-US"/>
          </a:p>
        </p:txBody>
      </p:sp>
    </p:spTree>
    <p:extLst>
      <p:ext uri="{BB962C8B-B14F-4D97-AF65-F5344CB8AC3E}">
        <p14:creationId xmlns:p14="http://schemas.microsoft.com/office/powerpoint/2010/main" val="3406083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11a0ba9a-3d88-4f30-b839-a723398bae68?userPreferredType=read"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fdef3353-e895-48df-b88e-e2918331f8d5?userPreferredType=rea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plus.pearson.com/products/38bfda0e-08b5-4b34-9a14-38c88560fefb/pages/urn:pearson:entity:bb85a02c-5824-4678-87b9-3aef07f76a3e?userPreferredType=rea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plus.pearson.com/products/38bfda0e-08b5-4b34-9a14-38c88560fefb/pages/urn:pearson:entity:01aaddd2-d1c9-4c48-aec3-0a1ac1e3f990?userPreferredType=read" TargetMode="Externa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151be1c7-42a2-482f-bb3c-e1befb2e9b25?userPreferredType=read"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plus.pearson.com/products/38bfda0e-08b5-4b34-9a14-38c88560fefb/pages/urn:pearson:entity:17270414-104b-49c4-af95-0943d635562b?userPreferredType=read"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E272-F4DE-B3F3-F0E4-A75B298EBFC7}"/>
              </a:ext>
            </a:extLst>
          </p:cNvPr>
          <p:cNvSpPr>
            <a:spLocks noGrp="1"/>
          </p:cNvSpPr>
          <p:nvPr>
            <p:ph type="ctrTitle"/>
          </p:nvPr>
        </p:nvSpPr>
        <p:spPr/>
        <p:txBody>
          <a:bodyPr/>
          <a:lstStyle/>
          <a:p>
            <a:r>
              <a:rPr lang="en-US" dirty="0"/>
              <a:t>Week 4</a:t>
            </a:r>
            <a:br>
              <a:rPr lang="en-US" dirty="0"/>
            </a:br>
            <a:r>
              <a:rPr lang="en-US" sz="4500" dirty="0"/>
              <a:t>Control Statements Part 1</a:t>
            </a:r>
          </a:p>
        </p:txBody>
      </p:sp>
      <p:sp>
        <p:nvSpPr>
          <p:cNvPr id="3" name="Subtitle 2">
            <a:extLst>
              <a:ext uri="{FF2B5EF4-FFF2-40B4-BE49-F238E27FC236}">
                <a16:creationId xmlns:a16="http://schemas.microsoft.com/office/drawing/2014/main" id="{D67EB2CD-BBF5-CD54-69DE-215E7648999E}"/>
              </a:ext>
            </a:extLst>
          </p:cNvPr>
          <p:cNvSpPr>
            <a:spLocks noGrp="1"/>
          </p:cNvSpPr>
          <p:nvPr>
            <p:ph type="subTitle" idx="1"/>
          </p:nvPr>
        </p:nvSpPr>
        <p:spPr/>
        <p:txBody>
          <a:bodyPr/>
          <a:lstStyle/>
          <a:p>
            <a:r>
              <a:rPr lang="en-US" dirty="0"/>
              <a:t>CS 331</a:t>
            </a:r>
          </a:p>
          <a:p>
            <a:r>
              <a:rPr lang="en-US" dirty="0"/>
              <a:t>An introduction to C++ and Object-Oriented Programming</a:t>
            </a:r>
          </a:p>
          <a:p>
            <a:r>
              <a:rPr lang="en-US" dirty="0"/>
              <a:t>MD Romael Haque</a:t>
            </a:r>
          </a:p>
        </p:txBody>
      </p:sp>
    </p:spTree>
    <p:extLst>
      <p:ext uri="{BB962C8B-B14F-4D97-AF65-F5344CB8AC3E}">
        <p14:creationId xmlns:p14="http://schemas.microsoft.com/office/powerpoint/2010/main" val="3017602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33488-3062-BCE8-DA5D-48C25A72A330}"/>
              </a:ext>
            </a:extLst>
          </p:cNvPr>
          <p:cNvSpPr>
            <a:spLocks noGrp="1"/>
          </p:cNvSpPr>
          <p:nvPr>
            <p:ph type="title"/>
          </p:nvPr>
        </p:nvSpPr>
        <p:spPr/>
        <p:txBody>
          <a:bodyPr/>
          <a:lstStyle/>
          <a:p>
            <a:r>
              <a:rPr lang="en-US" dirty="0"/>
              <a:t>Introduction to Loops</a:t>
            </a:r>
          </a:p>
        </p:txBody>
      </p:sp>
      <p:sp>
        <p:nvSpPr>
          <p:cNvPr id="3" name="Content Placeholder 2">
            <a:extLst>
              <a:ext uri="{FF2B5EF4-FFF2-40B4-BE49-F238E27FC236}">
                <a16:creationId xmlns:a16="http://schemas.microsoft.com/office/drawing/2014/main" id="{07C391AB-8503-AD3B-922C-B9E3807AF009}"/>
              </a:ext>
            </a:extLst>
          </p:cNvPr>
          <p:cNvSpPr>
            <a:spLocks noGrp="1"/>
          </p:cNvSpPr>
          <p:nvPr>
            <p:ph idx="1"/>
          </p:nvPr>
        </p:nvSpPr>
        <p:spPr/>
        <p:txBody>
          <a:bodyPr/>
          <a:lstStyle/>
          <a:p>
            <a:r>
              <a:rPr lang="en-US" dirty="0"/>
              <a:t>A loop is part of a program that repeats.</a:t>
            </a:r>
          </a:p>
          <a:p>
            <a:r>
              <a:rPr lang="en-US" dirty="0"/>
              <a:t>A </a:t>
            </a:r>
            <a:r>
              <a:rPr lang="en-US" dirty="0">
                <a:hlinkClick r:id="rId2"/>
              </a:rPr>
              <a:t>loop</a:t>
            </a:r>
            <a:r>
              <a:rPr lang="en-US" dirty="0"/>
              <a:t> is a control structure that causes a statement or group of statements to repeat.</a:t>
            </a:r>
          </a:p>
          <a:p>
            <a:r>
              <a:rPr lang="en-US" dirty="0"/>
              <a:t>C++ has three looping control structures: the while loop, the do-while loop, and the for loop. The difference between each of these is how they control the repetition.</a:t>
            </a:r>
          </a:p>
        </p:txBody>
      </p:sp>
    </p:spTree>
    <p:extLst>
      <p:ext uri="{BB962C8B-B14F-4D97-AF65-F5344CB8AC3E}">
        <p14:creationId xmlns:p14="http://schemas.microsoft.com/office/powerpoint/2010/main" val="2287023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CCD7F-5253-FFBC-A7D7-F43B0AE3728D}"/>
              </a:ext>
            </a:extLst>
          </p:cNvPr>
          <p:cNvSpPr>
            <a:spLocks noGrp="1"/>
          </p:cNvSpPr>
          <p:nvPr>
            <p:ph type="title"/>
          </p:nvPr>
        </p:nvSpPr>
        <p:spPr/>
        <p:txBody>
          <a:bodyPr/>
          <a:lstStyle/>
          <a:p>
            <a:r>
              <a:rPr lang="en-US" dirty="0"/>
              <a:t>The while Loop</a:t>
            </a:r>
          </a:p>
        </p:txBody>
      </p:sp>
      <p:sp>
        <p:nvSpPr>
          <p:cNvPr id="3" name="Content Placeholder 2">
            <a:extLst>
              <a:ext uri="{FF2B5EF4-FFF2-40B4-BE49-F238E27FC236}">
                <a16:creationId xmlns:a16="http://schemas.microsoft.com/office/drawing/2014/main" id="{86FC6256-809A-2A51-A90C-16706820339C}"/>
              </a:ext>
            </a:extLst>
          </p:cNvPr>
          <p:cNvSpPr>
            <a:spLocks noGrp="1"/>
          </p:cNvSpPr>
          <p:nvPr>
            <p:ph idx="1"/>
          </p:nvPr>
        </p:nvSpPr>
        <p:spPr/>
        <p:txBody>
          <a:bodyPr/>
          <a:lstStyle/>
          <a:p>
            <a:r>
              <a:rPr lang="en-US" dirty="0"/>
              <a:t>The while loop has two important parts: </a:t>
            </a:r>
          </a:p>
          <a:p>
            <a:pPr lvl="1"/>
            <a:r>
              <a:rPr lang="en-US" dirty="0"/>
              <a:t>An expression that is tested for a true or false value and </a:t>
            </a:r>
          </a:p>
          <a:p>
            <a:pPr lvl="1"/>
            <a:r>
              <a:rPr lang="en-US" dirty="0"/>
              <a:t>A statement or block that is repeated as long as the expression is true.</a:t>
            </a:r>
          </a:p>
          <a:p>
            <a:pPr marL="457200" lvl="1" indent="0">
              <a:buNone/>
            </a:pPr>
            <a:endParaRPr lang="en-US" dirty="0"/>
          </a:p>
        </p:txBody>
      </p:sp>
      <p:pic>
        <p:nvPicPr>
          <p:cNvPr id="4" name="Picture 3">
            <a:extLst>
              <a:ext uri="{FF2B5EF4-FFF2-40B4-BE49-F238E27FC236}">
                <a16:creationId xmlns:a16="http://schemas.microsoft.com/office/drawing/2014/main" id="{8A1C87DC-0725-61BF-D7C5-136437275C7C}"/>
              </a:ext>
            </a:extLst>
          </p:cNvPr>
          <p:cNvPicPr>
            <a:picLocks noChangeAspect="1"/>
          </p:cNvPicPr>
          <p:nvPr/>
        </p:nvPicPr>
        <p:blipFill>
          <a:blip r:embed="rId2"/>
          <a:srcRect t="1976"/>
          <a:stretch/>
        </p:blipFill>
        <p:spPr>
          <a:xfrm>
            <a:off x="3130550" y="3422091"/>
            <a:ext cx="5930900" cy="3361258"/>
          </a:xfrm>
          <a:prstGeom prst="rect">
            <a:avLst/>
          </a:prstGeom>
        </p:spPr>
      </p:pic>
    </p:spTree>
    <p:extLst>
      <p:ext uri="{BB962C8B-B14F-4D97-AF65-F5344CB8AC3E}">
        <p14:creationId xmlns:p14="http://schemas.microsoft.com/office/powerpoint/2010/main" val="336742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6DD01-B11D-3C00-C52E-C25C806C0043}"/>
              </a:ext>
            </a:extLst>
          </p:cNvPr>
          <p:cNvSpPr>
            <a:spLocks noGrp="1"/>
          </p:cNvSpPr>
          <p:nvPr>
            <p:ph type="title"/>
          </p:nvPr>
        </p:nvSpPr>
        <p:spPr/>
        <p:txBody>
          <a:bodyPr/>
          <a:lstStyle/>
          <a:p>
            <a:r>
              <a:rPr lang="en-US" dirty="0"/>
              <a:t>The while loop - example</a:t>
            </a:r>
          </a:p>
        </p:txBody>
      </p:sp>
      <p:pic>
        <p:nvPicPr>
          <p:cNvPr id="4" name="Content Placeholder 3">
            <a:extLst>
              <a:ext uri="{FF2B5EF4-FFF2-40B4-BE49-F238E27FC236}">
                <a16:creationId xmlns:a16="http://schemas.microsoft.com/office/drawing/2014/main" id="{E65E44E3-2284-F20B-0815-43A960BD5F0B}"/>
              </a:ext>
            </a:extLst>
          </p:cNvPr>
          <p:cNvPicPr>
            <a:picLocks noGrp="1" noChangeAspect="1"/>
          </p:cNvPicPr>
          <p:nvPr>
            <p:ph idx="1"/>
          </p:nvPr>
        </p:nvPicPr>
        <p:blipFill>
          <a:blip r:embed="rId2"/>
          <a:srcRect t="11637"/>
          <a:stretch/>
        </p:blipFill>
        <p:spPr>
          <a:xfrm>
            <a:off x="626973" y="1444751"/>
            <a:ext cx="5280796" cy="5413249"/>
          </a:xfrm>
          <a:prstGeom prst="rect">
            <a:avLst/>
          </a:prstGeom>
        </p:spPr>
      </p:pic>
      <p:pic>
        <p:nvPicPr>
          <p:cNvPr id="5" name="Picture 4">
            <a:extLst>
              <a:ext uri="{FF2B5EF4-FFF2-40B4-BE49-F238E27FC236}">
                <a16:creationId xmlns:a16="http://schemas.microsoft.com/office/drawing/2014/main" id="{7033ABBB-16F2-501B-6CCD-0AB4BFB7E8CD}"/>
              </a:ext>
            </a:extLst>
          </p:cNvPr>
          <p:cNvPicPr>
            <a:picLocks noChangeAspect="1"/>
          </p:cNvPicPr>
          <p:nvPr/>
        </p:nvPicPr>
        <p:blipFill>
          <a:blip r:embed="rId3"/>
          <a:stretch>
            <a:fillRect/>
          </a:stretch>
        </p:blipFill>
        <p:spPr>
          <a:xfrm>
            <a:off x="6473952" y="2176886"/>
            <a:ext cx="5399024" cy="2504228"/>
          </a:xfrm>
          <a:prstGeom prst="rect">
            <a:avLst/>
          </a:prstGeom>
        </p:spPr>
      </p:pic>
    </p:spTree>
    <p:extLst>
      <p:ext uri="{BB962C8B-B14F-4D97-AF65-F5344CB8AC3E}">
        <p14:creationId xmlns:p14="http://schemas.microsoft.com/office/powerpoint/2010/main" val="3879639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5B962-8D68-1C3A-FBF6-2C4B3B1C19EE}"/>
              </a:ext>
            </a:extLst>
          </p:cNvPr>
          <p:cNvSpPr>
            <a:spLocks noGrp="1"/>
          </p:cNvSpPr>
          <p:nvPr>
            <p:ph type="title"/>
          </p:nvPr>
        </p:nvSpPr>
        <p:spPr/>
        <p:txBody>
          <a:bodyPr/>
          <a:lstStyle/>
          <a:p>
            <a:r>
              <a:rPr lang="en-US" dirty="0"/>
              <a:t>The while loop</a:t>
            </a:r>
          </a:p>
        </p:txBody>
      </p:sp>
      <p:sp>
        <p:nvSpPr>
          <p:cNvPr id="3" name="Content Placeholder 2">
            <a:extLst>
              <a:ext uri="{FF2B5EF4-FFF2-40B4-BE49-F238E27FC236}">
                <a16:creationId xmlns:a16="http://schemas.microsoft.com/office/drawing/2014/main" id="{2EBC58B4-2DCF-C372-393D-5F4ABA580CFE}"/>
              </a:ext>
            </a:extLst>
          </p:cNvPr>
          <p:cNvSpPr>
            <a:spLocks noGrp="1"/>
          </p:cNvSpPr>
          <p:nvPr>
            <p:ph idx="1"/>
          </p:nvPr>
        </p:nvSpPr>
        <p:spPr/>
        <p:txBody>
          <a:bodyPr/>
          <a:lstStyle/>
          <a:p>
            <a:r>
              <a:rPr lang="en-US" dirty="0"/>
              <a:t>The while loop is a </a:t>
            </a:r>
            <a:r>
              <a:rPr lang="en-US" b="1" dirty="0">
                <a:hlinkClick r:id="rId2"/>
              </a:rPr>
              <a:t>pretest loop</a:t>
            </a:r>
            <a:r>
              <a:rPr lang="en-US" dirty="0"/>
              <a:t>. This means it tests its condition before each iteration. If the test expression is false to start with, the loop will never iterate.</a:t>
            </a:r>
          </a:p>
          <a:p>
            <a:pPr marL="0" indent="0">
              <a:buNone/>
            </a:pPr>
            <a:endParaRPr lang="en-US" b="1" dirty="0">
              <a:solidFill>
                <a:srgbClr val="333333"/>
              </a:solidFill>
              <a:effectLst/>
            </a:endParaRPr>
          </a:p>
          <a:p>
            <a:pPr marL="0" indent="0">
              <a:buNone/>
            </a:pPr>
            <a:r>
              <a:rPr lang="en-US" b="1" dirty="0">
                <a:solidFill>
                  <a:srgbClr val="333333"/>
                </a:solidFill>
                <a:effectLst/>
              </a:rPr>
              <a:t>int</a:t>
            </a:r>
            <a:r>
              <a:rPr lang="en-US" dirty="0"/>
              <a:t> count = </a:t>
            </a:r>
            <a:r>
              <a:rPr lang="en-US" dirty="0">
                <a:solidFill>
                  <a:srgbClr val="1D7C7C"/>
                </a:solidFill>
                <a:effectLst/>
              </a:rPr>
              <a:t>6</a:t>
            </a:r>
            <a:r>
              <a:rPr lang="en-US" dirty="0"/>
              <a:t>; </a:t>
            </a:r>
          </a:p>
          <a:p>
            <a:pPr marL="0" indent="0">
              <a:buNone/>
            </a:pPr>
            <a:r>
              <a:rPr lang="en-US" b="1" dirty="0">
                <a:solidFill>
                  <a:srgbClr val="333333"/>
                </a:solidFill>
                <a:effectLst/>
              </a:rPr>
              <a:t>while</a:t>
            </a:r>
            <a:r>
              <a:rPr lang="en-US" dirty="0"/>
              <a:t> (count &lt;= </a:t>
            </a:r>
            <a:r>
              <a:rPr lang="en-US" dirty="0">
                <a:solidFill>
                  <a:srgbClr val="1D7C7C"/>
                </a:solidFill>
                <a:effectLst/>
              </a:rPr>
              <a:t>5</a:t>
            </a:r>
            <a:r>
              <a:rPr lang="en-US" dirty="0"/>
              <a:t>) </a:t>
            </a:r>
          </a:p>
          <a:p>
            <a:pPr marL="0" indent="0">
              <a:buNone/>
            </a:pPr>
            <a:r>
              <a:rPr lang="en-US" dirty="0"/>
              <a:t>{ 	</a:t>
            </a:r>
            <a:r>
              <a:rPr lang="en-US" dirty="0" err="1"/>
              <a:t>cout</a:t>
            </a:r>
            <a:r>
              <a:rPr lang="en-US" dirty="0"/>
              <a:t> &lt;&lt; </a:t>
            </a:r>
            <a:r>
              <a:rPr lang="en-US" dirty="0">
                <a:solidFill>
                  <a:srgbClr val="DD1144"/>
                </a:solidFill>
                <a:effectLst/>
              </a:rPr>
              <a:t>"Hello "</a:t>
            </a:r>
            <a:r>
              <a:rPr lang="en-US" dirty="0"/>
              <a:t>; </a:t>
            </a:r>
            <a:br>
              <a:rPr lang="en-US" dirty="0"/>
            </a:br>
            <a:r>
              <a:rPr lang="en-US" dirty="0"/>
              <a:t>	count = count + </a:t>
            </a:r>
            <a:r>
              <a:rPr lang="en-US" dirty="0">
                <a:solidFill>
                  <a:srgbClr val="1D7C7C"/>
                </a:solidFill>
                <a:effectLst/>
              </a:rPr>
              <a:t>1</a:t>
            </a:r>
            <a:r>
              <a:rPr lang="en-US" dirty="0"/>
              <a:t>; </a:t>
            </a:r>
          </a:p>
          <a:p>
            <a:pPr marL="0" indent="0">
              <a:buNone/>
            </a:pPr>
            <a:r>
              <a:rPr lang="en-US" dirty="0"/>
              <a:t>} </a:t>
            </a:r>
          </a:p>
        </p:txBody>
      </p:sp>
    </p:spTree>
    <p:extLst>
      <p:ext uri="{BB962C8B-B14F-4D97-AF65-F5344CB8AC3E}">
        <p14:creationId xmlns:p14="http://schemas.microsoft.com/office/powerpoint/2010/main" val="204400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9235D-8F3E-671B-D03B-5EA5A889EB0E}"/>
              </a:ext>
            </a:extLst>
          </p:cNvPr>
          <p:cNvSpPr>
            <a:spLocks noGrp="1"/>
          </p:cNvSpPr>
          <p:nvPr>
            <p:ph type="title"/>
          </p:nvPr>
        </p:nvSpPr>
        <p:spPr/>
        <p:txBody>
          <a:bodyPr/>
          <a:lstStyle/>
          <a:p>
            <a:r>
              <a:rPr lang="en-US" dirty="0">
                <a:effectLst/>
              </a:rPr>
              <a:t>Programming Style and the while Loop</a:t>
            </a:r>
            <a:br>
              <a:rPr lang="en-US" b="1" dirty="0">
                <a:effectLst/>
              </a:rPr>
            </a:br>
            <a:endParaRPr lang="en-US" dirty="0"/>
          </a:p>
        </p:txBody>
      </p:sp>
      <p:sp>
        <p:nvSpPr>
          <p:cNvPr id="3" name="Content Placeholder 2">
            <a:extLst>
              <a:ext uri="{FF2B5EF4-FFF2-40B4-BE49-F238E27FC236}">
                <a16:creationId xmlns:a16="http://schemas.microsoft.com/office/drawing/2014/main" id="{9A890032-89F8-D27D-BADC-555CB9402B12}"/>
              </a:ext>
            </a:extLst>
          </p:cNvPr>
          <p:cNvSpPr>
            <a:spLocks noGrp="1"/>
          </p:cNvSpPr>
          <p:nvPr>
            <p:ph idx="1"/>
          </p:nvPr>
        </p:nvSpPr>
        <p:spPr/>
        <p:txBody>
          <a:bodyPr/>
          <a:lstStyle/>
          <a:p>
            <a:r>
              <a:rPr lang="en-US" dirty="0"/>
              <a:t>If there is only one statement repeated by the loop, it should appear on the line after the while statement and be indented one level.</a:t>
            </a:r>
          </a:p>
          <a:p>
            <a:r>
              <a:rPr lang="en-US" dirty="0"/>
              <a:t>If the loop repeats a block of statements, the block should begin on the line after the while statement, and each line inside the braces should be indented.</a:t>
            </a:r>
          </a:p>
          <a:p>
            <a:endParaRPr lang="en-US" dirty="0"/>
          </a:p>
          <a:p>
            <a:r>
              <a:rPr lang="en-US" dirty="0" err="1"/>
              <a:t>Coorect</a:t>
            </a:r>
            <a:r>
              <a:rPr lang="en-US" dirty="0"/>
              <a:t> but avoid this – </a:t>
            </a:r>
          </a:p>
          <a:p>
            <a:pPr lvl="1"/>
            <a:r>
              <a:rPr lang="en-US" b="1" dirty="0">
                <a:solidFill>
                  <a:srgbClr val="333333"/>
                </a:solidFill>
                <a:effectLst/>
              </a:rPr>
              <a:t>while</a:t>
            </a:r>
            <a:r>
              <a:rPr lang="en-US" dirty="0"/>
              <a:t> (count &lt;= </a:t>
            </a:r>
            <a:r>
              <a:rPr lang="en-US" dirty="0">
                <a:solidFill>
                  <a:srgbClr val="1D7C7C"/>
                </a:solidFill>
                <a:effectLst/>
              </a:rPr>
              <a:t>5</a:t>
            </a:r>
            <a:r>
              <a:rPr lang="en-US" dirty="0"/>
              <a:t>) { </a:t>
            </a:r>
            <a:r>
              <a:rPr lang="en-US" dirty="0" err="1"/>
              <a:t>cout</a:t>
            </a:r>
            <a:r>
              <a:rPr lang="en-US" dirty="0"/>
              <a:t> &lt;&lt; </a:t>
            </a:r>
            <a:r>
              <a:rPr lang="en-US" dirty="0">
                <a:solidFill>
                  <a:srgbClr val="DD1144"/>
                </a:solidFill>
                <a:effectLst/>
              </a:rPr>
              <a:t>"Hello "</a:t>
            </a:r>
            <a:r>
              <a:rPr lang="en-US" dirty="0"/>
              <a:t>; count = count + </a:t>
            </a:r>
            <a:r>
              <a:rPr lang="en-US" dirty="0">
                <a:solidFill>
                  <a:srgbClr val="1D7C7C"/>
                </a:solidFill>
                <a:effectLst/>
              </a:rPr>
              <a:t>1</a:t>
            </a:r>
            <a:r>
              <a:rPr lang="en-US" dirty="0"/>
              <a:t>; }</a:t>
            </a:r>
          </a:p>
        </p:txBody>
      </p:sp>
    </p:spTree>
    <p:extLst>
      <p:ext uri="{BB962C8B-B14F-4D97-AF65-F5344CB8AC3E}">
        <p14:creationId xmlns:p14="http://schemas.microsoft.com/office/powerpoint/2010/main" val="106726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84D1E-E8E3-454D-0F48-28E4D6121018}"/>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44C40B69-E047-CC6A-0413-0A69AA76E3D5}"/>
              </a:ext>
            </a:extLst>
          </p:cNvPr>
          <p:cNvSpPr>
            <a:spLocks noGrp="1"/>
          </p:cNvSpPr>
          <p:nvPr>
            <p:ph idx="1"/>
          </p:nvPr>
        </p:nvSpPr>
        <p:spPr/>
        <p:txBody>
          <a:bodyPr>
            <a:normAutofit fontScale="92500" lnSpcReduction="10000"/>
          </a:bodyPr>
          <a:lstStyle/>
          <a:p>
            <a:r>
              <a:rPr lang="en-US" dirty="0"/>
              <a:t>You are tasked with writing a C++ program to help a teacher determine the letter grades for multiple students based on their test scores. The program will ask the teacher how many students need their grades calculated, then prompt for each student's numeric test score. Based on the numeric score, the program will assign a letter grade following the standard grading scale:</a:t>
            </a:r>
          </a:p>
          <a:p>
            <a:pPr>
              <a:buFont typeface="Wingdings" pitchFamily="2" charset="2"/>
              <a:buChar char="Ø"/>
            </a:pPr>
            <a:r>
              <a:rPr lang="en-US" dirty="0"/>
              <a:t>90 and above: A</a:t>
            </a:r>
          </a:p>
          <a:p>
            <a:pPr>
              <a:buFont typeface="Wingdings" pitchFamily="2" charset="2"/>
              <a:buChar char="Ø"/>
            </a:pPr>
            <a:r>
              <a:rPr lang="en-US" dirty="0"/>
              <a:t>80 to 89: B</a:t>
            </a:r>
          </a:p>
          <a:p>
            <a:pPr>
              <a:buFont typeface="Wingdings" pitchFamily="2" charset="2"/>
              <a:buChar char="Ø"/>
            </a:pPr>
            <a:r>
              <a:rPr lang="en-US" dirty="0"/>
              <a:t>70 to 79: C</a:t>
            </a:r>
          </a:p>
          <a:p>
            <a:pPr>
              <a:buFont typeface="Wingdings" pitchFamily="2" charset="2"/>
              <a:buChar char="Ø"/>
            </a:pPr>
            <a:r>
              <a:rPr lang="en-US" dirty="0"/>
              <a:t>60 to 69: D</a:t>
            </a:r>
          </a:p>
          <a:p>
            <a:pPr>
              <a:buFont typeface="Wingdings" pitchFamily="2" charset="2"/>
              <a:buChar char="Ø"/>
            </a:pPr>
            <a:r>
              <a:rPr lang="en-US" dirty="0"/>
              <a:t>Below 60: F</a:t>
            </a:r>
          </a:p>
          <a:p>
            <a:endParaRPr lang="en-US" dirty="0"/>
          </a:p>
        </p:txBody>
      </p:sp>
    </p:spTree>
    <p:extLst>
      <p:ext uri="{BB962C8B-B14F-4D97-AF65-F5344CB8AC3E}">
        <p14:creationId xmlns:p14="http://schemas.microsoft.com/office/powerpoint/2010/main" val="383864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BD085-5FE8-8181-05BE-EC9DE0722A0F}"/>
              </a:ext>
            </a:extLst>
          </p:cNvPr>
          <p:cNvSpPr>
            <a:spLocks noGrp="1"/>
          </p:cNvSpPr>
          <p:nvPr>
            <p:ph type="title"/>
          </p:nvPr>
        </p:nvSpPr>
        <p:spPr/>
        <p:txBody>
          <a:bodyPr/>
          <a:lstStyle/>
          <a:p>
            <a:r>
              <a:rPr lang="en-US" dirty="0"/>
              <a:t>Using the while Loop for Input Validation</a:t>
            </a:r>
          </a:p>
        </p:txBody>
      </p:sp>
      <p:sp>
        <p:nvSpPr>
          <p:cNvPr id="3" name="Content Placeholder 2">
            <a:extLst>
              <a:ext uri="{FF2B5EF4-FFF2-40B4-BE49-F238E27FC236}">
                <a16:creationId xmlns:a16="http://schemas.microsoft.com/office/drawing/2014/main" id="{15ADC167-9619-166F-5539-102DEE36D4E0}"/>
              </a:ext>
            </a:extLst>
          </p:cNvPr>
          <p:cNvSpPr>
            <a:spLocks noGrp="1"/>
          </p:cNvSpPr>
          <p:nvPr>
            <p:ph idx="1"/>
          </p:nvPr>
        </p:nvSpPr>
        <p:spPr/>
        <p:txBody>
          <a:bodyPr/>
          <a:lstStyle/>
          <a:p>
            <a:r>
              <a:rPr lang="en-US" dirty="0"/>
              <a:t>The while loop can be used to create input routines that repeat until acceptable data is entered.</a:t>
            </a: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D13CD38C-3C4E-8AFB-4E9A-B4794497A50A}"/>
              </a:ext>
            </a:extLst>
          </p:cNvPr>
          <p:cNvPicPr>
            <a:picLocks noChangeAspect="1"/>
          </p:cNvPicPr>
          <p:nvPr/>
        </p:nvPicPr>
        <p:blipFill>
          <a:blip r:embed="rId2"/>
          <a:stretch>
            <a:fillRect/>
          </a:stretch>
        </p:blipFill>
        <p:spPr>
          <a:xfrm>
            <a:off x="1206500" y="3429000"/>
            <a:ext cx="4889500" cy="1727200"/>
          </a:xfrm>
          <a:prstGeom prst="rect">
            <a:avLst/>
          </a:prstGeom>
        </p:spPr>
      </p:pic>
      <p:pic>
        <p:nvPicPr>
          <p:cNvPr id="5" name="Picture 4">
            <a:extLst>
              <a:ext uri="{FF2B5EF4-FFF2-40B4-BE49-F238E27FC236}">
                <a16:creationId xmlns:a16="http://schemas.microsoft.com/office/drawing/2014/main" id="{DD468681-CB6F-00AA-9BE7-3640377BD167}"/>
              </a:ext>
            </a:extLst>
          </p:cNvPr>
          <p:cNvPicPr>
            <a:picLocks noChangeAspect="1"/>
          </p:cNvPicPr>
          <p:nvPr/>
        </p:nvPicPr>
        <p:blipFill>
          <a:blip r:embed="rId3"/>
          <a:stretch>
            <a:fillRect/>
          </a:stretch>
        </p:blipFill>
        <p:spPr>
          <a:xfrm>
            <a:off x="6977951" y="2744354"/>
            <a:ext cx="4331108" cy="2940644"/>
          </a:xfrm>
          <a:prstGeom prst="rect">
            <a:avLst/>
          </a:prstGeom>
        </p:spPr>
      </p:pic>
    </p:spTree>
    <p:extLst>
      <p:ext uri="{BB962C8B-B14F-4D97-AF65-F5344CB8AC3E}">
        <p14:creationId xmlns:p14="http://schemas.microsoft.com/office/powerpoint/2010/main" val="2741152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F7D5-B3ED-6212-6550-59A8DDDB9164}"/>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7936373E-334E-5903-7F98-4699C3F8AA6E}"/>
              </a:ext>
            </a:extLst>
          </p:cNvPr>
          <p:cNvSpPr>
            <a:spLocks noGrp="1"/>
          </p:cNvSpPr>
          <p:nvPr>
            <p:ph idx="1"/>
          </p:nvPr>
        </p:nvSpPr>
        <p:spPr/>
        <p:txBody>
          <a:bodyPr/>
          <a:lstStyle/>
          <a:p>
            <a:r>
              <a:rPr lang="en-US" dirty="0"/>
              <a:t>Write a program to calculate the number of soccer teams a youth league may create, based on the given number of available players and a minimum and maximum number of players per team. </a:t>
            </a:r>
          </a:p>
        </p:txBody>
      </p:sp>
    </p:spTree>
    <p:extLst>
      <p:ext uri="{BB962C8B-B14F-4D97-AF65-F5344CB8AC3E}">
        <p14:creationId xmlns:p14="http://schemas.microsoft.com/office/powerpoint/2010/main" val="1778868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1E733-26F8-1122-D144-0739852078AD}"/>
              </a:ext>
            </a:extLst>
          </p:cNvPr>
          <p:cNvSpPr>
            <a:spLocks noGrp="1"/>
          </p:cNvSpPr>
          <p:nvPr>
            <p:ph type="title"/>
          </p:nvPr>
        </p:nvSpPr>
        <p:spPr/>
        <p:txBody>
          <a:bodyPr/>
          <a:lstStyle/>
          <a:p>
            <a:r>
              <a:rPr lang="en-US" dirty="0"/>
              <a:t>The Increment and Decrement Operators</a:t>
            </a:r>
          </a:p>
        </p:txBody>
      </p:sp>
      <p:sp>
        <p:nvSpPr>
          <p:cNvPr id="3" name="Content Placeholder 2">
            <a:extLst>
              <a:ext uri="{FF2B5EF4-FFF2-40B4-BE49-F238E27FC236}">
                <a16:creationId xmlns:a16="http://schemas.microsoft.com/office/drawing/2014/main" id="{AD34D8C8-2E54-E546-BD21-03AA9202072E}"/>
              </a:ext>
            </a:extLst>
          </p:cNvPr>
          <p:cNvSpPr>
            <a:spLocks noGrp="1"/>
          </p:cNvSpPr>
          <p:nvPr>
            <p:ph idx="1"/>
          </p:nvPr>
        </p:nvSpPr>
        <p:spPr/>
        <p:txBody>
          <a:bodyPr>
            <a:normAutofit fontScale="92500" lnSpcReduction="10000"/>
          </a:bodyPr>
          <a:lstStyle/>
          <a:p>
            <a:r>
              <a:rPr lang="en-US" dirty="0"/>
              <a:t>C++ provides a pair of operators for incrementing and decrementing variables.</a:t>
            </a:r>
          </a:p>
          <a:p>
            <a:r>
              <a:rPr lang="en-US" dirty="0"/>
              <a:t>To </a:t>
            </a:r>
            <a:r>
              <a:rPr lang="en-US" dirty="0">
                <a:hlinkClick r:id="rId2"/>
              </a:rPr>
              <a:t>increment</a:t>
            </a:r>
            <a:r>
              <a:rPr lang="en-US" dirty="0"/>
              <a:t> a value means to increase it, and to </a:t>
            </a:r>
            <a:r>
              <a:rPr lang="en-US" dirty="0">
                <a:hlinkClick r:id="rId2"/>
              </a:rPr>
              <a:t>decrement</a:t>
            </a:r>
            <a:r>
              <a:rPr lang="en-US" dirty="0"/>
              <a:t> a value means to decrease it. </a:t>
            </a:r>
          </a:p>
          <a:p>
            <a:r>
              <a:rPr lang="en-US" dirty="0"/>
              <a:t>General example –</a:t>
            </a:r>
          </a:p>
          <a:p>
            <a:endParaRPr lang="en-US" dirty="0"/>
          </a:p>
          <a:p>
            <a:endParaRPr lang="en-US" dirty="0"/>
          </a:p>
          <a:p>
            <a:r>
              <a:rPr lang="en-US" dirty="0"/>
              <a:t>C++ provides a pair of operators to do this. They are both unary operators. That means they operate on just one operand. </a:t>
            </a:r>
          </a:p>
          <a:p>
            <a:r>
              <a:rPr lang="en-US" b="1" dirty="0"/>
              <a:t>The ++ operator increases its operand’s value by 1. The -- operator decreases its operand’s value by 1. </a:t>
            </a:r>
          </a:p>
          <a:p>
            <a:endParaRPr lang="en-US" dirty="0"/>
          </a:p>
          <a:p>
            <a:endParaRPr lang="en-US" dirty="0"/>
          </a:p>
        </p:txBody>
      </p:sp>
      <p:pic>
        <p:nvPicPr>
          <p:cNvPr id="4" name="Picture 3">
            <a:extLst>
              <a:ext uri="{FF2B5EF4-FFF2-40B4-BE49-F238E27FC236}">
                <a16:creationId xmlns:a16="http://schemas.microsoft.com/office/drawing/2014/main" id="{1700BE93-9BF7-1E95-B185-1BBE09AFDE60}"/>
              </a:ext>
            </a:extLst>
          </p:cNvPr>
          <p:cNvPicPr>
            <a:picLocks noChangeAspect="1"/>
          </p:cNvPicPr>
          <p:nvPr/>
        </p:nvPicPr>
        <p:blipFill>
          <a:blip r:embed="rId3"/>
          <a:stretch>
            <a:fillRect/>
          </a:stretch>
        </p:blipFill>
        <p:spPr>
          <a:xfrm>
            <a:off x="4039693" y="3798294"/>
            <a:ext cx="3393598" cy="718841"/>
          </a:xfrm>
          <a:prstGeom prst="rect">
            <a:avLst/>
          </a:prstGeom>
        </p:spPr>
      </p:pic>
    </p:spTree>
    <p:extLst>
      <p:ext uri="{BB962C8B-B14F-4D97-AF65-F5344CB8AC3E}">
        <p14:creationId xmlns:p14="http://schemas.microsoft.com/office/powerpoint/2010/main" val="1102102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A3CDA-D6A3-DC8A-300C-B9349CAFF85F}"/>
              </a:ext>
            </a:extLst>
          </p:cNvPr>
          <p:cNvSpPr>
            <a:spLocks noGrp="1"/>
          </p:cNvSpPr>
          <p:nvPr>
            <p:ph type="title"/>
          </p:nvPr>
        </p:nvSpPr>
        <p:spPr/>
        <p:txBody>
          <a:bodyPr/>
          <a:lstStyle/>
          <a:p>
            <a:r>
              <a:rPr lang="en-US" dirty="0"/>
              <a:t>The Increment and Decrement Operators</a:t>
            </a:r>
          </a:p>
        </p:txBody>
      </p:sp>
      <p:sp>
        <p:nvSpPr>
          <p:cNvPr id="3" name="Content Placeholder 2">
            <a:extLst>
              <a:ext uri="{FF2B5EF4-FFF2-40B4-BE49-F238E27FC236}">
                <a16:creationId xmlns:a16="http://schemas.microsoft.com/office/drawing/2014/main" id="{69E1D6A4-8A45-E171-EAE9-47D2D52FC2C9}"/>
              </a:ext>
            </a:extLst>
          </p:cNvPr>
          <p:cNvSpPr>
            <a:spLocks noGrp="1"/>
          </p:cNvSpPr>
          <p:nvPr>
            <p:ph idx="1"/>
          </p:nvPr>
        </p:nvSpPr>
        <p:spPr/>
        <p:txBody>
          <a:bodyPr>
            <a:normAutofit fontScale="85000" lnSpcReduction="10000"/>
          </a:bodyPr>
          <a:lstStyle/>
          <a:p>
            <a:r>
              <a:rPr lang="en-US" dirty="0"/>
              <a:t>Here are three different ways to increment the value of the variable num by 1.</a:t>
            </a:r>
          </a:p>
          <a:p>
            <a:endParaRPr lang="en-US" dirty="0"/>
          </a:p>
          <a:p>
            <a:pPr marL="0" indent="0">
              <a:buNone/>
            </a:pPr>
            <a:endParaRPr lang="en-US" dirty="0"/>
          </a:p>
          <a:p>
            <a:r>
              <a:rPr lang="en-US" dirty="0"/>
              <a:t>Here are three different ways to decrement it by 1</a:t>
            </a:r>
          </a:p>
          <a:p>
            <a:endParaRPr lang="en-US" dirty="0"/>
          </a:p>
          <a:p>
            <a:endParaRPr lang="en-US" dirty="0"/>
          </a:p>
          <a:p>
            <a:pPr algn="just"/>
            <a:r>
              <a:rPr lang="en-US" dirty="0"/>
              <a:t>Notice that there is no space between the two plus signs in ++ or between them and the name of the variable being incremented.</a:t>
            </a:r>
          </a:p>
          <a:p>
            <a:pPr marL="0" indent="0" algn="just">
              <a:buNone/>
            </a:pPr>
            <a:endParaRPr lang="en-US" dirty="0"/>
          </a:p>
          <a:p>
            <a:pPr algn="just"/>
            <a:r>
              <a:rPr lang="en-US" dirty="0"/>
              <a:t>Note also that the ++ and −− operators cannot operate on literals. They can </a:t>
            </a:r>
            <a:r>
              <a:rPr lang="en-US" i="1" dirty="0"/>
              <a:t>only</a:t>
            </a:r>
            <a:r>
              <a:rPr lang="en-US" dirty="0"/>
              <a:t> operate on an </a:t>
            </a:r>
            <a:r>
              <a:rPr lang="en-US" dirty="0" err="1"/>
              <a:t>lvalue</a:t>
            </a:r>
            <a:r>
              <a:rPr lang="en-US" dirty="0"/>
              <a:t>, such as a variable.</a:t>
            </a:r>
          </a:p>
          <a:p>
            <a:pPr lvl="1"/>
            <a:endParaRPr lang="en-US" dirty="0"/>
          </a:p>
        </p:txBody>
      </p:sp>
      <p:pic>
        <p:nvPicPr>
          <p:cNvPr id="4" name="Picture 3">
            <a:extLst>
              <a:ext uri="{FF2B5EF4-FFF2-40B4-BE49-F238E27FC236}">
                <a16:creationId xmlns:a16="http://schemas.microsoft.com/office/drawing/2014/main" id="{CF9D1930-1562-29D2-3ABE-4B82F04E124B}"/>
              </a:ext>
            </a:extLst>
          </p:cNvPr>
          <p:cNvPicPr>
            <a:picLocks noChangeAspect="1"/>
          </p:cNvPicPr>
          <p:nvPr/>
        </p:nvPicPr>
        <p:blipFill>
          <a:blip r:embed="rId2"/>
          <a:stretch>
            <a:fillRect/>
          </a:stretch>
        </p:blipFill>
        <p:spPr>
          <a:xfrm>
            <a:off x="2663155" y="2255368"/>
            <a:ext cx="4876800" cy="838200"/>
          </a:xfrm>
          <a:prstGeom prst="rect">
            <a:avLst/>
          </a:prstGeom>
        </p:spPr>
      </p:pic>
      <p:pic>
        <p:nvPicPr>
          <p:cNvPr id="5" name="Picture 4">
            <a:extLst>
              <a:ext uri="{FF2B5EF4-FFF2-40B4-BE49-F238E27FC236}">
                <a16:creationId xmlns:a16="http://schemas.microsoft.com/office/drawing/2014/main" id="{CEF4462B-588C-D096-AA4A-056B82AC1B87}"/>
              </a:ext>
            </a:extLst>
          </p:cNvPr>
          <p:cNvPicPr>
            <a:picLocks noChangeAspect="1"/>
          </p:cNvPicPr>
          <p:nvPr/>
        </p:nvPicPr>
        <p:blipFill>
          <a:blip r:embed="rId3"/>
          <a:stretch>
            <a:fillRect/>
          </a:stretch>
        </p:blipFill>
        <p:spPr>
          <a:xfrm>
            <a:off x="2586955" y="3523311"/>
            <a:ext cx="4953000" cy="774700"/>
          </a:xfrm>
          <a:prstGeom prst="rect">
            <a:avLst/>
          </a:prstGeom>
        </p:spPr>
      </p:pic>
    </p:spTree>
    <p:extLst>
      <p:ext uri="{BB962C8B-B14F-4D97-AF65-F5344CB8AC3E}">
        <p14:creationId xmlns:p14="http://schemas.microsoft.com/office/powerpoint/2010/main" val="293763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1273F-1359-0FDB-3CAF-ECCCAC05784A}"/>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D194F9C4-55CF-9AD3-C385-30293728F242}"/>
              </a:ext>
            </a:extLst>
          </p:cNvPr>
          <p:cNvPicPr>
            <a:picLocks noGrp="1" noChangeAspect="1"/>
          </p:cNvPicPr>
          <p:nvPr>
            <p:ph idx="1"/>
          </p:nvPr>
        </p:nvPicPr>
        <p:blipFill>
          <a:blip r:embed="rId2"/>
          <a:stretch>
            <a:fillRect/>
          </a:stretch>
        </p:blipFill>
        <p:spPr>
          <a:xfrm>
            <a:off x="4320602" y="560347"/>
            <a:ext cx="3903218" cy="5932527"/>
          </a:xfrm>
          <a:prstGeom prst="rect">
            <a:avLst/>
          </a:prstGeom>
        </p:spPr>
      </p:pic>
    </p:spTree>
    <p:extLst>
      <p:ext uri="{BB962C8B-B14F-4D97-AF65-F5344CB8AC3E}">
        <p14:creationId xmlns:p14="http://schemas.microsoft.com/office/powerpoint/2010/main" val="2948979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F1FB2-AD50-430A-0B91-F42CD20549E4}"/>
              </a:ext>
            </a:extLst>
          </p:cNvPr>
          <p:cNvSpPr>
            <a:spLocks noGrp="1"/>
          </p:cNvSpPr>
          <p:nvPr>
            <p:ph type="title"/>
          </p:nvPr>
        </p:nvSpPr>
        <p:spPr/>
        <p:txBody>
          <a:bodyPr/>
          <a:lstStyle/>
          <a:p>
            <a:r>
              <a:rPr lang="en-US" dirty="0"/>
              <a:t>Postfix and Prefix Modes</a:t>
            </a:r>
          </a:p>
        </p:txBody>
      </p:sp>
      <p:sp>
        <p:nvSpPr>
          <p:cNvPr id="3" name="Content Placeholder 2">
            <a:extLst>
              <a:ext uri="{FF2B5EF4-FFF2-40B4-BE49-F238E27FC236}">
                <a16:creationId xmlns:a16="http://schemas.microsoft.com/office/drawing/2014/main" id="{9A8F47EA-240C-7DB1-FFEB-7C066E2460D5}"/>
              </a:ext>
            </a:extLst>
          </p:cNvPr>
          <p:cNvSpPr>
            <a:spLocks noGrp="1"/>
          </p:cNvSpPr>
          <p:nvPr>
            <p:ph idx="1"/>
          </p:nvPr>
        </p:nvSpPr>
        <p:spPr/>
        <p:txBody>
          <a:bodyPr/>
          <a:lstStyle/>
          <a:p>
            <a:r>
              <a:rPr lang="en-US" dirty="0"/>
              <a:t>Our examples so far show the increment and decrement operators used in </a:t>
            </a:r>
            <a:r>
              <a:rPr lang="en-US" dirty="0">
                <a:hlinkClick r:id="rId2"/>
              </a:rPr>
              <a:t>postfix mode</a:t>
            </a:r>
            <a:r>
              <a:rPr lang="en-US" dirty="0"/>
              <a:t>, which means the operator is placed after the variable. The operators also work in </a:t>
            </a:r>
            <a:r>
              <a:rPr lang="en-US" dirty="0">
                <a:hlinkClick r:id="rId2"/>
              </a:rPr>
              <a:t>prefix mode</a:t>
            </a:r>
            <a:r>
              <a:rPr lang="en-US" dirty="0"/>
              <a:t>, where the operator is placed before the variable name.</a:t>
            </a:r>
          </a:p>
          <a:p>
            <a:pPr lvl="1"/>
            <a:r>
              <a:rPr lang="en-US" dirty="0"/>
              <a:t>++</a:t>
            </a:r>
            <a:r>
              <a:rPr lang="en-US" dirty="0" err="1"/>
              <a:t>countUp</a:t>
            </a:r>
            <a:r>
              <a:rPr lang="en-US" dirty="0"/>
              <a:t>; </a:t>
            </a:r>
          </a:p>
          <a:p>
            <a:pPr lvl="1"/>
            <a:r>
              <a:rPr lang="en-US" dirty="0"/>
              <a:t>−−</a:t>
            </a:r>
            <a:r>
              <a:rPr lang="en-US" dirty="0" err="1"/>
              <a:t>countDown</a:t>
            </a:r>
            <a:r>
              <a:rPr lang="en-US" dirty="0"/>
              <a:t>; </a:t>
            </a:r>
          </a:p>
          <a:p>
            <a:pPr lvl="1"/>
            <a:r>
              <a:rPr lang="en-US" dirty="0"/>
              <a:t>Example: where it might make a difference - </a:t>
            </a:r>
          </a:p>
          <a:p>
            <a:pPr lvl="1"/>
            <a:endParaRPr lang="en-US" dirty="0"/>
          </a:p>
        </p:txBody>
      </p:sp>
      <p:pic>
        <p:nvPicPr>
          <p:cNvPr id="4" name="Picture 3">
            <a:extLst>
              <a:ext uri="{FF2B5EF4-FFF2-40B4-BE49-F238E27FC236}">
                <a16:creationId xmlns:a16="http://schemas.microsoft.com/office/drawing/2014/main" id="{533C52C3-3EE2-8CD0-4359-1A71E668EC76}"/>
              </a:ext>
            </a:extLst>
          </p:cNvPr>
          <p:cNvPicPr>
            <a:picLocks noChangeAspect="1"/>
          </p:cNvPicPr>
          <p:nvPr/>
        </p:nvPicPr>
        <p:blipFill>
          <a:blip r:embed="rId3"/>
          <a:stretch>
            <a:fillRect/>
          </a:stretch>
        </p:blipFill>
        <p:spPr>
          <a:xfrm>
            <a:off x="1291870" y="4833281"/>
            <a:ext cx="2203392" cy="952313"/>
          </a:xfrm>
          <a:prstGeom prst="rect">
            <a:avLst/>
          </a:prstGeom>
        </p:spPr>
      </p:pic>
      <p:pic>
        <p:nvPicPr>
          <p:cNvPr id="5" name="Picture 4">
            <a:extLst>
              <a:ext uri="{FF2B5EF4-FFF2-40B4-BE49-F238E27FC236}">
                <a16:creationId xmlns:a16="http://schemas.microsoft.com/office/drawing/2014/main" id="{FED9CE1C-CD10-1BAA-9E31-099FC2074774}"/>
              </a:ext>
            </a:extLst>
          </p:cNvPr>
          <p:cNvPicPr>
            <a:picLocks noChangeAspect="1"/>
          </p:cNvPicPr>
          <p:nvPr/>
        </p:nvPicPr>
        <p:blipFill>
          <a:blip r:embed="rId4"/>
          <a:stretch>
            <a:fillRect/>
          </a:stretch>
        </p:blipFill>
        <p:spPr>
          <a:xfrm>
            <a:off x="1291870" y="5617849"/>
            <a:ext cx="2443669" cy="952312"/>
          </a:xfrm>
          <a:prstGeom prst="rect">
            <a:avLst/>
          </a:prstGeom>
        </p:spPr>
      </p:pic>
      <p:pic>
        <p:nvPicPr>
          <p:cNvPr id="6" name="Picture 5">
            <a:extLst>
              <a:ext uri="{FF2B5EF4-FFF2-40B4-BE49-F238E27FC236}">
                <a16:creationId xmlns:a16="http://schemas.microsoft.com/office/drawing/2014/main" id="{BD9F10AE-0C48-0BD5-AD9A-976DED7A781F}"/>
              </a:ext>
            </a:extLst>
          </p:cNvPr>
          <p:cNvPicPr>
            <a:picLocks noChangeAspect="1"/>
          </p:cNvPicPr>
          <p:nvPr/>
        </p:nvPicPr>
        <p:blipFill>
          <a:blip r:embed="rId5"/>
          <a:stretch>
            <a:fillRect/>
          </a:stretch>
        </p:blipFill>
        <p:spPr>
          <a:xfrm>
            <a:off x="5291462" y="4712537"/>
            <a:ext cx="4859217" cy="1079826"/>
          </a:xfrm>
          <a:prstGeom prst="rect">
            <a:avLst/>
          </a:prstGeom>
        </p:spPr>
      </p:pic>
      <p:pic>
        <p:nvPicPr>
          <p:cNvPr id="7" name="Picture 6">
            <a:extLst>
              <a:ext uri="{FF2B5EF4-FFF2-40B4-BE49-F238E27FC236}">
                <a16:creationId xmlns:a16="http://schemas.microsoft.com/office/drawing/2014/main" id="{7262ED6A-0991-6058-3FDC-81E0D79E055D}"/>
              </a:ext>
            </a:extLst>
          </p:cNvPr>
          <p:cNvPicPr>
            <a:picLocks noChangeAspect="1"/>
          </p:cNvPicPr>
          <p:nvPr/>
        </p:nvPicPr>
        <p:blipFill>
          <a:blip r:embed="rId6"/>
          <a:stretch>
            <a:fillRect/>
          </a:stretch>
        </p:blipFill>
        <p:spPr>
          <a:xfrm>
            <a:off x="5291462" y="5611813"/>
            <a:ext cx="3124200" cy="1130300"/>
          </a:xfrm>
          <a:prstGeom prst="rect">
            <a:avLst/>
          </a:prstGeom>
        </p:spPr>
      </p:pic>
    </p:spTree>
    <p:extLst>
      <p:ext uri="{BB962C8B-B14F-4D97-AF65-F5344CB8AC3E}">
        <p14:creationId xmlns:p14="http://schemas.microsoft.com/office/powerpoint/2010/main" val="3735122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F500B-7A26-6D4F-4D62-132617DF40FE}"/>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FA71D994-911D-EFD9-FF35-4A464741BFA2}"/>
              </a:ext>
            </a:extLst>
          </p:cNvPr>
          <p:cNvPicPr>
            <a:picLocks noGrp="1" noChangeAspect="1"/>
          </p:cNvPicPr>
          <p:nvPr>
            <p:ph idx="1"/>
          </p:nvPr>
        </p:nvPicPr>
        <p:blipFill>
          <a:blip r:embed="rId2"/>
          <a:stretch>
            <a:fillRect/>
          </a:stretch>
        </p:blipFill>
        <p:spPr>
          <a:xfrm>
            <a:off x="4276464" y="500163"/>
            <a:ext cx="4607477" cy="6292620"/>
          </a:xfrm>
          <a:prstGeom prst="rect">
            <a:avLst/>
          </a:prstGeom>
        </p:spPr>
      </p:pic>
    </p:spTree>
    <p:extLst>
      <p:ext uri="{BB962C8B-B14F-4D97-AF65-F5344CB8AC3E}">
        <p14:creationId xmlns:p14="http://schemas.microsoft.com/office/powerpoint/2010/main" val="2209317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68217-D44D-9A33-2FB2-7C6BB8FC71FB}"/>
              </a:ext>
            </a:extLst>
          </p:cNvPr>
          <p:cNvSpPr>
            <a:spLocks noGrp="1"/>
          </p:cNvSpPr>
          <p:nvPr>
            <p:ph type="title"/>
          </p:nvPr>
        </p:nvSpPr>
        <p:spPr/>
        <p:txBody>
          <a:bodyPr/>
          <a:lstStyle/>
          <a:p>
            <a:r>
              <a:rPr lang="en-US" dirty="0"/>
              <a:t>Using ++ and −− in Relational Expressions</a:t>
            </a:r>
          </a:p>
        </p:txBody>
      </p:sp>
      <p:pic>
        <p:nvPicPr>
          <p:cNvPr id="4" name="Content Placeholder 3">
            <a:extLst>
              <a:ext uri="{FF2B5EF4-FFF2-40B4-BE49-F238E27FC236}">
                <a16:creationId xmlns:a16="http://schemas.microsoft.com/office/drawing/2014/main" id="{96D2C9B9-23B1-400A-72B6-A24B093E666F}"/>
              </a:ext>
            </a:extLst>
          </p:cNvPr>
          <p:cNvPicPr>
            <a:picLocks noGrp="1" noChangeAspect="1"/>
          </p:cNvPicPr>
          <p:nvPr>
            <p:ph idx="1"/>
          </p:nvPr>
        </p:nvPicPr>
        <p:blipFill>
          <a:blip r:embed="rId2"/>
          <a:stretch>
            <a:fillRect/>
          </a:stretch>
        </p:blipFill>
        <p:spPr>
          <a:xfrm>
            <a:off x="1256018" y="2546212"/>
            <a:ext cx="3556000" cy="1282700"/>
          </a:xfrm>
          <a:prstGeom prst="rect">
            <a:avLst/>
          </a:prstGeom>
        </p:spPr>
      </p:pic>
      <p:pic>
        <p:nvPicPr>
          <p:cNvPr id="5" name="Picture 4">
            <a:extLst>
              <a:ext uri="{FF2B5EF4-FFF2-40B4-BE49-F238E27FC236}">
                <a16:creationId xmlns:a16="http://schemas.microsoft.com/office/drawing/2014/main" id="{0D1FFEDA-A0F2-2AFA-8758-4E36C04C12A3}"/>
              </a:ext>
            </a:extLst>
          </p:cNvPr>
          <p:cNvPicPr>
            <a:picLocks noChangeAspect="1"/>
          </p:cNvPicPr>
          <p:nvPr/>
        </p:nvPicPr>
        <p:blipFill>
          <a:blip r:embed="rId3"/>
          <a:stretch>
            <a:fillRect/>
          </a:stretch>
        </p:blipFill>
        <p:spPr>
          <a:xfrm>
            <a:off x="6361417" y="2727354"/>
            <a:ext cx="4318000" cy="1168400"/>
          </a:xfrm>
          <a:prstGeom prst="rect">
            <a:avLst/>
          </a:prstGeom>
        </p:spPr>
      </p:pic>
    </p:spTree>
    <p:extLst>
      <p:ext uri="{BB962C8B-B14F-4D97-AF65-F5344CB8AC3E}">
        <p14:creationId xmlns:p14="http://schemas.microsoft.com/office/powerpoint/2010/main" val="4261835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3E27-5614-C34C-3B9C-0530B50542D5}"/>
              </a:ext>
            </a:extLst>
          </p:cNvPr>
          <p:cNvSpPr>
            <a:spLocks noGrp="1"/>
          </p:cNvSpPr>
          <p:nvPr>
            <p:ph type="title"/>
          </p:nvPr>
        </p:nvSpPr>
        <p:spPr/>
        <p:txBody>
          <a:bodyPr/>
          <a:lstStyle/>
          <a:p>
            <a:r>
              <a:rPr lang="en-US" dirty="0"/>
              <a:t>Counters</a:t>
            </a:r>
          </a:p>
        </p:txBody>
      </p:sp>
      <p:sp>
        <p:nvSpPr>
          <p:cNvPr id="3" name="Content Placeholder 2">
            <a:extLst>
              <a:ext uri="{FF2B5EF4-FFF2-40B4-BE49-F238E27FC236}">
                <a16:creationId xmlns:a16="http://schemas.microsoft.com/office/drawing/2014/main" id="{E8A4E9F7-BEC8-07F8-1769-DF9027D28413}"/>
              </a:ext>
            </a:extLst>
          </p:cNvPr>
          <p:cNvSpPr>
            <a:spLocks noGrp="1"/>
          </p:cNvSpPr>
          <p:nvPr>
            <p:ph idx="1"/>
          </p:nvPr>
        </p:nvSpPr>
        <p:spPr/>
        <p:txBody>
          <a:bodyPr/>
          <a:lstStyle/>
          <a:p>
            <a:r>
              <a:rPr lang="en-US" dirty="0"/>
              <a:t>A counter is a variable that is regularly incremented or decremented each time a loop iterates.</a:t>
            </a:r>
          </a:p>
        </p:txBody>
      </p:sp>
      <p:pic>
        <p:nvPicPr>
          <p:cNvPr id="4" name="Picture 3">
            <a:extLst>
              <a:ext uri="{FF2B5EF4-FFF2-40B4-BE49-F238E27FC236}">
                <a16:creationId xmlns:a16="http://schemas.microsoft.com/office/drawing/2014/main" id="{17319B8B-7F83-1F81-7FD2-40FAEF6FA1E4}"/>
              </a:ext>
            </a:extLst>
          </p:cNvPr>
          <p:cNvPicPr>
            <a:picLocks noChangeAspect="1"/>
          </p:cNvPicPr>
          <p:nvPr/>
        </p:nvPicPr>
        <p:blipFill>
          <a:blip r:embed="rId2"/>
          <a:stretch>
            <a:fillRect/>
          </a:stretch>
        </p:blipFill>
        <p:spPr>
          <a:xfrm>
            <a:off x="3612544" y="2692982"/>
            <a:ext cx="3115427" cy="4120634"/>
          </a:xfrm>
          <a:prstGeom prst="rect">
            <a:avLst/>
          </a:prstGeom>
        </p:spPr>
      </p:pic>
    </p:spTree>
    <p:extLst>
      <p:ext uri="{BB962C8B-B14F-4D97-AF65-F5344CB8AC3E}">
        <p14:creationId xmlns:p14="http://schemas.microsoft.com/office/powerpoint/2010/main" val="748357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F1834-4653-EB14-58DD-3353EFA7FD94}"/>
              </a:ext>
            </a:extLst>
          </p:cNvPr>
          <p:cNvSpPr>
            <a:spLocks noGrp="1"/>
          </p:cNvSpPr>
          <p:nvPr>
            <p:ph type="title"/>
          </p:nvPr>
        </p:nvSpPr>
        <p:spPr/>
        <p:txBody>
          <a:bodyPr/>
          <a:lstStyle/>
          <a:p>
            <a:r>
              <a:rPr lang="en-US" dirty="0"/>
              <a:t>Letting the User Control the Loop</a:t>
            </a:r>
          </a:p>
        </p:txBody>
      </p:sp>
      <p:pic>
        <p:nvPicPr>
          <p:cNvPr id="4" name="Picture 3">
            <a:extLst>
              <a:ext uri="{FF2B5EF4-FFF2-40B4-BE49-F238E27FC236}">
                <a16:creationId xmlns:a16="http://schemas.microsoft.com/office/drawing/2014/main" id="{74FF0FA0-1DE1-4376-4249-7BAB86137AFC}"/>
              </a:ext>
            </a:extLst>
          </p:cNvPr>
          <p:cNvPicPr>
            <a:picLocks noChangeAspect="1"/>
          </p:cNvPicPr>
          <p:nvPr/>
        </p:nvPicPr>
        <p:blipFill>
          <a:blip r:embed="rId2"/>
          <a:stretch>
            <a:fillRect/>
          </a:stretch>
        </p:blipFill>
        <p:spPr>
          <a:xfrm>
            <a:off x="2049497" y="1514520"/>
            <a:ext cx="3392521" cy="5167312"/>
          </a:xfrm>
          <a:prstGeom prst="rect">
            <a:avLst/>
          </a:prstGeom>
        </p:spPr>
      </p:pic>
      <p:pic>
        <p:nvPicPr>
          <p:cNvPr id="5" name="Picture 4">
            <a:extLst>
              <a:ext uri="{FF2B5EF4-FFF2-40B4-BE49-F238E27FC236}">
                <a16:creationId xmlns:a16="http://schemas.microsoft.com/office/drawing/2014/main" id="{42FA7CAB-63D9-B507-6B27-58A074325B00}"/>
              </a:ext>
            </a:extLst>
          </p:cNvPr>
          <p:cNvPicPr>
            <a:picLocks noChangeAspect="1"/>
          </p:cNvPicPr>
          <p:nvPr/>
        </p:nvPicPr>
        <p:blipFill>
          <a:blip r:embed="rId3"/>
          <a:stretch>
            <a:fillRect/>
          </a:stretch>
        </p:blipFill>
        <p:spPr>
          <a:xfrm>
            <a:off x="6817453" y="2576597"/>
            <a:ext cx="4046503" cy="2611834"/>
          </a:xfrm>
          <a:prstGeom prst="rect">
            <a:avLst/>
          </a:prstGeom>
        </p:spPr>
      </p:pic>
    </p:spTree>
    <p:extLst>
      <p:ext uri="{BB962C8B-B14F-4D97-AF65-F5344CB8AC3E}">
        <p14:creationId xmlns:p14="http://schemas.microsoft.com/office/powerpoint/2010/main" val="2685449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FA388-8F6A-476F-A9AA-85AC6500974D}"/>
              </a:ext>
            </a:extLst>
          </p:cNvPr>
          <p:cNvSpPr>
            <a:spLocks noGrp="1"/>
          </p:cNvSpPr>
          <p:nvPr>
            <p:ph type="title"/>
          </p:nvPr>
        </p:nvSpPr>
        <p:spPr/>
        <p:txBody>
          <a:bodyPr/>
          <a:lstStyle/>
          <a:p>
            <a:r>
              <a:rPr lang="en-US" dirty="0">
                <a:effectLst/>
              </a:rPr>
              <a:t>Keeping a Running Total</a:t>
            </a:r>
            <a:br>
              <a:rPr lang="en-US" b="1" dirty="0">
                <a:effectLst/>
              </a:rPr>
            </a:br>
            <a:endParaRPr lang="en-US" dirty="0"/>
          </a:p>
        </p:txBody>
      </p:sp>
      <p:sp>
        <p:nvSpPr>
          <p:cNvPr id="3" name="Content Placeholder 2">
            <a:extLst>
              <a:ext uri="{FF2B5EF4-FFF2-40B4-BE49-F238E27FC236}">
                <a16:creationId xmlns:a16="http://schemas.microsoft.com/office/drawing/2014/main" id="{F47140FC-DF41-1C4B-250B-5BDE8960E027}"/>
              </a:ext>
            </a:extLst>
          </p:cNvPr>
          <p:cNvSpPr>
            <a:spLocks noGrp="1"/>
          </p:cNvSpPr>
          <p:nvPr>
            <p:ph idx="1"/>
          </p:nvPr>
        </p:nvSpPr>
        <p:spPr>
          <a:xfrm>
            <a:off x="327171" y="1300294"/>
            <a:ext cx="6904139" cy="5419288"/>
          </a:xfrm>
        </p:spPr>
        <p:txBody>
          <a:bodyPr>
            <a:normAutofit fontScale="92500" lnSpcReduction="10000"/>
          </a:bodyPr>
          <a:lstStyle/>
          <a:p>
            <a:r>
              <a:rPr lang="en-US" dirty="0"/>
              <a:t>A running total is a sum of numbers that accumulates with each iteration of a loop. </a:t>
            </a:r>
          </a:p>
          <a:p>
            <a:r>
              <a:rPr lang="en-US" dirty="0"/>
              <a:t>The variable used to keep the running total is called an accumulator.</a:t>
            </a:r>
          </a:p>
          <a:p>
            <a:r>
              <a:rPr lang="en-US" dirty="0"/>
              <a:t>When the loop finishes, the accumulator will contain the total of the numbers read by the loop. </a:t>
            </a:r>
          </a:p>
          <a:p>
            <a:r>
              <a:rPr lang="en-US" dirty="0"/>
              <a:t>Notice that the first step in the flowchart is to set the accumulator variable to 0. This is a critical step. Each time the loop reads a number, it adds it to the accumulator. </a:t>
            </a:r>
          </a:p>
          <a:p>
            <a:r>
              <a:rPr lang="en-US" dirty="0"/>
              <a:t>If the accumulator starts with any value other than 0, it will not contain the correct total when the loop finishes.</a:t>
            </a:r>
          </a:p>
        </p:txBody>
      </p:sp>
      <p:pic>
        <p:nvPicPr>
          <p:cNvPr id="4" name="Picture 3">
            <a:extLst>
              <a:ext uri="{FF2B5EF4-FFF2-40B4-BE49-F238E27FC236}">
                <a16:creationId xmlns:a16="http://schemas.microsoft.com/office/drawing/2014/main" id="{A94A4997-2687-3C02-DCA4-1B957838BD91}"/>
              </a:ext>
            </a:extLst>
          </p:cNvPr>
          <p:cNvPicPr>
            <a:picLocks noChangeAspect="1"/>
          </p:cNvPicPr>
          <p:nvPr/>
        </p:nvPicPr>
        <p:blipFill>
          <a:blip r:embed="rId2"/>
          <a:stretch>
            <a:fillRect/>
          </a:stretch>
        </p:blipFill>
        <p:spPr>
          <a:xfrm>
            <a:off x="7434394" y="2011260"/>
            <a:ext cx="4757606" cy="3402592"/>
          </a:xfrm>
          <a:prstGeom prst="rect">
            <a:avLst/>
          </a:prstGeom>
        </p:spPr>
      </p:pic>
    </p:spTree>
    <p:extLst>
      <p:ext uri="{BB962C8B-B14F-4D97-AF65-F5344CB8AC3E}">
        <p14:creationId xmlns:p14="http://schemas.microsoft.com/office/powerpoint/2010/main" val="2177401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BAE47-D9DA-703D-C297-FCBE3210FA30}"/>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629DE965-89E3-5506-D8D7-6DE04708BF79}"/>
              </a:ext>
            </a:extLst>
          </p:cNvPr>
          <p:cNvPicPr>
            <a:picLocks noGrp="1" noChangeAspect="1"/>
          </p:cNvPicPr>
          <p:nvPr>
            <p:ph idx="1"/>
          </p:nvPr>
        </p:nvPicPr>
        <p:blipFill>
          <a:blip r:embed="rId2"/>
          <a:stretch>
            <a:fillRect/>
          </a:stretch>
        </p:blipFill>
        <p:spPr>
          <a:xfrm>
            <a:off x="1657157" y="1690688"/>
            <a:ext cx="3887966" cy="5013430"/>
          </a:xfrm>
          <a:prstGeom prst="rect">
            <a:avLst/>
          </a:prstGeom>
        </p:spPr>
      </p:pic>
      <p:pic>
        <p:nvPicPr>
          <p:cNvPr id="5" name="Picture 4">
            <a:extLst>
              <a:ext uri="{FF2B5EF4-FFF2-40B4-BE49-F238E27FC236}">
                <a16:creationId xmlns:a16="http://schemas.microsoft.com/office/drawing/2014/main" id="{53481BA7-B509-B5F7-79A4-4E1679FB478E}"/>
              </a:ext>
            </a:extLst>
          </p:cNvPr>
          <p:cNvPicPr>
            <a:picLocks noChangeAspect="1"/>
          </p:cNvPicPr>
          <p:nvPr/>
        </p:nvPicPr>
        <p:blipFill>
          <a:blip r:embed="rId3"/>
          <a:stretch>
            <a:fillRect/>
          </a:stretch>
        </p:blipFill>
        <p:spPr>
          <a:xfrm>
            <a:off x="6965694" y="2718032"/>
            <a:ext cx="4958382" cy="2415622"/>
          </a:xfrm>
          <a:prstGeom prst="rect">
            <a:avLst/>
          </a:prstGeom>
        </p:spPr>
      </p:pic>
    </p:spTree>
    <p:extLst>
      <p:ext uri="{BB962C8B-B14F-4D97-AF65-F5344CB8AC3E}">
        <p14:creationId xmlns:p14="http://schemas.microsoft.com/office/powerpoint/2010/main" val="2801326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C8267-319B-F03C-CD26-09BACCCC23E5}"/>
              </a:ext>
            </a:extLst>
          </p:cNvPr>
          <p:cNvSpPr>
            <a:spLocks noGrp="1"/>
          </p:cNvSpPr>
          <p:nvPr>
            <p:ph type="title"/>
          </p:nvPr>
        </p:nvSpPr>
        <p:spPr/>
        <p:txBody>
          <a:bodyPr/>
          <a:lstStyle/>
          <a:p>
            <a:r>
              <a:rPr lang="en-US" dirty="0"/>
              <a:t>Sentinels</a:t>
            </a:r>
          </a:p>
        </p:txBody>
      </p:sp>
      <p:sp>
        <p:nvSpPr>
          <p:cNvPr id="3" name="Content Placeholder 2">
            <a:extLst>
              <a:ext uri="{FF2B5EF4-FFF2-40B4-BE49-F238E27FC236}">
                <a16:creationId xmlns:a16="http://schemas.microsoft.com/office/drawing/2014/main" id="{D9E689D7-5F36-C4EB-8ADD-06E723A2405C}"/>
              </a:ext>
            </a:extLst>
          </p:cNvPr>
          <p:cNvSpPr>
            <a:spLocks noGrp="1"/>
          </p:cNvSpPr>
          <p:nvPr>
            <p:ph idx="1"/>
          </p:nvPr>
        </p:nvSpPr>
        <p:spPr/>
        <p:txBody>
          <a:bodyPr/>
          <a:lstStyle/>
          <a:p>
            <a:r>
              <a:rPr lang="en-US" dirty="0">
                <a:effectLst/>
              </a:rPr>
              <a:t>A sentinel is a special value that marks the end of a list of values.</a:t>
            </a:r>
          </a:p>
          <a:p>
            <a:r>
              <a:rPr lang="en-US" dirty="0">
                <a:effectLst/>
              </a:rPr>
              <a:t>A </a:t>
            </a:r>
            <a:r>
              <a:rPr lang="en-US" dirty="0">
                <a:effectLst/>
                <a:hlinkClick r:id="rId2"/>
              </a:rPr>
              <a:t>sentinel</a:t>
            </a:r>
            <a:r>
              <a:rPr lang="en-US" dirty="0">
                <a:effectLst/>
              </a:rPr>
              <a:t> is a special value that cannot be mistaken for a member of the list and that signals that there are no more values to be entered. </a:t>
            </a:r>
          </a:p>
          <a:p>
            <a:r>
              <a:rPr lang="en-US" dirty="0">
                <a:effectLst/>
              </a:rPr>
              <a:t>The loop that allows the data to be input continues iterating until the user enters the sentinel. Then the loop terminates. This type of loop is called a </a:t>
            </a:r>
            <a:r>
              <a:rPr lang="en-US" dirty="0">
                <a:effectLst/>
                <a:hlinkClick r:id="rId2"/>
              </a:rPr>
              <a:t>sentinel-controlled loop</a:t>
            </a:r>
            <a:r>
              <a:rPr lang="en-US" dirty="0">
                <a:effectLst/>
              </a:rPr>
              <a:t>.</a:t>
            </a:r>
          </a:p>
          <a:p>
            <a:endParaRPr lang="en-US" dirty="0"/>
          </a:p>
        </p:txBody>
      </p:sp>
    </p:spTree>
    <p:extLst>
      <p:ext uri="{BB962C8B-B14F-4D97-AF65-F5344CB8AC3E}">
        <p14:creationId xmlns:p14="http://schemas.microsoft.com/office/powerpoint/2010/main" val="2296526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32C12-A0B3-495F-361B-1ABF028BBF0E}"/>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142A7485-8A97-3261-42B5-761DFC510A06}"/>
              </a:ext>
            </a:extLst>
          </p:cNvPr>
          <p:cNvPicPr>
            <a:picLocks noGrp="1" noChangeAspect="1"/>
          </p:cNvPicPr>
          <p:nvPr>
            <p:ph idx="1"/>
          </p:nvPr>
        </p:nvPicPr>
        <p:blipFill>
          <a:blip r:embed="rId2"/>
          <a:stretch>
            <a:fillRect/>
          </a:stretch>
        </p:blipFill>
        <p:spPr>
          <a:xfrm>
            <a:off x="1910478" y="1490066"/>
            <a:ext cx="3676590" cy="5270076"/>
          </a:xfrm>
          <a:prstGeom prst="rect">
            <a:avLst/>
          </a:prstGeom>
        </p:spPr>
      </p:pic>
      <p:pic>
        <p:nvPicPr>
          <p:cNvPr id="5" name="Picture 4">
            <a:extLst>
              <a:ext uri="{FF2B5EF4-FFF2-40B4-BE49-F238E27FC236}">
                <a16:creationId xmlns:a16="http://schemas.microsoft.com/office/drawing/2014/main" id="{1ED998DF-51CF-A789-800F-36250AD4C2F6}"/>
              </a:ext>
            </a:extLst>
          </p:cNvPr>
          <p:cNvPicPr>
            <a:picLocks noChangeAspect="1"/>
          </p:cNvPicPr>
          <p:nvPr/>
        </p:nvPicPr>
        <p:blipFill>
          <a:blip r:embed="rId3"/>
          <a:stretch>
            <a:fillRect/>
          </a:stretch>
        </p:blipFill>
        <p:spPr>
          <a:xfrm>
            <a:off x="6841688" y="1690688"/>
            <a:ext cx="3832741" cy="4320389"/>
          </a:xfrm>
          <a:prstGeom prst="rect">
            <a:avLst/>
          </a:prstGeom>
        </p:spPr>
      </p:pic>
    </p:spTree>
    <p:extLst>
      <p:ext uri="{BB962C8B-B14F-4D97-AF65-F5344CB8AC3E}">
        <p14:creationId xmlns:p14="http://schemas.microsoft.com/office/powerpoint/2010/main" val="281694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0C72-9AD2-7BCB-D486-F1F281BBC51C}"/>
              </a:ext>
            </a:extLst>
          </p:cNvPr>
          <p:cNvSpPr>
            <a:spLocks noGrp="1"/>
          </p:cNvSpPr>
          <p:nvPr>
            <p:ph type="title"/>
          </p:nvPr>
        </p:nvSpPr>
        <p:spPr/>
        <p:txBody>
          <a:bodyPr/>
          <a:lstStyle/>
          <a:p>
            <a:r>
              <a:rPr lang="en-US" dirty="0"/>
              <a:t>The do-while Loop</a:t>
            </a:r>
          </a:p>
        </p:txBody>
      </p:sp>
      <p:sp>
        <p:nvSpPr>
          <p:cNvPr id="3" name="Content Placeholder 2">
            <a:extLst>
              <a:ext uri="{FF2B5EF4-FFF2-40B4-BE49-F238E27FC236}">
                <a16:creationId xmlns:a16="http://schemas.microsoft.com/office/drawing/2014/main" id="{174E4569-D956-038C-7B7E-6BA9E9E9D6D7}"/>
              </a:ext>
            </a:extLst>
          </p:cNvPr>
          <p:cNvSpPr>
            <a:spLocks noGrp="1"/>
          </p:cNvSpPr>
          <p:nvPr>
            <p:ph idx="1"/>
          </p:nvPr>
        </p:nvSpPr>
        <p:spPr/>
        <p:txBody>
          <a:bodyPr/>
          <a:lstStyle/>
          <a:p>
            <a:r>
              <a:rPr lang="en-US" dirty="0"/>
              <a:t>The do-while loop is a post-test loop, which means its expression is tested after each iteration.</a:t>
            </a:r>
          </a:p>
          <a:p>
            <a:pPr marL="0" indent="0">
              <a:buNone/>
            </a:pPr>
            <a:endParaRPr lang="en-US" dirty="0"/>
          </a:p>
        </p:txBody>
      </p:sp>
      <p:pic>
        <p:nvPicPr>
          <p:cNvPr id="4" name="Picture 3">
            <a:extLst>
              <a:ext uri="{FF2B5EF4-FFF2-40B4-BE49-F238E27FC236}">
                <a16:creationId xmlns:a16="http://schemas.microsoft.com/office/drawing/2014/main" id="{C3AADAE2-F907-FA4C-9D14-61E16B7BF664}"/>
              </a:ext>
            </a:extLst>
          </p:cNvPr>
          <p:cNvPicPr>
            <a:picLocks noChangeAspect="1"/>
          </p:cNvPicPr>
          <p:nvPr/>
        </p:nvPicPr>
        <p:blipFill>
          <a:blip r:embed="rId2"/>
          <a:stretch>
            <a:fillRect/>
          </a:stretch>
        </p:blipFill>
        <p:spPr>
          <a:xfrm>
            <a:off x="2664068" y="3087848"/>
            <a:ext cx="6863863" cy="3497510"/>
          </a:xfrm>
          <a:prstGeom prst="rect">
            <a:avLst/>
          </a:prstGeom>
        </p:spPr>
      </p:pic>
    </p:spTree>
    <p:extLst>
      <p:ext uri="{BB962C8B-B14F-4D97-AF65-F5344CB8AC3E}">
        <p14:creationId xmlns:p14="http://schemas.microsoft.com/office/powerpoint/2010/main" val="785659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0C72-9AD2-7BCB-D486-F1F281BBC51C}"/>
              </a:ext>
            </a:extLst>
          </p:cNvPr>
          <p:cNvSpPr>
            <a:spLocks noGrp="1"/>
          </p:cNvSpPr>
          <p:nvPr>
            <p:ph type="title"/>
          </p:nvPr>
        </p:nvSpPr>
        <p:spPr/>
        <p:txBody>
          <a:bodyPr/>
          <a:lstStyle/>
          <a:p>
            <a:r>
              <a:rPr lang="en-US" dirty="0"/>
              <a:t>The do-while Loop</a:t>
            </a:r>
          </a:p>
        </p:txBody>
      </p:sp>
      <p:sp>
        <p:nvSpPr>
          <p:cNvPr id="3" name="Content Placeholder 2">
            <a:extLst>
              <a:ext uri="{FF2B5EF4-FFF2-40B4-BE49-F238E27FC236}">
                <a16:creationId xmlns:a16="http://schemas.microsoft.com/office/drawing/2014/main" id="{174E4569-D956-038C-7B7E-6BA9E9E9D6D7}"/>
              </a:ext>
            </a:extLst>
          </p:cNvPr>
          <p:cNvSpPr>
            <a:spLocks noGrp="1"/>
          </p:cNvSpPr>
          <p:nvPr>
            <p:ph idx="1"/>
          </p:nvPr>
        </p:nvSpPr>
        <p:spPr/>
        <p:txBody>
          <a:bodyPr/>
          <a:lstStyle/>
          <a:p>
            <a:r>
              <a:rPr lang="en-US" dirty="0"/>
              <a:t>It’s a post-test loop. Therefore a do-while always performs at least one iteration, even if the test expression is false at the start. </a:t>
            </a:r>
          </a:p>
          <a:p>
            <a:endParaRPr lang="en-US" dirty="0"/>
          </a:p>
          <a:p>
            <a:endParaRPr lang="en-US" dirty="0"/>
          </a:p>
          <a:p>
            <a:endParaRPr lang="en-US" dirty="0"/>
          </a:p>
          <a:p>
            <a:endParaRPr lang="en-US" dirty="0"/>
          </a:p>
          <a:p>
            <a:r>
              <a:rPr lang="en-US" dirty="0"/>
              <a:t>You should use the do-while loop when you want to make sure the loop executes at least once. </a:t>
            </a:r>
          </a:p>
          <a:p>
            <a:endParaRPr lang="en-US" dirty="0"/>
          </a:p>
          <a:p>
            <a:endParaRPr lang="en-US" dirty="0"/>
          </a:p>
        </p:txBody>
      </p:sp>
      <p:pic>
        <p:nvPicPr>
          <p:cNvPr id="5" name="Picture 4">
            <a:extLst>
              <a:ext uri="{FF2B5EF4-FFF2-40B4-BE49-F238E27FC236}">
                <a16:creationId xmlns:a16="http://schemas.microsoft.com/office/drawing/2014/main" id="{BA8CA8DD-1414-EE5E-A0AC-27C98E752A8A}"/>
              </a:ext>
            </a:extLst>
          </p:cNvPr>
          <p:cNvPicPr>
            <a:picLocks noChangeAspect="1"/>
          </p:cNvPicPr>
          <p:nvPr/>
        </p:nvPicPr>
        <p:blipFill>
          <a:blip r:embed="rId2"/>
          <a:stretch>
            <a:fillRect/>
          </a:stretch>
        </p:blipFill>
        <p:spPr>
          <a:xfrm>
            <a:off x="1832528" y="3429000"/>
            <a:ext cx="2235200" cy="977900"/>
          </a:xfrm>
          <a:prstGeom prst="rect">
            <a:avLst/>
          </a:prstGeom>
        </p:spPr>
      </p:pic>
      <p:pic>
        <p:nvPicPr>
          <p:cNvPr id="6" name="Picture 5">
            <a:extLst>
              <a:ext uri="{FF2B5EF4-FFF2-40B4-BE49-F238E27FC236}">
                <a16:creationId xmlns:a16="http://schemas.microsoft.com/office/drawing/2014/main" id="{F26B86E1-6FD0-B3EA-77FC-6CC4B69DE242}"/>
              </a:ext>
            </a:extLst>
          </p:cNvPr>
          <p:cNvPicPr>
            <a:picLocks noChangeAspect="1"/>
          </p:cNvPicPr>
          <p:nvPr/>
        </p:nvPicPr>
        <p:blipFill>
          <a:blip r:embed="rId3"/>
          <a:stretch>
            <a:fillRect/>
          </a:stretch>
        </p:blipFill>
        <p:spPr>
          <a:xfrm>
            <a:off x="5257043" y="3156744"/>
            <a:ext cx="2298700" cy="1689100"/>
          </a:xfrm>
          <a:prstGeom prst="rect">
            <a:avLst/>
          </a:prstGeom>
        </p:spPr>
      </p:pic>
    </p:spTree>
    <p:extLst>
      <p:ext uri="{BB962C8B-B14F-4D97-AF65-F5344CB8AC3E}">
        <p14:creationId xmlns:p14="http://schemas.microsoft.com/office/powerpoint/2010/main" val="187978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DAAB2-5578-33C5-9B48-8A837BCB9CCF}"/>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A5E5799A-46E9-0B08-C813-186AD1D47D18}"/>
              </a:ext>
            </a:extLst>
          </p:cNvPr>
          <p:cNvPicPr>
            <a:picLocks noGrp="1" noChangeAspect="1"/>
          </p:cNvPicPr>
          <p:nvPr>
            <p:ph idx="1"/>
          </p:nvPr>
        </p:nvPicPr>
        <p:blipFill>
          <a:blip r:embed="rId2"/>
          <a:stretch>
            <a:fillRect/>
          </a:stretch>
        </p:blipFill>
        <p:spPr>
          <a:xfrm>
            <a:off x="1074396" y="1397787"/>
            <a:ext cx="4638759" cy="5380518"/>
          </a:xfrm>
          <a:prstGeom prst="rect">
            <a:avLst/>
          </a:prstGeom>
        </p:spPr>
      </p:pic>
      <p:pic>
        <p:nvPicPr>
          <p:cNvPr id="5" name="Picture 4">
            <a:extLst>
              <a:ext uri="{FF2B5EF4-FFF2-40B4-BE49-F238E27FC236}">
                <a16:creationId xmlns:a16="http://schemas.microsoft.com/office/drawing/2014/main" id="{185C1025-9C76-333A-5337-975C891EA302}"/>
              </a:ext>
            </a:extLst>
          </p:cNvPr>
          <p:cNvPicPr>
            <a:picLocks noChangeAspect="1"/>
          </p:cNvPicPr>
          <p:nvPr/>
        </p:nvPicPr>
        <p:blipFill>
          <a:blip r:embed="rId3"/>
          <a:stretch>
            <a:fillRect/>
          </a:stretch>
        </p:blipFill>
        <p:spPr>
          <a:xfrm>
            <a:off x="7175134" y="2072670"/>
            <a:ext cx="4401674" cy="2712660"/>
          </a:xfrm>
          <a:prstGeom prst="rect">
            <a:avLst/>
          </a:prstGeom>
        </p:spPr>
      </p:pic>
      <p:sp>
        <p:nvSpPr>
          <p:cNvPr id="6" name="TextBox 5">
            <a:extLst>
              <a:ext uri="{FF2B5EF4-FFF2-40B4-BE49-F238E27FC236}">
                <a16:creationId xmlns:a16="http://schemas.microsoft.com/office/drawing/2014/main" id="{D88BA1BB-DCDC-4C45-04E4-9A42C9DA3499}"/>
              </a:ext>
            </a:extLst>
          </p:cNvPr>
          <p:cNvSpPr txBox="1"/>
          <p:nvPr/>
        </p:nvSpPr>
        <p:spPr>
          <a:xfrm>
            <a:off x="8154099" y="5561901"/>
            <a:ext cx="2963505" cy="923330"/>
          </a:xfrm>
          <a:prstGeom prst="rect">
            <a:avLst/>
          </a:prstGeom>
          <a:noFill/>
        </p:spPr>
        <p:txBody>
          <a:bodyPr wrap="square" rtlCol="0">
            <a:spAutoFit/>
          </a:bodyPr>
          <a:lstStyle/>
          <a:p>
            <a:r>
              <a:rPr lang="en-US" dirty="0"/>
              <a:t>This can be done easily with </a:t>
            </a:r>
            <a:r>
              <a:rPr lang="en-US" dirty="0" err="1"/>
              <a:t>toupper</a:t>
            </a:r>
            <a:r>
              <a:rPr lang="en-US" dirty="0"/>
              <a:t> function – self study</a:t>
            </a:r>
          </a:p>
        </p:txBody>
      </p:sp>
    </p:spTree>
    <p:extLst>
      <p:ext uri="{BB962C8B-B14F-4D97-AF65-F5344CB8AC3E}">
        <p14:creationId xmlns:p14="http://schemas.microsoft.com/office/powerpoint/2010/main" val="698522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B3A86-56BB-E21E-8A88-5388B8AC6702}"/>
              </a:ext>
            </a:extLst>
          </p:cNvPr>
          <p:cNvSpPr>
            <a:spLocks noGrp="1"/>
          </p:cNvSpPr>
          <p:nvPr>
            <p:ph type="title"/>
          </p:nvPr>
        </p:nvSpPr>
        <p:spPr/>
        <p:txBody>
          <a:bodyPr/>
          <a:lstStyle/>
          <a:p>
            <a:r>
              <a:rPr lang="en-US" dirty="0"/>
              <a:t>Using do-while with Menus</a:t>
            </a:r>
          </a:p>
        </p:txBody>
      </p:sp>
      <p:sp>
        <p:nvSpPr>
          <p:cNvPr id="3" name="Content Placeholder 2">
            <a:extLst>
              <a:ext uri="{FF2B5EF4-FFF2-40B4-BE49-F238E27FC236}">
                <a16:creationId xmlns:a16="http://schemas.microsoft.com/office/drawing/2014/main" id="{B2C26283-AD2C-BF3F-EEAC-B58D4939AA05}"/>
              </a:ext>
            </a:extLst>
          </p:cNvPr>
          <p:cNvSpPr>
            <a:spLocks noGrp="1"/>
          </p:cNvSpPr>
          <p:nvPr>
            <p:ph idx="1"/>
          </p:nvPr>
        </p:nvSpPr>
        <p:spPr/>
        <p:txBody>
          <a:bodyPr/>
          <a:lstStyle/>
          <a:p>
            <a:r>
              <a:rPr lang="en-US" dirty="0"/>
              <a:t>It Will allow to run the program repeatedly until you decides to close it.</a:t>
            </a:r>
          </a:p>
          <a:p>
            <a:r>
              <a:rPr lang="en-US" dirty="0"/>
              <a:t>Example: health-club membership menu option</a:t>
            </a:r>
          </a:p>
        </p:txBody>
      </p:sp>
    </p:spTree>
    <p:extLst>
      <p:ext uri="{BB962C8B-B14F-4D97-AF65-F5344CB8AC3E}">
        <p14:creationId xmlns:p14="http://schemas.microsoft.com/office/powerpoint/2010/main" val="1758078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B6CE5-4AA9-C17C-0541-1344289C3DD1}"/>
              </a:ext>
            </a:extLst>
          </p:cNvPr>
          <p:cNvSpPr>
            <a:spLocks noGrp="1"/>
          </p:cNvSpPr>
          <p:nvPr>
            <p:ph type="title"/>
          </p:nvPr>
        </p:nvSpPr>
        <p:spPr/>
        <p:txBody>
          <a:bodyPr/>
          <a:lstStyle/>
          <a:p>
            <a:r>
              <a:rPr lang="en-US" dirty="0"/>
              <a:t>The for Loop</a:t>
            </a:r>
          </a:p>
        </p:txBody>
      </p:sp>
      <p:sp>
        <p:nvSpPr>
          <p:cNvPr id="3" name="Content Placeholder 2">
            <a:extLst>
              <a:ext uri="{FF2B5EF4-FFF2-40B4-BE49-F238E27FC236}">
                <a16:creationId xmlns:a16="http://schemas.microsoft.com/office/drawing/2014/main" id="{CDD0DB37-BBBD-B2A1-2A2A-C9E10EF78D68}"/>
              </a:ext>
            </a:extLst>
          </p:cNvPr>
          <p:cNvSpPr>
            <a:spLocks noGrp="1"/>
          </p:cNvSpPr>
          <p:nvPr>
            <p:ph idx="1"/>
          </p:nvPr>
        </p:nvSpPr>
        <p:spPr/>
        <p:txBody>
          <a:bodyPr>
            <a:normAutofit lnSpcReduction="10000"/>
          </a:bodyPr>
          <a:lstStyle/>
          <a:p>
            <a:r>
              <a:rPr lang="en-US" dirty="0"/>
              <a:t>The for loop is a pretest loop that combines the initialization, testing, and updating of a loop control variable in a single loop header.</a:t>
            </a:r>
          </a:p>
          <a:p>
            <a:endParaRPr lang="en-US" dirty="0"/>
          </a:p>
          <a:p>
            <a:endParaRPr lang="en-US" dirty="0"/>
          </a:p>
          <a:p>
            <a:endParaRPr lang="en-US" dirty="0"/>
          </a:p>
          <a:p>
            <a:endParaRPr lang="en-US" dirty="0"/>
          </a:p>
          <a:p>
            <a:r>
              <a:rPr lang="en-US" dirty="0"/>
              <a:t>Because the for loop tests its test expression before it performs an iteration, it is possible to write a for loop in such a way that it will never iterate. It’s a pretest loop.</a:t>
            </a:r>
          </a:p>
          <a:p>
            <a:endParaRPr lang="en-US" dirty="0"/>
          </a:p>
          <a:p>
            <a:endParaRPr lang="en-US" dirty="0"/>
          </a:p>
        </p:txBody>
      </p:sp>
      <p:pic>
        <p:nvPicPr>
          <p:cNvPr id="4" name="Picture 3">
            <a:extLst>
              <a:ext uri="{FF2B5EF4-FFF2-40B4-BE49-F238E27FC236}">
                <a16:creationId xmlns:a16="http://schemas.microsoft.com/office/drawing/2014/main" id="{B80011C6-026E-32A5-0B68-AF482FE811D6}"/>
              </a:ext>
            </a:extLst>
          </p:cNvPr>
          <p:cNvPicPr>
            <a:picLocks noChangeAspect="1"/>
          </p:cNvPicPr>
          <p:nvPr/>
        </p:nvPicPr>
        <p:blipFill>
          <a:blip r:embed="rId2"/>
          <a:stretch>
            <a:fillRect/>
          </a:stretch>
        </p:blipFill>
        <p:spPr>
          <a:xfrm>
            <a:off x="3863014" y="2791437"/>
            <a:ext cx="4902200" cy="2032000"/>
          </a:xfrm>
          <a:prstGeom prst="rect">
            <a:avLst/>
          </a:prstGeom>
        </p:spPr>
      </p:pic>
    </p:spTree>
    <p:extLst>
      <p:ext uri="{BB962C8B-B14F-4D97-AF65-F5344CB8AC3E}">
        <p14:creationId xmlns:p14="http://schemas.microsoft.com/office/powerpoint/2010/main" val="1886465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BFDB6-106D-A9ED-CA6C-F3F3B05CC7BD}"/>
              </a:ext>
            </a:extLst>
          </p:cNvPr>
          <p:cNvSpPr>
            <a:spLocks noGrp="1"/>
          </p:cNvSpPr>
          <p:nvPr>
            <p:ph type="title"/>
          </p:nvPr>
        </p:nvSpPr>
        <p:spPr/>
        <p:txBody>
          <a:bodyPr/>
          <a:lstStyle/>
          <a:p>
            <a:r>
              <a:rPr lang="en-US" dirty="0"/>
              <a:t>The for loop</a:t>
            </a:r>
          </a:p>
        </p:txBody>
      </p:sp>
      <p:pic>
        <p:nvPicPr>
          <p:cNvPr id="4" name="Picture 3">
            <a:extLst>
              <a:ext uri="{FF2B5EF4-FFF2-40B4-BE49-F238E27FC236}">
                <a16:creationId xmlns:a16="http://schemas.microsoft.com/office/drawing/2014/main" id="{4BB82072-8B8E-A634-26FD-AE309979910C}"/>
              </a:ext>
            </a:extLst>
          </p:cNvPr>
          <p:cNvPicPr>
            <a:picLocks noChangeAspect="1"/>
          </p:cNvPicPr>
          <p:nvPr/>
        </p:nvPicPr>
        <p:blipFill>
          <a:blip r:embed="rId2"/>
          <a:stretch>
            <a:fillRect/>
          </a:stretch>
        </p:blipFill>
        <p:spPr>
          <a:xfrm>
            <a:off x="1129077" y="1781961"/>
            <a:ext cx="5036966" cy="919294"/>
          </a:xfrm>
          <a:prstGeom prst="rect">
            <a:avLst/>
          </a:prstGeom>
        </p:spPr>
      </p:pic>
      <p:pic>
        <p:nvPicPr>
          <p:cNvPr id="5" name="Picture 4">
            <a:extLst>
              <a:ext uri="{FF2B5EF4-FFF2-40B4-BE49-F238E27FC236}">
                <a16:creationId xmlns:a16="http://schemas.microsoft.com/office/drawing/2014/main" id="{65F1EF85-BCBD-A633-055C-DA227E020451}"/>
              </a:ext>
            </a:extLst>
          </p:cNvPr>
          <p:cNvPicPr>
            <a:picLocks noChangeAspect="1"/>
          </p:cNvPicPr>
          <p:nvPr/>
        </p:nvPicPr>
        <p:blipFill>
          <a:blip r:embed="rId3"/>
          <a:stretch>
            <a:fillRect/>
          </a:stretch>
        </p:blipFill>
        <p:spPr>
          <a:xfrm>
            <a:off x="1206733" y="3623476"/>
            <a:ext cx="5231467" cy="2405145"/>
          </a:xfrm>
          <a:prstGeom prst="rect">
            <a:avLst/>
          </a:prstGeom>
        </p:spPr>
      </p:pic>
      <p:pic>
        <p:nvPicPr>
          <p:cNvPr id="6" name="Picture 5">
            <a:extLst>
              <a:ext uri="{FF2B5EF4-FFF2-40B4-BE49-F238E27FC236}">
                <a16:creationId xmlns:a16="http://schemas.microsoft.com/office/drawing/2014/main" id="{CB3F30CD-AED4-5C83-E91C-B7CE5BB85D4B}"/>
              </a:ext>
            </a:extLst>
          </p:cNvPr>
          <p:cNvPicPr>
            <a:picLocks noChangeAspect="1"/>
          </p:cNvPicPr>
          <p:nvPr/>
        </p:nvPicPr>
        <p:blipFill>
          <a:blip r:embed="rId4"/>
          <a:stretch>
            <a:fillRect/>
          </a:stretch>
        </p:blipFill>
        <p:spPr>
          <a:xfrm>
            <a:off x="7512165" y="2023437"/>
            <a:ext cx="4619071" cy="3200077"/>
          </a:xfrm>
          <a:prstGeom prst="rect">
            <a:avLst/>
          </a:prstGeom>
        </p:spPr>
      </p:pic>
    </p:spTree>
    <p:extLst>
      <p:ext uri="{BB962C8B-B14F-4D97-AF65-F5344CB8AC3E}">
        <p14:creationId xmlns:p14="http://schemas.microsoft.com/office/powerpoint/2010/main" val="1134503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3CECB-571E-2B4F-9EEB-2FE3C77BF1B9}"/>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31B34C7D-32B6-2A1A-15B6-A663A7E3ABB6}"/>
              </a:ext>
            </a:extLst>
          </p:cNvPr>
          <p:cNvPicPr>
            <a:picLocks noGrp="1" noChangeAspect="1"/>
          </p:cNvPicPr>
          <p:nvPr>
            <p:ph idx="1"/>
          </p:nvPr>
        </p:nvPicPr>
        <p:blipFill>
          <a:blip r:embed="rId2"/>
          <a:stretch>
            <a:fillRect/>
          </a:stretch>
        </p:blipFill>
        <p:spPr>
          <a:xfrm>
            <a:off x="3267336" y="139437"/>
            <a:ext cx="5180378" cy="6644925"/>
          </a:xfrm>
          <a:prstGeom prst="rect">
            <a:avLst/>
          </a:prstGeom>
        </p:spPr>
      </p:pic>
    </p:spTree>
    <p:extLst>
      <p:ext uri="{BB962C8B-B14F-4D97-AF65-F5344CB8AC3E}">
        <p14:creationId xmlns:p14="http://schemas.microsoft.com/office/powerpoint/2010/main" val="3933346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E9C08-6DAA-0D87-3B16-897BDF5FE277}"/>
              </a:ext>
            </a:extLst>
          </p:cNvPr>
          <p:cNvSpPr>
            <a:spLocks noGrp="1"/>
          </p:cNvSpPr>
          <p:nvPr>
            <p:ph type="title"/>
          </p:nvPr>
        </p:nvSpPr>
        <p:spPr/>
        <p:txBody>
          <a:bodyPr/>
          <a:lstStyle/>
          <a:p>
            <a:r>
              <a:rPr lang="en-US" dirty="0"/>
              <a:t>Avoid Modifying the Counter Variable in the Body of the for Loop</a:t>
            </a:r>
          </a:p>
        </p:txBody>
      </p:sp>
      <p:pic>
        <p:nvPicPr>
          <p:cNvPr id="4" name="Content Placeholder 3">
            <a:extLst>
              <a:ext uri="{FF2B5EF4-FFF2-40B4-BE49-F238E27FC236}">
                <a16:creationId xmlns:a16="http://schemas.microsoft.com/office/drawing/2014/main" id="{A35BFF13-D6B1-375C-BEEF-997B33D0DD65}"/>
              </a:ext>
            </a:extLst>
          </p:cNvPr>
          <p:cNvPicPr>
            <a:picLocks noGrp="1" noChangeAspect="1"/>
          </p:cNvPicPr>
          <p:nvPr>
            <p:ph idx="1"/>
          </p:nvPr>
        </p:nvPicPr>
        <p:blipFill>
          <a:blip r:embed="rId2"/>
          <a:stretch>
            <a:fillRect/>
          </a:stretch>
        </p:blipFill>
        <p:spPr>
          <a:xfrm>
            <a:off x="3634412" y="2596080"/>
            <a:ext cx="4637131" cy="2297488"/>
          </a:xfrm>
          <a:prstGeom prst="rect">
            <a:avLst/>
          </a:prstGeom>
        </p:spPr>
      </p:pic>
    </p:spTree>
    <p:extLst>
      <p:ext uri="{BB962C8B-B14F-4D97-AF65-F5344CB8AC3E}">
        <p14:creationId xmlns:p14="http://schemas.microsoft.com/office/powerpoint/2010/main" val="1805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7EEA9-9B2E-0612-4AB5-83C77AF8E828}"/>
              </a:ext>
            </a:extLst>
          </p:cNvPr>
          <p:cNvSpPr>
            <a:spLocks noGrp="1"/>
          </p:cNvSpPr>
          <p:nvPr>
            <p:ph type="title"/>
          </p:nvPr>
        </p:nvSpPr>
        <p:spPr/>
        <p:txBody>
          <a:bodyPr/>
          <a:lstStyle/>
          <a:p>
            <a:r>
              <a:rPr lang="en-US" dirty="0"/>
              <a:t>Other Forms of the Update Expression</a:t>
            </a:r>
          </a:p>
        </p:txBody>
      </p:sp>
      <p:pic>
        <p:nvPicPr>
          <p:cNvPr id="4" name="Content Placeholder 3">
            <a:extLst>
              <a:ext uri="{FF2B5EF4-FFF2-40B4-BE49-F238E27FC236}">
                <a16:creationId xmlns:a16="http://schemas.microsoft.com/office/drawing/2014/main" id="{2AB48F87-44A6-6B22-8DC1-339D97FC27F9}"/>
              </a:ext>
            </a:extLst>
          </p:cNvPr>
          <p:cNvPicPr>
            <a:picLocks noGrp="1" noChangeAspect="1"/>
          </p:cNvPicPr>
          <p:nvPr>
            <p:ph idx="1"/>
          </p:nvPr>
        </p:nvPicPr>
        <p:blipFill>
          <a:blip r:embed="rId2"/>
          <a:stretch>
            <a:fillRect/>
          </a:stretch>
        </p:blipFill>
        <p:spPr>
          <a:xfrm>
            <a:off x="3405525" y="2270901"/>
            <a:ext cx="5380949" cy="1388632"/>
          </a:xfrm>
          <a:prstGeom prst="rect">
            <a:avLst/>
          </a:prstGeom>
        </p:spPr>
      </p:pic>
      <p:pic>
        <p:nvPicPr>
          <p:cNvPr id="5" name="Picture 4">
            <a:extLst>
              <a:ext uri="{FF2B5EF4-FFF2-40B4-BE49-F238E27FC236}">
                <a16:creationId xmlns:a16="http://schemas.microsoft.com/office/drawing/2014/main" id="{FB11EB46-D43B-3490-10B9-B98329A8D0EF}"/>
              </a:ext>
            </a:extLst>
          </p:cNvPr>
          <p:cNvPicPr>
            <a:picLocks noChangeAspect="1"/>
          </p:cNvPicPr>
          <p:nvPr/>
        </p:nvPicPr>
        <p:blipFill>
          <a:blip r:embed="rId3"/>
          <a:stretch>
            <a:fillRect/>
          </a:stretch>
        </p:blipFill>
        <p:spPr>
          <a:xfrm>
            <a:off x="3563583" y="3955853"/>
            <a:ext cx="5064834" cy="1325562"/>
          </a:xfrm>
          <a:prstGeom prst="rect">
            <a:avLst/>
          </a:prstGeom>
        </p:spPr>
      </p:pic>
    </p:spTree>
    <p:extLst>
      <p:ext uri="{BB962C8B-B14F-4D97-AF65-F5344CB8AC3E}">
        <p14:creationId xmlns:p14="http://schemas.microsoft.com/office/powerpoint/2010/main" val="4252880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F1A1C-DFBE-1DBF-2D11-5F61A4E07756}"/>
              </a:ext>
            </a:extLst>
          </p:cNvPr>
          <p:cNvSpPr>
            <a:spLocks noGrp="1"/>
          </p:cNvSpPr>
          <p:nvPr>
            <p:ph type="title"/>
          </p:nvPr>
        </p:nvSpPr>
        <p:spPr/>
        <p:txBody>
          <a:bodyPr/>
          <a:lstStyle/>
          <a:p>
            <a:r>
              <a:rPr lang="en-US" dirty="0"/>
              <a:t>Defining a Variable in the for Loop’s Initialization Expression</a:t>
            </a:r>
          </a:p>
        </p:txBody>
      </p:sp>
      <p:pic>
        <p:nvPicPr>
          <p:cNvPr id="5" name="Content Placeholder 4">
            <a:extLst>
              <a:ext uri="{FF2B5EF4-FFF2-40B4-BE49-F238E27FC236}">
                <a16:creationId xmlns:a16="http://schemas.microsoft.com/office/drawing/2014/main" id="{DCCE764E-5145-7013-151F-8F3862AB0238}"/>
              </a:ext>
            </a:extLst>
          </p:cNvPr>
          <p:cNvPicPr>
            <a:picLocks noGrp="1" noChangeAspect="1"/>
          </p:cNvPicPr>
          <p:nvPr>
            <p:ph idx="1"/>
          </p:nvPr>
        </p:nvPicPr>
        <p:blipFill>
          <a:blip r:embed="rId2"/>
          <a:stretch>
            <a:fillRect/>
          </a:stretch>
        </p:blipFill>
        <p:spPr>
          <a:xfrm>
            <a:off x="2121306" y="4180440"/>
            <a:ext cx="7274363" cy="1585693"/>
          </a:xfrm>
          <a:prstGeom prst="rect">
            <a:avLst/>
          </a:prstGeom>
        </p:spPr>
      </p:pic>
      <p:pic>
        <p:nvPicPr>
          <p:cNvPr id="4" name="Picture 3">
            <a:extLst>
              <a:ext uri="{FF2B5EF4-FFF2-40B4-BE49-F238E27FC236}">
                <a16:creationId xmlns:a16="http://schemas.microsoft.com/office/drawing/2014/main" id="{23FA3FF0-88AD-A1F6-F25D-E9A293DADBA5}"/>
              </a:ext>
            </a:extLst>
          </p:cNvPr>
          <p:cNvPicPr>
            <a:picLocks noChangeAspect="1"/>
          </p:cNvPicPr>
          <p:nvPr/>
        </p:nvPicPr>
        <p:blipFill>
          <a:blip r:embed="rId3"/>
          <a:stretch>
            <a:fillRect/>
          </a:stretch>
        </p:blipFill>
        <p:spPr>
          <a:xfrm>
            <a:off x="2322526" y="2442129"/>
            <a:ext cx="7771609" cy="986871"/>
          </a:xfrm>
          <a:prstGeom prst="rect">
            <a:avLst/>
          </a:prstGeom>
        </p:spPr>
      </p:pic>
    </p:spTree>
    <p:extLst>
      <p:ext uri="{BB962C8B-B14F-4D97-AF65-F5344CB8AC3E}">
        <p14:creationId xmlns:p14="http://schemas.microsoft.com/office/powerpoint/2010/main" val="3687041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7D6F9-4F02-9077-925D-67CAD5814A81}"/>
              </a:ext>
            </a:extLst>
          </p:cNvPr>
          <p:cNvSpPr>
            <a:spLocks noGrp="1"/>
          </p:cNvSpPr>
          <p:nvPr>
            <p:ph type="title"/>
          </p:nvPr>
        </p:nvSpPr>
        <p:spPr/>
        <p:txBody>
          <a:bodyPr/>
          <a:lstStyle/>
          <a:p>
            <a:r>
              <a:rPr lang="en-US" dirty="0">
                <a:effectLst/>
              </a:rPr>
              <a:t>Creating a User-Controlled for Loop</a:t>
            </a:r>
            <a:br>
              <a:rPr lang="en-US" b="1" dirty="0">
                <a:effectLst/>
              </a:rPr>
            </a:br>
            <a:endParaRPr lang="en-US" dirty="0"/>
          </a:p>
        </p:txBody>
      </p:sp>
      <p:pic>
        <p:nvPicPr>
          <p:cNvPr id="4" name="Content Placeholder 3">
            <a:extLst>
              <a:ext uri="{FF2B5EF4-FFF2-40B4-BE49-F238E27FC236}">
                <a16:creationId xmlns:a16="http://schemas.microsoft.com/office/drawing/2014/main" id="{B8320289-8D3F-6788-AE10-33DB0FCC35F1}"/>
              </a:ext>
            </a:extLst>
          </p:cNvPr>
          <p:cNvPicPr>
            <a:picLocks noGrp="1" noChangeAspect="1"/>
          </p:cNvPicPr>
          <p:nvPr>
            <p:ph idx="1"/>
          </p:nvPr>
        </p:nvPicPr>
        <p:blipFill>
          <a:blip r:embed="rId2"/>
          <a:stretch>
            <a:fillRect/>
          </a:stretch>
        </p:blipFill>
        <p:spPr>
          <a:xfrm>
            <a:off x="3012492" y="2429349"/>
            <a:ext cx="6167015" cy="2739028"/>
          </a:xfrm>
          <a:prstGeom prst="rect">
            <a:avLst/>
          </a:prstGeom>
        </p:spPr>
      </p:pic>
    </p:spTree>
    <p:extLst>
      <p:ext uri="{BB962C8B-B14F-4D97-AF65-F5344CB8AC3E}">
        <p14:creationId xmlns:p14="http://schemas.microsoft.com/office/powerpoint/2010/main" val="1737923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3DAC9-1808-BCE7-C946-291530322F8D}"/>
              </a:ext>
            </a:extLst>
          </p:cNvPr>
          <p:cNvSpPr>
            <a:spLocks noGrp="1"/>
          </p:cNvSpPr>
          <p:nvPr>
            <p:ph type="title"/>
          </p:nvPr>
        </p:nvSpPr>
        <p:spPr/>
        <p:txBody>
          <a:bodyPr/>
          <a:lstStyle/>
          <a:p>
            <a:r>
              <a:rPr lang="en-US" dirty="0"/>
              <a:t>Using Multiple Statements in the Initialization and Update Expressions</a:t>
            </a:r>
          </a:p>
        </p:txBody>
      </p:sp>
      <p:pic>
        <p:nvPicPr>
          <p:cNvPr id="4" name="Content Placeholder 3">
            <a:extLst>
              <a:ext uri="{FF2B5EF4-FFF2-40B4-BE49-F238E27FC236}">
                <a16:creationId xmlns:a16="http://schemas.microsoft.com/office/drawing/2014/main" id="{9ED7426A-AFEE-FC4B-1962-98A99F845BCE}"/>
              </a:ext>
            </a:extLst>
          </p:cNvPr>
          <p:cNvPicPr>
            <a:picLocks noGrp="1" noChangeAspect="1"/>
          </p:cNvPicPr>
          <p:nvPr>
            <p:ph idx="1"/>
          </p:nvPr>
        </p:nvPicPr>
        <p:blipFill>
          <a:blip r:embed="rId2"/>
          <a:stretch>
            <a:fillRect/>
          </a:stretch>
        </p:blipFill>
        <p:spPr>
          <a:xfrm>
            <a:off x="1679255" y="2469858"/>
            <a:ext cx="5702300" cy="1219200"/>
          </a:xfrm>
          <a:prstGeom prst="rect">
            <a:avLst/>
          </a:prstGeom>
        </p:spPr>
      </p:pic>
      <p:pic>
        <p:nvPicPr>
          <p:cNvPr id="5" name="Picture 4">
            <a:extLst>
              <a:ext uri="{FF2B5EF4-FFF2-40B4-BE49-F238E27FC236}">
                <a16:creationId xmlns:a16="http://schemas.microsoft.com/office/drawing/2014/main" id="{3E8909D9-0BA1-34BF-6D05-FEA28285B1C7}"/>
              </a:ext>
            </a:extLst>
          </p:cNvPr>
          <p:cNvPicPr>
            <a:picLocks noChangeAspect="1"/>
          </p:cNvPicPr>
          <p:nvPr/>
        </p:nvPicPr>
        <p:blipFill>
          <a:blip r:embed="rId3"/>
          <a:stretch>
            <a:fillRect/>
          </a:stretch>
        </p:blipFill>
        <p:spPr>
          <a:xfrm>
            <a:off x="1679255" y="3944456"/>
            <a:ext cx="5930900" cy="1422400"/>
          </a:xfrm>
          <a:prstGeom prst="rect">
            <a:avLst/>
          </a:prstGeom>
        </p:spPr>
      </p:pic>
      <p:pic>
        <p:nvPicPr>
          <p:cNvPr id="6" name="Picture 5">
            <a:extLst>
              <a:ext uri="{FF2B5EF4-FFF2-40B4-BE49-F238E27FC236}">
                <a16:creationId xmlns:a16="http://schemas.microsoft.com/office/drawing/2014/main" id="{E839E9E8-90E1-88D3-D9B5-AAAD89D63D9A}"/>
              </a:ext>
            </a:extLst>
          </p:cNvPr>
          <p:cNvPicPr>
            <a:picLocks noChangeAspect="1"/>
          </p:cNvPicPr>
          <p:nvPr/>
        </p:nvPicPr>
        <p:blipFill>
          <a:blip r:embed="rId4"/>
          <a:stretch>
            <a:fillRect/>
          </a:stretch>
        </p:blipFill>
        <p:spPr>
          <a:xfrm>
            <a:off x="9653573" y="3944456"/>
            <a:ext cx="2146300" cy="1422400"/>
          </a:xfrm>
          <a:prstGeom prst="rect">
            <a:avLst/>
          </a:prstGeom>
        </p:spPr>
      </p:pic>
      <p:cxnSp>
        <p:nvCxnSpPr>
          <p:cNvPr id="8" name="Straight Arrow Connector 7">
            <a:extLst>
              <a:ext uri="{FF2B5EF4-FFF2-40B4-BE49-F238E27FC236}">
                <a16:creationId xmlns:a16="http://schemas.microsoft.com/office/drawing/2014/main" id="{9C24F9B1-58D6-E1B4-BDC8-ED16A65E583F}"/>
              </a:ext>
            </a:extLst>
          </p:cNvPr>
          <p:cNvCxnSpPr>
            <a:cxnSpLocks/>
          </p:cNvCxnSpPr>
          <p:nvPr/>
        </p:nvCxnSpPr>
        <p:spPr>
          <a:xfrm>
            <a:off x="7610155" y="4513043"/>
            <a:ext cx="18526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AAEDD98-87F1-7DBA-64B4-C0633929FD53}"/>
              </a:ext>
            </a:extLst>
          </p:cNvPr>
          <p:cNvCxnSpPr/>
          <p:nvPr/>
        </p:nvCxnSpPr>
        <p:spPr>
          <a:xfrm>
            <a:off x="7490583" y="3087148"/>
            <a:ext cx="18526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634F8C09-FCE0-B22A-A77F-03734063D7F3}"/>
              </a:ext>
            </a:extLst>
          </p:cNvPr>
          <p:cNvPicPr>
            <a:picLocks noChangeAspect="1"/>
          </p:cNvPicPr>
          <p:nvPr/>
        </p:nvPicPr>
        <p:blipFill>
          <a:blip r:embed="rId5"/>
          <a:stretch>
            <a:fillRect/>
          </a:stretch>
        </p:blipFill>
        <p:spPr>
          <a:xfrm>
            <a:off x="9653573" y="2306971"/>
            <a:ext cx="1803400" cy="1371600"/>
          </a:xfrm>
          <a:prstGeom prst="rect">
            <a:avLst/>
          </a:prstGeom>
        </p:spPr>
      </p:pic>
      <p:pic>
        <p:nvPicPr>
          <p:cNvPr id="11" name="Picture 10">
            <a:extLst>
              <a:ext uri="{FF2B5EF4-FFF2-40B4-BE49-F238E27FC236}">
                <a16:creationId xmlns:a16="http://schemas.microsoft.com/office/drawing/2014/main" id="{412FA69D-0166-ED81-432C-CB5FDFFB14F9}"/>
              </a:ext>
            </a:extLst>
          </p:cNvPr>
          <p:cNvPicPr>
            <a:picLocks noChangeAspect="1"/>
          </p:cNvPicPr>
          <p:nvPr/>
        </p:nvPicPr>
        <p:blipFill>
          <a:blip r:embed="rId6"/>
          <a:stretch>
            <a:fillRect/>
          </a:stretch>
        </p:blipFill>
        <p:spPr>
          <a:xfrm>
            <a:off x="1679255" y="5887613"/>
            <a:ext cx="4699000" cy="673100"/>
          </a:xfrm>
          <a:prstGeom prst="rect">
            <a:avLst/>
          </a:prstGeom>
        </p:spPr>
      </p:pic>
      <p:sp>
        <p:nvSpPr>
          <p:cNvPr id="12" name="TextBox 11">
            <a:extLst>
              <a:ext uri="{FF2B5EF4-FFF2-40B4-BE49-F238E27FC236}">
                <a16:creationId xmlns:a16="http://schemas.microsoft.com/office/drawing/2014/main" id="{BAD15571-C89B-FC79-7C94-206E8F5B08ED}"/>
              </a:ext>
            </a:extLst>
          </p:cNvPr>
          <p:cNvSpPr txBox="1"/>
          <p:nvPr/>
        </p:nvSpPr>
        <p:spPr>
          <a:xfrm>
            <a:off x="1325880" y="2916936"/>
            <a:ext cx="30809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27025F8-65C2-4CA5-92EE-C3657809231C}"/>
              </a:ext>
            </a:extLst>
          </p:cNvPr>
          <p:cNvSpPr txBox="1"/>
          <p:nvPr/>
        </p:nvSpPr>
        <p:spPr>
          <a:xfrm>
            <a:off x="1417320" y="4526280"/>
            <a:ext cx="308098" cy="369332"/>
          </a:xfrm>
          <a:prstGeom prst="rect">
            <a:avLst/>
          </a:prstGeom>
          <a:noFill/>
        </p:spPr>
        <p:txBody>
          <a:bodyPr wrap="none" rtlCol="0">
            <a:spAutoFit/>
          </a:bodyPr>
          <a:lstStyle/>
          <a:p>
            <a:r>
              <a:rPr lang="en-US" dirty="0"/>
              <a:t>2</a:t>
            </a:r>
          </a:p>
        </p:txBody>
      </p:sp>
      <p:sp>
        <p:nvSpPr>
          <p:cNvPr id="14" name="TextBox 13">
            <a:extLst>
              <a:ext uri="{FF2B5EF4-FFF2-40B4-BE49-F238E27FC236}">
                <a16:creationId xmlns:a16="http://schemas.microsoft.com/office/drawing/2014/main" id="{A908A8BC-7787-F1F3-7EFF-12ECD6C67E1C}"/>
              </a:ext>
            </a:extLst>
          </p:cNvPr>
          <p:cNvSpPr txBox="1"/>
          <p:nvPr/>
        </p:nvSpPr>
        <p:spPr>
          <a:xfrm>
            <a:off x="1371157" y="6039497"/>
            <a:ext cx="308098"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574162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785AC-1172-A377-99CD-0C02330BDDD0}"/>
              </a:ext>
            </a:extLst>
          </p:cNvPr>
          <p:cNvSpPr>
            <a:spLocks noGrp="1"/>
          </p:cNvSpPr>
          <p:nvPr>
            <p:ph type="title"/>
          </p:nvPr>
        </p:nvSpPr>
        <p:spPr/>
        <p:txBody>
          <a:bodyPr>
            <a:normAutofit fontScale="90000"/>
          </a:bodyPr>
          <a:lstStyle/>
          <a:p>
            <a:r>
              <a:rPr lang="en-US" dirty="0">
                <a:effectLst/>
              </a:rPr>
              <a:t>Omitting the for Loop’s Expressions or Loop Body</a:t>
            </a:r>
            <a:br>
              <a:rPr lang="en-US" dirty="0">
                <a:effectLst/>
              </a:rPr>
            </a:br>
            <a:endParaRPr lang="en-US" dirty="0"/>
          </a:p>
        </p:txBody>
      </p:sp>
      <p:pic>
        <p:nvPicPr>
          <p:cNvPr id="4" name="Content Placeholder 3">
            <a:extLst>
              <a:ext uri="{FF2B5EF4-FFF2-40B4-BE49-F238E27FC236}">
                <a16:creationId xmlns:a16="http://schemas.microsoft.com/office/drawing/2014/main" id="{45E578AE-9FB2-D60C-C531-72A8E8FA80F2}"/>
              </a:ext>
            </a:extLst>
          </p:cNvPr>
          <p:cNvPicPr>
            <a:picLocks noGrp="1" noChangeAspect="1"/>
          </p:cNvPicPr>
          <p:nvPr>
            <p:ph idx="1"/>
          </p:nvPr>
        </p:nvPicPr>
        <p:blipFill>
          <a:blip r:embed="rId2"/>
          <a:stretch>
            <a:fillRect/>
          </a:stretch>
        </p:blipFill>
        <p:spPr>
          <a:xfrm>
            <a:off x="2026920" y="1690688"/>
            <a:ext cx="4572000" cy="1130300"/>
          </a:xfrm>
          <a:prstGeom prst="rect">
            <a:avLst/>
          </a:prstGeom>
        </p:spPr>
      </p:pic>
      <p:pic>
        <p:nvPicPr>
          <p:cNvPr id="5" name="Picture 4">
            <a:extLst>
              <a:ext uri="{FF2B5EF4-FFF2-40B4-BE49-F238E27FC236}">
                <a16:creationId xmlns:a16="http://schemas.microsoft.com/office/drawing/2014/main" id="{F3113AD8-9822-45AE-ADD8-9C31269C4F54}"/>
              </a:ext>
            </a:extLst>
          </p:cNvPr>
          <p:cNvPicPr>
            <a:picLocks noChangeAspect="1"/>
          </p:cNvPicPr>
          <p:nvPr/>
        </p:nvPicPr>
        <p:blipFill>
          <a:blip r:embed="rId3"/>
          <a:stretch>
            <a:fillRect/>
          </a:stretch>
        </p:blipFill>
        <p:spPr>
          <a:xfrm>
            <a:off x="2026920" y="3226308"/>
            <a:ext cx="5016500" cy="1447800"/>
          </a:xfrm>
          <a:prstGeom prst="rect">
            <a:avLst/>
          </a:prstGeom>
        </p:spPr>
      </p:pic>
      <p:sp>
        <p:nvSpPr>
          <p:cNvPr id="6" name="TextBox 5">
            <a:extLst>
              <a:ext uri="{FF2B5EF4-FFF2-40B4-BE49-F238E27FC236}">
                <a16:creationId xmlns:a16="http://schemas.microsoft.com/office/drawing/2014/main" id="{3FA87C08-FCA5-F548-8912-CF22BD9904D5}"/>
              </a:ext>
            </a:extLst>
          </p:cNvPr>
          <p:cNvSpPr txBox="1"/>
          <p:nvPr/>
        </p:nvSpPr>
        <p:spPr>
          <a:xfrm>
            <a:off x="8165592" y="3703320"/>
            <a:ext cx="2199192" cy="369332"/>
          </a:xfrm>
          <a:prstGeom prst="rect">
            <a:avLst/>
          </a:prstGeom>
          <a:noFill/>
        </p:spPr>
        <p:txBody>
          <a:bodyPr wrap="none" rtlCol="0">
            <a:spAutoFit/>
          </a:bodyPr>
          <a:lstStyle/>
          <a:p>
            <a:r>
              <a:rPr lang="en-US" dirty="0"/>
              <a:t>Just like a while loop</a:t>
            </a:r>
          </a:p>
        </p:txBody>
      </p:sp>
      <p:cxnSp>
        <p:nvCxnSpPr>
          <p:cNvPr id="7" name="Straight Arrow Connector 6">
            <a:extLst>
              <a:ext uri="{FF2B5EF4-FFF2-40B4-BE49-F238E27FC236}">
                <a16:creationId xmlns:a16="http://schemas.microsoft.com/office/drawing/2014/main" id="{7315578C-87C5-316D-8E21-18E8465AF9A5}"/>
              </a:ext>
            </a:extLst>
          </p:cNvPr>
          <p:cNvCxnSpPr>
            <a:cxnSpLocks/>
          </p:cNvCxnSpPr>
          <p:nvPr/>
        </p:nvCxnSpPr>
        <p:spPr>
          <a:xfrm>
            <a:off x="6460551" y="3900395"/>
            <a:ext cx="16227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07D00FEC-263B-27FE-6237-051E6E62FC19}"/>
              </a:ext>
            </a:extLst>
          </p:cNvPr>
          <p:cNvPicPr>
            <a:picLocks noChangeAspect="1"/>
          </p:cNvPicPr>
          <p:nvPr/>
        </p:nvPicPr>
        <p:blipFill>
          <a:blip r:embed="rId4"/>
          <a:stretch>
            <a:fillRect/>
          </a:stretch>
        </p:blipFill>
        <p:spPr>
          <a:xfrm>
            <a:off x="2001520" y="5551303"/>
            <a:ext cx="4622800" cy="558800"/>
          </a:xfrm>
          <a:prstGeom prst="rect">
            <a:avLst/>
          </a:prstGeom>
        </p:spPr>
      </p:pic>
      <p:sp>
        <p:nvSpPr>
          <p:cNvPr id="10" name="TextBox 9">
            <a:extLst>
              <a:ext uri="{FF2B5EF4-FFF2-40B4-BE49-F238E27FC236}">
                <a16:creationId xmlns:a16="http://schemas.microsoft.com/office/drawing/2014/main" id="{A8C452FB-30E4-D947-9C36-47EBB9F760FF}"/>
              </a:ext>
            </a:extLst>
          </p:cNvPr>
          <p:cNvSpPr txBox="1"/>
          <p:nvPr/>
        </p:nvSpPr>
        <p:spPr>
          <a:xfrm>
            <a:off x="1554480" y="2313432"/>
            <a:ext cx="308098" cy="369332"/>
          </a:xfrm>
          <a:prstGeom prst="rect">
            <a:avLst/>
          </a:prstGeom>
          <a:noFill/>
        </p:spPr>
        <p:txBody>
          <a:bodyPr wrap="none" rtlCol="0">
            <a:spAutoFit/>
          </a:bodyPr>
          <a:lstStyle/>
          <a:p>
            <a:r>
              <a:rPr lang="en-US" dirty="0"/>
              <a:t>1</a:t>
            </a:r>
          </a:p>
        </p:txBody>
      </p:sp>
      <p:sp>
        <p:nvSpPr>
          <p:cNvPr id="11" name="TextBox 10">
            <a:extLst>
              <a:ext uri="{FF2B5EF4-FFF2-40B4-BE49-F238E27FC236}">
                <a16:creationId xmlns:a16="http://schemas.microsoft.com/office/drawing/2014/main" id="{CAFE3265-E9D6-3FE7-31BF-69F8FCB1729C}"/>
              </a:ext>
            </a:extLst>
          </p:cNvPr>
          <p:cNvSpPr txBox="1"/>
          <p:nvPr/>
        </p:nvSpPr>
        <p:spPr>
          <a:xfrm>
            <a:off x="1433193" y="3689541"/>
            <a:ext cx="308098" cy="369332"/>
          </a:xfrm>
          <a:prstGeom prst="rect">
            <a:avLst/>
          </a:prstGeom>
          <a:noFill/>
        </p:spPr>
        <p:txBody>
          <a:bodyPr wrap="none" rtlCol="0">
            <a:spAutoFit/>
          </a:bodyPr>
          <a:lstStyle/>
          <a:p>
            <a:r>
              <a:rPr lang="en-US" dirty="0"/>
              <a:t>2</a:t>
            </a:r>
          </a:p>
        </p:txBody>
      </p:sp>
      <p:sp>
        <p:nvSpPr>
          <p:cNvPr id="12" name="TextBox 11">
            <a:extLst>
              <a:ext uri="{FF2B5EF4-FFF2-40B4-BE49-F238E27FC236}">
                <a16:creationId xmlns:a16="http://schemas.microsoft.com/office/drawing/2014/main" id="{357E90FD-4F10-31A9-1115-D768E0D09700}"/>
              </a:ext>
            </a:extLst>
          </p:cNvPr>
          <p:cNvSpPr txBox="1"/>
          <p:nvPr/>
        </p:nvSpPr>
        <p:spPr>
          <a:xfrm>
            <a:off x="1588258" y="5646037"/>
            <a:ext cx="308098"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1518413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CC34A-787D-494D-C870-6B05A52F2DAF}"/>
              </a:ext>
            </a:extLst>
          </p:cNvPr>
          <p:cNvSpPr>
            <a:spLocks noGrp="1"/>
          </p:cNvSpPr>
          <p:nvPr>
            <p:ph type="title"/>
          </p:nvPr>
        </p:nvSpPr>
        <p:spPr/>
        <p:txBody>
          <a:bodyPr/>
          <a:lstStyle/>
          <a:p>
            <a:r>
              <a:rPr lang="en-US" dirty="0"/>
              <a:t>Deciding Which Loop to Use</a:t>
            </a:r>
          </a:p>
        </p:txBody>
      </p:sp>
      <p:sp>
        <p:nvSpPr>
          <p:cNvPr id="3" name="Content Placeholder 2">
            <a:extLst>
              <a:ext uri="{FF2B5EF4-FFF2-40B4-BE49-F238E27FC236}">
                <a16:creationId xmlns:a16="http://schemas.microsoft.com/office/drawing/2014/main" id="{4FF0A055-A453-FB4B-5322-E0246BB2D369}"/>
              </a:ext>
            </a:extLst>
          </p:cNvPr>
          <p:cNvSpPr>
            <a:spLocks noGrp="1"/>
          </p:cNvSpPr>
          <p:nvPr>
            <p:ph idx="1"/>
          </p:nvPr>
        </p:nvSpPr>
        <p:spPr/>
        <p:txBody>
          <a:bodyPr/>
          <a:lstStyle/>
          <a:p>
            <a:r>
              <a:rPr lang="en-US" dirty="0"/>
              <a:t>Although most repetitive algorithms can be written with any of the three types of loops, each works best in different situations.</a:t>
            </a:r>
          </a:p>
        </p:txBody>
      </p:sp>
    </p:spTree>
    <p:extLst>
      <p:ext uri="{BB962C8B-B14F-4D97-AF65-F5344CB8AC3E}">
        <p14:creationId xmlns:p14="http://schemas.microsoft.com/office/powerpoint/2010/main" val="26489463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CC34A-787D-494D-C870-6B05A52F2DAF}"/>
              </a:ext>
            </a:extLst>
          </p:cNvPr>
          <p:cNvSpPr>
            <a:spLocks noGrp="1"/>
          </p:cNvSpPr>
          <p:nvPr>
            <p:ph type="title"/>
          </p:nvPr>
        </p:nvSpPr>
        <p:spPr/>
        <p:txBody>
          <a:bodyPr/>
          <a:lstStyle/>
          <a:p>
            <a:r>
              <a:rPr lang="en-US" dirty="0"/>
              <a:t>Deciding Which Loop to Use – While loop</a:t>
            </a:r>
          </a:p>
        </p:txBody>
      </p:sp>
      <p:sp>
        <p:nvSpPr>
          <p:cNvPr id="3" name="Content Placeholder 2">
            <a:extLst>
              <a:ext uri="{FF2B5EF4-FFF2-40B4-BE49-F238E27FC236}">
                <a16:creationId xmlns:a16="http://schemas.microsoft.com/office/drawing/2014/main" id="{4FF0A055-A453-FB4B-5322-E0246BB2D369}"/>
              </a:ext>
            </a:extLst>
          </p:cNvPr>
          <p:cNvSpPr>
            <a:spLocks noGrp="1"/>
          </p:cNvSpPr>
          <p:nvPr>
            <p:ph idx="1"/>
          </p:nvPr>
        </p:nvSpPr>
        <p:spPr/>
        <p:txBody>
          <a:bodyPr/>
          <a:lstStyle/>
          <a:p>
            <a:r>
              <a:rPr lang="en-US" dirty="0"/>
              <a:t>The while loop is a pretest loop. It is ideal in situations where you do not want the loop to iterate if the test condition is false from the beginning. For example, validating input that has been read and reading lists of data terminated by a sentinel value are good applications of the while loop</a:t>
            </a:r>
          </a:p>
        </p:txBody>
      </p:sp>
      <p:pic>
        <p:nvPicPr>
          <p:cNvPr id="4" name="Picture 3">
            <a:extLst>
              <a:ext uri="{FF2B5EF4-FFF2-40B4-BE49-F238E27FC236}">
                <a16:creationId xmlns:a16="http://schemas.microsoft.com/office/drawing/2014/main" id="{2ABBEE8F-D3F7-0A8B-2764-E3DEAD537493}"/>
              </a:ext>
            </a:extLst>
          </p:cNvPr>
          <p:cNvPicPr>
            <a:picLocks noChangeAspect="1"/>
          </p:cNvPicPr>
          <p:nvPr/>
        </p:nvPicPr>
        <p:blipFill>
          <a:blip r:embed="rId2"/>
          <a:stretch>
            <a:fillRect/>
          </a:stretch>
        </p:blipFill>
        <p:spPr>
          <a:xfrm>
            <a:off x="2997339" y="4182269"/>
            <a:ext cx="6197321" cy="2310606"/>
          </a:xfrm>
          <a:prstGeom prst="rect">
            <a:avLst/>
          </a:prstGeom>
        </p:spPr>
      </p:pic>
    </p:spTree>
    <p:extLst>
      <p:ext uri="{BB962C8B-B14F-4D97-AF65-F5344CB8AC3E}">
        <p14:creationId xmlns:p14="http://schemas.microsoft.com/office/powerpoint/2010/main" val="36971530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CC873-5F3A-FCAB-8EDB-34B5CA89369A}"/>
              </a:ext>
            </a:extLst>
          </p:cNvPr>
          <p:cNvSpPr>
            <a:spLocks noGrp="1"/>
          </p:cNvSpPr>
          <p:nvPr>
            <p:ph type="title"/>
          </p:nvPr>
        </p:nvSpPr>
        <p:spPr/>
        <p:txBody>
          <a:bodyPr>
            <a:normAutofit/>
          </a:bodyPr>
          <a:lstStyle/>
          <a:p>
            <a:r>
              <a:rPr lang="en-US" sz="4000" dirty="0"/>
              <a:t>Deciding Which Loop to Use: The for Loop</a:t>
            </a:r>
          </a:p>
        </p:txBody>
      </p:sp>
      <p:sp>
        <p:nvSpPr>
          <p:cNvPr id="3" name="Content Placeholder 2">
            <a:extLst>
              <a:ext uri="{FF2B5EF4-FFF2-40B4-BE49-F238E27FC236}">
                <a16:creationId xmlns:a16="http://schemas.microsoft.com/office/drawing/2014/main" id="{6F93A14F-7403-AE28-4BF9-B0314963BFBE}"/>
              </a:ext>
            </a:extLst>
          </p:cNvPr>
          <p:cNvSpPr>
            <a:spLocks noGrp="1"/>
          </p:cNvSpPr>
          <p:nvPr>
            <p:ph idx="1"/>
          </p:nvPr>
        </p:nvSpPr>
        <p:spPr/>
        <p:txBody>
          <a:bodyPr/>
          <a:lstStyle/>
          <a:p>
            <a:r>
              <a:rPr lang="en-US" dirty="0"/>
              <a:t>The for loop is a pretest loop with built-in expressions for initializing, testing, and updating a counter variable. The for loop is ideal in situations where the exact number of iterations is known.</a:t>
            </a:r>
          </a:p>
        </p:txBody>
      </p:sp>
      <p:pic>
        <p:nvPicPr>
          <p:cNvPr id="5" name="Picture 4">
            <a:extLst>
              <a:ext uri="{FF2B5EF4-FFF2-40B4-BE49-F238E27FC236}">
                <a16:creationId xmlns:a16="http://schemas.microsoft.com/office/drawing/2014/main" id="{70012AB5-D18B-867F-B116-DCA6DB1AD7BF}"/>
              </a:ext>
            </a:extLst>
          </p:cNvPr>
          <p:cNvPicPr>
            <a:picLocks noChangeAspect="1"/>
          </p:cNvPicPr>
          <p:nvPr/>
        </p:nvPicPr>
        <p:blipFill>
          <a:blip r:embed="rId2"/>
          <a:stretch>
            <a:fillRect/>
          </a:stretch>
        </p:blipFill>
        <p:spPr>
          <a:xfrm>
            <a:off x="3371850" y="3771900"/>
            <a:ext cx="5448300" cy="1752600"/>
          </a:xfrm>
          <a:prstGeom prst="rect">
            <a:avLst/>
          </a:prstGeom>
        </p:spPr>
      </p:pic>
    </p:spTree>
    <p:extLst>
      <p:ext uri="{BB962C8B-B14F-4D97-AF65-F5344CB8AC3E}">
        <p14:creationId xmlns:p14="http://schemas.microsoft.com/office/powerpoint/2010/main" val="315837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78246-BB9C-B0DA-0E97-10B5BF1822D5}"/>
              </a:ext>
            </a:extLst>
          </p:cNvPr>
          <p:cNvSpPr>
            <a:spLocks noGrp="1"/>
          </p:cNvSpPr>
          <p:nvPr>
            <p:ph type="title"/>
          </p:nvPr>
        </p:nvSpPr>
        <p:spPr/>
        <p:txBody>
          <a:bodyPr/>
          <a:lstStyle/>
          <a:p>
            <a:r>
              <a:rPr lang="en-US" dirty="0"/>
              <a:t>Nested Loops</a:t>
            </a:r>
          </a:p>
        </p:txBody>
      </p:sp>
      <p:sp>
        <p:nvSpPr>
          <p:cNvPr id="3" name="Content Placeholder 2">
            <a:extLst>
              <a:ext uri="{FF2B5EF4-FFF2-40B4-BE49-F238E27FC236}">
                <a16:creationId xmlns:a16="http://schemas.microsoft.com/office/drawing/2014/main" id="{35B9A1A1-7EEE-6C82-45A5-24EFA7E2632F}"/>
              </a:ext>
            </a:extLst>
          </p:cNvPr>
          <p:cNvSpPr>
            <a:spLocks noGrp="1"/>
          </p:cNvSpPr>
          <p:nvPr>
            <p:ph idx="1"/>
          </p:nvPr>
        </p:nvSpPr>
        <p:spPr/>
        <p:txBody>
          <a:bodyPr/>
          <a:lstStyle/>
          <a:p>
            <a:r>
              <a:rPr lang="en-US" dirty="0"/>
              <a:t>A loop that is inside another loop is called a </a:t>
            </a:r>
            <a:r>
              <a:rPr lang="en-US" dirty="0">
                <a:hlinkClick r:id="rId2"/>
              </a:rPr>
              <a:t>nested loop</a:t>
            </a:r>
            <a:r>
              <a:rPr lang="en-US" dirty="0"/>
              <a:t>.</a:t>
            </a:r>
          </a:p>
          <a:p>
            <a:endParaRPr lang="en-US" dirty="0"/>
          </a:p>
        </p:txBody>
      </p:sp>
      <p:pic>
        <p:nvPicPr>
          <p:cNvPr id="4" name="Picture 3">
            <a:extLst>
              <a:ext uri="{FF2B5EF4-FFF2-40B4-BE49-F238E27FC236}">
                <a16:creationId xmlns:a16="http://schemas.microsoft.com/office/drawing/2014/main" id="{FC97D5AC-1A34-2AE6-4B0B-EB509733AD3B}"/>
              </a:ext>
            </a:extLst>
          </p:cNvPr>
          <p:cNvPicPr>
            <a:picLocks noChangeAspect="1"/>
          </p:cNvPicPr>
          <p:nvPr/>
        </p:nvPicPr>
        <p:blipFill>
          <a:blip r:embed="rId3"/>
          <a:stretch>
            <a:fillRect/>
          </a:stretch>
        </p:blipFill>
        <p:spPr>
          <a:xfrm>
            <a:off x="2137300" y="2833480"/>
            <a:ext cx="7917399" cy="3076989"/>
          </a:xfrm>
          <a:prstGeom prst="rect">
            <a:avLst/>
          </a:prstGeom>
        </p:spPr>
      </p:pic>
    </p:spTree>
    <p:extLst>
      <p:ext uri="{BB962C8B-B14F-4D97-AF65-F5344CB8AC3E}">
        <p14:creationId xmlns:p14="http://schemas.microsoft.com/office/powerpoint/2010/main" val="3460560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94EF-DC67-E084-774D-2BC3FB3E9A28}"/>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B838BE1E-6253-9F26-BC75-E8D3EF00B483}"/>
              </a:ext>
            </a:extLst>
          </p:cNvPr>
          <p:cNvSpPr>
            <a:spLocks noGrp="1"/>
          </p:cNvSpPr>
          <p:nvPr>
            <p:ph idx="1"/>
          </p:nvPr>
        </p:nvSpPr>
        <p:spPr/>
        <p:txBody>
          <a:bodyPr/>
          <a:lstStyle/>
          <a:p>
            <a:pPr algn="just"/>
            <a:r>
              <a:rPr lang="en-US" dirty="0"/>
              <a:t>Write a C++ program that calculates the average test scores for multiple students. The program first asks the user to input the number of students and the number of test scores each student has. It then iterates over each student, prompting the user to enter the individual test scores for that student. After collecting the scores, the program calculates and displays the average score for each student. The process continues until the average for every student is computed and shown. The program ensures that it properly handles multiple students and their respective test scores.</a:t>
            </a:r>
          </a:p>
        </p:txBody>
      </p:sp>
    </p:spTree>
    <p:extLst>
      <p:ext uri="{BB962C8B-B14F-4D97-AF65-F5344CB8AC3E}">
        <p14:creationId xmlns:p14="http://schemas.microsoft.com/office/powerpoint/2010/main" val="15883355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8F9B2-08F2-8348-EA8A-BA9D3670BAE5}"/>
              </a:ext>
            </a:extLst>
          </p:cNvPr>
          <p:cNvSpPr>
            <a:spLocks noGrp="1"/>
          </p:cNvSpPr>
          <p:nvPr>
            <p:ph type="title"/>
          </p:nvPr>
        </p:nvSpPr>
        <p:spPr/>
        <p:txBody>
          <a:bodyPr/>
          <a:lstStyle/>
          <a:p>
            <a:r>
              <a:rPr lang="en-US" dirty="0"/>
              <a:t>Nested loops</a:t>
            </a:r>
          </a:p>
        </p:txBody>
      </p:sp>
      <p:sp>
        <p:nvSpPr>
          <p:cNvPr id="3" name="Content Placeholder 2">
            <a:extLst>
              <a:ext uri="{FF2B5EF4-FFF2-40B4-BE49-F238E27FC236}">
                <a16:creationId xmlns:a16="http://schemas.microsoft.com/office/drawing/2014/main" id="{DF175855-9014-A81B-F557-B291D9F1650F}"/>
              </a:ext>
            </a:extLst>
          </p:cNvPr>
          <p:cNvSpPr>
            <a:spLocks noGrp="1"/>
          </p:cNvSpPr>
          <p:nvPr>
            <p:ph idx="1"/>
          </p:nvPr>
        </p:nvSpPr>
        <p:spPr/>
        <p:txBody>
          <a:bodyPr/>
          <a:lstStyle/>
          <a:p>
            <a:r>
              <a:rPr lang="en-US" dirty="0"/>
              <a:t>An inner loop goes through all of its iterations for each iteration of an outer </a:t>
            </a:r>
            <a:r>
              <a:rPr lang="en-US" dirty="0" err="1"/>
              <a:t>loop.Inner</a:t>
            </a:r>
            <a:r>
              <a:rPr lang="en-US" dirty="0"/>
              <a:t> loops complete their iterations faster than outer loops.</a:t>
            </a:r>
          </a:p>
          <a:p>
            <a:r>
              <a:rPr lang="en-US" dirty="0"/>
              <a:t>To get the total number of iterations of an inner loop, multiply the number of iterations of the outer loop by the number of iterations done by the inner loop each time the outer loop is done.</a:t>
            </a:r>
          </a:p>
        </p:txBody>
      </p:sp>
    </p:spTree>
    <p:extLst>
      <p:ext uri="{BB962C8B-B14F-4D97-AF65-F5344CB8AC3E}">
        <p14:creationId xmlns:p14="http://schemas.microsoft.com/office/powerpoint/2010/main" val="2758374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E28EB-CD90-F569-0825-0A013512B3B8}"/>
              </a:ext>
            </a:extLst>
          </p:cNvPr>
          <p:cNvSpPr>
            <a:spLocks noGrp="1"/>
          </p:cNvSpPr>
          <p:nvPr>
            <p:ph type="title"/>
          </p:nvPr>
        </p:nvSpPr>
        <p:spPr/>
        <p:txBody>
          <a:bodyPr/>
          <a:lstStyle/>
          <a:p>
            <a:r>
              <a:rPr lang="en-US" dirty="0"/>
              <a:t>Breaking Out of a Loop</a:t>
            </a:r>
          </a:p>
        </p:txBody>
      </p:sp>
      <p:sp>
        <p:nvSpPr>
          <p:cNvPr id="3" name="Content Placeholder 2">
            <a:extLst>
              <a:ext uri="{FF2B5EF4-FFF2-40B4-BE49-F238E27FC236}">
                <a16:creationId xmlns:a16="http://schemas.microsoft.com/office/drawing/2014/main" id="{16E6CE0D-5A53-2079-CED2-4CEB1E9B1D16}"/>
              </a:ext>
            </a:extLst>
          </p:cNvPr>
          <p:cNvSpPr>
            <a:spLocks noGrp="1"/>
          </p:cNvSpPr>
          <p:nvPr>
            <p:ph idx="1"/>
          </p:nvPr>
        </p:nvSpPr>
        <p:spPr/>
        <p:txBody>
          <a:bodyPr/>
          <a:lstStyle/>
          <a:p>
            <a:r>
              <a:rPr lang="en-US" dirty="0"/>
              <a:t>C++ provides ways to break out of a loop or out of a loop iteration early.</a:t>
            </a:r>
          </a:p>
        </p:txBody>
      </p:sp>
      <p:pic>
        <p:nvPicPr>
          <p:cNvPr id="4" name="Picture 3">
            <a:extLst>
              <a:ext uri="{FF2B5EF4-FFF2-40B4-BE49-F238E27FC236}">
                <a16:creationId xmlns:a16="http://schemas.microsoft.com/office/drawing/2014/main" id="{28D50D4B-89AC-1EB9-4B0A-E2F7DDD6CA4E}"/>
              </a:ext>
            </a:extLst>
          </p:cNvPr>
          <p:cNvPicPr>
            <a:picLocks noChangeAspect="1"/>
          </p:cNvPicPr>
          <p:nvPr/>
        </p:nvPicPr>
        <p:blipFill>
          <a:blip r:embed="rId2"/>
          <a:stretch>
            <a:fillRect/>
          </a:stretch>
        </p:blipFill>
        <p:spPr>
          <a:xfrm>
            <a:off x="4015132" y="2975906"/>
            <a:ext cx="4161735" cy="3042613"/>
          </a:xfrm>
          <a:prstGeom prst="rect">
            <a:avLst/>
          </a:prstGeom>
        </p:spPr>
      </p:pic>
    </p:spTree>
    <p:extLst>
      <p:ext uri="{BB962C8B-B14F-4D97-AF65-F5344CB8AC3E}">
        <p14:creationId xmlns:p14="http://schemas.microsoft.com/office/powerpoint/2010/main" val="1981172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3B267-4DCA-99A2-E6D7-94AC45C79833}"/>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434E2A78-340B-D90D-CA4E-E2F4A93BC75E}"/>
              </a:ext>
            </a:extLst>
          </p:cNvPr>
          <p:cNvPicPr>
            <a:picLocks noChangeAspect="1"/>
          </p:cNvPicPr>
          <p:nvPr/>
        </p:nvPicPr>
        <p:blipFill>
          <a:blip r:embed="rId2"/>
          <a:stretch>
            <a:fillRect/>
          </a:stretch>
        </p:blipFill>
        <p:spPr>
          <a:xfrm>
            <a:off x="2992471" y="0"/>
            <a:ext cx="4961352" cy="6858000"/>
          </a:xfrm>
          <a:prstGeom prst="rect">
            <a:avLst/>
          </a:prstGeom>
        </p:spPr>
      </p:pic>
      <p:pic>
        <p:nvPicPr>
          <p:cNvPr id="5" name="Picture 4">
            <a:extLst>
              <a:ext uri="{FF2B5EF4-FFF2-40B4-BE49-F238E27FC236}">
                <a16:creationId xmlns:a16="http://schemas.microsoft.com/office/drawing/2014/main" id="{FFC136CA-4DA9-A0E0-D2D5-50FB607639E3}"/>
              </a:ext>
            </a:extLst>
          </p:cNvPr>
          <p:cNvPicPr>
            <a:picLocks noChangeAspect="1"/>
          </p:cNvPicPr>
          <p:nvPr/>
        </p:nvPicPr>
        <p:blipFill>
          <a:blip r:embed="rId3"/>
          <a:stretch>
            <a:fillRect/>
          </a:stretch>
        </p:blipFill>
        <p:spPr>
          <a:xfrm>
            <a:off x="8290110" y="768626"/>
            <a:ext cx="3901890" cy="2163693"/>
          </a:xfrm>
          <a:prstGeom prst="rect">
            <a:avLst/>
          </a:prstGeom>
        </p:spPr>
      </p:pic>
    </p:spTree>
    <p:extLst>
      <p:ext uri="{BB962C8B-B14F-4D97-AF65-F5344CB8AC3E}">
        <p14:creationId xmlns:p14="http://schemas.microsoft.com/office/powerpoint/2010/main" val="510330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A07AD-021C-5F73-2B95-68162479A30F}"/>
              </a:ext>
            </a:extLst>
          </p:cNvPr>
          <p:cNvSpPr>
            <a:spLocks noGrp="1"/>
          </p:cNvSpPr>
          <p:nvPr>
            <p:ph type="title"/>
          </p:nvPr>
        </p:nvSpPr>
        <p:spPr/>
        <p:txBody>
          <a:bodyPr/>
          <a:lstStyle/>
          <a:p>
            <a:r>
              <a:rPr lang="en-US" dirty="0"/>
              <a:t>The continue Statement</a:t>
            </a:r>
          </a:p>
        </p:txBody>
      </p:sp>
      <p:sp>
        <p:nvSpPr>
          <p:cNvPr id="3" name="Content Placeholder 2">
            <a:extLst>
              <a:ext uri="{FF2B5EF4-FFF2-40B4-BE49-F238E27FC236}">
                <a16:creationId xmlns:a16="http://schemas.microsoft.com/office/drawing/2014/main" id="{5E623604-3C77-453E-2ACF-38877229034B}"/>
              </a:ext>
            </a:extLst>
          </p:cNvPr>
          <p:cNvSpPr>
            <a:spLocks noGrp="1"/>
          </p:cNvSpPr>
          <p:nvPr>
            <p:ph idx="1"/>
          </p:nvPr>
        </p:nvSpPr>
        <p:spPr>
          <a:xfrm>
            <a:off x="838199" y="1825625"/>
            <a:ext cx="5618445" cy="4773958"/>
          </a:xfrm>
        </p:spPr>
        <p:txBody>
          <a:bodyPr>
            <a:normAutofit/>
          </a:bodyPr>
          <a:lstStyle/>
          <a:p>
            <a:r>
              <a:rPr lang="en-US" dirty="0"/>
              <a:t>Sometimes you want to stay in a loop but cause the current loop iteration to end immediately. This can be done with the continue statement. </a:t>
            </a:r>
          </a:p>
          <a:p>
            <a:r>
              <a:rPr lang="en-US" b="1" dirty="0"/>
              <a:t>When continue is encountered, all the statements in the body of the loop that appear after it are ignored, and the loop prepares for the next iteration.</a:t>
            </a:r>
          </a:p>
          <a:p>
            <a:endParaRPr lang="en-US" dirty="0"/>
          </a:p>
        </p:txBody>
      </p:sp>
      <p:pic>
        <p:nvPicPr>
          <p:cNvPr id="4" name="Picture 3">
            <a:extLst>
              <a:ext uri="{FF2B5EF4-FFF2-40B4-BE49-F238E27FC236}">
                <a16:creationId xmlns:a16="http://schemas.microsoft.com/office/drawing/2014/main" id="{5C5A5E9C-AD54-FC25-5EB5-A84C9D4B01E8}"/>
              </a:ext>
            </a:extLst>
          </p:cNvPr>
          <p:cNvPicPr>
            <a:picLocks noChangeAspect="1"/>
          </p:cNvPicPr>
          <p:nvPr/>
        </p:nvPicPr>
        <p:blipFill>
          <a:blip r:embed="rId2"/>
          <a:stretch>
            <a:fillRect/>
          </a:stretch>
        </p:blipFill>
        <p:spPr>
          <a:xfrm>
            <a:off x="6573554" y="2186609"/>
            <a:ext cx="5618445" cy="3416300"/>
          </a:xfrm>
          <a:prstGeom prst="rect">
            <a:avLst/>
          </a:prstGeom>
        </p:spPr>
      </p:pic>
    </p:spTree>
    <p:extLst>
      <p:ext uri="{BB962C8B-B14F-4D97-AF65-F5344CB8AC3E}">
        <p14:creationId xmlns:p14="http://schemas.microsoft.com/office/powerpoint/2010/main" val="1071995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1543</Words>
  <Application>Microsoft Macintosh PowerPoint</Application>
  <PresentationFormat>Widescreen</PresentationFormat>
  <Paragraphs>133</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Aptos Display</vt:lpstr>
      <vt:lpstr>Arial</vt:lpstr>
      <vt:lpstr>Wingdings</vt:lpstr>
      <vt:lpstr>Office Theme</vt:lpstr>
      <vt:lpstr>Week 4 Control Statements Part 1</vt:lpstr>
      <vt:lpstr>Introduction to Loops</vt:lpstr>
      <vt:lpstr>The while Loop</vt:lpstr>
      <vt:lpstr>The while loop - example</vt:lpstr>
      <vt:lpstr>The while loop</vt:lpstr>
      <vt:lpstr>Programming Style and the while Loop </vt:lpstr>
      <vt:lpstr>Exercise</vt:lpstr>
      <vt:lpstr>Using the while Loop for Input Validation</vt:lpstr>
      <vt:lpstr>Exercise</vt:lpstr>
      <vt:lpstr>The Increment and Decrement Operators</vt:lpstr>
      <vt:lpstr>The Increment and Decrement Operators</vt:lpstr>
      <vt:lpstr>Example</vt:lpstr>
      <vt:lpstr>Postfix and Prefix Modes</vt:lpstr>
      <vt:lpstr>Example</vt:lpstr>
      <vt:lpstr>Using ++ and −− in Relational Expressions</vt:lpstr>
      <vt:lpstr>Counters</vt:lpstr>
      <vt:lpstr>Letting the User Control the Loop</vt:lpstr>
      <vt:lpstr>Keeping a Running Total </vt:lpstr>
      <vt:lpstr>Example</vt:lpstr>
      <vt:lpstr>Sentinels</vt:lpstr>
      <vt:lpstr>Example</vt:lpstr>
      <vt:lpstr>The do-while Loop</vt:lpstr>
      <vt:lpstr>The do-while Loop</vt:lpstr>
      <vt:lpstr>Example</vt:lpstr>
      <vt:lpstr>Using do-while with Menus</vt:lpstr>
      <vt:lpstr>The for Loop</vt:lpstr>
      <vt:lpstr>The for loop</vt:lpstr>
      <vt:lpstr>Example</vt:lpstr>
      <vt:lpstr>Avoid Modifying the Counter Variable in the Body of the for Loop</vt:lpstr>
      <vt:lpstr>Other Forms of the Update Expression</vt:lpstr>
      <vt:lpstr>Defining a Variable in the for Loop’s Initialization Expression</vt:lpstr>
      <vt:lpstr>Creating a User-Controlled for Loop </vt:lpstr>
      <vt:lpstr>Using Multiple Statements in the Initialization and Update Expressions</vt:lpstr>
      <vt:lpstr>Omitting the for Loop’s Expressions or Loop Body </vt:lpstr>
      <vt:lpstr>Deciding Which Loop to Use</vt:lpstr>
      <vt:lpstr>Deciding Which Loop to Use – While loop</vt:lpstr>
      <vt:lpstr>Deciding Which Loop to Use: The for Loop</vt:lpstr>
      <vt:lpstr>Nested Loops</vt:lpstr>
      <vt:lpstr>Exercise</vt:lpstr>
      <vt:lpstr>Nested loops</vt:lpstr>
      <vt:lpstr>Breaking Out of a Loop</vt:lpstr>
      <vt:lpstr>Example</vt:lpstr>
      <vt:lpstr>The continue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1</cp:revision>
  <dcterms:created xsi:type="dcterms:W3CDTF">2024-09-18T16:33:34Z</dcterms:created>
  <dcterms:modified xsi:type="dcterms:W3CDTF">2024-09-18T16:34:42Z</dcterms:modified>
</cp:coreProperties>
</file>