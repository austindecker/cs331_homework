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739" r:id="rId3"/>
    <p:sldId id="743" r:id="rId4"/>
    <p:sldId id="740" r:id="rId5"/>
    <p:sldId id="744" r:id="rId6"/>
    <p:sldId id="741" r:id="rId7"/>
    <p:sldId id="745" r:id="rId8"/>
    <p:sldId id="742" r:id="rId9"/>
    <p:sldId id="746" r:id="rId10"/>
    <p:sldId id="747" r:id="rId11"/>
    <p:sldId id="748" r:id="rId12"/>
    <p:sldId id="749" r:id="rId13"/>
    <p:sldId id="751" r:id="rId14"/>
    <p:sldId id="752" r:id="rId15"/>
    <p:sldId id="753" r:id="rId16"/>
    <p:sldId id="75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4527"/>
    <p:restoredTop sz="94733"/>
  </p:normalViewPr>
  <p:slideViewPr>
    <p:cSldViewPr snapToGrid="0">
      <p:cViewPr varScale="1">
        <p:scale>
          <a:sx n="148" d="100"/>
          <a:sy n="148" d="100"/>
        </p:scale>
        <p:origin x="216" y="1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57AF17-268D-1E4C-9494-CA873A6CBA2E}" type="datetimeFigureOut">
              <a:rPr lang="en-US" smtClean="0"/>
              <a:t>9/9/24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82D458-921A-FB4C-B440-7DEF33F95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102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22E3AAE4-6AAA-72E6-E5B9-D325E745AB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200" b="1"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 defTabSz="930275">
              <a:defRPr sz="2200" b="1"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 defTabSz="930275">
              <a:defRPr sz="2200" b="1"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 defTabSz="930275">
              <a:defRPr sz="2200" b="1"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 defTabSz="930275">
              <a:defRPr sz="2200" b="1"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fld id="{DE59E9B1-B1F7-5545-B310-0279FD1284F0}" type="slidenum">
              <a:rPr lang="en-US" altLang="en-US" sz="1200" b="0">
                <a:latin typeface="Arial" panose="020B0604020202020204" pitchFamily="34" charset="0"/>
              </a:rPr>
              <a:pPr/>
              <a:t>1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2F5D6AAA-AD77-7363-9F03-8B4F7B10CC4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1129FD6E-7887-54D6-DC13-27394B096E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D7BE2-22B5-1CBC-F785-178B63824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8920EB-ECAA-BE24-13E6-BFFECCD7C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7B2A8-31D3-ECDB-93AC-AAA82962B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8D16-64E7-F047-9E83-585289A78ED2}" type="datetimeFigureOut">
              <a:rPr lang="en-US" smtClean="0"/>
              <a:t>9/9/24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E233A-27BC-1897-5729-DED9A2961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D6673-EC49-3315-5E40-F9A680D0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B5F-6171-4544-9CC3-650EF7F20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29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A997C-0D97-1D28-8AF0-E8D8823B5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75FE1-34BE-E544-0500-09A28E91D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7C366-28D0-7582-A38A-C4A80D10A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8D16-64E7-F047-9E83-585289A78ED2}" type="datetimeFigureOut">
              <a:rPr lang="en-US" smtClean="0"/>
              <a:t>9/9/24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C74BD-CCC2-30D1-36B0-E2490F76C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268EB-EA54-4BD2-1949-A6DD8BFD8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B5F-6171-4544-9CC3-650EF7F20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41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9C56C-38C2-65B5-2C1E-2E4E3CBA0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6E90A-15D3-75C7-2B14-810534F2F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117BA-1269-ED75-1994-D208A2CC8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8D16-64E7-F047-9E83-585289A78ED2}" type="datetimeFigureOut">
              <a:rPr lang="en-US" smtClean="0"/>
              <a:t>9/9/24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28AB9-B669-56C7-4245-E4396E2C7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6CF25-670A-462A-B1D4-871FF4DD5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B5F-6171-4544-9CC3-650EF7F20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20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39276-0C7A-9A63-1749-78CE87DBC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CA03D-D1D7-8366-6A2F-84BFB40988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1737D5-B403-4C0A-5342-EB179A171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2F51A-7FCF-C555-3174-3C097D1C9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8D16-64E7-F047-9E83-585289A78ED2}" type="datetimeFigureOut">
              <a:rPr lang="en-US" smtClean="0"/>
              <a:t>9/9/24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89E7F-429B-F77B-F4E6-B021C41B2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BF143-E449-AFA2-D12E-29980EC54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B5F-6171-4544-9CC3-650EF7F20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38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2DAE0-E232-21F0-325C-BB86EDEB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E8C96-D105-3243-15CB-FC05B80CF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B33480-196A-E0F4-C300-D604C2CA7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6C2044-B46B-416F-C25B-0163D00289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F5F85C-5122-446D-73C2-51AA76738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1E0004-F107-1570-67AF-C56C21923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8D16-64E7-F047-9E83-585289A78ED2}" type="datetimeFigureOut">
              <a:rPr lang="en-US" smtClean="0"/>
              <a:t>9/9/24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8D51E-9F7B-0C77-2F4E-90F22F74C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319762-AF17-FE2E-1E0C-4B69E7337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B5F-6171-4544-9CC3-650EF7F20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305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16F83-97E7-D2A9-6E7B-C4DF0437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A39569-1E85-7E14-1820-51D95E0B7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8D16-64E7-F047-9E83-585289A78ED2}" type="datetimeFigureOut">
              <a:rPr lang="en-US" smtClean="0"/>
              <a:t>9/9/24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E890C-90FC-5C03-08EC-74A979653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52DC07-1C01-D071-9FD4-3FD163438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B5F-6171-4544-9CC3-650EF7F20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19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A7924D-9B34-E343-5F90-9DB371101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8D16-64E7-F047-9E83-585289A78ED2}" type="datetimeFigureOut">
              <a:rPr lang="en-US" smtClean="0"/>
              <a:t>9/9/24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4A0AD7-6FBF-0E67-DB2B-6A19D4CD0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EFD99-0E69-0115-3AF2-17B5A5311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B5F-6171-4544-9CC3-650EF7F20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33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E043F-725B-801D-8CE2-7AE1EF8F4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DE28F-AE02-16CE-8A1A-6D1E583BA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7E6E26-6687-CC35-F0B5-DACBE81C6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75E69-6C28-B96C-9963-0935A9F1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8D16-64E7-F047-9E83-585289A78ED2}" type="datetimeFigureOut">
              <a:rPr lang="en-US" smtClean="0"/>
              <a:t>9/9/24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499ECA-127F-6275-596C-9A3C3E38E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2A0F7-191B-90C9-6DB7-B30813C6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B5F-6171-4544-9CC3-650EF7F20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09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F8A0E-F65D-1362-3D93-ADBECD335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D3DAA8-43E5-26E8-B964-48DD8B5B8A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D6B24-6F95-93ED-E048-B7C23A3E8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0391E-60E9-89BD-E735-FE3FB09E5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8D16-64E7-F047-9E83-585289A78ED2}" type="datetimeFigureOut">
              <a:rPr lang="en-US" smtClean="0"/>
              <a:t>9/9/24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91C7E-8AFA-05A5-3360-F9B7B020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3122A-4C16-2C48-2EFF-E65A5FF02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B5F-6171-4544-9CC3-650EF7F20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84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ABF3-0AD4-6420-D778-513DB380B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9F0E79-21D3-4F9C-050C-D385044B87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06392-D781-1A0C-9C1D-66F75C2CB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8D16-64E7-F047-9E83-585289A78ED2}" type="datetimeFigureOut">
              <a:rPr lang="en-US" smtClean="0"/>
              <a:t>9/9/24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C93EA-1DBD-BBAA-EECF-7F2A434E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2BA8C-2EA5-75FA-2680-BAB1C4CED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B5F-6171-4544-9CC3-650EF7F20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040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B0E690-7B14-C3CD-D67A-9E2B17D5BC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E6F60-F054-3C26-3E2D-0A4B2D028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C15EA-C354-CCB2-5E6D-9F2C46D49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8D16-64E7-F047-9E83-585289A78ED2}" type="datetimeFigureOut">
              <a:rPr lang="en-US" smtClean="0"/>
              <a:t>9/9/24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B5C31-234D-3FB2-1A49-3869FD46C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3A0A3-BF42-EDFF-2317-A9EFFCBA1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B5F-6171-4544-9CC3-650EF7F20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5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A27E0D-085D-F217-15CE-5E97F3ABD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33F98-C10B-8AAD-4371-441363B28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828-0288-F460-5AF1-E783862F0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E8D16-64E7-F047-9E83-585289A78ED2}" type="datetimeFigureOut">
              <a:rPr lang="en-US" smtClean="0"/>
              <a:t>9/9/24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B5F62-7F66-4545-1F95-FEDFEB387A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9B0E5-607F-8B43-E16B-6751876B6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D64B5F-6171-4544-9CC3-650EF7F20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60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C3A7462-D419-B262-1544-CB29BEB143B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Lecture </a:t>
            </a:r>
            <a:r>
              <a:rPr lang="en-US" altLang="ko-KR" dirty="0">
                <a:ea typeface="굴림" panose="020B0600000101010101" pitchFamily="34" charset="-127"/>
              </a:rPr>
              <a:t>5</a:t>
            </a:r>
            <a:br>
              <a:rPr lang="en-US" altLang="ko-KR" dirty="0">
                <a:ea typeface="굴림" panose="020B0600000101010101" pitchFamily="34" charset="-127"/>
              </a:rPr>
            </a:br>
            <a:r>
              <a:rPr lang="en-US" altLang="ko-KR" dirty="0">
                <a:ea typeface="굴림" panose="020B0600000101010101" pitchFamily="34" charset="-127"/>
              </a:rPr>
              <a:t> </a:t>
            </a:r>
            <a:r>
              <a:rPr lang="en-US" altLang="ko-KR" sz="4000" dirty="0">
                <a:ea typeface="굴림" panose="020B0600000101010101" pitchFamily="34" charset="-127"/>
              </a:rPr>
              <a:t>Introduction to Classes and Objects</a:t>
            </a:r>
            <a:endParaRPr lang="en-US" altLang="en-US" sz="4000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900A98E-4333-A554-0D0C-E9B10ED0143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</a:pPr>
            <a:r>
              <a:rPr lang="en-US" altLang="en-US" dirty="0"/>
              <a:t>CS331 Introduction to C++ and Object</a:t>
            </a:r>
            <a:r>
              <a:rPr lang="en-US" altLang="ko-KR" dirty="0">
                <a:ea typeface="굴림" panose="020B0600000101010101" pitchFamily="34" charset="-127"/>
              </a:rPr>
              <a:t> </a:t>
            </a:r>
            <a:r>
              <a:rPr lang="en-US" altLang="en-US" dirty="0"/>
              <a:t>Oriented Programming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0AD4B5D-54ED-6AB5-1087-83BD873C22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a Class?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B366A52-20EE-A5BB-C1DE-E45B58EF56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/>
              <a:t>A class is a C++ mechanism for implementing objects (creating new data types)</a:t>
            </a:r>
          </a:p>
          <a:p>
            <a:r>
              <a:rPr lang="en-US" altLang="en-US" sz="2400" dirty="0"/>
              <a:t>A class defines </a:t>
            </a:r>
            <a:endParaRPr lang="en-US" altLang="ko-KR" sz="2400" dirty="0">
              <a:ea typeface="굴림" panose="020B0600000101010101" pitchFamily="34" charset="-127"/>
            </a:endParaRPr>
          </a:p>
          <a:p>
            <a:pPr marL="742950" lvl="1" indent="-285750"/>
            <a:r>
              <a:rPr lang="en-US" altLang="en-US" sz="2000" dirty="0"/>
              <a:t>data members to implement attributes </a:t>
            </a:r>
            <a:endParaRPr lang="en-US" altLang="ko-KR" sz="2000" dirty="0">
              <a:ea typeface="굴림" panose="020B0600000101010101" pitchFamily="34" charset="-127"/>
            </a:endParaRPr>
          </a:p>
          <a:p>
            <a:pPr marL="742950" lvl="1" indent="-285750"/>
            <a:r>
              <a:rPr lang="en-US" altLang="en-US" sz="2000" dirty="0"/>
              <a:t>methods to implement behaviors</a:t>
            </a:r>
          </a:p>
          <a:p>
            <a:r>
              <a:rPr lang="en-US" altLang="en-US" sz="2400" dirty="0"/>
              <a:t>Classes support encapsulation, the separation of an object</a:t>
            </a:r>
            <a:r>
              <a:rPr lang="en-US" altLang="ko-KR" sz="2400" dirty="0">
                <a:ea typeface="굴림" panose="020B0600000101010101" pitchFamily="34" charset="-127"/>
              </a:rPr>
              <a:t>’</a:t>
            </a:r>
            <a:r>
              <a:rPr lang="en-US" altLang="en-US" sz="2400" dirty="0"/>
              <a:t>s interface from its implementation</a:t>
            </a:r>
          </a:p>
          <a:p>
            <a:r>
              <a:rPr lang="en-US" altLang="en-US" sz="2400" dirty="0"/>
              <a:t>Object: An instance of a class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3F3D5-D6D7-C0EC-F79E-AB6F7DE8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class?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30CBCAD-DD18-1F2A-6642-F65E03A192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3598" y="2247892"/>
            <a:ext cx="4283237" cy="18324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203E3A-D1FB-6FF1-8A6F-0758C92DC22C}"/>
              </a:ext>
            </a:extLst>
          </p:cNvPr>
          <p:cNvSpPr txBox="1"/>
          <p:nvPr/>
        </p:nvSpPr>
        <p:spPr>
          <a:xfrm>
            <a:off x="1362975" y="4509294"/>
            <a:ext cx="9264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figure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shows a representation of what a </a:t>
            </a:r>
            <a:r>
              <a:rPr lang="en-US" dirty="0"/>
              <a:t>Circle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class might look like. It has just one member variable to hold data and two member functions. The </a:t>
            </a:r>
            <a:r>
              <a:rPr lang="en-US" dirty="0"/>
              <a:t>Circle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class’s member variable is </a:t>
            </a:r>
            <a:r>
              <a:rPr lang="en-US" dirty="0"/>
              <a:t>radius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 Its </a:t>
            </a:r>
            <a:r>
              <a:rPr lang="en-US" b="1" i="1" dirty="0" err="1"/>
              <a:t>setRadius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member function sets the radius, and its </a:t>
            </a:r>
            <a:r>
              <a:rPr lang="en-US" b="1" i="1" dirty="0" err="1"/>
              <a:t>calcArea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member function calculates and returns the area.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390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B607BB5-482F-1342-5540-E518830148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 Definition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828990C-9E79-F358-E50A-A5055BAB05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class class-name {</a:t>
            </a:r>
          </a:p>
          <a:p>
            <a:pPr>
              <a:buFont typeface="Wingdings" pitchFamily="2" charset="2"/>
              <a:buNone/>
            </a:pPr>
            <a:r>
              <a:rPr lang="en-US" altLang="ko-KR" sz="2400">
                <a:latin typeface="Courier New" panose="02070309020205020404" pitchFamily="49" charset="0"/>
                <a:ea typeface="굴림" panose="020B0600000101010101" pitchFamily="34" charset="-127"/>
              </a:rPr>
              <a:t>	</a:t>
            </a:r>
            <a:r>
              <a:rPr lang="en-US" altLang="en-US" sz="2400">
                <a:latin typeface="Courier New" panose="02070309020205020404" pitchFamily="49" charset="0"/>
              </a:rPr>
              <a:t>public:</a:t>
            </a:r>
          </a:p>
          <a:p>
            <a:pPr>
              <a:buFont typeface="Wingdings" pitchFamily="2" charset="2"/>
              <a:buNone/>
            </a:pPr>
            <a:r>
              <a:rPr lang="en-US" altLang="ko-KR" sz="2400">
                <a:latin typeface="Courier New" panose="02070309020205020404" pitchFamily="49" charset="0"/>
                <a:ea typeface="굴림" panose="020B0600000101010101" pitchFamily="34" charset="-127"/>
              </a:rPr>
              <a:t>	   </a:t>
            </a:r>
            <a:r>
              <a:rPr lang="en-US" altLang="en-US" sz="2400">
                <a:latin typeface="Courier New" panose="02070309020205020404" pitchFamily="49" charset="0"/>
              </a:rPr>
              <a:t>public members</a:t>
            </a:r>
          </a:p>
          <a:p>
            <a:pPr>
              <a:buFont typeface="Wingdings" pitchFamily="2" charset="2"/>
              <a:buNone/>
            </a:pPr>
            <a:r>
              <a:rPr lang="en-US" altLang="ko-KR" sz="2400">
                <a:latin typeface="Courier New" panose="02070309020205020404" pitchFamily="49" charset="0"/>
                <a:ea typeface="굴림" panose="020B0600000101010101" pitchFamily="34" charset="-127"/>
              </a:rPr>
              <a:t>	</a:t>
            </a:r>
            <a:r>
              <a:rPr lang="en-US" altLang="en-US" sz="2400">
                <a:latin typeface="Courier New" panose="02070309020205020404" pitchFamily="49" charset="0"/>
              </a:rPr>
              <a:t>private:</a:t>
            </a:r>
          </a:p>
          <a:p>
            <a:pPr>
              <a:buFont typeface="Wingdings" pitchFamily="2" charset="2"/>
              <a:buNone/>
            </a:pPr>
            <a:r>
              <a:rPr lang="en-US" altLang="ko-KR" sz="2400">
                <a:latin typeface="Courier New" panose="02070309020205020404" pitchFamily="49" charset="0"/>
                <a:ea typeface="굴림" panose="020B0600000101010101" pitchFamily="34" charset="-127"/>
              </a:rPr>
              <a:t>	   </a:t>
            </a:r>
            <a:r>
              <a:rPr lang="en-US" altLang="en-US" sz="2400">
                <a:latin typeface="Courier New" panose="02070309020205020404" pitchFamily="49" charset="0"/>
              </a:rPr>
              <a:t>private members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}</a:t>
            </a:r>
            <a:r>
              <a:rPr lang="en-US" altLang="en-US" sz="2400">
                <a:solidFill>
                  <a:srgbClr val="0000FF"/>
                </a:solidFill>
                <a:latin typeface="Courier New" panose="02070309020205020404" pitchFamily="49" charset="0"/>
              </a:rPr>
              <a:t>; &lt;== Note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1365B-5AD2-0319-ECF0-645D107DD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your own class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43F7492-2CDA-8B00-1BFA-2551528ADB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9579" y="1498554"/>
            <a:ext cx="5365715" cy="2038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51FD0C-5943-46B7-2442-DEF8B391D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938" y="2718279"/>
            <a:ext cx="4113147" cy="31821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CC4E34-1247-E804-F6F9-4DA9210A0180}"/>
              </a:ext>
            </a:extLst>
          </p:cNvPr>
          <p:cNvSpPr txBox="1"/>
          <p:nvPr/>
        </p:nvSpPr>
        <p:spPr>
          <a:xfrm>
            <a:off x="8850702" y="2244426"/>
            <a:ext cx="14374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Example: </a:t>
            </a:r>
          </a:p>
        </p:txBody>
      </p:sp>
    </p:spTree>
    <p:extLst>
      <p:ext uri="{BB962C8B-B14F-4D97-AF65-F5344CB8AC3E}">
        <p14:creationId xmlns:p14="http://schemas.microsoft.com/office/powerpoint/2010/main" val="2323414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C2B8B44-5078-C115-0ACD-A8E80D4F36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Member access specifiers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83933F3-4059-FCE2-78D8-9E98352BF6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public: Be accessed by any function in the program</a:t>
            </a:r>
          </a:p>
          <a:p>
            <a:r>
              <a:rPr lang="en-US" altLang="en-US" sz="2400"/>
              <a:t>private: Be accessed by member functions of the class or friends</a:t>
            </a:r>
          </a:p>
          <a:p>
            <a:r>
              <a:rPr lang="en-US" altLang="en-US" sz="2400">
                <a:solidFill>
                  <a:srgbClr val="0000FF"/>
                </a:solidFill>
              </a:rPr>
              <a:t>Default access mode: private</a:t>
            </a:r>
          </a:p>
          <a:p>
            <a:r>
              <a:rPr lang="en-US" altLang="en-US" sz="2400">
                <a:solidFill>
                  <a:srgbClr val="0000FF"/>
                </a:solidFill>
              </a:rPr>
              <a:t>Access specifier applies until the next access specifier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8C8C1-FD65-6BB0-982E-3460EAC80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Placement of </a:t>
            </a:r>
            <a:r>
              <a:rPr lang="en-US" dirty="0"/>
              <a:t>private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and </a:t>
            </a:r>
            <a:r>
              <a:rPr lang="en-US" dirty="0"/>
              <a:t>public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Members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1841BD-EF25-3090-EB60-14E5E63D7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054" y="1835150"/>
            <a:ext cx="6616020" cy="35563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812048-8B2B-F858-DA24-4D24CD0305A2}"/>
              </a:ext>
            </a:extLst>
          </p:cNvPr>
          <p:cNvSpPr txBox="1"/>
          <p:nvPr/>
        </p:nvSpPr>
        <p:spPr>
          <a:xfrm>
            <a:off x="8816196" y="2998113"/>
            <a:ext cx="19349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Both are legal</a:t>
            </a:r>
          </a:p>
        </p:txBody>
      </p:sp>
    </p:spTree>
    <p:extLst>
      <p:ext uri="{BB962C8B-B14F-4D97-AF65-F5344CB8AC3E}">
        <p14:creationId xmlns:p14="http://schemas.microsoft.com/office/powerpoint/2010/main" val="1367494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68A1C-5A35-21F7-3B5E-06B013572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Creating and Using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BD632-CF97-3A99-B30A-AD96131A1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Objects are instances of a class. They are created with a definition statement after the class has been declared.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EF2A72-CB12-8931-DB32-BD78F3256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981" y="3033502"/>
            <a:ext cx="3446038" cy="272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892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68A1C-5A35-21F7-3B5E-06B013572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Creating and Using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BD632-CF97-3A99-B30A-AD96131A1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Objects are instances of a class. They are created with a definition statement after the class has been declared.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200" i="1" dirty="0">
                <a:solidFill>
                  <a:srgbClr val="000000"/>
                </a:solidFill>
              </a:rPr>
              <a:t>Circle circle1,</a:t>
            </a:r>
            <a:br>
              <a:rPr lang="en-US" sz="2200" i="1" dirty="0">
                <a:solidFill>
                  <a:srgbClr val="000000"/>
                </a:solidFill>
              </a:rPr>
            </a:br>
            <a:r>
              <a:rPr lang="en-US" sz="2200" i="1" dirty="0">
                <a:solidFill>
                  <a:srgbClr val="000000"/>
                </a:solidFill>
              </a:rPr>
              <a:t>              </a:t>
            </a:r>
            <a:r>
              <a:rPr lang="en-US" sz="2200" b="0" i="1" u="none" strike="noStrike" dirty="0">
                <a:solidFill>
                  <a:srgbClr val="000000"/>
                </a:solidFill>
                <a:effectLst/>
              </a:rPr>
              <a:t>circle2;</a:t>
            </a:r>
          </a:p>
          <a:p>
            <a:pPr marL="0" indent="0">
              <a:buNone/>
            </a:pPr>
            <a:endParaRPr lang="en-US" sz="2200" i="1" dirty="0">
              <a:solidFill>
                <a:srgbClr val="000000"/>
              </a:solidFill>
            </a:endParaRPr>
          </a:p>
          <a:p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They are two distinct instances of the </a:t>
            </a:r>
            <a:r>
              <a:rPr lang="en-US" sz="1600" dirty="0"/>
              <a:t>Circle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class, with different memory assigned to hold the values stored in their member variables.</a:t>
            </a:r>
            <a:endParaRPr lang="en-US" sz="2200" b="0" i="1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327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68A1C-5A35-21F7-3B5E-06B013572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Creating and Using Objects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7D6E64-E40C-4BD0-4C8F-8C1DA4085C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696" y="1887104"/>
            <a:ext cx="5965659" cy="5627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799E64-8E86-D5EB-56FB-035AFF9E1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95" y="2967008"/>
            <a:ext cx="2508045" cy="7682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BE4E4A-3631-3234-3B11-021F20235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695" y="4408098"/>
            <a:ext cx="6326586" cy="60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67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BCEB8-2861-440D-4061-75789A509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Accessors and Mutators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F8082-61EB-CB1F-6953-604EE230F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 function that uses the value of a class variable but does not change it, is known as an 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hlinkClick r:id="" action="ppaction://noaction"/>
              </a:rPr>
              <a:t>accessor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 class member function </a:t>
            </a:r>
            <a:r>
              <a:rPr lang="en-US" b="1" i="1" dirty="0" err="1"/>
              <a:t>calcArea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only uses, but does not modify, the member variable </a:t>
            </a:r>
            <a:r>
              <a:rPr lang="en-US" b="1" i="1" dirty="0"/>
              <a:t>radius</a:t>
            </a:r>
            <a:endParaRPr lang="en-US" b="1" i="1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 member function which stores a value in a member variable or changes its value, is known as a 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hlinkClick r:id="" action="ppaction://noaction"/>
              </a:rPr>
              <a:t>mutator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 function </a:t>
            </a:r>
            <a:r>
              <a:rPr lang="en-US" b="1" i="1" dirty="0" err="1"/>
              <a:t>setRadius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modifies the contents of </a:t>
            </a:r>
            <a:r>
              <a:rPr lang="en-US" b="1" i="1" dirty="0"/>
              <a:t>radius</a:t>
            </a:r>
          </a:p>
        </p:txBody>
      </p:sp>
    </p:spTree>
    <p:extLst>
      <p:ext uri="{BB962C8B-B14F-4D97-AF65-F5344CB8AC3E}">
        <p14:creationId xmlns:p14="http://schemas.microsoft.com/office/powerpoint/2010/main" val="315094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10A09-06EA-EA3A-92E0-5A00B15F0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Defining Member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4A75A-C7DA-AE6F-1D94-F56CD7B62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91100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C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lass member functions can be defined either inside or outside the class declaration.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When a function body is longer, we place a prototype for the function in the class declaration, instead of the function definition itself. We then put the function definition outside the class declaration, either following it or in a separate file.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4A2926-E257-6330-5B7E-94913A209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534" y="5339272"/>
            <a:ext cx="2787095" cy="7250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B52BA3-9DC0-AB2D-AF9D-EE7D8280B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325" y="4794370"/>
            <a:ext cx="2807431" cy="15175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291B76-7341-39F7-9E83-87BAF23E3ACF}"/>
              </a:ext>
            </a:extLst>
          </p:cNvPr>
          <p:cNvSpPr txBox="1"/>
          <p:nvPr/>
        </p:nvSpPr>
        <p:spPr>
          <a:xfrm>
            <a:off x="1348050" y="4969940"/>
            <a:ext cx="2612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Prototype: Inside Class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01F22-6F1C-FE91-BA3D-747254CCBFC4}"/>
              </a:ext>
            </a:extLst>
          </p:cNvPr>
          <p:cNvSpPr txBox="1"/>
          <p:nvPr/>
        </p:nvSpPr>
        <p:spPr>
          <a:xfrm>
            <a:off x="6970595" y="4366996"/>
            <a:ext cx="2891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Definitions: Outside class</a:t>
            </a:r>
          </a:p>
        </p:txBody>
      </p:sp>
    </p:spTree>
    <p:extLst>
      <p:ext uri="{BB962C8B-B14F-4D97-AF65-F5344CB8AC3E}">
        <p14:creationId xmlns:p14="http://schemas.microsoft.com/office/powerpoint/2010/main" val="1033346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CDAEF-9156-9536-00BE-9804FA59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Naming Conventions for Class Member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57219-545C-5554-F30A-8C178DA4C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It is common to name a mutator with the word </a:t>
            </a:r>
            <a:r>
              <a:rPr lang="en-US" b="0" i="1" u="none" strike="noStrike" dirty="0">
                <a:solidFill>
                  <a:srgbClr val="000000"/>
                </a:solidFill>
                <a:effectLst/>
              </a:rPr>
              <a:t>set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followed by the name of the member variable whose value it is setting.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-webkit-standard"/>
              </a:rPr>
              <a:t>e.g. </a:t>
            </a:r>
            <a:r>
              <a:rPr lang="en-US" dirty="0" err="1">
                <a:solidFill>
                  <a:srgbClr val="000000"/>
                </a:solidFill>
                <a:latin typeface="-webkit-standard"/>
              </a:rPr>
              <a:t>setLength,setWidth</a:t>
            </a:r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It is common to name an accessor with the word </a:t>
            </a:r>
            <a:r>
              <a:rPr lang="en-US" b="0" i="1" u="none" strike="noStrike" dirty="0">
                <a:solidFill>
                  <a:srgbClr val="000000"/>
                </a:solidFill>
                <a:effectLst/>
              </a:rPr>
              <a:t>get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followed by the name of the member variable whose value it is getting if all it does is return the value stored in the variable.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-webkit-standard"/>
              </a:rPr>
              <a:t>e.g. </a:t>
            </a:r>
            <a:r>
              <a:rPr lang="en-US" dirty="0" err="1">
                <a:solidFill>
                  <a:srgbClr val="000000"/>
                </a:solidFill>
                <a:latin typeface="-webkit-standard"/>
              </a:rPr>
              <a:t>getLength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-webkit-standard"/>
              </a:rPr>
              <a:t>getWidth</a:t>
            </a:r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pPr marL="457200" lvl="1" indent="0">
              <a:buNone/>
            </a:pPr>
            <a:endParaRPr lang="en-US" dirty="0">
              <a:solidFill>
                <a:srgbClr val="000000"/>
              </a:solidFill>
              <a:latin typeface="-webkit-standard"/>
            </a:endParaRPr>
          </a:p>
        </p:txBody>
      </p:sp>
    </p:spTree>
    <p:extLst>
      <p:ext uri="{BB962C8B-B14F-4D97-AF65-F5344CB8AC3E}">
        <p14:creationId xmlns:p14="http://schemas.microsoft.com/office/powerpoint/2010/main" val="3981550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DCAC1-9E0A-4932-6E1F-6B6F38D1C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69CE0-7DED-B25F-CB2F-ECA083DEF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 constructor is a member function that is automatically called when a class object is created.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Most often programmers use a constructor to initialize an object’s member variables. However, it can do anything a normal function can do.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81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DCAC1-9E0A-4932-6E1F-6B6F38D1C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126D9A-6D28-3189-12C0-7452CF3BDB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579"/>
          <a:stretch/>
        </p:blipFill>
        <p:spPr>
          <a:xfrm>
            <a:off x="4359127" y="243412"/>
            <a:ext cx="4758994" cy="637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4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DCAC1-9E0A-4932-6E1F-6B6F38D1C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Overloading Constructors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7502F-16BB-8080-9140-BC19EFA69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C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lass member functions may be overloaded, including the constructor. One constructor might take an int argument, for example, while another constructor takes a double. There could even be a third constructor taking two integers. As long as each constructor has a different list of parameters, creating a unique signature, the compiler can tell them apart.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8F54EC-A8F3-8B46-47D4-CB38E5780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459" y="4342322"/>
            <a:ext cx="4563081" cy="183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393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627</Words>
  <Application>Microsoft Macintosh PowerPoint</Application>
  <PresentationFormat>Widescreen</PresentationFormat>
  <Paragraphs>59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굴림</vt:lpstr>
      <vt:lpstr>-webkit-standard</vt:lpstr>
      <vt:lpstr>Aptos</vt:lpstr>
      <vt:lpstr>Aptos Display</vt:lpstr>
      <vt:lpstr>Arial</vt:lpstr>
      <vt:lpstr>Courier New</vt:lpstr>
      <vt:lpstr>Wingdings</vt:lpstr>
      <vt:lpstr>Office Theme</vt:lpstr>
      <vt:lpstr>Lecture 5  Introduction to Classes and Objects</vt:lpstr>
      <vt:lpstr>What is a Class?</vt:lpstr>
      <vt:lpstr>What is a class?</vt:lpstr>
      <vt:lpstr>Class Definition</vt:lpstr>
      <vt:lpstr>Creating your own class</vt:lpstr>
      <vt:lpstr>Member access specifiers</vt:lpstr>
      <vt:lpstr>Placement of private and public Members</vt:lpstr>
      <vt:lpstr>Creating and Using Objects</vt:lpstr>
      <vt:lpstr>Creating and Using Objects</vt:lpstr>
      <vt:lpstr>Creating and Using Objects</vt:lpstr>
      <vt:lpstr>Accessors and Mutators</vt:lpstr>
      <vt:lpstr>Defining Member Functions</vt:lpstr>
      <vt:lpstr>Naming Conventions for Class Member Functions</vt:lpstr>
      <vt:lpstr>Constructors</vt:lpstr>
      <vt:lpstr>Constructors</vt:lpstr>
      <vt:lpstr>Overloading Constructors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Romael Haque</dc:creator>
  <cp:lastModifiedBy>MD Romael Haque</cp:lastModifiedBy>
  <cp:revision>1</cp:revision>
  <dcterms:created xsi:type="dcterms:W3CDTF">2024-09-09T11:14:31Z</dcterms:created>
  <dcterms:modified xsi:type="dcterms:W3CDTF">2024-09-09T12:14:45Z</dcterms:modified>
</cp:coreProperties>
</file>