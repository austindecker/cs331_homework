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ferSingleView="1">
    <p:restoredLeft sz="15627"/>
    <p:restoredTop sz="94678"/>
  </p:normalViewPr>
  <p:slideViewPr>
    <p:cSldViewPr snapToGrid="0">
      <p:cViewPr varScale="1">
        <p:scale>
          <a:sx n="117" d="100"/>
          <a:sy n="117" d="100"/>
        </p:scale>
        <p:origin x="472"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56C011-2B12-A349-B423-75820124C188}" type="datetimeFigureOut">
              <a:rPr lang="en-US" smtClean="0"/>
              <a:t>10/24/24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3771B0-8F24-4B48-82A1-68205750A15E}" type="slidenum">
              <a:rPr lang="en-US" smtClean="0"/>
              <a:t>‹#›</a:t>
            </a:fld>
            <a:endParaRPr lang="en-US"/>
          </a:p>
        </p:txBody>
      </p:sp>
    </p:spTree>
    <p:extLst>
      <p:ext uri="{BB962C8B-B14F-4D97-AF65-F5344CB8AC3E}">
        <p14:creationId xmlns:p14="http://schemas.microsoft.com/office/powerpoint/2010/main" val="2642707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3771B0-8F24-4B48-82A1-68205750A15E}" type="slidenum">
              <a:rPr lang="en-US" smtClean="0"/>
              <a:t>27</a:t>
            </a:fld>
            <a:endParaRPr lang="en-US"/>
          </a:p>
        </p:txBody>
      </p:sp>
    </p:spTree>
    <p:extLst>
      <p:ext uri="{BB962C8B-B14F-4D97-AF65-F5344CB8AC3E}">
        <p14:creationId xmlns:p14="http://schemas.microsoft.com/office/powerpoint/2010/main" val="20575312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3771B0-8F24-4B48-82A1-68205750A15E}" type="slidenum">
              <a:rPr lang="en-US" smtClean="0"/>
              <a:t>29</a:t>
            </a:fld>
            <a:endParaRPr lang="en-US"/>
          </a:p>
        </p:txBody>
      </p:sp>
    </p:spTree>
    <p:extLst>
      <p:ext uri="{BB962C8B-B14F-4D97-AF65-F5344CB8AC3E}">
        <p14:creationId xmlns:p14="http://schemas.microsoft.com/office/powerpoint/2010/main" val="34336051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3771B0-8F24-4B48-82A1-68205750A15E}" type="slidenum">
              <a:rPr lang="en-US" smtClean="0"/>
              <a:t>38</a:t>
            </a:fld>
            <a:endParaRPr lang="en-US"/>
          </a:p>
        </p:txBody>
      </p:sp>
    </p:spTree>
    <p:extLst>
      <p:ext uri="{BB962C8B-B14F-4D97-AF65-F5344CB8AC3E}">
        <p14:creationId xmlns:p14="http://schemas.microsoft.com/office/powerpoint/2010/main" val="45553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4AB8-ACBD-3940-CB19-65D3798654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CB15A4-0DF6-BFC3-9F2E-EF21C93AC5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7D4C56-E7FF-EBF9-489B-759B19EE1B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6F99B3-AE81-0CBB-4D8B-3754E9B365C5}"/>
              </a:ext>
            </a:extLst>
          </p:cNvPr>
          <p:cNvSpPr>
            <a:spLocks noGrp="1"/>
          </p:cNvSpPr>
          <p:nvPr>
            <p:ph type="sldNum" sz="quarter" idx="5"/>
          </p:nvPr>
        </p:nvSpPr>
        <p:spPr/>
        <p:txBody>
          <a:bodyPr/>
          <a:lstStyle/>
          <a:p>
            <a:fld id="{703771B0-8F24-4B48-82A1-68205750A15E}" type="slidenum">
              <a:rPr lang="en-US" smtClean="0"/>
              <a:t>39</a:t>
            </a:fld>
            <a:endParaRPr lang="en-US"/>
          </a:p>
        </p:txBody>
      </p:sp>
    </p:spTree>
    <p:extLst>
      <p:ext uri="{BB962C8B-B14F-4D97-AF65-F5344CB8AC3E}">
        <p14:creationId xmlns:p14="http://schemas.microsoft.com/office/powerpoint/2010/main" val="25115939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03771B0-8F24-4B48-82A1-68205750A15E}" type="slidenum">
              <a:rPr lang="en-US" smtClean="0"/>
              <a:t>50</a:t>
            </a:fld>
            <a:endParaRPr lang="en-US"/>
          </a:p>
        </p:txBody>
      </p:sp>
    </p:spTree>
    <p:extLst>
      <p:ext uri="{BB962C8B-B14F-4D97-AF65-F5344CB8AC3E}">
        <p14:creationId xmlns:p14="http://schemas.microsoft.com/office/powerpoint/2010/main" val="1404211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67497-2233-5CF0-D049-3FFE529D28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F94D115-F585-35D3-86C8-CE06BA1A1B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996EB9-ED37-4522-F71D-A51F84C88D9A}"/>
              </a:ext>
            </a:extLst>
          </p:cNvPr>
          <p:cNvSpPr>
            <a:spLocks noGrp="1"/>
          </p:cNvSpPr>
          <p:nvPr>
            <p:ph type="dt" sz="half" idx="10"/>
          </p:nvPr>
        </p:nvSpPr>
        <p:spPr/>
        <p:txBody>
          <a:bodyPr/>
          <a:lstStyle/>
          <a:p>
            <a:fld id="{AB0FC227-1C15-4A43-BEB2-13798C94F5EF}" type="datetimeFigureOut">
              <a:rPr lang="en-US" smtClean="0"/>
              <a:t>10/24/24</a:t>
            </a:fld>
            <a:endParaRPr lang="en-US"/>
          </a:p>
        </p:txBody>
      </p:sp>
      <p:sp>
        <p:nvSpPr>
          <p:cNvPr id="5" name="Footer Placeholder 4">
            <a:extLst>
              <a:ext uri="{FF2B5EF4-FFF2-40B4-BE49-F238E27FC236}">
                <a16:creationId xmlns:a16="http://schemas.microsoft.com/office/drawing/2014/main" id="{668D73EB-6B6D-514E-46B4-AC8E2A7ED1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70961-F70B-DCDF-5938-603A6023FACF}"/>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2187009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DA4DE-2D31-0C7A-A721-701831C83E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7ED0C0D-979C-4AB8-6686-C9351CC22C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6C67E4-650A-56FF-41C3-1B46C3CB540F}"/>
              </a:ext>
            </a:extLst>
          </p:cNvPr>
          <p:cNvSpPr>
            <a:spLocks noGrp="1"/>
          </p:cNvSpPr>
          <p:nvPr>
            <p:ph type="dt" sz="half" idx="10"/>
          </p:nvPr>
        </p:nvSpPr>
        <p:spPr/>
        <p:txBody>
          <a:bodyPr/>
          <a:lstStyle/>
          <a:p>
            <a:fld id="{AB0FC227-1C15-4A43-BEB2-13798C94F5EF}" type="datetimeFigureOut">
              <a:rPr lang="en-US" smtClean="0"/>
              <a:t>10/24/24</a:t>
            </a:fld>
            <a:endParaRPr lang="en-US"/>
          </a:p>
        </p:txBody>
      </p:sp>
      <p:sp>
        <p:nvSpPr>
          <p:cNvPr id="5" name="Footer Placeholder 4">
            <a:extLst>
              <a:ext uri="{FF2B5EF4-FFF2-40B4-BE49-F238E27FC236}">
                <a16:creationId xmlns:a16="http://schemas.microsoft.com/office/drawing/2014/main" id="{C271C418-59A5-361F-42A4-E3195CC565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858B9A-FAF1-FAEB-3795-06FB6CD79B36}"/>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3869738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259E4-332F-B0C5-9ADD-446A2A66BC6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B2DC95D-4EE4-FE1E-E538-C9EF981D316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B25E69-010B-BEE4-B7A9-B36D23D612C9}"/>
              </a:ext>
            </a:extLst>
          </p:cNvPr>
          <p:cNvSpPr>
            <a:spLocks noGrp="1"/>
          </p:cNvSpPr>
          <p:nvPr>
            <p:ph type="dt" sz="half" idx="10"/>
          </p:nvPr>
        </p:nvSpPr>
        <p:spPr/>
        <p:txBody>
          <a:bodyPr/>
          <a:lstStyle/>
          <a:p>
            <a:fld id="{AB0FC227-1C15-4A43-BEB2-13798C94F5EF}" type="datetimeFigureOut">
              <a:rPr lang="en-US" smtClean="0"/>
              <a:t>10/24/24</a:t>
            </a:fld>
            <a:endParaRPr lang="en-US"/>
          </a:p>
        </p:txBody>
      </p:sp>
      <p:sp>
        <p:nvSpPr>
          <p:cNvPr id="5" name="Footer Placeholder 4">
            <a:extLst>
              <a:ext uri="{FF2B5EF4-FFF2-40B4-BE49-F238E27FC236}">
                <a16:creationId xmlns:a16="http://schemas.microsoft.com/office/drawing/2014/main" id="{F70576AA-DCF5-179A-5EF8-DB0C5D62AA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6DF326-798F-9EBB-37FC-6826A11179D6}"/>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927158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74D5F-9258-DF13-DCEF-218C81B182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2FA7483-54CF-CB1C-6F5C-CF86CA1B94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4BF5A2F-DF1A-A79D-BC75-8F70F087C3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468058-E579-F920-BD66-6AF61C39332C}"/>
              </a:ext>
            </a:extLst>
          </p:cNvPr>
          <p:cNvSpPr>
            <a:spLocks noGrp="1"/>
          </p:cNvSpPr>
          <p:nvPr>
            <p:ph type="dt" sz="half" idx="10"/>
          </p:nvPr>
        </p:nvSpPr>
        <p:spPr/>
        <p:txBody>
          <a:bodyPr/>
          <a:lstStyle/>
          <a:p>
            <a:fld id="{AB0FC227-1C15-4A43-BEB2-13798C94F5EF}" type="datetimeFigureOut">
              <a:rPr lang="en-US" smtClean="0"/>
              <a:t>10/24/24</a:t>
            </a:fld>
            <a:endParaRPr lang="en-US"/>
          </a:p>
        </p:txBody>
      </p:sp>
      <p:sp>
        <p:nvSpPr>
          <p:cNvPr id="6" name="Footer Placeholder 5">
            <a:extLst>
              <a:ext uri="{FF2B5EF4-FFF2-40B4-BE49-F238E27FC236}">
                <a16:creationId xmlns:a16="http://schemas.microsoft.com/office/drawing/2014/main" id="{2422F2A9-A4C6-0C5C-6645-32929077A39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3FC57C-92E4-F87D-E113-E8026EC42619}"/>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259076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788BF-5473-99A1-0999-2A058B6D0CC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D4B2D7-B13D-4E6A-A7CB-45FE4391BA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4FE831-2105-FC35-6CBC-C1A8A437B2B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050A41-473F-AB64-B608-38AC9065D3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AFA31D-95BF-E042-532F-63CF23591F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A18247-8390-2DAA-D575-263969C46CFF}"/>
              </a:ext>
            </a:extLst>
          </p:cNvPr>
          <p:cNvSpPr>
            <a:spLocks noGrp="1"/>
          </p:cNvSpPr>
          <p:nvPr>
            <p:ph type="dt" sz="half" idx="10"/>
          </p:nvPr>
        </p:nvSpPr>
        <p:spPr/>
        <p:txBody>
          <a:bodyPr/>
          <a:lstStyle/>
          <a:p>
            <a:fld id="{AB0FC227-1C15-4A43-BEB2-13798C94F5EF}" type="datetimeFigureOut">
              <a:rPr lang="en-US" smtClean="0"/>
              <a:t>10/24/24</a:t>
            </a:fld>
            <a:endParaRPr lang="en-US"/>
          </a:p>
        </p:txBody>
      </p:sp>
      <p:sp>
        <p:nvSpPr>
          <p:cNvPr id="8" name="Footer Placeholder 7">
            <a:extLst>
              <a:ext uri="{FF2B5EF4-FFF2-40B4-BE49-F238E27FC236}">
                <a16:creationId xmlns:a16="http://schemas.microsoft.com/office/drawing/2014/main" id="{7BA1577C-D833-D373-A105-6149F46EAA3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21DA587-16E4-3EC3-9080-0DEDCC317F09}"/>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35064500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1D489-8375-52EB-A2BC-C499B78945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1245771-1C57-1C89-9263-F224DDBEEA95}"/>
              </a:ext>
            </a:extLst>
          </p:cNvPr>
          <p:cNvSpPr>
            <a:spLocks noGrp="1"/>
          </p:cNvSpPr>
          <p:nvPr>
            <p:ph type="dt" sz="half" idx="10"/>
          </p:nvPr>
        </p:nvSpPr>
        <p:spPr/>
        <p:txBody>
          <a:bodyPr/>
          <a:lstStyle/>
          <a:p>
            <a:fld id="{AB0FC227-1C15-4A43-BEB2-13798C94F5EF}" type="datetimeFigureOut">
              <a:rPr lang="en-US" smtClean="0"/>
              <a:t>10/24/24</a:t>
            </a:fld>
            <a:endParaRPr lang="en-US"/>
          </a:p>
        </p:txBody>
      </p:sp>
      <p:sp>
        <p:nvSpPr>
          <p:cNvPr id="4" name="Footer Placeholder 3">
            <a:extLst>
              <a:ext uri="{FF2B5EF4-FFF2-40B4-BE49-F238E27FC236}">
                <a16:creationId xmlns:a16="http://schemas.microsoft.com/office/drawing/2014/main" id="{1D65A188-9973-35EB-9077-12DDBED8DA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3F0DC9-B6C9-3145-FC44-19D0EB210BE7}"/>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1476119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673EAA-7F14-9166-7C72-F01F84FEFCEF}"/>
              </a:ext>
            </a:extLst>
          </p:cNvPr>
          <p:cNvSpPr>
            <a:spLocks noGrp="1"/>
          </p:cNvSpPr>
          <p:nvPr>
            <p:ph type="dt" sz="half" idx="10"/>
          </p:nvPr>
        </p:nvSpPr>
        <p:spPr/>
        <p:txBody>
          <a:bodyPr/>
          <a:lstStyle/>
          <a:p>
            <a:fld id="{AB0FC227-1C15-4A43-BEB2-13798C94F5EF}" type="datetimeFigureOut">
              <a:rPr lang="en-US" smtClean="0"/>
              <a:t>10/24/24</a:t>
            </a:fld>
            <a:endParaRPr lang="en-US"/>
          </a:p>
        </p:txBody>
      </p:sp>
      <p:sp>
        <p:nvSpPr>
          <p:cNvPr id="3" name="Footer Placeholder 2">
            <a:extLst>
              <a:ext uri="{FF2B5EF4-FFF2-40B4-BE49-F238E27FC236}">
                <a16:creationId xmlns:a16="http://schemas.microsoft.com/office/drawing/2014/main" id="{030751A4-47E3-CDB6-8894-9AF86C7E79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E5A304F-1503-1D29-5814-B8DECC3764BA}"/>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4101643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9920A-6A00-5561-7691-62B039253F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FEB7932-359D-59CA-2D49-88EA741FF8F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30CEEBE-F16C-AA7F-04CD-DDE66660C6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22EFDA-8312-C3FD-A13A-9D9C5938515B}"/>
              </a:ext>
            </a:extLst>
          </p:cNvPr>
          <p:cNvSpPr>
            <a:spLocks noGrp="1"/>
          </p:cNvSpPr>
          <p:nvPr>
            <p:ph type="dt" sz="half" idx="10"/>
          </p:nvPr>
        </p:nvSpPr>
        <p:spPr/>
        <p:txBody>
          <a:bodyPr/>
          <a:lstStyle/>
          <a:p>
            <a:fld id="{AB0FC227-1C15-4A43-BEB2-13798C94F5EF}" type="datetimeFigureOut">
              <a:rPr lang="en-US" smtClean="0"/>
              <a:t>10/24/24</a:t>
            </a:fld>
            <a:endParaRPr lang="en-US"/>
          </a:p>
        </p:txBody>
      </p:sp>
      <p:sp>
        <p:nvSpPr>
          <p:cNvPr id="6" name="Footer Placeholder 5">
            <a:extLst>
              <a:ext uri="{FF2B5EF4-FFF2-40B4-BE49-F238E27FC236}">
                <a16:creationId xmlns:a16="http://schemas.microsoft.com/office/drawing/2014/main" id="{2F7E43B2-AA34-EC21-F0C0-603309F721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0F55F5-7423-0242-5A2F-09B40472387D}"/>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894448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9EE61-E3C2-EA97-A111-262A8FDBD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872FFB-1CB2-ABC5-4969-9FAFA70423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1F19B23-2D62-B991-5FB7-A1DD3A621F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2CBC6B-C59D-6BDA-29D9-5FAC341F8588}"/>
              </a:ext>
            </a:extLst>
          </p:cNvPr>
          <p:cNvSpPr>
            <a:spLocks noGrp="1"/>
          </p:cNvSpPr>
          <p:nvPr>
            <p:ph type="dt" sz="half" idx="10"/>
          </p:nvPr>
        </p:nvSpPr>
        <p:spPr/>
        <p:txBody>
          <a:bodyPr/>
          <a:lstStyle/>
          <a:p>
            <a:fld id="{AB0FC227-1C15-4A43-BEB2-13798C94F5EF}" type="datetimeFigureOut">
              <a:rPr lang="en-US" smtClean="0"/>
              <a:t>10/24/24</a:t>
            </a:fld>
            <a:endParaRPr lang="en-US"/>
          </a:p>
        </p:txBody>
      </p:sp>
      <p:sp>
        <p:nvSpPr>
          <p:cNvPr id="6" name="Footer Placeholder 5">
            <a:extLst>
              <a:ext uri="{FF2B5EF4-FFF2-40B4-BE49-F238E27FC236}">
                <a16:creationId xmlns:a16="http://schemas.microsoft.com/office/drawing/2014/main" id="{D8F245B9-8BDF-B1B5-8CE5-B3AC592FA5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DCD5E7-9497-5282-8256-9591208A113C}"/>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39860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4E768-A793-6624-FED1-9F422AEFDC9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672B71F-51DC-3C01-BEB7-1AB58B161C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DC81B14-3A7D-295C-274D-4E49DDF4206B}"/>
              </a:ext>
            </a:extLst>
          </p:cNvPr>
          <p:cNvSpPr>
            <a:spLocks noGrp="1"/>
          </p:cNvSpPr>
          <p:nvPr>
            <p:ph type="dt" sz="half" idx="10"/>
          </p:nvPr>
        </p:nvSpPr>
        <p:spPr/>
        <p:txBody>
          <a:bodyPr/>
          <a:lstStyle/>
          <a:p>
            <a:fld id="{AB0FC227-1C15-4A43-BEB2-13798C94F5EF}" type="datetimeFigureOut">
              <a:rPr lang="en-US" smtClean="0"/>
              <a:t>10/24/24</a:t>
            </a:fld>
            <a:endParaRPr lang="en-US"/>
          </a:p>
        </p:txBody>
      </p:sp>
      <p:sp>
        <p:nvSpPr>
          <p:cNvPr id="5" name="Footer Placeholder 4">
            <a:extLst>
              <a:ext uri="{FF2B5EF4-FFF2-40B4-BE49-F238E27FC236}">
                <a16:creationId xmlns:a16="http://schemas.microsoft.com/office/drawing/2014/main" id="{C9E405A0-2609-8DB4-3682-FE6423E70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C21D1E-0B56-2D31-63FA-16ECCC4E5521}"/>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2504371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47ADB8-4CAC-F675-02CB-5F65CFA10C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FA8541-0C6C-AA22-D374-80870AF150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811942-24E3-70CB-5920-73AC5FD9C4E7}"/>
              </a:ext>
            </a:extLst>
          </p:cNvPr>
          <p:cNvSpPr>
            <a:spLocks noGrp="1"/>
          </p:cNvSpPr>
          <p:nvPr>
            <p:ph type="dt" sz="half" idx="10"/>
          </p:nvPr>
        </p:nvSpPr>
        <p:spPr/>
        <p:txBody>
          <a:bodyPr/>
          <a:lstStyle/>
          <a:p>
            <a:fld id="{AB0FC227-1C15-4A43-BEB2-13798C94F5EF}" type="datetimeFigureOut">
              <a:rPr lang="en-US" smtClean="0"/>
              <a:t>10/24/24</a:t>
            </a:fld>
            <a:endParaRPr lang="en-US"/>
          </a:p>
        </p:txBody>
      </p:sp>
      <p:sp>
        <p:nvSpPr>
          <p:cNvPr id="5" name="Footer Placeholder 4">
            <a:extLst>
              <a:ext uri="{FF2B5EF4-FFF2-40B4-BE49-F238E27FC236}">
                <a16:creationId xmlns:a16="http://schemas.microsoft.com/office/drawing/2014/main" id="{41D0E9CF-C281-ED40-0225-DFAEFE0D9D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D0D6DC-533F-C171-BD27-F6902641CA29}"/>
              </a:ext>
            </a:extLst>
          </p:cNvPr>
          <p:cNvSpPr>
            <a:spLocks noGrp="1"/>
          </p:cNvSpPr>
          <p:nvPr>
            <p:ph type="sldNum" sz="quarter" idx="12"/>
          </p:nvPr>
        </p:nvSpPr>
        <p:spPr/>
        <p:txBody>
          <a:bodyPr/>
          <a:lstStyle/>
          <a:p>
            <a:fld id="{58BA0F0C-220E-F745-AF73-56D3AD921199}" type="slidenum">
              <a:rPr lang="en-US" smtClean="0"/>
              <a:t>‹#›</a:t>
            </a:fld>
            <a:endParaRPr lang="en-US"/>
          </a:p>
        </p:txBody>
      </p:sp>
    </p:spTree>
    <p:extLst>
      <p:ext uri="{BB962C8B-B14F-4D97-AF65-F5344CB8AC3E}">
        <p14:creationId xmlns:p14="http://schemas.microsoft.com/office/powerpoint/2010/main" val="1598449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894179-025D-BD23-9799-BAE5EF15BA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62D5CB-8C7A-30FD-22E2-AFEABE0A71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F3CC61-648A-B2B0-A5D7-454AF72170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0FC227-1C15-4A43-BEB2-13798C94F5EF}" type="datetimeFigureOut">
              <a:rPr lang="en-US" smtClean="0"/>
              <a:t>10/24/24</a:t>
            </a:fld>
            <a:endParaRPr lang="en-US"/>
          </a:p>
        </p:txBody>
      </p:sp>
      <p:sp>
        <p:nvSpPr>
          <p:cNvPr id="5" name="Footer Placeholder 4">
            <a:extLst>
              <a:ext uri="{FF2B5EF4-FFF2-40B4-BE49-F238E27FC236}">
                <a16:creationId xmlns:a16="http://schemas.microsoft.com/office/drawing/2014/main" id="{B9EB0CF4-EDD5-7B2F-27EE-13E5B7269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6C55604-2777-5B4B-4679-40C254EEC83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8BA0F0C-220E-F745-AF73-56D3AD921199}" type="slidenum">
              <a:rPr lang="en-US" smtClean="0"/>
              <a:t>‹#›</a:t>
            </a:fld>
            <a:endParaRPr lang="en-US"/>
          </a:p>
        </p:txBody>
      </p:sp>
    </p:spTree>
    <p:extLst>
      <p:ext uri="{BB962C8B-B14F-4D97-AF65-F5344CB8AC3E}">
        <p14:creationId xmlns:p14="http://schemas.microsoft.com/office/powerpoint/2010/main" val="1323111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3676a51b-d6ad-4806-9c7d-9cde348dec3f?userPreferredType=read"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f8561ffd-be7b-43ed-8662-d3ff610b9393?userPreferredType=read"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plus.pearson.com/products/38bfda0e-08b5-4b34-9a14-38c88560fefb/pages/urn:pearson:entity:5126196a-9da6-4c07-a1ac-1f20a001b685?userPreferredType=read" TargetMode="Externa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e7e93b63-020b-493f-ae92-48987f068853?userPreferredType=read"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plus.pearson.com/products/38bfda0e-08b5-4b34-9a14-38c88560fefb/pages/urn:pearson:entity:e7e93b63-020b-493f-ae92-48987f068853?userPreferredType=read"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2ACEA-34DD-C4AE-91D6-A79F7CA59153}"/>
              </a:ext>
            </a:extLst>
          </p:cNvPr>
          <p:cNvSpPr>
            <a:spLocks noGrp="1"/>
          </p:cNvSpPr>
          <p:nvPr>
            <p:ph type="ctrTitle"/>
          </p:nvPr>
        </p:nvSpPr>
        <p:spPr/>
        <p:txBody>
          <a:bodyPr/>
          <a:lstStyle/>
          <a:p>
            <a:r>
              <a:rPr lang="en-US" dirty="0"/>
              <a:t>CS 331</a:t>
            </a:r>
          </a:p>
        </p:txBody>
      </p:sp>
      <p:sp>
        <p:nvSpPr>
          <p:cNvPr id="3" name="Subtitle 2">
            <a:extLst>
              <a:ext uri="{FF2B5EF4-FFF2-40B4-BE49-F238E27FC236}">
                <a16:creationId xmlns:a16="http://schemas.microsoft.com/office/drawing/2014/main" id="{64FF1D7F-4059-C104-E5D6-F9234CEE0B98}"/>
              </a:ext>
            </a:extLst>
          </p:cNvPr>
          <p:cNvSpPr>
            <a:spLocks noGrp="1"/>
          </p:cNvSpPr>
          <p:nvPr>
            <p:ph type="subTitle" idx="1"/>
          </p:nvPr>
        </p:nvSpPr>
        <p:spPr/>
        <p:txBody>
          <a:bodyPr/>
          <a:lstStyle/>
          <a:p>
            <a:r>
              <a:rPr lang="en-US" dirty="0"/>
              <a:t>Structures</a:t>
            </a:r>
          </a:p>
          <a:p>
            <a:r>
              <a:rPr lang="en-US" dirty="0"/>
              <a:t>MD Romael Haque</a:t>
            </a:r>
          </a:p>
        </p:txBody>
      </p:sp>
    </p:spTree>
    <p:extLst>
      <p:ext uri="{BB962C8B-B14F-4D97-AF65-F5344CB8AC3E}">
        <p14:creationId xmlns:p14="http://schemas.microsoft.com/office/powerpoint/2010/main" val="670017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C6542-D438-FECC-A214-29C75F87E6DB}"/>
              </a:ext>
            </a:extLst>
          </p:cNvPr>
          <p:cNvSpPr>
            <a:spLocks noGrp="1"/>
          </p:cNvSpPr>
          <p:nvPr>
            <p:ph type="title"/>
          </p:nvPr>
        </p:nvSpPr>
        <p:spPr/>
        <p:txBody>
          <a:bodyPr/>
          <a:lstStyle/>
          <a:p>
            <a:r>
              <a:rPr lang="en-US" dirty="0"/>
              <a:t>Structures</a:t>
            </a:r>
          </a:p>
        </p:txBody>
      </p:sp>
      <p:sp>
        <p:nvSpPr>
          <p:cNvPr id="3" name="Content Placeholder 2">
            <a:extLst>
              <a:ext uri="{FF2B5EF4-FFF2-40B4-BE49-F238E27FC236}">
                <a16:creationId xmlns:a16="http://schemas.microsoft.com/office/drawing/2014/main" id="{389BE4E3-DEA9-E01F-8F00-A2AC1A09C184}"/>
              </a:ext>
            </a:extLst>
          </p:cNvPr>
          <p:cNvSpPr>
            <a:spLocks noGrp="1"/>
          </p:cNvSpPr>
          <p:nvPr>
            <p:ph idx="1"/>
          </p:nvPr>
        </p:nvSpPr>
        <p:spPr/>
        <p:txBody>
          <a:bodyPr/>
          <a:lstStyle/>
          <a:p>
            <a:r>
              <a:rPr lang="en-US" dirty="0"/>
              <a:t>C++ allows a set of variables to be combined together into a single unit called a structure.</a:t>
            </a:r>
          </a:p>
          <a:p>
            <a:r>
              <a:rPr lang="en-US" dirty="0"/>
              <a:t>A </a:t>
            </a:r>
            <a:r>
              <a:rPr lang="en-US" b="1" dirty="0">
                <a:hlinkClick r:id="rId2"/>
              </a:rPr>
              <a:t>structure</a:t>
            </a:r>
            <a:r>
              <a:rPr lang="en-US" dirty="0"/>
              <a:t> is a programmer-defined data type that can hold many different data values. </a:t>
            </a:r>
          </a:p>
          <a:p>
            <a:r>
              <a:rPr lang="en-US" dirty="0"/>
              <a:t>In the past, before the use of object-oriented programming became common, programmers typically used these to group logically connected data together into a single unit. </a:t>
            </a:r>
          </a:p>
          <a:p>
            <a:r>
              <a:rPr lang="en-US" dirty="0"/>
              <a:t>Once a structure type is declared and its data members are identified, multiple variables of this type can be created, just as multiple objects can be created for the same class</a:t>
            </a:r>
          </a:p>
        </p:txBody>
      </p:sp>
    </p:spTree>
    <p:extLst>
      <p:ext uri="{BB962C8B-B14F-4D97-AF65-F5344CB8AC3E}">
        <p14:creationId xmlns:p14="http://schemas.microsoft.com/office/powerpoint/2010/main" val="3095542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AB77D-111F-DE67-9B47-31F86677E3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D71B4A-AB80-DF69-ABF6-9C71B956D1D0}"/>
              </a:ext>
            </a:extLst>
          </p:cNvPr>
          <p:cNvSpPr>
            <a:spLocks noGrp="1"/>
          </p:cNvSpPr>
          <p:nvPr>
            <p:ph type="title"/>
          </p:nvPr>
        </p:nvSpPr>
        <p:spPr/>
        <p:txBody>
          <a:bodyPr/>
          <a:lstStyle/>
          <a:p>
            <a:r>
              <a:rPr lang="en-US" dirty="0"/>
              <a:t>Structures</a:t>
            </a:r>
          </a:p>
        </p:txBody>
      </p:sp>
      <p:sp>
        <p:nvSpPr>
          <p:cNvPr id="3" name="Content Placeholder 2">
            <a:extLst>
              <a:ext uri="{FF2B5EF4-FFF2-40B4-BE49-F238E27FC236}">
                <a16:creationId xmlns:a16="http://schemas.microsoft.com/office/drawing/2014/main" id="{2ACAB605-F753-2D08-4A5F-B0B6CF4BEDE3}"/>
              </a:ext>
            </a:extLst>
          </p:cNvPr>
          <p:cNvSpPr>
            <a:spLocks noGrp="1"/>
          </p:cNvSpPr>
          <p:nvPr>
            <p:ph idx="1"/>
          </p:nvPr>
        </p:nvSpPr>
        <p:spPr/>
        <p:txBody>
          <a:bodyPr/>
          <a:lstStyle/>
          <a:p>
            <a:r>
              <a:rPr lang="en-US" dirty="0"/>
              <a:t>Although structures are less commonly used today, it is important that you know what they are and how to use them. </a:t>
            </a:r>
          </a:p>
          <a:p>
            <a:r>
              <a:rPr lang="en-US" dirty="0"/>
              <a:t>Not only may you encounter them in older programs, but there are actually some instances in which classes will not work and structures must be used. </a:t>
            </a:r>
          </a:p>
        </p:txBody>
      </p:sp>
    </p:spTree>
    <p:extLst>
      <p:ext uri="{BB962C8B-B14F-4D97-AF65-F5344CB8AC3E}">
        <p14:creationId xmlns:p14="http://schemas.microsoft.com/office/powerpoint/2010/main" val="1900911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F8C9A-41E1-FCFC-0ABF-B7BCE69E2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E3958C-C55E-8E94-DBF1-2CF2CC891723}"/>
              </a:ext>
            </a:extLst>
          </p:cNvPr>
          <p:cNvSpPr>
            <a:spLocks noGrp="1"/>
          </p:cNvSpPr>
          <p:nvPr>
            <p:ph type="title"/>
          </p:nvPr>
        </p:nvSpPr>
        <p:spPr/>
        <p:txBody>
          <a:bodyPr/>
          <a:lstStyle/>
          <a:p>
            <a:r>
              <a:rPr lang="en-US" dirty="0"/>
              <a:t>Structures</a:t>
            </a:r>
          </a:p>
        </p:txBody>
      </p:sp>
      <p:sp>
        <p:nvSpPr>
          <p:cNvPr id="3" name="Content Placeholder 2">
            <a:extLst>
              <a:ext uri="{FF2B5EF4-FFF2-40B4-BE49-F238E27FC236}">
                <a16:creationId xmlns:a16="http://schemas.microsoft.com/office/drawing/2014/main" id="{7B69DDF8-866C-0E3B-9C1E-4A29935BF58F}"/>
              </a:ext>
            </a:extLst>
          </p:cNvPr>
          <p:cNvSpPr>
            <a:spLocks noGrp="1"/>
          </p:cNvSpPr>
          <p:nvPr>
            <p:ph idx="1"/>
          </p:nvPr>
        </p:nvSpPr>
        <p:spPr/>
        <p:txBody>
          <a:bodyPr>
            <a:normAutofit fontScale="92500"/>
          </a:bodyPr>
          <a:lstStyle/>
          <a:p>
            <a:pPr algn="l"/>
            <a:r>
              <a:rPr lang="en-US" dirty="0">
                <a:effectLst/>
              </a:rPr>
              <a:t>The way a structure is declared is similar to the way a class is declared, with the following differences:</a:t>
            </a:r>
          </a:p>
          <a:p>
            <a:pPr>
              <a:buFont typeface="Arial" panose="020B0604020202020204" pitchFamily="34" charset="0"/>
              <a:buChar char="•"/>
            </a:pPr>
            <a:r>
              <a:rPr lang="en-US" dirty="0"/>
              <a:t>The key word </a:t>
            </a:r>
            <a:r>
              <a:rPr lang="en-US" dirty="0">
                <a:solidFill>
                  <a:srgbClr val="FF0000"/>
                </a:solidFill>
              </a:rPr>
              <a:t>struct</a:t>
            </a:r>
            <a:r>
              <a:rPr lang="en-US" dirty="0"/>
              <a:t> is used instead of the key word </a:t>
            </a:r>
            <a:r>
              <a:rPr lang="en-US" dirty="0">
                <a:solidFill>
                  <a:srgbClr val="FF0000"/>
                </a:solidFill>
              </a:rPr>
              <a:t>class.</a:t>
            </a:r>
          </a:p>
          <a:p>
            <a:pPr>
              <a:buFont typeface="Arial" panose="020B0604020202020204" pitchFamily="34" charset="0"/>
              <a:buChar char="•"/>
            </a:pPr>
            <a:r>
              <a:rPr lang="en-US" dirty="0"/>
              <a:t>Although structures </a:t>
            </a:r>
            <a:r>
              <a:rPr lang="en-US" i="1" dirty="0"/>
              <a:t>can</a:t>
            </a:r>
            <a:r>
              <a:rPr lang="en-US" dirty="0"/>
              <a:t> include member functions, they rarely do. So normally a structure declaration only declares member variables.</a:t>
            </a:r>
          </a:p>
          <a:p>
            <a:pPr>
              <a:buFont typeface="Arial" panose="020B0604020202020204" pitchFamily="34" charset="0"/>
              <a:buChar char="•"/>
            </a:pPr>
            <a:r>
              <a:rPr lang="en-US" dirty="0"/>
              <a:t>Structure declarations normally do not include the access specifiers public or private.</a:t>
            </a:r>
          </a:p>
          <a:p>
            <a:pPr>
              <a:buFont typeface="Arial" panose="020B0604020202020204" pitchFamily="34" charset="0"/>
              <a:buChar char="•"/>
            </a:pPr>
            <a:r>
              <a:rPr lang="en-US" dirty="0"/>
              <a:t>Unlike class members, which are private by default, members of a structure default to being public. Programmers normally want them to remain public and simply use the default.</a:t>
            </a:r>
          </a:p>
        </p:txBody>
      </p:sp>
    </p:spTree>
    <p:extLst>
      <p:ext uri="{BB962C8B-B14F-4D97-AF65-F5344CB8AC3E}">
        <p14:creationId xmlns:p14="http://schemas.microsoft.com/office/powerpoint/2010/main" val="538241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67784-4CC1-B0AC-235F-236108792522}"/>
              </a:ext>
            </a:extLst>
          </p:cNvPr>
          <p:cNvSpPr>
            <a:spLocks noGrp="1"/>
          </p:cNvSpPr>
          <p:nvPr>
            <p:ph type="title"/>
          </p:nvPr>
        </p:nvSpPr>
        <p:spPr/>
        <p:txBody>
          <a:bodyPr/>
          <a:lstStyle/>
          <a:p>
            <a:r>
              <a:rPr lang="en-US" dirty="0"/>
              <a:t>Example</a:t>
            </a:r>
          </a:p>
        </p:txBody>
      </p:sp>
      <p:pic>
        <p:nvPicPr>
          <p:cNvPr id="4" name="Content Placeholder 3">
            <a:extLst>
              <a:ext uri="{FF2B5EF4-FFF2-40B4-BE49-F238E27FC236}">
                <a16:creationId xmlns:a16="http://schemas.microsoft.com/office/drawing/2014/main" id="{FCF4DE17-F021-D540-074B-1E47B52572FC}"/>
              </a:ext>
            </a:extLst>
          </p:cNvPr>
          <p:cNvPicPr>
            <a:picLocks noGrp="1" noChangeAspect="1"/>
          </p:cNvPicPr>
          <p:nvPr>
            <p:ph idx="1"/>
          </p:nvPr>
        </p:nvPicPr>
        <p:blipFill>
          <a:blip r:embed="rId2"/>
          <a:stretch>
            <a:fillRect/>
          </a:stretch>
        </p:blipFill>
        <p:spPr>
          <a:xfrm>
            <a:off x="1884855" y="1924300"/>
            <a:ext cx="3754496" cy="3409488"/>
          </a:xfrm>
          <a:prstGeom prst="rect">
            <a:avLst/>
          </a:prstGeom>
        </p:spPr>
      </p:pic>
      <p:sp>
        <p:nvSpPr>
          <p:cNvPr id="5" name="TextBox 4">
            <a:extLst>
              <a:ext uri="{FF2B5EF4-FFF2-40B4-BE49-F238E27FC236}">
                <a16:creationId xmlns:a16="http://schemas.microsoft.com/office/drawing/2014/main" id="{53CC04BF-FD2D-8C98-3B3F-6ECB0897271E}"/>
              </a:ext>
            </a:extLst>
          </p:cNvPr>
          <p:cNvSpPr txBox="1"/>
          <p:nvPr/>
        </p:nvSpPr>
        <p:spPr>
          <a:xfrm>
            <a:off x="6897188" y="1785256"/>
            <a:ext cx="3927565" cy="2862322"/>
          </a:xfrm>
          <a:prstGeom prst="rect">
            <a:avLst/>
          </a:prstGeom>
          <a:noFill/>
        </p:spPr>
        <p:txBody>
          <a:bodyPr wrap="square" rtlCol="0">
            <a:spAutoFit/>
          </a:bodyPr>
          <a:lstStyle/>
          <a:p>
            <a:pPr marL="285750" indent="-285750">
              <a:buFont typeface="Arial" panose="020B0604020202020204" pitchFamily="34" charset="0"/>
              <a:buChar char="•"/>
            </a:pPr>
            <a:r>
              <a:rPr lang="en-US" dirty="0"/>
              <a:t>Just as a class declaration is not instantiated until objects of the class are created, a structure declaration does not create any instances of the structure. </a:t>
            </a:r>
          </a:p>
          <a:p>
            <a:pPr marL="285750" indent="-285750">
              <a:buFont typeface="Arial" panose="020B0604020202020204" pitchFamily="34" charset="0"/>
              <a:buChar char="•"/>
            </a:pPr>
            <a:r>
              <a:rPr lang="en-US" dirty="0"/>
              <a:t>The structure declaration in our example simply tells the compiler what a Payroll structure looks like. </a:t>
            </a:r>
            <a:r>
              <a:rPr lang="en-US" b="1" dirty="0"/>
              <a:t>It in essence creates a new data type named Payroll.</a:t>
            </a:r>
          </a:p>
        </p:txBody>
      </p:sp>
    </p:spTree>
    <p:extLst>
      <p:ext uri="{BB962C8B-B14F-4D97-AF65-F5344CB8AC3E}">
        <p14:creationId xmlns:p14="http://schemas.microsoft.com/office/powerpoint/2010/main" val="27602038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BCBEC-F091-0C86-68A1-68977736C3C3}"/>
              </a:ext>
            </a:extLst>
          </p:cNvPr>
          <p:cNvSpPr>
            <a:spLocks noGrp="1"/>
          </p:cNvSpPr>
          <p:nvPr>
            <p:ph type="title"/>
          </p:nvPr>
        </p:nvSpPr>
        <p:spPr/>
        <p:txBody>
          <a:bodyPr/>
          <a:lstStyle/>
          <a:p>
            <a:r>
              <a:rPr lang="en-US" dirty="0"/>
              <a:t>Structures</a:t>
            </a:r>
          </a:p>
        </p:txBody>
      </p:sp>
      <p:sp>
        <p:nvSpPr>
          <p:cNvPr id="3" name="Content Placeholder 2">
            <a:extLst>
              <a:ext uri="{FF2B5EF4-FFF2-40B4-BE49-F238E27FC236}">
                <a16:creationId xmlns:a16="http://schemas.microsoft.com/office/drawing/2014/main" id="{1DA73A11-2AED-03A3-BE02-BBB9156FB1B8}"/>
              </a:ext>
            </a:extLst>
          </p:cNvPr>
          <p:cNvSpPr>
            <a:spLocks noGrp="1"/>
          </p:cNvSpPr>
          <p:nvPr>
            <p:ph idx="1"/>
          </p:nvPr>
        </p:nvSpPr>
        <p:spPr/>
        <p:txBody>
          <a:bodyPr/>
          <a:lstStyle/>
          <a:p>
            <a:r>
              <a:rPr lang="en-US" dirty="0"/>
              <a:t>You define variables that are Payroll structures the way you define any variable, by first listing the data type and then the variable name. </a:t>
            </a:r>
          </a:p>
          <a:p>
            <a:r>
              <a:rPr lang="en-US" dirty="0"/>
              <a:t>The following definition creates three variables that are Payroll structures. </a:t>
            </a:r>
          </a:p>
          <a:p>
            <a:pPr lvl="1"/>
            <a:r>
              <a:rPr lang="en-US" b="1" i="1" dirty="0">
                <a:solidFill>
                  <a:srgbClr val="FF0000"/>
                </a:solidFill>
              </a:rPr>
              <a:t>Payroll </a:t>
            </a:r>
            <a:r>
              <a:rPr lang="en-US" b="1" i="1" dirty="0" err="1">
                <a:solidFill>
                  <a:srgbClr val="FF0000"/>
                </a:solidFill>
              </a:rPr>
              <a:t>deptHead</a:t>
            </a:r>
            <a:r>
              <a:rPr lang="en-US" b="1" i="1" dirty="0">
                <a:solidFill>
                  <a:srgbClr val="FF0000"/>
                </a:solidFill>
              </a:rPr>
              <a:t>, foreman, associate; </a:t>
            </a:r>
          </a:p>
        </p:txBody>
      </p:sp>
      <p:pic>
        <p:nvPicPr>
          <p:cNvPr id="4" name="Picture 3">
            <a:extLst>
              <a:ext uri="{FF2B5EF4-FFF2-40B4-BE49-F238E27FC236}">
                <a16:creationId xmlns:a16="http://schemas.microsoft.com/office/drawing/2014/main" id="{6E9B5F69-0E15-50D4-2099-539CAFD746D3}"/>
              </a:ext>
            </a:extLst>
          </p:cNvPr>
          <p:cNvPicPr>
            <a:picLocks noChangeAspect="1"/>
          </p:cNvPicPr>
          <p:nvPr/>
        </p:nvPicPr>
        <p:blipFill>
          <a:blip r:embed="rId2"/>
          <a:stretch>
            <a:fillRect/>
          </a:stretch>
        </p:blipFill>
        <p:spPr>
          <a:xfrm>
            <a:off x="2774950" y="4622800"/>
            <a:ext cx="6642100" cy="1689100"/>
          </a:xfrm>
          <a:prstGeom prst="rect">
            <a:avLst/>
          </a:prstGeom>
        </p:spPr>
      </p:pic>
    </p:spTree>
    <p:extLst>
      <p:ext uri="{BB962C8B-B14F-4D97-AF65-F5344CB8AC3E}">
        <p14:creationId xmlns:p14="http://schemas.microsoft.com/office/powerpoint/2010/main" val="2170338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BF078-A66F-B57D-96D0-D8087B4922B5}"/>
              </a:ext>
            </a:extLst>
          </p:cNvPr>
          <p:cNvSpPr>
            <a:spLocks noGrp="1"/>
          </p:cNvSpPr>
          <p:nvPr>
            <p:ph type="title"/>
          </p:nvPr>
        </p:nvSpPr>
        <p:spPr/>
        <p:txBody>
          <a:bodyPr/>
          <a:lstStyle/>
          <a:p>
            <a:r>
              <a:rPr lang="en-US" dirty="0"/>
              <a:t>Accessing Structure Members</a:t>
            </a:r>
          </a:p>
        </p:txBody>
      </p:sp>
      <p:sp>
        <p:nvSpPr>
          <p:cNvPr id="3" name="Content Placeholder 2">
            <a:extLst>
              <a:ext uri="{FF2B5EF4-FFF2-40B4-BE49-F238E27FC236}">
                <a16:creationId xmlns:a16="http://schemas.microsoft.com/office/drawing/2014/main" id="{0EDA8243-BA90-873C-B89B-29DFBC215C05}"/>
              </a:ext>
            </a:extLst>
          </p:cNvPr>
          <p:cNvSpPr>
            <a:spLocks noGrp="1"/>
          </p:cNvSpPr>
          <p:nvPr>
            <p:ph idx="1"/>
          </p:nvPr>
        </p:nvSpPr>
        <p:spPr/>
        <p:txBody>
          <a:bodyPr/>
          <a:lstStyle/>
          <a:p>
            <a:r>
              <a:rPr lang="en-US" dirty="0"/>
              <a:t>Members of a structure are accessed just like public members of a class, with the dot operator. </a:t>
            </a:r>
          </a:p>
          <a:p>
            <a:r>
              <a:rPr lang="en-US" dirty="0"/>
              <a:t>However, the data members of a class are normally private and must be accessed through functions. </a:t>
            </a:r>
          </a:p>
          <a:p>
            <a:r>
              <a:rPr lang="en-US" dirty="0"/>
              <a:t>Because structure data members are public, they are accessed directly and can be used like regular variables.</a:t>
            </a:r>
          </a:p>
        </p:txBody>
      </p:sp>
    </p:spTree>
    <p:extLst>
      <p:ext uri="{BB962C8B-B14F-4D97-AF65-F5344CB8AC3E}">
        <p14:creationId xmlns:p14="http://schemas.microsoft.com/office/powerpoint/2010/main" val="1676655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A2F9A-6CBF-1C24-408E-54C48EC6D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4FFA03-F59B-826F-AC6E-615EA2A87E91}"/>
              </a:ext>
            </a:extLst>
          </p:cNvPr>
          <p:cNvSpPr>
            <a:spLocks noGrp="1"/>
          </p:cNvSpPr>
          <p:nvPr>
            <p:ph type="title"/>
          </p:nvPr>
        </p:nvSpPr>
        <p:spPr/>
        <p:txBody>
          <a:bodyPr/>
          <a:lstStyle/>
          <a:p>
            <a:r>
              <a:rPr lang="en-US" dirty="0"/>
              <a:t>Accessing Structure Members</a:t>
            </a:r>
          </a:p>
        </p:txBody>
      </p:sp>
      <p:sp>
        <p:nvSpPr>
          <p:cNvPr id="3" name="Content Placeholder 2">
            <a:extLst>
              <a:ext uri="{FF2B5EF4-FFF2-40B4-BE49-F238E27FC236}">
                <a16:creationId xmlns:a16="http://schemas.microsoft.com/office/drawing/2014/main" id="{61A540C9-B7BD-8833-AEF2-2B0DB63F2C86}"/>
              </a:ext>
            </a:extLst>
          </p:cNvPr>
          <p:cNvSpPr>
            <a:spLocks noGrp="1"/>
          </p:cNvSpPr>
          <p:nvPr>
            <p:ph idx="1"/>
          </p:nvPr>
        </p:nvSpPr>
        <p:spPr>
          <a:xfrm>
            <a:off x="838200" y="1825625"/>
            <a:ext cx="10515600" cy="4592592"/>
          </a:xfrm>
        </p:spPr>
        <p:txBody>
          <a:bodyPr>
            <a:normAutofit lnSpcReduction="10000"/>
          </a:bodyPr>
          <a:lstStyle/>
          <a:p>
            <a:r>
              <a:rPr lang="en-US" dirty="0"/>
              <a:t>The following statements assign values to the </a:t>
            </a:r>
            <a:r>
              <a:rPr lang="en-US" dirty="0" err="1"/>
              <a:t>empNumber</a:t>
            </a:r>
            <a:r>
              <a:rPr lang="en-US" dirty="0"/>
              <a:t> member of each of the Payroll variables we created.</a:t>
            </a:r>
          </a:p>
          <a:p>
            <a:pPr lvl="1"/>
            <a:r>
              <a:rPr lang="en-US" i="1" dirty="0" err="1">
                <a:solidFill>
                  <a:srgbClr val="FF0000"/>
                </a:solidFill>
              </a:rPr>
              <a:t>deptHead.empNumber</a:t>
            </a:r>
            <a:r>
              <a:rPr lang="en-US" i="1" dirty="0">
                <a:solidFill>
                  <a:srgbClr val="FF0000"/>
                </a:solidFill>
              </a:rPr>
              <a:t> = </a:t>
            </a:r>
            <a:r>
              <a:rPr lang="en-US" i="1" dirty="0">
                <a:solidFill>
                  <a:srgbClr val="FF0000"/>
                </a:solidFill>
                <a:effectLst/>
              </a:rPr>
              <a:t>475</a:t>
            </a:r>
            <a:r>
              <a:rPr lang="en-US" i="1" dirty="0">
                <a:solidFill>
                  <a:srgbClr val="FF0000"/>
                </a:solidFill>
              </a:rPr>
              <a:t>; </a:t>
            </a:r>
          </a:p>
          <a:p>
            <a:pPr lvl="1"/>
            <a:r>
              <a:rPr lang="en-US" sz="2400" i="1" dirty="0" err="1">
                <a:solidFill>
                  <a:srgbClr val="FF0000"/>
                </a:solidFill>
              </a:rPr>
              <a:t>foreman.empNumber</a:t>
            </a:r>
            <a:r>
              <a:rPr lang="en-US" sz="2400" i="1" dirty="0">
                <a:solidFill>
                  <a:srgbClr val="FF0000"/>
                </a:solidFill>
              </a:rPr>
              <a:t> = </a:t>
            </a:r>
            <a:r>
              <a:rPr lang="en-US" sz="2400" i="1" dirty="0">
                <a:solidFill>
                  <a:srgbClr val="FF0000"/>
                </a:solidFill>
                <a:effectLst/>
              </a:rPr>
              <a:t>897</a:t>
            </a:r>
            <a:r>
              <a:rPr lang="en-US" sz="2400" i="1" dirty="0">
                <a:solidFill>
                  <a:srgbClr val="FF0000"/>
                </a:solidFill>
              </a:rPr>
              <a:t>; </a:t>
            </a:r>
          </a:p>
          <a:p>
            <a:pPr lvl="1"/>
            <a:r>
              <a:rPr lang="en-US" sz="2400" i="1" dirty="0" err="1">
                <a:solidFill>
                  <a:srgbClr val="FF0000"/>
                </a:solidFill>
              </a:rPr>
              <a:t>associate.empNumber</a:t>
            </a:r>
            <a:r>
              <a:rPr lang="en-US" sz="2400" i="1" dirty="0">
                <a:solidFill>
                  <a:srgbClr val="FF0000"/>
                </a:solidFill>
              </a:rPr>
              <a:t> = </a:t>
            </a:r>
            <a:r>
              <a:rPr lang="en-US" sz="2400" i="1" dirty="0">
                <a:solidFill>
                  <a:srgbClr val="FF0000"/>
                </a:solidFill>
                <a:effectLst/>
              </a:rPr>
              <a:t>729</a:t>
            </a:r>
            <a:r>
              <a:rPr lang="en-US" sz="2400" i="1" dirty="0">
                <a:solidFill>
                  <a:srgbClr val="FF0000"/>
                </a:solidFill>
              </a:rPr>
              <a:t>; </a:t>
            </a:r>
          </a:p>
          <a:p>
            <a:r>
              <a:rPr lang="en-US" dirty="0"/>
              <a:t>The following statements display the contents of all the </a:t>
            </a:r>
            <a:r>
              <a:rPr lang="en-US" dirty="0" err="1"/>
              <a:t>deptHead’s</a:t>
            </a:r>
            <a:r>
              <a:rPr lang="en-US" dirty="0"/>
              <a:t> members.</a:t>
            </a:r>
          </a:p>
          <a:p>
            <a:pPr lvl="1"/>
            <a:r>
              <a:rPr lang="en-US" i="1" dirty="0" err="1">
                <a:solidFill>
                  <a:srgbClr val="FF0000"/>
                </a:solidFill>
              </a:rPr>
              <a:t>cout</a:t>
            </a:r>
            <a:r>
              <a:rPr lang="en-US" i="1" dirty="0">
                <a:solidFill>
                  <a:srgbClr val="FF0000"/>
                </a:solidFill>
              </a:rPr>
              <a:t> &lt;&lt; </a:t>
            </a:r>
            <a:r>
              <a:rPr lang="en-US" i="1" dirty="0" err="1">
                <a:solidFill>
                  <a:srgbClr val="FF0000"/>
                </a:solidFill>
              </a:rPr>
              <a:t>deptHead.empNumber</a:t>
            </a:r>
            <a:r>
              <a:rPr lang="en-US" i="1" dirty="0">
                <a:solidFill>
                  <a:srgbClr val="FF0000"/>
                </a:solidFill>
              </a:rPr>
              <a:t> &lt;&lt; </a:t>
            </a:r>
            <a:r>
              <a:rPr lang="en-US" i="1" dirty="0" err="1">
                <a:solidFill>
                  <a:srgbClr val="FF0000"/>
                </a:solidFill>
              </a:rPr>
              <a:t>endl</a:t>
            </a:r>
            <a:r>
              <a:rPr lang="en-US" i="1" dirty="0">
                <a:solidFill>
                  <a:srgbClr val="FF0000"/>
                </a:solidFill>
              </a:rPr>
              <a:t>; </a:t>
            </a:r>
          </a:p>
          <a:p>
            <a:pPr lvl="1"/>
            <a:r>
              <a:rPr lang="en-US" i="1" dirty="0" err="1">
                <a:solidFill>
                  <a:srgbClr val="FF0000"/>
                </a:solidFill>
              </a:rPr>
              <a:t>cout</a:t>
            </a:r>
            <a:r>
              <a:rPr lang="en-US" i="1" dirty="0">
                <a:solidFill>
                  <a:srgbClr val="FF0000"/>
                </a:solidFill>
              </a:rPr>
              <a:t> &lt;&lt; </a:t>
            </a:r>
            <a:r>
              <a:rPr lang="en-US" i="1" dirty="0" err="1">
                <a:solidFill>
                  <a:srgbClr val="FF0000"/>
                </a:solidFill>
              </a:rPr>
              <a:t>deptHead.name</a:t>
            </a:r>
            <a:r>
              <a:rPr lang="en-US" i="1" dirty="0">
                <a:solidFill>
                  <a:srgbClr val="FF0000"/>
                </a:solidFill>
              </a:rPr>
              <a:t> &lt;&lt; </a:t>
            </a:r>
            <a:r>
              <a:rPr lang="en-US" i="1" dirty="0" err="1">
                <a:solidFill>
                  <a:srgbClr val="FF0000"/>
                </a:solidFill>
              </a:rPr>
              <a:t>endl</a:t>
            </a:r>
            <a:r>
              <a:rPr lang="en-US" i="1" dirty="0">
                <a:solidFill>
                  <a:srgbClr val="FF0000"/>
                </a:solidFill>
              </a:rPr>
              <a:t>; </a:t>
            </a:r>
          </a:p>
          <a:p>
            <a:pPr lvl="1"/>
            <a:r>
              <a:rPr lang="en-US" i="1" dirty="0" err="1">
                <a:solidFill>
                  <a:srgbClr val="FF0000"/>
                </a:solidFill>
              </a:rPr>
              <a:t>cout</a:t>
            </a:r>
            <a:r>
              <a:rPr lang="en-US" i="1" dirty="0">
                <a:solidFill>
                  <a:srgbClr val="FF0000"/>
                </a:solidFill>
              </a:rPr>
              <a:t> &lt;&lt; </a:t>
            </a:r>
            <a:r>
              <a:rPr lang="en-US" i="1" dirty="0" err="1">
                <a:solidFill>
                  <a:srgbClr val="FF0000"/>
                </a:solidFill>
              </a:rPr>
              <a:t>deptHead.hours</a:t>
            </a:r>
            <a:r>
              <a:rPr lang="en-US" i="1" dirty="0">
                <a:solidFill>
                  <a:srgbClr val="FF0000"/>
                </a:solidFill>
              </a:rPr>
              <a:t> &lt;&lt; </a:t>
            </a:r>
            <a:r>
              <a:rPr lang="en-US" i="1" dirty="0" err="1">
                <a:solidFill>
                  <a:srgbClr val="FF0000"/>
                </a:solidFill>
              </a:rPr>
              <a:t>endl</a:t>
            </a:r>
            <a:r>
              <a:rPr lang="en-US" i="1" dirty="0">
                <a:solidFill>
                  <a:srgbClr val="FF0000"/>
                </a:solidFill>
              </a:rPr>
              <a:t>; </a:t>
            </a:r>
          </a:p>
          <a:p>
            <a:pPr lvl="1"/>
            <a:r>
              <a:rPr lang="en-US" i="1" dirty="0" err="1">
                <a:solidFill>
                  <a:srgbClr val="FF0000"/>
                </a:solidFill>
              </a:rPr>
              <a:t>cout</a:t>
            </a:r>
            <a:r>
              <a:rPr lang="en-US" i="1" dirty="0">
                <a:solidFill>
                  <a:srgbClr val="FF0000"/>
                </a:solidFill>
              </a:rPr>
              <a:t> &lt;&lt; </a:t>
            </a:r>
            <a:r>
              <a:rPr lang="en-US" i="1" dirty="0" err="1">
                <a:solidFill>
                  <a:srgbClr val="FF0000"/>
                </a:solidFill>
              </a:rPr>
              <a:t>deptHead.payRate</a:t>
            </a:r>
            <a:r>
              <a:rPr lang="en-US" i="1" dirty="0">
                <a:solidFill>
                  <a:srgbClr val="FF0000"/>
                </a:solidFill>
              </a:rPr>
              <a:t> &lt;&lt; </a:t>
            </a:r>
            <a:r>
              <a:rPr lang="en-US" i="1" dirty="0" err="1">
                <a:solidFill>
                  <a:srgbClr val="FF0000"/>
                </a:solidFill>
              </a:rPr>
              <a:t>endl</a:t>
            </a:r>
            <a:r>
              <a:rPr lang="en-US" i="1" dirty="0">
                <a:solidFill>
                  <a:srgbClr val="FF0000"/>
                </a:solidFill>
              </a:rPr>
              <a:t>; </a:t>
            </a:r>
          </a:p>
          <a:p>
            <a:pPr lvl="1"/>
            <a:r>
              <a:rPr lang="en-US" i="1" dirty="0" err="1">
                <a:solidFill>
                  <a:srgbClr val="FF0000"/>
                </a:solidFill>
              </a:rPr>
              <a:t>cout</a:t>
            </a:r>
            <a:r>
              <a:rPr lang="en-US" i="1" dirty="0">
                <a:solidFill>
                  <a:srgbClr val="FF0000"/>
                </a:solidFill>
              </a:rPr>
              <a:t> &lt;&lt; </a:t>
            </a:r>
            <a:r>
              <a:rPr lang="en-US" i="1" dirty="0" err="1">
                <a:solidFill>
                  <a:srgbClr val="FF0000"/>
                </a:solidFill>
              </a:rPr>
              <a:t>deptHead.grossPay</a:t>
            </a:r>
            <a:r>
              <a:rPr lang="en-US" i="1" dirty="0">
                <a:solidFill>
                  <a:srgbClr val="FF0000"/>
                </a:solidFill>
              </a:rPr>
              <a:t> &lt;&lt; </a:t>
            </a:r>
            <a:r>
              <a:rPr lang="en-US" i="1" dirty="0" err="1">
                <a:solidFill>
                  <a:srgbClr val="FF0000"/>
                </a:solidFill>
              </a:rPr>
              <a:t>endl</a:t>
            </a:r>
            <a:r>
              <a:rPr lang="en-US" i="1" dirty="0">
                <a:solidFill>
                  <a:srgbClr val="FF0000"/>
                </a:solidFill>
              </a:rPr>
              <a:t>; </a:t>
            </a:r>
          </a:p>
        </p:txBody>
      </p:sp>
    </p:spTree>
    <p:extLst>
      <p:ext uri="{BB962C8B-B14F-4D97-AF65-F5344CB8AC3E}">
        <p14:creationId xmlns:p14="http://schemas.microsoft.com/office/powerpoint/2010/main" val="3309109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BD218-E0DB-37C2-B59F-F04E915C6D2D}"/>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4DA02CB8-0622-F615-24A6-9A605D4C7DF4}"/>
              </a:ext>
            </a:extLst>
          </p:cNvPr>
          <p:cNvPicPr>
            <a:picLocks noChangeAspect="1"/>
          </p:cNvPicPr>
          <p:nvPr/>
        </p:nvPicPr>
        <p:blipFill>
          <a:blip r:embed="rId2"/>
          <a:stretch>
            <a:fillRect/>
          </a:stretch>
        </p:blipFill>
        <p:spPr>
          <a:xfrm>
            <a:off x="6595253" y="0"/>
            <a:ext cx="3425447" cy="6858000"/>
          </a:xfrm>
          <a:prstGeom prst="rect">
            <a:avLst/>
          </a:prstGeom>
        </p:spPr>
      </p:pic>
      <p:pic>
        <p:nvPicPr>
          <p:cNvPr id="5" name="Picture 4">
            <a:extLst>
              <a:ext uri="{FF2B5EF4-FFF2-40B4-BE49-F238E27FC236}">
                <a16:creationId xmlns:a16="http://schemas.microsoft.com/office/drawing/2014/main" id="{BD8C4FFD-8C47-06B5-138D-47146AE5DF28}"/>
              </a:ext>
            </a:extLst>
          </p:cNvPr>
          <p:cNvPicPr>
            <a:picLocks noChangeAspect="1"/>
          </p:cNvPicPr>
          <p:nvPr/>
        </p:nvPicPr>
        <p:blipFill>
          <a:blip r:embed="rId3"/>
          <a:stretch>
            <a:fillRect/>
          </a:stretch>
        </p:blipFill>
        <p:spPr>
          <a:xfrm>
            <a:off x="838200" y="2191249"/>
            <a:ext cx="5136345" cy="3637371"/>
          </a:xfrm>
          <a:prstGeom prst="rect">
            <a:avLst/>
          </a:prstGeom>
        </p:spPr>
      </p:pic>
    </p:spTree>
    <p:extLst>
      <p:ext uri="{BB962C8B-B14F-4D97-AF65-F5344CB8AC3E}">
        <p14:creationId xmlns:p14="http://schemas.microsoft.com/office/powerpoint/2010/main" val="4185019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09910-1A95-B043-07FC-A3CB48C0DEFF}"/>
              </a:ext>
            </a:extLst>
          </p:cNvPr>
          <p:cNvSpPr>
            <a:spLocks noGrp="1"/>
          </p:cNvSpPr>
          <p:nvPr>
            <p:ph type="title"/>
          </p:nvPr>
        </p:nvSpPr>
        <p:spPr/>
        <p:txBody>
          <a:bodyPr/>
          <a:lstStyle/>
          <a:p>
            <a:r>
              <a:rPr lang="en-US" dirty="0"/>
              <a:t>Displaying and Comparing Structure Variables</a:t>
            </a:r>
          </a:p>
        </p:txBody>
      </p:sp>
      <p:sp>
        <p:nvSpPr>
          <p:cNvPr id="3" name="Content Placeholder 2">
            <a:extLst>
              <a:ext uri="{FF2B5EF4-FFF2-40B4-BE49-F238E27FC236}">
                <a16:creationId xmlns:a16="http://schemas.microsoft.com/office/drawing/2014/main" id="{E05E7F07-3543-C091-0AA1-646F1AD82D2D}"/>
              </a:ext>
            </a:extLst>
          </p:cNvPr>
          <p:cNvSpPr>
            <a:spLocks noGrp="1"/>
          </p:cNvSpPr>
          <p:nvPr>
            <p:ph idx="1"/>
          </p:nvPr>
        </p:nvSpPr>
        <p:spPr/>
        <p:txBody>
          <a:bodyPr/>
          <a:lstStyle/>
          <a:p>
            <a:r>
              <a:rPr lang="en-US" dirty="0"/>
              <a:t>In previous example e</a:t>
            </a:r>
            <a:r>
              <a:rPr lang="en-US" dirty="0">
                <a:effectLst/>
              </a:rPr>
              <a:t>ach member of the employee structure variable was displayed separately. </a:t>
            </a:r>
          </a:p>
          <a:p>
            <a:r>
              <a:rPr lang="en-US" dirty="0">
                <a:effectLst/>
              </a:rPr>
              <a:t>This is necessary because the entire contents of a structure variable cannot be displayed by simply passing the whole variable to </a:t>
            </a:r>
            <a:r>
              <a:rPr lang="en-US" dirty="0" err="1">
                <a:solidFill>
                  <a:srgbClr val="FF0000"/>
                </a:solidFill>
                <a:effectLst/>
              </a:rPr>
              <a:t>cout</a:t>
            </a:r>
            <a:r>
              <a:rPr lang="en-US" dirty="0">
                <a:effectLst/>
              </a:rPr>
              <a:t>. </a:t>
            </a:r>
          </a:p>
          <a:p>
            <a:r>
              <a:rPr lang="en-US" dirty="0">
                <a:effectLst/>
              </a:rPr>
              <a:t>For example, the following statement will </a:t>
            </a:r>
            <a:r>
              <a:rPr lang="en-US" i="1" dirty="0">
                <a:effectLst/>
              </a:rPr>
              <a:t>not</a:t>
            </a:r>
            <a:r>
              <a:rPr lang="en-US" dirty="0">
                <a:effectLst/>
              </a:rPr>
              <a:t> work.</a:t>
            </a:r>
          </a:p>
          <a:p>
            <a:pPr lvl="1"/>
            <a:r>
              <a:rPr lang="en-US" i="1" dirty="0" err="1">
                <a:solidFill>
                  <a:srgbClr val="FF0000"/>
                </a:solidFill>
              </a:rPr>
              <a:t>cout</a:t>
            </a:r>
            <a:r>
              <a:rPr lang="en-US" i="1" dirty="0">
                <a:solidFill>
                  <a:srgbClr val="FF0000"/>
                </a:solidFill>
              </a:rPr>
              <a:t> &lt;&lt; employee &lt;&lt; </a:t>
            </a:r>
            <a:r>
              <a:rPr lang="en-US" i="1" dirty="0" err="1">
                <a:solidFill>
                  <a:srgbClr val="FF0000"/>
                </a:solidFill>
              </a:rPr>
              <a:t>endl</a:t>
            </a:r>
            <a:r>
              <a:rPr lang="en-US" i="1" dirty="0">
                <a:solidFill>
                  <a:srgbClr val="FF0000"/>
                </a:solidFill>
              </a:rPr>
              <a:t>;   //Error!</a:t>
            </a:r>
            <a:endParaRPr lang="en-US" i="1" dirty="0">
              <a:solidFill>
                <a:srgbClr val="FF0000"/>
              </a:solidFill>
              <a:effectLst/>
            </a:endParaRPr>
          </a:p>
          <a:p>
            <a:endParaRPr lang="en-US" dirty="0"/>
          </a:p>
        </p:txBody>
      </p:sp>
    </p:spTree>
    <p:extLst>
      <p:ext uri="{BB962C8B-B14F-4D97-AF65-F5344CB8AC3E}">
        <p14:creationId xmlns:p14="http://schemas.microsoft.com/office/powerpoint/2010/main" val="15195985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EFFB8-F86F-219F-F184-526F253A6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B0D13A-1772-EAC3-0C60-2AEA3707B1E8}"/>
              </a:ext>
            </a:extLst>
          </p:cNvPr>
          <p:cNvSpPr>
            <a:spLocks noGrp="1"/>
          </p:cNvSpPr>
          <p:nvPr>
            <p:ph type="title"/>
          </p:nvPr>
        </p:nvSpPr>
        <p:spPr/>
        <p:txBody>
          <a:bodyPr/>
          <a:lstStyle/>
          <a:p>
            <a:r>
              <a:rPr lang="en-US" dirty="0"/>
              <a:t>Displaying and Comparing Structure Variables</a:t>
            </a:r>
          </a:p>
        </p:txBody>
      </p:sp>
      <p:sp>
        <p:nvSpPr>
          <p:cNvPr id="3" name="Content Placeholder 2">
            <a:extLst>
              <a:ext uri="{FF2B5EF4-FFF2-40B4-BE49-F238E27FC236}">
                <a16:creationId xmlns:a16="http://schemas.microsoft.com/office/drawing/2014/main" id="{A5C50738-AA59-C8F0-29AB-36E1588DF40E}"/>
              </a:ext>
            </a:extLst>
          </p:cNvPr>
          <p:cNvSpPr>
            <a:spLocks noGrp="1"/>
          </p:cNvSpPr>
          <p:nvPr>
            <p:ph idx="1"/>
          </p:nvPr>
        </p:nvSpPr>
        <p:spPr/>
        <p:txBody>
          <a:bodyPr/>
          <a:lstStyle/>
          <a:p>
            <a:r>
              <a:rPr lang="en-US" dirty="0"/>
              <a:t>Likewise, although it is possible to compare the contents of two individual structure members, you cannot perform comparison operations on entire structures. </a:t>
            </a:r>
          </a:p>
          <a:p>
            <a:r>
              <a:rPr lang="en-US" dirty="0"/>
              <a:t>For example, if employee1 and employee2 are both Payroll structure variables, this comparison will cause an error.</a:t>
            </a:r>
          </a:p>
          <a:p>
            <a:pPr lvl="1"/>
            <a:r>
              <a:rPr lang="en-US" b="1" i="1" dirty="0">
                <a:solidFill>
                  <a:srgbClr val="FF0000"/>
                </a:solidFill>
                <a:effectLst/>
              </a:rPr>
              <a:t>if</a:t>
            </a:r>
            <a:r>
              <a:rPr lang="en-US" i="1" dirty="0">
                <a:solidFill>
                  <a:srgbClr val="FF0000"/>
                </a:solidFill>
              </a:rPr>
              <a:t> (employee1 == employee2) </a:t>
            </a:r>
            <a:r>
              <a:rPr lang="en-US" i="1" dirty="0">
                <a:solidFill>
                  <a:srgbClr val="FF0000"/>
                </a:solidFill>
                <a:effectLst/>
              </a:rPr>
              <a:t>// Error! </a:t>
            </a:r>
            <a:endParaRPr lang="en-US" dirty="0"/>
          </a:p>
          <a:p>
            <a:r>
              <a:rPr lang="en-US" dirty="0"/>
              <a:t>The following comparison, however, is perfectly legal.</a:t>
            </a:r>
          </a:p>
          <a:p>
            <a:pPr lvl="1"/>
            <a:r>
              <a:rPr lang="en-US" b="1" i="1" dirty="0">
                <a:solidFill>
                  <a:srgbClr val="FF0000"/>
                </a:solidFill>
                <a:effectLst/>
              </a:rPr>
              <a:t>if</a:t>
            </a:r>
            <a:r>
              <a:rPr lang="en-US" i="1" dirty="0">
                <a:solidFill>
                  <a:srgbClr val="FF0000"/>
                </a:solidFill>
              </a:rPr>
              <a:t> (employee1.hours == employee2.hours) </a:t>
            </a:r>
            <a:r>
              <a:rPr lang="en-US" i="1" dirty="0">
                <a:solidFill>
                  <a:srgbClr val="FF0000"/>
                </a:solidFill>
                <a:effectLst/>
              </a:rPr>
              <a:t>// Legal</a:t>
            </a:r>
            <a:endParaRPr lang="en-US" i="1" dirty="0">
              <a:solidFill>
                <a:srgbClr val="FF0000"/>
              </a:solidFill>
            </a:endParaRPr>
          </a:p>
        </p:txBody>
      </p:sp>
    </p:spTree>
    <p:extLst>
      <p:ext uri="{BB962C8B-B14F-4D97-AF65-F5344CB8AC3E}">
        <p14:creationId xmlns:p14="http://schemas.microsoft.com/office/powerpoint/2010/main" val="33358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B673F-BD9D-59DB-42C2-B14A95A49199}"/>
              </a:ext>
            </a:extLst>
          </p:cNvPr>
          <p:cNvSpPr>
            <a:spLocks noGrp="1"/>
          </p:cNvSpPr>
          <p:nvPr>
            <p:ph type="title"/>
          </p:nvPr>
        </p:nvSpPr>
        <p:spPr/>
        <p:txBody>
          <a:bodyPr/>
          <a:lstStyle/>
          <a:p>
            <a:r>
              <a:rPr lang="en-US" dirty="0"/>
              <a:t>Initializing a Structure</a:t>
            </a:r>
          </a:p>
        </p:txBody>
      </p:sp>
      <p:sp>
        <p:nvSpPr>
          <p:cNvPr id="3" name="Content Placeholder 2">
            <a:extLst>
              <a:ext uri="{FF2B5EF4-FFF2-40B4-BE49-F238E27FC236}">
                <a16:creationId xmlns:a16="http://schemas.microsoft.com/office/drawing/2014/main" id="{311EB4B4-8194-E0BF-F29B-28E084E2B209}"/>
              </a:ext>
            </a:extLst>
          </p:cNvPr>
          <p:cNvSpPr>
            <a:spLocks noGrp="1"/>
          </p:cNvSpPr>
          <p:nvPr>
            <p:ph idx="1"/>
          </p:nvPr>
        </p:nvSpPr>
        <p:spPr/>
        <p:txBody>
          <a:bodyPr/>
          <a:lstStyle/>
          <a:p>
            <a:r>
              <a:rPr lang="en-US" dirty="0">
                <a:effectLst/>
              </a:rPr>
              <a:t>There are two ways a structure variable can be initialized when it is defined: </a:t>
            </a:r>
            <a:r>
              <a:rPr lang="en-US" b="1" dirty="0">
                <a:effectLst/>
              </a:rPr>
              <a:t>with an initialization list or with a constructor.</a:t>
            </a:r>
          </a:p>
          <a:p>
            <a:r>
              <a:rPr lang="en-US" dirty="0"/>
              <a:t>The simplest way to initialize the members of a structure variable is to use an initialization list. </a:t>
            </a:r>
          </a:p>
          <a:p>
            <a:r>
              <a:rPr lang="en-US" dirty="0"/>
              <a:t>An </a:t>
            </a:r>
            <a:r>
              <a:rPr lang="en-US" dirty="0">
                <a:hlinkClick r:id="rId2"/>
              </a:rPr>
              <a:t>initialization list</a:t>
            </a:r>
            <a:r>
              <a:rPr lang="en-US" dirty="0"/>
              <a:t> is a list of values used to initialize a set of memory locations. </a:t>
            </a:r>
          </a:p>
          <a:p>
            <a:r>
              <a:rPr lang="en-US" dirty="0"/>
              <a:t>The items in the list are separated by commas and surrounded by braces. </a:t>
            </a:r>
          </a:p>
        </p:txBody>
      </p:sp>
    </p:spTree>
    <p:extLst>
      <p:ext uri="{BB962C8B-B14F-4D97-AF65-F5344CB8AC3E}">
        <p14:creationId xmlns:p14="http://schemas.microsoft.com/office/powerpoint/2010/main" val="1484088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B8052-CEFC-208C-0241-7FEC94C7C6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6CDEED-DC11-92CA-AEF5-B7C83B914691}"/>
              </a:ext>
            </a:extLst>
          </p:cNvPr>
          <p:cNvSpPr>
            <a:spLocks noGrp="1"/>
          </p:cNvSpPr>
          <p:nvPr>
            <p:ph type="title"/>
          </p:nvPr>
        </p:nvSpPr>
        <p:spPr/>
        <p:txBody>
          <a:bodyPr/>
          <a:lstStyle/>
          <a:p>
            <a:r>
              <a:rPr lang="en-US" dirty="0"/>
              <a:t>Initializing a Structure</a:t>
            </a:r>
          </a:p>
        </p:txBody>
      </p:sp>
      <p:sp>
        <p:nvSpPr>
          <p:cNvPr id="3" name="Content Placeholder 2">
            <a:extLst>
              <a:ext uri="{FF2B5EF4-FFF2-40B4-BE49-F238E27FC236}">
                <a16:creationId xmlns:a16="http://schemas.microsoft.com/office/drawing/2014/main" id="{B522B171-9B8D-740A-D432-02362892C482}"/>
              </a:ext>
            </a:extLst>
          </p:cNvPr>
          <p:cNvSpPr>
            <a:spLocks noGrp="1"/>
          </p:cNvSpPr>
          <p:nvPr>
            <p:ph idx="1"/>
          </p:nvPr>
        </p:nvSpPr>
        <p:spPr/>
        <p:txBody>
          <a:bodyPr/>
          <a:lstStyle/>
          <a:p>
            <a:r>
              <a:rPr lang="en-US" dirty="0"/>
              <a:t>For example, the following Date structure has been declared:</a:t>
            </a:r>
          </a:p>
          <a:p>
            <a:endParaRPr lang="en-US" dirty="0"/>
          </a:p>
          <a:p>
            <a:endParaRPr lang="en-US" dirty="0"/>
          </a:p>
          <a:p>
            <a:endParaRPr lang="en-US" dirty="0"/>
          </a:p>
          <a:p>
            <a:endParaRPr lang="en-US" dirty="0"/>
          </a:p>
          <a:p>
            <a:r>
              <a:rPr lang="en-US" dirty="0"/>
              <a:t>A Date variable can now be defined and initialized by following the variable name with the assignment operator and an initialization list, as shown here: </a:t>
            </a:r>
            <a:r>
              <a:rPr lang="en-US" b="1" i="1" dirty="0">
                <a:solidFill>
                  <a:srgbClr val="FF0000"/>
                </a:solidFill>
              </a:rPr>
              <a:t>Date birthday = {</a:t>
            </a:r>
            <a:r>
              <a:rPr lang="en-US" b="1" i="1" dirty="0">
                <a:solidFill>
                  <a:srgbClr val="FF0000"/>
                </a:solidFill>
                <a:effectLst/>
              </a:rPr>
              <a:t>23</a:t>
            </a:r>
            <a:r>
              <a:rPr lang="en-US" b="1" i="1" dirty="0">
                <a:solidFill>
                  <a:srgbClr val="FF0000"/>
                </a:solidFill>
              </a:rPr>
              <a:t>, </a:t>
            </a:r>
            <a:r>
              <a:rPr lang="en-US" b="1" i="1" dirty="0">
                <a:solidFill>
                  <a:srgbClr val="FF0000"/>
                </a:solidFill>
                <a:effectLst/>
              </a:rPr>
              <a:t>8</a:t>
            </a:r>
            <a:r>
              <a:rPr lang="en-US" b="1" i="1" dirty="0">
                <a:solidFill>
                  <a:srgbClr val="FF0000"/>
                </a:solidFill>
              </a:rPr>
              <a:t>, </a:t>
            </a:r>
            <a:r>
              <a:rPr lang="en-US" b="1" i="1" dirty="0">
                <a:solidFill>
                  <a:srgbClr val="FF0000"/>
                </a:solidFill>
                <a:effectLst/>
              </a:rPr>
              <a:t>1983</a:t>
            </a:r>
            <a:r>
              <a:rPr lang="en-US" b="1" i="1" dirty="0">
                <a:solidFill>
                  <a:srgbClr val="FF0000"/>
                </a:solidFill>
              </a:rPr>
              <a:t>};</a:t>
            </a:r>
          </a:p>
        </p:txBody>
      </p:sp>
      <p:pic>
        <p:nvPicPr>
          <p:cNvPr id="4" name="Picture 3">
            <a:extLst>
              <a:ext uri="{FF2B5EF4-FFF2-40B4-BE49-F238E27FC236}">
                <a16:creationId xmlns:a16="http://schemas.microsoft.com/office/drawing/2014/main" id="{B3FE847B-5635-9801-938D-270D65920624}"/>
              </a:ext>
            </a:extLst>
          </p:cNvPr>
          <p:cNvPicPr>
            <a:picLocks noChangeAspect="1"/>
          </p:cNvPicPr>
          <p:nvPr/>
        </p:nvPicPr>
        <p:blipFill>
          <a:blip r:embed="rId2"/>
          <a:stretch>
            <a:fillRect/>
          </a:stretch>
        </p:blipFill>
        <p:spPr>
          <a:xfrm>
            <a:off x="5353050" y="2476318"/>
            <a:ext cx="1827224" cy="1764755"/>
          </a:xfrm>
          <a:prstGeom prst="rect">
            <a:avLst/>
          </a:prstGeom>
        </p:spPr>
      </p:pic>
    </p:spTree>
    <p:extLst>
      <p:ext uri="{BB962C8B-B14F-4D97-AF65-F5344CB8AC3E}">
        <p14:creationId xmlns:p14="http://schemas.microsoft.com/office/powerpoint/2010/main" val="701763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A19AD-AA40-B413-85E3-4EB47CCBBE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2D2259-0456-0CE5-65D7-6E7B2F715DE1}"/>
              </a:ext>
            </a:extLst>
          </p:cNvPr>
          <p:cNvSpPr>
            <a:spLocks noGrp="1"/>
          </p:cNvSpPr>
          <p:nvPr>
            <p:ph type="title"/>
          </p:nvPr>
        </p:nvSpPr>
        <p:spPr/>
        <p:txBody>
          <a:bodyPr/>
          <a:lstStyle/>
          <a:p>
            <a:r>
              <a:rPr lang="en-US" dirty="0"/>
              <a:t>Initializing a Structure</a:t>
            </a:r>
          </a:p>
        </p:txBody>
      </p:sp>
      <p:sp>
        <p:nvSpPr>
          <p:cNvPr id="3" name="Content Placeholder 2">
            <a:extLst>
              <a:ext uri="{FF2B5EF4-FFF2-40B4-BE49-F238E27FC236}">
                <a16:creationId xmlns:a16="http://schemas.microsoft.com/office/drawing/2014/main" id="{9D0A8C99-393A-C1BD-8C77-D26795C1D1FF}"/>
              </a:ext>
            </a:extLst>
          </p:cNvPr>
          <p:cNvSpPr>
            <a:spLocks noGrp="1"/>
          </p:cNvSpPr>
          <p:nvPr>
            <p:ph idx="1"/>
          </p:nvPr>
        </p:nvSpPr>
        <p:spPr/>
        <p:txBody>
          <a:bodyPr/>
          <a:lstStyle/>
          <a:p>
            <a:r>
              <a:rPr lang="en-US" dirty="0"/>
              <a:t>This statement defines </a:t>
            </a:r>
            <a:r>
              <a:rPr lang="en-US" i="1" dirty="0">
                <a:solidFill>
                  <a:srgbClr val="FF0000"/>
                </a:solidFill>
              </a:rPr>
              <a:t>birthday</a:t>
            </a:r>
            <a:r>
              <a:rPr lang="en-US" dirty="0"/>
              <a:t> to be a variable which is a </a:t>
            </a:r>
            <a:r>
              <a:rPr lang="en-US" i="1" dirty="0">
                <a:solidFill>
                  <a:srgbClr val="FF0000"/>
                </a:solidFill>
              </a:rPr>
              <a:t>Date</a:t>
            </a:r>
            <a:r>
              <a:rPr lang="en-US" dirty="0"/>
              <a:t> structure. </a:t>
            </a:r>
          </a:p>
          <a:p>
            <a:r>
              <a:rPr lang="en-US" b="1" dirty="0"/>
              <a:t>The values inside the curly braces are assigned to its members in order.</a:t>
            </a:r>
          </a:p>
          <a:p>
            <a:endParaRPr lang="en-US" dirty="0"/>
          </a:p>
          <a:p>
            <a:endParaRPr lang="en-US" dirty="0"/>
          </a:p>
          <a:p>
            <a:endParaRPr lang="en-US" dirty="0"/>
          </a:p>
        </p:txBody>
      </p:sp>
      <p:pic>
        <p:nvPicPr>
          <p:cNvPr id="5" name="Picture 4">
            <a:extLst>
              <a:ext uri="{FF2B5EF4-FFF2-40B4-BE49-F238E27FC236}">
                <a16:creationId xmlns:a16="http://schemas.microsoft.com/office/drawing/2014/main" id="{75B227C9-5659-442E-72D9-2B5F796FAEC6}"/>
              </a:ext>
            </a:extLst>
          </p:cNvPr>
          <p:cNvPicPr>
            <a:picLocks noChangeAspect="1"/>
          </p:cNvPicPr>
          <p:nvPr/>
        </p:nvPicPr>
        <p:blipFill>
          <a:blip r:embed="rId2"/>
          <a:stretch>
            <a:fillRect/>
          </a:stretch>
        </p:blipFill>
        <p:spPr>
          <a:xfrm>
            <a:off x="3536950" y="3518135"/>
            <a:ext cx="5118100" cy="2882900"/>
          </a:xfrm>
          <a:prstGeom prst="rect">
            <a:avLst/>
          </a:prstGeom>
        </p:spPr>
      </p:pic>
    </p:spTree>
    <p:extLst>
      <p:ext uri="{BB962C8B-B14F-4D97-AF65-F5344CB8AC3E}">
        <p14:creationId xmlns:p14="http://schemas.microsoft.com/office/powerpoint/2010/main" val="437142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8385A-3AD1-539A-FAD6-FED274F596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621DFF-6C7C-B0C0-6E85-6F18F11E50B4}"/>
              </a:ext>
            </a:extLst>
          </p:cNvPr>
          <p:cNvSpPr>
            <a:spLocks noGrp="1"/>
          </p:cNvSpPr>
          <p:nvPr>
            <p:ph type="title"/>
          </p:nvPr>
        </p:nvSpPr>
        <p:spPr/>
        <p:txBody>
          <a:bodyPr/>
          <a:lstStyle/>
          <a:p>
            <a:r>
              <a:rPr lang="en-US" dirty="0"/>
              <a:t>Initializing a Structure</a:t>
            </a:r>
          </a:p>
        </p:txBody>
      </p:sp>
      <p:sp>
        <p:nvSpPr>
          <p:cNvPr id="3" name="Content Placeholder 2">
            <a:extLst>
              <a:ext uri="{FF2B5EF4-FFF2-40B4-BE49-F238E27FC236}">
                <a16:creationId xmlns:a16="http://schemas.microsoft.com/office/drawing/2014/main" id="{FEDE4C9B-8C72-B8B4-23E4-45887537DF81}"/>
              </a:ext>
            </a:extLst>
          </p:cNvPr>
          <p:cNvSpPr>
            <a:spLocks noGrp="1"/>
          </p:cNvSpPr>
          <p:nvPr>
            <p:ph idx="1"/>
          </p:nvPr>
        </p:nvSpPr>
        <p:spPr/>
        <p:txBody>
          <a:bodyPr/>
          <a:lstStyle/>
          <a:p>
            <a:r>
              <a:rPr lang="en-US" dirty="0"/>
              <a:t>It is also possible to initialize just some of the members of a structure variable. </a:t>
            </a:r>
          </a:p>
          <a:p>
            <a:r>
              <a:rPr lang="en-US" dirty="0"/>
              <a:t>For example, if we know the birthday to be stored is August 23 but do not know the year, the variable could be defined and initialized like this: </a:t>
            </a:r>
          </a:p>
          <a:p>
            <a:pPr lvl="1"/>
            <a:r>
              <a:rPr lang="en-US" i="1" dirty="0">
                <a:solidFill>
                  <a:srgbClr val="FF0000"/>
                </a:solidFill>
              </a:rPr>
              <a:t>Date birthday = {</a:t>
            </a:r>
            <a:r>
              <a:rPr lang="en-US" i="1" dirty="0">
                <a:solidFill>
                  <a:srgbClr val="FF0000"/>
                </a:solidFill>
                <a:effectLst/>
              </a:rPr>
              <a:t>23</a:t>
            </a:r>
            <a:r>
              <a:rPr lang="en-US" i="1" dirty="0">
                <a:solidFill>
                  <a:srgbClr val="FF0000"/>
                </a:solidFill>
              </a:rPr>
              <a:t>, </a:t>
            </a:r>
            <a:r>
              <a:rPr lang="en-US" i="1" dirty="0">
                <a:solidFill>
                  <a:srgbClr val="FF0000"/>
                </a:solidFill>
                <a:effectLst/>
              </a:rPr>
              <a:t>8</a:t>
            </a:r>
            <a:r>
              <a:rPr lang="en-US" i="1" dirty="0">
                <a:solidFill>
                  <a:srgbClr val="FF0000"/>
                </a:solidFill>
              </a:rPr>
              <a:t>}; </a:t>
            </a:r>
          </a:p>
          <a:p>
            <a:r>
              <a:rPr lang="en-US" dirty="0"/>
              <a:t>Only the day and month members are initialized here. The year member is not initialized.</a:t>
            </a:r>
            <a:endParaRPr lang="en-US" i="1" dirty="0">
              <a:solidFill>
                <a:srgbClr val="FF0000"/>
              </a:solidFill>
            </a:endParaRPr>
          </a:p>
          <a:p>
            <a:endParaRPr lang="en-US" dirty="0"/>
          </a:p>
          <a:p>
            <a:endParaRPr lang="en-US" dirty="0"/>
          </a:p>
        </p:txBody>
      </p:sp>
    </p:spTree>
    <p:extLst>
      <p:ext uri="{BB962C8B-B14F-4D97-AF65-F5344CB8AC3E}">
        <p14:creationId xmlns:p14="http://schemas.microsoft.com/office/powerpoint/2010/main" val="1870490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988A4-0135-1634-66D2-B014AE048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D56480-461F-23F2-F9E7-62514BA44C77}"/>
              </a:ext>
            </a:extLst>
          </p:cNvPr>
          <p:cNvSpPr>
            <a:spLocks noGrp="1"/>
          </p:cNvSpPr>
          <p:nvPr>
            <p:ph type="title"/>
          </p:nvPr>
        </p:nvSpPr>
        <p:spPr/>
        <p:txBody>
          <a:bodyPr/>
          <a:lstStyle/>
          <a:p>
            <a:r>
              <a:rPr lang="en-US" dirty="0"/>
              <a:t>Initializing a Structure</a:t>
            </a:r>
          </a:p>
        </p:txBody>
      </p:sp>
      <p:sp>
        <p:nvSpPr>
          <p:cNvPr id="3" name="Content Placeholder 2">
            <a:extLst>
              <a:ext uri="{FF2B5EF4-FFF2-40B4-BE49-F238E27FC236}">
                <a16:creationId xmlns:a16="http://schemas.microsoft.com/office/drawing/2014/main" id="{59938E43-CFFA-8BC3-0712-7803150BB9EC}"/>
              </a:ext>
            </a:extLst>
          </p:cNvPr>
          <p:cNvSpPr>
            <a:spLocks noGrp="1"/>
          </p:cNvSpPr>
          <p:nvPr>
            <p:ph idx="1"/>
          </p:nvPr>
        </p:nvSpPr>
        <p:spPr/>
        <p:txBody>
          <a:bodyPr/>
          <a:lstStyle/>
          <a:p>
            <a:r>
              <a:rPr lang="en-US" dirty="0"/>
              <a:t>If you leave a structure member uninitialized, however, you must leave all the members that follow it uninitialized as well. </a:t>
            </a:r>
          </a:p>
          <a:p>
            <a:r>
              <a:rPr lang="en-US" dirty="0"/>
              <a:t>C++ does not provide a way to skip members when using an initialization list. </a:t>
            </a:r>
          </a:p>
          <a:p>
            <a:r>
              <a:rPr lang="en-US" dirty="0"/>
              <a:t>The following statement attempts to skip the initialization of the month member. It is </a:t>
            </a:r>
            <a:r>
              <a:rPr lang="en-US" i="1" dirty="0"/>
              <a:t>not</a:t>
            </a:r>
            <a:r>
              <a:rPr lang="en-US" dirty="0"/>
              <a:t> legal. </a:t>
            </a:r>
          </a:p>
          <a:p>
            <a:pPr lvl="1"/>
            <a:r>
              <a:rPr lang="en-US" i="1" dirty="0">
                <a:solidFill>
                  <a:srgbClr val="FF0000"/>
                </a:solidFill>
              </a:rPr>
              <a:t>Date birthday = {</a:t>
            </a:r>
            <a:r>
              <a:rPr lang="en-US" i="1" dirty="0">
                <a:solidFill>
                  <a:srgbClr val="FF0000"/>
                </a:solidFill>
                <a:effectLst/>
              </a:rPr>
              <a:t>23</a:t>
            </a:r>
            <a:r>
              <a:rPr lang="en-US" i="1" dirty="0">
                <a:solidFill>
                  <a:srgbClr val="FF0000"/>
                </a:solidFill>
              </a:rPr>
              <a:t>, , </a:t>
            </a:r>
            <a:r>
              <a:rPr lang="en-US" i="1" dirty="0">
                <a:solidFill>
                  <a:srgbClr val="FF0000"/>
                </a:solidFill>
                <a:effectLst/>
              </a:rPr>
              <a:t>1983</a:t>
            </a:r>
            <a:r>
              <a:rPr lang="en-US" i="1" dirty="0">
                <a:solidFill>
                  <a:srgbClr val="FF0000"/>
                </a:solidFill>
              </a:rPr>
              <a:t>}; </a:t>
            </a:r>
            <a:r>
              <a:rPr lang="en-US" i="1" dirty="0">
                <a:solidFill>
                  <a:srgbClr val="FF0000"/>
                </a:solidFill>
                <a:effectLst/>
              </a:rPr>
              <a:t>// Illegal! </a:t>
            </a:r>
            <a:endParaRPr lang="en-US" i="1" dirty="0">
              <a:solidFill>
                <a:srgbClr val="FF0000"/>
              </a:solidFill>
            </a:endParaRPr>
          </a:p>
          <a:p>
            <a:endParaRPr lang="en-US" dirty="0"/>
          </a:p>
        </p:txBody>
      </p:sp>
    </p:spTree>
    <p:extLst>
      <p:ext uri="{BB962C8B-B14F-4D97-AF65-F5344CB8AC3E}">
        <p14:creationId xmlns:p14="http://schemas.microsoft.com/office/powerpoint/2010/main" val="1030267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80D12-CBDF-0F20-2694-331E18E941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5F6FEB-A1F9-8236-61A7-0F8B166EB422}"/>
              </a:ext>
            </a:extLst>
          </p:cNvPr>
          <p:cNvSpPr>
            <a:spLocks noGrp="1"/>
          </p:cNvSpPr>
          <p:nvPr>
            <p:ph type="title"/>
          </p:nvPr>
        </p:nvSpPr>
        <p:spPr/>
        <p:txBody>
          <a:bodyPr/>
          <a:lstStyle/>
          <a:p>
            <a:r>
              <a:rPr lang="en-US" dirty="0"/>
              <a:t>Initializing a Structure</a:t>
            </a:r>
          </a:p>
        </p:txBody>
      </p:sp>
      <p:sp>
        <p:nvSpPr>
          <p:cNvPr id="3" name="Content Placeholder 2">
            <a:extLst>
              <a:ext uri="{FF2B5EF4-FFF2-40B4-BE49-F238E27FC236}">
                <a16:creationId xmlns:a16="http://schemas.microsoft.com/office/drawing/2014/main" id="{D7D652C7-CE2D-88E4-6F77-24002C2B4A58}"/>
              </a:ext>
            </a:extLst>
          </p:cNvPr>
          <p:cNvSpPr>
            <a:spLocks noGrp="1"/>
          </p:cNvSpPr>
          <p:nvPr>
            <p:ph idx="1"/>
          </p:nvPr>
        </p:nvSpPr>
        <p:spPr/>
        <p:txBody>
          <a:bodyPr/>
          <a:lstStyle/>
          <a:p>
            <a:r>
              <a:rPr lang="en-US" dirty="0"/>
              <a:t>It is important to note that you cannot initialize a structure member in the declaration of the structure because the structure declaration just creates a new data type. </a:t>
            </a:r>
          </a:p>
          <a:p>
            <a:r>
              <a:rPr lang="en-US" dirty="0"/>
              <a:t>No variables of this type exist yet. </a:t>
            </a:r>
          </a:p>
          <a:p>
            <a:r>
              <a:rPr lang="en-US" dirty="0"/>
              <a:t>For example, the following declaration is illegal:</a:t>
            </a:r>
          </a:p>
        </p:txBody>
      </p:sp>
      <p:pic>
        <p:nvPicPr>
          <p:cNvPr id="4" name="Picture 3">
            <a:extLst>
              <a:ext uri="{FF2B5EF4-FFF2-40B4-BE49-F238E27FC236}">
                <a16:creationId xmlns:a16="http://schemas.microsoft.com/office/drawing/2014/main" id="{B96D21E3-C74E-AAAA-F5A5-A9BF9BCF7415}"/>
              </a:ext>
            </a:extLst>
          </p:cNvPr>
          <p:cNvPicPr>
            <a:picLocks noChangeAspect="1"/>
          </p:cNvPicPr>
          <p:nvPr/>
        </p:nvPicPr>
        <p:blipFill>
          <a:blip r:embed="rId2"/>
          <a:stretch>
            <a:fillRect/>
          </a:stretch>
        </p:blipFill>
        <p:spPr>
          <a:xfrm>
            <a:off x="4432300" y="4384040"/>
            <a:ext cx="3327400" cy="1625600"/>
          </a:xfrm>
          <a:prstGeom prst="rect">
            <a:avLst/>
          </a:prstGeom>
        </p:spPr>
      </p:pic>
    </p:spTree>
    <p:extLst>
      <p:ext uri="{BB962C8B-B14F-4D97-AF65-F5344CB8AC3E}">
        <p14:creationId xmlns:p14="http://schemas.microsoft.com/office/powerpoint/2010/main" val="2626461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320DE-C7AF-18B6-A589-49811B2253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F50839-CEE1-390E-8AE2-0D696E99681B}"/>
              </a:ext>
            </a:extLst>
          </p:cNvPr>
          <p:cNvSpPr>
            <a:spLocks noGrp="1"/>
          </p:cNvSpPr>
          <p:nvPr>
            <p:ph type="title"/>
          </p:nvPr>
        </p:nvSpPr>
        <p:spPr/>
        <p:txBody>
          <a:bodyPr/>
          <a:lstStyle/>
          <a:p>
            <a:r>
              <a:rPr lang="en-US" dirty="0"/>
              <a:t>Initializing a Structure</a:t>
            </a:r>
          </a:p>
        </p:txBody>
      </p:sp>
      <p:sp>
        <p:nvSpPr>
          <p:cNvPr id="3" name="Content Placeholder 2">
            <a:extLst>
              <a:ext uri="{FF2B5EF4-FFF2-40B4-BE49-F238E27FC236}">
                <a16:creationId xmlns:a16="http://schemas.microsoft.com/office/drawing/2014/main" id="{A83A20F8-7686-505D-9BDA-DA87A4BFCD01}"/>
              </a:ext>
            </a:extLst>
          </p:cNvPr>
          <p:cNvSpPr>
            <a:spLocks noGrp="1"/>
          </p:cNvSpPr>
          <p:nvPr>
            <p:ph idx="1"/>
          </p:nvPr>
        </p:nvSpPr>
        <p:spPr/>
        <p:txBody>
          <a:bodyPr>
            <a:normAutofit fontScale="92500"/>
          </a:bodyPr>
          <a:lstStyle/>
          <a:p>
            <a:pPr algn="l"/>
            <a:r>
              <a:rPr lang="en-US" dirty="0">
                <a:effectLst/>
              </a:rPr>
              <a:t>Because a structure declaration only declares what a structure “looks like,” the member variables are not created in memory until the structure is instantiated by defining a variable of that structure type. Until then, there is no place to store an initial value.</a:t>
            </a:r>
          </a:p>
          <a:p>
            <a:pPr algn="l"/>
            <a:r>
              <a:rPr lang="en-US" dirty="0">
                <a:effectLst/>
              </a:rPr>
              <a:t>Although an initialization list is easy to use, it has two drawbacks:</a:t>
            </a:r>
          </a:p>
          <a:p>
            <a:pPr lvl="1">
              <a:buFont typeface="+mj-lt"/>
              <a:buAutoNum type="arabicPeriod"/>
            </a:pPr>
            <a:r>
              <a:rPr lang="en-US" dirty="0"/>
              <a:t>It does not allow you to leave some members uninitialized and still initialize others that follow.</a:t>
            </a:r>
          </a:p>
          <a:p>
            <a:pPr lvl="1">
              <a:buFont typeface="+mj-lt"/>
              <a:buAutoNum type="arabicPeriod"/>
            </a:pPr>
            <a:r>
              <a:rPr lang="en-US" dirty="0"/>
              <a:t>It will not work on many compilers if the structure includes any objects, such as strings.</a:t>
            </a:r>
            <a:endParaRPr lang="en-US" dirty="0">
              <a:effectLst/>
            </a:endParaRPr>
          </a:p>
          <a:p>
            <a:r>
              <a:rPr lang="en-US" dirty="0"/>
              <a:t>In these cases, you can initialize structure member variables the same way you initialize class member variables - by using a constructor. </a:t>
            </a:r>
          </a:p>
          <a:p>
            <a:pPr algn="l"/>
            <a:endParaRPr lang="en-US" dirty="0">
              <a:effectLst/>
            </a:endParaRPr>
          </a:p>
          <a:p>
            <a:pPr lvl="1">
              <a:buFont typeface="+mj-lt"/>
              <a:buAutoNum type="arabicPeriod"/>
            </a:pPr>
            <a:endParaRPr lang="en-US" dirty="0"/>
          </a:p>
          <a:p>
            <a:pPr algn="l"/>
            <a:endParaRPr lang="en-US" dirty="0">
              <a:effectLst/>
            </a:endParaRPr>
          </a:p>
        </p:txBody>
      </p:sp>
    </p:spTree>
    <p:extLst>
      <p:ext uri="{BB962C8B-B14F-4D97-AF65-F5344CB8AC3E}">
        <p14:creationId xmlns:p14="http://schemas.microsoft.com/office/powerpoint/2010/main" val="2520118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ABC550-AE3F-E2A8-E2D7-F0B6B2A825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BC052-61EA-5B88-3559-7B2F2A591BC7}"/>
              </a:ext>
            </a:extLst>
          </p:cNvPr>
          <p:cNvSpPr>
            <a:spLocks noGrp="1"/>
          </p:cNvSpPr>
          <p:nvPr>
            <p:ph type="title"/>
          </p:nvPr>
        </p:nvSpPr>
        <p:spPr/>
        <p:txBody>
          <a:bodyPr/>
          <a:lstStyle/>
          <a:p>
            <a:r>
              <a:rPr lang="en-US" dirty="0"/>
              <a:t>Initializing a Structure</a:t>
            </a:r>
          </a:p>
        </p:txBody>
      </p:sp>
      <p:sp>
        <p:nvSpPr>
          <p:cNvPr id="3" name="Content Placeholder 2">
            <a:extLst>
              <a:ext uri="{FF2B5EF4-FFF2-40B4-BE49-F238E27FC236}">
                <a16:creationId xmlns:a16="http://schemas.microsoft.com/office/drawing/2014/main" id="{F3C98A88-0847-03E0-EB08-8077A08F743C}"/>
              </a:ext>
            </a:extLst>
          </p:cNvPr>
          <p:cNvSpPr>
            <a:spLocks noGrp="1"/>
          </p:cNvSpPr>
          <p:nvPr>
            <p:ph idx="1"/>
          </p:nvPr>
        </p:nvSpPr>
        <p:spPr/>
        <p:txBody>
          <a:bodyPr>
            <a:normAutofit/>
          </a:bodyPr>
          <a:lstStyle/>
          <a:p>
            <a:pPr algn="l"/>
            <a:r>
              <a:rPr lang="en-US" dirty="0"/>
              <a:t>As with a class constructor, a constructor for a structure must be a public member function with the same name as the structure and no return type. </a:t>
            </a:r>
          </a:p>
          <a:p>
            <a:pPr algn="l"/>
            <a:r>
              <a:rPr lang="en-US" dirty="0"/>
              <a:t>Because all structure members are public by default, however, the key word public does not need to be used. </a:t>
            </a:r>
          </a:p>
        </p:txBody>
      </p:sp>
    </p:spTree>
    <p:extLst>
      <p:ext uri="{BB962C8B-B14F-4D97-AF65-F5344CB8AC3E}">
        <p14:creationId xmlns:p14="http://schemas.microsoft.com/office/powerpoint/2010/main" val="555407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033C0-B2EC-C7C3-AB5B-3A9CB8CA4F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37722A-28C0-65A9-EEFD-D24C304C52AB}"/>
              </a:ext>
            </a:extLst>
          </p:cNvPr>
          <p:cNvSpPr>
            <a:spLocks noGrp="1"/>
          </p:cNvSpPr>
          <p:nvPr>
            <p:ph type="title"/>
          </p:nvPr>
        </p:nvSpPr>
        <p:spPr/>
        <p:txBody>
          <a:bodyPr/>
          <a:lstStyle/>
          <a:p>
            <a:r>
              <a:rPr lang="en-US" dirty="0"/>
              <a:t>Initializing a Structure</a:t>
            </a:r>
          </a:p>
        </p:txBody>
      </p:sp>
      <p:sp>
        <p:nvSpPr>
          <p:cNvPr id="3" name="Content Placeholder 2">
            <a:extLst>
              <a:ext uri="{FF2B5EF4-FFF2-40B4-BE49-F238E27FC236}">
                <a16:creationId xmlns:a16="http://schemas.microsoft.com/office/drawing/2014/main" id="{97A0A884-EDDE-2F54-1428-0E3FF95F4C99}"/>
              </a:ext>
            </a:extLst>
          </p:cNvPr>
          <p:cNvSpPr>
            <a:spLocks noGrp="1"/>
          </p:cNvSpPr>
          <p:nvPr>
            <p:ph idx="1"/>
          </p:nvPr>
        </p:nvSpPr>
        <p:spPr/>
        <p:txBody>
          <a:bodyPr>
            <a:normAutofit/>
          </a:bodyPr>
          <a:lstStyle/>
          <a:p>
            <a:r>
              <a:rPr lang="en-US" dirty="0"/>
              <a:t>Here is a structure declaration for a structure named Employee. It includes a two-argument constructor that provides default values in case an Employee variable is created without passing any arguments to the constructor.</a:t>
            </a:r>
            <a:endParaRPr lang="en-US" dirty="0">
              <a:effectLst/>
            </a:endParaRPr>
          </a:p>
          <a:p>
            <a:pPr algn="l"/>
            <a:endParaRPr lang="en-US" dirty="0"/>
          </a:p>
        </p:txBody>
      </p:sp>
      <p:pic>
        <p:nvPicPr>
          <p:cNvPr id="4" name="Picture 3">
            <a:extLst>
              <a:ext uri="{FF2B5EF4-FFF2-40B4-BE49-F238E27FC236}">
                <a16:creationId xmlns:a16="http://schemas.microsoft.com/office/drawing/2014/main" id="{5FA4D024-E32E-75D3-6D7E-5660153EED4B}"/>
              </a:ext>
            </a:extLst>
          </p:cNvPr>
          <p:cNvPicPr>
            <a:picLocks noChangeAspect="1"/>
          </p:cNvPicPr>
          <p:nvPr/>
        </p:nvPicPr>
        <p:blipFill>
          <a:blip r:embed="rId2"/>
          <a:stretch>
            <a:fillRect/>
          </a:stretch>
        </p:blipFill>
        <p:spPr>
          <a:xfrm>
            <a:off x="3228900" y="3753395"/>
            <a:ext cx="5734200" cy="2895600"/>
          </a:xfrm>
          <a:prstGeom prst="rect">
            <a:avLst/>
          </a:prstGeom>
        </p:spPr>
      </p:pic>
    </p:spTree>
    <p:extLst>
      <p:ext uri="{BB962C8B-B14F-4D97-AF65-F5344CB8AC3E}">
        <p14:creationId xmlns:p14="http://schemas.microsoft.com/office/powerpoint/2010/main" val="1442353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2BF39-5F22-EEB9-643A-7FDFBE15D8B1}"/>
              </a:ext>
            </a:extLst>
          </p:cNvPr>
          <p:cNvSpPr>
            <a:spLocks noGrp="1"/>
          </p:cNvSpPr>
          <p:nvPr>
            <p:ph type="title"/>
          </p:nvPr>
        </p:nvSpPr>
        <p:spPr/>
        <p:txBody>
          <a:bodyPr/>
          <a:lstStyle/>
          <a:p>
            <a:r>
              <a:rPr lang="en-US" dirty="0"/>
              <a:t>Nested Structures</a:t>
            </a:r>
          </a:p>
        </p:txBody>
      </p:sp>
      <p:sp>
        <p:nvSpPr>
          <p:cNvPr id="3" name="Content Placeholder 2">
            <a:extLst>
              <a:ext uri="{FF2B5EF4-FFF2-40B4-BE49-F238E27FC236}">
                <a16:creationId xmlns:a16="http://schemas.microsoft.com/office/drawing/2014/main" id="{F9D9CBE3-B88F-3065-501F-336C91EC2959}"/>
              </a:ext>
            </a:extLst>
          </p:cNvPr>
          <p:cNvSpPr>
            <a:spLocks noGrp="1"/>
          </p:cNvSpPr>
          <p:nvPr>
            <p:ph idx="1"/>
          </p:nvPr>
        </p:nvSpPr>
        <p:spPr/>
        <p:txBody>
          <a:bodyPr/>
          <a:lstStyle/>
          <a:p>
            <a:r>
              <a:rPr lang="en-US" b="1" dirty="0"/>
              <a:t>Just as objects of one class can be nested within another class, instances of one structure can be nested within another structure. </a:t>
            </a:r>
            <a:r>
              <a:rPr lang="en-US" dirty="0"/>
              <a:t>F</a:t>
            </a:r>
            <a:r>
              <a:rPr lang="en-US" dirty="0">
                <a:effectLst/>
              </a:rPr>
              <a:t>or example, consider the following declarations:</a:t>
            </a:r>
          </a:p>
          <a:p>
            <a:endParaRPr lang="en-US" b="1" dirty="0"/>
          </a:p>
        </p:txBody>
      </p:sp>
      <p:pic>
        <p:nvPicPr>
          <p:cNvPr id="4" name="Picture 3">
            <a:extLst>
              <a:ext uri="{FF2B5EF4-FFF2-40B4-BE49-F238E27FC236}">
                <a16:creationId xmlns:a16="http://schemas.microsoft.com/office/drawing/2014/main" id="{6D80CAF8-14DD-17C0-C200-27C9955A5F77}"/>
              </a:ext>
            </a:extLst>
          </p:cNvPr>
          <p:cNvPicPr>
            <a:picLocks noChangeAspect="1"/>
          </p:cNvPicPr>
          <p:nvPr/>
        </p:nvPicPr>
        <p:blipFill>
          <a:blip r:embed="rId2"/>
          <a:stretch>
            <a:fillRect/>
          </a:stretch>
        </p:blipFill>
        <p:spPr>
          <a:xfrm>
            <a:off x="4705350" y="3305175"/>
            <a:ext cx="2781300" cy="3187700"/>
          </a:xfrm>
          <a:prstGeom prst="rect">
            <a:avLst/>
          </a:prstGeom>
        </p:spPr>
      </p:pic>
    </p:spTree>
    <p:extLst>
      <p:ext uri="{BB962C8B-B14F-4D97-AF65-F5344CB8AC3E}">
        <p14:creationId xmlns:p14="http://schemas.microsoft.com/office/powerpoint/2010/main" val="3819539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2B3EA-3954-40D9-7D52-1B82D2531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B306D0-82AB-2181-8BC6-723DCDEEDC17}"/>
              </a:ext>
            </a:extLst>
          </p:cNvPr>
          <p:cNvSpPr>
            <a:spLocks noGrp="1"/>
          </p:cNvSpPr>
          <p:nvPr>
            <p:ph type="title"/>
          </p:nvPr>
        </p:nvSpPr>
        <p:spPr/>
        <p:txBody>
          <a:bodyPr/>
          <a:lstStyle/>
          <a:p>
            <a:r>
              <a:rPr lang="en-US" dirty="0"/>
              <a:t>Nested Structures</a:t>
            </a:r>
          </a:p>
        </p:txBody>
      </p:sp>
      <p:sp>
        <p:nvSpPr>
          <p:cNvPr id="3" name="Content Placeholder 2">
            <a:extLst>
              <a:ext uri="{FF2B5EF4-FFF2-40B4-BE49-F238E27FC236}">
                <a16:creationId xmlns:a16="http://schemas.microsoft.com/office/drawing/2014/main" id="{99254B9F-45E5-4624-576F-04C664E0F89B}"/>
              </a:ext>
            </a:extLst>
          </p:cNvPr>
          <p:cNvSpPr>
            <a:spLocks noGrp="1"/>
          </p:cNvSpPr>
          <p:nvPr>
            <p:ph idx="1"/>
          </p:nvPr>
        </p:nvSpPr>
        <p:spPr/>
        <p:txBody>
          <a:bodyPr/>
          <a:lstStyle/>
          <a:p>
            <a:r>
              <a:rPr lang="en-US" dirty="0"/>
              <a:t>The Costs structure has two double members, wholesale and retail. </a:t>
            </a:r>
          </a:p>
          <a:p>
            <a:r>
              <a:rPr lang="en-US" dirty="0"/>
              <a:t>The Item structure has three members. </a:t>
            </a:r>
          </a:p>
          <a:p>
            <a:pPr lvl="1"/>
            <a:r>
              <a:rPr lang="en-US" dirty="0"/>
              <a:t>The first two, </a:t>
            </a:r>
            <a:r>
              <a:rPr lang="en-US" dirty="0" err="1"/>
              <a:t>partNum</a:t>
            </a:r>
            <a:r>
              <a:rPr lang="en-US" dirty="0"/>
              <a:t> and description, are string objects. </a:t>
            </a:r>
          </a:p>
          <a:p>
            <a:pPr lvl="1"/>
            <a:r>
              <a:rPr lang="en-US" dirty="0"/>
              <a:t>The third, pricing, is a nested Costs structure. </a:t>
            </a:r>
            <a:endParaRPr lang="en-US" b="1" dirty="0"/>
          </a:p>
        </p:txBody>
      </p:sp>
      <p:pic>
        <p:nvPicPr>
          <p:cNvPr id="5" name="Picture 4">
            <a:extLst>
              <a:ext uri="{FF2B5EF4-FFF2-40B4-BE49-F238E27FC236}">
                <a16:creationId xmlns:a16="http://schemas.microsoft.com/office/drawing/2014/main" id="{7E657868-7CDA-1EA5-4780-55649A864671}"/>
              </a:ext>
            </a:extLst>
          </p:cNvPr>
          <p:cNvPicPr>
            <a:picLocks noChangeAspect="1"/>
          </p:cNvPicPr>
          <p:nvPr/>
        </p:nvPicPr>
        <p:blipFill>
          <a:blip r:embed="rId2"/>
          <a:stretch>
            <a:fillRect/>
          </a:stretch>
        </p:blipFill>
        <p:spPr>
          <a:xfrm>
            <a:off x="5855789" y="4383496"/>
            <a:ext cx="3302000" cy="1435100"/>
          </a:xfrm>
          <a:prstGeom prst="rect">
            <a:avLst/>
          </a:prstGeom>
        </p:spPr>
      </p:pic>
      <p:sp>
        <p:nvSpPr>
          <p:cNvPr id="6" name="TextBox 5">
            <a:extLst>
              <a:ext uri="{FF2B5EF4-FFF2-40B4-BE49-F238E27FC236}">
                <a16:creationId xmlns:a16="http://schemas.microsoft.com/office/drawing/2014/main" id="{5E73C578-B792-92F1-D7FD-691E64FD7D8E}"/>
              </a:ext>
            </a:extLst>
          </p:cNvPr>
          <p:cNvSpPr txBox="1"/>
          <p:nvPr/>
        </p:nvSpPr>
        <p:spPr>
          <a:xfrm>
            <a:off x="1181402" y="4916380"/>
            <a:ext cx="4331186" cy="369332"/>
          </a:xfrm>
          <a:prstGeom prst="rect">
            <a:avLst/>
          </a:prstGeom>
          <a:noFill/>
        </p:spPr>
        <p:txBody>
          <a:bodyPr wrap="none" rtlCol="0">
            <a:spAutoFit/>
          </a:bodyPr>
          <a:lstStyle/>
          <a:p>
            <a:r>
              <a:rPr lang="en-US" dirty="0"/>
              <a:t>If widget is defined to be an Item structure</a:t>
            </a:r>
          </a:p>
        </p:txBody>
      </p:sp>
    </p:spTree>
    <p:extLst>
      <p:ext uri="{BB962C8B-B14F-4D97-AF65-F5344CB8AC3E}">
        <p14:creationId xmlns:p14="http://schemas.microsoft.com/office/powerpoint/2010/main" val="4867024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DFDE6-DB4F-6C08-4281-6743EB46F5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95ACAF-6D6C-3804-B71F-F56B86475D9B}"/>
              </a:ext>
            </a:extLst>
          </p:cNvPr>
          <p:cNvSpPr>
            <a:spLocks noGrp="1"/>
          </p:cNvSpPr>
          <p:nvPr>
            <p:ph type="title"/>
          </p:nvPr>
        </p:nvSpPr>
        <p:spPr/>
        <p:txBody>
          <a:bodyPr/>
          <a:lstStyle/>
          <a:p>
            <a:r>
              <a:rPr lang="en-US" dirty="0"/>
              <a:t>Nested Structures</a:t>
            </a:r>
          </a:p>
        </p:txBody>
      </p:sp>
      <p:sp>
        <p:nvSpPr>
          <p:cNvPr id="3" name="Content Placeholder 2">
            <a:extLst>
              <a:ext uri="{FF2B5EF4-FFF2-40B4-BE49-F238E27FC236}">
                <a16:creationId xmlns:a16="http://schemas.microsoft.com/office/drawing/2014/main" id="{3B5CC9C3-91BC-BCDD-B19B-22946D7D6E7B}"/>
              </a:ext>
            </a:extLst>
          </p:cNvPr>
          <p:cNvSpPr>
            <a:spLocks noGrp="1"/>
          </p:cNvSpPr>
          <p:nvPr>
            <p:ph idx="1"/>
          </p:nvPr>
        </p:nvSpPr>
        <p:spPr>
          <a:xfrm>
            <a:off x="838200" y="1825625"/>
            <a:ext cx="10515600" cy="4667250"/>
          </a:xfrm>
        </p:spPr>
        <p:txBody>
          <a:bodyPr>
            <a:normAutofit fontScale="92500" lnSpcReduction="20000"/>
          </a:bodyPr>
          <a:lstStyle/>
          <a:p>
            <a:r>
              <a:rPr lang="en-US" b="1" i="1" dirty="0"/>
              <a:t>Widget</a:t>
            </a:r>
            <a:r>
              <a:rPr lang="en-US" i="1" dirty="0">
                <a:solidFill>
                  <a:srgbClr val="FF0000"/>
                </a:solidFill>
              </a:rPr>
              <a:t> </a:t>
            </a:r>
            <a:r>
              <a:rPr lang="en-US" dirty="0"/>
              <a:t>can be accessed as follows:</a:t>
            </a:r>
          </a:p>
          <a:p>
            <a:pPr lvl="1"/>
            <a:r>
              <a:rPr lang="en-US" i="1" dirty="0" err="1">
                <a:solidFill>
                  <a:srgbClr val="FF0000"/>
                </a:solidFill>
              </a:rPr>
              <a:t>widget.partnum</a:t>
            </a:r>
            <a:r>
              <a:rPr lang="en-US" i="1" dirty="0">
                <a:solidFill>
                  <a:srgbClr val="FF0000"/>
                </a:solidFill>
              </a:rPr>
              <a:t> = </a:t>
            </a:r>
            <a:r>
              <a:rPr lang="en-US" i="1" dirty="0">
                <a:solidFill>
                  <a:srgbClr val="FF0000"/>
                </a:solidFill>
                <a:effectLst/>
              </a:rPr>
              <a:t>"123A"</a:t>
            </a:r>
            <a:r>
              <a:rPr lang="en-US" i="1" dirty="0">
                <a:solidFill>
                  <a:srgbClr val="FF0000"/>
                </a:solidFill>
              </a:rPr>
              <a:t>; </a:t>
            </a:r>
          </a:p>
          <a:p>
            <a:pPr lvl="1"/>
            <a:r>
              <a:rPr lang="en-US" i="1" dirty="0" err="1">
                <a:solidFill>
                  <a:srgbClr val="FF0000"/>
                </a:solidFill>
              </a:rPr>
              <a:t>widget.description</a:t>
            </a:r>
            <a:r>
              <a:rPr lang="en-US" i="1" dirty="0">
                <a:solidFill>
                  <a:srgbClr val="FF0000"/>
                </a:solidFill>
              </a:rPr>
              <a:t> = </a:t>
            </a:r>
            <a:r>
              <a:rPr lang="en-US" i="1" dirty="0">
                <a:solidFill>
                  <a:srgbClr val="FF0000"/>
                </a:solidFill>
                <a:effectLst/>
              </a:rPr>
              <a:t>"iron widget"</a:t>
            </a:r>
            <a:r>
              <a:rPr lang="en-US" i="1" dirty="0">
                <a:solidFill>
                  <a:srgbClr val="FF0000"/>
                </a:solidFill>
              </a:rPr>
              <a:t>; </a:t>
            </a:r>
          </a:p>
          <a:p>
            <a:pPr lvl="1"/>
            <a:r>
              <a:rPr lang="en-US" i="1" dirty="0" err="1">
                <a:solidFill>
                  <a:srgbClr val="FF0000"/>
                </a:solidFill>
              </a:rPr>
              <a:t>widget.pricing.wholesale</a:t>
            </a:r>
            <a:r>
              <a:rPr lang="en-US" i="1" dirty="0">
                <a:solidFill>
                  <a:srgbClr val="FF0000"/>
                </a:solidFill>
              </a:rPr>
              <a:t> = </a:t>
            </a:r>
            <a:r>
              <a:rPr lang="en-US" i="1" dirty="0">
                <a:solidFill>
                  <a:srgbClr val="FF0000"/>
                </a:solidFill>
                <a:effectLst/>
              </a:rPr>
              <a:t>100.0</a:t>
            </a:r>
            <a:r>
              <a:rPr lang="en-US" i="1" dirty="0">
                <a:solidFill>
                  <a:srgbClr val="FF0000"/>
                </a:solidFill>
              </a:rPr>
              <a:t>; </a:t>
            </a:r>
          </a:p>
          <a:p>
            <a:pPr lvl="1"/>
            <a:r>
              <a:rPr lang="en-US" i="1" dirty="0" err="1">
                <a:solidFill>
                  <a:srgbClr val="FF0000"/>
                </a:solidFill>
              </a:rPr>
              <a:t>widget.pricing.retail</a:t>
            </a:r>
            <a:r>
              <a:rPr lang="en-US" i="1" dirty="0">
                <a:solidFill>
                  <a:srgbClr val="FF0000"/>
                </a:solidFill>
              </a:rPr>
              <a:t> = </a:t>
            </a:r>
            <a:r>
              <a:rPr lang="en-US" i="1" dirty="0">
                <a:solidFill>
                  <a:srgbClr val="FF0000"/>
                </a:solidFill>
                <a:effectLst/>
              </a:rPr>
              <a:t>150.0</a:t>
            </a:r>
            <a:r>
              <a:rPr lang="en-US" i="1" dirty="0">
                <a:solidFill>
                  <a:srgbClr val="FF0000"/>
                </a:solidFill>
              </a:rPr>
              <a:t>; </a:t>
            </a:r>
            <a:endParaRPr lang="en-US" b="1" i="1" dirty="0">
              <a:solidFill>
                <a:srgbClr val="FF0000"/>
              </a:solidFill>
            </a:endParaRPr>
          </a:p>
          <a:p>
            <a:pPr marL="0" indent="0">
              <a:buNone/>
            </a:pPr>
            <a:endParaRPr lang="en-US" dirty="0"/>
          </a:p>
          <a:p>
            <a:r>
              <a:rPr lang="en-US" dirty="0"/>
              <a:t>Notice that wholesale and retail are not members of widget; pricing is.</a:t>
            </a:r>
          </a:p>
          <a:p>
            <a:r>
              <a:rPr lang="en-US" dirty="0"/>
              <a:t>To access wholesale and retail, widget’s pricing member must first be accessed and then, because it is a Costs structure, its wholesale and retail members can be accessed. </a:t>
            </a:r>
          </a:p>
          <a:p>
            <a:r>
              <a:rPr lang="en-US" dirty="0"/>
              <a:t>Notice also, as with all structures, it is the </a:t>
            </a:r>
            <a:r>
              <a:rPr lang="en-US" dirty="0">
                <a:hlinkClick r:id="rId2"/>
              </a:rPr>
              <a:t>member</a:t>
            </a:r>
            <a:r>
              <a:rPr lang="en-US" dirty="0"/>
              <a:t> name, not the structure name, that must be used in accessing a member. The following statements would not be legal</a:t>
            </a:r>
          </a:p>
        </p:txBody>
      </p:sp>
      <p:pic>
        <p:nvPicPr>
          <p:cNvPr id="5" name="Picture 4">
            <a:extLst>
              <a:ext uri="{FF2B5EF4-FFF2-40B4-BE49-F238E27FC236}">
                <a16:creationId xmlns:a16="http://schemas.microsoft.com/office/drawing/2014/main" id="{2D09B170-DB22-B39C-DEFB-98A72A44E254}"/>
              </a:ext>
            </a:extLst>
          </p:cNvPr>
          <p:cNvPicPr>
            <a:picLocks noChangeAspect="1"/>
          </p:cNvPicPr>
          <p:nvPr/>
        </p:nvPicPr>
        <p:blipFill>
          <a:blip r:embed="rId3"/>
          <a:stretch>
            <a:fillRect/>
          </a:stretch>
        </p:blipFill>
        <p:spPr>
          <a:xfrm>
            <a:off x="7919720" y="543016"/>
            <a:ext cx="3302000" cy="1435100"/>
          </a:xfrm>
          <a:prstGeom prst="rect">
            <a:avLst/>
          </a:prstGeom>
        </p:spPr>
      </p:pic>
      <p:pic>
        <p:nvPicPr>
          <p:cNvPr id="4" name="Picture 3">
            <a:extLst>
              <a:ext uri="{FF2B5EF4-FFF2-40B4-BE49-F238E27FC236}">
                <a16:creationId xmlns:a16="http://schemas.microsoft.com/office/drawing/2014/main" id="{9DDDB65C-B0CB-1627-5C78-56B28CAE436D}"/>
              </a:ext>
            </a:extLst>
          </p:cNvPr>
          <p:cNvPicPr>
            <a:picLocks noChangeAspect="1"/>
          </p:cNvPicPr>
          <p:nvPr/>
        </p:nvPicPr>
        <p:blipFill>
          <a:blip r:embed="rId4"/>
          <a:stretch>
            <a:fillRect/>
          </a:stretch>
        </p:blipFill>
        <p:spPr>
          <a:xfrm>
            <a:off x="7126695" y="5865812"/>
            <a:ext cx="4330700" cy="762000"/>
          </a:xfrm>
          <a:prstGeom prst="rect">
            <a:avLst/>
          </a:prstGeom>
        </p:spPr>
      </p:pic>
    </p:spTree>
    <p:extLst>
      <p:ext uri="{BB962C8B-B14F-4D97-AF65-F5344CB8AC3E}">
        <p14:creationId xmlns:p14="http://schemas.microsoft.com/office/powerpoint/2010/main" val="3706208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3F848-2975-F92E-9974-1DE4565314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91F4FB-035C-A93A-A5BE-0B09B105460F}"/>
              </a:ext>
            </a:extLst>
          </p:cNvPr>
          <p:cNvSpPr>
            <a:spLocks noGrp="1"/>
          </p:cNvSpPr>
          <p:nvPr>
            <p:ph type="title"/>
          </p:nvPr>
        </p:nvSpPr>
        <p:spPr/>
        <p:txBody>
          <a:bodyPr/>
          <a:lstStyle/>
          <a:p>
            <a:r>
              <a:rPr lang="en-US" dirty="0"/>
              <a:t>Nested Structures</a:t>
            </a:r>
          </a:p>
        </p:txBody>
      </p:sp>
      <p:sp>
        <p:nvSpPr>
          <p:cNvPr id="3" name="Content Placeholder 2">
            <a:extLst>
              <a:ext uri="{FF2B5EF4-FFF2-40B4-BE49-F238E27FC236}">
                <a16:creationId xmlns:a16="http://schemas.microsoft.com/office/drawing/2014/main" id="{66865442-1B77-DC6A-86D1-CE58BC7F30A0}"/>
              </a:ext>
            </a:extLst>
          </p:cNvPr>
          <p:cNvSpPr>
            <a:spLocks noGrp="1"/>
          </p:cNvSpPr>
          <p:nvPr>
            <p:ph idx="1"/>
          </p:nvPr>
        </p:nvSpPr>
        <p:spPr>
          <a:xfrm>
            <a:off x="838200" y="1825625"/>
            <a:ext cx="10515600" cy="4667250"/>
          </a:xfrm>
        </p:spPr>
        <p:txBody>
          <a:bodyPr>
            <a:normAutofit/>
          </a:bodyPr>
          <a:lstStyle/>
          <a:p>
            <a:r>
              <a:rPr lang="en-US" dirty="0"/>
              <a:t>When you are deciding whether or not to use nested structures, think about how various members are related. </a:t>
            </a:r>
          </a:p>
          <a:p>
            <a:r>
              <a:rPr lang="en-US" dirty="0"/>
              <a:t>A structure bundles together items that logically belong together.</a:t>
            </a:r>
          </a:p>
          <a:p>
            <a:r>
              <a:rPr lang="en-US" dirty="0"/>
              <a:t>Normally the members of a structure are attributes describing some object. </a:t>
            </a:r>
          </a:p>
          <a:p>
            <a:r>
              <a:rPr lang="en-US" dirty="0"/>
              <a:t>In our example, the object was a widget, and its part number, description, and wholesale and retail prices were its attributes.</a:t>
            </a:r>
          </a:p>
          <a:p>
            <a:r>
              <a:rPr lang="en-US" dirty="0"/>
              <a:t>When some of the attributes are related and form a logical subgroup of the object’s attributes, it makes sense to bundle them together and use a nested structure.</a:t>
            </a:r>
          </a:p>
        </p:txBody>
      </p:sp>
    </p:spTree>
    <p:extLst>
      <p:ext uri="{BB962C8B-B14F-4D97-AF65-F5344CB8AC3E}">
        <p14:creationId xmlns:p14="http://schemas.microsoft.com/office/powerpoint/2010/main" val="16480276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777E0-FBB9-BBA7-55B8-B1D5D0CC5E96}"/>
              </a:ext>
            </a:extLst>
          </p:cNvPr>
          <p:cNvSpPr>
            <a:spLocks noGrp="1"/>
          </p:cNvSpPr>
          <p:nvPr>
            <p:ph type="title"/>
          </p:nvPr>
        </p:nvSpPr>
        <p:spPr>
          <a:xfrm>
            <a:off x="4336867" y="-288018"/>
            <a:ext cx="2281647" cy="1325563"/>
          </a:xfrm>
        </p:spPr>
        <p:txBody>
          <a:bodyPr/>
          <a:lstStyle/>
          <a:p>
            <a:r>
              <a:rPr lang="en-US" dirty="0"/>
              <a:t>Example</a:t>
            </a:r>
          </a:p>
        </p:txBody>
      </p:sp>
      <p:pic>
        <p:nvPicPr>
          <p:cNvPr id="4" name="Picture 3">
            <a:extLst>
              <a:ext uri="{FF2B5EF4-FFF2-40B4-BE49-F238E27FC236}">
                <a16:creationId xmlns:a16="http://schemas.microsoft.com/office/drawing/2014/main" id="{233F5463-526C-9694-9A64-528FE3BE1DA1}"/>
              </a:ext>
            </a:extLst>
          </p:cNvPr>
          <p:cNvPicPr>
            <a:picLocks noChangeAspect="1"/>
          </p:cNvPicPr>
          <p:nvPr/>
        </p:nvPicPr>
        <p:blipFill>
          <a:blip r:embed="rId2"/>
          <a:stretch>
            <a:fillRect/>
          </a:stretch>
        </p:blipFill>
        <p:spPr>
          <a:xfrm>
            <a:off x="1002174" y="792480"/>
            <a:ext cx="4624113" cy="6065520"/>
          </a:xfrm>
          <a:prstGeom prst="rect">
            <a:avLst/>
          </a:prstGeom>
        </p:spPr>
      </p:pic>
      <p:pic>
        <p:nvPicPr>
          <p:cNvPr id="5" name="Picture 4">
            <a:extLst>
              <a:ext uri="{FF2B5EF4-FFF2-40B4-BE49-F238E27FC236}">
                <a16:creationId xmlns:a16="http://schemas.microsoft.com/office/drawing/2014/main" id="{E195F770-F299-CD64-6802-2EB3E4AEB04F}"/>
              </a:ext>
            </a:extLst>
          </p:cNvPr>
          <p:cNvPicPr>
            <a:picLocks noChangeAspect="1"/>
          </p:cNvPicPr>
          <p:nvPr/>
        </p:nvPicPr>
        <p:blipFill>
          <a:blip r:embed="rId3"/>
          <a:stretch>
            <a:fillRect/>
          </a:stretch>
        </p:blipFill>
        <p:spPr>
          <a:xfrm>
            <a:off x="6278880" y="796137"/>
            <a:ext cx="4624113" cy="6061863"/>
          </a:xfrm>
          <a:prstGeom prst="rect">
            <a:avLst/>
          </a:prstGeom>
        </p:spPr>
      </p:pic>
    </p:spTree>
    <p:extLst>
      <p:ext uri="{BB962C8B-B14F-4D97-AF65-F5344CB8AC3E}">
        <p14:creationId xmlns:p14="http://schemas.microsoft.com/office/powerpoint/2010/main" val="41184226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E07F9-F405-EA03-BE8F-407F3363D590}"/>
              </a:ext>
            </a:extLst>
          </p:cNvPr>
          <p:cNvSpPr>
            <a:spLocks noGrp="1"/>
          </p:cNvSpPr>
          <p:nvPr>
            <p:ph type="title"/>
          </p:nvPr>
        </p:nvSpPr>
        <p:spPr/>
        <p:txBody>
          <a:bodyPr/>
          <a:lstStyle/>
          <a:p>
            <a:r>
              <a:rPr lang="en-US" dirty="0"/>
              <a:t>Passing Structures to Functions</a:t>
            </a:r>
          </a:p>
        </p:txBody>
      </p:sp>
      <p:sp>
        <p:nvSpPr>
          <p:cNvPr id="3" name="Content Placeholder 2">
            <a:extLst>
              <a:ext uri="{FF2B5EF4-FFF2-40B4-BE49-F238E27FC236}">
                <a16:creationId xmlns:a16="http://schemas.microsoft.com/office/drawing/2014/main" id="{D39CAC4E-BD00-1561-9250-147FFB9F2268}"/>
              </a:ext>
            </a:extLst>
          </p:cNvPr>
          <p:cNvSpPr>
            <a:spLocks noGrp="1"/>
          </p:cNvSpPr>
          <p:nvPr>
            <p:ph idx="1"/>
          </p:nvPr>
        </p:nvSpPr>
        <p:spPr>
          <a:xfrm>
            <a:off x="838200" y="1825624"/>
            <a:ext cx="10515600" cy="4932227"/>
          </a:xfrm>
        </p:spPr>
        <p:txBody>
          <a:bodyPr>
            <a:normAutofit fontScale="92500" lnSpcReduction="10000"/>
          </a:bodyPr>
          <a:lstStyle/>
          <a:p>
            <a:r>
              <a:rPr lang="en-US" dirty="0"/>
              <a:t>Structure variables, just like class objects, can be passed to functions by value, by reference, and by constant reference. </a:t>
            </a:r>
          </a:p>
          <a:p>
            <a:r>
              <a:rPr lang="en-US" dirty="0"/>
              <a:t>By default, they are passed by value. </a:t>
            </a:r>
          </a:p>
          <a:p>
            <a:r>
              <a:rPr lang="en-US" dirty="0"/>
              <a:t>This means that a copy of the entire original structure is made and passed to the function. </a:t>
            </a:r>
          </a:p>
          <a:p>
            <a:r>
              <a:rPr lang="en-US" dirty="0"/>
              <a:t>Because it is not desirable to take the time to copy an entire structure, unless it is quite small, structures are normally passed to functions by reference. </a:t>
            </a:r>
          </a:p>
          <a:p>
            <a:r>
              <a:rPr lang="en-US" dirty="0"/>
              <a:t>This, however, gives the function access to the member variables of the original structure, allowing it to change them. </a:t>
            </a:r>
          </a:p>
          <a:p>
            <a:r>
              <a:rPr lang="en-US" dirty="0"/>
              <a:t>If you do not want a function to change any member variable values, the structure variable should be passed to it as a constant reference.</a:t>
            </a:r>
          </a:p>
        </p:txBody>
      </p:sp>
    </p:spTree>
    <p:extLst>
      <p:ext uri="{BB962C8B-B14F-4D97-AF65-F5344CB8AC3E}">
        <p14:creationId xmlns:p14="http://schemas.microsoft.com/office/powerpoint/2010/main" val="5049188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02DE7-A2A0-03B0-41E5-1B0E22B9FB43}"/>
              </a:ext>
            </a:extLst>
          </p:cNvPr>
          <p:cNvSpPr>
            <a:spLocks noGrp="1"/>
          </p:cNvSpPr>
          <p:nvPr>
            <p:ph type="title"/>
          </p:nvPr>
        </p:nvSpPr>
        <p:spPr/>
        <p:txBody>
          <a:bodyPr/>
          <a:lstStyle/>
          <a:p>
            <a:r>
              <a:rPr lang="en-US" dirty="0"/>
              <a:t>Example</a:t>
            </a:r>
          </a:p>
        </p:txBody>
      </p:sp>
      <p:pic>
        <p:nvPicPr>
          <p:cNvPr id="4" name="Picture 3">
            <a:extLst>
              <a:ext uri="{FF2B5EF4-FFF2-40B4-BE49-F238E27FC236}">
                <a16:creationId xmlns:a16="http://schemas.microsoft.com/office/drawing/2014/main" id="{267E9BC3-A90F-7C2F-AC7C-6CF94D3B3770}"/>
              </a:ext>
            </a:extLst>
          </p:cNvPr>
          <p:cNvPicPr>
            <a:picLocks noChangeAspect="1"/>
          </p:cNvPicPr>
          <p:nvPr/>
        </p:nvPicPr>
        <p:blipFill>
          <a:blip r:embed="rId3"/>
          <a:stretch>
            <a:fillRect/>
          </a:stretch>
        </p:blipFill>
        <p:spPr>
          <a:xfrm>
            <a:off x="269253" y="1497809"/>
            <a:ext cx="3832340" cy="4537231"/>
          </a:xfrm>
          <a:prstGeom prst="rect">
            <a:avLst/>
          </a:prstGeom>
        </p:spPr>
      </p:pic>
      <p:pic>
        <p:nvPicPr>
          <p:cNvPr id="5" name="Picture 4">
            <a:extLst>
              <a:ext uri="{FF2B5EF4-FFF2-40B4-BE49-F238E27FC236}">
                <a16:creationId xmlns:a16="http://schemas.microsoft.com/office/drawing/2014/main" id="{F944914B-209D-0B6C-AC39-BC61294099D8}"/>
              </a:ext>
            </a:extLst>
          </p:cNvPr>
          <p:cNvPicPr>
            <a:picLocks noChangeAspect="1"/>
          </p:cNvPicPr>
          <p:nvPr/>
        </p:nvPicPr>
        <p:blipFill>
          <a:blip r:embed="rId4"/>
          <a:stretch>
            <a:fillRect/>
          </a:stretch>
        </p:blipFill>
        <p:spPr>
          <a:xfrm>
            <a:off x="4278725" y="1497809"/>
            <a:ext cx="3868071" cy="4537231"/>
          </a:xfrm>
          <a:prstGeom prst="rect">
            <a:avLst/>
          </a:prstGeom>
        </p:spPr>
      </p:pic>
      <p:pic>
        <p:nvPicPr>
          <p:cNvPr id="6" name="Picture 5">
            <a:extLst>
              <a:ext uri="{FF2B5EF4-FFF2-40B4-BE49-F238E27FC236}">
                <a16:creationId xmlns:a16="http://schemas.microsoft.com/office/drawing/2014/main" id="{901134CC-B7CC-0B4B-1984-D6591A98232C}"/>
              </a:ext>
            </a:extLst>
          </p:cNvPr>
          <p:cNvPicPr>
            <a:picLocks noChangeAspect="1"/>
          </p:cNvPicPr>
          <p:nvPr/>
        </p:nvPicPr>
        <p:blipFill>
          <a:blip r:embed="rId5"/>
          <a:stretch>
            <a:fillRect/>
          </a:stretch>
        </p:blipFill>
        <p:spPr>
          <a:xfrm>
            <a:off x="8323929" y="1908403"/>
            <a:ext cx="3868071" cy="3948656"/>
          </a:xfrm>
          <a:prstGeom prst="rect">
            <a:avLst/>
          </a:prstGeom>
        </p:spPr>
      </p:pic>
    </p:spTree>
    <p:extLst>
      <p:ext uri="{BB962C8B-B14F-4D97-AF65-F5344CB8AC3E}">
        <p14:creationId xmlns:p14="http://schemas.microsoft.com/office/powerpoint/2010/main" val="13760835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C6F5A-D2E2-9CF0-C076-EFCAC3510983}"/>
              </a:ext>
            </a:extLst>
          </p:cNvPr>
          <p:cNvSpPr>
            <a:spLocks noGrp="1"/>
          </p:cNvSpPr>
          <p:nvPr>
            <p:ph type="title"/>
          </p:nvPr>
        </p:nvSpPr>
        <p:spPr/>
        <p:txBody>
          <a:bodyPr/>
          <a:lstStyle/>
          <a:p>
            <a:r>
              <a:rPr lang="en-US" dirty="0"/>
              <a:t>Returning a Structure from a Function</a:t>
            </a:r>
          </a:p>
        </p:txBody>
      </p:sp>
      <p:sp>
        <p:nvSpPr>
          <p:cNvPr id="3" name="Content Placeholder 2">
            <a:extLst>
              <a:ext uri="{FF2B5EF4-FFF2-40B4-BE49-F238E27FC236}">
                <a16:creationId xmlns:a16="http://schemas.microsoft.com/office/drawing/2014/main" id="{AD517292-F178-A6E2-27E8-3D3A2B40E748}"/>
              </a:ext>
            </a:extLst>
          </p:cNvPr>
          <p:cNvSpPr>
            <a:spLocks noGrp="1"/>
          </p:cNvSpPr>
          <p:nvPr>
            <p:ph idx="1"/>
          </p:nvPr>
        </p:nvSpPr>
        <p:spPr/>
        <p:txBody>
          <a:bodyPr/>
          <a:lstStyle/>
          <a:p>
            <a:pPr algn="l"/>
            <a:r>
              <a:rPr lang="en-US" dirty="0">
                <a:effectLst/>
              </a:rPr>
              <a:t>A structure variable can also be returned from a function. In this case the return type of the function is the name of the structure. </a:t>
            </a:r>
          </a:p>
          <a:p>
            <a:pPr algn="l"/>
            <a:r>
              <a:rPr lang="en-US" b="1" dirty="0">
                <a:effectLst/>
              </a:rPr>
              <a:t>In the previous example, </a:t>
            </a:r>
            <a:r>
              <a:rPr lang="en-US" dirty="0">
                <a:effectLst/>
              </a:rPr>
              <a:t>it</a:t>
            </a:r>
            <a:r>
              <a:rPr lang="en-US" b="1" dirty="0">
                <a:effectLst/>
              </a:rPr>
              <a:t> </a:t>
            </a:r>
            <a:r>
              <a:rPr lang="en-US" dirty="0">
                <a:effectLst/>
              </a:rPr>
              <a:t>could have been written to allow </a:t>
            </a:r>
          </a:p>
          <a:p>
            <a:pPr lvl="1"/>
            <a:r>
              <a:rPr lang="en-US" dirty="0">
                <a:effectLst/>
              </a:rPr>
              <a:t>the </a:t>
            </a:r>
            <a:r>
              <a:rPr lang="en-US" i="1" dirty="0" err="1">
                <a:solidFill>
                  <a:srgbClr val="FF0000"/>
                </a:solidFill>
                <a:effectLst/>
              </a:rPr>
              <a:t>getItemData</a:t>
            </a:r>
            <a:r>
              <a:rPr lang="en-US" dirty="0">
                <a:effectLst/>
              </a:rPr>
              <a:t> function to create a local instance of an </a:t>
            </a:r>
            <a:r>
              <a:rPr lang="en-US" dirty="0" err="1">
                <a:solidFill>
                  <a:srgbClr val="FF0000"/>
                </a:solidFill>
                <a:effectLst/>
              </a:rPr>
              <a:t>InvItem</a:t>
            </a:r>
            <a:r>
              <a:rPr lang="en-US" dirty="0">
                <a:solidFill>
                  <a:srgbClr val="FF0000"/>
                </a:solidFill>
                <a:effectLst/>
              </a:rPr>
              <a:t> </a:t>
            </a:r>
            <a:r>
              <a:rPr lang="en-US" dirty="0">
                <a:effectLst/>
              </a:rPr>
              <a:t>structure, </a:t>
            </a:r>
          </a:p>
          <a:p>
            <a:pPr lvl="1"/>
            <a:r>
              <a:rPr lang="en-US" dirty="0">
                <a:effectLst/>
              </a:rPr>
              <a:t>place data values into its member variables, and then pass it back to main, instead of receiving it from main as a reference variable. </a:t>
            </a:r>
            <a:endParaRPr lang="en-US" dirty="0"/>
          </a:p>
        </p:txBody>
      </p:sp>
    </p:spTree>
    <p:extLst>
      <p:ext uri="{BB962C8B-B14F-4D97-AF65-F5344CB8AC3E}">
        <p14:creationId xmlns:p14="http://schemas.microsoft.com/office/powerpoint/2010/main" val="26639562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A05C4-2CC0-71C9-C020-664E5B4F59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C0FAE6-8B55-7261-CF27-CBC49D68C3B0}"/>
              </a:ext>
            </a:extLst>
          </p:cNvPr>
          <p:cNvSpPr>
            <a:spLocks noGrp="1"/>
          </p:cNvSpPr>
          <p:nvPr>
            <p:ph type="title"/>
          </p:nvPr>
        </p:nvSpPr>
        <p:spPr/>
        <p:txBody>
          <a:bodyPr/>
          <a:lstStyle/>
          <a:p>
            <a:r>
              <a:rPr lang="en-US" dirty="0"/>
              <a:t>Returning a Structure from a Function</a:t>
            </a:r>
          </a:p>
        </p:txBody>
      </p:sp>
      <p:sp>
        <p:nvSpPr>
          <p:cNvPr id="3" name="Content Placeholder 2">
            <a:extLst>
              <a:ext uri="{FF2B5EF4-FFF2-40B4-BE49-F238E27FC236}">
                <a16:creationId xmlns:a16="http://schemas.microsoft.com/office/drawing/2014/main" id="{5BDFF7D1-A720-CEDE-1C2E-BF9139C89C4A}"/>
              </a:ext>
            </a:extLst>
          </p:cNvPr>
          <p:cNvSpPr>
            <a:spLocks noGrp="1"/>
          </p:cNvSpPr>
          <p:nvPr>
            <p:ph idx="1"/>
          </p:nvPr>
        </p:nvSpPr>
        <p:spPr>
          <a:xfrm>
            <a:off x="838200" y="2478768"/>
            <a:ext cx="4212771" cy="3277598"/>
          </a:xfrm>
        </p:spPr>
        <p:txBody>
          <a:bodyPr>
            <a:normAutofit/>
          </a:bodyPr>
          <a:lstStyle/>
          <a:p>
            <a:pPr lvl="1"/>
            <a:r>
              <a:rPr lang="en-US" dirty="0">
                <a:effectLst/>
              </a:rPr>
              <a:t>This is what the revised </a:t>
            </a:r>
            <a:r>
              <a:rPr lang="en-US" i="1" dirty="0" err="1">
                <a:solidFill>
                  <a:srgbClr val="FF0000"/>
                </a:solidFill>
                <a:effectLst/>
              </a:rPr>
              <a:t>getItemData</a:t>
            </a:r>
            <a:r>
              <a:rPr lang="en-US" dirty="0">
                <a:effectLst/>
              </a:rPr>
              <a:t> function would look like. </a:t>
            </a:r>
            <a:endParaRPr lang="en-US" dirty="0"/>
          </a:p>
          <a:p>
            <a:pPr lvl="1"/>
            <a:endParaRPr lang="en-US" dirty="0"/>
          </a:p>
          <a:p>
            <a:pPr lvl="1"/>
            <a:r>
              <a:rPr lang="en-US" dirty="0"/>
              <a:t>We can just call it in the main. </a:t>
            </a:r>
          </a:p>
          <a:p>
            <a:pPr lvl="2"/>
            <a:r>
              <a:rPr lang="en-US" i="1" dirty="0">
                <a:solidFill>
                  <a:srgbClr val="FF0000"/>
                </a:solidFill>
              </a:rPr>
              <a:t>part = </a:t>
            </a:r>
            <a:r>
              <a:rPr lang="en-US" i="1" dirty="0" err="1">
                <a:solidFill>
                  <a:srgbClr val="FF0000"/>
                </a:solidFill>
                <a:effectLst/>
              </a:rPr>
              <a:t>getItemData</a:t>
            </a:r>
            <a:r>
              <a:rPr lang="en-US" i="1" dirty="0">
                <a:solidFill>
                  <a:srgbClr val="FF0000"/>
                </a:solidFill>
              </a:rPr>
              <a:t>(); </a:t>
            </a:r>
            <a:endParaRPr lang="en-US" i="1" dirty="0">
              <a:solidFill>
                <a:srgbClr val="FF0000"/>
              </a:solidFill>
              <a:effectLst/>
            </a:endParaRPr>
          </a:p>
        </p:txBody>
      </p:sp>
      <p:pic>
        <p:nvPicPr>
          <p:cNvPr id="4" name="Picture 3">
            <a:extLst>
              <a:ext uri="{FF2B5EF4-FFF2-40B4-BE49-F238E27FC236}">
                <a16:creationId xmlns:a16="http://schemas.microsoft.com/office/drawing/2014/main" id="{EC9EDEBC-7CD6-CC3E-A042-654ED44861CE}"/>
              </a:ext>
            </a:extLst>
          </p:cNvPr>
          <p:cNvPicPr>
            <a:picLocks noChangeAspect="1"/>
          </p:cNvPicPr>
          <p:nvPr/>
        </p:nvPicPr>
        <p:blipFill>
          <a:blip r:embed="rId3"/>
          <a:stretch>
            <a:fillRect/>
          </a:stretch>
        </p:blipFill>
        <p:spPr>
          <a:xfrm>
            <a:off x="5904954" y="1621019"/>
            <a:ext cx="4952255" cy="4802187"/>
          </a:xfrm>
          <a:prstGeom prst="rect">
            <a:avLst/>
          </a:prstGeom>
        </p:spPr>
      </p:pic>
    </p:spTree>
    <p:extLst>
      <p:ext uri="{BB962C8B-B14F-4D97-AF65-F5344CB8AC3E}">
        <p14:creationId xmlns:p14="http://schemas.microsoft.com/office/powerpoint/2010/main" val="17047460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38FC5-A7CB-68CF-5962-B8FEB331423A}"/>
              </a:ext>
            </a:extLst>
          </p:cNvPr>
          <p:cNvSpPr>
            <a:spLocks noGrp="1"/>
          </p:cNvSpPr>
          <p:nvPr>
            <p:ph type="title"/>
          </p:nvPr>
        </p:nvSpPr>
        <p:spPr/>
        <p:txBody>
          <a:bodyPr/>
          <a:lstStyle/>
          <a:p>
            <a:r>
              <a:rPr lang="en-US" dirty="0"/>
              <a:t>Enumerated Data Types</a:t>
            </a:r>
          </a:p>
        </p:txBody>
      </p:sp>
      <p:sp>
        <p:nvSpPr>
          <p:cNvPr id="3" name="Content Placeholder 2">
            <a:extLst>
              <a:ext uri="{FF2B5EF4-FFF2-40B4-BE49-F238E27FC236}">
                <a16:creationId xmlns:a16="http://schemas.microsoft.com/office/drawing/2014/main" id="{30A21121-DBD9-CCA1-FF45-DCB00DBB52FE}"/>
              </a:ext>
            </a:extLst>
          </p:cNvPr>
          <p:cNvSpPr>
            <a:spLocks noGrp="1"/>
          </p:cNvSpPr>
          <p:nvPr>
            <p:ph idx="1"/>
          </p:nvPr>
        </p:nvSpPr>
        <p:spPr/>
        <p:txBody>
          <a:bodyPr>
            <a:normAutofit/>
          </a:bodyPr>
          <a:lstStyle/>
          <a:p>
            <a:r>
              <a:rPr lang="en-US" dirty="0"/>
              <a:t>An enumerated data type in C++ is a programmer-defined data type whose legal values are a set of named integer constants.</a:t>
            </a:r>
          </a:p>
          <a:p>
            <a:r>
              <a:rPr lang="en-US" dirty="0"/>
              <a:t>So far we have used data types that are built into the C++ language, such as int and double, and object types, like string, which are provided by C++ classes. </a:t>
            </a:r>
          </a:p>
          <a:p>
            <a:r>
              <a:rPr lang="en-US" dirty="0"/>
              <a:t>However, C++ also allows programmers to create their own data types. </a:t>
            </a:r>
          </a:p>
        </p:txBody>
      </p:sp>
    </p:spTree>
    <p:extLst>
      <p:ext uri="{BB962C8B-B14F-4D97-AF65-F5344CB8AC3E}">
        <p14:creationId xmlns:p14="http://schemas.microsoft.com/office/powerpoint/2010/main" val="20237756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C6895-A4CF-3211-1DD5-67A173F99B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8D2E89-E94A-4F61-88D6-2842653DA702}"/>
              </a:ext>
            </a:extLst>
          </p:cNvPr>
          <p:cNvSpPr>
            <a:spLocks noGrp="1"/>
          </p:cNvSpPr>
          <p:nvPr>
            <p:ph type="title"/>
          </p:nvPr>
        </p:nvSpPr>
        <p:spPr/>
        <p:txBody>
          <a:bodyPr/>
          <a:lstStyle/>
          <a:p>
            <a:r>
              <a:rPr lang="en-US" dirty="0"/>
              <a:t>Enumerated Data Types</a:t>
            </a:r>
          </a:p>
        </p:txBody>
      </p:sp>
      <p:sp>
        <p:nvSpPr>
          <p:cNvPr id="3" name="Content Placeholder 2">
            <a:extLst>
              <a:ext uri="{FF2B5EF4-FFF2-40B4-BE49-F238E27FC236}">
                <a16:creationId xmlns:a16="http://schemas.microsoft.com/office/drawing/2014/main" id="{824B329C-685F-840C-007C-354B37A92233}"/>
              </a:ext>
            </a:extLst>
          </p:cNvPr>
          <p:cNvSpPr>
            <a:spLocks noGrp="1"/>
          </p:cNvSpPr>
          <p:nvPr>
            <p:ph idx="1"/>
          </p:nvPr>
        </p:nvSpPr>
        <p:spPr/>
        <p:txBody>
          <a:bodyPr>
            <a:normAutofit/>
          </a:bodyPr>
          <a:lstStyle/>
          <a:p>
            <a:r>
              <a:rPr lang="en-US" b="1" dirty="0"/>
              <a:t>An </a:t>
            </a:r>
            <a:r>
              <a:rPr lang="en-US" b="1" dirty="0">
                <a:hlinkClick r:id="rId2">
                  <a:extLst>
                    <a:ext uri="{A12FA001-AC4F-418D-AE19-62706E023703}">
                      <ahyp:hlinkClr xmlns:ahyp="http://schemas.microsoft.com/office/drawing/2018/hyperlinkcolor" val="tx"/>
                    </a:ext>
                  </a:extLst>
                </a:hlinkClick>
              </a:rPr>
              <a:t>enumerated data type</a:t>
            </a:r>
            <a:r>
              <a:rPr lang="en-US" b="1" dirty="0"/>
              <a:t> is a programmer-defined data type whose only legal values are those associated with a set of named integer constants. </a:t>
            </a:r>
          </a:p>
          <a:p>
            <a:r>
              <a:rPr lang="en-US" dirty="0"/>
              <a:t>It is called an enumerated type because the named constants are enumerated, or listed, as part of the definition of the data type.</a:t>
            </a:r>
          </a:p>
          <a:p>
            <a:r>
              <a:rPr lang="en-US" dirty="0"/>
              <a:t>Here is an example of an enumerated-type declaration.</a:t>
            </a:r>
          </a:p>
          <a:p>
            <a:pPr lvl="1"/>
            <a:r>
              <a:rPr lang="en-US" b="1" i="1" dirty="0" err="1">
                <a:solidFill>
                  <a:srgbClr val="FF0000"/>
                </a:solidFill>
                <a:effectLst/>
              </a:rPr>
              <a:t>enum</a:t>
            </a:r>
            <a:r>
              <a:rPr lang="en-US" i="1" dirty="0">
                <a:solidFill>
                  <a:srgbClr val="FF0000"/>
                </a:solidFill>
              </a:rPr>
              <a:t> </a:t>
            </a:r>
            <a:r>
              <a:rPr lang="en-US" b="1" i="1" dirty="0">
                <a:solidFill>
                  <a:srgbClr val="FF0000"/>
                </a:solidFill>
                <a:effectLst/>
              </a:rPr>
              <a:t>Roster</a:t>
            </a:r>
            <a:r>
              <a:rPr lang="en-US" i="1" dirty="0">
                <a:solidFill>
                  <a:srgbClr val="FF0000"/>
                </a:solidFill>
              </a:rPr>
              <a:t> { Tom, Sharon, Bill, Teresa, John };</a:t>
            </a:r>
          </a:p>
          <a:p>
            <a:pPr lvl="1"/>
            <a:r>
              <a:rPr lang="en-US" dirty="0"/>
              <a:t>This creates a data type named Roster.</a:t>
            </a:r>
            <a:endParaRPr lang="en-US" i="1" dirty="0">
              <a:solidFill>
                <a:srgbClr val="FF0000"/>
              </a:solidFill>
            </a:endParaRPr>
          </a:p>
        </p:txBody>
      </p:sp>
    </p:spTree>
    <p:extLst>
      <p:ext uri="{BB962C8B-B14F-4D97-AF65-F5344CB8AC3E}">
        <p14:creationId xmlns:p14="http://schemas.microsoft.com/office/powerpoint/2010/main" val="28166955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FFF89-8F00-EC50-0F13-8F00618D49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242B69-70F1-99AB-8C39-7DC7B42F2876}"/>
              </a:ext>
            </a:extLst>
          </p:cNvPr>
          <p:cNvSpPr>
            <a:spLocks noGrp="1"/>
          </p:cNvSpPr>
          <p:nvPr>
            <p:ph type="title"/>
          </p:nvPr>
        </p:nvSpPr>
        <p:spPr/>
        <p:txBody>
          <a:bodyPr/>
          <a:lstStyle/>
          <a:p>
            <a:r>
              <a:rPr lang="en-US" dirty="0"/>
              <a:t>Enumerated Data Types</a:t>
            </a:r>
          </a:p>
        </p:txBody>
      </p:sp>
      <p:sp>
        <p:nvSpPr>
          <p:cNvPr id="3" name="Content Placeholder 2">
            <a:extLst>
              <a:ext uri="{FF2B5EF4-FFF2-40B4-BE49-F238E27FC236}">
                <a16:creationId xmlns:a16="http://schemas.microsoft.com/office/drawing/2014/main" id="{5A55A50E-AFAB-FA34-566B-B48E34835451}"/>
              </a:ext>
            </a:extLst>
          </p:cNvPr>
          <p:cNvSpPr>
            <a:spLocks noGrp="1"/>
          </p:cNvSpPr>
          <p:nvPr>
            <p:ph idx="1"/>
          </p:nvPr>
        </p:nvSpPr>
        <p:spPr>
          <a:xfrm>
            <a:off x="838200" y="1825624"/>
            <a:ext cx="10515600" cy="4758055"/>
          </a:xfrm>
        </p:spPr>
        <p:txBody>
          <a:bodyPr>
            <a:normAutofit fontScale="92500" lnSpcReduction="20000"/>
          </a:bodyPr>
          <a:lstStyle/>
          <a:p>
            <a:r>
              <a:rPr lang="en-US" dirty="0"/>
              <a:t>Because the word </a:t>
            </a:r>
            <a:r>
              <a:rPr lang="en-US" dirty="0" err="1"/>
              <a:t>enum</a:t>
            </a:r>
            <a:r>
              <a:rPr lang="en-US" dirty="0"/>
              <a:t> is a C++ key word, it must be in lowercase.</a:t>
            </a:r>
          </a:p>
          <a:p>
            <a:r>
              <a:rPr lang="en-US" dirty="0"/>
              <a:t>However, notice that the data type name itself begins with a capital letter. Although this is not required, most programmers do capitalize this name. </a:t>
            </a:r>
          </a:p>
          <a:p>
            <a:r>
              <a:rPr lang="en-US" dirty="0"/>
              <a:t>The named integer constants associated with the Roster data type are called </a:t>
            </a:r>
            <a:r>
              <a:rPr lang="en-US" dirty="0">
                <a:hlinkClick r:id="rId2"/>
              </a:rPr>
              <a:t>enumerators</a:t>
            </a:r>
            <a:r>
              <a:rPr lang="en-US" dirty="0"/>
              <a:t>. </a:t>
            </a:r>
          </a:p>
          <a:p>
            <a:r>
              <a:rPr lang="en-US" dirty="0"/>
              <a:t>A variable of the Roster data type may only have one of the values associated with these enumerators. But what are their values? </a:t>
            </a:r>
          </a:p>
          <a:p>
            <a:r>
              <a:rPr lang="en-US" dirty="0"/>
              <a:t>By default, the compiler sets the first enumerator to 0, the next one to 1, and so on. </a:t>
            </a:r>
          </a:p>
          <a:p>
            <a:r>
              <a:rPr lang="en-US" dirty="0"/>
              <a:t>In our example then, the value of Tom would be 0, the value of Sharon would be 1, and so forth. The final enumerator, John, would have the value 4. Later in this section you will learn how to associate different values with these named constants if you wish.</a:t>
            </a:r>
            <a:endParaRPr lang="en-US" i="1" dirty="0">
              <a:solidFill>
                <a:srgbClr val="FF0000"/>
              </a:solidFill>
            </a:endParaRPr>
          </a:p>
        </p:txBody>
      </p:sp>
    </p:spTree>
    <p:extLst>
      <p:ext uri="{BB962C8B-B14F-4D97-AF65-F5344CB8AC3E}">
        <p14:creationId xmlns:p14="http://schemas.microsoft.com/office/powerpoint/2010/main" val="24177799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B05C4-875B-73DA-B66D-0D4D68325C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9791F7-BC99-483A-E1F8-9391E94F1191}"/>
              </a:ext>
            </a:extLst>
          </p:cNvPr>
          <p:cNvSpPr>
            <a:spLocks noGrp="1"/>
          </p:cNvSpPr>
          <p:nvPr>
            <p:ph type="title"/>
          </p:nvPr>
        </p:nvSpPr>
        <p:spPr/>
        <p:txBody>
          <a:bodyPr/>
          <a:lstStyle/>
          <a:p>
            <a:r>
              <a:rPr lang="en-US" dirty="0"/>
              <a:t>Enumerated Data Types</a:t>
            </a:r>
          </a:p>
        </p:txBody>
      </p:sp>
      <p:sp>
        <p:nvSpPr>
          <p:cNvPr id="3" name="Content Placeholder 2">
            <a:extLst>
              <a:ext uri="{FF2B5EF4-FFF2-40B4-BE49-F238E27FC236}">
                <a16:creationId xmlns:a16="http://schemas.microsoft.com/office/drawing/2014/main" id="{8038CBDE-C705-A626-7CE9-9121857071EE}"/>
              </a:ext>
            </a:extLst>
          </p:cNvPr>
          <p:cNvSpPr>
            <a:spLocks noGrp="1"/>
          </p:cNvSpPr>
          <p:nvPr>
            <p:ph idx="1"/>
          </p:nvPr>
        </p:nvSpPr>
        <p:spPr>
          <a:xfrm>
            <a:off x="838200" y="1825624"/>
            <a:ext cx="10515600" cy="4758055"/>
          </a:xfrm>
        </p:spPr>
        <p:txBody>
          <a:bodyPr>
            <a:normAutofit/>
          </a:bodyPr>
          <a:lstStyle/>
          <a:p>
            <a:r>
              <a:rPr lang="en-US" dirty="0"/>
              <a:t>It is important to realize that the example</a:t>
            </a:r>
            <a:r>
              <a:rPr lang="en-US" dirty="0">
                <a:solidFill>
                  <a:srgbClr val="FF0000"/>
                </a:solidFill>
              </a:rPr>
              <a:t> </a:t>
            </a:r>
            <a:r>
              <a:rPr lang="en-US" dirty="0" err="1">
                <a:solidFill>
                  <a:srgbClr val="FF0000"/>
                </a:solidFill>
              </a:rPr>
              <a:t>enum</a:t>
            </a:r>
            <a:r>
              <a:rPr lang="en-US" dirty="0">
                <a:solidFill>
                  <a:srgbClr val="FF0000"/>
                </a:solidFill>
              </a:rPr>
              <a:t> </a:t>
            </a:r>
            <a:r>
              <a:rPr lang="en-US" dirty="0"/>
              <a:t>statement does not actually create any variables. It just defines the data type. </a:t>
            </a:r>
          </a:p>
          <a:p>
            <a:r>
              <a:rPr lang="en-US" dirty="0"/>
              <a:t>It says that when we later create variables of this data type, this is what they will look like - integers whose values are limited to the integers associated with the symbolic names in the enumerated set. </a:t>
            </a:r>
          </a:p>
          <a:p>
            <a:r>
              <a:rPr lang="en-US" dirty="0"/>
              <a:t>The following statement shows how a variable of the Roster data type would be defined.</a:t>
            </a:r>
          </a:p>
          <a:p>
            <a:pPr lvl="1"/>
            <a:r>
              <a:rPr lang="en-US" i="1" dirty="0">
                <a:solidFill>
                  <a:srgbClr val="FF0000"/>
                </a:solidFill>
              </a:rPr>
              <a:t>Roster student;</a:t>
            </a:r>
          </a:p>
        </p:txBody>
      </p:sp>
    </p:spTree>
    <p:extLst>
      <p:ext uri="{BB962C8B-B14F-4D97-AF65-F5344CB8AC3E}">
        <p14:creationId xmlns:p14="http://schemas.microsoft.com/office/powerpoint/2010/main" val="40747850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C8A80-A7E3-E862-64DF-84C15F351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63CE90-80E0-F27E-1DF0-CF5728198515}"/>
              </a:ext>
            </a:extLst>
          </p:cNvPr>
          <p:cNvSpPr>
            <a:spLocks noGrp="1"/>
          </p:cNvSpPr>
          <p:nvPr>
            <p:ph type="title"/>
          </p:nvPr>
        </p:nvSpPr>
        <p:spPr/>
        <p:txBody>
          <a:bodyPr/>
          <a:lstStyle/>
          <a:p>
            <a:r>
              <a:rPr lang="en-US" dirty="0"/>
              <a:t>Enumerated Data Types</a:t>
            </a:r>
          </a:p>
        </p:txBody>
      </p:sp>
      <p:sp>
        <p:nvSpPr>
          <p:cNvPr id="3" name="Content Placeholder 2">
            <a:extLst>
              <a:ext uri="{FF2B5EF4-FFF2-40B4-BE49-F238E27FC236}">
                <a16:creationId xmlns:a16="http://schemas.microsoft.com/office/drawing/2014/main" id="{5415B947-4728-BEC5-1ED6-E112C7729656}"/>
              </a:ext>
            </a:extLst>
          </p:cNvPr>
          <p:cNvSpPr>
            <a:spLocks noGrp="1"/>
          </p:cNvSpPr>
          <p:nvPr>
            <p:ph idx="1"/>
          </p:nvPr>
        </p:nvSpPr>
        <p:spPr>
          <a:xfrm>
            <a:off x="838200" y="1825624"/>
            <a:ext cx="10515600" cy="4758055"/>
          </a:xfrm>
        </p:spPr>
        <p:txBody>
          <a:bodyPr>
            <a:normAutofit/>
          </a:bodyPr>
          <a:lstStyle/>
          <a:p>
            <a:r>
              <a:rPr lang="en-US" dirty="0"/>
              <a:t>The form of this statement is like any other variable definition: first the data type name, then the variable name. </a:t>
            </a:r>
          </a:p>
          <a:p>
            <a:r>
              <a:rPr lang="en-US" dirty="0"/>
              <a:t>Notice that the data type name is </a:t>
            </a:r>
            <a:r>
              <a:rPr lang="en-US" b="1" dirty="0"/>
              <a:t>Roster, not </a:t>
            </a:r>
            <a:r>
              <a:rPr lang="en-US" b="1" dirty="0" err="1"/>
              <a:t>enum</a:t>
            </a:r>
            <a:r>
              <a:rPr lang="en-US" b="1" dirty="0"/>
              <a:t> Roster.</a:t>
            </a:r>
          </a:p>
          <a:p>
            <a:r>
              <a:rPr lang="en-US" dirty="0"/>
              <a:t>Now that the student variable has been created, it can be assigned a value, like this:</a:t>
            </a:r>
            <a:r>
              <a:rPr lang="en-US" b="1" dirty="0"/>
              <a:t> </a:t>
            </a:r>
          </a:p>
          <a:p>
            <a:pPr lvl="1"/>
            <a:r>
              <a:rPr lang="en-US" i="1" dirty="0">
                <a:solidFill>
                  <a:srgbClr val="FF0000"/>
                </a:solidFill>
              </a:rPr>
              <a:t>student = Sharon; </a:t>
            </a:r>
          </a:p>
          <a:p>
            <a:r>
              <a:rPr lang="en-US" dirty="0"/>
              <a:t>The value of the variable could then be tested like this:</a:t>
            </a:r>
            <a:r>
              <a:rPr lang="en-US" i="1" dirty="0">
                <a:solidFill>
                  <a:srgbClr val="FF0000"/>
                </a:solidFill>
              </a:rPr>
              <a:t> </a:t>
            </a:r>
          </a:p>
          <a:p>
            <a:pPr lvl="1"/>
            <a:r>
              <a:rPr lang="en-US" b="1" i="1" dirty="0">
                <a:solidFill>
                  <a:srgbClr val="FF0000"/>
                </a:solidFill>
                <a:effectLst/>
              </a:rPr>
              <a:t>if</a:t>
            </a:r>
            <a:r>
              <a:rPr lang="en-US" i="1" dirty="0">
                <a:solidFill>
                  <a:srgbClr val="FF0000"/>
                </a:solidFill>
              </a:rPr>
              <a:t> (student == Sharon) </a:t>
            </a:r>
          </a:p>
          <a:p>
            <a:r>
              <a:rPr lang="en-US" dirty="0"/>
              <a:t>Notice in these two examples that there are no quotation marks around Sharon because it is a named constant, not a string literal.</a:t>
            </a:r>
            <a:endParaRPr lang="en-US" b="1" i="1" dirty="0">
              <a:solidFill>
                <a:srgbClr val="FF0000"/>
              </a:solidFill>
            </a:endParaRPr>
          </a:p>
        </p:txBody>
      </p:sp>
    </p:spTree>
    <p:extLst>
      <p:ext uri="{BB962C8B-B14F-4D97-AF65-F5344CB8AC3E}">
        <p14:creationId xmlns:p14="http://schemas.microsoft.com/office/powerpoint/2010/main" val="2972917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54F82-17D0-706D-A1B3-49CD9D940833}"/>
              </a:ext>
            </a:extLst>
          </p:cNvPr>
          <p:cNvSpPr>
            <a:spLocks noGrp="1"/>
          </p:cNvSpPr>
          <p:nvPr>
            <p:ph type="title"/>
          </p:nvPr>
        </p:nvSpPr>
        <p:spPr/>
        <p:txBody>
          <a:bodyPr/>
          <a:lstStyle/>
          <a:p>
            <a:r>
              <a:rPr lang="en-US" dirty="0"/>
              <a:t>Enumerated Data Types</a:t>
            </a:r>
          </a:p>
        </p:txBody>
      </p:sp>
      <p:sp>
        <p:nvSpPr>
          <p:cNvPr id="3" name="Content Placeholder 2">
            <a:extLst>
              <a:ext uri="{FF2B5EF4-FFF2-40B4-BE49-F238E27FC236}">
                <a16:creationId xmlns:a16="http://schemas.microsoft.com/office/drawing/2014/main" id="{5EED69F2-E9AF-B2D5-D0BC-83BBF79EB79E}"/>
              </a:ext>
            </a:extLst>
          </p:cNvPr>
          <p:cNvSpPr>
            <a:spLocks noGrp="1"/>
          </p:cNvSpPr>
          <p:nvPr>
            <p:ph idx="1"/>
          </p:nvPr>
        </p:nvSpPr>
        <p:spPr/>
        <p:txBody>
          <a:bodyPr>
            <a:normAutofit lnSpcReduction="10000"/>
          </a:bodyPr>
          <a:lstStyle/>
          <a:p>
            <a:r>
              <a:rPr lang="en-US" dirty="0"/>
              <a:t>Even though the values in an enumerated data type are actually stored as integers, you cannot always substitute the integer value for the symbolic name. </a:t>
            </a:r>
          </a:p>
          <a:p>
            <a:r>
              <a:rPr lang="en-US" dirty="0"/>
              <a:t>For example, we could not have assigned Sharon as the value of student like this: </a:t>
            </a:r>
          </a:p>
          <a:p>
            <a:pPr lvl="1"/>
            <a:r>
              <a:rPr lang="en-US" i="1" dirty="0">
                <a:solidFill>
                  <a:srgbClr val="FF0000"/>
                </a:solidFill>
              </a:rPr>
              <a:t>student = </a:t>
            </a:r>
            <a:r>
              <a:rPr lang="en-US" i="1" dirty="0">
                <a:solidFill>
                  <a:srgbClr val="FF0000"/>
                </a:solidFill>
                <a:effectLst/>
              </a:rPr>
              <a:t>1</a:t>
            </a:r>
            <a:r>
              <a:rPr lang="en-US" i="1" dirty="0">
                <a:solidFill>
                  <a:srgbClr val="FF0000"/>
                </a:solidFill>
              </a:rPr>
              <a:t>; </a:t>
            </a:r>
            <a:r>
              <a:rPr lang="en-US" i="1" dirty="0">
                <a:solidFill>
                  <a:srgbClr val="FF0000"/>
                </a:solidFill>
                <a:effectLst/>
              </a:rPr>
              <a:t>// Error! </a:t>
            </a:r>
          </a:p>
          <a:p>
            <a:r>
              <a:rPr lang="en-US" dirty="0"/>
              <a:t>You can, however, test an enumerated variable by using an integer value instead of a symbolic name. For example, because Bill is stored as 2, the following two if statements are equivalent.</a:t>
            </a:r>
            <a:endParaRPr lang="en-US" i="1" dirty="0">
              <a:solidFill>
                <a:srgbClr val="FF0000"/>
              </a:solidFill>
            </a:endParaRPr>
          </a:p>
          <a:p>
            <a:pPr lvl="1"/>
            <a:r>
              <a:rPr lang="en-US" b="1" i="1" dirty="0">
                <a:solidFill>
                  <a:srgbClr val="FF0000"/>
                </a:solidFill>
                <a:effectLst/>
              </a:rPr>
              <a:t>if</a:t>
            </a:r>
            <a:r>
              <a:rPr lang="en-US" i="1" dirty="0">
                <a:solidFill>
                  <a:srgbClr val="FF0000"/>
                </a:solidFill>
              </a:rPr>
              <a:t> (student == Bill) </a:t>
            </a:r>
          </a:p>
          <a:p>
            <a:pPr lvl="1"/>
            <a:r>
              <a:rPr lang="en-US" b="1" i="1" dirty="0">
                <a:solidFill>
                  <a:srgbClr val="FF0000"/>
                </a:solidFill>
                <a:effectLst/>
              </a:rPr>
              <a:t>if</a:t>
            </a:r>
            <a:r>
              <a:rPr lang="en-US" i="1" dirty="0">
                <a:solidFill>
                  <a:srgbClr val="FF0000"/>
                </a:solidFill>
              </a:rPr>
              <a:t> (student == </a:t>
            </a:r>
            <a:r>
              <a:rPr lang="en-US" i="1" dirty="0">
                <a:solidFill>
                  <a:srgbClr val="FF0000"/>
                </a:solidFill>
                <a:effectLst/>
              </a:rPr>
              <a:t>2</a:t>
            </a:r>
            <a:r>
              <a:rPr lang="en-US" i="1" dirty="0">
                <a:solidFill>
                  <a:srgbClr val="FF0000"/>
                </a:solidFill>
              </a:rPr>
              <a:t>) </a:t>
            </a:r>
          </a:p>
        </p:txBody>
      </p:sp>
    </p:spTree>
    <p:extLst>
      <p:ext uri="{BB962C8B-B14F-4D97-AF65-F5344CB8AC3E}">
        <p14:creationId xmlns:p14="http://schemas.microsoft.com/office/powerpoint/2010/main" val="39489303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F6F03-8D1E-CA95-FDDB-EBCAC13E93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A24E71-BA45-F91F-38E9-164779E718C6}"/>
              </a:ext>
            </a:extLst>
          </p:cNvPr>
          <p:cNvSpPr>
            <a:spLocks noGrp="1"/>
          </p:cNvSpPr>
          <p:nvPr>
            <p:ph type="title"/>
          </p:nvPr>
        </p:nvSpPr>
        <p:spPr/>
        <p:txBody>
          <a:bodyPr/>
          <a:lstStyle/>
          <a:p>
            <a:r>
              <a:rPr lang="en-US" dirty="0"/>
              <a:t>Enumerated Data Types</a:t>
            </a:r>
          </a:p>
        </p:txBody>
      </p:sp>
      <p:sp>
        <p:nvSpPr>
          <p:cNvPr id="3" name="Content Placeholder 2">
            <a:extLst>
              <a:ext uri="{FF2B5EF4-FFF2-40B4-BE49-F238E27FC236}">
                <a16:creationId xmlns:a16="http://schemas.microsoft.com/office/drawing/2014/main" id="{52F60F0B-978D-F5BB-E4F1-D3D8BA5C9315}"/>
              </a:ext>
            </a:extLst>
          </p:cNvPr>
          <p:cNvSpPr>
            <a:spLocks noGrp="1"/>
          </p:cNvSpPr>
          <p:nvPr>
            <p:ph idx="1"/>
          </p:nvPr>
        </p:nvSpPr>
        <p:spPr/>
        <p:txBody>
          <a:bodyPr>
            <a:normAutofit/>
          </a:bodyPr>
          <a:lstStyle/>
          <a:p>
            <a:r>
              <a:rPr lang="en-US" dirty="0"/>
              <a:t>You can also use relational operators to compare two enumerated variables. </a:t>
            </a:r>
          </a:p>
          <a:p>
            <a:r>
              <a:rPr lang="en-US" dirty="0"/>
              <a:t>For example, the following if statement determines if the value stored in student1 is less than the value stored in student2: </a:t>
            </a:r>
          </a:p>
          <a:p>
            <a:pPr lvl="1"/>
            <a:r>
              <a:rPr lang="en-US" b="1" i="1" dirty="0">
                <a:solidFill>
                  <a:srgbClr val="FF0000"/>
                </a:solidFill>
                <a:effectLst/>
              </a:rPr>
              <a:t>if</a:t>
            </a:r>
            <a:r>
              <a:rPr lang="en-US" i="1" dirty="0">
                <a:solidFill>
                  <a:srgbClr val="FF0000"/>
                </a:solidFill>
              </a:rPr>
              <a:t> (student1 &lt; student2) </a:t>
            </a:r>
          </a:p>
          <a:p>
            <a:r>
              <a:rPr lang="en-US" dirty="0"/>
              <a:t>If student1 equals Bill, which is stored as 2, and student2 equals John, which is stored as 4, this statement would be true. However, if student1 equals Bill and student2 equals Sharon, which is stored as 1, the statement would be false.</a:t>
            </a:r>
            <a:endParaRPr lang="en-US" i="1" dirty="0">
              <a:solidFill>
                <a:srgbClr val="FF0000"/>
              </a:solidFill>
            </a:endParaRPr>
          </a:p>
        </p:txBody>
      </p:sp>
    </p:spTree>
    <p:extLst>
      <p:ext uri="{BB962C8B-B14F-4D97-AF65-F5344CB8AC3E}">
        <p14:creationId xmlns:p14="http://schemas.microsoft.com/office/powerpoint/2010/main" val="126975668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60885-6D95-6DA1-C9C1-549D9C737A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B19FA3-1A7D-C52D-FBF5-0BE2A99E1FEE}"/>
              </a:ext>
            </a:extLst>
          </p:cNvPr>
          <p:cNvSpPr>
            <a:spLocks noGrp="1"/>
          </p:cNvSpPr>
          <p:nvPr>
            <p:ph type="title"/>
          </p:nvPr>
        </p:nvSpPr>
        <p:spPr/>
        <p:txBody>
          <a:bodyPr/>
          <a:lstStyle/>
          <a:p>
            <a:r>
              <a:rPr lang="en-US" dirty="0"/>
              <a:t>Enumerated Data Types</a:t>
            </a:r>
          </a:p>
        </p:txBody>
      </p:sp>
      <p:sp>
        <p:nvSpPr>
          <p:cNvPr id="3" name="Content Placeholder 2">
            <a:extLst>
              <a:ext uri="{FF2B5EF4-FFF2-40B4-BE49-F238E27FC236}">
                <a16:creationId xmlns:a16="http://schemas.microsoft.com/office/drawing/2014/main" id="{288323DF-A47E-9688-9844-FE5F5C536CA0}"/>
              </a:ext>
            </a:extLst>
          </p:cNvPr>
          <p:cNvSpPr>
            <a:spLocks noGrp="1"/>
          </p:cNvSpPr>
          <p:nvPr>
            <p:ph idx="1"/>
          </p:nvPr>
        </p:nvSpPr>
        <p:spPr>
          <a:xfrm>
            <a:off x="838200" y="1825625"/>
            <a:ext cx="10515600" cy="4740638"/>
          </a:xfrm>
        </p:spPr>
        <p:txBody>
          <a:bodyPr>
            <a:normAutofit/>
          </a:bodyPr>
          <a:lstStyle/>
          <a:p>
            <a:r>
              <a:rPr lang="en-US" dirty="0"/>
              <a:t>As mentioned earlier, the symbols in the enumeration list are assigned the integer values 0, 1, 2, and so forth by default. If this is not appropriate, you can specify the values to be assigned, as in the following example.</a:t>
            </a:r>
            <a:r>
              <a:rPr lang="en-US" dirty="0">
                <a:solidFill>
                  <a:srgbClr val="FF0000"/>
                </a:solidFill>
              </a:rPr>
              <a:t> </a:t>
            </a:r>
          </a:p>
          <a:p>
            <a:pPr lvl="1"/>
            <a:r>
              <a:rPr lang="en-US" b="1" i="1" dirty="0" err="1">
                <a:solidFill>
                  <a:srgbClr val="FF0000"/>
                </a:solidFill>
                <a:effectLst/>
              </a:rPr>
              <a:t>enum</a:t>
            </a:r>
            <a:r>
              <a:rPr lang="en-US" i="1" dirty="0">
                <a:solidFill>
                  <a:srgbClr val="FF0000"/>
                </a:solidFill>
              </a:rPr>
              <a:t> </a:t>
            </a:r>
            <a:r>
              <a:rPr lang="en-US" b="1" i="1" dirty="0">
                <a:solidFill>
                  <a:srgbClr val="FF0000"/>
                </a:solidFill>
                <a:effectLst/>
              </a:rPr>
              <a:t>Department</a:t>
            </a:r>
            <a:r>
              <a:rPr lang="en-US" i="1" dirty="0">
                <a:solidFill>
                  <a:srgbClr val="FF0000"/>
                </a:solidFill>
              </a:rPr>
              <a:t> { factory = </a:t>
            </a:r>
            <a:r>
              <a:rPr lang="en-US" i="1" dirty="0">
                <a:solidFill>
                  <a:srgbClr val="FF0000"/>
                </a:solidFill>
                <a:effectLst/>
              </a:rPr>
              <a:t>1</a:t>
            </a:r>
            <a:r>
              <a:rPr lang="en-US" i="1" dirty="0">
                <a:solidFill>
                  <a:srgbClr val="FF0000"/>
                </a:solidFill>
              </a:rPr>
              <a:t>, sales = </a:t>
            </a:r>
            <a:r>
              <a:rPr lang="en-US" i="1" dirty="0">
                <a:solidFill>
                  <a:srgbClr val="FF0000"/>
                </a:solidFill>
                <a:effectLst/>
              </a:rPr>
              <a:t>2</a:t>
            </a:r>
            <a:r>
              <a:rPr lang="en-US" i="1" dirty="0">
                <a:solidFill>
                  <a:srgbClr val="FF0000"/>
                </a:solidFill>
              </a:rPr>
              <a:t>, warehouse = </a:t>
            </a:r>
            <a:r>
              <a:rPr lang="en-US" i="1" dirty="0">
                <a:solidFill>
                  <a:srgbClr val="FF0000"/>
                </a:solidFill>
                <a:effectLst/>
              </a:rPr>
              <a:t>4</a:t>
            </a:r>
            <a:r>
              <a:rPr lang="en-US" i="1" dirty="0">
                <a:solidFill>
                  <a:srgbClr val="FF0000"/>
                </a:solidFill>
              </a:rPr>
              <a:t> }; </a:t>
            </a:r>
          </a:p>
          <a:p>
            <a:r>
              <a:rPr lang="en-US" dirty="0">
                <a:effectLst/>
              </a:rPr>
              <a:t>Remember that if you do assign values to the enumerated symbols, they must be integers. The following value assignments would produce an error. </a:t>
            </a:r>
          </a:p>
          <a:p>
            <a:pPr lvl="1"/>
            <a:r>
              <a:rPr lang="en-US" b="1" i="1" dirty="0" err="1">
                <a:solidFill>
                  <a:srgbClr val="FF0000"/>
                </a:solidFill>
                <a:effectLst/>
              </a:rPr>
              <a:t>enum</a:t>
            </a:r>
            <a:r>
              <a:rPr lang="en-US" i="1" dirty="0">
                <a:solidFill>
                  <a:srgbClr val="FF0000"/>
                </a:solidFill>
              </a:rPr>
              <a:t> </a:t>
            </a:r>
            <a:r>
              <a:rPr lang="en-US" b="1" i="1" dirty="0">
                <a:solidFill>
                  <a:srgbClr val="FF0000"/>
                </a:solidFill>
                <a:effectLst/>
              </a:rPr>
              <a:t>Department</a:t>
            </a:r>
            <a:r>
              <a:rPr lang="en-US" i="1" dirty="0">
                <a:solidFill>
                  <a:srgbClr val="FF0000"/>
                </a:solidFill>
              </a:rPr>
              <a:t> { factory = </a:t>
            </a:r>
            <a:r>
              <a:rPr lang="en-US" i="1" dirty="0">
                <a:solidFill>
                  <a:srgbClr val="FF0000"/>
                </a:solidFill>
                <a:effectLst/>
              </a:rPr>
              <a:t>1.0</a:t>
            </a:r>
            <a:r>
              <a:rPr lang="en-US" i="1" dirty="0">
                <a:solidFill>
                  <a:srgbClr val="FF0000"/>
                </a:solidFill>
              </a:rPr>
              <a:t>, sales = </a:t>
            </a:r>
            <a:r>
              <a:rPr lang="en-US" i="1" dirty="0">
                <a:solidFill>
                  <a:srgbClr val="FF0000"/>
                </a:solidFill>
                <a:effectLst/>
              </a:rPr>
              <a:t>2.0</a:t>
            </a:r>
            <a:r>
              <a:rPr lang="en-US" i="1" dirty="0">
                <a:solidFill>
                  <a:srgbClr val="FF0000"/>
                </a:solidFill>
              </a:rPr>
              <a:t>, warehouse = </a:t>
            </a:r>
            <a:r>
              <a:rPr lang="en-US" i="1" dirty="0">
                <a:solidFill>
                  <a:srgbClr val="FF0000"/>
                </a:solidFill>
                <a:effectLst/>
              </a:rPr>
              <a:t>4.0</a:t>
            </a:r>
            <a:r>
              <a:rPr lang="en-US" i="1" dirty="0">
                <a:solidFill>
                  <a:srgbClr val="FF0000"/>
                </a:solidFill>
              </a:rPr>
              <a:t> }; </a:t>
            </a:r>
            <a:r>
              <a:rPr lang="en-US" i="1" dirty="0">
                <a:solidFill>
                  <a:srgbClr val="FF0000"/>
                </a:solidFill>
                <a:effectLst/>
              </a:rPr>
              <a:t>// Error! </a:t>
            </a:r>
          </a:p>
          <a:p>
            <a:endParaRPr lang="en-US" i="1" dirty="0">
              <a:solidFill>
                <a:srgbClr val="FF0000"/>
              </a:solidFill>
            </a:endParaRPr>
          </a:p>
        </p:txBody>
      </p:sp>
    </p:spTree>
    <p:extLst>
      <p:ext uri="{BB962C8B-B14F-4D97-AF65-F5344CB8AC3E}">
        <p14:creationId xmlns:p14="http://schemas.microsoft.com/office/powerpoint/2010/main" val="24566080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247EA-4493-5422-B776-70A6A94C10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86B847-8743-6F8E-39B2-2E6D13B52C1C}"/>
              </a:ext>
            </a:extLst>
          </p:cNvPr>
          <p:cNvSpPr>
            <a:spLocks noGrp="1"/>
          </p:cNvSpPr>
          <p:nvPr>
            <p:ph type="title"/>
          </p:nvPr>
        </p:nvSpPr>
        <p:spPr/>
        <p:txBody>
          <a:bodyPr/>
          <a:lstStyle/>
          <a:p>
            <a:r>
              <a:rPr lang="en-US" dirty="0"/>
              <a:t>Enumerated Data Types</a:t>
            </a:r>
          </a:p>
        </p:txBody>
      </p:sp>
      <p:sp>
        <p:nvSpPr>
          <p:cNvPr id="3" name="Content Placeholder 2">
            <a:extLst>
              <a:ext uri="{FF2B5EF4-FFF2-40B4-BE49-F238E27FC236}">
                <a16:creationId xmlns:a16="http://schemas.microsoft.com/office/drawing/2014/main" id="{44A82425-5794-F41A-A50E-189D57741ED6}"/>
              </a:ext>
            </a:extLst>
          </p:cNvPr>
          <p:cNvSpPr>
            <a:spLocks noGrp="1"/>
          </p:cNvSpPr>
          <p:nvPr>
            <p:ph idx="1"/>
          </p:nvPr>
        </p:nvSpPr>
        <p:spPr>
          <a:xfrm>
            <a:off x="838200" y="1460500"/>
            <a:ext cx="10515600" cy="5032375"/>
          </a:xfrm>
        </p:spPr>
        <p:txBody>
          <a:bodyPr>
            <a:normAutofit lnSpcReduction="10000"/>
          </a:bodyPr>
          <a:lstStyle/>
          <a:p>
            <a:r>
              <a:rPr lang="en-US" dirty="0">
                <a:effectLst/>
              </a:rPr>
              <a:t>Although there is no requirement that assigned integer values be placed in ascending order, it is generally considered a good idea to do so.</a:t>
            </a:r>
          </a:p>
          <a:p>
            <a:r>
              <a:rPr lang="en-US" dirty="0">
                <a:effectLst/>
              </a:rPr>
              <a:t>If you leave out the value assignment for one or more of the symbols, they will be assigned default values, as illustrated by the following two examples.</a:t>
            </a:r>
          </a:p>
          <a:p>
            <a:pPr lvl="1"/>
            <a:r>
              <a:rPr lang="en-US" b="1" i="1" dirty="0" err="1">
                <a:solidFill>
                  <a:srgbClr val="FF0000"/>
                </a:solidFill>
                <a:effectLst/>
              </a:rPr>
              <a:t>enum</a:t>
            </a:r>
            <a:r>
              <a:rPr lang="en-US" i="1" dirty="0">
                <a:solidFill>
                  <a:srgbClr val="FF0000"/>
                </a:solidFill>
              </a:rPr>
              <a:t> </a:t>
            </a:r>
            <a:r>
              <a:rPr lang="en-US" b="1" i="1" dirty="0">
                <a:solidFill>
                  <a:srgbClr val="FF0000"/>
                </a:solidFill>
                <a:effectLst/>
              </a:rPr>
              <a:t>Colors</a:t>
            </a:r>
            <a:r>
              <a:rPr lang="en-US" i="1" dirty="0">
                <a:solidFill>
                  <a:srgbClr val="FF0000"/>
                </a:solidFill>
              </a:rPr>
              <a:t> { red, orange, yellow = </a:t>
            </a:r>
            <a:r>
              <a:rPr lang="en-US" i="1" dirty="0">
                <a:solidFill>
                  <a:srgbClr val="FF0000"/>
                </a:solidFill>
                <a:effectLst/>
              </a:rPr>
              <a:t>9</a:t>
            </a:r>
            <a:r>
              <a:rPr lang="en-US" i="1" dirty="0">
                <a:solidFill>
                  <a:srgbClr val="FF0000"/>
                </a:solidFill>
              </a:rPr>
              <a:t>, green, blue }; </a:t>
            </a:r>
          </a:p>
          <a:p>
            <a:r>
              <a:rPr lang="en-US" dirty="0"/>
              <a:t>I</a:t>
            </a:r>
            <a:r>
              <a:rPr lang="en-US" dirty="0">
                <a:effectLst/>
              </a:rPr>
              <a:t>n this example, the named constant red will be assigned the value 0, orange will be 1, yellow will be 9, green will be 10, and blue will be 11.</a:t>
            </a:r>
          </a:p>
          <a:p>
            <a:pPr lvl="1"/>
            <a:r>
              <a:rPr lang="en-US" b="1" i="1" dirty="0" err="1">
                <a:solidFill>
                  <a:srgbClr val="FF0000"/>
                </a:solidFill>
                <a:effectLst/>
              </a:rPr>
              <a:t>enum</a:t>
            </a:r>
            <a:r>
              <a:rPr lang="en-US" i="1" dirty="0">
                <a:solidFill>
                  <a:srgbClr val="FF0000"/>
                </a:solidFill>
              </a:rPr>
              <a:t> </a:t>
            </a:r>
            <a:r>
              <a:rPr lang="en-US" b="1" i="1" dirty="0">
                <a:solidFill>
                  <a:srgbClr val="FF0000"/>
                </a:solidFill>
                <a:effectLst/>
              </a:rPr>
              <a:t>Rooms</a:t>
            </a:r>
            <a:r>
              <a:rPr lang="en-US" i="1" dirty="0">
                <a:solidFill>
                  <a:srgbClr val="FF0000"/>
                </a:solidFill>
              </a:rPr>
              <a:t> { </a:t>
            </a:r>
            <a:r>
              <a:rPr lang="en-US" i="1" dirty="0" err="1">
                <a:solidFill>
                  <a:srgbClr val="FF0000"/>
                </a:solidFill>
              </a:rPr>
              <a:t>livingroom</a:t>
            </a:r>
            <a:r>
              <a:rPr lang="en-US" i="1" dirty="0">
                <a:solidFill>
                  <a:srgbClr val="FF0000"/>
                </a:solidFill>
              </a:rPr>
              <a:t> = </a:t>
            </a:r>
            <a:r>
              <a:rPr lang="en-US" i="1" dirty="0">
                <a:solidFill>
                  <a:srgbClr val="FF0000"/>
                </a:solidFill>
                <a:effectLst/>
              </a:rPr>
              <a:t>1</a:t>
            </a:r>
            <a:r>
              <a:rPr lang="en-US" i="1" dirty="0">
                <a:solidFill>
                  <a:srgbClr val="FF0000"/>
                </a:solidFill>
              </a:rPr>
              <a:t>, den, bedroom, kitchen }; </a:t>
            </a:r>
          </a:p>
          <a:p>
            <a:r>
              <a:rPr lang="en-US" dirty="0"/>
              <a:t>In this example, </a:t>
            </a:r>
            <a:r>
              <a:rPr lang="en-US" dirty="0" err="1"/>
              <a:t>livingroom</a:t>
            </a:r>
            <a:r>
              <a:rPr lang="en-US" dirty="0"/>
              <a:t> will be assigned the value 1, den will be 2, bedroom will be 3, and kitchen will be 4.</a:t>
            </a:r>
            <a:endParaRPr lang="en-US" i="1" dirty="0">
              <a:solidFill>
                <a:srgbClr val="FF0000"/>
              </a:solidFill>
              <a:effectLst/>
            </a:endParaRPr>
          </a:p>
          <a:p>
            <a:endParaRPr lang="en-US" dirty="0">
              <a:effectLst/>
            </a:endParaRPr>
          </a:p>
          <a:p>
            <a:endParaRPr lang="en-US" i="1" dirty="0">
              <a:solidFill>
                <a:srgbClr val="FF0000"/>
              </a:solidFill>
            </a:endParaRPr>
          </a:p>
        </p:txBody>
      </p:sp>
    </p:spTree>
    <p:extLst>
      <p:ext uri="{BB962C8B-B14F-4D97-AF65-F5344CB8AC3E}">
        <p14:creationId xmlns:p14="http://schemas.microsoft.com/office/powerpoint/2010/main" val="381690698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5E7C4-7281-60ED-FF7A-97B5A0249F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BCF592-AB39-D3A7-B882-1FD39751CE26}"/>
              </a:ext>
            </a:extLst>
          </p:cNvPr>
          <p:cNvSpPr>
            <a:spLocks noGrp="1"/>
          </p:cNvSpPr>
          <p:nvPr>
            <p:ph type="title"/>
          </p:nvPr>
        </p:nvSpPr>
        <p:spPr/>
        <p:txBody>
          <a:bodyPr/>
          <a:lstStyle/>
          <a:p>
            <a:r>
              <a:rPr lang="en-US" dirty="0"/>
              <a:t>Enumerated Data Types</a:t>
            </a:r>
          </a:p>
        </p:txBody>
      </p:sp>
      <p:sp>
        <p:nvSpPr>
          <p:cNvPr id="3" name="Content Placeholder 2">
            <a:extLst>
              <a:ext uri="{FF2B5EF4-FFF2-40B4-BE49-F238E27FC236}">
                <a16:creationId xmlns:a16="http://schemas.microsoft.com/office/drawing/2014/main" id="{E1482005-6894-D553-F936-7F3D40FB6340}"/>
              </a:ext>
            </a:extLst>
          </p:cNvPr>
          <p:cNvSpPr>
            <a:spLocks noGrp="1"/>
          </p:cNvSpPr>
          <p:nvPr>
            <p:ph idx="1"/>
          </p:nvPr>
        </p:nvSpPr>
        <p:spPr>
          <a:xfrm>
            <a:off x="838200" y="1460500"/>
            <a:ext cx="10515600" cy="5032375"/>
          </a:xfrm>
        </p:spPr>
        <p:txBody>
          <a:bodyPr>
            <a:normAutofit lnSpcReduction="10000"/>
          </a:bodyPr>
          <a:lstStyle/>
          <a:p>
            <a:r>
              <a:rPr lang="en-US" dirty="0"/>
              <a:t>One purpose of an enumerated data type is that the symbolic names help to make a program self-documenting. </a:t>
            </a:r>
          </a:p>
          <a:p>
            <a:r>
              <a:rPr lang="en-US" dirty="0"/>
              <a:t>However, because these names are not strings, they are for use inside the program only. </a:t>
            </a:r>
          </a:p>
          <a:p>
            <a:r>
              <a:rPr lang="en-US" dirty="0"/>
              <a:t>Using the Roster data type defined at the beginning of this section, the following two statements would output a 2, not the name Sharon.</a:t>
            </a:r>
          </a:p>
          <a:p>
            <a:pPr lvl="1"/>
            <a:r>
              <a:rPr lang="en-US" i="1" dirty="0">
                <a:solidFill>
                  <a:srgbClr val="FF0000"/>
                </a:solidFill>
              </a:rPr>
              <a:t>Roster </a:t>
            </a:r>
            <a:r>
              <a:rPr lang="en-US" i="1" dirty="0" err="1">
                <a:solidFill>
                  <a:srgbClr val="FF0000"/>
                </a:solidFill>
              </a:rPr>
              <a:t>topStudent</a:t>
            </a:r>
            <a:r>
              <a:rPr lang="en-US" i="1" dirty="0">
                <a:solidFill>
                  <a:srgbClr val="FF0000"/>
                </a:solidFill>
              </a:rPr>
              <a:t> = Sharon; </a:t>
            </a:r>
          </a:p>
          <a:p>
            <a:pPr lvl="1"/>
            <a:r>
              <a:rPr lang="en-US" i="1" dirty="0" err="1">
                <a:solidFill>
                  <a:srgbClr val="FF0000"/>
                </a:solidFill>
              </a:rPr>
              <a:t>cout</a:t>
            </a:r>
            <a:r>
              <a:rPr lang="en-US" i="1" dirty="0">
                <a:solidFill>
                  <a:srgbClr val="FF0000"/>
                </a:solidFill>
              </a:rPr>
              <a:t> &lt;&lt; </a:t>
            </a:r>
            <a:r>
              <a:rPr lang="en-US" i="1" dirty="0" err="1">
                <a:solidFill>
                  <a:srgbClr val="FF0000"/>
                </a:solidFill>
              </a:rPr>
              <a:t>topStudent</a:t>
            </a:r>
            <a:r>
              <a:rPr lang="en-US" i="1" dirty="0">
                <a:solidFill>
                  <a:srgbClr val="FF0000"/>
                </a:solidFill>
              </a:rPr>
              <a:t>; </a:t>
            </a:r>
            <a:endParaRPr lang="en-US" dirty="0"/>
          </a:p>
          <a:p>
            <a:r>
              <a:rPr lang="en-US" dirty="0"/>
              <a:t>Because the symbolic names of an enumerated data type are associated with integer values, they may be used in a switch statement. Let’s look at an example - </a:t>
            </a:r>
            <a:endParaRPr lang="en-US" i="1" dirty="0">
              <a:solidFill>
                <a:srgbClr val="FF0000"/>
              </a:solidFill>
              <a:effectLst/>
            </a:endParaRPr>
          </a:p>
          <a:p>
            <a:endParaRPr lang="en-US" i="1" dirty="0">
              <a:solidFill>
                <a:srgbClr val="FF0000"/>
              </a:solidFill>
            </a:endParaRPr>
          </a:p>
        </p:txBody>
      </p:sp>
    </p:spTree>
    <p:extLst>
      <p:ext uri="{BB962C8B-B14F-4D97-AF65-F5344CB8AC3E}">
        <p14:creationId xmlns:p14="http://schemas.microsoft.com/office/powerpoint/2010/main" val="27714299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E0C4B-26CD-B897-5C08-390F1F286D36}"/>
              </a:ext>
            </a:extLst>
          </p:cNvPr>
          <p:cNvSpPr>
            <a:spLocks noGrp="1"/>
          </p:cNvSpPr>
          <p:nvPr>
            <p:ph type="title"/>
          </p:nvPr>
        </p:nvSpPr>
        <p:spPr>
          <a:xfrm>
            <a:off x="7350034" y="365125"/>
            <a:ext cx="4003766" cy="1325563"/>
          </a:xfrm>
        </p:spPr>
        <p:txBody>
          <a:bodyPr/>
          <a:lstStyle/>
          <a:p>
            <a:r>
              <a:rPr lang="en-US" dirty="0"/>
              <a:t>Example</a:t>
            </a:r>
          </a:p>
        </p:txBody>
      </p:sp>
      <p:pic>
        <p:nvPicPr>
          <p:cNvPr id="4" name="Picture 3">
            <a:extLst>
              <a:ext uri="{FF2B5EF4-FFF2-40B4-BE49-F238E27FC236}">
                <a16:creationId xmlns:a16="http://schemas.microsoft.com/office/drawing/2014/main" id="{CBEE1E25-E124-CB2D-432D-408C11859AAE}"/>
              </a:ext>
            </a:extLst>
          </p:cNvPr>
          <p:cNvPicPr>
            <a:picLocks noChangeAspect="1"/>
          </p:cNvPicPr>
          <p:nvPr/>
        </p:nvPicPr>
        <p:blipFill>
          <a:blip r:embed="rId2"/>
          <a:stretch>
            <a:fillRect/>
          </a:stretch>
        </p:blipFill>
        <p:spPr>
          <a:xfrm>
            <a:off x="1858646" y="0"/>
            <a:ext cx="4348758" cy="6858000"/>
          </a:xfrm>
          <a:prstGeom prst="rect">
            <a:avLst/>
          </a:prstGeom>
        </p:spPr>
      </p:pic>
      <p:pic>
        <p:nvPicPr>
          <p:cNvPr id="5" name="Picture 4">
            <a:extLst>
              <a:ext uri="{FF2B5EF4-FFF2-40B4-BE49-F238E27FC236}">
                <a16:creationId xmlns:a16="http://schemas.microsoft.com/office/drawing/2014/main" id="{EAEDB987-0D0A-78C9-3A76-72575DDCB87C}"/>
              </a:ext>
            </a:extLst>
          </p:cNvPr>
          <p:cNvPicPr>
            <a:picLocks noChangeAspect="1"/>
          </p:cNvPicPr>
          <p:nvPr/>
        </p:nvPicPr>
        <p:blipFill>
          <a:blip r:embed="rId3"/>
          <a:stretch>
            <a:fillRect/>
          </a:stretch>
        </p:blipFill>
        <p:spPr>
          <a:xfrm>
            <a:off x="7164461" y="2540841"/>
            <a:ext cx="4534331" cy="2705972"/>
          </a:xfrm>
          <a:prstGeom prst="rect">
            <a:avLst/>
          </a:prstGeom>
        </p:spPr>
      </p:pic>
    </p:spTree>
    <p:extLst>
      <p:ext uri="{BB962C8B-B14F-4D97-AF65-F5344CB8AC3E}">
        <p14:creationId xmlns:p14="http://schemas.microsoft.com/office/powerpoint/2010/main" val="42551037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ED6219-4593-3BCD-9931-7B3ED9FEB1A5}"/>
              </a:ext>
            </a:extLst>
          </p:cNvPr>
          <p:cNvSpPr>
            <a:spLocks noGrp="1"/>
          </p:cNvSpPr>
          <p:nvPr>
            <p:ph type="title"/>
          </p:nvPr>
        </p:nvSpPr>
        <p:spPr>
          <a:xfrm>
            <a:off x="838200" y="582839"/>
            <a:ext cx="10515600" cy="1325563"/>
          </a:xfrm>
        </p:spPr>
        <p:txBody>
          <a:bodyPr>
            <a:normAutofit fontScale="90000"/>
          </a:bodyPr>
          <a:lstStyle/>
          <a:p>
            <a:r>
              <a:rPr lang="en-US" dirty="0">
                <a:effectLst/>
              </a:rPr>
              <a:t>Declaring an </a:t>
            </a:r>
            <a:r>
              <a:rPr lang="en-US" dirty="0" err="1">
                <a:effectLst/>
              </a:rPr>
              <a:t>enum</a:t>
            </a:r>
            <a:r>
              <a:rPr lang="en-US" dirty="0">
                <a:effectLst/>
              </a:rPr>
              <a:t> Data Type and Defining Variables All in One Statement</a:t>
            </a:r>
            <a:br>
              <a:rPr lang="en-US" b="1" dirty="0">
                <a:effectLst/>
              </a:rPr>
            </a:br>
            <a:endParaRPr lang="en-US" dirty="0"/>
          </a:p>
        </p:txBody>
      </p:sp>
      <p:sp>
        <p:nvSpPr>
          <p:cNvPr id="3" name="Content Placeholder 2">
            <a:extLst>
              <a:ext uri="{FF2B5EF4-FFF2-40B4-BE49-F238E27FC236}">
                <a16:creationId xmlns:a16="http://schemas.microsoft.com/office/drawing/2014/main" id="{7733B651-D503-66C7-0B4F-8DD853C7A707}"/>
              </a:ext>
            </a:extLst>
          </p:cNvPr>
          <p:cNvSpPr>
            <a:spLocks noGrp="1"/>
          </p:cNvSpPr>
          <p:nvPr>
            <p:ph idx="1"/>
          </p:nvPr>
        </p:nvSpPr>
        <p:spPr>
          <a:xfrm>
            <a:off x="838200" y="1825625"/>
            <a:ext cx="10515600" cy="4714512"/>
          </a:xfrm>
        </p:spPr>
        <p:txBody>
          <a:bodyPr>
            <a:normAutofit/>
          </a:bodyPr>
          <a:lstStyle/>
          <a:p>
            <a:r>
              <a:rPr lang="en-US" dirty="0"/>
              <a:t>The following code uses two lines to declare an enumerated data type and define a variable of the type.</a:t>
            </a:r>
          </a:p>
          <a:p>
            <a:pPr lvl="1"/>
            <a:r>
              <a:rPr lang="en-US" b="1" i="1" dirty="0" err="1">
                <a:solidFill>
                  <a:srgbClr val="FF0000"/>
                </a:solidFill>
                <a:effectLst/>
              </a:rPr>
              <a:t>enum</a:t>
            </a:r>
            <a:r>
              <a:rPr lang="en-US" i="1" dirty="0">
                <a:solidFill>
                  <a:srgbClr val="FF0000"/>
                </a:solidFill>
              </a:rPr>
              <a:t> </a:t>
            </a:r>
            <a:r>
              <a:rPr lang="en-US" b="1" i="1" dirty="0">
                <a:solidFill>
                  <a:srgbClr val="FF0000"/>
                </a:solidFill>
                <a:effectLst/>
              </a:rPr>
              <a:t>Car</a:t>
            </a:r>
            <a:r>
              <a:rPr lang="en-US" i="1" dirty="0">
                <a:solidFill>
                  <a:srgbClr val="FF0000"/>
                </a:solidFill>
              </a:rPr>
              <a:t> { PORSCHE, FERRARI, JAGUAR }; </a:t>
            </a:r>
          </a:p>
          <a:p>
            <a:pPr lvl="1"/>
            <a:r>
              <a:rPr lang="en-US" i="1" dirty="0">
                <a:solidFill>
                  <a:srgbClr val="FF0000"/>
                </a:solidFill>
              </a:rPr>
              <a:t>Car </a:t>
            </a:r>
            <a:r>
              <a:rPr lang="en-US" i="1" dirty="0" err="1">
                <a:solidFill>
                  <a:srgbClr val="FF0000"/>
                </a:solidFill>
              </a:rPr>
              <a:t>sportsCar</a:t>
            </a:r>
            <a:r>
              <a:rPr lang="en-US" i="1" dirty="0">
                <a:solidFill>
                  <a:srgbClr val="FF0000"/>
                </a:solidFill>
              </a:rPr>
              <a:t>; </a:t>
            </a:r>
          </a:p>
          <a:p>
            <a:r>
              <a:rPr lang="en-US" dirty="0"/>
              <a:t>However, C++ allows you to declare an enumerated data type and define one or more variables of the type in the same statement. So the previous code could be written like this:</a:t>
            </a:r>
          </a:p>
          <a:p>
            <a:pPr lvl="1"/>
            <a:r>
              <a:rPr lang="en-US" b="1" i="1" dirty="0" err="1">
                <a:solidFill>
                  <a:srgbClr val="FF0000"/>
                </a:solidFill>
                <a:effectLst/>
              </a:rPr>
              <a:t>enum</a:t>
            </a:r>
            <a:r>
              <a:rPr lang="en-US" i="1" dirty="0">
                <a:solidFill>
                  <a:srgbClr val="FF0000"/>
                </a:solidFill>
              </a:rPr>
              <a:t> </a:t>
            </a:r>
            <a:r>
              <a:rPr lang="en-US" b="1" i="1" dirty="0">
                <a:solidFill>
                  <a:srgbClr val="FF0000"/>
                </a:solidFill>
                <a:effectLst/>
              </a:rPr>
              <a:t>Car</a:t>
            </a:r>
            <a:r>
              <a:rPr lang="en-US" i="1" dirty="0">
                <a:solidFill>
                  <a:srgbClr val="FF0000"/>
                </a:solidFill>
              </a:rPr>
              <a:t> { PORSCHE, FERRARI, JAGUAR } </a:t>
            </a:r>
            <a:r>
              <a:rPr lang="en-US" i="1" dirty="0" err="1">
                <a:solidFill>
                  <a:srgbClr val="FF0000"/>
                </a:solidFill>
              </a:rPr>
              <a:t>sportsCar</a:t>
            </a:r>
            <a:r>
              <a:rPr lang="en-US" i="1" dirty="0">
                <a:solidFill>
                  <a:srgbClr val="FF0000"/>
                </a:solidFill>
              </a:rPr>
              <a:t>;</a:t>
            </a:r>
          </a:p>
          <a:p>
            <a:r>
              <a:rPr lang="en-US" dirty="0"/>
              <a:t>The following statement declares the Car data type and defines two variables, </a:t>
            </a:r>
            <a:r>
              <a:rPr lang="en-US" dirty="0" err="1"/>
              <a:t>myCar</a:t>
            </a:r>
            <a:r>
              <a:rPr lang="en-US" dirty="0"/>
              <a:t> and </a:t>
            </a:r>
            <a:r>
              <a:rPr lang="en-US" dirty="0" err="1"/>
              <a:t>yourCar</a:t>
            </a:r>
            <a:r>
              <a:rPr lang="en-US" dirty="0"/>
              <a:t>.</a:t>
            </a:r>
          </a:p>
          <a:p>
            <a:pPr lvl="1"/>
            <a:r>
              <a:rPr lang="en-US" b="1" i="1" dirty="0" err="1">
                <a:solidFill>
                  <a:srgbClr val="FF0000"/>
                </a:solidFill>
                <a:effectLst/>
              </a:rPr>
              <a:t>enum</a:t>
            </a:r>
            <a:r>
              <a:rPr lang="en-US" i="1" dirty="0">
                <a:solidFill>
                  <a:srgbClr val="FF0000"/>
                </a:solidFill>
              </a:rPr>
              <a:t> </a:t>
            </a:r>
            <a:r>
              <a:rPr lang="en-US" b="1" i="1" dirty="0">
                <a:solidFill>
                  <a:srgbClr val="FF0000"/>
                </a:solidFill>
                <a:effectLst/>
              </a:rPr>
              <a:t>Car</a:t>
            </a:r>
            <a:r>
              <a:rPr lang="en-US" i="1" dirty="0">
                <a:solidFill>
                  <a:srgbClr val="FF0000"/>
                </a:solidFill>
              </a:rPr>
              <a:t> { PORSCHE, FERRARI, JAGUAR } </a:t>
            </a:r>
            <a:r>
              <a:rPr lang="en-US" i="1" dirty="0" err="1">
                <a:solidFill>
                  <a:srgbClr val="FF0000"/>
                </a:solidFill>
              </a:rPr>
              <a:t>myCar</a:t>
            </a:r>
            <a:r>
              <a:rPr lang="en-US" i="1" dirty="0">
                <a:solidFill>
                  <a:srgbClr val="FF0000"/>
                </a:solidFill>
              </a:rPr>
              <a:t>, </a:t>
            </a:r>
            <a:r>
              <a:rPr lang="en-US" i="1" dirty="0" err="1">
                <a:solidFill>
                  <a:srgbClr val="FF0000"/>
                </a:solidFill>
              </a:rPr>
              <a:t>yourCar</a:t>
            </a:r>
            <a:r>
              <a:rPr lang="en-US" i="1" dirty="0">
                <a:solidFill>
                  <a:srgbClr val="FF0000"/>
                </a:solidFill>
              </a:rPr>
              <a:t>;  </a:t>
            </a:r>
          </a:p>
        </p:txBody>
      </p:sp>
    </p:spTree>
    <p:extLst>
      <p:ext uri="{BB962C8B-B14F-4D97-AF65-F5344CB8AC3E}">
        <p14:creationId xmlns:p14="http://schemas.microsoft.com/office/powerpoint/2010/main" val="7791561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C1EC5-6C72-120C-D98C-FF6A1C4F61E8}"/>
              </a:ext>
            </a:extLst>
          </p:cNvPr>
          <p:cNvSpPr>
            <a:spLocks noGrp="1"/>
          </p:cNvSpPr>
          <p:nvPr>
            <p:ph type="title"/>
          </p:nvPr>
        </p:nvSpPr>
        <p:spPr/>
        <p:txBody>
          <a:bodyPr/>
          <a:lstStyle/>
          <a:p>
            <a:r>
              <a:rPr lang="en-US" dirty="0"/>
              <a:t>Assigning an Integer to an </a:t>
            </a:r>
            <a:r>
              <a:rPr lang="en-US" dirty="0" err="1"/>
              <a:t>enum</a:t>
            </a:r>
            <a:r>
              <a:rPr lang="en-US" dirty="0"/>
              <a:t> Variable</a:t>
            </a:r>
          </a:p>
        </p:txBody>
      </p:sp>
      <p:sp>
        <p:nvSpPr>
          <p:cNvPr id="3" name="Content Placeholder 2">
            <a:extLst>
              <a:ext uri="{FF2B5EF4-FFF2-40B4-BE49-F238E27FC236}">
                <a16:creationId xmlns:a16="http://schemas.microsoft.com/office/drawing/2014/main" id="{E9F5024B-297F-99BC-41A9-C208F270721B}"/>
              </a:ext>
            </a:extLst>
          </p:cNvPr>
          <p:cNvSpPr>
            <a:spLocks noGrp="1"/>
          </p:cNvSpPr>
          <p:nvPr>
            <p:ph idx="1"/>
          </p:nvPr>
        </p:nvSpPr>
        <p:spPr/>
        <p:txBody>
          <a:bodyPr>
            <a:normAutofit/>
          </a:bodyPr>
          <a:lstStyle/>
          <a:p>
            <a:r>
              <a:rPr lang="en-US" dirty="0"/>
              <a:t>Even though the enumerators of an enumerated data type are stored in memory as integers, you cannot directly assign an integer value to an </a:t>
            </a:r>
            <a:r>
              <a:rPr lang="en-US" dirty="0" err="1"/>
              <a:t>enum</a:t>
            </a:r>
            <a:r>
              <a:rPr lang="en-US" dirty="0"/>
              <a:t> variable. </a:t>
            </a:r>
          </a:p>
          <a:p>
            <a:pPr lvl="1"/>
            <a:r>
              <a:rPr lang="en-US" b="1" i="1" dirty="0" err="1">
                <a:solidFill>
                  <a:srgbClr val="FF0000"/>
                </a:solidFill>
                <a:effectLst/>
              </a:rPr>
              <a:t>enum</a:t>
            </a:r>
            <a:r>
              <a:rPr lang="en-US" i="1" dirty="0">
                <a:solidFill>
                  <a:srgbClr val="FF0000"/>
                </a:solidFill>
              </a:rPr>
              <a:t> </a:t>
            </a:r>
            <a:r>
              <a:rPr lang="en-US" b="1" i="1" dirty="0">
                <a:solidFill>
                  <a:srgbClr val="FF0000"/>
                </a:solidFill>
                <a:effectLst/>
              </a:rPr>
              <a:t>Day</a:t>
            </a:r>
            <a:r>
              <a:rPr lang="en-US" i="1" dirty="0">
                <a:solidFill>
                  <a:srgbClr val="FF0000"/>
                </a:solidFill>
              </a:rPr>
              <a:t> { MONDAY, TUESDAY, WEDNESDAY, THURSDAY, FRIDAY }; Day today; </a:t>
            </a:r>
          </a:p>
          <a:p>
            <a:r>
              <a:rPr lang="en-US" dirty="0"/>
              <a:t>We could now write the following assignment statement:</a:t>
            </a:r>
            <a:endParaRPr lang="en-US" i="1" dirty="0">
              <a:solidFill>
                <a:srgbClr val="FF0000"/>
              </a:solidFill>
            </a:endParaRPr>
          </a:p>
          <a:p>
            <a:pPr lvl="1"/>
            <a:r>
              <a:rPr lang="en-US" i="1" dirty="0">
                <a:solidFill>
                  <a:srgbClr val="FF0000"/>
                </a:solidFill>
              </a:rPr>
              <a:t>today = THURSDAY; </a:t>
            </a:r>
          </a:p>
          <a:p>
            <a:r>
              <a:rPr lang="en-US" dirty="0"/>
              <a:t>But the following statement is illegal and will produce an error message if you try to compile it.</a:t>
            </a:r>
          </a:p>
          <a:p>
            <a:pPr lvl="1"/>
            <a:r>
              <a:rPr lang="en-US" i="1" dirty="0">
                <a:solidFill>
                  <a:srgbClr val="FF0000"/>
                </a:solidFill>
              </a:rPr>
              <a:t>today = </a:t>
            </a:r>
            <a:r>
              <a:rPr lang="en-US" i="1" dirty="0">
                <a:solidFill>
                  <a:srgbClr val="FF0000"/>
                </a:solidFill>
                <a:effectLst/>
              </a:rPr>
              <a:t>3</a:t>
            </a:r>
            <a:r>
              <a:rPr lang="en-US" i="1" dirty="0">
                <a:solidFill>
                  <a:srgbClr val="FF0000"/>
                </a:solidFill>
              </a:rPr>
              <a:t>; </a:t>
            </a:r>
            <a:r>
              <a:rPr lang="en-US" i="1" dirty="0">
                <a:solidFill>
                  <a:srgbClr val="FF0000"/>
                </a:solidFill>
                <a:effectLst/>
              </a:rPr>
              <a:t>// Error! </a:t>
            </a:r>
            <a:endParaRPr lang="en-US" i="1" dirty="0">
              <a:solidFill>
                <a:srgbClr val="FF0000"/>
              </a:solidFill>
            </a:endParaRPr>
          </a:p>
        </p:txBody>
      </p:sp>
    </p:spTree>
    <p:extLst>
      <p:ext uri="{BB962C8B-B14F-4D97-AF65-F5344CB8AC3E}">
        <p14:creationId xmlns:p14="http://schemas.microsoft.com/office/powerpoint/2010/main" val="23286612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721FD-328D-7FDB-4B28-31D14F1DC8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4B6A1-15C4-4A4A-CA07-30EC7A2B0A9D}"/>
              </a:ext>
            </a:extLst>
          </p:cNvPr>
          <p:cNvSpPr>
            <a:spLocks noGrp="1"/>
          </p:cNvSpPr>
          <p:nvPr>
            <p:ph type="title"/>
          </p:nvPr>
        </p:nvSpPr>
        <p:spPr/>
        <p:txBody>
          <a:bodyPr/>
          <a:lstStyle/>
          <a:p>
            <a:r>
              <a:rPr lang="en-US" dirty="0"/>
              <a:t>Assigning an Integer to an </a:t>
            </a:r>
            <a:r>
              <a:rPr lang="en-US" dirty="0" err="1"/>
              <a:t>enum</a:t>
            </a:r>
            <a:r>
              <a:rPr lang="en-US" dirty="0"/>
              <a:t> Variable</a:t>
            </a:r>
          </a:p>
        </p:txBody>
      </p:sp>
      <p:sp>
        <p:nvSpPr>
          <p:cNvPr id="3" name="Content Placeholder 2">
            <a:extLst>
              <a:ext uri="{FF2B5EF4-FFF2-40B4-BE49-F238E27FC236}">
                <a16:creationId xmlns:a16="http://schemas.microsoft.com/office/drawing/2014/main" id="{C9C5FADF-2B9A-2A3F-3EBC-9BEA6931349D}"/>
              </a:ext>
            </a:extLst>
          </p:cNvPr>
          <p:cNvSpPr>
            <a:spLocks noGrp="1"/>
          </p:cNvSpPr>
          <p:nvPr>
            <p:ph idx="1"/>
          </p:nvPr>
        </p:nvSpPr>
        <p:spPr/>
        <p:txBody>
          <a:bodyPr>
            <a:normAutofit/>
          </a:bodyPr>
          <a:lstStyle/>
          <a:p>
            <a:r>
              <a:rPr lang="en-US" dirty="0">
                <a:effectLst/>
              </a:rPr>
              <a:t>When assigning a value to an </a:t>
            </a:r>
            <a:r>
              <a:rPr lang="en-US" dirty="0" err="1">
                <a:effectLst/>
              </a:rPr>
              <a:t>enum</a:t>
            </a:r>
            <a:r>
              <a:rPr lang="en-US" dirty="0">
                <a:effectLst/>
              </a:rPr>
              <a:t> variable, you should use a valid enumerator. </a:t>
            </a:r>
          </a:p>
          <a:p>
            <a:r>
              <a:rPr lang="en-US" dirty="0">
                <a:effectLst/>
              </a:rPr>
              <a:t>However, if circumstances require that you store an integer value in an </a:t>
            </a:r>
            <a:r>
              <a:rPr lang="en-US" dirty="0" err="1">
                <a:effectLst/>
              </a:rPr>
              <a:t>enum</a:t>
            </a:r>
            <a:r>
              <a:rPr lang="en-US" dirty="0">
                <a:effectLst/>
              </a:rPr>
              <a:t> variable, you can do so by casting the integer to the </a:t>
            </a:r>
            <a:r>
              <a:rPr lang="en-US" dirty="0" err="1">
                <a:effectLst/>
              </a:rPr>
              <a:t>enum</a:t>
            </a:r>
            <a:r>
              <a:rPr lang="en-US" dirty="0">
                <a:effectLst/>
              </a:rPr>
              <a:t> data type. Here is an example:</a:t>
            </a:r>
          </a:p>
          <a:p>
            <a:pPr lvl="1"/>
            <a:r>
              <a:rPr lang="en-US" i="1" dirty="0">
                <a:solidFill>
                  <a:srgbClr val="FF0000"/>
                </a:solidFill>
              </a:rPr>
              <a:t>today = </a:t>
            </a:r>
            <a:r>
              <a:rPr lang="en-US" b="1" i="1" dirty="0" err="1">
                <a:solidFill>
                  <a:srgbClr val="FF0000"/>
                </a:solidFill>
                <a:effectLst/>
              </a:rPr>
              <a:t>static_cast</a:t>
            </a:r>
            <a:r>
              <a:rPr lang="en-US" i="1" dirty="0">
                <a:solidFill>
                  <a:srgbClr val="FF0000"/>
                </a:solidFill>
              </a:rPr>
              <a:t>&lt;Day&gt;(</a:t>
            </a:r>
            <a:r>
              <a:rPr lang="en-US" i="1" dirty="0">
                <a:solidFill>
                  <a:srgbClr val="FF0000"/>
                </a:solidFill>
                <a:effectLst/>
              </a:rPr>
              <a:t>3</a:t>
            </a:r>
            <a:r>
              <a:rPr lang="en-US" i="1" dirty="0">
                <a:solidFill>
                  <a:srgbClr val="FF0000"/>
                </a:solidFill>
              </a:rPr>
              <a:t>);</a:t>
            </a:r>
            <a:endParaRPr lang="en-US" i="1" dirty="0">
              <a:solidFill>
                <a:srgbClr val="FF0000"/>
              </a:solidFill>
              <a:effectLst/>
            </a:endParaRPr>
          </a:p>
          <a:p>
            <a:endParaRPr lang="en-US" dirty="0">
              <a:effectLst/>
            </a:endParaRPr>
          </a:p>
          <a:p>
            <a:r>
              <a:rPr lang="en-US" dirty="0"/>
              <a:t>This statement will produce the same results as:</a:t>
            </a:r>
          </a:p>
          <a:p>
            <a:pPr lvl="1"/>
            <a:r>
              <a:rPr lang="en-US" i="1" dirty="0">
                <a:solidFill>
                  <a:srgbClr val="FF0000"/>
                </a:solidFill>
              </a:rPr>
              <a:t>today = THURSDAY; </a:t>
            </a:r>
            <a:endParaRPr lang="en-US" i="1" dirty="0">
              <a:solidFill>
                <a:srgbClr val="FF0000"/>
              </a:solidFill>
              <a:effectLst/>
            </a:endParaRPr>
          </a:p>
          <a:p>
            <a:endParaRPr lang="en-US" i="1" dirty="0">
              <a:solidFill>
                <a:srgbClr val="FF0000"/>
              </a:solidFill>
            </a:endParaRPr>
          </a:p>
        </p:txBody>
      </p:sp>
    </p:spTree>
    <p:extLst>
      <p:ext uri="{BB962C8B-B14F-4D97-AF65-F5344CB8AC3E}">
        <p14:creationId xmlns:p14="http://schemas.microsoft.com/office/powerpoint/2010/main" val="18856249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65D6E-819F-6BBD-52A3-E8B3730EA663}"/>
              </a:ext>
            </a:extLst>
          </p:cNvPr>
          <p:cNvSpPr>
            <a:spLocks noGrp="1"/>
          </p:cNvSpPr>
          <p:nvPr>
            <p:ph type="title"/>
          </p:nvPr>
        </p:nvSpPr>
        <p:spPr/>
        <p:txBody>
          <a:bodyPr/>
          <a:lstStyle/>
          <a:p>
            <a:r>
              <a:rPr lang="en-US" dirty="0"/>
              <a:t>Assigning an Enumerator to an int Variable</a:t>
            </a:r>
          </a:p>
        </p:txBody>
      </p:sp>
      <p:sp>
        <p:nvSpPr>
          <p:cNvPr id="3" name="Content Placeholder 2">
            <a:extLst>
              <a:ext uri="{FF2B5EF4-FFF2-40B4-BE49-F238E27FC236}">
                <a16:creationId xmlns:a16="http://schemas.microsoft.com/office/drawing/2014/main" id="{4C6063FB-DDC4-D1C7-4009-49D9B6D254C2}"/>
              </a:ext>
            </a:extLst>
          </p:cNvPr>
          <p:cNvSpPr>
            <a:spLocks noGrp="1"/>
          </p:cNvSpPr>
          <p:nvPr>
            <p:ph idx="1"/>
          </p:nvPr>
        </p:nvSpPr>
        <p:spPr/>
        <p:txBody>
          <a:bodyPr/>
          <a:lstStyle/>
          <a:p>
            <a:r>
              <a:rPr lang="en-US" dirty="0">
                <a:effectLst/>
              </a:rPr>
              <a:t>Although you cannot directly assign an integer value to an </a:t>
            </a:r>
            <a:r>
              <a:rPr lang="en-US" dirty="0" err="1">
                <a:effectLst/>
              </a:rPr>
              <a:t>enum</a:t>
            </a:r>
            <a:r>
              <a:rPr lang="en-US" dirty="0">
                <a:effectLst/>
              </a:rPr>
              <a:t> variable, you </a:t>
            </a:r>
            <a:r>
              <a:rPr lang="en-US" i="1" dirty="0">
                <a:effectLst/>
              </a:rPr>
              <a:t>can</a:t>
            </a:r>
            <a:r>
              <a:rPr lang="en-US" dirty="0">
                <a:effectLst/>
              </a:rPr>
              <a:t> directly assign an enumerator to an integer variable. </a:t>
            </a:r>
          </a:p>
          <a:p>
            <a:r>
              <a:rPr lang="en-US" dirty="0">
                <a:effectLst/>
              </a:rPr>
              <a:t>For example, the following code will work just fine.</a:t>
            </a:r>
          </a:p>
          <a:p>
            <a:endParaRPr lang="en-US" dirty="0"/>
          </a:p>
          <a:p>
            <a:endParaRPr lang="en-US" dirty="0"/>
          </a:p>
          <a:p>
            <a:endParaRPr lang="en-US" dirty="0"/>
          </a:p>
          <a:p>
            <a:endParaRPr lang="en-US" dirty="0"/>
          </a:p>
          <a:p>
            <a:r>
              <a:rPr lang="en-US" dirty="0"/>
              <a:t>When this code runs it will display 3 4.</a:t>
            </a:r>
            <a:endParaRPr lang="en-US" dirty="0">
              <a:effectLst/>
            </a:endParaRPr>
          </a:p>
          <a:p>
            <a:endParaRPr lang="en-US" dirty="0"/>
          </a:p>
        </p:txBody>
      </p:sp>
      <p:pic>
        <p:nvPicPr>
          <p:cNvPr id="4" name="Picture 3">
            <a:extLst>
              <a:ext uri="{FF2B5EF4-FFF2-40B4-BE49-F238E27FC236}">
                <a16:creationId xmlns:a16="http://schemas.microsoft.com/office/drawing/2014/main" id="{12596D0E-A3C6-3B57-0B59-7282BFDE4432}"/>
              </a:ext>
            </a:extLst>
          </p:cNvPr>
          <p:cNvPicPr>
            <a:picLocks noChangeAspect="1"/>
          </p:cNvPicPr>
          <p:nvPr/>
        </p:nvPicPr>
        <p:blipFill>
          <a:blip r:embed="rId2"/>
          <a:stretch>
            <a:fillRect/>
          </a:stretch>
        </p:blipFill>
        <p:spPr>
          <a:xfrm>
            <a:off x="3314700" y="3810363"/>
            <a:ext cx="5562600" cy="1397000"/>
          </a:xfrm>
          <a:prstGeom prst="rect">
            <a:avLst/>
          </a:prstGeom>
        </p:spPr>
      </p:pic>
    </p:spTree>
    <p:extLst>
      <p:ext uri="{BB962C8B-B14F-4D97-AF65-F5344CB8AC3E}">
        <p14:creationId xmlns:p14="http://schemas.microsoft.com/office/powerpoint/2010/main" val="347924405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2336C-0ED4-806A-A97F-F27CF8A8DC76}"/>
              </a:ext>
            </a:extLst>
          </p:cNvPr>
          <p:cNvSpPr>
            <a:spLocks noGrp="1"/>
          </p:cNvSpPr>
          <p:nvPr>
            <p:ph type="title"/>
          </p:nvPr>
        </p:nvSpPr>
        <p:spPr/>
        <p:txBody>
          <a:bodyPr/>
          <a:lstStyle/>
          <a:p>
            <a:r>
              <a:rPr lang="en-US" dirty="0"/>
              <a:t>Using Math Operators to Change the Value of an </a:t>
            </a:r>
            <a:r>
              <a:rPr lang="en-US" dirty="0" err="1"/>
              <a:t>enum</a:t>
            </a:r>
            <a:r>
              <a:rPr lang="en-US" dirty="0"/>
              <a:t> Variable</a:t>
            </a:r>
          </a:p>
        </p:txBody>
      </p:sp>
      <p:sp>
        <p:nvSpPr>
          <p:cNvPr id="3" name="Content Placeholder 2">
            <a:extLst>
              <a:ext uri="{FF2B5EF4-FFF2-40B4-BE49-F238E27FC236}">
                <a16:creationId xmlns:a16="http://schemas.microsoft.com/office/drawing/2014/main" id="{D57A86FE-D514-E36C-062E-8BE8A67578BF}"/>
              </a:ext>
            </a:extLst>
          </p:cNvPr>
          <p:cNvSpPr>
            <a:spLocks noGrp="1"/>
          </p:cNvSpPr>
          <p:nvPr>
            <p:ph idx="1"/>
          </p:nvPr>
        </p:nvSpPr>
        <p:spPr>
          <a:xfrm>
            <a:off x="838200" y="1825625"/>
            <a:ext cx="10515600" cy="4932226"/>
          </a:xfrm>
        </p:spPr>
        <p:txBody>
          <a:bodyPr>
            <a:normAutofit/>
          </a:bodyPr>
          <a:lstStyle/>
          <a:p>
            <a:r>
              <a:rPr lang="en-US" dirty="0"/>
              <a:t>Even though enumerators are really integers and </a:t>
            </a:r>
            <a:r>
              <a:rPr lang="en-US" dirty="0" err="1"/>
              <a:t>enum</a:t>
            </a:r>
            <a:r>
              <a:rPr lang="en-US" dirty="0"/>
              <a:t> variables really hold integer values, you can run into problems when trying to perform math operations with them. </a:t>
            </a:r>
          </a:p>
          <a:p>
            <a:r>
              <a:rPr lang="en-US" dirty="0"/>
              <a:t>For example, look at the following code.</a:t>
            </a:r>
          </a:p>
          <a:p>
            <a:endParaRPr lang="en-US" dirty="0"/>
          </a:p>
          <a:p>
            <a:endParaRPr lang="en-US" dirty="0"/>
          </a:p>
          <a:p>
            <a:r>
              <a:rPr lang="en-US" dirty="0"/>
              <a:t>The third statement causes a problem because the expression day1 + 1 results in the integer value 2. The assignment operator then attempts to assign the integer value 2 to the </a:t>
            </a:r>
            <a:r>
              <a:rPr lang="en-US" dirty="0" err="1"/>
              <a:t>enum</a:t>
            </a:r>
            <a:r>
              <a:rPr lang="en-US" dirty="0"/>
              <a:t> variable day2. Because C++ cannot implicitly convert an int to a Day, as previously discussed, an error occurs. </a:t>
            </a:r>
          </a:p>
        </p:txBody>
      </p:sp>
      <p:pic>
        <p:nvPicPr>
          <p:cNvPr id="4" name="Picture 3">
            <a:extLst>
              <a:ext uri="{FF2B5EF4-FFF2-40B4-BE49-F238E27FC236}">
                <a16:creationId xmlns:a16="http://schemas.microsoft.com/office/drawing/2014/main" id="{727DC0D8-1389-6D07-E3C1-F09C8ED33B3E}"/>
              </a:ext>
            </a:extLst>
          </p:cNvPr>
          <p:cNvPicPr>
            <a:picLocks noChangeAspect="1"/>
          </p:cNvPicPr>
          <p:nvPr/>
        </p:nvPicPr>
        <p:blipFill>
          <a:blip r:embed="rId2"/>
          <a:stretch>
            <a:fillRect/>
          </a:stretch>
        </p:blipFill>
        <p:spPr>
          <a:xfrm>
            <a:off x="3759200" y="3620588"/>
            <a:ext cx="4673600" cy="990600"/>
          </a:xfrm>
          <a:prstGeom prst="rect">
            <a:avLst/>
          </a:prstGeom>
        </p:spPr>
      </p:pic>
    </p:spTree>
    <p:extLst>
      <p:ext uri="{BB962C8B-B14F-4D97-AF65-F5344CB8AC3E}">
        <p14:creationId xmlns:p14="http://schemas.microsoft.com/office/powerpoint/2010/main" val="41513922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3DE6E-1FE1-14B1-CEB1-6052EF76A9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6D9F86-5FF6-8556-2079-BDAF280921C8}"/>
              </a:ext>
            </a:extLst>
          </p:cNvPr>
          <p:cNvSpPr>
            <a:spLocks noGrp="1"/>
          </p:cNvSpPr>
          <p:nvPr>
            <p:ph type="title"/>
          </p:nvPr>
        </p:nvSpPr>
        <p:spPr/>
        <p:txBody>
          <a:bodyPr/>
          <a:lstStyle/>
          <a:p>
            <a:r>
              <a:rPr lang="en-US" dirty="0"/>
              <a:t>Using Math Operators to Change the Value of an </a:t>
            </a:r>
            <a:r>
              <a:rPr lang="en-US" dirty="0" err="1"/>
              <a:t>enum</a:t>
            </a:r>
            <a:r>
              <a:rPr lang="en-US" dirty="0"/>
              <a:t> Variable</a:t>
            </a:r>
          </a:p>
        </p:txBody>
      </p:sp>
      <p:sp>
        <p:nvSpPr>
          <p:cNvPr id="3" name="Content Placeholder 2">
            <a:extLst>
              <a:ext uri="{FF2B5EF4-FFF2-40B4-BE49-F238E27FC236}">
                <a16:creationId xmlns:a16="http://schemas.microsoft.com/office/drawing/2014/main" id="{E7DD8C2C-3DBA-61E0-6774-CA274E403215}"/>
              </a:ext>
            </a:extLst>
          </p:cNvPr>
          <p:cNvSpPr>
            <a:spLocks noGrp="1"/>
          </p:cNvSpPr>
          <p:nvPr>
            <p:ph idx="1"/>
          </p:nvPr>
        </p:nvSpPr>
        <p:spPr>
          <a:xfrm>
            <a:off x="838200" y="1825625"/>
            <a:ext cx="10515600" cy="4932226"/>
          </a:xfrm>
        </p:spPr>
        <p:txBody>
          <a:bodyPr>
            <a:normAutofit/>
          </a:bodyPr>
          <a:lstStyle/>
          <a:p>
            <a:r>
              <a:rPr lang="en-US" dirty="0"/>
              <a:t>We can fix this by using a cast as we did above to explicitly convert the result to the Day data type, as shown here:</a:t>
            </a:r>
          </a:p>
          <a:p>
            <a:pPr lvl="1"/>
            <a:r>
              <a:rPr lang="en-US" i="1" dirty="0">
                <a:solidFill>
                  <a:srgbClr val="FF0000"/>
                </a:solidFill>
              </a:rPr>
              <a:t>day2 = </a:t>
            </a:r>
            <a:r>
              <a:rPr lang="en-US" b="1" i="1" dirty="0" err="1">
                <a:solidFill>
                  <a:srgbClr val="FF0000"/>
                </a:solidFill>
                <a:effectLst/>
              </a:rPr>
              <a:t>static_cast</a:t>
            </a:r>
            <a:r>
              <a:rPr lang="en-US" i="1" dirty="0">
                <a:solidFill>
                  <a:srgbClr val="FF0000"/>
                </a:solidFill>
              </a:rPr>
              <a:t>&lt;Day&gt;(day1 + </a:t>
            </a:r>
            <a:r>
              <a:rPr lang="en-US" i="1" dirty="0">
                <a:solidFill>
                  <a:srgbClr val="FF0000"/>
                </a:solidFill>
                <a:effectLst/>
              </a:rPr>
              <a:t>1</a:t>
            </a:r>
            <a:r>
              <a:rPr lang="en-US" i="1" dirty="0">
                <a:solidFill>
                  <a:srgbClr val="FF0000"/>
                </a:solidFill>
              </a:rPr>
              <a:t>); </a:t>
            </a:r>
            <a:r>
              <a:rPr lang="en-US" i="1" dirty="0">
                <a:solidFill>
                  <a:srgbClr val="FF0000"/>
                </a:solidFill>
                <a:effectLst/>
              </a:rPr>
              <a:t>// This works</a:t>
            </a:r>
            <a:endParaRPr lang="en-US" i="1" dirty="0">
              <a:solidFill>
                <a:srgbClr val="FF0000"/>
              </a:solidFill>
            </a:endParaRPr>
          </a:p>
        </p:txBody>
      </p:sp>
    </p:spTree>
    <p:extLst>
      <p:ext uri="{BB962C8B-B14F-4D97-AF65-F5344CB8AC3E}">
        <p14:creationId xmlns:p14="http://schemas.microsoft.com/office/powerpoint/2010/main" val="36724617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49E38-02EC-B8DE-CE8F-A3D90A85F86E}"/>
              </a:ext>
            </a:extLst>
          </p:cNvPr>
          <p:cNvSpPr>
            <a:spLocks noGrp="1"/>
          </p:cNvSpPr>
          <p:nvPr>
            <p:ph type="title"/>
          </p:nvPr>
        </p:nvSpPr>
        <p:spPr/>
        <p:txBody>
          <a:bodyPr/>
          <a:lstStyle/>
          <a:p>
            <a:r>
              <a:rPr lang="en-US" dirty="0"/>
              <a:t>Using Enumerators to Output Values</a:t>
            </a:r>
          </a:p>
        </p:txBody>
      </p:sp>
      <p:sp>
        <p:nvSpPr>
          <p:cNvPr id="3" name="Content Placeholder 2">
            <a:extLst>
              <a:ext uri="{FF2B5EF4-FFF2-40B4-BE49-F238E27FC236}">
                <a16:creationId xmlns:a16="http://schemas.microsoft.com/office/drawing/2014/main" id="{E5C2B5D2-1211-2DD8-058C-AB4BE69F4321}"/>
              </a:ext>
            </a:extLst>
          </p:cNvPr>
          <p:cNvSpPr>
            <a:spLocks noGrp="1"/>
          </p:cNvSpPr>
          <p:nvPr>
            <p:ph idx="1"/>
          </p:nvPr>
        </p:nvSpPr>
        <p:spPr/>
        <p:txBody>
          <a:bodyPr/>
          <a:lstStyle/>
          <a:p>
            <a:r>
              <a:rPr lang="en-US" dirty="0"/>
              <a:t>As we have already seen, sending an enumerator to </a:t>
            </a:r>
            <a:r>
              <a:rPr lang="en-US" dirty="0" err="1"/>
              <a:t>cout</a:t>
            </a:r>
            <a:r>
              <a:rPr lang="en-US" dirty="0"/>
              <a:t> causes the enumerator’s integer value to be displayed. </a:t>
            </a:r>
          </a:p>
          <a:p>
            <a:r>
              <a:rPr lang="en-US" dirty="0"/>
              <a:t>For example, assuming we are using the Day type previously described, the following statement displays 0.</a:t>
            </a:r>
          </a:p>
          <a:p>
            <a:pPr lvl="1"/>
            <a:r>
              <a:rPr lang="en-US" i="1" dirty="0" err="1">
                <a:solidFill>
                  <a:srgbClr val="FF0000"/>
                </a:solidFill>
              </a:rPr>
              <a:t>cout</a:t>
            </a:r>
            <a:r>
              <a:rPr lang="en-US" i="1" dirty="0">
                <a:solidFill>
                  <a:srgbClr val="FF0000"/>
                </a:solidFill>
              </a:rPr>
              <a:t> &lt;&lt; MONDAY &lt;&lt; </a:t>
            </a:r>
            <a:r>
              <a:rPr lang="en-US" i="1" dirty="0" err="1">
                <a:solidFill>
                  <a:srgbClr val="FF0000"/>
                </a:solidFill>
              </a:rPr>
              <a:t>endl</a:t>
            </a:r>
            <a:r>
              <a:rPr lang="en-US" i="1" dirty="0">
                <a:solidFill>
                  <a:srgbClr val="FF0000"/>
                </a:solidFill>
              </a:rPr>
              <a:t>;</a:t>
            </a:r>
          </a:p>
        </p:txBody>
      </p:sp>
    </p:spTree>
    <p:extLst>
      <p:ext uri="{BB962C8B-B14F-4D97-AF65-F5344CB8AC3E}">
        <p14:creationId xmlns:p14="http://schemas.microsoft.com/office/powerpoint/2010/main" val="42514637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5006E-4517-A004-B5E8-892A0D282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E979B-4C1E-9F4B-CD1D-D5D02DBC6EBE}"/>
              </a:ext>
            </a:extLst>
          </p:cNvPr>
          <p:cNvSpPr>
            <a:spLocks noGrp="1"/>
          </p:cNvSpPr>
          <p:nvPr>
            <p:ph type="title"/>
          </p:nvPr>
        </p:nvSpPr>
        <p:spPr/>
        <p:txBody>
          <a:bodyPr/>
          <a:lstStyle/>
          <a:p>
            <a:r>
              <a:rPr lang="en-US" dirty="0"/>
              <a:t>Using Enumerators to Output Values</a:t>
            </a:r>
          </a:p>
        </p:txBody>
      </p:sp>
      <p:sp>
        <p:nvSpPr>
          <p:cNvPr id="3" name="Content Placeholder 2">
            <a:extLst>
              <a:ext uri="{FF2B5EF4-FFF2-40B4-BE49-F238E27FC236}">
                <a16:creationId xmlns:a16="http://schemas.microsoft.com/office/drawing/2014/main" id="{2832D2DC-7FBE-356A-48B4-F4D75E3C735F}"/>
              </a:ext>
            </a:extLst>
          </p:cNvPr>
          <p:cNvSpPr>
            <a:spLocks noGrp="1"/>
          </p:cNvSpPr>
          <p:nvPr>
            <p:ph idx="1"/>
          </p:nvPr>
        </p:nvSpPr>
        <p:spPr>
          <a:xfrm>
            <a:off x="838200" y="1825625"/>
            <a:ext cx="6912429" cy="4351338"/>
          </a:xfrm>
        </p:spPr>
        <p:txBody>
          <a:bodyPr/>
          <a:lstStyle/>
          <a:p>
            <a:r>
              <a:rPr lang="en-US" dirty="0"/>
              <a:t>If we wish to use the enumerator to display a string such as “Monday,” we’ll have to write code that produces the desired string. </a:t>
            </a:r>
          </a:p>
          <a:p>
            <a:r>
              <a:rPr lang="en-US" dirty="0"/>
              <a:t>For example, if </a:t>
            </a:r>
            <a:r>
              <a:rPr lang="en-US" dirty="0" err="1"/>
              <a:t>workDay</a:t>
            </a:r>
            <a:r>
              <a:rPr lang="en-US" dirty="0"/>
              <a:t> is a Day variable that has been initialized to some value, the following switch statement displays the name of a day, based on the value of the variable.</a:t>
            </a:r>
            <a:endParaRPr lang="en-US" i="1" dirty="0">
              <a:solidFill>
                <a:srgbClr val="FF0000"/>
              </a:solidFill>
            </a:endParaRPr>
          </a:p>
        </p:txBody>
      </p:sp>
      <p:pic>
        <p:nvPicPr>
          <p:cNvPr id="4" name="Picture 3">
            <a:extLst>
              <a:ext uri="{FF2B5EF4-FFF2-40B4-BE49-F238E27FC236}">
                <a16:creationId xmlns:a16="http://schemas.microsoft.com/office/drawing/2014/main" id="{6AEF0FC6-5A85-2A06-A6D3-E0A1CB52CE41}"/>
              </a:ext>
            </a:extLst>
          </p:cNvPr>
          <p:cNvPicPr>
            <a:picLocks noChangeAspect="1"/>
          </p:cNvPicPr>
          <p:nvPr/>
        </p:nvPicPr>
        <p:blipFill>
          <a:blip r:embed="rId2"/>
          <a:stretch>
            <a:fillRect/>
          </a:stretch>
        </p:blipFill>
        <p:spPr>
          <a:xfrm>
            <a:off x="8081555" y="1906180"/>
            <a:ext cx="3755360" cy="3170917"/>
          </a:xfrm>
          <a:prstGeom prst="rect">
            <a:avLst/>
          </a:prstGeom>
        </p:spPr>
      </p:pic>
    </p:spTree>
    <p:extLst>
      <p:ext uri="{BB962C8B-B14F-4D97-AF65-F5344CB8AC3E}">
        <p14:creationId xmlns:p14="http://schemas.microsoft.com/office/powerpoint/2010/main" val="339982315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1FD99-70DB-5314-4226-2E543C6560A8}"/>
              </a:ext>
            </a:extLst>
          </p:cNvPr>
          <p:cNvSpPr>
            <a:spLocks noGrp="1"/>
          </p:cNvSpPr>
          <p:nvPr>
            <p:ph type="title"/>
          </p:nvPr>
        </p:nvSpPr>
        <p:spPr/>
        <p:txBody>
          <a:bodyPr/>
          <a:lstStyle/>
          <a:p>
            <a:r>
              <a:rPr lang="en-US" dirty="0"/>
              <a:t>Using Enumerators to Control a Loop</a:t>
            </a:r>
          </a:p>
        </p:txBody>
      </p:sp>
      <p:sp>
        <p:nvSpPr>
          <p:cNvPr id="3" name="Content Placeholder 2">
            <a:extLst>
              <a:ext uri="{FF2B5EF4-FFF2-40B4-BE49-F238E27FC236}">
                <a16:creationId xmlns:a16="http://schemas.microsoft.com/office/drawing/2014/main" id="{FCF51724-FD0F-A91A-9337-841D57169741}"/>
              </a:ext>
            </a:extLst>
          </p:cNvPr>
          <p:cNvSpPr>
            <a:spLocks noGrp="1"/>
          </p:cNvSpPr>
          <p:nvPr>
            <p:ph idx="1"/>
          </p:nvPr>
        </p:nvSpPr>
        <p:spPr>
          <a:xfrm>
            <a:off x="838200" y="1547812"/>
            <a:ext cx="10515600" cy="4351338"/>
          </a:xfrm>
        </p:spPr>
        <p:txBody>
          <a:bodyPr/>
          <a:lstStyle/>
          <a:p>
            <a:r>
              <a:rPr lang="en-US" dirty="0"/>
              <a:t>Because enumerators are stored in memory as integers, we can use them to control how many iterations a loop should perform.</a:t>
            </a:r>
          </a:p>
          <a:p>
            <a:r>
              <a:rPr lang="en-US" dirty="0"/>
              <a:t>However, as discussed, we cannot assign the result of a math operation to an enumerator without first casting the result to its </a:t>
            </a:r>
            <a:r>
              <a:rPr lang="en-US" dirty="0" err="1"/>
              <a:t>enum</a:t>
            </a:r>
            <a:r>
              <a:rPr lang="en-US" dirty="0"/>
              <a:t> data type. </a:t>
            </a:r>
          </a:p>
          <a:p>
            <a:r>
              <a:rPr lang="en-US" dirty="0"/>
              <a:t>Therefore, we cannot use the ++ or –– operators directly on an </a:t>
            </a:r>
            <a:r>
              <a:rPr lang="en-US" dirty="0" err="1"/>
              <a:t>enum</a:t>
            </a:r>
            <a:r>
              <a:rPr lang="en-US" dirty="0"/>
              <a:t> variable. These code will not work.</a:t>
            </a:r>
          </a:p>
        </p:txBody>
      </p:sp>
      <p:pic>
        <p:nvPicPr>
          <p:cNvPr id="4" name="Picture 3">
            <a:extLst>
              <a:ext uri="{FF2B5EF4-FFF2-40B4-BE49-F238E27FC236}">
                <a16:creationId xmlns:a16="http://schemas.microsoft.com/office/drawing/2014/main" id="{D5ED6B1A-6BCA-925F-200C-B976CECFC7C0}"/>
              </a:ext>
            </a:extLst>
          </p:cNvPr>
          <p:cNvPicPr>
            <a:picLocks noChangeAspect="1"/>
          </p:cNvPicPr>
          <p:nvPr/>
        </p:nvPicPr>
        <p:blipFill>
          <a:blip r:embed="rId2"/>
          <a:stretch>
            <a:fillRect/>
          </a:stretch>
        </p:blipFill>
        <p:spPr>
          <a:xfrm>
            <a:off x="2774950" y="4740003"/>
            <a:ext cx="6642100" cy="1917700"/>
          </a:xfrm>
          <a:prstGeom prst="rect">
            <a:avLst/>
          </a:prstGeom>
        </p:spPr>
      </p:pic>
    </p:spTree>
    <p:extLst>
      <p:ext uri="{BB962C8B-B14F-4D97-AF65-F5344CB8AC3E}">
        <p14:creationId xmlns:p14="http://schemas.microsoft.com/office/powerpoint/2010/main" val="12136743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A0B7C-CDEF-C906-DD46-A475ADDD97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E177F-AB8D-C5E6-E5C4-DB6BAA66F75D}"/>
              </a:ext>
            </a:extLst>
          </p:cNvPr>
          <p:cNvSpPr>
            <a:spLocks noGrp="1"/>
          </p:cNvSpPr>
          <p:nvPr>
            <p:ph type="title"/>
          </p:nvPr>
        </p:nvSpPr>
        <p:spPr/>
        <p:txBody>
          <a:bodyPr/>
          <a:lstStyle/>
          <a:p>
            <a:r>
              <a:rPr lang="en-US" dirty="0"/>
              <a:t>Using Enumerators to Control a Loop</a:t>
            </a:r>
          </a:p>
        </p:txBody>
      </p:sp>
      <p:sp>
        <p:nvSpPr>
          <p:cNvPr id="3" name="Content Placeholder 2">
            <a:extLst>
              <a:ext uri="{FF2B5EF4-FFF2-40B4-BE49-F238E27FC236}">
                <a16:creationId xmlns:a16="http://schemas.microsoft.com/office/drawing/2014/main" id="{AA71E363-1172-39A0-6FA9-5C3BD49615C8}"/>
              </a:ext>
            </a:extLst>
          </p:cNvPr>
          <p:cNvSpPr>
            <a:spLocks noGrp="1"/>
          </p:cNvSpPr>
          <p:nvPr>
            <p:ph idx="1"/>
          </p:nvPr>
        </p:nvSpPr>
        <p:spPr>
          <a:xfrm>
            <a:off x="838200" y="1547812"/>
            <a:ext cx="10515600" cy="4351338"/>
          </a:xfrm>
        </p:spPr>
        <p:txBody>
          <a:bodyPr/>
          <a:lstStyle/>
          <a:p>
            <a:r>
              <a:rPr lang="en-US" dirty="0"/>
              <a:t>We can solve the problem by changing the for statement to the following:</a:t>
            </a:r>
          </a:p>
          <a:p>
            <a:endParaRPr lang="en-US" dirty="0"/>
          </a:p>
          <a:p>
            <a:endParaRPr lang="en-US" dirty="0"/>
          </a:p>
          <a:p>
            <a:endParaRPr lang="en-US" dirty="0"/>
          </a:p>
          <a:p>
            <a:r>
              <a:rPr lang="en-US" dirty="0"/>
              <a:t>However, it is simpler to make the loop control variable an int. Then you can write the loop like this:</a:t>
            </a:r>
          </a:p>
        </p:txBody>
      </p:sp>
      <p:pic>
        <p:nvPicPr>
          <p:cNvPr id="5" name="Picture 4">
            <a:extLst>
              <a:ext uri="{FF2B5EF4-FFF2-40B4-BE49-F238E27FC236}">
                <a16:creationId xmlns:a16="http://schemas.microsoft.com/office/drawing/2014/main" id="{D428B37D-E993-412C-EC9A-9CF8D557D6AE}"/>
              </a:ext>
            </a:extLst>
          </p:cNvPr>
          <p:cNvPicPr>
            <a:picLocks noChangeAspect="1"/>
          </p:cNvPicPr>
          <p:nvPr/>
        </p:nvPicPr>
        <p:blipFill>
          <a:blip r:embed="rId3"/>
          <a:stretch>
            <a:fillRect/>
          </a:stretch>
        </p:blipFill>
        <p:spPr>
          <a:xfrm>
            <a:off x="3547200" y="2738993"/>
            <a:ext cx="5097599" cy="690007"/>
          </a:xfrm>
          <a:prstGeom prst="rect">
            <a:avLst/>
          </a:prstGeom>
        </p:spPr>
      </p:pic>
      <p:pic>
        <p:nvPicPr>
          <p:cNvPr id="6" name="Picture 5">
            <a:extLst>
              <a:ext uri="{FF2B5EF4-FFF2-40B4-BE49-F238E27FC236}">
                <a16:creationId xmlns:a16="http://schemas.microsoft.com/office/drawing/2014/main" id="{F50D5D2E-D495-E921-F26F-E8E327FC6EB3}"/>
              </a:ext>
            </a:extLst>
          </p:cNvPr>
          <p:cNvPicPr>
            <a:picLocks noChangeAspect="1"/>
          </p:cNvPicPr>
          <p:nvPr/>
        </p:nvPicPr>
        <p:blipFill>
          <a:blip r:embed="rId4"/>
          <a:stretch>
            <a:fillRect/>
          </a:stretch>
        </p:blipFill>
        <p:spPr>
          <a:xfrm>
            <a:off x="3143249" y="5080000"/>
            <a:ext cx="5905500" cy="1638300"/>
          </a:xfrm>
          <a:prstGeom prst="rect">
            <a:avLst/>
          </a:prstGeom>
        </p:spPr>
      </p:pic>
    </p:spTree>
    <p:extLst>
      <p:ext uri="{BB962C8B-B14F-4D97-AF65-F5344CB8AC3E}">
        <p14:creationId xmlns:p14="http://schemas.microsoft.com/office/powerpoint/2010/main" val="1349831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TotalTime>
  <Words>3610</Words>
  <Application>Microsoft Macintosh PowerPoint</Application>
  <PresentationFormat>Widescreen</PresentationFormat>
  <Paragraphs>259</Paragraphs>
  <Slides>50</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Aptos</vt:lpstr>
      <vt:lpstr>Aptos Display</vt:lpstr>
      <vt:lpstr>Arial</vt:lpstr>
      <vt:lpstr>Office Theme</vt:lpstr>
      <vt:lpstr>CS 331</vt:lpstr>
      <vt:lpstr>Structures</vt:lpstr>
      <vt:lpstr>Structures</vt:lpstr>
      <vt:lpstr>Structures</vt:lpstr>
      <vt:lpstr>Example</vt:lpstr>
      <vt:lpstr>Structures</vt:lpstr>
      <vt:lpstr>Accessing Structure Members</vt:lpstr>
      <vt:lpstr>Accessing Structure Members</vt:lpstr>
      <vt:lpstr>Example</vt:lpstr>
      <vt:lpstr>Displaying and Comparing Structure Variables</vt:lpstr>
      <vt:lpstr>Displaying and Comparing Structure Variables</vt:lpstr>
      <vt:lpstr>Initializing a Structure</vt:lpstr>
      <vt:lpstr>Initializing a Structure</vt:lpstr>
      <vt:lpstr>Initializing a Structure</vt:lpstr>
      <vt:lpstr>Initializing a Structure</vt:lpstr>
      <vt:lpstr>Initializing a Structure</vt:lpstr>
      <vt:lpstr>Initializing a Structure</vt:lpstr>
      <vt:lpstr>Initializing a Structure</vt:lpstr>
      <vt:lpstr>Initializing a Structure</vt:lpstr>
      <vt:lpstr>Initializing a Structure</vt:lpstr>
      <vt:lpstr>Nested Structures</vt:lpstr>
      <vt:lpstr>Nested Structures</vt:lpstr>
      <vt:lpstr>Nested Structures</vt:lpstr>
      <vt:lpstr>Nested Structures</vt:lpstr>
      <vt:lpstr>Example</vt:lpstr>
      <vt:lpstr>Passing Structures to Functions</vt:lpstr>
      <vt:lpstr>Example</vt:lpstr>
      <vt:lpstr>Returning a Structure from a Function</vt:lpstr>
      <vt:lpstr>Returning a Structure from a Function</vt:lpstr>
      <vt:lpstr>Enumerated Data Types</vt:lpstr>
      <vt:lpstr>Enumerated Data Types</vt:lpstr>
      <vt:lpstr>Enumerated Data Types</vt:lpstr>
      <vt:lpstr>Enumerated Data Types</vt:lpstr>
      <vt:lpstr>Enumerated Data Types</vt:lpstr>
      <vt:lpstr>Enumerated Data Types</vt:lpstr>
      <vt:lpstr>Enumerated Data Types</vt:lpstr>
      <vt:lpstr>Enumerated Data Types</vt:lpstr>
      <vt:lpstr>Enumerated Data Types</vt:lpstr>
      <vt:lpstr>Enumerated Data Types</vt:lpstr>
      <vt:lpstr>Example</vt:lpstr>
      <vt:lpstr>Declaring an enum Data Type and Defining Variables All in One Statement </vt:lpstr>
      <vt:lpstr>Assigning an Integer to an enum Variable</vt:lpstr>
      <vt:lpstr>Assigning an Integer to an enum Variable</vt:lpstr>
      <vt:lpstr>Assigning an Enumerator to an int Variable</vt:lpstr>
      <vt:lpstr>Using Math Operators to Change the Value of an enum Variable</vt:lpstr>
      <vt:lpstr>Using Math Operators to Change the Value of an enum Variable</vt:lpstr>
      <vt:lpstr>Using Enumerators to Output Values</vt:lpstr>
      <vt:lpstr>Using Enumerators to Output Values</vt:lpstr>
      <vt:lpstr>Using Enumerators to Control a Loop</vt:lpstr>
      <vt:lpstr>Using Enumerators to Control a Loop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Romael Haque</dc:creator>
  <cp:lastModifiedBy>MD Romael Haque</cp:lastModifiedBy>
  <cp:revision>2</cp:revision>
  <dcterms:created xsi:type="dcterms:W3CDTF">2024-10-24T09:12:51Z</dcterms:created>
  <dcterms:modified xsi:type="dcterms:W3CDTF">2024-10-24T11:21:34Z</dcterms:modified>
</cp:coreProperties>
</file>