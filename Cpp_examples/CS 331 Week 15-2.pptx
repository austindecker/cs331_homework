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7" r:id="rId2"/>
    <p:sldId id="387" r:id="rId3"/>
    <p:sldId id="388" r:id="rId4"/>
    <p:sldId id="389" r:id="rId5"/>
    <p:sldId id="390" r:id="rId6"/>
    <p:sldId id="391" r:id="rId7"/>
    <p:sldId id="392" r:id="rId8"/>
    <p:sldId id="393" r:id="rId9"/>
    <p:sldId id="394" r:id="rId10"/>
    <p:sldId id="395" r:id="rId11"/>
    <p:sldId id="396" r:id="rId12"/>
    <p:sldId id="397" r:id="rId13"/>
    <p:sldId id="398" r:id="rId14"/>
    <p:sldId id="399" r:id="rId15"/>
    <p:sldId id="400" r:id="rId16"/>
    <p:sldId id="401" r:id="rId17"/>
    <p:sldId id="402" r:id="rId18"/>
    <p:sldId id="403" r:id="rId19"/>
    <p:sldId id="404" r:id="rId20"/>
    <p:sldId id="405" r:id="rId21"/>
    <p:sldId id="406" r:id="rId22"/>
    <p:sldId id="407" r:id="rId23"/>
    <p:sldId id="408" r:id="rId24"/>
    <p:sldId id="409" r:id="rId25"/>
    <p:sldId id="410" r:id="rId26"/>
    <p:sldId id="411" r:id="rId27"/>
    <p:sldId id="412" r:id="rId28"/>
    <p:sldId id="413" r:id="rId29"/>
    <p:sldId id="414" r:id="rId30"/>
    <p:sldId id="415" r:id="rId31"/>
    <p:sldId id="416" r:id="rId32"/>
    <p:sldId id="417" r:id="rId33"/>
    <p:sldId id="418" r:id="rId34"/>
    <p:sldId id="419" r:id="rId35"/>
    <p:sldId id="420" r:id="rId36"/>
    <p:sldId id="421" r:id="rId37"/>
    <p:sldId id="422" r:id="rId38"/>
    <p:sldId id="423" r:id="rId39"/>
    <p:sldId id="424" r:id="rId40"/>
    <p:sldId id="425" r:id="rId41"/>
    <p:sldId id="426" r:id="rId42"/>
    <p:sldId id="427" r:id="rId43"/>
    <p:sldId id="428" r:id="rId44"/>
    <p:sldId id="429" r:id="rId45"/>
    <p:sldId id="430" r:id="rId46"/>
    <p:sldId id="431" r:id="rId47"/>
    <p:sldId id="43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5"/>
    <p:restoredTop sz="84198"/>
  </p:normalViewPr>
  <p:slideViewPr>
    <p:cSldViewPr snapToGrid="0">
      <p:cViewPr varScale="1">
        <p:scale>
          <a:sx n="121" d="100"/>
          <a:sy n="121" d="100"/>
        </p:scale>
        <p:origin x="184" y="148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FDF5A-A32C-8547-BE32-BBF162778E9A}" type="datetimeFigureOut">
              <a:rPr lang="en-US" smtClean="0"/>
              <a:t>12/4/24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42356-7B73-6841-A35C-74E1C107F8AF}" type="slidenum">
              <a:rPr lang="en-US" smtClean="0"/>
              <a:t>‹#›</a:t>
            </a:fld>
            <a:endParaRPr lang="en-US"/>
          </a:p>
        </p:txBody>
      </p:sp>
    </p:spTree>
    <p:extLst>
      <p:ext uri="{BB962C8B-B14F-4D97-AF65-F5344CB8AC3E}">
        <p14:creationId xmlns:p14="http://schemas.microsoft.com/office/powerpoint/2010/main" val="138837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5</a:t>
            </a:fld>
            <a:endParaRPr lang="en-US"/>
          </a:p>
        </p:txBody>
      </p:sp>
    </p:spTree>
    <p:extLst>
      <p:ext uri="{BB962C8B-B14F-4D97-AF65-F5344CB8AC3E}">
        <p14:creationId xmlns:p14="http://schemas.microsoft.com/office/powerpoint/2010/main" val="2659203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9</a:t>
            </a:fld>
            <a:endParaRPr lang="en-US"/>
          </a:p>
        </p:txBody>
      </p:sp>
    </p:spTree>
    <p:extLst>
      <p:ext uri="{BB962C8B-B14F-4D97-AF65-F5344CB8AC3E}">
        <p14:creationId xmlns:p14="http://schemas.microsoft.com/office/powerpoint/2010/main" val="93386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10</a:t>
            </a:fld>
            <a:endParaRPr lang="en-US"/>
          </a:p>
        </p:txBody>
      </p:sp>
    </p:spTree>
    <p:extLst>
      <p:ext uri="{BB962C8B-B14F-4D97-AF65-F5344CB8AC3E}">
        <p14:creationId xmlns:p14="http://schemas.microsoft.com/office/powerpoint/2010/main" val="1366997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11</a:t>
            </a:fld>
            <a:endParaRPr lang="en-US"/>
          </a:p>
        </p:txBody>
      </p:sp>
    </p:spTree>
    <p:extLst>
      <p:ext uri="{BB962C8B-B14F-4D97-AF65-F5344CB8AC3E}">
        <p14:creationId xmlns:p14="http://schemas.microsoft.com/office/powerpoint/2010/main" val="4118635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12</a:t>
            </a:fld>
            <a:endParaRPr lang="en-US"/>
          </a:p>
        </p:txBody>
      </p:sp>
    </p:spTree>
    <p:extLst>
      <p:ext uri="{BB962C8B-B14F-4D97-AF65-F5344CB8AC3E}">
        <p14:creationId xmlns:p14="http://schemas.microsoft.com/office/powerpoint/2010/main" val="1068158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14</a:t>
            </a:fld>
            <a:endParaRPr lang="en-US"/>
          </a:p>
        </p:txBody>
      </p:sp>
    </p:spTree>
    <p:extLst>
      <p:ext uri="{BB962C8B-B14F-4D97-AF65-F5344CB8AC3E}">
        <p14:creationId xmlns:p14="http://schemas.microsoft.com/office/powerpoint/2010/main" val="2352721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20</a:t>
            </a:fld>
            <a:endParaRPr lang="en-US"/>
          </a:p>
        </p:txBody>
      </p:sp>
    </p:spTree>
    <p:extLst>
      <p:ext uri="{BB962C8B-B14F-4D97-AF65-F5344CB8AC3E}">
        <p14:creationId xmlns:p14="http://schemas.microsoft.com/office/powerpoint/2010/main" val="2514241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22</a:t>
            </a:fld>
            <a:endParaRPr lang="en-US"/>
          </a:p>
        </p:txBody>
      </p:sp>
    </p:spTree>
    <p:extLst>
      <p:ext uri="{BB962C8B-B14F-4D97-AF65-F5344CB8AC3E}">
        <p14:creationId xmlns:p14="http://schemas.microsoft.com/office/powerpoint/2010/main" val="4061295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09875-4450-5BB3-BE1E-E122D999B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006BF-9D94-6972-96D9-4B6D7D20D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01DF9-2A59-70B7-77D0-7D4C8ED3EF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A1F220-9FDA-D292-6991-3CEC110630E7}"/>
              </a:ext>
            </a:extLst>
          </p:cNvPr>
          <p:cNvSpPr>
            <a:spLocks noGrp="1"/>
          </p:cNvSpPr>
          <p:nvPr>
            <p:ph type="sldNum" sz="quarter" idx="5"/>
          </p:nvPr>
        </p:nvSpPr>
        <p:spPr/>
        <p:txBody>
          <a:bodyPr/>
          <a:lstStyle/>
          <a:p>
            <a:fld id="{C6942356-7B73-6841-A35C-74E1C107F8AF}" type="slidenum">
              <a:rPr lang="en-US" smtClean="0"/>
              <a:t>23</a:t>
            </a:fld>
            <a:endParaRPr lang="en-US"/>
          </a:p>
        </p:txBody>
      </p:sp>
    </p:spTree>
    <p:extLst>
      <p:ext uri="{BB962C8B-B14F-4D97-AF65-F5344CB8AC3E}">
        <p14:creationId xmlns:p14="http://schemas.microsoft.com/office/powerpoint/2010/main" val="2460188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26</a:t>
            </a:fld>
            <a:endParaRPr lang="en-US"/>
          </a:p>
        </p:txBody>
      </p:sp>
    </p:spTree>
    <p:extLst>
      <p:ext uri="{BB962C8B-B14F-4D97-AF65-F5344CB8AC3E}">
        <p14:creationId xmlns:p14="http://schemas.microsoft.com/office/powerpoint/2010/main" val="976647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2EF4A-2FCE-4822-2612-FF4DB499A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122BE-673F-1FFD-7498-0EA7D95AE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EDD23-385E-BC2D-1CB9-7B9E77366B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5F1C81-9758-D473-0A74-DBD3A39D0D36}"/>
              </a:ext>
            </a:extLst>
          </p:cNvPr>
          <p:cNvSpPr>
            <a:spLocks noGrp="1"/>
          </p:cNvSpPr>
          <p:nvPr>
            <p:ph type="sldNum" sz="quarter" idx="5"/>
          </p:nvPr>
        </p:nvSpPr>
        <p:spPr/>
        <p:txBody>
          <a:bodyPr/>
          <a:lstStyle/>
          <a:p>
            <a:fld id="{C6942356-7B73-6841-A35C-74E1C107F8AF}" type="slidenum">
              <a:rPr lang="en-US" smtClean="0"/>
              <a:t>27</a:t>
            </a:fld>
            <a:endParaRPr lang="en-US"/>
          </a:p>
        </p:txBody>
      </p:sp>
    </p:spTree>
    <p:extLst>
      <p:ext uri="{BB962C8B-B14F-4D97-AF65-F5344CB8AC3E}">
        <p14:creationId xmlns:p14="http://schemas.microsoft.com/office/powerpoint/2010/main" val="2370332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AAEBD-CF87-CF27-2D7E-6CFC8C2D85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2069E-3818-5B10-E2E5-BE7419AAB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39F53-D29B-9203-3B38-BF69E16E07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8A7F20-7346-147D-7BEE-897C27D082BB}"/>
              </a:ext>
            </a:extLst>
          </p:cNvPr>
          <p:cNvSpPr>
            <a:spLocks noGrp="1"/>
          </p:cNvSpPr>
          <p:nvPr>
            <p:ph type="sldNum" sz="quarter" idx="5"/>
          </p:nvPr>
        </p:nvSpPr>
        <p:spPr/>
        <p:txBody>
          <a:bodyPr/>
          <a:lstStyle/>
          <a:p>
            <a:fld id="{C6942356-7B73-6841-A35C-74E1C107F8AF}" type="slidenum">
              <a:rPr lang="en-US" smtClean="0"/>
              <a:t>28</a:t>
            </a:fld>
            <a:endParaRPr lang="en-US"/>
          </a:p>
        </p:txBody>
      </p:sp>
    </p:spTree>
    <p:extLst>
      <p:ext uri="{BB962C8B-B14F-4D97-AF65-F5344CB8AC3E}">
        <p14:creationId xmlns:p14="http://schemas.microsoft.com/office/powerpoint/2010/main" val="2839283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32</a:t>
            </a:fld>
            <a:endParaRPr lang="en-US"/>
          </a:p>
        </p:txBody>
      </p:sp>
    </p:spTree>
    <p:extLst>
      <p:ext uri="{BB962C8B-B14F-4D97-AF65-F5344CB8AC3E}">
        <p14:creationId xmlns:p14="http://schemas.microsoft.com/office/powerpoint/2010/main" val="3432479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EF14-3AC6-5655-81F6-F8F6AD4B5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C7FA3-FC42-08B6-4DA7-95A8163EF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63FDF-27D1-7185-F59E-BEB2E2CAC0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BD4B3-52C6-6139-D5FA-4359E30B699E}"/>
              </a:ext>
            </a:extLst>
          </p:cNvPr>
          <p:cNvSpPr>
            <a:spLocks noGrp="1"/>
          </p:cNvSpPr>
          <p:nvPr>
            <p:ph type="sldNum" sz="quarter" idx="5"/>
          </p:nvPr>
        </p:nvSpPr>
        <p:spPr/>
        <p:txBody>
          <a:bodyPr/>
          <a:lstStyle/>
          <a:p>
            <a:fld id="{C6942356-7B73-6841-A35C-74E1C107F8AF}" type="slidenum">
              <a:rPr lang="en-US" smtClean="0"/>
              <a:t>33</a:t>
            </a:fld>
            <a:endParaRPr lang="en-US"/>
          </a:p>
        </p:txBody>
      </p:sp>
    </p:spTree>
    <p:extLst>
      <p:ext uri="{BB962C8B-B14F-4D97-AF65-F5344CB8AC3E}">
        <p14:creationId xmlns:p14="http://schemas.microsoft.com/office/powerpoint/2010/main" val="4085415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DC776-0C8D-A25B-77DB-AA753417F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5881C-2D4D-21F7-B19D-2E82541D5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3303A-111F-A1E4-2619-B65E0259FA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3D5884-CF0C-3AA1-F0D7-D53CF94D6665}"/>
              </a:ext>
            </a:extLst>
          </p:cNvPr>
          <p:cNvSpPr>
            <a:spLocks noGrp="1"/>
          </p:cNvSpPr>
          <p:nvPr>
            <p:ph type="sldNum" sz="quarter" idx="5"/>
          </p:nvPr>
        </p:nvSpPr>
        <p:spPr/>
        <p:txBody>
          <a:bodyPr/>
          <a:lstStyle/>
          <a:p>
            <a:fld id="{C6942356-7B73-6841-A35C-74E1C107F8AF}" type="slidenum">
              <a:rPr lang="en-US" smtClean="0"/>
              <a:t>34</a:t>
            </a:fld>
            <a:endParaRPr lang="en-US"/>
          </a:p>
        </p:txBody>
      </p:sp>
    </p:spTree>
    <p:extLst>
      <p:ext uri="{BB962C8B-B14F-4D97-AF65-F5344CB8AC3E}">
        <p14:creationId xmlns:p14="http://schemas.microsoft.com/office/powerpoint/2010/main" val="24051848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35</a:t>
            </a:fld>
            <a:endParaRPr lang="en-US"/>
          </a:p>
        </p:txBody>
      </p:sp>
    </p:spTree>
    <p:extLst>
      <p:ext uri="{BB962C8B-B14F-4D97-AF65-F5344CB8AC3E}">
        <p14:creationId xmlns:p14="http://schemas.microsoft.com/office/powerpoint/2010/main" val="1202668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38</a:t>
            </a:fld>
            <a:endParaRPr lang="en-US"/>
          </a:p>
        </p:txBody>
      </p:sp>
    </p:spTree>
    <p:extLst>
      <p:ext uri="{BB962C8B-B14F-4D97-AF65-F5344CB8AC3E}">
        <p14:creationId xmlns:p14="http://schemas.microsoft.com/office/powerpoint/2010/main" val="4216597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5A13-B854-FEF1-5B31-E89F4CDAF6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A55454-25A5-FB24-7BB4-A610D3819E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72587B-5316-B024-432C-72E39D42ADFD}"/>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5" name="Footer Placeholder 4">
            <a:extLst>
              <a:ext uri="{FF2B5EF4-FFF2-40B4-BE49-F238E27FC236}">
                <a16:creationId xmlns:a16="http://schemas.microsoft.com/office/drawing/2014/main" id="{6B8A05AD-A334-7417-B5BA-C201B78D8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48CB7-6DE2-340F-BE6C-400C95B05025}"/>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156529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DE20A-C054-B157-9CEA-1F4CB1A602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1AA796-AF15-1136-8BF1-2AC0668964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3A8EAA-5AC0-6C29-0B19-C45A4A554100}"/>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5" name="Footer Placeholder 4">
            <a:extLst>
              <a:ext uri="{FF2B5EF4-FFF2-40B4-BE49-F238E27FC236}">
                <a16:creationId xmlns:a16="http://schemas.microsoft.com/office/drawing/2014/main" id="{B1349CB5-1429-911E-B92C-F98D5B2EF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E908C9-24B9-0B36-6AE2-1065FCFD4D55}"/>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09766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8788-5297-31E7-66F3-C7004B66CD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C5BEDA-3DDF-4A1E-03AB-C6DDEB093D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5FD719-6098-1540-27B3-D463741F6128}"/>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5" name="Footer Placeholder 4">
            <a:extLst>
              <a:ext uri="{FF2B5EF4-FFF2-40B4-BE49-F238E27FC236}">
                <a16:creationId xmlns:a16="http://schemas.microsoft.com/office/drawing/2014/main" id="{EC4D9247-4A81-5B56-9F6A-CEF5B8F5C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A2CA9-5931-01CA-02FB-6510FD9B7401}"/>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42587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BC85D-2F0F-3529-47BD-3EBD0265CC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105297-B806-E6DC-3960-C65606D3A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081DB2-9D29-5D99-B5B2-D41F009C37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BFF187-5880-DDA4-7B9D-AA33B0DF1853}"/>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6" name="Footer Placeholder 5">
            <a:extLst>
              <a:ext uri="{FF2B5EF4-FFF2-40B4-BE49-F238E27FC236}">
                <a16:creationId xmlns:a16="http://schemas.microsoft.com/office/drawing/2014/main" id="{484868B9-3D0E-C8D5-B3AA-88AFF19BD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99339-A896-E3B3-0FC3-FD98813FFE3D}"/>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45968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E7D8-D9E7-5C3C-D708-1EA2AE03EE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9D503D-C13D-C21F-71F3-8C03A4514E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BBAD4A-3EBB-E280-1F1E-8CDC959FC1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EFF078-1BD8-4BDA-2040-D66DB72B1C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94DCB-5FE9-DE22-8F28-A227C73F95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5C9F4-E7BE-C0DD-DCC6-6CA15F642A9F}"/>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8" name="Footer Placeholder 7">
            <a:extLst>
              <a:ext uri="{FF2B5EF4-FFF2-40B4-BE49-F238E27FC236}">
                <a16:creationId xmlns:a16="http://schemas.microsoft.com/office/drawing/2014/main" id="{B1203063-761A-C4B8-F6E7-FDEE437EA4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B83961-A0EB-140F-3D33-567F3923E40D}"/>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3406676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A51F-92B1-EA67-F548-611673F17F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6160C-DD99-AA5A-408B-2DCD716F397C}"/>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4" name="Footer Placeholder 3">
            <a:extLst>
              <a:ext uri="{FF2B5EF4-FFF2-40B4-BE49-F238E27FC236}">
                <a16:creationId xmlns:a16="http://schemas.microsoft.com/office/drawing/2014/main" id="{F9FE18C4-63A9-149B-450C-184E96549A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F24E41-A0DD-FE17-0361-5365C57F8C09}"/>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792577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37C97A-4E62-6B3D-9A4F-CD8A09B65715}"/>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3" name="Footer Placeholder 2">
            <a:extLst>
              <a:ext uri="{FF2B5EF4-FFF2-40B4-BE49-F238E27FC236}">
                <a16:creationId xmlns:a16="http://schemas.microsoft.com/office/drawing/2014/main" id="{DE930152-4671-32A9-6B67-369A92674B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BF3506-875B-C506-6876-FD0D1971AF9B}"/>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5133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95C23-AF3E-B01F-67EC-EF453D8637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0811C3-C184-DB58-8DFA-8556AEEE15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2DA31C-62CD-4699-F1C4-3FEE57417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7B9975-8A8D-A2A9-CC31-3CB96807C25A}"/>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6" name="Footer Placeholder 5">
            <a:extLst>
              <a:ext uri="{FF2B5EF4-FFF2-40B4-BE49-F238E27FC236}">
                <a16:creationId xmlns:a16="http://schemas.microsoft.com/office/drawing/2014/main" id="{4B9D317E-67F6-24F1-C975-03907CA175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22C7BE-29F4-B867-22B5-E8F482E5BF8E}"/>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661941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86DBB-9E9E-26F8-2E74-3182B3422E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E70FF9-9C1E-7F10-21DD-AD94BB9E82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9B9170-07B9-98AF-208B-0643E70A9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7150B-1601-0DAE-8B13-4E76F0478315}"/>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6" name="Footer Placeholder 5">
            <a:extLst>
              <a:ext uri="{FF2B5EF4-FFF2-40B4-BE49-F238E27FC236}">
                <a16:creationId xmlns:a16="http://schemas.microsoft.com/office/drawing/2014/main" id="{B8D37555-82FF-9BB2-70F4-8A9523E483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CAAC5-27BE-8990-B819-31E31F700C9B}"/>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708592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883C-6BD0-A51A-B2F0-70D6A4FE3B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128BC8-58C5-80CB-AE01-C5EEA848D8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83496B-C632-32DF-C3D1-5DAF18A32304}"/>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5" name="Footer Placeholder 4">
            <a:extLst>
              <a:ext uri="{FF2B5EF4-FFF2-40B4-BE49-F238E27FC236}">
                <a16:creationId xmlns:a16="http://schemas.microsoft.com/office/drawing/2014/main" id="{DEB93420-2EFF-120F-CD65-8FEB397E9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628D61-73D2-8C27-E682-0C43A5282682}"/>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29412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67A467-DE99-E6E3-1BA6-B85CE6E13B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1E3499-B99D-0687-4C87-50DD685561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EEF18-BC9C-07B3-3D4F-4E6622AD86ED}"/>
              </a:ext>
            </a:extLst>
          </p:cNvPr>
          <p:cNvSpPr>
            <a:spLocks noGrp="1"/>
          </p:cNvSpPr>
          <p:nvPr>
            <p:ph type="dt" sz="half" idx="10"/>
          </p:nvPr>
        </p:nvSpPr>
        <p:spPr/>
        <p:txBody>
          <a:bodyPr/>
          <a:lstStyle/>
          <a:p>
            <a:fld id="{13029EDB-FFA8-DA40-8313-CEFECF7259ED}" type="datetimeFigureOut">
              <a:rPr lang="en-US" smtClean="0"/>
              <a:t>12/4/24</a:t>
            </a:fld>
            <a:endParaRPr lang="en-US"/>
          </a:p>
        </p:txBody>
      </p:sp>
      <p:sp>
        <p:nvSpPr>
          <p:cNvPr id="5" name="Footer Placeholder 4">
            <a:extLst>
              <a:ext uri="{FF2B5EF4-FFF2-40B4-BE49-F238E27FC236}">
                <a16:creationId xmlns:a16="http://schemas.microsoft.com/office/drawing/2014/main" id="{800A473C-BA58-0A97-9DDA-4C61B89BE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D191D6-0922-60FB-67F1-B898480D4D90}"/>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124957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814785-6E2D-3051-1A2A-F615A32F27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AED476-0069-65CB-C881-B0D2C5B09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9841C-6D16-B62B-959F-D0057314E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029EDB-FFA8-DA40-8313-CEFECF7259ED}" type="datetimeFigureOut">
              <a:rPr lang="en-US" smtClean="0"/>
              <a:t>12/4/24</a:t>
            </a:fld>
            <a:endParaRPr lang="en-US"/>
          </a:p>
        </p:txBody>
      </p:sp>
      <p:sp>
        <p:nvSpPr>
          <p:cNvPr id="5" name="Footer Placeholder 4">
            <a:extLst>
              <a:ext uri="{FF2B5EF4-FFF2-40B4-BE49-F238E27FC236}">
                <a16:creationId xmlns:a16="http://schemas.microsoft.com/office/drawing/2014/main" id="{9F3D9F6A-827D-EDB2-31EC-A56572A1BD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88BF2A-DB4D-5728-06A8-65BDA379C8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8EE3C-F706-004C-A6D7-32EE5C5EF9A9}" type="slidenum">
              <a:rPr lang="en-US" smtClean="0"/>
              <a:t>‹#›</a:t>
            </a:fld>
            <a:endParaRPr lang="en-US"/>
          </a:p>
        </p:txBody>
      </p:sp>
    </p:spTree>
    <p:extLst>
      <p:ext uri="{BB962C8B-B14F-4D97-AF65-F5344CB8AC3E}">
        <p14:creationId xmlns:p14="http://schemas.microsoft.com/office/powerpoint/2010/main" val="3076257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228bcd1c-c348-4d67-9789-dd8766bfbf30?userPreferredType=study"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dfbec0d5-2000-4920-9161-f39a94a1df05?userPreferredType=stud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4511b9d9-3a6c-4019-b991-095edf016a97?userPreferredType=study&amp;iesCode=xOeDZV9nfv"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4511b9d9-3a6c-4019-b991-095edf016a97?userPreferredType=study&amp;iesCode=xOeDZV9nfv"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47B-603B-AF5A-83BF-216E6620EFAA}"/>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494582B3-C32A-7B08-8F83-037FA7F6E197}"/>
              </a:ext>
            </a:extLst>
          </p:cNvPr>
          <p:cNvSpPr>
            <a:spLocks noGrp="1"/>
          </p:cNvSpPr>
          <p:nvPr>
            <p:ph type="subTitle" idx="1"/>
          </p:nvPr>
        </p:nvSpPr>
        <p:spPr/>
        <p:txBody>
          <a:bodyPr/>
          <a:lstStyle/>
          <a:p>
            <a:r>
              <a:rPr lang="en-US" dirty="0"/>
              <a:t>Topic: </a:t>
            </a:r>
            <a:r>
              <a:rPr lang="en-US" b="1" dirty="0"/>
              <a:t>Exceptions and Templates Part 2</a:t>
            </a:r>
          </a:p>
          <a:p>
            <a:r>
              <a:rPr lang="en-US" dirty="0"/>
              <a:t>MD Romael Haque </a:t>
            </a:r>
          </a:p>
        </p:txBody>
      </p:sp>
    </p:spTree>
    <p:extLst>
      <p:ext uri="{BB962C8B-B14F-4D97-AF65-F5344CB8AC3E}">
        <p14:creationId xmlns:p14="http://schemas.microsoft.com/office/powerpoint/2010/main" val="3711160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2FE18-9D0F-B9E4-5939-B6B7F63C5829}"/>
              </a:ext>
            </a:extLst>
          </p:cNvPr>
          <p:cNvSpPr>
            <a:spLocks noGrp="1"/>
          </p:cNvSpPr>
          <p:nvPr>
            <p:ph type="title"/>
          </p:nvPr>
        </p:nvSpPr>
        <p:spPr/>
        <p:txBody>
          <a:bodyPr/>
          <a:lstStyle/>
          <a:p>
            <a:r>
              <a:rPr lang="en-US" dirty="0"/>
              <a:t>Multiple Exceptions</a:t>
            </a:r>
          </a:p>
        </p:txBody>
      </p:sp>
      <p:sp>
        <p:nvSpPr>
          <p:cNvPr id="3" name="Content Placeholder 2">
            <a:extLst>
              <a:ext uri="{FF2B5EF4-FFF2-40B4-BE49-F238E27FC236}">
                <a16:creationId xmlns:a16="http://schemas.microsoft.com/office/drawing/2014/main" id="{29B66726-C72B-7E37-6AB1-417F1FB8DE6F}"/>
              </a:ext>
            </a:extLst>
          </p:cNvPr>
          <p:cNvSpPr>
            <a:spLocks noGrp="1"/>
          </p:cNvSpPr>
          <p:nvPr>
            <p:ph idx="1"/>
          </p:nvPr>
        </p:nvSpPr>
        <p:spPr/>
        <p:txBody>
          <a:bodyPr/>
          <a:lstStyle/>
          <a:p>
            <a:r>
              <a:rPr lang="en-US" dirty="0"/>
              <a:t>The programs we have studied so far test only for a single type of error and throw only a single type of exception. </a:t>
            </a:r>
          </a:p>
          <a:p>
            <a:r>
              <a:rPr lang="en-US" dirty="0"/>
              <a:t>In many cases, a program will need to test for several different types of errors and signal which one has occurred. </a:t>
            </a:r>
          </a:p>
          <a:p>
            <a:r>
              <a:rPr lang="en-US" dirty="0"/>
              <a:t>C++ allows you to throw and catch multiple exceptions. </a:t>
            </a:r>
          </a:p>
          <a:p>
            <a:r>
              <a:rPr lang="en-US" dirty="0"/>
              <a:t>The only requirement is that each different exception be of a different type. </a:t>
            </a:r>
          </a:p>
          <a:p>
            <a:r>
              <a:rPr lang="en-US" dirty="0"/>
              <a:t>You then code a separate catch block for each type of exception that may be thrown in the try block.</a:t>
            </a:r>
          </a:p>
        </p:txBody>
      </p:sp>
    </p:spTree>
    <p:extLst>
      <p:ext uri="{BB962C8B-B14F-4D97-AF65-F5344CB8AC3E}">
        <p14:creationId xmlns:p14="http://schemas.microsoft.com/office/powerpoint/2010/main" val="1486931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D898-F135-DC83-6E48-2F3580267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6F0E1-FA15-FAAE-14CB-48A40A36A174}"/>
              </a:ext>
            </a:extLst>
          </p:cNvPr>
          <p:cNvSpPr>
            <a:spLocks noGrp="1"/>
          </p:cNvSpPr>
          <p:nvPr>
            <p:ph type="title"/>
          </p:nvPr>
        </p:nvSpPr>
        <p:spPr/>
        <p:txBody>
          <a:bodyPr/>
          <a:lstStyle/>
          <a:p>
            <a:r>
              <a:rPr lang="en-US" dirty="0"/>
              <a:t>Multiple Exceptions</a:t>
            </a:r>
          </a:p>
        </p:txBody>
      </p:sp>
      <p:sp>
        <p:nvSpPr>
          <p:cNvPr id="3" name="Content Placeholder 2">
            <a:extLst>
              <a:ext uri="{FF2B5EF4-FFF2-40B4-BE49-F238E27FC236}">
                <a16:creationId xmlns:a16="http://schemas.microsoft.com/office/drawing/2014/main" id="{A8090488-9AF2-48A2-471E-2E9D6581B31B}"/>
              </a:ext>
            </a:extLst>
          </p:cNvPr>
          <p:cNvSpPr>
            <a:spLocks noGrp="1"/>
          </p:cNvSpPr>
          <p:nvPr>
            <p:ph idx="1"/>
          </p:nvPr>
        </p:nvSpPr>
        <p:spPr>
          <a:xfrm>
            <a:off x="838200" y="1825625"/>
            <a:ext cx="10515600" cy="4667250"/>
          </a:xfrm>
        </p:spPr>
        <p:txBody>
          <a:bodyPr>
            <a:normAutofit/>
          </a:bodyPr>
          <a:lstStyle/>
          <a:p>
            <a:r>
              <a:rPr lang="en-US" dirty="0"/>
              <a:t>For example, suppose we wish to expand the</a:t>
            </a:r>
            <a:r>
              <a:rPr lang="en-US" i="1" dirty="0">
                <a:solidFill>
                  <a:srgbClr val="FF0000"/>
                </a:solidFill>
              </a:rPr>
              <a:t> </a:t>
            </a:r>
            <a:r>
              <a:rPr lang="en-US" i="1" dirty="0" err="1">
                <a:solidFill>
                  <a:srgbClr val="FF0000"/>
                </a:solidFill>
              </a:rPr>
              <a:t>IntRange</a:t>
            </a:r>
            <a:r>
              <a:rPr lang="en-US" i="1" dirty="0">
                <a:solidFill>
                  <a:srgbClr val="FF0000"/>
                </a:solidFill>
              </a:rPr>
              <a:t> </a:t>
            </a:r>
            <a:r>
              <a:rPr lang="en-US" dirty="0"/>
              <a:t>class so that it throws one type of exception if the user enters a value that is too low, and another type if the user enters a value that is too high. </a:t>
            </a:r>
          </a:p>
          <a:p>
            <a:r>
              <a:rPr lang="en-US" dirty="0"/>
              <a:t>First, we declare two different exception classes, such as</a:t>
            </a:r>
          </a:p>
          <a:p>
            <a:endParaRPr lang="en-US" dirty="0"/>
          </a:p>
          <a:p>
            <a:endParaRPr lang="en-US" dirty="0"/>
          </a:p>
          <a:p>
            <a:r>
              <a:rPr lang="en-US" dirty="0"/>
              <a:t>An instance of the </a:t>
            </a:r>
            <a:r>
              <a:rPr lang="en-US" dirty="0" err="1"/>
              <a:t>TooLow</a:t>
            </a:r>
            <a:r>
              <a:rPr lang="en-US" dirty="0"/>
              <a:t> class will be thrown when the user enters a low value, and an instance of the </a:t>
            </a:r>
            <a:r>
              <a:rPr lang="en-US" dirty="0" err="1"/>
              <a:t>TooHigh</a:t>
            </a:r>
            <a:r>
              <a:rPr lang="en-US" dirty="0"/>
              <a:t> class will be thrown when a high value is entered.</a:t>
            </a:r>
          </a:p>
        </p:txBody>
      </p:sp>
      <p:pic>
        <p:nvPicPr>
          <p:cNvPr id="4" name="Picture 3">
            <a:extLst>
              <a:ext uri="{FF2B5EF4-FFF2-40B4-BE49-F238E27FC236}">
                <a16:creationId xmlns:a16="http://schemas.microsoft.com/office/drawing/2014/main" id="{4BF81DDF-CD07-B0B8-A2AE-582616F7BD13}"/>
              </a:ext>
            </a:extLst>
          </p:cNvPr>
          <p:cNvPicPr>
            <a:picLocks noChangeAspect="1"/>
          </p:cNvPicPr>
          <p:nvPr/>
        </p:nvPicPr>
        <p:blipFill>
          <a:blip r:embed="rId2"/>
          <a:stretch>
            <a:fillRect/>
          </a:stretch>
        </p:blipFill>
        <p:spPr>
          <a:xfrm>
            <a:off x="5290850" y="3959730"/>
            <a:ext cx="1610299" cy="1039560"/>
          </a:xfrm>
          <a:prstGeom prst="rect">
            <a:avLst/>
          </a:prstGeom>
        </p:spPr>
      </p:pic>
    </p:spTree>
    <p:extLst>
      <p:ext uri="{BB962C8B-B14F-4D97-AF65-F5344CB8AC3E}">
        <p14:creationId xmlns:p14="http://schemas.microsoft.com/office/powerpoint/2010/main" val="3047627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4D4-7DC5-11FF-ED4A-9DAC3DCCC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F47AF-A6BD-3ACD-173B-C73D5DF77866}"/>
              </a:ext>
            </a:extLst>
          </p:cNvPr>
          <p:cNvSpPr>
            <a:spLocks noGrp="1"/>
          </p:cNvSpPr>
          <p:nvPr>
            <p:ph type="title"/>
          </p:nvPr>
        </p:nvSpPr>
        <p:spPr/>
        <p:txBody>
          <a:bodyPr/>
          <a:lstStyle/>
          <a:p>
            <a:r>
              <a:rPr lang="en-US" dirty="0"/>
              <a:t>Multiple Exceptions</a:t>
            </a:r>
          </a:p>
        </p:txBody>
      </p:sp>
      <p:sp>
        <p:nvSpPr>
          <p:cNvPr id="3" name="Content Placeholder 2">
            <a:extLst>
              <a:ext uri="{FF2B5EF4-FFF2-40B4-BE49-F238E27FC236}">
                <a16:creationId xmlns:a16="http://schemas.microsoft.com/office/drawing/2014/main" id="{7B5574F2-6657-9A98-5F45-4D1ED0B8589A}"/>
              </a:ext>
            </a:extLst>
          </p:cNvPr>
          <p:cNvSpPr>
            <a:spLocks noGrp="1"/>
          </p:cNvSpPr>
          <p:nvPr>
            <p:ph idx="1"/>
          </p:nvPr>
        </p:nvSpPr>
        <p:spPr>
          <a:xfrm>
            <a:off x="838200" y="1825625"/>
            <a:ext cx="10515600" cy="4667250"/>
          </a:xfrm>
        </p:spPr>
        <p:txBody>
          <a:bodyPr>
            <a:normAutofit/>
          </a:bodyPr>
          <a:lstStyle/>
          <a:p>
            <a:r>
              <a:rPr lang="en-US" dirty="0"/>
              <a:t>Now, we modify the </a:t>
            </a:r>
            <a:r>
              <a:rPr lang="en-US" i="1" dirty="0" err="1">
                <a:solidFill>
                  <a:srgbClr val="FF0000"/>
                </a:solidFill>
              </a:rPr>
              <a:t>getInput</a:t>
            </a:r>
            <a:r>
              <a:rPr lang="en-US" dirty="0"/>
              <a:t> member function to perform the two error tests and throw the appropriate exception:</a:t>
            </a:r>
          </a:p>
          <a:p>
            <a:endParaRPr lang="en-US" dirty="0"/>
          </a:p>
        </p:txBody>
      </p:sp>
      <p:pic>
        <p:nvPicPr>
          <p:cNvPr id="5" name="Picture 4">
            <a:extLst>
              <a:ext uri="{FF2B5EF4-FFF2-40B4-BE49-F238E27FC236}">
                <a16:creationId xmlns:a16="http://schemas.microsoft.com/office/drawing/2014/main" id="{BE4B774B-66E9-48BD-BA08-8F8D2488E7A1}"/>
              </a:ext>
            </a:extLst>
          </p:cNvPr>
          <p:cNvPicPr>
            <a:picLocks noChangeAspect="1"/>
          </p:cNvPicPr>
          <p:nvPr/>
        </p:nvPicPr>
        <p:blipFill>
          <a:blip r:embed="rId2"/>
          <a:stretch>
            <a:fillRect/>
          </a:stretch>
        </p:blipFill>
        <p:spPr>
          <a:xfrm>
            <a:off x="4240846" y="3150506"/>
            <a:ext cx="3710307" cy="1954893"/>
          </a:xfrm>
          <a:prstGeom prst="rect">
            <a:avLst/>
          </a:prstGeom>
        </p:spPr>
      </p:pic>
    </p:spTree>
    <p:extLst>
      <p:ext uri="{BB962C8B-B14F-4D97-AF65-F5344CB8AC3E}">
        <p14:creationId xmlns:p14="http://schemas.microsoft.com/office/powerpoint/2010/main" val="3722718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F0FEE-70C5-6B8E-D3A6-121EB16A2A76}"/>
              </a:ext>
            </a:extLst>
          </p:cNvPr>
          <p:cNvSpPr>
            <a:spLocks noGrp="1"/>
          </p:cNvSpPr>
          <p:nvPr>
            <p:ph type="title"/>
          </p:nvPr>
        </p:nvSpPr>
        <p:spPr/>
        <p:txBody>
          <a:bodyPr/>
          <a:lstStyle/>
          <a:p>
            <a:r>
              <a:rPr lang="en-US" dirty="0"/>
              <a:t>Contents of IntRange2.h</a:t>
            </a:r>
          </a:p>
        </p:txBody>
      </p:sp>
      <p:pic>
        <p:nvPicPr>
          <p:cNvPr id="4" name="Picture 3">
            <a:extLst>
              <a:ext uri="{FF2B5EF4-FFF2-40B4-BE49-F238E27FC236}">
                <a16:creationId xmlns:a16="http://schemas.microsoft.com/office/drawing/2014/main" id="{BACF3C45-C35A-3330-ED86-BEC172B974CF}"/>
              </a:ext>
            </a:extLst>
          </p:cNvPr>
          <p:cNvPicPr>
            <a:picLocks noChangeAspect="1"/>
          </p:cNvPicPr>
          <p:nvPr/>
        </p:nvPicPr>
        <p:blipFill>
          <a:blip r:embed="rId3"/>
          <a:stretch>
            <a:fillRect/>
          </a:stretch>
        </p:blipFill>
        <p:spPr>
          <a:xfrm>
            <a:off x="1399136" y="2294900"/>
            <a:ext cx="4549637" cy="2593293"/>
          </a:xfrm>
          <a:prstGeom prst="rect">
            <a:avLst/>
          </a:prstGeom>
        </p:spPr>
      </p:pic>
      <p:pic>
        <p:nvPicPr>
          <p:cNvPr id="5" name="Picture 4">
            <a:extLst>
              <a:ext uri="{FF2B5EF4-FFF2-40B4-BE49-F238E27FC236}">
                <a16:creationId xmlns:a16="http://schemas.microsoft.com/office/drawing/2014/main" id="{8369C513-CF6A-22B1-5769-43FCE900F63D}"/>
              </a:ext>
            </a:extLst>
          </p:cNvPr>
          <p:cNvPicPr>
            <a:picLocks noChangeAspect="1"/>
          </p:cNvPicPr>
          <p:nvPr/>
        </p:nvPicPr>
        <p:blipFill>
          <a:blip r:embed="rId4"/>
          <a:stretch>
            <a:fillRect/>
          </a:stretch>
        </p:blipFill>
        <p:spPr>
          <a:xfrm>
            <a:off x="7211285" y="1049616"/>
            <a:ext cx="4299900" cy="5083860"/>
          </a:xfrm>
          <a:prstGeom prst="rect">
            <a:avLst/>
          </a:prstGeom>
        </p:spPr>
      </p:pic>
    </p:spTree>
    <p:extLst>
      <p:ext uri="{BB962C8B-B14F-4D97-AF65-F5344CB8AC3E}">
        <p14:creationId xmlns:p14="http://schemas.microsoft.com/office/powerpoint/2010/main" val="3296714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F9ED-D49E-F020-2411-6A278A7848A2}"/>
              </a:ext>
            </a:extLst>
          </p:cNvPr>
          <p:cNvSpPr>
            <a:spLocks noGrp="1"/>
          </p:cNvSpPr>
          <p:nvPr>
            <p:ph type="title"/>
          </p:nvPr>
        </p:nvSpPr>
        <p:spPr/>
        <p:txBody>
          <a:bodyPr/>
          <a:lstStyle/>
          <a:p>
            <a:r>
              <a:rPr lang="en-US" dirty="0"/>
              <a:t>Main()</a:t>
            </a:r>
          </a:p>
        </p:txBody>
      </p:sp>
      <p:pic>
        <p:nvPicPr>
          <p:cNvPr id="4" name="Picture 3">
            <a:extLst>
              <a:ext uri="{FF2B5EF4-FFF2-40B4-BE49-F238E27FC236}">
                <a16:creationId xmlns:a16="http://schemas.microsoft.com/office/drawing/2014/main" id="{AB74546F-7306-9126-395B-3112143443FD}"/>
              </a:ext>
            </a:extLst>
          </p:cNvPr>
          <p:cNvPicPr>
            <a:picLocks noChangeAspect="1"/>
          </p:cNvPicPr>
          <p:nvPr/>
        </p:nvPicPr>
        <p:blipFill>
          <a:blip r:embed="rId2"/>
          <a:stretch>
            <a:fillRect/>
          </a:stretch>
        </p:blipFill>
        <p:spPr>
          <a:xfrm>
            <a:off x="5976257" y="62996"/>
            <a:ext cx="5279571" cy="6795004"/>
          </a:xfrm>
          <a:prstGeom prst="rect">
            <a:avLst/>
          </a:prstGeom>
        </p:spPr>
      </p:pic>
      <p:pic>
        <p:nvPicPr>
          <p:cNvPr id="5" name="Picture 4">
            <a:extLst>
              <a:ext uri="{FF2B5EF4-FFF2-40B4-BE49-F238E27FC236}">
                <a16:creationId xmlns:a16="http://schemas.microsoft.com/office/drawing/2014/main" id="{D2D5BBA9-52BB-399B-EF08-898B8BABFFB4}"/>
              </a:ext>
            </a:extLst>
          </p:cNvPr>
          <p:cNvPicPr>
            <a:picLocks noChangeAspect="1"/>
          </p:cNvPicPr>
          <p:nvPr/>
        </p:nvPicPr>
        <p:blipFill>
          <a:blip r:embed="rId3"/>
          <a:stretch>
            <a:fillRect/>
          </a:stretch>
        </p:blipFill>
        <p:spPr>
          <a:xfrm>
            <a:off x="718458" y="2963635"/>
            <a:ext cx="4941390" cy="1684565"/>
          </a:xfrm>
          <a:prstGeom prst="rect">
            <a:avLst/>
          </a:prstGeom>
        </p:spPr>
      </p:pic>
    </p:spTree>
    <p:extLst>
      <p:ext uri="{BB962C8B-B14F-4D97-AF65-F5344CB8AC3E}">
        <p14:creationId xmlns:p14="http://schemas.microsoft.com/office/powerpoint/2010/main" val="814946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4D0E2-DCB9-01A6-A576-EA32BB9491E4}"/>
              </a:ext>
            </a:extLst>
          </p:cNvPr>
          <p:cNvSpPr>
            <a:spLocks noGrp="1"/>
          </p:cNvSpPr>
          <p:nvPr>
            <p:ph type="title"/>
          </p:nvPr>
        </p:nvSpPr>
        <p:spPr/>
        <p:txBody>
          <a:bodyPr/>
          <a:lstStyle/>
          <a:p>
            <a:r>
              <a:rPr lang="en-US" dirty="0"/>
              <a:t>Extracting Information from the Exception Class</a:t>
            </a:r>
          </a:p>
        </p:txBody>
      </p:sp>
      <p:sp>
        <p:nvSpPr>
          <p:cNvPr id="3" name="Content Placeholder 2">
            <a:extLst>
              <a:ext uri="{FF2B5EF4-FFF2-40B4-BE49-F238E27FC236}">
                <a16:creationId xmlns:a16="http://schemas.microsoft.com/office/drawing/2014/main" id="{7D72A51E-76B4-FABA-9214-BD3239C48B9A}"/>
              </a:ext>
            </a:extLst>
          </p:cNvPr>
          <p:cNvSpPr>
            <a:spLocks noGrp="1"/>
          </p:cNvSpPr>
          <p:nvPr>
            <p:ph idx="1"/>
          </p:nvPr>
        </p:nvSpPr>
        <p:spPr/>
        <p:txBody>
          <a:bodyPr/>
          <a:lstStyle/>
          <a:p>
            <a:r>
              <a:rPr lang="en-US" dirty="0"/>
              <a:t>Sometimes we might want an exception to pass information back to the exception handler. </a:t>
            </a:r>
          </a:p>
          <a:p>
            <a:r>
              <a:rPr lang="en-US" dirty="0"/>
              <a:t>For example, suppose we would like the </a:t>
            </a:r>
            <a:r>
              <a:rPr lang="en-US" dirty="0" err="1"/>
              <a:t>IntRange</a:t>
            </a:r>
            <a:r>
              <a:rPr lang="en-US" dirty="0"/>
              <a:t> class not only to signal when an invalid value has been entered, but to pass the value back. </a:t>
            </a:r>
          </a:p>
          <a:p>
            <a:r>
              <a:rPr lang="en-US" dirty="0"/>
              <a:t>This can be accomplished by giving the exception class members in which information can be stored</a:t>
            </a:r>
          </a:p>
        </p:txBody>
      </p:sp>
    </p:spTree>
    <p:extLst>
      <p:ext uri="{BB962C8B-B14F-4D97-AF65-F5344CB8AC3E}">
        <p14:creationId xmlns:p14="http://schemas.microsoft.com/office/powerpoint/2010/main" val="238697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EA7F6-7E0C-9E46-402A-A8BC61685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61213-7DA8-3B37-2F97-33EC9C736975}"/>
              </a:ext>
            </a:extLst>
          </p:cNvPr>
          <p:cNvSpPr>
            <a:spLocks noGrp="1"/>
          </p:cNvSpPr>
          <p:nvPr>
            <p:ph type="title"/>
          </p:nvPr>
        </p:nvSpPr>
        <p:spPr/>
        <p:txBody>
          <a:bodyPr/>
          <a:lstStyle/>
          <a:p>
            <a:r>
              <a:rPr lang="en-US" dirty="0"/>
              <a:t>Extracting Information from the Exception Class</a:t>
            </a:r>
          </a:p>
        </p:txBody>
      </p:sp>
      <p:sp>
        <p:nvSpPr>
          <p:cNvPr id="3" name="Content Placeholder 2">
            <a:extLst>
              <a:ext uri="{FF2B5EF4-FFF2-40B4-BE49-F238E27FC236}">
                <a16:creationId xmlns:a16="http://schemas.microsoft.com/office/drawing/2014/main" id="{9DE21FD5-6C68-9AB2-7B44-0A3F08FDAD85}"/>
              </a:ext>
            </a:extLst>
          </p:cNvPr>
          <p:cNvSpPr>
            <a:spLocks noGrp="1"/>
          </p:cNvSpPr>
          <p:nvPr>
            <p:ph idx="1"/>
          </p:nvPr>
        </p:nvSpPr>
        <p:spPr/>
        <p:txBody>
          <a:bodyPr/>
          <a:lstStyle/>
          <a:p>
            <a:r>
              <a:rPr lang="en-US" dirty="0"/>
              <a:t>IntRange3, our next modification of the </a:t>
            </a:r>
            <a:r>
              <a:rPr lang="en-US" i="1" dirty="0" err="1">
                <a:solidFill>
                  <a:srgbClr val="FF0000"/>
                </a:solidFill>
              </a:rPr>
              <a:t>IntRange</a:t>
            </a:r>
            <a:r>
              <a:rPr lang="en-US" dirty="0"/>
              <a:t> class, again uses a single exception class: </a:t>
            </a:r>
            <a:r>
              <a:rPr lang="en-US" i="1" dirty="0" err="1">
                <a:solidFill>
                  <a:srgbClr val="FF0000"/>
                </a:solidFill>
              </a:rPr>
              <a:t>OutOfRange</a:t>
            </a:r>
            <a:r>
              <a:rPr lang="en-US" dirty="0"/>
              <a:t>. </a:t>
            </a:r>
          </a:p>
          <a:p>
            <a:r>
              <a:rPr lang="en-US" dirty="0"/>
              <a:t>This version of </a:t>
            </a:r>
            <a:r>
              <a:rPr lang="en-US" i="1" dirty="0" err="1">
                <a:solidFill>
                  <a:srgbClr val="FF0000"/>
                </a:solidFill>
              </a:rPr>
              <a:t>OutOfRange</a:t>
            </a:r>
            <a:r>
              <a:rPr lang="en-US" dirty="0"/>
              <a:t>, however, has a member variable and a constructor that initializes it:</a:t>
            </a:r>
          </a:p>
        </p:txBody>
      </p:sp>
      <p:pic>
        <p:nvPicPr>
          <p:cNvPr id="4" name="Picture 3">
            <a:extLst>
              <a:ext uri="{FF2B5EF4-FFF2-40B4-BE49-F238E27FC236}">
                <a16:creationId xmlns:a16="http://schemas.microsoft.com/office/drawing/2014/main" id="{5204D2D4-E01A-4F8E-B528-6E2D8CEFC8AA}"/>
              </a:ext>
            </a:extLst>
          </p:cNvPr>
          <p:cNvPicPr>
            <a:picLocks noChangeAspect="1"/>
          </p:cNvPicPr>
          <p:nvPr/>
        </p:nvPicPr>
        <p:blipFill>
          <a:blip r:embed="rId2"/>
          <a:stretch>
            <a:fillRect/>
          </a:stretch>
        </p:blipFill>
        <p:spPr>
          <a:xfrm>
            <a:off x="4322535" y="3648833"/>
            <a:ext cx="3546929" cy="2528130"/>
          </a:xfrm>
          <a:prstGeom prst="rect">
            <a:avLst/>
          </a:prstGeom>
        </p:spPr>
      </p:pic>
    </p:spTree>
    <p:extLst>
      <p:ext uri="{BB962C8B-B14F-4D97-AF65-F5344CB8AC3E}">
        <p14:creationId xmlns:p14="http://schemas.microsoft.com/office/powerpoint/2010/main" val="1765834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CC0DD-827E-C915-63D3-189B8F60B96A}"/>
              </a:ext>
            </a:extLst>
          </p:cNvPr>
          <p:cNvSpPr>
            <a:spLocks noGrp="1"/>
          </p:cNvSpPr>
          <p:nvPr>
            <p:ph type="title"/>
          </p:nvPr>
        </p:nvSpPr>
        <p:spPr/>
        <p:txBody>
          <a:bodyPr/>
          <a:lstStyle/>
          <a:p>
            <a:r>
              <a:rPr lang="en-US" dirty="0"/>
              <a:t>Extracting Information from the Exception Class</a:t>
            </a:r>
          </a:p>
        </p:txBody>
      </p:sp>
      <p:sp>
        <p:nvSpPr>
          <p:cNvPr id="3" name="Content Placeholder 2">
            <a:extLst>
              <a:ext uri="{FF2B5EF4-FFF2-40B4-BE49-F238E27FC236}">
                <a16:creationId xmlns:a16="http://schemas.microsoft.com/office/drawing/2014/main" id="{EE1E4963-AEEF-3C90-DCB6-A8320928B19B}"/>
              </a:ext>
            </a:extLst>
          </p:cNvPr>
          <p:cNvSpPr>
            <a:spLocks noGrp="1"/>
          </p:cNvSpPr>
          <p:nvPr>
            <p:ph idx="1"/>
          </p:nvPr>
        </p:nvSpPr>
        <p:spPr>
          <a:xfrm>
            <a:off x="838200" y="1825625"/>
            <a:ext cx="10515600" cy="4667250"/>
          </a:xfrm>
        </p:spPr>
        <p:txBody>
          <a:bodyPr>
            <a:normAutofit fontScale="92500" lnSpcReduction="10000"/>
          </a:bodyPr>
          <a:lstStyle/>
          <a:p>
            <a:r>
              <a:rPr lang="en-US" dirty="0"/>
              <a:t>When we throw this exception, we want to pass the value entered by the user to the </a:t>
            </a:r>
            <a:r>
              <a:rPr lang="en-US" i="1" dirty="0" err="1">
                <a:solidFill>
                  <a:srgbClr val="FF0000"/>
                </a:solidFill>
              </a:rPr>
              <a:t>OutOfRange’s</a:t>
            </a:r>
            <a:r>
              <a:rPr lang="en-US" dirty="0"/>
              <a:t> constructor. </a:t>
            </a:r>
          </a:p>
          <a:p>
            <a:r>
              <a:rPr lang="en-US" dirty="0"/>
              <a:t>This is done with the following statement:</a:t>
            </a:r>
          </a:p>
          <a:p>
            <a:endParaRPr lang="en-US" dirty="0"/>
          </a:p>
          <a:p>
            <a:endParaRPr lang="en-US" dirty="0"/>
          </a:p>
          <a:p>
            <a:r>
              <a:rPr lang="en-US" dirty="0"/>
              <a:t>This throw statement creates an instance of the </a:t>
            </a:r>
            <a:r>
              <a:rPr lang="en-US" i="1" dirty="0" err="1">
                <a:solidFill>
                  <a:srgbClr val="FF0000"/>
                </a:solidFill>
              </a:rPr>
              <a:t>OutOfRange</a:t>
            </a:r>
            <a:r>
              <a:rPr lang="en-US" dirty="0"/>
              <a:t> class and passes a copy of the input variable to the constructor. </a:t>
            </a:r>
          </a:p>
          <a:p>
            <a:r>
              <a:rPr lang="en-US" dirty="0"/>
              <a:t>The constructor then stores this number in </a:t>
            </a:r>
            <a:r>
              <a:rPr lang="en-US" i="1" dirty="0" err="1">
                <a:solidFill>
                  <a:srgbClr val="FF0000"/>
                </a:solidFill>
              </a:rPr>
              <a:t>OutOfRange’s</a:t>
            </a:r>
            <a:r>
              <a:rPr lang="en-US" dirty="0"/>
              <a:t> member variable value. </a:t>
            </a:r>
          </a:p>
          <a:p>
            <a:r>
              <a:rPr lang="en-US" dirty="0"/>
              <a:t>The class instance carries this member variable to the catch block that intercepts the exception.</a:t>
            </a:r>
          </a:p>
        </p:txBody>
      </p:sp>
      <p:pic>
        <p:nvPicPr>
          <p:cNvPr id="4" name="Picture 3">
            <a:extLst>
              <a:ext uri="{FF2B5EF4-FFF2-40B4-BE49-F238E27FC236}">
                <a16:creationId xmlns:a16="http://schemas.microsoft.com/office/drawing/2014/main" id="{4B51BD33-996D-C165-3290-97B4ED331218}"/>
              </a:ext>
            </a:extLst>
          </p:cNvPr>
          <p:cNvPicPr>
            <a:picLocks noChangeAspect="1"/>
          </p:cNvPicPr>
          <p:nvPr/>
        </p:nvPicPr>
        <p:blipFill>
          <a:blip r:embed="rId3"/>
          <a:stretch>
            <a:fillRect/>
          </a:stretch>
        </p:blipFill>
        <p:spPr>
          <a:xfrm>
            <a:off x="4304806" y="3241988"/>
            <a:ext cx="3104397" cy="374024"/>
          </a:xfrm>
          <a:prstGeom prst="rect">
            <a:avLst/>
          </a:prstGeom>
        </p:spPr>
      </p:pic>
    </p:spTree>
    <p:extLst>
      <p:ext uri="{BB962C8B-B14F-4D97-AF65-F5344CB8AC3E}">
        <p14:creationId xmlns:p14="http://schemas.microsoft.com/office/powerpoint/2010/main" val="3411737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0BAE-A471-F7CB-5FC1-D1AAAED1DB0E}"/>
              </a:ext>
            </a:extLst>
          </p:cNvPr>
          <p:cNvSpPr>
            <a:spLocks noGrp="1"/>
          </p:cNvSpPr>
          <p:nvPr>
            <p:ph type="title"/>
          </p:nvPr>
        </p:nvSpPr>
        <p:spPr/>
        <p:txBody>
          <a:bodyPr/>
          <a:lstStyle/>
          <a:p>
            <a:r>
              <a:rPr lang="en-US" dirty="0"/>
              <a:t>Extracting Information from the Exception Class</a:t>
            </a:r>
          </a:p>
        </p:txBody>
      </p:sp>
      <p:sp>
        <p:nvSpPr>
          <p:cNvPr id="3" name="Content Placeholder 2">
            <a:extLst>
              <a:ext uri="{FF2B5EF4-FFF2-40B4-BE49-F238E27FC236}">
                <a16:creationId xmlns:a16="http://schemas.microsoft.com/office/drawing/2014/main" id="{4666AE11-7831-C9BA-C298-11C025C45065}"/>
              </a:ext>
            </a:extLst>
          </p:cNvPr>
          <p:cNvSpPr>
            <a:spLocks noGrp="1"/>
          </p:cNvSpPr>
          <p:nvPr>
            <p:ph idx="1"/>
          </p:nvPr>
        </p:nvSpPr>
        <p:spPr/>
        <p:txBody>
          <a:bodyPr>
            <a:normAutofit fontScale="92500"/>
          </a:bodyPr>
          <a:lstStyle/>
          <a:p>
            <a:r>
              <a:rPr lang="en-US" dirty="0"/>
              <a:t>Back in the catch block, the value is extracted:</a:t>
            </a:r>
          </a:p>
          <a:p>
            <a:endParaRPr lang="en-US" dirty="0"/>
          </a:p>
          <a:p>
            <a:endParaRPr lang="en-US" dirty="0"/>
          </a:p>
          <a:p>
            <a:endParaRPr lang="en-US" dirty="0"/>
          </a:p>
          <a:p>
            <a:endParaRPr lang="en-US" dirty="0"/>
          </a:p>
          <a:p>
            <a:endParaRPr lang="en-US" dirty="0"/>
          </a:p>
          <a:p>
            <a:r>
              <a:rPr lang="en-US" dirty="0"/>
              <a:t>Notice that the catch block declares a parameter object named ex. </a:t>
            </a:r>
          </a:p>
          <a:p>
            <a:r>
              <a:rPr lang="en-US" dirty="0"/>
              <a:t>This is necessary because the exception has a member variable that we want to examine.</a:t>
            </a:r>
          </a:p>
        </p:txBody>
      </p:sp>
      <p:pic>
        <p:nvPicPr>
          <p:cNvPr id="4" name="Picture 3">
            <a:extLst>
              <a:ext uri="{FF2B5EF4-FFF2-40B4-BE49-F238E27FC236}">
                <a16:creationId xmlns:a16="http://schemas.microsoft.com/office/drawing/2014/main" id="{98DB0C4E-0ECE-7D33-736B-FF70682EEF9C}"/>
              </a:ext>
            </a:extLst>
          </p:cNvPr>
          <p:cNvPicPr>
            <a:picLocks noChangeAspect="1"/>
          </p:cNvPicPr>
          <p:nvPr/>
        </p:nvPicPr>
        <p:blipFill>
          <a:blip r:embed="rId3"/>
          <a:stretch>
            <a:fillRect/>
          </a:stretch>
        </p:blipFill>
        <p:spPr>
          <a:xfrm>
            <a:off x="3762629" y="2697843"/>
            <a:ext cx="4666741" cy="1754414"/>
          </a:xfrm>
          <a:prstGeom prst="rect">
            <a:avLst/>
          </a:prstGeom>
        </p:spPr>
      </p:pic>
    </p:spTree>
    <p:extLst>
      <p:ext uri="{BB962C8B-B14F-4D97-AF65-F5344CB8AC3E}">
        <p14:creationId xmlns:p14="http://schemas.microsoft.com/office/powerpoint/2010/main" val="3265160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7BC4-42E2-CB13-BB8F-A858E7F1E843}"/>
              </a:ext>
            </a:extLst>
          </p:cNvPr>
          <p:cNvSpPr>
            <a:spLocks noGrp="1"/>
          </p:cNvSpPr>
          <p:nvPr>
            <p:ph type="title"/>
          </p:nvPr>
        </p:nvSpPr>
        <p:spPr/>
        <p:txBody>
          <a:bodyPr/>
          <a:lstStyle/>
          <a:p>
            <a:r>
              <a:rPr lang="en-US" dirty="0"/>
              <a:t>Contents of IntRange3.h</a:t>
            </a:r>
          </a:p>
        </p:txBody>
      </p:sp>
      <p:pic>
        <p:nvPicPr>
          <p:cNvPr id="4" name="Picture 3">
            <a:extLst>
              <a:ext uri="{FF2B5EF4-FFF2-40B4-BE49-F238E27FC236}">
                <a16:creationId xmlns:a16="http://schemas.microsoft.com/office/drawing/2014/main" id="{836FBE62-B931-9B9F-BC07-44DDC9D08A7B}"/>
              </a:ext>
            </a:extLst>
          </p:cNvPr>
          <p:cNvPicPr>
            <a:picLocks noChangeAspect="1"/>
          </p:cNvPicPr>
          <p:nvPr/>
        </p:nvPicPr>
        <p:blipFill>
          <a:blip r:embed="rId3"/>
          <a:stretch>
            <a:fillRect/>
          </a:stretch>
        </p:blipFill>
        <p:spPr>
          <a:xfrm>
            <a:off x="1361868" y="2109091"/>
            <a:ext cx="3895530" cy="3026932"/>
          </a:xfrm>
          <a:prstGeom prst="rect">
            <a:avLst/>
          </a:prstGeom>
        </p:spPr>
      </p:pic>
      <p:pic>
        <p:nvPicPr>
          <p:cNvPr id="5" name="Picture 4">
            <a:extLst>
              <a:ext uri="{FF2B5EF4-FFF2-40B4-BE49-F238E27FC236}">
                <a16:creationId xmlns:a16="http://schemas.microsoft.com/office/drawing/2014/main" id="{F7F2FE5A-EE1F-46D8-23F4-79F02E58DAFC}"/>
              </a:ext>
            </a:extLst>
          </p:cNvPr>
          <p:cNvPicPr>
            <a:picLocks noChangeAspect="1"/>
          </p:cNvPicPr>
          <p:nvPr/>
        </p:nvPicPr>
        <p:blipFill>
          <a:blip r:embed="rId4"/>
          <a:stretch>
            <a:fillRect/>
          </a:stretch>
        </p:blipFill>
        <p:spPr>
          <a:xfrm>
            <a:off x="6934604" y="747730"/>
            <a:ext cx="4197825" cy="5362539"/>
          </a:xfrm>
          <a:prstGeom prst="rect">
            <a:avLst/>
          </a:prstGeom>
        </p:spPr>
      </p:pic>
    </p:spTree>
    <p:extLst>
      <p:ext uri="{BB962C8B-B14F-4D97-AF65-F5344CB8AC3E}">
        <p14:creationId xmlns:p14="http://schemas.microsoft.com/office/powerpoint/2010/main" val="3273718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59E7C-CB90-79A8-37B7-5A7B708776B0}"/>
              </a:ext>
            </a:extLst>
          </p:cNvPr>
          <p:cNvSpPr>
            <a:spLocks noGrp="1"/>
          </p:cNvSpPr>
          <p:nvPr>
            <p:ph type="title"/>
          </p:nvPr>
        </p:nvSpPr>
        <p:spPr>
          <a:xfrm>
            <a:off x="1512606" y="365125"/>
            <a:ext cx="9841194" cy="1325563"/>
          </a:xfrm>
        </p:spPr>
        <p:txBody>
          <a:bodyPr/>
          <a:lstStyle/>
          <a:p>
            <a:r>
              <a:rPr lang="en-US" dirty="0"/>
              <a:t>Main()</a:t>
            </a:r>
          </a:p>
        </p:txBody>
      </p:sp>
      <p:pic>
        <p:nvPicPr>
          <p:cNvPr id="4" name="Picture 3">
            <a:extLst>
              <a:ext uri="{FF2B5EF4-FFF2-40B4-BE49-F238E27FC236}">
                <a16:creationId xmlns:a16="http://schemas.microsoft.com/office/drawing/2014/main" id="{89A55496-E858-9AC2-6205-111B3D1A47A1}"/>
              </a:ext>
            </a:extLst>
          </p:cNvPr>
          <p:cNvPicPr>
            <a:picLocks noChangeAspect="1"/>
          </p:cNvPicPr>
          <p:nvPr/>
        </p:nvPicPr>
        <p:blipFill>
          <a:blip r:embed="rId3"/>
          <a:stretch>
            <a:fillRect/>
          </a:stretch>
        </p:blipFill>
        <p:spPr>
          <a:xfrm>
            <a:off x="4504404" y="28816"/>
            <a:ext cx="4749785" cy="6829184"/>
          </a:xfrm>
          <a:prstGeom prst="rect">
            <a:avLst/>
          </a:prstGeom>
        </p:spPr>
      </p:pic>
    </p:spTree>
    <p:extLst>
      <p:ext uri="{BB962C8B-B14F-4D97-AF65-F5344CB8AC3E}">
        <p14:creationId xmlns:p14="http://schemas.microsoft.com/office/powerpoint/2010/main" val="65419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14F8F-E8F4-AECA-E69A-99927944E61F}"/>
              </a:ext>
            </a:extLst>
          </p:cNvPr>
          <p:cNvSpPr>
            <a:spLocks noGrp="1"/>
          </p:cNvSpPr>
          <p:nvPr>
            <p:ph type="title"/>
          </p:nvPr>
        </p:nvSpPr>
        <p:spPr/>
        <p:txBody>
          <a:bodyPr/>
          <a:lstStyle/>
          <a:p>
            <a:r>
              <a:rPr lang="en-US" dirty="0"/>
              <a:t>Handling the </a:t>
            </a:r>
            <a:r>
              <a:rPr lang="en-US" dirty="0" err="1"/>
              <a:t>bad_alloc</a:t>
            </a:r>
            <a:r>
              <a:rPr lang="en-US" dirty="0"/>
              <a:t> Exception Thrown by new</a:t>
            </a:r>
          </a:p>
        </p:txBody>
      </p:sp>
      <p:sp>
        <p:nvSpPr>
          <p:cNvPr id="3" name="Content Placeholder 2">
            <a:extLst>
              <a:ext uri="{FF2B5EF4-FFF2-40B4-BE49-F238E27FC236}">
                <a16:creationId xmlns:a16="http://schemas.microsoft.com/office/drawing/2014/main" id="{1FEA597D-3D01-D60F-FE35-5979E2CD9A14}"/>
              </a:ext>
            </a:extLst>
          </p:cNvPr>
          <p:cNvSpPr>
            <a:spLocks noGrp="1"/>
          </p:cNvSpPr>
          <p:nvPr>
            <p:ph idx="1"/>
          </p:nvPr>
        </p:nvSpPr>
        <p:spPr>
          <a:xfrm>
            <a:off x="838200" y="1825625"/>
            <a:ext cx="5609422" cy="4351338"/>
          </a:xfrm>
        </p:spPr>
        <p:txBody>
          <a:bodyPr>
            <a:normAutofit/>
          </a:bodyPr>
          <a:lstStyle/>
          <a:p>
            <a:r>
              <a:rPr lang="en-US" dirty="0"/>
              <a:t>The new operator throws a system-defined exception of type </a:t>
            </a:r>
            <a:r>
              <a:rPr lang="en-US" dirty="0" err="1">
                <a:solidFill>
                  <a:srgbClr val="FF0000"/>
                </a:solidFill>
              </a:rPr>
              <a:t>bad_alloc</a:t>
            </a:r>
            <a:r>
              <a:rPr lang="en-US" dirty="0">
                <a:solidFill>
                  <a:srgbClr val="FF0000"/>
                </a:solidFill>
              </a:rPr>
              <a:t> </a:t>
            </a:r>
            <a:r>
              <a:rPr lang="en-US" dirty="0"/>
              <a:t>if it is unable to allocate the requested storage. </a:t>
            </a:r>
          </a:p>
          <a:p>
            <a:r>
              <a:rPr lang="en-US" dirty="0"/>
              <a:t>For example, this program attempts to allocate an array of two integers using the new operator inside a try block. </a:t>
            </a:r>
          </a:p>
        </p:txBody>
      </p:sp>
      <p:pic>
        <p:nvPicPr>
          <p:cNvPr id="4" name="Picture 3">
            <a:extLst>
              <a:ext uri="{FF2B5EF4-FFF2-40B4-BE49-F238E27FC236}">
                <a16:creationId xmlns:a16="http://schemas.microsoft.com/office/drawing/2014/main" id="{6470C561-074D-53DA-088C-B01337BB6DE7}"/>
              </a:ext>
            </a:extLst>
          </p:cNvPr>
          <p:cNvPicPr>
            <a:picLocks noChangeAspect="1"/>
          </p:cNvPicPr>
          <p:nvPr/>
        </p:nvPicPr>
        <p:blipFill>
          <a:blip r:embed="rId2"/>
          <a:stretch>
            <a:fillRect/>
          </a:stretch>
        </p:blipFill>
        <p:spPr>
          <a:xfrm>
            <a:off x="6854260" y="1170951"/>
            <a:ext cx="4092902" cy="5591711"/>
          </a:xfrm>
          <a:prstGeom prst="rect">
            <a:avLst/>
          </a:prstGeom>
        </p:spPr>
      </p:pic>
    </p:spTree>
    <p:extLst>
      <p:ext uri="{BB962C8B-B14F-4D97-AF65-F5344CB8AC3E}">
        <p14:creationId xmlns:p14="http://schemas.microsoft.com/office/powerpoint/2010/main" val="2706375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E458D-DD3A-E894-2CBB-ED8EE28F4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D10B8-1DBF-F6D4-A399-B0872FD1A7A4}"/>
              </a:ext>
            </a:extLst>
          </p:cNvPr>
          <p:cNvSpPr>
            <a:spLocks noGrp="1"/>
          </p:cNvSpPr>
          <p:nvPr>
            <p:ph type="title"/>
          </p:nvPr>
        </p:nvSpPr>
        <p:spPr/>
        <p:txBody>
          <a:bodyPr/>
          <a:lstStyle/>
          <a:p>
            <a:r>
              <a:rPr lang="en-US" dirty="0"/>
              <a:t>Handling the </a:t>
            </a:r>
            <a:r>
              <a:rPr lang="en-US" dirty="0" err="1"/>
              <a:t>bad_alloc</a:t>
            </a:r>
            <a:r>
              <a:rPr lang="en-US" dirty="0"/>
              <a:t> Exception Thrown by new</a:t>
            </a:r>
          </a:p>
        </p:txBody>
      </p:sp>
      <p:sp>
        <p:nvSpPr>
          <p:cNvPr id="3" name="Content Placeholder 2">
            <a:extLst>
              <a:ext uri="{FF2B5EF4-FFF2-40B4-BE49-F238E27FC236}">
                <a16:creationId xmlns:a16="http://schemas.microsoft.com/office/drawing/2014/main" id="{210F35B2-D83F-B0EE-B285-98C227C77875}"/>
              </a:ext>
            </a:extLst>
          </p:cNvPr>
          <p:cNvSpPr>
            <a:spLocks noGrp="1"/>
          </p:cNvSpPr>
          <p:nvPr>
            <p:ph idx="1"/>
          </p:nvPr>
        </p:nvSpPr>
        <p:spPr>
          <a:xfrm>
            <a:off x="838200" y="1825625"/>
            <a:ext cx="5609422" cy="4351338"/>
          </a:xfrm>
        </p:spPr>
        <p:txBody>
          <a:bodyPr>
            <a:normAutofit fontScale="92500"/>
          </a:bodyPr>
          <a:lstStyle/>
          <a:p>
            <a:r>
              <a:rPr lang="en-US" dirty="0"/>
              <a:t>If the allocation fails, the resulting </a:t>
            </a:r>
            <a:r>
              <a:rPr lang="en-US" dirty="0" err="1">
                <a:solidFill>
                  <a:srgbClr val="FF0000"/>
                </a:solidFill>
              </a:rPr>
              <a:t>bad_alloc</a:t>
            </a:r>
            <a:r>
              <a:rPr lang="en-US" dirty="0">
                <a:solidFill>
                  <a:srgbClr val="FF0000"/>
                </a:solidFill>
              </a:rPr>
              <a:t> </a:t>
            </a:r>
            <a:r>
              <a:rPr lang="en-US" dirty="0"/>
              <a:t>exception is caught in the attached catch block and the program is terminated with an appropriate error message. </a:t>
            </a:r>
          </a:p>
          <a:p>
            <a:r>
              <a:rPr lang="en-US" dirty="0"/>
              <a:t>If the allocation succeeds, the program proceeds to print the two numbers 10 and 20. </a:t>
            </a:r>
          </a:p>
          <a:p>
            <a:r>
              <a:rPr lang="en-US" dirty="0"/>
              <a:t>The </a:t>
            </a:r>
            <a:r>
              <a:rPr lang="en-US" dirty="0" err="1">
                <a:solidFill>
                  <a:srgbClr val="FF0000"/>
                </a:solidFill>
              </a:rPr>
              <a:t>bad_alloc</a:t>
            </a:r>
            <a:r>
              <a:rPr lang="en-US" dirty="0">
                <a:solidFill>
                  <a:srgbClr val="FF0000"/>
                </a:solidFill>
              </a:rPr>
              <a:t> </a:t>
            </a:r>
            <a:r>
              <a:rPr lang="en-US" dirty="0"/>
              <a:t>type is defined in the header file </a:t>
            </a:r>
            <a:r>
              <a:rPr lang="en-US" i="1" dirty="0">
                <a:solidFill>
                  <a:srgbClr val="FF0000"/>
                </a:solidFill>
              </a:rPr>
              <a:t>new</a:t>
            </a:r>
            <a:r>
              <a:rPr lang="en-US" dirty="0"/>
              <a:t>, which must be included in programs that refer to it.</a:t>
            </a:r>
          </a:p>
        </p:txBody>
      </p:sp>
      <p:pic>
        <p:nvPicPr>
          <p:cNvPr id="4" name="Picture 3">
            <a:extLst>
              <a:ext uri="{FF2B5EF4-FFF2-40B4-BE49-F238E27FC236}">
                <a16:creationId xmlns:a16="http://schemas.microsoft.com/office/drawing/2014/main" id="{DB38F663-7A57-1CAF-2574-7A32529701E2}"/>
              </a:ext>
            </a:extLst>
          </p:cNvPr>
          <p:cNvPicPr>
            <a:picLocks noChangeAspect="1"/>
          </p:cNvPicPr>
          <p:nvPr/>
        </p:nvPicPr>
        <p:blipFill>
          <a:blip r:embed="rId3"/>
          <a:stretch>
            <a:fillRect/>
          </a:stretch>
        </p:blipFill>
        <p:spPr>
          <a:xfrm>
            <a:off x="6854260" y="1170951"/>
            <a:ext cx="4092902" cy="5591711"/>
          </a:xfrm>
          <a:prstGeom prst="rect">
            <a:avLst/>
          </a:prstGeom>
        </p:spPr>
      </p:pic>
    </p:spTree>
    <p:extLst>
      <p:ext uri="{BB962C8B-B14F-4D97-AF65-F5344CB8AC3E}">
        <p14:creationId xmlns:p14="http://schemas.microsoft.com/office/powerpoint/2010/main" val="2815231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3566-A1D3-442F-B932-E4D094A7CFEE}"/>
              </a:ext>
            </a:extLst>
          </p:cNvPr>
          <p:cNvSpPr>
            <a:spLocks noGrp="1"/>
          </p:cNvSpPr>
          <p:nvPr>
            <p:ph type="title"/>
          </p:nvPr>
        </p:nvSpPr>
        <p:spPr/>
        <p:txBody>
          <a:bodyPr/>
          <a:lstStyle/>
          <a:p>
            <a:r>
              <a:rPr lang="en-US" dirty="0"/>
              <a:t>Unwinding the Stack</a:t>
            </a:r>
          </a:p>
        </p:txBody>
      </p:sp>
      <p:sp>
        <p:nvSpPr>
          <p:cNvPr id="3" name="Content Placeholder 2">
            <a:extLst>
              <a:ext uri="{FF2B5EF4-FFF2-40B4-BE49-F238E27FC236}">
                <a16:creationId xmlns:a16="http://schemas.microsoft.com/office/drawing/2014/main" id="{1352021D-BD7D-C0E6-9799-4DF77CCB00C7}"/>
              </a:ext>
            </a:extLst>
          </p:cNvPr>
          <p:cNvSpPr>
            <a:spLocks noGrp="1"/>
          </p:cNvSpPr>
          <p:nvPr>
            <p:ph idx="1"/>
          </p:nvPr>
        </p:nvSpPr>
        <p:spPr/>
        <p:txBody>
          <a:bodyPr/>
          <a:lstStyle/>
          <a:p>
            <a:r>
              <a:rPr lang="en-US" dirty="0"/>
              <a:t>If an exception is thrown in a try block that has a catch block capable of handling the exception, control transfers from the throw point to the catch block. </a:t>
            </a:r>
          </a:p>
          <a:p>
            <a:r>
              <a:rPr lang="en-US" dirty="0"/>
              <a:t>Assuming that the catch block executes to completion without throwing further exceptions, returning from the function, or terminating the program, execution will continue at the first statement after the sequence of catch blocks attached to the try block.</a:t>
            </a:r>
          </a:p>
        </p:txBody>
      </p:sp>
    </p:spTree>
    <p:extLst>
      <p:ext uri="{BB962C8B-B14F-4D97-AF65-F5344CB8AC3E}">
        <p14:creationId xmlns:p14="http://schemas.microsoft.com/office/powerpoint/2010/main" val="530061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3102E-44A7-59D9-097A-6F41ECF27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4CB87-8747-51A1-A32A-856785275DE8}"/>
              </a:ext>
            </a:extLst>
          </p:cNvPr>
          <p:cNvSpPr>
            <a:spLocks noGrp="1"/>
          </p:cNvSpPr>
          <p:nvPr>
            <p:ph type="title"/>
          </p:nvPr>
        </p:nvSpPr>
        <p:spPr/>
        <p:txBody>
          <a:bodyPr/>
          <a:lstStyle/>
          <a:p>
            <a:r>
              <a:rPr lang="en-US" dirty="0"/>
              <a:t>Unwinding the Stack</a:t>
            </a:r>
          </a:p>
        </p:txBody>
      </p:sp>
      <p:sp>
        <p:nvSpPr>
          <p:cNvPr id="3" name="Content Placeholder 2">
            <a:extLst>
              <a:ext uri="{FF2B5EF4-FFF2-40B4-BE49-F238E27FC236}">
                <a16:creationId xmlns:a16="http://schemas.microsoft.com/office/drawing/2014/main" id="{45E77CE0-AD41-6C71-2DDC-C280C95A6EE6}"/>
              </a:ext>
            </a:extLst>
          </p:cNvPr>
          <p:cNvSpPr>
            <a:spLocks noGrp="1"/>
          </p:cNvSpPr>
          <p:nvPr>
            <p:ph idx="1"/>
          </p:nvPr>
        </p:nvSpPr>
        <p:spPr/>
        <p:txBody>
          <a:bodyPr>
            <a:normAutofit fontScale="92500"/>
          </a:bodyPr>
          <a:lstStyle/>
          <a:p>
            <a:r>
              <a:rPr lang="en-US" dirty="0"/>
              <a:t>If the function does not contain a catch block capable of handling the exception, control passes out of the function, and the exception is automatically rethrown at the point of the call in the calling function. </a:t>
            </a:r>
          </a:p>
          <a:p>
            <a:r>
              <a:rPr lang="en-US" dirty="0"/>
              <a:t>By this process, an exception can propagate backwards along the chain of function calls until the exception is thrown out of a try block that has a catch block that can handle it. </a:t>
            </a:r>
          </a:p>
          <a:p>
            <a:r>
              <a:rPr lang="en-US" dirty="0"/>
              <a:t>If no such try block is ever found, the exception will eventually be thrown out of the main function, causing the program to be terminated.</a:t>
            </a:r>
          </a:p>
          <a:p>
            <a:r>
              <a:rPr lang="en-US" dirty="0"/>
              <a:t>This process of propagating uncaught exceptions from a function to its caller is called </a:t>
            </a:r>
            <a:r>
              <a:rPr lang="en-US" b="1" dirty="0">
                <a:hlinkClick r:id="rId2">
                  <a:extLst>
                    <a:ext uri="{A12FA001-AC4F-418D-AE19-62706E023703}">
                      <ahyp:hlinkClr xmlns:ahyp="http://schemas.microsoft.com/office/drawing/2018/hyperlinkcolor" val="tx"/>
                    </a:ext>
                  </a:extLst>
                </a:hlinkClick>
              </a:rPr>
              <a:t>unwinding the stack</a:t>
            </a:r>
            <a:r>
              <a:rPr lang="en-US" b="1" dirty="0"/>
              <a:t> </a:t>
            </a:r>
            <a:r>
              <a:rPr lang="en-US" dirty="0"/>
              <a:t>of function calls.</a:t>
            </a:r>
          </a:p>
        </p:txBody>
      </p:sp>
    </p:spTree>
    <p:extLst>
      <p:ext uri="{BB962C8B-B14F-4D97-AF65-F5344CB8AC3E}">
        <p14:creationId xmlns:p14="http://schemas.microsoft.com/office/powerpoint/2010/main" val="987415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D96C4-9D7B-0BA3-9AC9-66BA64C90AE7}"/>
              </a:ext>
            </a:extLst>
          </p:cNvPr>
          <p:cNvSpPr>
            <a:spLocks noGrp="1"/>
          </p:cNvSpPr>
          <p:nvPr>
            <p:ph type="title"/>
          </p:nvPr>
        </p:nvSpPr>
        <p:spPr/>
        <p:txBody>
          <a:bodyPr/>
          <a:lstStyle/>
          <a:p>
            <a:r>
              <a:rPr lang="en-US" dirty="0"/>
              <a:t>Rethrowing an Exception</a:t>
            </a:r>
          </a:p>
        </p:txBody>
      </p:sp>
      <p:sp>
        <p:nvSpPr>
          <p:cNvPr id="3" name="Content Placeholder 2">
            <a:extLst>
              <a:ext uri="{FF2B5EF4-FFF2-40B4-BE49-F238E27FC236}">
                <a16:creationId xmlns:a16="http://schemas.microsoft.com/office/drawing/2014/main" id="{194CE9E6-1EB5-216A-047B-967EB8A369BE}"/>
              </a:ext>
            </a:extLst>
          </p:cNvPr>
          <p:cNvSpPr>
            <a:spLocks noGrp="1"/>
          </p:cNvSpPr>
          <p:nvPr>
            <p:ph idx="1"/>
          </p:nvPr>
        </p:nvSpPr>
        <p:spPr>
          <a:xfrm>
            <a:off x="838200" y="1825624"/>
            <a:ext cx="7049568" cy="4566629"/>
          </a:xfrm>
        </p:spPr>
        <p:txBody>
          <a:bodyPr>
            <a:normAutofit/>
          </a:bodyPr>
          <a:lstStyle/>
          <a:p>
            <a:r>
              <a:rPr lang="en-US" dirty="0"/>
              <a:t>It is possible for try blocks to be nested. </a:t>
            </a:r>
          </a:p>
          <a:p>
            <a:r>
              <a:rPr lang="en-US" dirty="0"/>
              <a:t>For example, look at this code segment:</a:t>
            </a:r>
          </a:p>
          <a:p>
            <a:r>
              <a:rPr lang="en-US" dirty="0"/>
              <a:t>In this try block, the function </a:t>
            </a:r>
            <a:r>
              <a:rPr lang="en-US" i="1" dirty="0" err="1">
                <a:solidFill>
                  <a:srgbClr val="FF0000"/>
                </a:solidFill>
              </a:rPr>
              <a:t>doSomething</a:t>
            </a:r>
            <a:r>
              <a:rPr lang="en-US" dirty="0"/>
              <a:t> is called. </a:t>
            </a:r>
          </a:p>
          <a:p>
            <a:r>
              <a:rPr lang="en-US" dirty="0"/>
              <a:t>There are two catch blocks, one that handles exception1 and another that handles exception2. </a:t>
            </a:r>
          </a:p>
          <a:p>
            <a:r>
              <a:rPr lang="en-US" dirty="0"/>
              <a:t>If the </a:t>
            </a:r>
            <a:r>
              <a:rPr lang="en-US" i="1" dirty="0" err="1">
                <a:solidFill>
                  <a:srgbClr val="FF0000"/>
                </a:solidFill>
              </a:rPr>
              <a:t>doSomething</a:t>
            </a:r>
            <a:r>
              <a:rPr lang="en-US" dirty="0"/>
              <a:t> function contains a try block, then it is nested inside the one shown.</a:t>
            </a:r>
          </a:p>
        </p:txBody>
      </p:sp>
      <p:pic>
        <p:nvPicPr>
          <p:cNvPr id="4" name="Picture 3">
            <a:extLst>
              <a:ext uri="{FF2B5EF4-FFF2-40B4-BE49-F238E27FC236}">
                <a16:creationId xmlns:a16="http://schemas.microsoft.com/office/drawing/2014/main" id="{A4EC48A2-6163-A8CE-EE0D-0FB99BF5E94F}"/>
              </a:ext>
            </a:extLst>
          </p:cNvPr>
          <p:cNvPicPr>
            <a:picLocks noChangeAspect="1"/>
          </p:cNvPicPr>
          <p:nvPr/>
        </p:nvPicPr>
        <p:blipFill>
          <a:blip r:embed="rId2"/>
          <a:stretch>
            <a:fillRect/>
          </a:stretch>
        </p:blipFill>
        <p:spPr>
          <a:xfrm>
            <a:off x="8525650" y="2012331"/>
            <a:ext cx="2917372" cy="3135086"/>
          </a:xfrm>
          <a:prstGeom prst="rect">
            <a:avLst/>
          </a:prstGeom>
        </p:spPr>
      </p:pic>
    </p:spTree>
    <p:extLst>
      <p:ext uri="{BB962C8B-B14F-4D97-AF65-F5344CB8AC3E}">
        <p14:creationId xmlns:p14="http://schemas.microsoft.com/office/powerpoint/2010/main" val="918656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5F139-8734-4C44-848C-5A9616192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0BB31-16BD-01DD-11EE-1CC688521BB2}"/>
              </a:ext>
            </a:extLst>
          </p:cNvPr>
          <p:cNvSpPr>
            <a:spLocks noGrp="1"/>
          </p:cNvSpPr>
          <p:nvPr>
            <p:ph type="title"/>
          </p:nvPr>
        </p:nvSpPr>
        <p:spPr/>
        <p:txBody>
          <a:bodyPr/>
          <a:lstStyle/>
          <a:p>
            <a:r>
              <a:rPr lang="en-US" dirty="0"/>
              <a:t>Rethrowing an Exception</a:t>
            </a:r>
          </a:p>
        </p:txBody>
      </p:sp>
      <p:sp>
        <p:nvSpPr>
          <p:cNvPr id="3" name="Content Placeholder 2">
            <a:extLst>
              <a:ext uri="{FF2B5EF4-FFF2-40B4-BE49-F238E27FC236}">
                <a16:creationId xmlns:a16="http://schemas.microsoft.com/office/drawing/2014/main" id="{C72C8094-9AD1-12EA-2076-4560D3B30E05}"/>
              </a:ext>
            </a:extLst>
          </p:cNvPr>
          <p:cNvSpPr>
            <a:spLocks noGrp="1"/>
          </p:cNvSpPr>
          <p:nvPr>
            <p:ph idx="1"/>
          </p:nvPr>
        </p:nvSpPr>
        <p:spPr/>
        <p:txBody>
          <a:bodyPr/>
          <a:lstStyle/>
          <a:p>
            <a:r>
              <a:rPr lang="en-US" dirty="0"/>
              <a:t>With nested try blocks, it is sometimes necessary for an inner exception handler to pass an exception to an outer exception handler. </a:t>
            </a:r>
          </a:p>
          <a:p>
            <a:r>
              <a:rPr lang="en-US" dirty="0"/>
              <a:t>Sometimes, both an inner and an outer catch block must perform operations when a particular exception is thrown. </a:t>
            </a:r>
          </a:p>
          <a:p>
            <a:r>
              <a:rPr lang="en-US" dirty="0"/>
              <a:t>These situations require that the inner catch block </a:t>
            </a:r>
            <a:r>
              <a:rPr lang="en-US" dirty="0">
                <a:hlinkClick r:id="rId2"/>
              </a:rPr>
              <a:t>rethrow</a:t>
            </a:r>
            <a:r>
              <a:rPr lang="en-US" dirty="0"/>
              <a:t> the exception so the outer catch block can catch it.</a:t>
            </a:r>
          </a:p>
        </p:txBody>
      </p:sp>
    </p:spTree>
    <p:extLst>
      <p:ext uri="{BB962C8B-B14F-4D97-AF65-F5344CB8AC3E}">
        <p14:creationId xmlns:p14="http://schemas.microsoft.com/office/powerpoint/2010/main" val="2108954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DADA0-B55B-27ED-1C69-2663BAB24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E35ED-4EF1-6409-47BC-F513BFA64383}"/>
              </a:ext>
            </a:extLst>
          </p:cNvPr>
          <p:cNvSpPr>
            <a:spLocks noGrp="1"/>
          </p:cNvSpPr>
          <p:nvPr>
            <p:ph type="title"/>
          </p:nvPr>
        </p:nvSpPr>
        <p:spPr/>
        <p:txBody>
          <a:bodyPr/>
          <a:lstStyle/>
          <a:p>
            <a:r>
              <a:rPr lang="en-US" dirty="0"/>
              <a:t>Rethrowing an Exception</a:t>
            </a:r>
          </a:p>
        </p:txBody>
      </p:sp>
      <p:sp>
        <p:nvSpPr>
          <p:cNvPr id="3" name="Content Placeholder 2">
            <a:extLst>
              <a:ext uri="{FF2B5EF4-FFF2-40B4-BE49-F238E27FC236}">
                <a16:creationId xmlns:a16="http://schemas.microsoft.com/office/drawing/2014/main" id="{3A6F7319-788C-9559-7C29-B5703B7C927A}"/>
              </a:ext>
            </a:extLst>
          </p:cNvPr>
          <p:cNvSpPr>
            <a:spLocks noGrp="1"/>
          </p:cNvSpPr>
          <p:nvPr>
            <p:ph idx="1"/>
          </p:nvPr>
        </p:nvSpPr>
        <p:spPr/>
        <p:txBody>
          <a:bodyPr/>
          <a:lstStyle/>
          <a:p>
            <a:r>
              <a:rPr lang="en-US" dirty="0"/>
              <a:t>A catch block can rethrow an exception with the throw; statement with no parameter. </a:t>
            </a:r>
          </a:p>
          <a:p>
            <a:r>
              <a:rPr lang="en-US" dirty="0"/>
              <a:t>For example, suppose the </a:t>
            </a:r>
            <a:r>
              <a:rPr lang="en-US" dirty="0" err="1"/>
              <a:t>doSomething</a:t>
            </a:r>
            <a:r>
              <a:rPr lang="en-US" dirty="0"/>
              <a:t> function (called in the try block above) executes code that potentially can throw exception1 or exception3. </a:t>
            </a:r>
          </a:p>
          <a:p>
            <a:r>
              <a:rPr lang="en-US" dirty="0"/>
              <a:t>Suppose we do not want to handle the exception1 error in </a:t>
            </a:r>
            <a:r>
              <a:rPr lang="en-US" dirty="0" err="1"/>
              <a:t>doSomething</a:t>
            </a:r>
            <a:r>
              <a:rPr lang="en-US" dirty="0"/>
              <a:t>, but instead want to rethrow it to the outer block</a:t>
            </a:r>
          </a:p>
        </p:txBody>
      </p:sp>
    </p:spTree>
    <p:extLst>
      <p:ext uri="{BB962C8B-B14F-4D97-AF65-F5344CB8AC3E}">
        <p14:creationId xmlns:p14="http://schemas.microsoft.com/office/powerpoint/2010/main" val="3862365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2095-1CB7-E49E-50A3-19BDC83EA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B1B9B-0C1E-8986-3C68-06994E3F2C96}"/>
              </a:ext>
            </a:extLst>
          </p:cNvPr>
          <p:cNvSpPr>
            <a:spLocks noGrp="1"/>
          </p:cNvSpPr>
          <p:nvPr>
            <p:ph type="title"/>
          </p:nvPr>
        </p:nvSpPr>
        <p:spPr/>
        <p:txBody>
          <a:bodyPr/>
          <a:lstStyle/>
          <a:p>
            <a:r>
              <a:rPr lang="en-US" dirty="0"/>
              <a:t>Rethrowing an Exception</a:t>
            </a:r>
          </a:p>
        </p:txBody>
      </p:sp>
      <p:pic>
        <p:nvPicPr>
          <p:cNvPr id="6" name="Picture 5">
            <a:extLst>
              <a:ext uri="{FF2B5EF4-FFF2-40B4-BE49-F238E27FC236}">
                <a16:creationId xmlns:a16="http://schemas.microsoft.com/office/drawing/2014/main" id="{5DB9B277-EFAB-835D-EDD4-5B22AFDA9766}"/>
              </a:ext>
            </a:extLst>
          </p:cNvPr>
          <p:cNvPicPr>
            <a:picLocks noChangeAspect="1"/>
          </p:cNvPicPr>
          <p:nvPr/>
        </p:nvPicPr>
        <p:blipFill>
          <a:blip r:embed="rId3"/>
          <a:stretch>
            <a:fillRect/>
          </a:stretch>
        </p:blipFill>
        <p:spPr>
          <a:xfrm>
            <a:off x="6737804" y="1896835"/>
            <a:ext cx="4855936" cy="4078986"/>
          </a:xfrm>
          <a:prstGeom prst="rect">
            <a:avLst/>
          </a:prstGeom>
        </p:spPr>
      </p:pic>
      <p:sp>
        <p:nvSpPr>
          <p:cNvPr id="8" name="TextBox 7">
            <a:extLst>
              <a:ext uri="{FF2B5EF4-FFF2-40B4-BE49-F238E27FC236}">
                <a16:creationId xmlns:a16="http://schemas.microsoft.com/office/drawing/2014/main" id="{D2FDA288-6B05-55D8-159B-B6DC38E21A74}"/>
              </a:ext>
            </a:extLst>
          </p:cNvPr>
          <p:cNvSpPr txBox="1"/>
          <p:nvPr/>
        </p:nvSpPr>
        <p:spPr>
          <a:xfrm>
            <a:off x="598260" y="2036281"/>
            <a:ext cx="5571804" cy="2785378"/>
          </a:xfrm>
          <a:prstGeom prst="rect">
            <a:avLst/>
          </a:prstGeom>
          <a:noFill/>
        </p:spPr>
        <p:txBody>
          <a:bodyPr wrap="square">
            <a:spAutoFit/>
          </a:bodyPr>
          <a:lstStyle/>
          <a:p>
            <a:pPr marL="342900" indent="-342900">
              <a:buFont typeface="Arial" panose="020B0604020202020204" pitchFamily="34" charset="0"/>
              <a:buChar char="•"/>
            </a:pPr>
            <a:r>
              <a:rPr lang="en-US" sz="2500" dirty="0"/>
              <a:t>When the first catch block catches exception1, the throw; statement simply throws the exception again.</a:t>
            </a:r>
          </a:p>
          <a:p>
            <a:pPr marL="342900" indent="-342900">
              <a:buFont typeface="Arial" panose="020B0604020202020204" pitchFamily="34" charset="0"/>
              <a:buChar char="•"/>
            </a:pPr>
            <a:r>
              <a:rPr lang="en-US" sz="2500" dirty="0"/>
              <a:t>The catch block in the outer try/catch construct, in this case the one in the main function, will then handle the exception.</a:t>
            </a:r>
          </a:p>
        </p:txBody>
      </p:sp>
    </p:spTree>
    <p:extLst>
      <p:ext uri="{BB962C8B-B14F-4D97-AF65-F5344CB8AC3E}">
        <p14:creationId xmlns:p14="http://schemas.microsoft.com/office/powerpoint/2010/main" val="244977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E312-2323-A23E-839E-7A535CC03437}"/>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F55829B5-02FD-2570-E887-C1457192F8EC}"/>
              </a:ext>
            </a:extLst>
          </p:cNvPr>
          <p:cNvSpPr>
            <a:spLocks noGrp="1"/>
          </p:cNvSpPr>
          <p:nvPr>
            <p:ph idx="1"/>
          </p:nvPr>
        </p:nvSpPr>
        <p:spPr/>
        <p:txBody>
          <a:bodyPr/>
          <a:lstStyle/>
          <a:p>
            <a:r>
              <a:rPr lang="en-US" dirty="0"/>
              <a:t>A function template is a “generic” function that can work with different data types. </a:t>
            </a:r>
          </a:p>
          <a:p>
            <a:r>
              <a:rPr lang="en-US" dirty="0"/>
              <a:t>The programmer writes the specifications of the function but substitutes parameters for data types. </a:t>
            </a:r>
          </a:p>
          <a:p>
            <a:r>
              <a:rPr lang="en-US" dirty="0"/>
              <a:t>When the compiler encounters a call to the function, it generates code to handle the specific data type(s) used in the call.</a:t>
            </a:r>
          </a:p>
        </p:txBody>
      </p:sp>
    </p:spTree>
    <p:extLst>
      <p:ext uri="{BB962C8B-B14F-4D97-AF65-F5344CB8AC3E}">
        <p14:creationId xmlns:p14="http://schemas.microsoft.com/office/powerpoint/2010/main" val="3896760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D0A04-5431-7B93-CDE4-24F625EB6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49217-57B5-CD77-105A-35F6956F9E4B}"/>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91214CEA-85DC-AF34-F6B7-65C0A9282A68}"/>
              </a:ext>
            </a:extLst>
          </p:cNvPr>
          <p:cNvSpPr>
            <a:spLocks noGrp="1"/>
          </p:cNvSpPr>
          <p:nvPr>
            <p:ph idx="1"/>
          </p:nvPr>
        </p:nvSpPr>
        <p:spPr/>
        <p:txBody>
          <a:bodyPr/>
          <a:lstStyle/>
          <a:p>
            <a:r>
              <a:rPr lang="en-US" dirty="0"/>
              <a:t>Overloaded functions make programming convenient because only one function name must be remembered for a set of functions that perform similar operations. </a:t>
            </a:r>
          </a:p>
          <a:p>
            <a:r>
              <a:rPr lang="en-US" dirty="0"/>
              <a:t>Each of the functions, however, must still be written individually.</a:t>
            </a:r>
          </a:p>
          <a:p>
            <a:r>
              <a:rPr lang="en-US" dirty="0"/>
              <a:t>For example, consider the following overloaded square functions.</a:t>
            </a:r>
          </a:p>
        </p:txBody>
      </p:sp>
      <p:pic>
        <p:nvPicPr>
          <p:cNvPr id="4" name="Picture 3">
            <a:extLst>
              <a:ext uri="{FF2B5EF4-FFF2-40B4-BE49-F238E27FC236}">
                <a16:creationId xmlns:a16="http://schemas.microsoft.com/office/drawing/2014/main" id="{09E06CEB-11A0-EB44-660E-3FF47E57EEA0}"/>
              </a:ext>
            </a:extLst>
          </p:cNvPr>
          <p:cNvPicPr>
            <a:picLocks noChangeAspect="1"/>
          </p:cNvPicPr>
          <p:nvPr/>
        </p:nvPicPr>
        <p:blipFill>
          <a:blip r:embed="rId3"/>
          <a:stretch>
            <a:fillRect/>
          </a:stretch>
        </p:blipFill>
        <p:spPr>
          <a:xfrm>
            <a:off x="4845153" y="4329919"/>
            <a:ext cx="2501693" cy="1847044"/>
          </a:xfrm>
          <a:prstGeom prst="rect">
            <a:avLst/>
          </a:prstGeom>
        </p:spPr>
      </p:pic>
    </p:spTree>
    <p:extLst>
      <p:ext uri="{BB962C8B-B14F-4D97-AF65-F5344CB8AC3E}">
        <p14:creationId xmlns:p14="http://schemas.microsoft.com/office/powerpoint/2010/main" val="1252832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5622B-AA77-C4BD-7528-08241E4D3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867FB9-B6A4-2C50-BC1C-97E331BD760E}"/>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D15976A9-A441-4F58-1F0C-CA1A7A597F2D}"/>
              </a:ext>
            </a:extLst>
          </p:cNvPr>
          <p:cNvSpPr>
            <a:spLocks noGrp="1"/>
          </p:cNvSpPr>
          <p:nvPr>
            <p:ph idx="1"/>
          </p:nvPr>
        </p:nvSpPr>
        <p:spPr/>
        <p:txBody>
          <a:bodyPr/>
          <a:lstStyle/>
          <a:p>
            <a:r>
              <a:rPr lang="en-US" dirty="0"/>
              <a:t>The only differences between these two functions are the data types of their return values and their parameters. </a:t>
            </a:r>
          </a:p>
          <a:p>
            <a:r>
              <a:rPr lang="en-US" dirty="0"/>
              <a:t>In situations like this, it is more convenient to write a </a:t>
            </a:r>
            <a:r>
              <a:rPr lang="en-US" b="1" dirty="0">
                <a:hlinkClick r:id="rId3">
                  <a:extLst>
                    <a:ext uri="{A12FA001-AC4F-418D-AE19-62706E023703}">
                      <ahyp:hlinkClr xmlns:ahyp="http://schemas.microsoft.com/office/drawing/2018/hyperlinkcolor" val="tx"/>
                    </a:ext>
                  </a:extLst>
                </a:hlinkClick>
              </a:rPr>
              <a:t>function template</a:t>
            </a:r>
            <a:r>
              <a:rPr lang="en-US" dirty="0"/>
              <a:t> than an overloaded function. </a:t>
            </a:r>
          </a:p>
          <a:p>
            <a:r>
              <a:rPr lang="en-US" dirty="0"/>
              <a:t>Function templates allow you to write a single function definition that works with many different data types, instead of having to write a separate function for each data type used.</a:t>
            </a:r>
          </a:p>
        </p:txBody>
      </p:sp>
    </p:spTree>
    <p:extLst>
      <p:ext uri="{BB962C8B-B14F-4D97-AF65-F5344CB8AC3E}">
        <p14:creationId xmlns:p14="http://schemas.microsoft.com/office/powerpoint/2010/main" val="2324341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A373-B5A0-1236-AA8C-00E4E900EA09}"/>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097DCDBC-2CA8-F54E-D51B-4DC5F9B6370F}"/>
              </a:ext>
            </a:extLst>
          </p:cNvPr>
          <p:cNvSpPr>
            <a:spLocks noGrp="1"/>
          </p:cNvSpPr>
          <p:nvPr>
            <p:ph idx="1"/>
          </p:nvPr>
        </p:nvSpPr>
        <p:spPr/>
        <p:txBody>
          <a:bodyPr/>
          <a:lstStyle/>
          <a:p>
            <a:r>
              <a:rPr lang="en-US" dirty="0"/>
              <a:t>A function template is not an actual function, but a “mold” the compiler uses to generate one or more functions. </a:t>
            </a:r>
          </a:p>
          <a:p>
            <a:r>
              <a:rPr lang="en-US" dirty="0"/>
              <a:t>When writing a function template, you do not have to specify actual types for the parameters, return value, or local variables.</a:t>
            </a:r>
          </a:p>
          <a:p>
            <a:r>
              <a:rPr lang="en-US" dirty="0"/>
              <a:t>Instead, you use a </a:t>
            </a:r>
            <a:r>
              <a:rPr lang="en-US" b="1" dirty="0">
                <a:hlinkClick r:id="rId2">
                  <a:extLst>
                    <a:ext uri="{A12FA001-AC4F-418D-AE19-62706E023703}">
                      <ahyp:hlinkClr xmlns:ahyp="http://schemas.microsoft.com/office/drawing/2018/hyperlinkcolor" val="tx"/>
                    </a:ext>
                  </a:extLst>
                </a:hlinkClick>
              </a:rPr>
              <a:t>type parameter</a:t>
            </a:r>
            <a:r>
              <a:rPr lang="en-US" b="1" dirty="0"/>
              <a:t> </a:t>
            </a:r>
            <a:r>
              <a:rPr lang="en-US" dirty="0"/>
              <a:t>to specify a generic data type.</a:t>
            </a:r>
          </a:p>
          <a:p>
            <a:r>
              <a:rPr lang="en-US" dirty="0"/>
              <a:t>When the compiler encounters a call to the function, it examines the data types of its arguments and generates the function code that will work with those data types.</a:t>
            </a:r>
          </a:p>
        </p:txBody>
      </p:sp>
    </p:spTree>
    <p:extLst>
      <p:ext uri="{BB962C8B-B14F-4D97-AF65-F5344CB8AC3E}">
        <p14:creationId xmlns:p14="http://schemas.microsoft.com/office/powerpoint/2010/main" val="3150120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390E7-56B4-6FD3-3BA9-116A8D8207F2}"/>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E8A0A5CB-9D95-C211-22DC-C217CA1E5969}"/>
              </a:ext>
            </a:extLst>
          </p:cNvPr>
          <p:cNvSpPr>
            <a:spLocks noGrp="1"/>
          </p:cNvSpPr>
          <p:nvPr>
            <p:ph idx="1"/>
          </p:nvPr>
        </p:nvSpPr>
        <p:spPr/>
        <p:txBody>
          <a:bodyPr>
            <a:normAutofit/>
          </a:bodyPr>
          <a:lstStyle/>
          <a:p>
            <a:r>
              <a:rPr lang="en-US" dirty="0"/>
              <a:t>Here is a function template for the square function:</a:t>
            </a:r>
          </a:p>
          <a:p>
            <a:endParaRPr lang="en-US" dirty="0"/>
          </a:p>
          <a:p>
            <a:endParaRPr lang="en-US" dirty="0"/>
          </a:p>
          <a:p>
            <a:endParaRPr lang="en-US" dirty="0"/>
          </a:p>
          <a:p>
            <a:endParaRPr lang="en-US" dirty="0"/>
          </a:p>
          <a:p>
            <a:r>
              <a:rPr lang="en-US" dirty="0"/>
              <a:t>The beginning of a function template is marked by a </a:t>
            </a:r>
            <a:r>
              <a:rPr lang="en-US" i="1" dirty="0">
                <a:solidFill>
                  <a:srgbClr val="FF0000"/>
                </a:solidFill>
              </a:rPr>
              <a:t>template</a:t>
            </a:r>
            <a:r>
              <a:rPr lang="en-US" i="1" dirty="0"/>
              <a:t> prefix</a:t>
            </a:r>
            <a:r>
              <a:rPr lang="en-US" dirty="0"/>
              <a:t>, which begins with the </a:t>
            </a:r>
            <a:r>
              <a:rPr lang="en-US" b="1" dirty="0"/>
              <a:t>key word template</a:t>
            </a:r>
            <a:r>
              <a:rPr lang="en-US" dirty="0"/>
              <a:t>. </a:t>
            </a:r>
          </a:p>
        </p:txBody>
      </p:sp>
      <p:pic>
        <p:nvPicPr>
          <p:cNvPr id="4" name="Picture 3">
            <a:extLst>
              <a:ext uri="{FF2B5EF4-FFF2-40B4-BE49-F238E27FC236}">
                <a16:creationId xmlns:a16="http://schemas.microsoft.com/office/drawing/2014/main" id="{96EFEEE7-064C-D58D-6589-F9EC4F497C20}"/>
              </a:ext>
            </a:extLst>
          </p:cNvPr>
          <p:cNvPicPr>
            <a:picLocks noChangeAspect="1"/>
          </p:cNvPicPr>
          <p:nvPr/>
        </p:nvPicPr>
        <p:blipFill>
          <a:blip r:embed="rId2"/>
          <a:stretch>
            <a:fillRect/>
          </a:stretch>
        </p:blipFill>
        <p:spPr>
          <a:xfrm>
            <a:off x="4587118" y="2745489"/>
            <a:ext cx="3017763" cy="1367021"/>
          </a:xfrm>
          <a:prstGeom prst="rect">
            <a:avLst/>
          </a:prstGeom>
        </p:spPr>
      </p:pic>
    </p:spTree>
    <p:extLst>
      <p:ext uri="{BB962C8B-B14F-4D97-AF65-F5344CB8AC3E}">
        <p14:creationId xmlns:p14="http://schemas.microsoft.com/office/powerpoint/2010/main" val="2384844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F33E2-EB39-332C-F4D8-512F58977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7A947-0287-6A88-F90F-B478B817A077}"/>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64A11A75-05E6-25D9-52B5-9E977709BF39}"/>
              </a:ext>
            </a:extLst>
          </p:cNvPr>
          <p:cNvSpPr>
            <a:spLocks noGrp="1"/>
          </p:cNvSpPr>
          <p:nvPr>
            <p:ph idx="1"/>
          </p:nvPr>
        </p:nvSpPr>
        <p:spPr>
          <a:xfrm>
            <a:off x="838200" y="2141537"/>
            <a:ext cx="10515600" cy="4351338"/>
          </a:xfrm>
        </p:spPr>
        <p:txBody>
          <a:bodyPr>
            <a:normAutofit/>
          </a:bodyPr>
          <a:lstStyle/>
          <a:p>
            <a:endParaRPr lang="en-US" dirty="0"/>
          </a:p>
          <a:p>
            <a:endParaRPr lang="en-US" dirty="0"/>
          </a:p>
          <a:p>
            <a:r>
              <a:rPr lang="en-US" dirty="0"/>
              <a:t>Next is a set of angled brackets that contain one or more generic data types used in the template. </a:t>
            </a:r>
          </a:p>
          <a:p>
            <a:r>
              <a:rPr lang="en-US" dirty="0"/>
              <a:t>A generic data type starts with the key word class, followed by a parameter name that stands for the data type. </a:t>
            </a:r>
          </a:p>
          <a:p>
            <a:r>
              <a:rPr lang="en-US" dirty="0"/>
              <a:t>The example just given only uses one, which is named T. (If there were more, they would be separated by commas.)</a:t>
            </a:r>
          </a:p>
        </p:txBody>
      </p:sp>
      <p:pic>
        <p:nvPicPr>
          <p:cNvPr id="4" name="Picture 3">
            <a:extLst>
              <a:ext uri="{FF2B5EF4-FFF2-40B4-BE49-F238E27FC236}">
                <a16:creationId xmlns:a16="http://schemas.microsoft.com/office/drawing/2014/main" id="{1C664AAD-12A0-4917-FB8B-B0AFA3B22F4D}"/>
              </a:ext>
            </a:extLst>
          </p:cNvPr>
          <p:cNvPicPr>
            <a:picLocks noChangeAspect="1"/>
          </p:cNvPicPr>
          <p:nvPr/>
        </p:nvPicPr>
        <p:blipFill>
          <a:blip r:embed="rId3"/>
          <a:stretch>
            <a:fillRect/>
          </a:stretch>
        </p:blipFill>
        <p:spPr>
          <a:xfrm>
            <a:off x="4452894" y="1684852"/>
            <a:ext cx="3017763" cy="1367021"/>
          </a:xfrm>
          <a:prstGeom prst="rect">
            <a:avLst/>
          </a:prstGeom>
        </p:spPr>
      </p:pic>
    </p:spTree>
    <p:extLst>
      <p:ext uri="{BB962C8B-B14F-4D97-AF65-F5344CB8AC3E}">
        <p14:creationId xmlns:p14="http://schemas.microsoft.com/office/powerpoint/2010/main" val="2119499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45B4C-013D-C769-4058-BF9E93656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30671-89DD-F830-1F53-6AB660C38C39}"/>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022EEBEB-34A6-79A1-C80D-D2B5ED82D09C}"/>
              </a:ext>
            </a:extLst>
          </p:cNvPr>
          <p:cNvSpPr>
            <a:spLocks noGrp="1"/>
          </p:cNvSpPr>
          <p:nvPr>
            <p:ph idx="1"/>
          </p:nvPr>
        </p:nvSpPr>
        <p:spPr>
          <a:xfrm>
            <a:off x="838200" y="1943071"/>
            <a:ext cx="10515600" cy="4351338"/>
          </a:xfrm>
        </p:spPr>
        <p:txBody>
          <a:bodyPr>
            <a:normAutofit/>
          </a:bodyPr>
          <a:lstStyle/>
          <a:p>
            <a:endParaRPr lang="en-US" dirty="0"/>
          </a:p>
          <a:p>
            <a:endParaRPr lang="en-US" dirty="0"/>
          </a:p>
          <a:p>
            <a:r>
              <a:rPr lang="en-US" dirty="0"/>
              <a:t>After this, the function definition is written as usual, except the type parameters are substituted for the actual data type names. </a:t>
            </a:r>
          </a:p>
          <a:p>
            <a:r>
              <a:rPr lang="en-US" dirty="0"/>
              <a:t>In the example, the function header reads </a:t>
            </a:r>
            <a:r>
              <a:rPr lang="en-US" i="1" dirty="0">
                <a:solidFill>
                  <a:srgbClr val="FF0000"/>
                </a:solidFill>
              </a:rPr>
              <a:t>T </a:t>
            </a:r>
            <a:r>
              <a:rPr lang="en-US" b="1" i="1" dirty="0">
                <a:solidFill>
                  <a:srgbClr val="FF0000"/>
                </a:solidFill>
                <a:effectLst/>
              </a:rPr>
              <a:t>square</a:t>
            </a:r>
            <a:r>
              <a:rPr lang="en-US" i="1" dirty="0">
                <a:solidFill>
                  <a:srgbClr val="FF0000"/>
                </a:solidFill>
              </a:rPr>
              <a:t>(T number)</a:t>
            </a:r>
          </a:p>
          <a:p>
            <a:r>
              <a:rPr lang="en-US" dirty="0"/>
              <a:t>T is the type parameter, or generic data type. </a:t>
            </a:r>
          </a:p>
          <a:p>
            <a:r>
              <a:rPr lang="en-US" dirty="0"/>
              <a:t>The header defines square as a function that returns a value of type T and uses a parameter, number, which is also of type T.</a:t>
            </a:r>
            <a:endParaRPr lang="en-US" i="1" dirty="0">
              <a:solidFill>
                <a:srgbClr val="FF0000"/>
              </a:solidFill>
            </a:endParaRPr>
          </a:p>
        </p:txBody>
      </p:sp>
      <p:pic>
        <p:nvPicPr>
          <p:cNvPr id="4" name="Picture 3">
            <a:extLst>
              <a:ext uri="{FF2B5EF4-FFF2-40B4-BE49-F238E27FC236}">
                <a16:creationId xmlns:a16="http://schemas.microsoft.com/office/drawing/2014/main" id="{0CB07ECE-6829-C87A-5F56-E4BE161B7345}"/>
              </a:ext>
            </a:extLst>
          </p:cNvPr>
          <p:cNvPicPr>
            <a:picLocks noChangeAspect="1"/>
          </p:cNvPicPr>
          <p:nvPr/>
        </p:nvPicPr>
        <p:blipFill>
          <a:blip r:embed="rId3"/>
          <a:stretch>
            <a:fillRect/>
          </a:stretch>
        </p:blipFill>
        <p:spPr>
          <a:xfrm>
            <a:off x="4452894" y="1500181"/>
            <a:ext cx="3017763" cy="1367021"/>
          </a:xfrm>
          <a:prstGeom prst="rect">
            <a:avLst/>
          </a:prstGeom>
        </p:spPr>
      </p:pic>
    </p:spTree>
    <p:extLst>
      <p:ext uri="{BB962C8B-B14F-4D97-AF65-F5344CB8AC3E}">
        <p14:creationId xmlns:p14="http://schemas.microsoft.com/office/powerpoint/2010/main" val="624733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78FD3-CB15-8276-DD7C-780AC335D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BE5A7-853F-1AF7-0009-1100A03C7D1F}"/>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6EA93AA5-FA73-C469-5EC1-7F3A6F57C2D3}"/>
              </a:ext>
            </a:extLst>
          </p:cNvPr>
          <p:cNvSpPr>
            <a:spLocks noGrp="1"/>
          </p:cNvSpPr>
          <p:nvPr>
            <p:ph idx="1"/>
          </p:nvPr>
        </p:nvSpPr>
        <p:spPr>
          <a:xfrm>
            <a:off x="838200" y="1943071"/>
            <a:ext cx="10515600" cy="4351338"/>
          </a:xfrm>
        </p:spPr>
        <p:txBody>
          <a:bodyPr>
            <a:normAutofit/>
          </a:bodyPr>
          <a:lstStyle/>
          <a:p>
            <a:r>
              <a:rPr lang="en-US" dirty="0"/>
              <a:t>As mentioned before, the compiler examines each call to square and fills in the appropriate data type for T. </a:t>
            </a:r>
          </a:p>
          <a:p>
            <a:r>
              <a:rPr lang="en-US" dirty="0"/>
              <a:t>For example, the following call uses an int argument:</a:t>
            </a:r>
          </a:p>
          <a:p>
            <a:endParaRPr lang="en-US" i="1" dirty="0">
              <a:solidFill>
                <a:srgbClr val="FF0000"/>
              </a:solidFill>
            </a:endParaRPr>
          </a:p>
          <a:p>
            <a:endParaRPr lang="en-US" i="1" dirty="0">
              <a:solidFill>
                <a:srgbClr val="FF0000"/>
              </a:solidFill>
            </a:endParaRPr>
          </a:p>
          <a:p>
            <a:r>
              <a:rPr lang="en-US" dirty="0"/>
              <a:t>This code will cause the compiler to generate the function:</a:t>
            </a:r>
            <a:endParaRPr lang="en-US" i="1" dirty="0">
              <a:solidFill>
                <a:srgbClr val="FF0000"/>
              </a:solidFill>
            </a:endParaRPr>
          </a:p>
        </p:txBody>
      </p:sp>
      <p:pic>
        <p:nvPicPr>
          <p:cNvPr id="5" name="Picture 4">
            <a:extLst>
              <a:ext uri="{FF2B5EF4-FFF2-40B4-BE49-F238E27FC236}">
                <a16:creationId xmlns:a16="http://schemas.microsoft.com/office/drawing/2014/main" id="{21109302-13C3-7366-0504-08C8777AA8A5}"/>
              </a:ext>
            </a:extLst>
          </p:cNvPr>
          <p:cNvPicPr>
            <a:picLocks noChangeAspect="1"/>
          </p:cNvPicPr>
          <p:nvPr/>
        </p:nvPicPr>
        <p:blipFill>
          <a:blip r:embed="rId3"/>
          <a:stretch>
            <a:fillRect/>
          </a:stretch>
        </p:blipFill>
        <p:spPr>
          <a:xfrm>
            <a:off x="5144447" y="3429000"/>
            <a:ext cx="1903106" cy="774145"/>
          </a:xfrm>
          <a:prstGeom prst="rect">
            <a:avLst/>
          </a:prstGeom>
        </p:spPr>
      </p:pic>
      <p:pic>
        <p:nvPicPr>
          <p:cNvPr id="6" name="Picture 5">
            <a:extLst>
              <a:ext uri="{FF2B5EF4-FFF2-40B4-BE49-F238E27FC236}">
                <a16:creationId xmlns:a16="http://schemas.microsoft.com/office/drawing/2014/main" id="{BAB259F3-6B9C-CBA6-6E13-E7E317BBEC1E}"/>
              </a:ext>
            </a:extLst>
          </p:cNvPr>
          <p:cNvPicPr>
            <a:picLocks noChangeAspect="1"/>
          </p:cNvPicPr>
          <p:nvPr/>
        </p:nvPicPr>
        <p:blipFill>
          <a:blip r:embed="rId4"/>
          <a:stretch>
            <a:fillRect/>
          </a:stretch>
        </p:blipFill>
        <p:spPr>
          <a:xfrm>
            <a:off x="4980484" y="4982711"/>
            <a:ext cx="2231032" cy="966014"/>
          </a:xfrm>
          <a:prstGeom prst="rect">
            <a:avLst/>
          </a:prstGeom>
        </p:spPr>
      </p:pic>
    </p:spTree>
    <p:extLst>
      <p:ext uri="{BB962C8B-B14F-4D97-AF65-F5344CB8AC3E}">
        <p14:creationId xmlns:p14="http://schemas.microsoft.com/office/powerpoint/2010/main" val="88201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57741-E19B-7D91-B3B4-E49347708203}"/>
              </a:ext>
            </a:extLst>
          </p:cNvPr>
          <p:cNvSpPr>
            <a:spLocks noGrp="1"/>
          </p:cNvSpPr>
          <p:nvPr>
            <p:ph type="title"/>
          </p:nvPr>
        </p:nvSpPr>
        <p:spPr/>
        <p:txBody>
          <a:bodyPr/>
          <a:lstStyle/>
          <a:p>
            <a:r>
              <a:rPr lang="en-US" dirty="0"/>
              <a:t>Complete example</a:t>
            </a:r>
          </a:p>
        </p:txBody>
      </p:sp>
      <p:pic>
        <p:nvPicPr>
          <p:cNvPr id="4" name="Picture 3">
            <a:extLst>
              <a:ext uri="{FF2B5EF4-FFF2-40B4-BE49-F238E27FC236}">
                <a16:creationId xmlns:a16="http://schemas.microsoft.com/office/drawing/2014/main" id="{3AB5E99D-A3E0-D6AB-024E-586C6D5F1755}"/>
              </a:ext>
            </a:extLst>
          </p:cNvPr>
          <p:cNvPicPr>
            <a:picLocks noChangeAspect="1"/>
          </p:cNvPicPr>
          <p:nvPr/>
        </p:nvPicPr>
        <p:blipFill>
          <a:blip r:embed="rId2"/>
          <a:stretch>
            <a:fillRect/>
          </a:stretch>
        </p:blipFill>
        <p:spPr>
          <a:xfrm>
            <a:off x="6285219" y="0"/>
            <a:ext cx="4284910" cy="6880577"/>
          </a:xfrm>
          <a:prstGeom prst="rect">
            <a:avLst/>
          </a:prstGeom>
        </p:spPr>
      </p:pic>
      <p:pic>
        <p:nvPicPr>
          <p:cNvPr id="5" name="Picture 4">
            <a:extLst>
              <a:ext uri="{FF2B5EF4-FFF2-40B4-BE49-F238E27FC236}">
                <a16:creationId xmlns:a16="http://schemas.microsoft.com/office/drawing/2014/main" id="{72F00709-3A18-65E9-6EB2-6E0DC00F5515}"/>
              </a:ext>
            </a:extLst>
          </p:cNvPr>
          <p:cNvPicPr>
            <a:picLocks noChangeAspect="1"/>
          </p:cNvPicPr>
          <p:nvPr/>
        </p:nvPicPr>
        <p:blipFill>
          <a:blip r:embed="rId3"/>
          <a:stretch>
            <a:fillRect/>
          </a:stretch>
        </p:blipFill>
        <p:spPr>
          <a:xfrm>
            <a:off x="1226739" y="2829115"/>
            <a:ext cx="3889778" cy="1566716"/>
          </a:xfrm>
          <a:prstGeom prst="rect">
            <a:avLst/>
          </a:prstGeom>
        </p:spPr>
      </p:pic>
    </p:spTree>
    <p:extLst>
      <p:ext uri="{BB962C8B-B14F-4D97-AF65-F5344CB8AC3E}">
        <p14:creationId xmlns:p14="http://schemas.microsoft.com/office/powerpoint/2010/main" val="1085869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BC2A-10D3-B5FA-0A8C-2F2A4DB19EDF}"/>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292F4374-F190-0B73-679B-5356FFB5824B}"/>
              </a:ext>
            </a:extLst>
          </p:cNvPr>
          <p:cNvSpPr>
            <a:spLocks noGrp="1"/>
          </p:cNvSpPr>
          <p:nvPr>
            <p:ph idx="1"/>
          </p:nvPr>
        </p:nvSpPr>
        <p:spPr/>
        <p:txBody>
          <a:bodyPr/>
          <a:lstStyle/>
          <a:p>
            <a:pPr algn="just"/>
            <a:r>
              <a:rPr lang="en-US" dirty="0"/>
              <a:t>Since the compiler encountered two calls to square in the previous example, each with different parameter types, it generated the code for two instances of the function: one with an int parameter and int return type, the other with a double parameter and double return type.</a:t>
            </a:r>
          </a:p>
        </p:txBody>
      </p:sp>
      <p:pic>
        <p:nvPicPr>
          <p:cNvPr id="4" name="Picture 3">
            <a:extLst>
              <a:ext uri="{FF2B5EF4-FFF2-40B4-BE49-F238E27FC236}">
                <a16:creationId xmlns:a16="http://schemas.microsoft.com/office/drawing/2014/main" id="{4CCE8F2B-30CA-298D-279A-64B82AE29574}"/>
              </a:ext>
            </a:extLst>
          </p:cNvPr>
          <p:cNvPicPr>
            <a:picLocks noChangeAspect="1"/>
          </p:cNvPicPr>
          <p:nvPr/>
        </p:nvPicPr>
        <p:blipFill>
          <a:blip r:embed="rId2"/>
          <a:stretch>
            <a:fillRect/>
          </a:stretch>
        </p:blipFill>
        <p:spPr>
          <a:xfrm>
            <a:off x="3678948" y="4049630"/>
            <a:ext cx="5379838" cy="2443245"/>
          </a:xfrm>
          <a:prstGeom prst="rect">
            <a:avLst/>
          </a:prstGeom>
        </p:spPr>
      </p:pic>
    </p:spTree>
    <p:extLst>
      <p:ext uri="{BB962C8B-B14F-4D97-AF65-F5344CB8AC3E}">
        <p14:creationId xmlns:p14="http://schemas.microsoft.com/office/powerpoint/2010/main" val="1533724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3D8FB-C134-E8A3-35CC-B1F0ABE16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13573-4BA1-4F03-6554-A65B3A4B2AD9}"/>
              </a:ext>
            </a:extLst>
          </p:cNvPr>
          <p:cNvSpPr>
            <a:spLocks noGrp="1"/>
          </p:cNvSpPr>
          <p:nvPr>
            <p:ph type="title"/>
          </p:nvPr>
        </p:nvSpPr>
        <p:spPr/>
        <p:txBody>
          <a:bodyPr/>
          <a:lstStyle/>
          <a:p>
            <a:r>
              <a:rPr lang="en-US" dirty="0"/>
              <a:t>Function Templates</a:t>
            </a:r>
          </a:p>
        </p:txBody>
      </p:sp>
      <p:sp>
        <p:nvSpPr>
          <p:cNvPr id="3" name="Content Placeholder 2">
            <a:extLst>
              <a:ext uri="{FF2B5EF4-FFF2-40B4-BE49-F238E27FC236}">
                <a16:creationId xmlns:a16="http://schemas.microsoft.com/office/drawing/2014/main" id="{B7C4CF5E-35E5-F43F-3E79-0C09991909A2}"/>
              </a:ext>
            </a:extLst>
          </p:cNvPr>
          <p:cNvSpPr>
            <a:spLocks noGrp="1"/>
          </p:cNvSpPr>
          <p:nvPr>
            <p:ph idx="1"/>
          </p:nvPr>
        </p:nvSpPr>
        <p:spPr/>
        <p:txBody>
          <a:bodyPr>
            <a:normAutofit lnSpcReduction="10000"/>
          </a:bodyPr>
          <a:lstStyle/>
          <a:p>
            <a:pPr algn="just"/>
            <a:r>
              <a:rPr lang="en-US" b="1" dirty="0"/>
              <a:t>Notice that the template appears before all calls to square. </a:t>
            </a:r>
          </a:p>
          <a:p>
            <a:pPr algn="just"/>
            <a:r>
              <a:rPr lang="en-US" dirty="0"/>
              <a:t>As with regular functions, the compiler must already know the template’s contents when it encounters a call to the template function. </a:t>
            </a:r>
          </a:p>
          <a:p>
            <a:pPr algn="just"/>
            <a:r>
              <a:rPr lang="en-US" dirty="0"/>
              <a:t>Templates, therefore, should be placed near the top of the program or in a header file.</a:t>
            </a:r>
          </a:p>
          <a:p>
            <a:pPr algn="just"/>
            <a:r>
              <a:rPr lang="en-US" dirty="0">
                <a:effectLst/>
              </a:rPr>
              <a:t>A function template is merely the specification of a function and by itself does not cause memory to be used. </a:t>
            </a:r>
          </a:p>
          <a:p>
            <a:pPr algn="just"/>
            <a:r>
              <a:rPr lang="en-US" dirty="0">
                <a:effectLst/>
              </a:rPr>
              <a:t>An actual instance of the function is created in memory when the compiler encounters a call to the template function.</a:t>
            </a:r>
          </a:p>
          <a:p>
            <a:pPr algn="just"/>
            <a:endParaRPr lang="en-US" dirty="0"/>
          </a:p>
        </p:txBody>
      </p:sp>
    </p:spTree>
    <p:extLst>
      <p:ext uri="{BB962C8B-B14F-4D97-AF65-F5344CB8AC3E}">
        <p14:creationId xmlns:p14="http://schemas.microsoft.com/office/powerpoint/2010/main" val="2306748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FFF4C-A988-22D8-F857-E55F6060F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87498-ECDB-F257-02A3-5110919AB47E}"/>
              </a:ext>
            </a:extLst>
          </p:cNvPr>
          <p:cNvSpPr>
            <a:spLocks noGrp="1"/>
          </p:cNvSpPr>
          <p:nvPr>
            <p:ph type="title"/>
          </p:nvPr>
        </p:nvSpPr>
        <p:spPr/>
        <p:txBody>
          <a:bodyPr/>
          <a:lstStyle/>
          <a:p>
            <a:r>
              <a:rPr lang="en-US" dirty="0"/>
              <a:t>The swap Function Template</a:t>
            </a:r>
          </a:p>
        </p:txBody>
      </p:sp>
      <p:sp>
        <p:nvSpPr>
          <p:cNvPr id="3" name="Content Placeholder 2">
            <a:extLst>
              <a:ext uri="{FF2B5EF4-FFF2-40B4-BE49-F238E27FC236}">
                <a16:creationId xmlns:a16="http://schemas.microsoft.com/office/drawing/2014/main" id="{26E2341C-5A06-5352-8756-2B110FDAB4FD}"/>
              </a:ext>
            </a:extLst>
          </p:cNvPr>
          <p:cNvSpPr>
            <a:spLocks noGrp="1"/>
          </p:cNvSpPr>
          <p:nvPr>
            <p:ph idx="1"/>
          </p:nvPr>
        </p:nvSpPr>
        <p:spPr/>
        <p:txBody>
          <a:bodyPr>
            <a:normAutofit/>
          </a:bodyPr>
          <a:lstStyle/>
          <a:p>
            <a:pPr algn="just"/>
            <a:r>
              <a:rPr lang="en-US" dirty="0"/>
              <a:t>In many applications, there is a need for swapping the contents of two variables of the same type. </a:t>
            </a:r>
          </a:p>
          <a:p>
            <a:pPr algn="just"/>
            <a:r>
              <a:rPr lang="en-US" dirty="0"/>
              <a:t>For example, while sorting an array of integers, there would be a need for the function</a:t>
            </a:r>
          </a:p>
        </p:txBody>
      </p:sp>
      <p:pic>
        <p:nvPicPr>
          <p:cNvPr id="4" name="Picture 3">
            <a:extLst>
              <a:ext uri="{FF2B5EF4-FFF2-40B4-BE49-F238E27FC236}">
                <a16:creationId xmlns:a16="http://schemas.microsoft.com/office/drawing/2014/main" id="{B1E502C7-4899-FA6A-AE6B-14347A8E3646}"/>
              </a:ext>
            </a:extLst>
          </p:cNvPr>
          <p:cNvPicPr>
            <a:picLocks noChangeAspect="1"/>
          </p:cNvPicPr>
          <p:nvPr/>
        </p:nvPicPr>
        <p:blipFill>
          <a:blip r:embed="rId3"/>
          <a:stretch>
            <a:fillRect/>
          </a:stretch>
        </p:blipFill>
        <p:spPr>
          <a:xfrm>
            <a:off x="4486821" y="3717079"/>
            <a:ext cx="3218358" cy="1861599"/>
          </a:xfrm>
          <a:prstGeom prst="rect">
            <a:avLst/>
          </a:prstGeom>
        </p:spPr>
      </p:pic>
    </p:spTree>
    <p:extLst>
      <p:ext uri="{BB962C8B-B14F-4D97-AF65-F5344CB8AC3E}">
        <p14:creationId xmlns:p14="http://schemas.microsoft.com/office/powerpoint/2010/main" val="1030385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78846-2454-B6FD-E860-E9868FB5B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8F600-207D-D778-0A72-0FE8BCC7F21D}"/>
              </a:ext>
            </a:extLst>
          </p:cNvPr>
          <p:cNvSpPr>
            <a:spLocks noGrp="1"/>
          </p:cNvSpPr>
          <p:nvPr>
            <p:ph type="title"/>
          </p:nvPr>
        </p:nvSpPr>
        <p:spPr/>
        <p:txBody>
          <a:bodyPr/>
          <a:lstStyle/>
          <a:p>
            <a:r>
              <a:rPr lang="en-US" dirty="0"/>
              <a:t>The swap Function Template</a:t>
            </a:r>
          </a:p>
        </p:txBody>
      </p:sp>
      <p:sp>
        <p:nvSpPr>
          <p:cNvPr id="3" name="Content Placeholder 2">
            <a:extLst>
              <a:ext uri="{FF2B5EF4-FFF2-40B4-BE49-F238E27FC236}">
                <a16:creationId xmlns:a16="http://schemas.microsoft.com/office/drawing/2014/main" id="{4451FFF0-9EAB-CDE8-1B81-DDABF8C4F7DE}"/>
              </a:ext>
            </a:extLst>
          </p:cNvPr>
          <p:cNvSpPr>
            <a:spLocks noGrp="1"/>
          </p:cNvSpPr>
          <p:nvPr>
            <p:ph idx="1"/>
          </p:nvPr>
        </p:nvSpPr>
        <p:spPr/>
        <p:txBody>
          <a:bodyPr>
            <a:normAutofit lnSpcReduction="10000"/>
          </a:bodyPr>
          <a:lstStyle/>
          <a:p>
            <a:pPr algn="just"/>
            <a:r>
              <a:rPr lang="en-US" dirty="0"/>
              <a:t>whereas while sorting an array string objects, there would be a need for the function</a:t>
            </a:r>
          </a:p>
          <a:p>
            <a:pPr algn="just"/>
            <a:endParaRPr lang="en-US" dirty="0"/>
          </a:p>
          <a:p>
            <a:pPr algn="just"/>
            <a:endParaRPr lang="en-US" dirty="0"/>
          </a:p>
          <a:p>
            <a:pPr algn="just"/>
            <a:endParaRPr lang="en-US" dirty="0"/>
          </a:p>
          <a:p>
            <a:pPr algn="just"/>
            <a:endParaRPr lang="en-US" dirty="0"/>
          </a:p>
          <a:p>
            <a:pPr algn="just"/>
            <a:r>
              <a:rPr lang="en-US" dirty="0"/>
              <a:t>Because the only difference in the coding of these two functions is the type of the variables being swapped, the logic of both functions and all others like them can be captured with one template function.</a:t>
            </a:r>
          </a:p>
        </p:txBody>
      </p:sp>
      <p:pic>
        <p:nvPicPr>
          <p:cNvPr id="5" name="Picture 4">
            <a:extLst>
              <a:ext uri="{FF2B5EF4-FFF2-40B4-BE49-F238E27FC236}">
                <a16:creationId xmlns:a16="http://schemas.microsoft.com/office/drawing/2014/main" id="{8C006B19-6058-97C5-169D-28012E7027E9}"/>
              </a:ext>
            </a:extLst>
          </p:cNvPr>
          <p:cNvPicPr>
            <a:picLocks noChangeAspect="1"/>
          </p:cNvPicPr>
          <p:nvPr/>
        </p:nvPicPr>
        <p:blipFill>
          <a:blip r:embed="rId3"/>
          <a:stretch>
            <a:fillRect/>
          </a:stretch>
        </p:blipFill>
        <p:spPr>
          <a:xfrm>
            <a:off x="4549878" y="2859032"/>
            <a:ext cx="3092243" cy="1429188"/>
          </a:xfrm>
          <a:prstGeom prst="rect">
            <a:avLst/>
          </a:prstGeom>
        </p:spPr>
      </p:pic>
    </p:spTree>
    <p:extLst>
      <p:ext uri="{BB962C8B-B14F-4D97-AF65-F5344CB8AC3E}">
        <p14:creationId xmlns:p14="http://schemas.microsoft.com/office/powerpoint/2010/main" val="1006448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532D8-CDCA-182E-2F4D-BDDBAB6B0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DF2F5-6909-574D-3B07-ABCC19C8513D}"/>
              </a:ext>
            </a:extLst>
          </p:cNvPr>
          <p:cNvSpPr>
            <a:spLocks noGrp="1"/>
          </p:cNvSpPr>
          <p:nvPr>
            <p:ph type="title"/>
          </p:nvPr>
        </p:nvSpPr>
        <p:spPr/>
        <p:txBody>
          <a:bodyPr/>
          <a:lstStyle/>
          <a:p>
            <a:r>
              <a:rPr lang="en-US" dirty="0"/>
              <a:t>The swap Function Template</a:t>
            </a:r>
          </a:p>
        </p:txBody>
      </p:sp>
      <p:sp>
        <p:nvSpPr>
          <p:cNvPr id="3" name="Content Placeholder 2">
            <a:extLst>
              <a:ext uri="{FF2B5EF4-FFF2-40B4-BE49-F238E27FC236}">
                <a16:creationId xmlns:a16="http://schemas.microsoft.com/office/drawing/2014/main" id="{414E279D-A180-AC39-1ED3-E4BB1C5CDE7F}"/>
              </a:ext>
            </a:extLst>
          </p:cNvPr>
          <p:cNvSpPr>
            <a:spLocks noGrp="1"/>
          </p:cNvSpPr>
          <p:nvPr>
            <p:ph idx="1"/>
          </p:nvPr>
        </p:nvSpPr>
        <p:spPr/>
        <p:txBody>
          <a:bodyPr>
            <a:normAutofit/>
          </a:bodyPr>
          <a:lstStyle/>
          <a:p>
            <a:pPr algn="just"/>
            <a:r>
              <a:rPr lang="en-US" dirty="0"/>
              <a:t>Here’s how we can do it:</a:t>
            </a:r>
          </a:p>
          <a:p>
            <a:pPr algn="just"/>
            <a:endParaRPr lang="en-US" dirty="0"/>
          </a:p>
          <a:p>
            <a:pPr algn="just"/>
            <a:endParaRPr lang="en-US" dirty="0"/>
          </a:p>
          <a:p>
            <a:pPr algn="just"/>
            <a:endParaRPr lang="en-US" dirty="0"/>
          </a:p>
          <a:p>
            <a:pPr marL="0" indent="0" algn="just">
              <a:buNone/>
            </a:pPr>
            <a:endParaRPr lang="en-US" dirty="0"/>
          </a:p>
          <a:p>
            <a:pPr algn="just"/>
            <a:r>
              <a:rPr lang="en-US" dirty="0"/>
              <a:t>Such a template function is available in the libraries that come with standard C++ compilers. </a:t>
            </a:r>
          </a:p>
          <a:p>
            <a:pPr algn="just"/>
            <a:r>
              <a:rPr lang="en-US" dirty="0"/>
              <a:t>The function is declared in the algorithm header file.</a:t>
            </a:r>
          </a:p>
          <a:p>
            <a:pPr lvl="1" algn="just"/>
            <a:r>
              <a:rPr lang="en-US" b="1" i="1" dirty="0">
                <a:solidFill>
                  <a:srgbClr val="FF0000"/>
                </a:solidFill>
                <a:effectLst/>
              </a:rPr>
              <a:t>#include &lt;algorithm&gt;</a:t>
            </a:r>
            <a:endParaRPr lang="en-US" i="1" dirty="0">
              <a:solidFill>
                <a:srgbClr val="FF0000"/>
              </a:solidFill>
            </a:endParaRPr>
          </a:p>
          <a:p>
            <a:pPr algn="just"/>
            <a:endParaRPr lang="en-US" dirty="0"/>
          </a:p>
          <a:p>
            <a:pPr algn="just"/>
            <a:endParaRPr lang="en-US" dirty="0"/>
          </a:p>
          <a:p>
            <a:pPr algn="just"/>
            <a:endParaRPr lang="en-US" dirty="0"/>
          </a:p>
        </p:txBody>
      </p:sp>
      <p:pic>
        <p:nvPicPr>
          <p:cNvPr id="4" name="Picture 3">
            <a:extLst>
              <a:ext uri="{FF2B5EF4-FFF2-40B4-BE49-F238E27FC236}">
                <a16:creationId xmlns:a16="http://schemas.microsoft.com/office/drawing/2014/main" id="{0727D318-EA53-109A-A7C8-3F4CEE24DDC6}"/>
              </a:ext>
            </a:extLst>
          </p:cNvPr>
          <p:cNvPicPr>
            <a:picLocks noChangeAspect="1"/>
          </p:cNvPicPr>
          <p:nvPr/>
        </p:nvPicPr>
        <p:blipFill>
          <a:blip r:embed="rId3"/>
          <a:stretch>
            <a:fillRect/>
          </a:stretch>
        </p:blipFill>
        <p:spPr>
          <a:xfrm>
            <a:off x="4918919" y="2561677"/>
            <a:ext cx="2354161" cy="1734645"/>
          </a:xfrm>
          <a:prstGeom prst="rect">
            <a:avLst/>
          </a:prstGeom>
        </p:spPr>
      </p:pic>
    </p:spTree>
    <p:extLst>
      <p:ext uri="{BB962C8B-B14F-4D97-AF65-F5344CB8AC3E}">
        <p14:creationId xmlns:p14="http://schemas.microsoft.com/office/powerpoint/2010/main" val="2814523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F69-F172-4045-96EB-C6B963257BD5}"/>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9F153DC8-749E-C9B3-B07C-BEE68C64E879}"/>
              </a:ext>
            </a:extLst>
          </p:cNvPr>
          <p:cNvPicPr>
            <a:picLocks noChangeAspect="1"/>
          </p:cNvPicPr>
          <p:nvPr/>
        </p:nvPicPr>
        <p:blipFill>
          <a:blip r:embed="rId3"/>
          <a:stretch>
            <a:fillRect/>
          </a:stretch>
        </p:blipFill>
        <p:spPr>
          <a:xfrm>
            <a:off x="6536339" y="0"/>
            <a:ext cx="4993913" cy="6858000"/>
          </a:xfrm>
          <a:prstGeom prst="rect">
            <a:avLst/>
          </a:prstGeom>
        </p:spPr>
      </p:pic>
      <p:pic>
        <p:nvPicPr>
          <p:cNvPr id="5" name="Picture 4">
            <a:extLst>
              <a:ext uri="{FF2B5EF4-FFF2-40B4-BE49-F238E27FC236}">
                <a16:creationId xmlns:a16="http://schemas.microsoft.com/office/drawing/2014/main" id="{91BCE604-7FC7-92FE-3B69-8CA6757A08DD}"/>
              </a:ext>
            </a:extLst>
          </p:cNvPr>
          <p:cNvPicPr>
            <a:picLocks noChangeAspect="1"/>
          </p:cNvPicPr>
          <p:nvPr/>
        </p:nvPicPr>
        <p:blipFill>
          <a:blip r:embed="rId4"/>
          <a:stretch>
            <a:fillRect/>
          </a:stretch>
        </p:blipFill>
        <p:spPr>
          <a:xfrm>
            <a:off x="931370" y="2787649"/>
            <a:ext cx="4917622" cy="2288847"/>
          </a:xfrm>
          <a:prstGeom prst="rect">
            <a:avLst/>
          </a:prstGeom>
        </p:spPr>
      </p:pic>
    </p:spTree>
    <p:extLst>
      <p:ext uri="{BB962C8B-B14F-4D97-AF65-F5344CB8AC3E}">
        <p14:creationId xmlns:p14="http://schemas.microsoft.com/office/powerpoint/2010/main" val="1245762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A4AC9-0A80-1A1F-2195-B57F0B4AB435}"/>
              </a:ext>
            </a:extLst>
          </p:cNvPr>
          <p:cNvSpPr>
            <a:spLocks noGrp="1"/>
          </p:cNvSpPr>
          <p:nvPr>
            <p:ph type="title"/>
          </p:nvPr>
        </p:nvSpPr>
        <p:spPr/>
        <p:txBody>
          <a:bodyPr/>
          <a:lstStyle/>
          <a:p>
            <a:r>
              <a:rPr lang="en-US" dirty="0"/>
              <a:t>Using Operators in Function Templates</a:t>
            </a:r>
          </a:p>
        </p:txBody>
      </p:sp>
      <p:sp>
        <p:nvSpPr>
          <p:cNvPr id="3" name="Content Placeholder 2">
            <a:extLst>
              <a:ext uri="{FF2B5EF4-FFF2-40B4-BE49-F238E27FC236}">
                <a16:creationId xmlns:a16="http://schemas.microsoft.com/office/drawing/2014/main" id="{4035B285-8D64-425B-F729-05FDB97DE543}"/>
              </a:ext>
            </a:extLst>
          </p:cNvPr>
          <p:cNvSpPr>
            <a:spLocks noGrp="1"/>
          </p:cNvSpPr>
          <p:nvPr>
            <p:ph idx="1"/>
          </p:nvPr>
        </p:nvSpPr>
        <p:spPr/>
        <p:txBody>
          <a:bodyPr>
            <a:normAutofit lnSpcReduction="10000"/>
          </a:bodyPr>
          <a:lstStyle/>
          <a:p>
            <a:r>
              <a:rPr lang="en-US" dirty="0"/>
              <a:t>The square function template shown earlier in this section applies the operator * to its parameter. </a:t>
            </a:r>
          </a:p>
          <a:p>
            <a:r>
              <a:rPr lang="en-US" dirty="0"/>
              <a:t>The square template will work correctly as long as the type of the parameter passed to it supports the * operator. </a:t>
            </a:r>
          </a:p>
          <a:p>
            <a:r>
              <a:rPr lang="en-US" dirty="0"/>
              <a:t>For example, it works for numeric types such as int, long, and double because all these types have a multiplication operator *. </a:t>
            </a:r>
          </a:p>
          <a:p>
            <a:r>
              <a:rPr lang="en-US" dirty="0"/>
              <a:t>In addition, the square template will work with any user-defined class type that overloads the operator *. </a:t>
            </a:r>
          </a:p>
          <a:p>
            <a:r>
              <a:rPr lang="en-US" b="1" dirty="0"/>
              <a:t>Errors will result if square is used with types that do not support the operator *.</a:t>
            </a:r>
          </a:p>
        </p:txBody>
      </p:sp>
    </p:spTree>
    <p:extLst>
      <p:ext uri="{BB962C8B-B14F-4D97-AF65-F5344CB8AC3E}">
        <p14:creationId xmlns:p14="http://schemas.microsoft.com/office/powerpoint/2010/main" val="32969249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04ED7-787C-90FB-A77B-19C5DC198EA6}"/>
              </a:ext>
            </a:extLst>
          </p:cNvPr>
          <p:cNvSpPr>
            <a:spLocks noGrp="1"/>
          </p:cNvSpPr>
          <p:nvPr>
            <p:ph type="title"/>
          </p:nvPr>
        </p:nvSpPr>
        <p:spPr/>
        <p:txBody>
          <a:bodyPr/>
          <a:lstStyle/>
          <a:p>
            <a:r>
              <a:rPr lang="en-US" dirty="0"/>
              <a:t>Function Templates with Multiple Types</a:t>
            </a:r>
          </a:p>
        </p:txBody>
      </p:sp>
      <p:sp>
        <p:nvSpPr>
          <p:cNvPr id="3" name="Content Placeholder 2">
            <a:extLst>
              <a:ext uri="{FF2B5EF4-FFF2-40B4-BE49-F238E27FC236}">
                <a16:creationId xmlns:a16="http://schemas.microsoft.com/office/drawing/2014/main" id="{6E0DCB9C-D754-CE7C-880A-6CC994EFB068}"/>
              </a:ext>
            </a:extLst>
          </p:cNvPr>
          <p:cNvSpPr>
            <a:spLocks noGrp="1"/>
          </p:cNvSpPr>
          <p:nvPr>
            <p:ph idx="1"/>
          </p:nvPr>
        </p:nvSpPr>
        <p:spPr/>
        <p:txBody>
          <a:bodyPr/>
          <a:lstStyle/>
          <a:p>
            <a:r>
              <a:rPr lang="en-US" dirty="0"/>
              <a:t>More than one generic type may be used in a function template.</a:t>
            </a:r>
          </a:p>
          <a:p>
            <a:r>
              <a:rPr lang="en-US" dirty="0"/>
              <a:t>We will now see an example where a function that takes as parameters a list of three values of any printable type, prints out the list in order, and then prints out the list in reverse. </a:t>
            </a:r>
          </a:p>
          <a:p>
            <a:r>
              <a:rPr lang="en-US" dirty="0"/>
              <a:t>The type parameters for the template function are represented using the identifiers </a:t>
            </a:r>
            <a:r>
              <a:rPr lang="en-US" i="1" dirty="0">
                <a:solidFill>
                  <a:srgbClr val="FF0000"/>
                </a:solidFill>
              </a:rPr>
              <a:t>T1, T2, and T3.</a:t>
            </a:r>
          </a:p>
        </p:txBody>
      </p:sp>
    </p:spTree>
    <p:extLst>
      <p:ext uri="{BB962C8B-B14F-4D97-AF65-F5344CB8AC3E}">
        <p14:creationId xmlns:p14="http://schemas.microsoft.com/office/powerpoint/2010/main" val="940414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AE462-9194-B2EB-88E8-E41A04197316}"/>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8758DC03-77E1-0643-322D-2F47AFB0B6A8}"/>
              </a:ext>
            </a:extLst>
          </p:cNvPr>
          <p:cNvPicPr>
            <a:picLocks noChangeAspect="1"/>
          </p:cNvPicPr>
          <p:nvPr/>
        </p:nvPicPr>
        <p:blipFill>
          <a:blip r:embed="rId3"/>
          <a:stretch>
            <a:fillRect/>
          </a:stretch>
        </p:blipFill>
        <p:spPr>
          <a:xfrm>
            <a:off x="5891048" y="0"/>
            <a:ext cx="4921355" cy="6858000"/>
          </a:xfrm>
          <a:prstGeom prst="rect">
            <a:avLst/>
          </a:prstGeom>
        </p:spPr>
      </p:pic>
      <p:sp>
        <p:nvSpPr>
          <p:cNvPr id="5" name="TextBox 4">
            <a:extLst>
              <a:ext uri="{FF2B5EF4-FFF2-40B4-BE49-F238E27FC236}">
                <a16:creationId xmlns:a16="http://schemas.microsoft.com/office/drawing/2014/main" id="{0ED8B288-B571-68FE-7E1C-A9A0AE747AFA}"/>
              </a:ext>
            </a:extLst>
          </p:cNvPr>
          <p:cNvSpPr txBox="1"/>
          <p:nvPr/>
        </p:nvSpPr>
        <p:spPr>
          <a:xfrm>
            <a:off x="838200" y="2638097"/>
            <a:ext cx="3321270" cy="2308324"/>
          </a:xfrm>
          <a:prstGeom prst="rect">
            <a:avLst/>
          </a:prstGeom>
          <a:noFill/>
        </p:spPr>
        <p:txBody>
          <a:bodyPr wrap="square" rtlCol="0">
            <a:spAutoFit/>
          </a:bodyPr>
          <a:lstStyle/>
          <a:p>
            <a:r>
              <a:rPr lang="en-US" sz="2400" dirty="0"/>
              <a:t>Note: Each type parameter declared in the template prefix must be used somewhere in the template definition.</a:t>
            </a:r>
          </a:p>
        </p:txBody>
      </p:sp>
    </p:spTree>
    <p:extLst>
      <p:ext uri="{BB962C8B-B14F-4D97-AF65-F5344CB8AC3E}">
        <p14:creationId xmlns:p14="http://schemas.microsoft.com/office/powerpoint/2010/main" val="381009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2B4D-AC86-94F2-1D6A-3ADBD1D667E3}"/>
              </a:ext>
            </a:extLst>
          </p:cNvPr>
          <p:cNvSpPr>
            <a:spLocks noGrp="1"/>
          </p:cNvSpPr>
          <p:nvPr>
            <p:ph type="title"/>
          </p:nvPr>
        </p:nvSpPr>
        <p:spPr>
          <a:xfrm>
            <a:off x="838200" y="365125"/>
            <a:ext cx="6161690" cy="1325563"/>
          </a:xfrm>
        </p:spPr>
        <p:txBody>
          <a:bodyPr/>
          <a:lstStyle/>
          <a:p>
            <a:r>
              <a:rPr lang="en-US" dirty="0"/>
              <a:t>Overloading with Function Templates</a:t>
            </a:r>
          </a:p>
        </p:txBody>
      </p:sp>
      <p:sp>
        <p:nvSpPr>
          <p:cNvPr id="3" name="Content Placeholder 2">
            <a:extLst>
              <a:ext uri="{FF2B5EF4-FFF2-40B4-BE49-F238E27FC236}">
                <a16:creationId xmlns:a16="http://schemas.microsoft.com/office/drawing/2014/main" id="{DED17E9A-15B7-5401-5649-D05124FAB610}"/>
              </a:ext>
            </a:extLst>
          </p:cNvPr>
          <p:cNvSpPr>
            <a:spLocks noGrp="1"/>
          </p:cNvSpPr>
          <p:nvPr>
            <p:ph idx="1"/>
          </p:nvPr>
        </p:nvSpPr>
        <p:spPr>
          <a:xfrm>
            <a:off x="964324" y="1846646"/>
            <a:ext cx="5499538" cy="4351338"/>
          </a:xfrm>
        </p:spPr>
        <p:txBody>
          <a:bodyPr>
            <a:normAutofit/>
          </a:bodyPr>
          <a:lstStyle/>
          <a:p>
            <a:r>
              <a:rPr lang="en-US" dirty="0"/>
              <a:t>Function templates may be overloaded.</a:t>
            </a:r>
          </a:p>
          <a:p>
            <a:r>
              <a:rPr lang="en-US" dirty="0"/>
              <a:t>As with regular functions, function templates are overloaded by having different parameter lists.</a:t>
            </a:r>
          </a:p>
        </p:txBody>
      </p:sp>
      <p:pic>
        <p:nvPicPr>
          <p:cNvPr id="4" name="Picture 3">
            <a:extLst>
              <a:ext uri="{FF2B5EF4-FFF2-40B4-BE49-F238E27FC236}">
                <a16:creationId xmlns:a16="http://schemas.microsoft.com/office/drawing/2014/main" id="{1C6F130B-50C3-3AFB-865F-0936C525976A}"/>
              </a:ext>
            </a:extLst>
          </p:cNvPr>
          <p:cNvPicPr>
            <a:picLocks noChangeAspect="1"/>
          </p:cNvPicPr>
          <p:nvPr/>
        </p:nvPicPr>
        <p:blipFill>
          <a:blip r:embed="rId2"/>
          <a:stretch>
            <a:fillRect/>
          </a:stretch>
        </p:blipFill>
        <p:spPr>
          <a:xfrm>
            <a:off x="6999890" y="536027"/>
            <a:ext cx="4877083" cy="6084742"/>
          </a:xfrm>
          <a:prstGeom prst="rect">
            <a:avLst/>
          </a:prstGeom>
        </p:spPr>
      </p:pic>
      <p:pic>
        <p:nvPicPr>
          <p:cNvPr id="5" name="Picture 4">
            <a:extLst>
              <a:ext uri="{FF2B5EF4-FFF2-40B4-BE49-F238E27FC236}">
                <a16:creationId xmlns:a16="http://schemas.microsoft.com/office/drawing/2014/main" id="{F23C1CE1-26F5-B9AE-F2F6-F319760E920C}"/>
              </a:ext>
            </a:extLst>
          </p:cNvPr>
          <p:cNvPicPr>
            <a:picLocks noChangeAspect="1"/>
          </p:cNvPicPr>
          <p:nvPr/>
        </p:nvPicPr>
        <p:blipFill>
          <a:blip r:embed="rId3"/>
          <a:stretch>
            <a:fillRect/>
          </a:stretch>
        </p:blipFill>
        <p:spPr>
          <a:xfrm>
            <a:off x="1491652" y="4667843"/>
            <a:ext cx="4604348" cy="1686099"/>
          </a:xfrm>
          <a:prstGeom prst="rect">
            <a:avLst/>
          </a:prstGeom>
        </p:spPr>
      </p:pic>
    </p:spTree>
    <p:extLst>
      <p:ext uri="{BB962C8B-B14F-4D97-AF65-F5344CB8AC3E}">
        <p14:creationId xmlns:p14="http://schemas.microsoft.com/office/powerpoint/2010/main" val="23419346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CD30C-1021-4F9B-386B-5773271A15DF}"/>
              </a:ext>
            </a:extLst>
          </p:cNvPr>
          <p:cNvSpPr>
            <a:spLocks noGrp="1"/>
          </p:cNvSpPr>
          <p:nvPr>
            <p:ph type="title"/>
          </p:nvPr>
        </p:nvSpPr>
        <p:spPr/>
        <p:txBody>
          <a:bodyPr/>
          <a:lstStyle/>
          <a:p>
            <a:r>
              <a:rPr lang="en-US" dirty="0"/>
              <a:t>Overloading with Function Templates</a:t>
            </a:r>
          </a:p>
        </p:txBody>
      </p:sp>
      <p:sp>
        <p:nvSpPr>
          <p:cNvPr id="3" name="Content Placeholder 2">
            <a:extLst>
              <a:ext uri="{FF2B5EF4-FFF2-40B4-BE49-F238E27FC236}">
                <a16:creationId xmlns:a16="http://schemas.microsoft.com/office/drawing/2014/main" id="{D30BC1DF-22EA-A450-1E48-320B9E88B495}"/>
              </a:ext>
            </a:extLst>
          </p:cNvPr>
          <p:cNvSpPr>
            <a:spLocks noGrp="1"/>
          </p:cNvSpPr>
          <p:nvPr>
            <p:ph idx="1"/>
          </p:nvPr>
        </p:nvSpPr>
        <p:spPr/>
        <p:txBody>
          <a:bodyPr/>
          <a:lstStyle/>
          <a:p>
            <a:r>
              <a:rPr lang="en-US" dirty="0"/>
              <a:t>There are other ways to perform overloading with function templates as well. </a:t>
            </a:r>
          </a:p>
          <a:p>
            <a:r>
              <a:rPr lang="en-US" dirty="0"/>
              <a:t>For example, a program might contain a regular (</a:t>
            </a:r>
            <a:r>
              <a:rPr lang="en-US" dirty="0" err="1"/>
              <a:t>nontemplate</a:t>
            </a:r>
            <a:r>
              <a:rPr lang="en-US" dirty="0"/>
              <a:t>) version of a function as well as a template version. </a:t>
            </a:r>
          </a:p>
          <a:p>
            <a:r>
              <a:rPr lang="en-US" dirty="0"/>
              <a:t>As long as each has a different parameter list, they can coexist as overloaded functions.</a:t>
            </a:r>
          </a:p>
          <a:p>
            <a:endParaRPr lang="en-US" dirty="0"/>
          </a:p>
        </p:txBody>
      </p:sp>
    </p:spTree>
    <p:extLst>
      <p:ext uri="{BB962C8B-B14F-4D97-AF65-F5344CB8AC3E}">
        <p14:creationId xmlns:p14="http://schemas.microsoft.com/office/powerpoint/2010/main" val="37349526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FD11-6D51-CB4A-B3E8-DF77625F03C9}"/>
              </a:ext>
            </a:extLst>
          </p:cNvPr>
          <p:cNvSpPr>
            <a:spLocks noGrp="1"/>
          </p:cNvSpPr>
          <p:nvPr>
            <p:ph type="title"/>
          </p:nvPr>
        </p:nvSpPr>
        <p:spPr/>
        <p:txBody>
          <a:bodyPr/>
          <a:lstStyle/>
          <a:p>
            <a:r>
              <a:rPr lang="en-US" dirty="0"/>
              <a:t>Defining Template Functions</a:t>
            </a:r>
          </a:p>
        </p:txBody>
      </p:sp>
      <p:sp>
        <p:nvSpPr>
          <p:cNvPr id="3" name="Content Placeholder 2">
            <a:extLst>
              <a:ext uri="{FF2B5EF4-FFF2-40B4-BE49-F238E27FC236}">
                <a16:creationId xmlns:a16="http://schemas.microsoft.com/office/drawing/2014/main" id="{C2A30C1D-3985-BDD4-426C-3ADFBEE1B1FF}"/>
              </a:ext>
            </a:extLst>
          </p:cNvPr>
          <p:cNvSpPr>
            <a:spLocks noGrp="1"/>
          </p:cNvSpPr>
          <p:nvPr>
            <p:ph idx="1"/>
          </p:nvPr>
        </p:nvSpPr>
        <p:spPr/>
        <p:txBody>
          <a:bodyPr/>
          <a:lstStyle/>
          <a:p>
            <a:r>
              <a:rPr lang="en-US" dirty="0">
                <a:effectLst/>
              </a:rPr>
              <a:t>In defining template functions, it may be helpful to start by writing a </a:t>
            </a:r>
            <a:r>
              <a:rPr lang="en-US" dirty="0" err="1">
                <a:effectLst/>
              </a:rPr>
              <a:t>nontemplate</a:t>
            </a:r>
            <a:r>
              <a:rPr lang="en-US" dirty="0">
                <a:effectLst/>
              </a:rPr>
              <a:t> version of the function and then converting it to a template after it has been tested. </a:t>
            </a:r>
          </a:p>
          <a:p>
            <a:r>
              <a:rPr lang="en-US" dirty="0">
                <a:effectLst/>
              </a:rPr>
              <a:t>The conversion is then achieved by prefixing the function definition with an appropriate template header, say</a:t>
            </a:r>
            <a:br>
              <a:rPr lang="en-US" dirty="0">
                <a:effectLst/>
              </a:rPr>
            </a:br>
            <a:r>
              <a:rPr lang="en-US" b="1" i="1" dirty="0">
                <a:solidFill>
                  <a:srgbClr val="FF0000"/>
                </a:solidFill>
                <a:effectLst/>
              </a:rPr>
              <a:t>template</a:t>
            </a:r>
            <a:r>
              <a:rPr lang="en-US" i="1" dirty="0">
                <a:solidFill>
                  <a:srgbClr val="FF0000"/>
                </a:solidFill>
              </a:rPr>
              <a:t> &lt;</a:t>
            </a:r>
            <a:r>
              <a:rPr lang="en-US" b="1" i="1" dirty="0">
                <a:solidFill>
                  <a:srgbClr val="FF0000"/>
                </a:solidFill>
                <a:effectLst/>
              </a:rPr>
              <a:t>class</a:t>
            </a:r>
            <a:r>
              <a:rPr lang="en-US" i="1" dirty="0">
                <a:solidFill>
                  <a:srgbClr val="FF0000"/>
                </a:solidFill>
              </a:rPr>
              <a:t> </a:t>
            </a:r>
            <a:r>
              <a:rPr lang="en-US" b="1" i="1" dirty="0">
                <a:solidFill>
                  <a:srgbClr val="FF0000"/>
                </a:solidFill>
                <a:effectLst/>
              </a:rPr>
              <a:t>T</a:t>
            </a:r>
            <a:r>
              <a:rPr lang="en-US" i="1" dirty="0">
                <a:solidFill>
                  <a:srgbClr val="FF0000"/>
                </a:solidFill>
              </a:rPr>
              <a:t>&gt; </a:t>
            </a:r>
            <a:endParaRPr lang="en-US" i="1" dirty="0">
              <a:solidFill>
                <a:srgbClr val="FF0000"/>
              </a:solidFill>
              <a:effectLst/>
            </a:endParaRPr>
          </a:p>
          <a:p>
            <a:r>
              <a:rPr lang="en-US" dirty="0"/>
              <a:t>And then systematically replacing the relevant type with the generic type T.</a:t>
            </a:r>
          </a:p>
        </p:txBody>
      </p:sp>
    </p:spTree>
    <p:extLst>
      <p:ext uri="{BB962C8B-B14F-4D97-AF65-F5344CB8AC3E}">
        <p14:creationId xmlns:p14="http://schemas.microsoft.com/office/powerpoint/2010/main" val="30899366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3B404-FE38-723F-E6FD-1E51CC7133E4}"/>
              </a:ext>
            </a:extLst>
          </p:cNvPr>
          <p:cNvSpPr>
            <a:spLocks noGrp="1"/>
          </p:cNvSpPr>
          <p:nvPr>
            <p:ph type="title"/>
          </p:nvPr>
        </p:nvSpPr>
        <p:spPr/>
        <p:txBody>
          <a:bodyPr/>
          <a:lstStyle/>
          <a:p>
            <a:r>
              <a:rPr lang="en-US" dirty="0"/>
              <a:t>Class Templates</a:t>
            </a:r>
          </a:p>
        </p:txBody>
      </p:sp>
      <p:sp>
        <p:nvSpPr>
          <p:cNvPr id="3" name="Content Placeholder 2">
            <a:extLst>
              <a:ext uri="{FF2B5EF4-FFF2-40B4-BE49-F238E27FC236}">
                <a16:creationId xmlns:a16="http://schemas.microsoft.com/office/drawing/2014/main" id="{7C8E470E-18D1-DEA9-A42E-0CE47E2FF894}"/>
              </a:ext>
            </a:extLst>
          </p:cNvPr>
          <p:cNvSpPr>
            <a:spLocks noGrp="1"/>
          </p:cNvSpPr>
          <p:nvPr>
            <p:ph idx="1"/>
          </p:nvPr>
        </p:nvSpPr>
        <p:spPr>
          <a:xfrm>
            <a:off x="838200" y="1825625"/>
            <a:ext cx="11038490" cy="4351338"/>
          </a:xfrm>
        </p:spPr>
        <p:txBody>
          <a:bodyPr/>
          <a:lstStyle/>
          <a:p>
            <a:r>
              <a:rPr lang="en-US" dirty="0"/>
              <a:t>Templates may also be used to create generic classes</a:t>
            </a:r>
          </a:p>
          <a:p>
            <a:r>
              <a:rPr lang="en-US" dirty="0"/>
              <a:t>Function templates are used whenever we need several different functions that have the same problem-solving logic, but differ only in the types of the parameters they work with. </a:t>
            </a:r>
          </a:p>
          <a:p>
            <a:r>
              <a:rPr lang="en-US" b="1" dirty="0"/>
              <a:t>Class templates can be used whenever we need several classes that only differ in the types of some of their data members or in the types of the parameters of their member functions.</a:t>
            </a:r>
          </a:p>
        </p:txBody>
      </p:sp>
    </p:spTree>
    <p:extLst>
      <p:ext uri="{BB962C8B-B14F-4D97-AF65-F5344CB8AC3E}">
        <p14:creationId xmlns:p14="http://schemas.microsoft.com/office/powerpoint/2010/main" val="564915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2F5F4-1464-616F-EEE9-919BEFFD4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A2EC0-133F-594D-7AAE-DF0A6B20E765}"/>
              </a:ext>
            </a:extLst>
          </p:cNvPr>
          <p:cNvSpPr>
            <a:spLocks noGrp="1"/>
          </p:cNvSpPr>
          <p:nvPr>
            <p:ph type="title"/>
          </p:nvPr>
        </p:nvSpPr>
        <p:spPr/>
        <p:txBody>
          <a:bodyPr/>
          <a:lstStyle/>
          <a:p>
            <a:r>
              <a:rPr lang="en-US" dirty="0"/>
              <a:t>Class Templates</a:t>
            </a:r>
          </a:p>
        </p:txBody>
      </p:sp>
      <p:sp>
        <p:nvSpPr>
          <p:cNvPr id="3" name="Content Placeholder 2">
            <a:extLst>
              <a:ext uri="{FF2B5EF4-FFF2-40B4-BE49-F238E27FC236}">
                <a16:creationId xmlns:a16="http://schemas.microsoft.com/office/drawing/2014/main" id="{89BF6F81-9780-74C5-4AB8-F506B3ADC4E9}"/>
              </a:ext>
            </a:extLst>
          </p:cNvPr>
          <p:cNvSpPr>
            <a:spLocks noGrp="1"/>
          </p:cNvSpPr>
          <p:nvPr>
            <p:ph idx="1"/>
          </p:nvPr>
        </p:nvSpPr>
        <p:spPr>
          <a:xfrm>
            <a:off x="838200" y="1825625"/>
            <a:ext cx="11038490" cy="4351338"/>
          </a:xfrm>
        </p:spPr>
        <p:txBody>
          <a:bodyPr/>
          <a:lstStyle/>
          <a:p>
            <a:r>
              <a:rPr lang="en-US" dirty="0"/>
              <a:t>Declaring a class template is similar to declaring a function template: You write the class using identifiers such as T, T1, T2 (or whatever other identifier you choose) as generic types, and then you prefix the class declaration with an appropriately written template header.</a:t>
            </a:r>
            <a:endParaRPr lang="en-US" b="1" dirty="0"/>
          </a:p>
        </p:txBody>
      </p:sp>
    </p:spTree>
    <p:extLst>
      <p:ext uri="{BB962C8B-B14F-4D97-AF65-F5344CB8AC3E}">
        <p14:creationId xmlns:p14="http://schemas.microsoft.com/office/powerpoint/2010/main" val="3338003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3265F-28D0-58A6-1962-DE89A1DCF90F}"/>
              </a:ext>
            </a:extLst>
          </p:cNvPr>
          <p:cNvSpPr>
            <a:spLocks noGrp="1"/>
          </p:cNvSpPr>
          <p:nvPr>
            <p:ph type="title"/>
          </p:nvPr>
        </p:nvSpPr>
        <p:spPr>
          <a:xfrm>
            <a:off x="7733534" y="483476"/>
            <a:ext cx="2283372" cy="1325563"/>
          </a:xfrm>
        </p:spPr>
        <p:txBody>
          <a:bodyPr/>
          <a:lstStyle/>
          <a:p>
            <a:r>
              <a:rPr lang="en-US" dirty="0"/>
              <a:t>Example</a:t>
            </a:r>
          </a:p>
        </p:txBody>
      </p:sp>
      <p:pic>
        <p:nvPicPr>
          <p:cNvPr id="5" name="Picture 4">
            <a:extLst>
              <a:ext uri="{FF2B5EF4-FFF2-40B4-BE49-F238E27FC236}">
                <a16:creationId xmlns:a16="http://schemas.microsoft.com/office/drawing/2014/main" id="{71C90218-91EF-4C0F-9DA6-EFDF28C46C42}"/>
              </a:ext>
            </a:extLst>
          </p:cNvPr>
          <p:cNvPicPr>
            <a:picLocks noChangeAspect="1"/>
          </p:cNvPicPr>
          <p:nvPr/>
        </p:nvPicPr>
        <p:blipFill>
          <a:blip r:embed="rId2"/>
          <a:stretch>
            <a:fillRect/>
          </a:stretch>
        </p:blipFill>
        <p:spPr>
          <a:xfrm>
            <a:off x="6262633" y="2339536"/>
            <a:ext cx="5225174" cy="3277148"/>
          </a:xfrm>
          <a:prstGeom prst="rect">
            <a:avLst/>
          </a:prstGeom>
        </p:spPr>
      </p:pic>
      <p:pic>
        <p:nvPicPr>
          <p:cNvPr id="6" name="Picture 5">
            <a:extLst>
              <a:ext uri="{FF2B5EF4-FFF2-40B4-BE49-F238E27FC236}">
                <a16:creationId xmlns:a16="http://schemas.microsoft.com/office/drawing/2014/main" id="{788A241A-6E49-8C34-301A-C1B4F3C7FB55}"/>
              </a:ext>
            </a:extLst>
          </p:cNvPr>
          <p:cNvPicPr>
            <a:picLocks noChangeAspect="1"/>
          </p:cNvPicPr>
          <p:nvPr/>
        </p:nvPicPr>
        <p:blipFill>
          <a:blip r:embed="rId3"/>
          <a:stretch>
            <a:fillRect/>
          </a:stretch>
        </p:blipFill>
        <p:spPr>
          <a:xfrm>
            <a:off x="104086" y="0"/>
            <a:ext cx="5677621" cy="6858000"/>
          </a:xfrm>
          <a:prstGeom prst="rect">
            <a:avLst/>
          </a:prstGeom>
        </p:spPr>
      </p:pic>
    </p:spTree>
    <p:extLst>
      <p:ext uri="{BB962C8B-B14F-4D97-AF65-F5344CB8AC3E}">
        <p14:creationId xmlns:p14="http://schemas.microsoft.com/office/powerpoint/2010/main" val="3367766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880AF-5C41-6B88-9743-D9C250840DE8}"/>
              </a:ext>
            </a:extLst>
          </p:cNvPr>
          <p:cNvSpPr>
            <a:spLocks noGrp="1"/>
          </p:cNvSpPr>
          <p:nvPr>
            <p:ph type="title"/>
          </p:nvPr>
        </p:nvSpPr>
        <p:spPr/>
        <p:txBody>
          <a:bodyPr/>
          <a:lstStyle/>
          <a:p>
            <a:r>
              <a:rPr lang="en-US" dirty="0"/>
              <a:t>Class templates</a:t>
            </a:r>
          </a:p>
        </p:txBody>
      </p:sp>
      <p:sp>
        <p:nvSpPr>
          <p:cNvPr id="3" name="Content Placeholder 2">
            <a:extLst>
              <a:ext uri="{FF2B5EF4-FFF2-40B4-BE49-F238E27FC236}">
                <a16:creationId xmlns:a16="http://schemas.microsoft.com/office/drawing/2014/main" id="{6EE1532E-1CA2-FB5F-F9BB-608101AC391A}"/>
              </a:ext>
            </a:extLst>
          </p:cNvPr>
          <p:cNvSpPr>
            <a:spLocks noGrp="1"/>
          </p:cNvSpPr>
          <p:nvPr>
            <p:ph idx="1"/>
          </p:nvPr>
        </p:nvSpPr>
        <p:spPr/>
        <p:txBody>
          <a:bodyPr/>
          <a:lstStyle/>
          <a:p>
            <a:r>
              <a:rPr lang="en-US" i="1" dirty="0">
                <a:solidFill>
                  <a:srgbClr val="FF0000"/>
                </a:solidFill>
              </a:rPr>
              <a:t>Box&lt;int&gt; </a:t>
            </a:r>
            <a:r>
              <a:rPr lang="en-US" i="1" dirty="0" err="1">
                <a:solidFill>
                  <a:srgbClr val="FF0000"/>
                </a:solidFill>
              </a:rPr>
              <a:t>intBox</a:t>
            </a:r>
            <a:r>
              <a:rPr lang="en-US" i="1" dirty="0">
                <a:solidFill>
                  <a:srgbClr val="FF0000"/>
                </a:solidFill>
              </a:rPr>
              <a:t>(42); </a:t>
            </a:r>
            <a:r>
              <a:rPr lang="en-US" dirty="0"/>
              <a:t>explanation – </a:t>
            </a:r>
          </a:p>
          <a:p>
            <a:r>
              <a:rPr lang="en-US" b="1" dirty="0"/>
              <a:t>Box&lt;int&gt;</a:t>
            </a:r>
            <a:r>
              <a:rPr lang="en-US" dirty="0"/>
              <a:t>: specifies that you are creating an object of the </a:t>
            </a:r>
            <a:r>
              <a:rPr lang="en-US" b="1" dirty="0"/>
              <a:t>class template Box</a:t>
            </a:r>
            <a:r>
              <a:rPr lang="en-US" dirty="0"/>
              <a:t>, with the template type parameter T replaced by int.</a:t>
            </a:r>
          </a:p>
          <a:p>
            <a:pPr>
              <a:buFont typeface="Arial" panose="020B0604020202020204" pitchFamily="34" charset="0"/>
              <a:buChar char="•"/>
            </a:pPr>
            <a:r>
              <a:rPr lang="en-US" dirty="0"/>
              <a:t>The compiler generates a specific version of the Box class where all occurrences of T in the class definition are replaced with int.</a:t>
            </a:r>
          </a:p>
          <a:p>
            <a:endParaRPr lang="en-US" dirty="0"/>
          </a:p>
        </p:txBody>
      </p:sp>
      <p:pic>
        <p:nvPicPr>
          <p:cNvPr id="4" name="Picture 3">
            <a:extLst>
              <a:ext uri="{FF2B5EF4-FFF2-40B4-BE49-F238E27FC236}">
                <a16:creationId xmlns:a16="http://schemas.microsoft.com/office/drawing/2014/main" id="{CA43E728-A101-FB73-3AB1-6C5E7829D42D}"/>
              </a:ext>
            </a:extLst>
          </p:cNvPr>
          <p:cNvPicPr>
            <a:picLocks noChangeAspect="1"/>
          </p:cNvPicPr>
          <p:nvPr/>
        </p:nvPicPr>
        <p:blipFill>
          <a:blip r:embed="rId2"/>
          <a:stretch>
            <a:fillRect/>
          </a:stretch>
        </p:blipFill>
        <p:spPr>
          <a:xfrm>
            <a:off x="2209800" y="4278393"/>
            <a:ext cx="7772400" cy="2214482"/>
          </a:xfrm>
          <a:prstGeom prst="rect">
            <a:avLst/>
          </a:prstGeom>
        </p:spPr>
      </p:pic>
    </p:spTree>
    <p:extLst>
      <p:ext uri="{BB962C8B-B14F-4D97-AF65-F5344CB8AC3E}">
        <p14:creationId xmlns:p14="http://schemas.microsoft.com/office/powerpoint/2010/main" val="18564649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43315-ADA4-19FF-839F-09E068BA96CF}"/>
              </a:ext>
            </a:extLst>
          </p:cNvPr>
          <p:cNvSpPr>
            <a:spLocks noGrp="1"/>
          </p:cNvSpPr>
          <p:nvPr>
            <p:ph type="title"/>
          </p:nvPr>
        </p:nvSpPr>
        <p:spPr/>
        <p:txBody>
          <a:bodyPr/>
          <a:lstStyle/>
          <a:p>
            <a:r>
              <a:rPr lang="en-US" dirty="0"/>
              <a:t>When to Use Class Templates</a:t>
            </a:r>
          </a:p>
        </p:txBody>
      </p:sp>
      <p:sp>
        <p:nvSpPr>
          <p:cNvPr id="3" name="Content Placeholder 2">
            <a:extLst>
              <a:ext uri="{FF2B5EF4-FFF2-40B4-BE49-F238E27FC236}">
                <a16:creationId xmlns:a16="http://schemas.microsoft.com/office/drawing/2014/main" id="{10EF9149-6419-7367-2B94-28DB0BA5CFF8}"/>
              </a:ext>
            </a:extLst>
          </p:cNvPr>
          <p:cNvSpPr>
            <a:spLocks noGrp="1"/>
          </p:cNvSpPr>
          <p:nvPr>
            <p:ph idx="1"/>
          </p:nvPr>
        </p:nvSpPr>
        <p:spPr/>
        <p:txBody>
          <a:bodyPr>
            <a:normAutofit/>
          </a:bodyPr>
          <a:lstStyle/>
          <a:p>
            <a:r>
              <a:rPr lang="en-US" dirty="0"/>
              <a:t>Encapsulation of Data and Behavior:</a:t>
            </a:r>
          </a:p>
          <a:p>
            <a:pPr lvl="1"/>
            <a:r>
              <a:rPr lang="en-US" dirty="0"/>
              <a:t>Class templates are useful when you need to encapsulate data and multiple behaviors in a single object.</a:t>
            </a:r>
          </a:p>
          <a:p>
            <a:pPr lvl="1"/>
            <a:r>
              <a:rPr lang="en-US" dirty="0"/>
              <a:t>Example: A Box&lt;T&gt; class encapsulates a value (T) and provides multiple methods (e.g., </a:t>
            </a:r>
            <a:r>
              <a:rPr lang="en-US" dirty="0" err="1"/>
              <a:t>setValue</a:t>
            </a:r>
            <a:r>
              <a:rPr lang="en-US" dirty="0"/>
              <a:t>, </a:t>
            </a:r>
            <a:r>
              <a:rPr lang="en-US" dirty="0" err="1"/>
              <a:t>getValue</a:t>
            </a:r>
            <a:r>
              <a:rPr lang="en-US" dirty="0"/>
              <a:t>, display).</a:t>
            </a:r>
          </a:p>
          <a:p>
            <a:r>
              <a:rPr lang="en-US" dirty="0"/>
              <a:t>State Persistence:</a:t>
            </a:r>
          </a:p>
          <a:p>
            <a:pPr lvl="1"/>
            <a:r>
              <a:rPr lang="en-US" dirty="0"/>
              <a:t>Classes maintain state (data members). </a:t>
            </a:r>
          </a:p>
          <a:p>
            <a:pPr lvl="1"/>
            <a:r>
              <a:rPr lang="en-US" dirty="0"/>
              <a:t>If your design requires an object to store data and interact with it over multiple operations, a class template is more appropriate.</a:t>
            </a:r>
          </a:p>
          <a:p>
            <a:pPr marL="0" indent="0">
              <a:buNone/>
            </a:pPr>
            <a:endParaRPr lang="en-US" dirty="0"/>
          </a:p>
        </p:txBody>
      </p:sp>
    </p:spTree>
    <p:extLst>
      <p:ext uri="{BB962C8B-B14F-4D97-AF65-F5344CB8AC3E}">
        <p14:creationId xmlns:p14="http://schemas.microsoft.com/office/powerpoint/2010/main" val="11453873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090A4-9E03-BC3B-107C-1FE079870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73B7B-AB85-6A54-53F3-A98B5121B985}"/>
              </a:ext>
            </a:extLst>
          </p:cNvPr>
          <p:cNvSpPr>
            <a:spLocks noGrp="1"/>
          </p:cNvSpPr>
          <p:nvPr>
            <p:ph type="title"/>
          </p:nvPr>
        </p:nvSpPr>
        <p:spPr/>
        <p:txBody>
          <a:bodyPr/>
          <a:lstStyle/>
          <a:p>
            <a:r>
              <a:rPr lang="en-US" dirty="0"/>
              <a:t>When to Use Class Templates</a:t>
            </a:r>
          </a:p>
        </p:txBody>
      </p:sp>
      <p:sp>
        <p:nvSpPr>
          <p:cNvPr id="3" name="Content Placeholder 2">
            <a:extLst>
              <a:ext uri="{FF2B5EF4-FFF2-40B4-BE49-F238E27FC236}">
                <a16:creationId xmlns:a16="http://schemas.microsoft.com/office/drawing/2014/main" id="{85F7D23F-C41A-EC9C-4208-BA9EF15FEEE0}"/>
              </a:ext>
            </a:extLst>
          </p:cNvPr>
          <p:cNvSpPr>
            <a:spLocks noGrp="1"/>
          </p:cNvSpPr>
          <p:nvPr>
            <p:ph idx="1"/>
          </p:nvPr>
        </p:nvSpPr>
        <p:spPr/>
        <p:txBody>
          <a:bodyPr>
            <a:normAutofit/>
          </a:bodyPr>
          <a:lstStyle/>
          <a:p>
            <a:r>
              <a:rPr lang="en-US" dirty="0"/>
              <a:t>Reusability:</a:t>
            </a:r>
          </a:p>
          <a:p>
            <a:pPr lvl="1"/>
            <a:r>
              <a:rPr lang="en-US" dirty="0"/>
              <a:t>A class template can combine generic types with member functions and data members, making it reusable across multiple scenarios.</a:t>
            </a:r>
          </a:p>
          <a:p>
            <a:r>
              <a:rPr lang="en-US" dirty="0"/>
              <a:t>Complex Functionality:</a:t>
            </a:r>
          </a:p>
          <a:p>
            <a:pPr lvl="1"/>
            <a:r>
              <a:rPr lang="en-US" dirty="0"/>
              <a:t>When your logic requires multiple functions and interactions (e.g., overloaded operators, multiple methods), a class template helps organize related code.</a:t>
            </a:r>
          </a:p>
          <a:p>
            <a:r>
              <a:rPr lang="en-US" dirty="0"/>
              <a:t>Inheritance:</a:t>
            </a:r>
          </a:p>
          <a:p>
            <a:pPr lvl="1"/>
            <a:r>
              <a:rPr lang="en-US" dirty="0"/>
              <a:t>Class templates can be extended through inheritance, making them useful in object-oriented designs.</a:t>
            </a:r>
          </a:p>
          <a:p>
            <a:endParaRPr lang="en-US" dirty="0"/>
          </a:p>
        </p:txBody>
      </p:sp>
    </p:spTree>
    <p:extLst>
      <p:ext uri="{BB962C8B-B14F-4D97-AF65-F5344CB8AC3E}">
        <p14:creationId xmlns:p14="http://schemas.microsoft.com/office/powerpoint/2010/main" val="2057707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381</TotalTime>
  <Words>2585</Words>
  <Application>Microsoft Macintosh PowerPoint</Application>
  <PresentationFormat>Widescreen</PresentationFormat>
  <Paragraphs>215</Paragraphs>
  <Slides>47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Aptos</vt:lpstr>
      <vt:lpstr>Aptos Display</vt:lpstr>
      <vt:lpstr>Arial</vt:lpstr>
      <vt:lpstr>Office Theme</vt:lpstr>
      <vt:lpstr>CS 331</vt:lpstr>
      <vt:lpstr>Multiple Exceptions</vt:lpstr>
      <vt:lpstr>Multiple Exceptions</vt:lpstr>
      <vt:lpstr>Multiple Exceptions</vt:lpstr>
      <vt:lpstr>Contents of IntRange2.h</vt:lpstr>
      <vt:lpstr>Main()</vt:lpstr>
      <vt:lpstr>Extracting Information from the Exception Class</vt:lpstr>
      <vt:lpstr>Extracting Information from the Exception Class</vt:lpstr>
      <vt:lpstr>Extracting Information from the Exception Class</vt:lpstr>
      <vt:lpstr>Extracting Information from the Exception Class</vt:lpstr>
      <vt:lpstr>Contents of IntRange3.h</vt:lpstr>
      <vt:lpstr>Main()</vt:lpstr>
      <vt:lpstr>Handling the bad_alloc Exception Thrown by new</vt:lpstr>
      <vt:lpstr>Handling the bad_alloc Exception Thrown by new</vt:lpstr>
      <vt:lpstr>Unwinding the Stack</vt:lpstr>
      <vt:lpstr>Unwinding the Stack</vt:lpstr>
      <vt:lpstr>Rethrowing an Exception</vt:lpstr>
      <vt:lpstr>Rethrowing an Exception</vt:lpstr>
      <vt:lpstr>Rethrowing an Exception</vt:lpstr>
      <vt:lpstr>Rethrowing an Exception</vt:lpstr>
      <vt:lpstr>Function Templates</vt:lpstr>
      <vt:lpstr>Function Templates</vt:lpstr>
      <vt:lpstr>Function Templates</vt:lpstr>
      <vt:lpstr>Function Templates</vt:lpstr>
      <vt:lpstr>Function Templates</vt:lpstr>
      <vt:lpstr>Function Templates</vt:lpstr>
      <vt:lpstr>Function Templates</vt:lpstr>
      <vt:lpstr>Function Templates</vt:lpstr>
      <vt:lpstr>Complete example</vt:lpstr>
      <vt:lpstr>Function Templates</vt:lpstr>
      <vt:lpstr>Function Templates</vt:lpstr>
      <vt:lpstr>The swap Function Template</vt:lpstr>
      <vt:lpstr>The swap Function Template</vt:lpstr>
      <vt:lpstr>The swap Function Template</vt:lpstr>
      <vt:lpstr>Example</vt:lpstr>
      <vt:lpstr>Using Operators in Function Templates</vt:lpstr>
      <vt:lpstr>Function Templates with Multiple Types</vt:lpstr>
      <vt:lpstr>Example</vt:lpstr>
      <vt:lpstr>Overloading with Function Templates</vt:lpstr>
      <vt:lpstr>Overloading with Function Templates</vt:lpstr>
      <vt:lpstr>Defining Template Functions</vt:lpstr>
      <vt:lpstr>Class Templates</vt:lpstr>
      <vt:lpstr>Class Templates</vt:lpstr>
      <vt:lpstr>Example</vt:lpstr>
      <vt:lpstr>Class templates</vt:lpstr>
      <vt:lpstr>When to Use Class Templates</vt:lpstr>
      <vt:lpstr>When to Use Class Templates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11</cp:revision>
  <dcterms:created xsi:type="dcterms:W3CDTF">2024-11-20T17:03:17Z</dcterms:created>
  <dcterms:modified xsi:type="dcterms:W3CDTF">2024-12-05T02:00:51Z</dcterms:modified>
</cp:coreProperties>
</file>