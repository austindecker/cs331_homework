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2" r:id="rId47"/>
    <p:sldId id="303" r:id="rId48"/>
    <p:sldId id="304" r:id="rId49"/>
    <p:sldId id="301" r:id="rId50"/>
    <p:sldId id="305" r:id="rId51"/>
    <p:sldId id="306" r:id="rId52"/>
    <p:sldId id="307" r:id="rId53"/>
    <p:sldId id="308" r:id="rId54"/>
    <p:sldId id="309" r:id="rId55"/>
    <p:sldId id="310" r:id="rId56"/>
    <p:sldId id="311" r:id="rId57"/>
    <p:sldId id="313" r:id="rId58"/>
    <p:sldId id="314" r:id="rId59"/>
    <p:sldId id="315" r:id="rId60"/>
    <p:sldId id="316"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ferSingleView="1">
    <p:restoredLeft sz="14542"/>
    <p:restoredTop sz="94626"/>
  </p:normalViewPr>
  <p:slideViewPr>
    <p:cSldViewPr snapToGrid="0">
      <p:cViewPr varScale="1">
        <p:scale>
          <a:sx n="121" d="100"/>
          <a:sy n="121" d="100"/>
        </p:scale>
        <p:origin x="512"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218C8-7ADA-5745-B0ED-09147FC2300B}" type="datetimeFigureOut">
              <a:rPr lang="en-US" smtClean="0"/>
              <a:t>10/8/24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8D593-08E1-924E-8886-4C1B11206E65}" type="slidenum">
              <a:rPr lang="en-US" smtClean="0"/>
              <a:t>‹#›</a:t>
            </a:fld>
            <a:endParaRPr lang="en-US"/>
          </a:p>
        </p:txBody>
      </p:sp>
    </p:spTree>
    <p:extLst>
      <p:ext uri="{BB962C8B-B14F-4D97-AF65-F5344CB8AC3E}">
        <p14:creationId xmlns:p14="http://schemas.microsoft.com/office/powerpoint/2010/main" val="229234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08D593-08E1-924E-8886-4C1B11206E65}" type="slidenum">
              <a:rPr lang="en-US" smtClean="0"/>
              <a:t>51</a:t>
            </a:fld>
            <a:endParaRPr lang="en-US"/>
          </a:p>
        </p:txBody>
      </p:sp>
    </p:spTree>
    <p:extLst>
      <p:ext uri="{BB962C8B-B14F-4D97-AF65-F5344CB8AC3E}">
        <p14:creationId xmlns:p14="http://schemas.microsoft.com/office/powerpoint/2010/main" val="2555260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08D593-08E1-924E-8886-4C1B11206E65}" type="slidenum">
              <a:rPr lang="en-US" smtClean="0"/>
              <a:t>53</a:t>
            </a:fld>
            <a:endParaRPr lang="en-US"/>
          </a:p>
        </p:txBody>
      </p:sp>
    </p:spTree>
    <p:extLst>
      <p:ext uri="{BB962C8B-B14F-4D97-AF65-F5344CB8AC3E}">
        <p14:creationId xmlns:p14="http://schemas.microsoft.com/office/powerpoint/2010/main" val="2083097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D8A2F-4365-D5E2-D465-032ACCB52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168BD9-20B6-6132-CF43-BF4037F753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7D49D7-B718-CF68-B131-58DDD5589467}"/>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F91F0153-DD61-796F-DD38-BFC69C071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E31BB-1528-52E3-57F2-CB41876B83DA}"/>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33570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56AE4-7F17-FC1A-AEC4-E26DDE87D3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26D4AB-2917-FBF4-1BB6-57665E9D97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89B2E-D113-42F7-E6CF-BAED9A35E275}"/>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119CB1DA-7EFC-ECE2-23C4-80FA6341FE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8B6B0-FAD1-7CA8-78A4-F216D1B2437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3842162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1137-6178-6DBB-C088-FE89EE044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80035A-CDD9-A970-FBEF-FBBE067EE0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7D358E-C6CD-8ED4-3FB3-3128BF9C794A}"/>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F93CE6F8-0115-B340-2938-D48935A71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2157A9-C2C6-5795-EE96-D437B46EB2F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838389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F8EF-545A-B7EB-7890-4F1E50296F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E499E7-C443-5CE9-70DA-B82DBCB7BC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801608-B1C3-35AE-7306-BFF44B53BE2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97C921-9281-CEC5-C4E4-E4299A2966D2}"/>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6" name="Footer Placeholder 5">
            <a:extLst>
              <a:ext uri="{FF2B5EF4-FFF2-40B4-BE49-F238E27FC236}">
                <a16:creationId xmlns:a16="http://schemas.microsoft.com/office/drawing/2014/main" id="{029AFBD3-ADC2-6227-9723-730D92C9D0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391D0E-C9B2-742D-D70E-DCD8DB8E1208}"/>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795963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6CDC-6789-FF32-3CA0-02585DB109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A5A97E-B86F-D8DF-E767-8616D6FB7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6E48E0-5054-086F-4FFC-D4AC47F67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3F346D-0796-6501-19BC-DDA99491CA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AA787F-85A4-20D7-EA8C-51B2A391CB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EFC7BC-FBAA-0AAE-4399-6F36B20245AD}"/>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8" name="Footer Placeholder 7">
            <a:extLst>
              <a:ext uri="{FF2B5EF4-FFF2-40B4-BE49-F238E27FC236}">
                <a16:creationId xmlns:a16="http://schemas.microsoft.com/office/drawing/2014/main" id="{B015EF69-FF40-DD9F-D5A3-13AE343106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EF1A6A-C403-DDDD-1CD4-0A987324ED53}"/>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57520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C26B3-3804-E7B3-3B92-78DE012684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A730C52-9D13-0847-8930-D435C70183BD}"/>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4" name="Footer Placeholder 3">
            <a:extLst>
              <a:ext uri="{FF2B5EF4-FFF2-40B4-BE49-F238E27FC236}">
                <a16:creationId xmlns:a16="http://schemas.microsoft.com/office/drawing/2014/main" id="{4FDFA2C4-A8C8-32EC-6EB1-986FF56994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CF24A0-B09F-3C0B-C443-82679100D61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1101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A0262F-0E93-7E41-72CF-CC3EAF61A24E}"/>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3" name="Footer Placeholder 2">
            <a:extLst>
              <a:ext uri="{FF2B5EF4-FFF2-40B4-BE49-F238E27FC236}">
                <a16:creationId xmlns:a16="http://schemas.microsoft.com/office/drawing/2014/main" id="{F8B6710B-B1FF-E21A-A584-15BCDB23A25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089A74-0247-D372-4573-C677AE78A2E6}"/>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26797722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A0688-698F-7220-55CA-D1D4F24E48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EAE0F9-2DB2-C10B-2E41-7D142A2BA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D97DB5-D3EB-F0E5-1D61-A6394CA81F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C89F95-245A-0434-6A9E-37096778D1EB}"/>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6" name="Footer Placeholder 5">
            <a:extLst>
              <a:ext uri="{FF2B5EF4-FFF2-40B4-BE49-F238E27FC236}">
                <a16:creationId xmlns:a16="http://schemas.microsoft.com/office/drawing/2014/main" id="{781B5273-4A7F-1AFA-8F24-4F848FC0EB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B8C4D-2D7F-FD00-4A07-DEABE7743AAB}"/>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36086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57174-4C00-F804-29B4-297237F404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D7FEAB-CBAE-A3B1-699B-13162DB883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BACF55-65F0-0D3E-70AF-E96D33AD6D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C6923-07F1-69BD-A683-944C9CB5CD77}"/>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6" name="Footer Placeholder 5">
            <a:extLst>
              <a:ext uri="{FF2B5EF4-FFF2-40B4-BE49-F238E27FC236}">
                <a16:creationId xmlns:a16="http://schemas.microsoft.com/office/drawing/2014/main" id="{99C0F8AA-66CD-A080-E392-8E4E411B49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3ACD9A-A2D5-3AFA-65E5-1BF4C0C1286C}"/>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268870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8D362-7F81-BF76-C8CF-2C3733AE2A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2091F-1AA0-C68C-5A8B-375EEC4819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3EF810-347E-5CFF-9CBA-97CC8C22D238}"/>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E6AC8737-B0BC-464F-4D12-C22A26757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8CD53-93BF-36F6-7EF8-844EB3782C82}"/>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197553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1BE4A8-DF77-AF54-2065-2902B39AC5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7173AD-7E3C-8080-B4D8-9FF01054EB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34E86-26A4-D0DD-1DC9-BCFD2FBD5268}"/>
              </a:ext>
            </a:extLst>
          </p:cNvPr>
          <p:cNvSpPr>
            <a:spLocks noGrp="1"/>
          </p:cNvSpPr>
          <p:nvPr>
            <p:ph type="dt" sz="half" idx="10"/>
          </p:nvPr>
        </p:nvSpPr>
        <p:spPr/>
        <p:txBody>
          <a:body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7DF2FEDE-FE64-8081-CE0E-9FB11A8A3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56AE6F-D644-6875-829D-930EE7F148A0}"/>
              </a:ext>
            </a:extLst>
          </p:cNvPr>
          <p:cNvSpPr>
            <a:spLocks noGrp="1"/>
          </p:cNvSpPr>
          <p:nvPr>
            <p:ph type="sldNum" sz="quarter" idx="12"/>
          </p:nvPr>
        </p:nvSpPr>
        <p:spPr/>
        <p:txBody>
          <a:bodyPr/>
          <a:lstStyle/>
          <a:p>
            <a:fld id="{820A00FB-7AB9-794E-8F93-21ED628BF8EA}" type="slidenum">
              <a:rPr lang="en-US" smtClean="0"/>
              <a:t>‹#›</a:t>
            </a:fld>
            <a:endParaRPr lang="en-US"/>
          </a:p>
        </p:txBody>
      </p:sp>
    </p:spTree>
    <p:extLst>
      <p:ext uri="{BB962C8B-B14F-4D97-AF65-F5344CB8AC3E}">
        <p14:creationId xmlns:p14="http://schemas.microsoft.com/office/powerpoint/2010/main" val="4054368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F8EA3-0678-0EB3-E63D-4BFBB48B9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7A29FB-933F-187E-E825-6424E7777C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7FC7-062B-BD80-56AB-FEA5BF4CF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C73D3D-5D8B-C945-AD7A-9665419A7C3F}" type="datetimeFigureOut">
              <a:rPr lang="en-US" smtClean="0"/>
              <a:t>10/7/24</a:t>
            </a:fld>
            <a:endParaRPr lang="en-US"/>
          </a:p>
        </p:txBody>
      </p:sp>
      <p:sp>
        <p:nvSpPr>
          <p:cNvPr id="5" name="Footer Placeholder 4">
            <a:extLst>
              <a:ext uri="{FF2B5EF4-FFF2-40B4-BE49-F238E27FC236}">
                <a16:creationId xmlns:a16="http://schemas.microsoft.com/office/drawing/2014/main" id="{AC39BD25-23E6-4D92-6C08-2B348713F7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C9B6CF-BFCC-1782-B9B2-5561C002E0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0A00FB-7AB9-794E-8F93-21ED628BF8EA}" type="slidenum">
              <a:rPr lang="en-US" smtClean="0"/>
              <a:t>‹#›</a:t>
            </a:fld>
            <a:endParaRPr lang="en-US"/>
          </a:p>
        </p:txBody>
      </p:sp>
    </p:spTree>
    <p:extLst>
      <p:ext uri="{BB962C8B-B14F-4D97-AF65-F5344CB8AC3E}">
        <p14:creationId xmlns:p14="http://schemas.microsoft.com/office/powerpoint/2010/main" val="899147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5531509-1e98-4310-86ce-b239f26e537d?userPreferredType=re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63fdeaed-fe77-4a89-bda7-76bd35d4b65b?userPreferredType=rea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728487db-c307-4ea8-93b1-a5b19a1803c5?userPreferredType=read"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plus.pearson.com/products/38bfda0e-08b5-4b34-9a14-38c88560fefb/pages/urn:pearson:entity:2a1f2a78-a27a-4c80-ac37-721a0018aa79?userPreferredType=read" TargetMode="Externa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5b625848-7a49-4c77-ab54-0733e8ebcbb7?userPreferredType=read"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749a8a46-3fc7-4742-a100-8c44805426b2?userPreferredType=read"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749a8a46-3fc7-4742-a100-8c44805426b2?userPreferredType=rea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9ead28f-5da1-4839-8c88-05f9c6ab505d?userPreferredType=read"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7D9B-EE36-3E21-CA75-0CE4E325C93C}"/>
              </a:ext>
            </a:extLst>
          </p:cNvPr>
          <p:cNvSpPr>
            <a:spLocks noGrp="1"/>
          </p:cNvSpPr>
          <p:nvPr>
            <p:ph type="ctrTitle"/>
          </p:nvPr>
        </p:nvSpPr>
        <p:spPr>
          <a:xfrm>
            <a:off x="1524000" y="1122363"/>
            <a:ext cx="9144000" cy="2975184"/>
          </a:xfrm>
        </p:spPr>
        <p:txBody>
          <a:bodyPr>
            <a:normAutofit fontScale="90000"/>
          </a:bodyPr>
          <a:lstStyle/>
          <a:p>
            <a:br>
              <a:rPr lang="en-US" dirty="0"/>
            </a:br>
            <a:br>
              <a:rPr lang="en-US" dirty="0"/>
            </a:br>
            <a:br>
              <a:rPr lang="en-US" dirty="0"/>
            </a:br>
            <a:br>
              <a:rPr lang="en-US" dirty="0"/>
            </a:br>
            <a:br>
              <a:rPr lang="en-US" dirty="0"/>
            </a:br>
            <a:r>
              <a:rPr lang="en-US" dirty="0"/>
              <a:t>Week 6</a:t>
            </a:r>
            <a:br>
              <a:rPr lang="en-US" dirty="0"/>
            </a:br>
            <a:r>
              <a:rPr lang="en-US" dirty="0"/>
              <a:t>Pointers part 1</a:t>
            </a:r>
            <a:br>
              <a:rPr lang="en-US" dirty="0"/>
            </a:br>
            <a:endParaRPr lang="en-US" dirty="0"/>
          </a:p>
        </p:txBody>
      </p:sp>
      <p:sp>
        <p:nvSpPr>
          <p:cNvPr id="3" name="Subtitle 2">
            <a:extLst>
              <a:ext uri="{FF2B5EF4-FFF2-40B4-BE49-F238E27FC236}">
                <a16:creationId xmlns:a16="http://schemas.microsoft.com/office/drawing/2014/main" id="{39BF1D26-46C3-12F2-BE0C-D63583E2D9CE}"/>
              </a:ext>
            </a:extLst>
          </p:cNvPr>
          <p:cNvSpPr>
            <a:spLocks noGrp="1"/>
          </p:cNvSpPr>
          <p:nvPr>
            <p:ph type="subTitle" idx="1"/>
          </p:nvPr>
        </p:nvSpPr>
        <p:spPr/>
        <p:txBody>
          <a:bodyPr/>
          <a:lstStyle/>
          <a:p>
            <a:r>
              <a:rPr lang="en-US" dirty="0"/>
              <a:t>CS 331</a:t>
            </a:r>
          </a:p>
          <a:p>
            <a:r>
              <a:rPr lang="en-US" dirty="0"/>
              <a:t>An introduction to C++ and Object-Oriented Programming</a:t>
            </a:r>
          </a:p>
          <a:p>
            <a:r>
              <a:rPr lang="en-US" dirty="0"/>
              <a:t>MD Romael Haque</a:t>
            </a:r>
          </a:p>
          <a:p>
            <a:endParaRPr lang="en-US" dirty="0"/>
          </a:p>
        </p:txBody>
      </p:sp>
    </p:spTree>
    <p:extLst>
      <p:ext uri="{BB962C8B-B14F-4D97-AF65-F5344CB8AC3E}">
        <p14:creationId xmlns:p14="http://schemas.microsoft.com/office/powerpoint/2010/main" val="624838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EEF3-B03A-16E9-09E1-F46ED65DC432}"/>
              </a:ext>
            </a:extLst>
          </p:cNvPr>
          <p:cNvSpPr>
            <a:spLocks noGrp="1"/>
          </p:cNvSpPr>
          <p:nvPr>
            <p:ph type="title"/>
          </p:nvPr>
        </p:nvSpPr>
        <p:spPr/>
        <p:txBody>
          <a:bodyPr/>
          <a:lstStyle/>
          <a:p>
            <a:r>
              <a:rPr lang="en-US" dirty="0"/>
              <a:t>Pointers and the Address Operator</a:t>
            </a:r>
          </a:p>
        </p:txBody>
      </p:sp>
      <p:sp>
        <p:nvSpPr>
          <p:cNvPr id="3" name="Content Placeholder 2">
            <a:extLst>
              <a:ext uri="{FF2B5EF4-FFF2-40B4-BE49-F238E27FC236}">
                <a16:creationId xmlns:a16="http://schemas.microsoft.com/office/drawing/2014/main" id="{1B4607D8-4572-E9D3-AFD7-5532DD28F7DA}"/>
              </a:ext>
            </a:extLst>
          </p:cNvPr>
          <p:cNvSpPr>
            <a:spLocks noGrp="1"/>
          </p:cNvSpPr>
          <p:nvPr>
            <p:ph idx="1"/>
          </p:nvPr>
        </p:nvSpPr>
        <p:spPr/>
        <p:txBody>
          <a:bodyPr/>
          <a:lstStyle/>
          <a:p>
            <a:r>
              <a:rPr lang="en-US" dirty="0"/>
              <a:t>Every variable is assigned a memory location whose address can be retrieved using the address operator &amp;. </a:t>
            </a:r>
          </a:p>
          <a:p>
            <a:r>
              <a:rPr lang="en-US" b="1" dirty="0"/>
              <a:t>The address of a memory location is called a </a:t>
            </a:r>
            <a:r>
              <a:rPr lang="en-US" b="1" i="1" dirty="0"/>
              <a:t>pointer.</a:t>
            </a:r>
          </a:p>
          <a:p>
            <a:r>
              <a:rPr lang="en-US" dirty="0"/>
              <a:t>Each byte of memory has a unique address. A variable’s address is the address of the first byte allocated to that variable.</a:t>
            </a:r>
            <a:endParaRPr lang="en-US" b="1" dirty="0"/>
          </a:p>
        </p:txBody>
      </p:sp>
      <p:pic>
        <p:nvPicPr>
          <p:cNvPr id="4" name="Picture 3">
            <a:extLst>
              <a:ext uri="{FF2B5EF4-FFF2-40B4-BE49-F238E27FC236}">
                <a16:creationId xmlns:a16="http://schemas.microsoft.com/office/drawing/2014/main" id="{851361C4-5AED-78C4-47D7-7E2EB8C220A9}"/>
              </a:ext>
            </a:extLst>
          </p:cNvPr>
          <p:cNvPicPr>
            <a:picLocks noChangeAspect="1"/>
          </p:cNvPicPr>
          <p:nvPr/>
        </p:nvPicPr>
        <p:blipFill>
          <a:blip r:embed="rId2"/>
          <a:stretch>
            <a:fillRect/>
          </a:stretch>
        </p:blipFill>
        <p:spPr>
          <a:xfrm>
            <a:off x="3702532" y="4526322"/>
            <a:ext cx="4786935" cy="1362704"/>
          </a:xfrm>
          <a:prstGeom prst="rect">
            <a:avLst/>
          </a:prstGeom>
        </p:spPr>
      </p:pic>
    </p:spTree>
    <p:extLst>
      <p:ext uri="{BB962C8B-B14F-4D97-AF65-F5344CB8AC3E}">
        <p14:creationId xmlns:p14="http://schemas.microsoft.com/office/powerpoint/2010/main" val="4114593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8C9B-BED0-B50C-5514-D582B8D4C5D8}"/>
              </a:ext>
            </a:extLst>
          </p:cNvPr>
          <p:cNvSpPr>
            <a:spLocks noGrp="1"/>
          </p:cNvSpPr>
          <p:nvPr>
            <p:ph type="title"/>
          </p:nvPr>
        </p:nvSpPr>
        <p:spPr/>
        <p:txBody>
          <a:bodyPr/>
          <a:lstStyle/>
          <a:p>
            <a:r>
              <a:rPr lang="en-US" dirty="0"/>
              <a:t>Pointers and the Address Operator</a:t>
            </a:r>
          </a:p>
        </p:txBody>
      </p:sp>
      <p:sp>
        <p:nvSpPr>
          <p:cNvPr id="3" name="Content Placeholder 2">
            <a:extLst>
              <a:ext uri="{FF2B5EF4-FFF2-40B4-BE49-F238E27FC236}">
                <a16:creationId xmlns:a16="http://schemas.microsoft.com/office/drawing/2014/main" id="{626AA444-1CA0-4AA3-966F-6AE2E8D4BE9D}"/>
              </a:ext>
            </a:extLst>
          </p:cNvPr>
          <p:cNvSpPr>
            <a:spLocks noGrp="1"/>
          </p:cNvSpPr>
          <p:nvPr>
            <p:ph idx="1"/>
          </p:nvPr>
        </p:nvSpPr>
        <p:spPr/>
        <p:txBody>
          <a:bodyPr/>
          <a:lstStyle/>
          <a:p>
            <a:r>
              <a:rPr lang="en-US" dirty="0"/>
              <a:t>C++ has an </a:t>
            </a:r>
            <a:r>
              <a:rPr lang="en-US" dirty="0">
                <a:hlinkClick r:id="rId2"/>
              </a:rPr>
              <a:t>address operator</a:t>
            </a:r>
            <a:r>
              <a:rPr lang="en-US" dirty="0"/>
              <a:t> &amp; that can be used to retrieve the address of any variable. - </a:t>
            </a:r>
            <a:r>
              <a:rPr lang="en-US" b="1" i="1" dirty="0"/>
              <a:t>&amp;amount</a:t>
            </a:r>
          </a:p>
          <a:p>
            <a:r>
              <a:rPr lang="en-US" b="1" i="1" dirty="0" err="1"/>
              <a:t>cout</a:t>
            </a:r>
            <a:r>
              <a:rPr lang="en-US" b="1" i="1" dirty="0"/>
              <a:t> ≪ </a:t>
            </a:r>
            <a:r>
              <a:rPr lang="en-US" b="1" i="1" dirty="0">
                <a:solidFill>
                  <a:srgbClr val="333333"/>
                </a:solidFill>
                <a:effectLst/>
              </a:rPr>
              <a:t>long</a:t>
            </a:r>
            <a:r>
              <a:rPr lang="en-US" b="1" i="1" dirty="0"/>
              <a:t>(&amp;amount); </a:t>
            </a:r>
          </a:p>
          <a:p>
            <a:r>
              <a:rPr lang="en-US" dirty="0"/>
              <a:t>By default, C++ prints addresses in hexadecimal. </a:t>
            </a:r>
            <a:endParaRPr lang="en-US" b="1" i="1" dirty="0"/>
          </a:p>
        </p:txBody>
      </p:sp>
    </p:spTree>
    <p:extLst>
      <p:ext uri="{BB962C8B-B14F-4D97-AF65-F5344CB8AC3E}">
        <p14:creationId xmlns:p14="http://schemas.microsoft.com/office/powerpoint/2010/main" val="349992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4D41-096D-5827-E946-225D3CF09582}"/>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1DDBA5FE-A31F-D52F-6135-74F3221CAB24}"/>
              </a:ext>
            </a:extLst>
          </p:cNvPr>
          <p:cNvPicPr>
            <a:picLocks noChangeAspect="1"/>
          </p:cNvPicPr>
          <p:nvPr/>
        </p:nvPicPr>
        <p:blipFill>
          <a:blip r:embed="rId2"/>
          <a:stretch>
            <a:fillRect/>
          </a:stretch>
        </p:blipFill>
        <p:spPr>
          <a:xfrm>
            <a:off x="5900169" y="0"/>
            <a:ext cx="5453631" cy="6858000"/>
          </a:xfrm>
          <a:prstGeom prst="rect">
            <a:avLst/>
          </a:prstGeom>
        </p:spPr>
      </p:pic>
      <p:pic>
        <p:nvPicPr>
          <p:cNvPr id="5" name="Picture 4">
            <a:extLst>
              <a:ext uri="{FF2B5EF4-FFF2-40B4-BE49-F238E27FC236}">
                <a16:creationId xmlns:a16="http://schemas.microsoft.com/office/drawing/2014/main" id="{6B3C8F41-ECC7-3C1F-8DF4-8A87438099FD}"/>
              </a:ext>
            </a:extLst>
          </p:cNvPr>
          <p:cNvPicPr>
            <a:picLocks noChangeAspect="1"/>
          </p:cNvPicPr>
          <p:nvPr/>
        </p:nvPicPr>
        <p:blipFill>
          <a:blip r:embed="rId3"/>
          <a:stretch>
            <a:fillRect/>
          </a:stretch>
        </p:blipFill>
        <p:spPr>
          <a:xfrm>
            <a:off x="612320" y="2681514"/>
            <a:ext cx="4798715" cy="2053771"/>
          </a:xfrm>
          <a:prstGeom prst="rect">
            <a:avLst/>
          </a:prstGeom>
        </p:spPr>
      </p:pic>
    </p:spTree>
    <p:extLst>
      <p:ext uri="{BB962C8B-B14F-4D97-AF65-F5344CB8AC3E}">
        <p14:creationId xmlns:p14="http://schemas.microsoft.com/office/powerpoint/2010/main" val="95805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B1F3-22B6-E834-968B-547E7C49B017}"/>
              </a:ext>
            </a:extLst>
          </p:cNvPr>
          <p:cNvSpPr>
            <a:spLocks noGrp="1"/>
          </p:cNvSpPr>
          <p:nvPr>
            <p:ph type="title"/>
          </p:nvPr>
        </p:nvSpPr>
        <p:spPr/>
        <p:txBody>
          <a:bodyPr/>
          <a:lstStyle/>
          <a:p>
            <a:r>
              <a:rPr lang="en-US" dirty="0"/>
              <a:t>Pointer Variables</a:t>
            </a:r>
          </a:p>
        </p:txBody>
      </p:sp>
      <p:sp>
        <p:nvSpPr>
          <p:cNvPr id="3" name="Content Placeholder 2">
            <a:extLst>
              <a:ext uri="{FF2B5EF4-FFF2-40B4-BE49-F238E27FC236}">
                <a16:creationId xmlns:a16="http://schemas.microsoft.com/office/drawing/2014/main" id="{2778E5F6-DA96-6028-BFC9-72E4F8E9D12C}"/>
              </a:ext>
            </a:extLst>
          </p:cNvPr>
          <p:cNvSpPr>
            <a:spLocks noGrp="1"/>
          </p:cNvSpPr>
          <p:nvPr>
            <p:ph idx="1"/>
          </p:nvPr>
        </p:nvSpPr>
        <p:spPr/>
        <p:txBody>
          <a:bodyPr/>
          <a:lstStyle/>
          <a:p>
            <a:r>
              <a:rPr lang="en-US" dirty="0"/>
              <a:t>Like other data values, memory addresses, or pointer values, can be stored in variables of the appropriate type. </a:t>
            </a:r>
          </a:p>
          <a:p>
            <a:r>
              <a:rPr lang="en-US" b="1" dirty="0"/>
              <a:t>A variable that stores an address is called a </a:t>
            </a:r>
            <a:r>
              <a:rPr lang="en-US" b="1" dirty="0">
                <a:hlinkClick r:id="rId2"/>
              </a:rPr>
              <a:t>pointer variable</a:t>
            </a:r>
            <a:r>
              <a:rPr lang="en-US" b="1" i="1" dirty="0"/>
              <a:t>,</a:t>
            </a:r>
            <a:r>
              <a:rPr lang="en-US" b="1" dirty="0"/>
              <a:t> but is often simply referred to as just a </a:t>
            </a:r>
            <a:r>
              <a:rPr lang="en-US" b="1" i="1" dirty="0"/>
              <a:t>pointer.</a:t>
            </a:r>
          </a:p>
          <a:p>
            <a:r>
              <a:rPr lang="en-US" b="1" i="1" dirty="0">
                <a:solidFill>
                  <a:srgbClr val="FF0000"/>
                </a:solidFill>
                <a:effectLst/>
              </a:rPr>
              <a:t>int</a:t>
            </a:r>
            <a:r>
              <a:rPr lang="en-US" b="1" i="1" dirty="0">
                <a:solidFill>
                  <a:srgbClr val="FF0000"/>
                </a:solidFill>
              </a:rPr>
              <a:t> *</a:t>
            </a:r>
            <a:r>
              <a:rPr lang="en-US" b="1" i="1" dirty="0" err="1">
                <a:solidFill>
                  <a:srgbClr val="FF0000"/>
                </a:solidFill>
              </a:rPr>
              <a:t>ptr</a:t>
            </a:r>
            <a:r>
              <a:rPr lang="en-US" b="1" i="1" dirty="0">
                <a:solidFill>
                  <a:srgbClr val="FF0000"/>
                </a:solidFill>
              </a:rPr>
              <a:t>;</a:t>
            </a:r>
            <a:r>
              <a:rPr lang="en-US" b="1" dirty="0">
                <a:solidFill>
                  <a:srgbClr val="FF0000"/>
                </a:solidFill>
              </a:rPr>
              <a:t> </a:t>
            </a:r>
          </a:p>
          <a:p>
            <a:r>
              <a:rPr lang="en-US" dirty="0"/>
              <a:t>The asterisk before the variable name indicates that </a:t>
            </a:r>
            <a:r>
              <a:rPr lang="en-US" dirty="0" err="1"/>
              <a:t>ptr</a:t>
            </a:r>
            <a:r>
              <a:rPr lang="en-US" dirty="0"/>
              <a:t> is a pointer variable, and the int data type indicates that </a:t>
            </a:r>
            <a:r>
              <a:rPr lang="en-US" dirty="0" err="1"/>
              <a:t>ptr</a:t>
            </a:r>
            <a:r>
              <a:rPr lang="en-US" dirty="0"/>
              <a:t> can only be used to point to, or hold addresses of, integer variables. </a:t>
            </a:r>
            <a:endParaRPr lang="en-US" b="1" dirty="0"/>
          </a:p>
          <a:p>
            <a:pPr lvl="1"/>
            <a:endParaRPr lang="en-US" b="1" i="1" dirty="0"/>
          </a:p>
        </p:txBody>
      </p:sp>
    </p:spTree>
    <p:extLst>
      <p:ext uri="{BB962C8B-B14F-4D97-AF65-F5344CB8AC3E}">
        <p14:creationId xmlns:p14="http://schemas.microsoft.com/office/powerpoint/2010/main" val="1332814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1686F-E4C3-8E6D-7C7E-926F02E648B9}"/>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CB883BBD-6FDF-1173-B2CC-838D55BBF761}"/>
              </a:ext>
            </a:extLst>
          </p:cNvPr>
          <p:cNvPicPr>
            <a:picLocks noGrp="1" noChangeAspect="1"/>
          </p:cNvPicPr>
          <p:nvPr>
            <p:ph idx="1"/>
          </p:nvPr>
        </p:nvPicPr>
        <p:blipFill>
          <a:blip r:embed="rId2"/>
          <a:stretch>
            <a:fillRect/>
          </a:stretch>
        </p:blipFill>
        <p:spPr>
          <a:xfrm>
            <a:off x="5301170" y="570377"/>
            <a:ext cx="5730973" cy="5588883"/>
          </a:xfrm>
          <a:prstGeom prst="rect">
            <a:avLst/>
          </a:prstGeom>
        </p:spPr>
      </p:pic>
      <p:pic>
        <p:nvPicPr>
          <p:cNvPr id="5" name="Picture 4">
            <a:extLst>
              <a:ext uri="{FF2B5EF4-FFF2-40B4-BE49-F238E27FC236}">
                <a16:creationId xmlns:a16="http://schemas.microsoft.com/office/drawing/2014/main" id="{F5985174-C5F9-EAA6-154C-F836E7647FBA}"/>
              </a:ext>
            </a:extLst>
          </p:cNvPr>
          <p:cNvPicPr>
            <a:picLocks noChangeAspect="1"/>
          </p:cNvPicPr>
          <p:nvPr/>
        </p:nvPicPr>
        <p:blipFill>
          <a:blip r:embed="rId3"/>
          <a:stretch>
            <a:fillRect/>
          </a:stretch>
        </p:blipFill>
        <p:spPr>
          <a:xfrm>
            <a:off x="753492" y="3025991"/>
            <a:ext cx="3647979" cy="899028"/>
          </a:xfrm>
          <a:prstGeom prst="rect">
            <a:avLst/>
          </a:prstGeom>
        </p:spPr>
      </p:pic>
    </p:spTree>
    <p:extLst>
      <p:ext uri="{BB962C8B-B14F-4D97-AF65-F5344CB8AC3E}">
        <p14:creationId xmlns:p14="http://schemas.microsoft.com/office/powerpoint/2010/main" val="3343960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CC62-1DE2-D298-AE25-C1BD7EDB8C0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475734B-7F6C-0491-CB4A-1629E6A6AC5E}"/>
              </a:ext>
            </a:extLst>
          </p:cNvPr>
          <p:cNvSpPr>
            <a:spLocks noGrp="1"/>
          </p:cNvSpPr>
          <p:nvPr>
            <p:ph idx="1"/>
          </p:nvPr>
        </p:nvSpPr>
        <p:spPr>
          <a:xfrm>
            <a:off x="838200" y="1825625"/>
            <a:ext cx="2603740" cy="4351338"/>
          </a:xfrm>
        </p:spPr>
        <p:txBody>
          <a:bodyPr/>
          <a:lstStyle/>
          <a:p>
            <a:r>
              <a:rPr lang="en-US" dirty="0"/>
              <a:t>You can use a pointer to indirectly access and modify the variable being pointed to.</a:t>
            </a:r>
          </a:p>
        </p:txBody>
      </p:sp>
      <p:pic>
        <p:nvPicPr>
          <p:cNvPr id="4" name="Picture 3">
            <a:extLst>
              <a:ext uri="{FF2B5EF4-FFF2-40B4-BE49-F238E27FC236}">
                <a16:creationId xmlns:a16="http://schemas.microsoft.com/office/drawing/2014/main" id="{66894E6D-A230-BE14-871C-1899988F7E55}"/>
              </a:ext>
            </a:extLst>
          </p:cNvPr>
          <p:cNvPicPr>
            <a:picLocks noChangeAspect="1"/>
          </p:cNvPicPr>
          <p:nvPr/>
        </p:nvPicPr>
        <p:blipFill>
          <a:blip r:embed="rId2"/>
          <a:stretch>
            <a:fillRect/>
          </a:stretch>
        </p:blipFill>
        <p:spPr>
          <a:xfrm>
            <a:off x="4814018" y="21752"/>
            <a:ext cx="4493883" cy="6814495"/>
          </a:xfrm>
          <a:prstGeom prst="rect">
            <a:avLst/>
          </a:prstGeom>
        </p:spPr>
      </p:pic>
    </p:spTree>
    <p:extLst>
      <p:ext uri="{BB962C8B-B14F-4D97-AF65-F5344CB8AC3E}">
        <p14:creationId xmlns:p14="http://schemas.microsoft.com/office/powerpoint/2010/main" val="2393591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006B-7961-CDA6-78A0-B79C5981DB5C}"/>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FC9CC973-AF15-E25A-1DBA-F6A64CFB0045}"/>
              </a:ext>
            </a:extLst>
          </p:cNvPr>
          <p:cNvSpPr>
            <a:spLocks noGrp="1"/>
          </p:cNvSpPr>
          <p:nvPr>
            <p:ph idx="1"/>
          </p:nvPr>
        </p:nvSpPr>
        <p:spPr/>
        <p:txBody>
          <a:bodyPr/>
          <a:lstStyle/>
          <a:p>
            <a:r>
              <a:rPr lang="en-US" dirty="0"/>
              <a:t>You learned earlier that an array name, without brackets and a subscript, actually represents the starting address of the array.</a:t>
            </a:r>
          </a:p>
          <a:p>
            <a:r>
              <a:rPr lang="en-US" dirty="0"/>
              <a:t>This means that an array name is really a pointer</a:t>
            </a:r>
          </a:p>
          <a:p>
            <a:r>
              <a:rPr lang="en-US" b="1" dirty="0"/>
              <a:t>So, Array names can be used as pointer constants, and pointers can be used as array names.</a:t>
            </a:r>
          </a:p>
        </p:txBody>
      </p:sp>
    </p:spTree>
    <p:extLst>
      <p:ext uri="{BB962C8B-B14F-4D97-AF65-F5344CB8AC3E}">
        <p14:creationId xmlns:p14="http://schemas.microsoft.com/office/powerpoint/2010/main" val="1923666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0EC77-F3E1-A2A0-FD36-3308E80CD6E7}"/>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B95E26CE-EFF5-5AC8-6409-3B103D776F91}"/>
              </a:ext>
            </a:extLst>
          </p:cNvPr>
          <p:cNvPicPr>
            <a:picLocks noGrp="1" noChangeAspect="1"/>
          </p:cNvPicPr>
          <p:nvPr>
            <p:ph idx="1"/>
          </p:nvPr>
        </p:nvPicPr>
        <p:blipFill>
          <a:blip r:embed="rId2"/>
          <a:stretch>
            <a:fillRect/>
          </a:stretch>
        </p:blipFill>
        <p:spPr>
          <a:xfrm>
            <a:off x="1021989" y="1513651"/>
            <a:ext cx="5212391" cy="4533466"/>
          </a:xfrm>
          <a:prstGeom prst="rect">
            <a:avLst/>
          </a:prstGeom>
        </p:spPr>
      </p:pic>
      <p:sp>
        <p:nvSpPr>
          <p:cNvPr id="6" name="TextBox 5">
            <a:extLst>
              <a:ext uri="{FF2B5EF4-FFF2-40B4-BE49-F238E27FC236}">
                <a16:creationId xmlns:a16="http://schemas.microsoft.com/office/drawing/2014/main" id="{5D6EF762-3241-00ED-1BFA-C9279987D9CA}"/>
              </a:ext>
            </a:extLst>
          </p:cNvPr>
          <p:cNvSpPr txBox="1"/>
          <p:nvPr/>
        </p:nvSpPr>
        <p:spPr>
          <a:xfrm>
            <a:off x="6766881" y="2026058"/>
            <a:ext cx="4831092" cy="2585323"/>
          </a:xfrm>
          <a:prstGeom prst="rect">
            <a:avLst/>
          </a:prstGeom>
          <a:noFill/>
        </p:spPr>
        <p:txBody>
          <a:bodyPr wrap="square" rtlCol="0">
            <a:spAutoFit/>
          </a:bodyPr>
          <a:lstStyle/>
          <a:p>
            <a:pPr marL="285750" indent="-285750">
              <a:buFont typeface="Arial" panose="020B0604020202020204" pitchFamily="34" charset="0"/>
              <a:buChar char="•"/>
            </a:pPr>
            <a:r>
              <a:rPr lang="en-US" dirty="0"/>
              <a:t>Because numbers works like a pointer to the starting address of the array in. </a:t>
            </a:r>
          </a:p>
          <a:p>
            <a:endParaRPr lang="en-US" dirty="0"/>
          </a:p>
          <a:p>
            <a:pPr marL="285750" indent="-285750">
              <a:buFont typeface="Arial" panose="020B0604020202020204" pitchFamily="34" charset="0"/>
              <a:buChar char="•"/>
            </a:pPr>
            <a:r>
              <a:rPr lang="en-US" dirty="0"/>
              <a:t>In this program, the first element is retrieved when numbers is dereferenced. </a:t>
            </a:r>
          </a:p>
          <a:p>
            <a:endParaRPr lang="en-US" dirty="0"/>
          </a:p>
          <a:p>
            <a:pPr marL="285750" indent="-285750">
              <a:buFont typeface="Arial" panose="020B0604020202020204" pitchFamily="34" charset="0"/>
              <a:buChar char="•"/>
            </a:pPr>
            <a:r>
              <a:rPr lang="en-US" b="1" dirty="0"/>
              <a:t>So, how could the entire contents of an array be retrieved using the indirection operator? </a:t>
            </a:r>
          </a:p>
        </p:txBody>
      </p:sp>
    </p:spTree>
    <p:extLst>
      <p:ext uri="{BB962C8B-B14F-4D97-AF65-F5344CB8AC3E}">
        <p14:creationId xmlns:p14="http://schemas.microsoft.com/office/powerpoint/2010/main" val="944188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DBD8C-E542-A168-294E-186F512AD729}"/>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C02E7FD9-7518-E4C0-B5CD-6C7C27317E6E}"/>
              </a:ext>
            </a:extLst>
          </p:cNvPr>
          <p:cNvSpPr>
            <a:spLocks noGrp="1"/>
          </p:cNvSpPr>
          <p:nvPr>
            <p:ph idx="1"/>
          </p:nvPr>
        </p:nvSpPr>
        <p:spPr/>
        <p:txBody>
          <a:bodyPr/>
          <a:lstStyle/>
          <a:p>
            <a:r>
              <a:rPr lang="en-US" dirty="0"/>
              <a:t>Remember, array elements are stored together in memory</a:t>
            </a:r>
          </a:p>
          <a:p>
            <a:endParaRPr lang="en-US" dirty="0"/>
          </a:p>
          <a:p>
            <a:endParaRPr lang="en-US" dirty="0"/>
          </a:p>
          <a:p>
            <a:endParaRPr lang="en-US" dirty="0"/>
          </a:p>
          <a:p>
            <a:r>
              <a:rPr lang="en-US" dirty="0"/>
              <a:t>It makes sense that if numbers is the address of numbers[0], values could be added to numbers to get the addresses of the other elements in the array. </a:t>
            </a:r>
          </a:p>
          <a:p>
            <a:r>
              <a:rPr lang="en-US" dirty="0"/>
              <a:t>It’s important to know, however, that pointers do not work like regular variables when used in mathematical statements.</a:t>
            </a:r>
          </a:p>
        </p:txBody>
      </p:sp>
      <p:pic>
        <p:nvPicPr>
          <p:cNvPr id="4" name="Picture 3">
            <a:extLst>
              <a:ext uri="{FF2B5EF4-FFF2-40B4-BE49-F238E27FC236}">
                <a16:creationId xmlns:a16="http://schemas.microsoft.com/office/drawing/2014/main" id="{5EF0DCB4-EA6A-8321-7B55-1BC4C7BB19B2}"/>
              </a:ext>
            </a:extLst>
          </p:cNvPr>
          <p:cNvPicPr>
            <a:picLocks noChangeAspect="1"/>
          </p:cNvPicPr>
          <p:nvPr/>
        </p:nvPicPr>
        <p:blipFill>
          <a:blip r:embed="rId2"/>
          <a:stretch>
            <a:fillRect/>
          </a:stretch>
        </p:blipFill>
        <p:spPr>
          <a:xfrm>
            <a:off x="3870310" y="2351896"/>
            <a:ext cx="4451380" cy="796745"/>
          </a:xfrm>
          <a:prstGeom prst="rect">
            <a:avLst/>
          </a:prstGeom>
        </p:spPr>
      </p:pic>
    </p:spTree>
    <p:extLst>
      <p:ext uri="{BB962C8B-B14F-4D97-AF65-F5344CB8AC3E}">
        <p14:creationId xmlns:p14="http://schemas.microsoft.com/office/powerpoint/2010/main" val="1586108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2BE8-F893-2C12-6925-3857986AE09E}"/>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A13B0696-98DF-B2F7-EFC2-FFCA92E7B07C}"/>
              </a:ext>
            </a:extLst>
          </p:cNvPr>
          <p:cNvSpPr>
            <a:spLocks noGrp="1"/>
          </p:cNvSpPr>
          <p:nvPr>
            <p:ph idx="1"/>
          </p:nvPr>
        </p:nvSpPr>
        <p:spPr/>
        <p:txBody>
          <a:bodyPr/>
          <a:lstStyle/>
          <a:p>
            <a:r>
              <a:rPr lang="en-US" dirty="0"/>
              <a:t>In C++, when you add a value to a pointer, you are actually adding that value </a:t>
            </a:r>
            <a:r>
              <a:rPr lang="en-US" i="1" dirty="0"/>
              <a:t>times the size of the data type being referenced by the pointer</a:t>
            </a:r>
            <a:r>
              <a:rPr lang="en-US" dirty="0"/>
              <a:t>. </a:t>
            </a:r>
          </a:p>
          <a:p>
            <a:r>
              <a:rPr lang="en-US" dirty="0"/>
              <a:t>In other words, if you add one to numbers, you are actually adding </a:t>
            </a:r>
            <a:r>
              <a:rPr lang="en-US" b="1" dirty="0"/>
              <a:t>1 * </a:t>
            </a:r>
            <a:r>
              <a:rPr lang="en-US" b="1" dirty="0" err="1"/>
              <a:t>sizeof</a:t>
            </a:r>
            <a:r>
              <a:rPr lang="en-US" b="1" dirty="0"/>
              <a:t>(short) to numbers. </a:t>
            </a:r>
            <a:r>
              <a:rPr lang="en-US" dirty="0"/>
              <a:t>If you add two to numbers, the result is </a:t>
            </a:r>
            <a:r>
              <a:rPr lang="en-US" b="1" dirty="0"/>
              <a:t>numbers + 2 * </a:t>
            </a:r>
            <a:r>
              <a:rPr lang="en-US" b="1" dirty="0" err="1"/>
              <a:t>sizeof</a:t>
            </a:r>
            <a:r>
              <a:rPr lang="en-US" b="1" dirty="0"/>
              <a:t>(short), </a:t>
            </a:r>
            <a:r>
              <a:rPr lang="en-US" dirty="0"/>
              <a:t>and so forth.</a:t>
            </a:r>
            <a:endParaRPr lang="en-US" b="1" dirty="0"/>
          </a:p>
        </p:txBody>
      </p:sp>
      <p:pic>
        <p:nvPicPr>
          <p:cNvPr id="4" name="Picture 3">
            <a:extLst>
              <a:ext uri="{FF2B5EF4-FFF2-40B4-BE49-F238E27FC236}">
                <a16:creationId xmlns:a16="http://schemas.microsoft.com/office/drawing/2014/main" id="{85D2D6F1-8A09-CC7B-8C86-B3D70D340615}"/>
              </a:ext>
            </a:extLst>
          </p:cNvPr>
          <p:cNvPicPr>
            <a:picLocks noChangeAspect="1"/>
          </p:cNvPicPr>
          <p:nvPr/>
        </p:nvPicPr>
        <p:blipFill>
          <a:blip r:embed="rId2"/>
          <a:stretch>
            <a:fillRect/>
          </a:stretch>
        </p:blipFill>
        <p:spPr>
          <a:xfrm>
            <a:off x="3011278" y="4727276"/>
            <a:ext cx="6169444" cy="1062679"/>
          </a:xfrm>
          <a:prstGeom prst="rect">
            <a:avLst/>
          </a:prstGeom>
        </p:spPr>
      </p:pic>
    </p:spTree>
    <p:extLst>
      <p:ext uri="{BB962C8B-B14F-4D97-AF65-F5344CB8AC3E}">
        <p14:creationId xmlns:p14="http://schemas.microsoft.com/office/powerpoint/2010/main" val="987800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C17EF-FCC2-44DF-E6B9-EE0BC46B101F}"/>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3CBB7A62-F960-216E-5319-005E1DA98D6F}"/>
              </a:ext>
            </a:extLst>
          </p:cNvPr>
          <p:cNvSpPr>
            <a:spLocks noGrp="1"/>
          </p:cNvSpPr>
          <p:nvPr>
            <p:ph idx="1"/>
          </p:nvPr>
        </p:nvSpPr>
        <p:spPr/>
        <p:txBody>
          <a:bodyPr/>
          <a:lstStyle/>
          <a:p>
            <a:r>
              <a:rPr lang="en-US" dirty="0"/>
              <a:t>This automatic conversion means that an element in an array can be retrieved by using its subscript or by adding its subscript to a pointer to the array. </a:t>
            </a:r>
          </a:p>
          <a:p>
            <a:r>
              <a:rPr lang="en-US" dirty="0"/>
              <a:t>If the expression *numbers, which is the same as *(numbers + 0), retrieves the first element in the array, </a:t>
            </a:r>
          </a:p>
          <a:p>
            <a:r>
              <a:rPr lang="en-US" dirty="0"/>
              <a:t>Then *(numbers + 1) retrieves the second element. Likewise, *(numbers + 2) retrieves the third element, and so forth.</a:t>
            </a:r>
          </a:p>
        </p:txBody>
      </p:sp>
      <p:pic>
        <p:nvPicPr>
          <p:cNvPr id="4" name="Picture 3">
            <a:extLst>
              <a:ext uri="{FF2B5EF4-FFF2-40B4-BE49-F238E27FC236}">
                <a16:creationId xmlns:a16="http://schemas.microsoft.com/office/drawing/2014/main" id="{31A6B8A3-C9A5-B599-0941-E2F7CB6DB067}"/>
              </a:ext>
            </a:extLst>
          </p:cNvPr>
          <p:cNvPicPr>
            <a:picLocks noChangeAspect="1"/>
          </p:cNvPicPr>
          <p:nvPr/>
        </p:nvPicPr>
        <p:blipFill>
          <a:blip r:embed="rId2"/>
          <a:stretch>
            <a:fillRect/>
          </a:stretch>
        </p:blipFill>
        <p:spPr>
          <a:xfrm>
            <a:off x="3090295" y="5128186"/>
            <a:ext cx="6011409" cy="1183714"/>
          </a:xfrm>
          <a:prstGeom prst="rect">
            <a:avLst/>
          </a:prstGeom>
        </p:spPr>
      </p:pic>
    </p:spTree>
    <p:extLst>
      <p:ext uri="{BB962C8B-B14F-4D97-AF65-F5344CB8AC3E}">
        <p14:creationId xmlns:p14="http://schemas.microsoft.com/office/powerpoint/2010/main" val="766893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21BD6-3860-BDC5-E2EA-A7597FADC04A}"/>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BF25F684-1BDF-80F3-4637-07E1C8066B24}"/>
              </a:ext>
            </a:extLst>
          </p:cNvPr>
          <p:cNvPicPr>
            <a:picLocks noChangeAspect="1"/>
          </p:cNvPicPr>
          <p:nvPr/>
        </p:nvPicPr>
        <p:blipFill>
          <a:blip r:embed="rId2"/>
          <a:stretch>
            <a:fillRect/>
          </a:stretch>
        </p:blipFill>
        <p:spPr>
          <a:xfrm>
            <a:off x="5900947" y="492184"/>
            <a:ext cx="5179437" cy="5434163"/>
          </a:xfrm>
          <a:prstGeom prst="rect">
            <a:avLst/>
          </a:prstGeom>
        </p:spPr>
      </p:pic>
      <p:pic>
        <p:nvPicPr>
          <p:cNvPr id="5" name="Picture 4">
            <a:extLst>
              <a:ext uri="{FF2B5EF4-FFF2-40B4-BE49-F238E27FC236}">
                <a16:creationId xmlns:a16="http://schemas.microsoft.com/office/drawing/2014/main" id="{E2CB74E3-4BF7-9E40-8B17-224727117F9A}"/>
              </a:ext>
            </a:extLst>
          </p:cNvPr>
          <p:cNvPicPr>
            <a:picLocks noChangeAspect="1"/>
          </p:cNvPicPr>
          <p:nvPr/>
        </p:nvPicPr>
        <p:blipFill>
          <a:blip r:embed="rId3"/>
          <a:stretch>
            <a:fillRect/>
          </a:stretch>
        </p:blipFill>
        <p:spPr>
          <a:xfrm>
            <a:off x="708804" y="3050276"/>
            <a:ext cx="3864925" cy="978259"/>
          </a:xfrm>
          <a:prstGeom prst="rect">
            <a:avLst/>
          </a:prstGeom>
        </p:spPr>
      </p:pic>
      <p:sp>
        <p:nvSpPr>
          <p:cNvPr id="6" name="TextBox 5">
            <a:extLst>
              <a:ext uri="{FF2B5EF4-FFF2-40B4-BE49-F238E27FC236}">
                <a16:creationId xmlns:a16="http://schemas.microsoft.com/office/drawing/2014/main" id="{979012B8-162F-8DAD-AB4E-CB747E2CEA84}"/>
              </a:ext>
            </a:extLst>
          </p:cNvPr>
          <p:cNvSpPr txBox="1"/>
          <p:nvPr/>
        </p:nvSpPr>
        <p:spPr>
          <a:xfrm>
            <a:off x="467900" y="4563373"/>
            <a:ext cx="4684103" cy="369332"/>
          </a:xfrm>
          <a:prstGeom prst="rect">
            <a:avLst/>
          </a:prstGeom>
          <a:noFill/>
        </p:spPr>
        <p:txBody>
          <a:bodyPr wrap="none" rtlCol="0">
            <a:spAutoFit/>
          </a:bodyPr>
          <a:lstStyle/>
          <a:p>
            <a:r>
              <a:rPr lang="en-US" b="1" dirty="0"/>
              <a:t>array[index] is equivalent to *(array + index)</a:t>
            </a:r>
          </a:p>
        </p:txBody>
      </p:sp>
    </p:spTree>
    <p:extLst>
      <p:ext uri="{BB962C8B-B14F-4D97-AF65-F5344CB8AC3E}">
        <p14:creationId xmlns:p14="http://schemas.microsoft.com/office/powerpoint/2010/main" val="16765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9879F-560C-5E75-AE8B-EF700CFB5B8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F612A38-1A72-D3AA-44AD-87A3AE1D75B5}"/>
              </a:ext>
            </a:extLst>
          </p:cNvPr>
          <p:cNvPicPr>
            <a:picLocks noChangeAspect="1"/>
          </p:cNvPicPr>
          <p:nvPr/>
        </p:nvPicPr>
        <p:blipFill>
          <a:blip r:embed="rId2"/>
          <a:stretch>
            <a:fillRect/>
          </a:stretch>
        </p:blipFill>
        <p:spPr>
          <a:xfrm>
            <a:off x="5377011" y="220691"/>
            <a:ext cx="4776279" cy="6433355"/>
          </a:xfrm>
          <a:prstGeom prst="rect">
            <a:avLst/>
          </a:prstGeom>
        </p:spPr>
      </p:pic>
      <p:pic>
        <p:nvPicPr>
          <p:cNvPr id="5" name="Picture 4">
            <a:extLst>
              <a:ext uri="{FF2B5EF4-FFF2-40B4-BE49-F238E27FC236}">
                <a16:creationId xmlns:a16="http://schemas.microsoft.com/office/drawing/2014/main" id="{807815C4-42D2-4EF3-9792-FA897D48865C}"/>
              </a:ext>
            </a:extLst>
          </p:cNvPr>
          <p:cNvPicPr>
            <a:picLocks noChangeAspect="1"/>
          </p:cNvPicPr>
          <p:nvPr/>
        </p:nvPicPr>
        <p:blipFill>
          <a:blip r:embed="rId3"/>
          <a:stretch>
            <a:fillRect/>
          </a:stretch>
        </p:blipFill>
        <p:spPr>
          <a:xfrm>
            <a:off x="918953" y="2876549"/>
            <a:ext cx="3972224" cy="1428031"/>
          </a:xfrm>
          <a:prstGeom prst="rect">
            <a:avLst/>
          </a:prstGeom>
        </p:spPr>
      </p:pic>
    </p:spTree>
    <p:extLst>
      <p:ext uri="{BB962C8B-B14F-4D97-AF65-F5344CB8AC3E}">
        <p14:creationId xmlns:p14="http://schemas.microsoft.com/office/powerpoint/2010/main" val="2543122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C1F3-BFA0-927E-D3AE-D3E60AAD3CB0}"/>
              </a:ext>
            </a:extLst>
          </p:cNvPr>
          <p:cNvSpPr>
            <a:spLocks noGrp="1"/>
          </p:cNvSpPr>
          <p:nvPr>
            <p:ph type="title"/>
          </p:nvPr>
        </p:nvSpPr>
        <p:spPr/>
        <p:txBody>
          <a:bodyPr/>
          <a:lstStyle/>
          <a:p>
            <a:r>
              <a:rPr lang="en-US" dirty="0"/>
              <a:t>The Relationship Between Arrays and Pointers</a:t>
            </a:r>
          </a:p>
        </p:txBody>
      </p:sp>
      <p:sp>
        <p:nvSpPr>
          <p:cNvPr id="3" name="Content Placeholder 2">
            <a:extLst>
              <a:ext uri="{FF2B5EF4-FFF2-40B4-BE49-F238E27FC236}">
                <a16:creationId xmlns:a16="http://schemas.microsoft.com/office/drawing/2014/main" id="{54146ED5-0601-3F92-FD48-64F55E7FF94D}"/>
              </a:ext>
            </a:extLst>
          </p:cNvPr>
          <p:cNvSpPr>
            <a:spLocks noGrp="1"/>
          </p:cNvSpPr>
          <p:nvPr>
            <p:ph idx="1"/>
          </p:nvPr>
        </p:nvSpPr>
        <p:spPr>
          <a:xfrm>
            <a:off x="838200" y="1825625"/>
            <a:ext cx="10402019" cy="1325563"/>
          </a:xfrm>
        </p:spPr>
        <p:txBody>
          <a:bodyPr/>
          <a:lstStyle/>
          <a:p>
            <a:r>
              <a:rPr lang="en-US" dirty="0"/>
              <a:t>The only difference between array names and pointer variables is that you cannot change the address an array name points to. For example, given the following definitions:</a:t>
            </a:r>
          </a:p>
        </p:txBody>
      </p:sp>
      <p:pic>
        <p:nvPicPr>
          <p:cNvPr id="4" name="Picture 3">
            <a:extLst>
              <a:ext uri="{FF2B5EF4-FFF2-40B4-BE49-F238E27FC236}">
                <a16:creationId xmlns:a16="http://schemas.microsoft.com/office/drawing/2014/main" id="{75591045-AACA-CC80-B021-2C7F013F9E45}"/>
              </a:ext>
            </a:extLst>
          </p:cNvPr>
          <p:cNvPicPr>
            <a:picLocks noChangeAspect="1"/>
          </p:cNvPicPr>
          <p:nvPr/>
        </p:nvPicPr>
        <p:blipFill>
          <a:blip r:embed="rId2"/>
          <a:stretch>
            <a:fillRect/>
          </a:stretch>
        </p:blipFill>
        <p:spPr>
          <a:xfrm>
            <a:off x="1862825" y="3241734"/>
            <a:ext cx="4103961" cy="3182309"/>
          </a:xfrm>
          <a:prstGeom prst="rect">
            <a:avLst/>
          </a:prstGeom>
        </p:spPr>
      </p:pic>
      <p:sp>
        <p:nvSpPr>
          <p:cNvPr id="5" name="TextBox 4">
            <a:extLst>
              <a:ext uri="{FF2B5EF4-FFF2-40B4-BE49-F238E27FC236}">
                <a16:creationId xmlns:a16="http://schemas.microsoft.com/office/drawing/2014/main" id="{BAFDB843-82F7-5511-AF22-CEE75A1F3FD3}"/>
              </a:ext>
            </a:extLst>
          </p:cNvPr>
          <p:cNvSpPr txBox="1"/>
          <p:nvPr/>
        </p:nvSpPr>
        <p:spPr>
          <a:xfrm>
            <a:off x="8195094" y="3817225"/>
            <a:ext cx="2027208" cy="2031325"/>
          </a:xfrm>
          <a:prstGeom prst="rect">
            <a:avLst/>
          </a:prstGeom>
          <a:noFill/>
        </p:spPr>
        <p:txBody>
          <a:bodyPr wrap="square" rtlCol="0">
            <a:spAutoFit/>
          </a:bodyPr>
          <a:lstStyle/>
          <a:p>
            <a:r>
              <a:rPr lang="en-US" dirty="0"/>
              <a:t>Array names are </a:t>
            </a:r>
            <a:r>
              <a:rPr lang="en-US" b="1" dirty="0">
                <a:hlinkClick r:id="rId3"/>
              </a:rPr>
              <a:t>pointer constants</a:t>
            </a:r>
            <a:r>
              <a:rPr lang="en-US" dirty="0"/>
              <a:t>. You can’t make them point to anything but the array they represent.</a:t>
            </a:r>
          </a:p>
        </p:txBody>
      </p:sp>
    </p:spTree>
    <p:extLst>
      <p:ext uri="{BB962C8B-B14F-4D97-AF65-F5344CB8AC3E}">
        <p14:creationId xmlns:p14="http://schemas.microsoft.com/office/powerpoint/2010/main" val="2721996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64C7F-E1B5-1D9B-F25A-2F0CE682DD4B}"/>
              </a:ext>
            </a:extLst>
          </p:cNvPr>
          <p:cNvSpPr>
            <a:spLocks noGrp="1"/>
          </p:cNvSpPr>
          <p:nvPr>
            <p:ph type="title"/>
          </p:nvPr>
        </p:nvSpPr>
        <p:spPr>
          <a:xfrm>
            <a:off x="838200" y="34925"/>
            <a:ext cx="10515600" cy="1325563"/>
          </a:xfrm>
        </p:spPr>
        <p:txBody>
          <a:bodyPr/>
          <a:lstStyle/>
          <a:p>
            <a:r>
              <a:rPr lang="en-US" dirty="0"/>
              <a:t>Pointer Arithmetic</a:t>
            </a:r>
          </a:p>
        </p:txBody>
      </p:sp>
      <p:sp>
        <p:nvSpPr>
          <p:cNvPr id="3" name="Content Placeholder 2">
            <a:extLst>
              <a:ext uri="{FF2B5EF4-FFF2-40B4-BE49-F238E27FC236}">
                <a16:creationId xmlns:a16="http://schemas.microsoft.com/office/drawing/2014/main" id="{ADFB8C3B-BCF5-A1E9-FA77-6A4DADB0E2DD}"/>
              </a:ext>
            </a:extLst>
          </p:cNvPr>
          <p:cNvSpPr>
            <a:spLocks noGrp="1"/>
          </p:cNvSpPr>
          <p:nvPr>
            <p:ph idx="1"/>
          </p:nvPr>
        </p:nvSpPr>
        <p:spPr>
          <a:xfrm>
            <a:off x="838200" y="1825625"/>
            <a:ext cx="2853906" cy="4351338"/>
          </a:xfrm>
        </p:spPr>
        <p:txBody>
          <a:bodyPr/>
          <a:lstStyle/>
          <a:p>
            <a:r>
              <a:rPr lang="en-US" dirty="0"/>
              <a:t>The contents of pointer variables may be changed with mathematical statements that perform addition or subtraction</a:t>
            </a:r>
          </a:p>
        </p:txBody>
      </p:sp>
      <p:pic>
        <p:nvPicPr>
          <p:cNvPr id="4" name="Picture 3">
            <a:extLst>
              <a:ext uri="{FF2B5EF4-FFF2-40B4-BE49-F238E27FC236}">
                <a16:creationId xmlns:a16="http://schemas.microsoft.com/office/drawing/2014/main" id="{7131B8A1-7060-09FE-4083-FBD4FE236C58}"/>
              </a:ext>
            </a:extLst>
          </p:cNvPr>
          <p:cNvPicPr>
            <a:picLocks noChangeAspect="1"/>
          </p:cNvPicPr>
          <p:nvPr/>
        </p:nvPicPr>
        <p:blipFill>
          <a:blip r:embed="rId2"/>
          <a:stretch>
            <a:fillRect/>
          </a:stretch>
        </p:blipFill>
        <p:spPr>
          <a:xfrm>
            <a:off x="3856009" y="1047108"/>
            <a:ext cx="4227738" cy="5810891"/>
          </a:xfrm>
          <a:prstGeom prst="rect">
            <a:avLst/>
          </a:prstGeom>
        </p:spPr>
      </p:pic>
      <p:pic>
        <p:nvPicPr>
          <p:cNvPr id="5" name="Picture 4">
            <a:extLst>
              <a:ext uri="{FF2B5EF4-FFF2-40B4-BE49-F238E27FC236}">
                <a16:creationId xmlns:a16="http://schemas.microsoft.com/office/drawing/2014/main" id="{0DFB9163-599B-500B-6610-58B9A8DA1360}"/>
              </a:ext>
            </a:extLst>
          </p:cNvPr>
          <p:cNvPicPr>
            <a:picLocks noChangeAspect="1"/>
          </p:cNvPicPr>
          <p:nvPr/>
        </p:nvPicPr>
        <p:blipFill>
          <a:blip r:embed="rId3"/>
          <a:stretch>
            <a:fillRect/>
          </a:stretch>
        </p:blipFill>
        <p:spPr>
          <a:xfrm>
            <a:off x="8837657" y="1711101"/>
            <a:ext cx="2491898" cy="1717899"/>
          </a:xfrm>
          <a:prstGeom prst="rect">
            <a:avLst/>
          </a:prstGeom>
        </p:spPr>
      </p:pic>
      <p:sp>
        <p:nvSpPr>
          <p:cNvPr id="6" name="TextBox 5">
            <a:extLst>
              <a:ext uri="{FF2B5EF4-FFF2-40B4-BE49-F238E27FC236}">
                <a16:creationId xmlns:a16="http://schemas.microsoft.com/office/drawing/2014/main" id="{675B93CB-5576-FD92-BED0-876206BB1B35}"/>
              </a:ext>
            </a:extLst>
          </p:cNvPr>
          <p:cNvSpPr txBox="1"/>
          <p:nvPr/>
        </p:nvSpPr>
        <p:spPr>
          <a:xfrm>
            <a:off x="8901023" y="3829307"/>
            <a:ext cx="2606615" cy="2862322"/>
          </a:xfrm>
          <a:prstGeom prst="rect">
            <a:avLst/>
          </a:prstGeom>
          <a:noFill/>
        </p:spPr>
        <p:txBody>
          <a:bodyPr wrap="square" rtlCol="0">
            <a:spAutoFit/>
          </a:bodyPr>
          <a:lstStyle/>
          <a:p>
            <a:pPr algn="ctr"/>
            <a:r>
              <a:rPr lang="en-US" dirty="0"/>
              <a:t>Because </a:t>
            </a:r>
            <a:r>
              <a:rPr lang="en-US" dirty="0" err="1"/>
              <a:t>numPtr</a:t>
            </a:r>
            <a:r>
              <a:rPr lang="en-US" dirty="0"/>
              <a:t> is a pointer, the increment operator adds the size of one integer to </a:t>
            </a:r>
            <a:r>
              <a:rPr lang="en-US" dirty="0" err="1"/>
              <a:t>numPtr</a:t>
            </a:r>
            <a:r>
              <a:rPr lang="en-US" dirty="0"/>
              <a:t>, so it points to the next element in the array. Likewise, the decrement operator subtracts the size of one integer from the pointer.</a:t>
            </a:r>
          </a:p>
        </p:txBody>
      </p:sp>
    </p:spTree>
    <p:extLst>
      <p:ext uri="{BB962C8B-B14F-4D97-AF65-F5344CB8AC3E}">
        <p14:creationId xmlns:p14="http://schemas.microsoft.com/office/powerpoint/2010/main" val="1663785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4FEC0-B96B-9F81-6AD2-5534E7DD4914}"/>
              </a:ext>
            </a:extLst>
          </p:cNvPr>
          <p:cNvSpPr>
            <a:spLocks noGrp="1"/>
          </p:cNvSpPr>
          <p:nvPr>
            <p:ph type="title"/>
          </p:nvPr>
        </p:nvSpPr>
        <p:spPr/>
        <p:txBody>
          <a:bodyPr/>
          <a:lstStyle/>
          <a:p>
            <a:r>
              <a:rPr lang="en-US" dirty="0"/>
              <a:t>Pointer Arithmetic</a:t>
            </a:r>
          </a:p>
        </p:txBody>
      </p:sp>
      <p:sp>
        <p:nvSpPr>
          <p:cNvPr id="3" name="Content Placeholder 2">
            <a:extLst>
              <a:ext uri="{FF2B5EF4-FFF2-40B4-BE49-F238E27FC236}">
                <a16:creationId xmlns:a16="http://schemas.microsoft.com/office/drawing/2014/main" id="{A8D208B4-E969-9364-90CA-1B1D0F076807}"/>
              </a:ext>
            </a:extLst>
          </p:cNvPr>
          <p:cNvSpPr>
            <a:spLocks noGrp="1"/>
          </p:cNvSpPr>
          <p:nvPr>
            <p:ph idx="1"/>
          </p:nvPr>
        </p:nvSpPr>
        <p:spPr/>
        <p:txBody>
          <a:bodyPr/>
          <a:lstStyle/>
          <a:p>
            <a:pPr algn="l"/>
            <a:r>
              <a:rPr lang="en-US" dirty="0">
                <a:effectLst/>
              </a:rPr>
              <a:t>Not all arithmetic operations may be performed on pointers. </a:t>
            </a:r>
          </a:p>
          <a:p>
            <a:pPr algn="l"/>
            <a:r>
              <a:rPr lang="en-US" dirty="0">
                <a:effectLst/>
              </a:rPr>
              <a:t>For example, you cannot use </a:t>
            </a:r>
            <a:r>
              <a:rPr lang="en-US" dirty="0" err="1">
                <a:effectLst/>
              </a:rPr>
              <a:t>multipication</a:t>
            </a:r>
            <a:r>
              <a:rPr lang="en-US" dirty="0">
                <a:effectLst/>
              </a:rPr>
              <a:t> or division with pointers. The following operations are allowable:</a:t>
            </a:r>
          </a:p>
          <a:p>
            <a:pPr lvl="1"/>
            <a:r>
              <a:rPr lang="en-US" dirty="0"/>
              <a:t>The ++ and –– operators may be used to increment or decrement a pointer variable.</a:t>
            </a:r>
          </a:p>
          <a:p>
            <a:pPr lvl="1"/>
            <a:r>
              <a:rPr lang="en-US" dirty="0"/>
              <a:t>An integer may be added to or subtracted from a pointer variable. This may be performed with the + and – operators, or the += and −= operators.</a:t>
            </a:r>
          </a:p>
          <a:p>
            <a:pPr lvl="1"/>
            <a:r>
              <a:rPr lang="en-US" dirty="0"/>
              <a:t>A pointer may be subtracted from another pointer.</a:t>
            </a:r>
          </a:p>
          <a:p>
            <a:pPr marL="0" indent="0">
              <a:buNone/>
            </a:pPr>
            <a:endParaRPr lang="en-US" dirty="0"/>
          </a:p>
        </p:txBody>
      </p:sp>
    </p:spTree>
    <p:extLst>
      <p:ext uri="{BB962C8B-B14F-4D97-AF65-F5344CB8AC3E}">
        <p14:creationId xmlns:p14="http://schemas.microsoft.com/office/powerpoint/2010/main" val="4116810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77FC4-B459-318D-CD27-71EA6E3B35C5}"/>
              </a:ext>
            </a:extLst>
          </p:cNvPr>
          <p:cNvSpPr>
            <a:spLocks noGrp="1"/>
          </p:cNvSpPr>
          <p:nvPr>
            <p:ph type="title"/>
          </p:nvPr>
        </p:nvSpPr>
        <p:spPr>
          <a:xfrm>
            <a:off x="838200" y="365125"/>
            <a:ext cx="10515600" cy="1325563"/>
          </a:xfrm>
        </p:spPr>
        <p:txBody>
          <a:bodyPr/>
          <a:lstStyle/>
          <a:p>
            <a:r>
              <a:rPr lang="en-US" dirty="0"/>
              <a:t>Initializing Pointers</a:t>
            </a:r>
          </a:p>
        </p:txBody>
      </p:sp>
      <p:sp>
        <p:nvSpPr>
          <p:cNvPr id="3" name="Content Placeholder 2">
            <a:extLst>
              <a:ext uri="{FF2B5EF4-FFF2-40B4-BE49-F238E27FC236}">
                <a16:creationId xmlns:a16="http://schemas.microsoft.com/office/drawing/2014/main" id="{728E5891-5383-55C6-530F-8E6012DDF3BC}"/>
              </a:ext>
            </a:extLst>
          </p:cNvPr>
          <p:cNvSpPr>
            <a:spLocks noGrp="1"/>
          </p:cNvSpPr>
          <p:nvPr>
            <p:ph idx="1"/>
          </p:nvPr>
        </p:nvSpPr>
        <p:spPr/>
        <p:txBody>
          <a:bodyPr/>
          <a:lstStyle/>
          <a:p>
            <a:r>
              <a:rPr lang="en-US" b="1" dirty="0"/>
              <a:t>Pointers may be initialized with the address of an existing object.</a:t>
            </a:r>
          </a:p>
          <a:p>
            <a:r>
              <a:rPr lang="en-US" dirty="0"/>
              <a:t>Remember that a pointer is designed to point to an object of a specific data type. </a:t>
            </a:r>
          </a:p>
          <a:p>
            <a:r>
              <a:rPr lang="en-US" dirty="0"/>
              <a:t>When a pointer is initialized with an address, it must be the address of an object the pointer can point to.</a:t>
            </a:r>
          </a:p>
        </p:txBody>
      </p:sp>
      <p:pic>
        <p:nvPicPr>
          <p:cNvPr id="4" name="Picture 3">
            <a:extLst>
              <a:ext uri="{FF2B5EF4-FFF2-40B4-BE49-F238E27FC236}">
                <a16:creationId xmlns:a16="http://schemas.microsoft.com/office/drawing/2014/main" id="{33BCCEF7-6CA6-98C2-D823-FC8118953CFD}"/>
              </a:ext>
            </a:extLst>
          </p:cNvPr>
          <p:cNvPicPr>
            <a:picLocks noChangeAspect="1"/>
          </p:cNvPicPr>
          <p:nvPr/>
        </p:nvPicPr>
        <p:blipFill>
          <a:blip r:embed="rId2"/>
          <a:stretch>
            <a:fillRect/>
          </a:stretch>
        </p:blipFill>
        <p:spPr>
          <a:xfrm>
            <a:off x="1138685" y="5178230"/>
            <a:ext cx="2251280" cy="568505"/>
          </a:xfrm>
          <a:prstGeom prst="rect">
            <a:avLst/>
          </a:prstGeom>
        </p:spPr>
      </p:pic>
      <p:sp>
        <p:nvSpPr>
          <p:cNvPr id="5" name="TextBox 4">
            <a:extLst>
              <a:ext uri="{FF2B5EF4-FFF2-40B4-BE49-F238E27FC236}">
                <a16:creationId xmlns:a16="http://schemas.microsoft.com/office/drawing/2014/main" id="{3DCBE756-620E-FD27-2ED6-F71ACD76689A}"/>
              </a:ext>
            </a:extLst>
          </p:cNvPr>
          <p:cNvSpPr txBox="1"/>
          <p:nvPr/>
        </p:nvSpPr>
        <p:spPr>
          <a:xfrm>
            <a:off x="1906439" y="4808898"/>
            <a:ext cx="715773" cy="369332"/>
          </a:xfrm>
          <a:prstGeom prst="rect">
            <a:avLst/>
          </a:prstGeom>
          <a:noFill/>
        </p:spPr>
        <p:txBody>
          <a:bodyPr wrap="none" rtlCol="0">
            <a:spAutoFit/>
          </a:bodyPr>
          <a:lstStyle/>
          <a:p>
            <a:r>
              <a:rPr lang="en-US" dirty="0"/>
              <a:t>Legal</a:t>
            </a:r>
          </a:p>
        </p:txBody>
      </p:sp>
      <p:sp>
        <p:nvSpPr>
          <p:cNvPr id="6" name="TextBox 5">
            <a:extLst>
              <a:ext uri="{FF2B5EF4-FFF2-40B4-BE49-F238E27FC236}">
                <a16:creationId xmlns:a16="http://schemas.microsoft.com/office/drawing/2014/main" id="{53914FAA-5832-A9E2-E33E-B62ED328D171}"/>
              </a:ext>
            </a:extLst>
          </p:cNvPr>
          <p:cNvSpPr txBox="1"/>
          <p:nvPr/>
        </p:nvSpPr>
        <p:spPr>
          <a:xfrm>
            <a:off x="8709353" y="4808898"/>
            <a:ext cx="777713" cy="369332"/>
          </a:xfrm>
          <a:prstGeom prst="rect">
            <a:avLst/>
          </a:prstGeom>
          <a:noFill/>
        </p:spPr>
        <p:txBody>
          <a:bodyPr wrap="none" rtlCol="0">
            <a:spAutoFit/>
          </a:bodyPr>
          <a:lstStyle/>
          <a:p>
            <a:r>
              <a:rPr lang="en-US" dirty="0"/>
              <a:t>Illegal</a:t>
            </a:r>
          </a:p>
        </p:txBody>
      </p:sp>
      <p:pic>
        <p:nvPicPr>
          <p:cNvPr id="7" name="Picture 6">
            <a:extLst>
              <a:ext uri="{FF2B5EF4-FFF2-40B4-BE49-F238E27FC236}">
                <a16:creationId xmlns:a16="http://schemas.microsoft.com/office/drawing/2014/main" id="{A54AE09F-EC7C-23D1-76F7-7E070277FC65}"/>
              </a:ext>
            </a:extLst>
          </p:cNvPr>
          <p:cNvPicPr>
            <a:picLocks noChangeAspect="1"/>
          </p:cNvPicPr>
          <p:nvPr/>
        </p:nvPicPr>
        <p:blipFill>
          <a:blip r:embed="rId3"/>
          <a:stretch>
            <a:fillRect/>
          </a:stretch>
        </p:blipFill>
        <p:spPr>
          <a:xfrm>
            <a:off x="7697651" y="5178230"/>
            <a:ext cx="2801118" cy="507289"/>
          </a:xfrm>
          <a:prstGeom prst="rect">
            <a:avLst/>
          </a:prstGeom>
        </p:spPr>
      </p:pic>
      <p:pic>
        <p:nvPicPr>
          <p:cNvPr id="8" name="Picture 7">
            <a:extLst>
              <a:ext uri="{FF2B5EF4-FFF2-40B4-BE49-F238E27FC236}">
                <a16:creationId xmlns:a16="http://schemas.microsoft.com/office/drawing/2014/main" id="{C352F14E-3F5D-239C-8055-755821A8D0B6}"/>
              </a:ext>
            </a:extLst>
          </p:cNvPr>
          <p:cNvPicPr>
            <a:picLocks noChangeAspect="1"/>
          </p:cNvPicPr>
          <p:nvPr/>
        </p:nvPicPr>
        <p:blipFill>
          <a:blip r:embed="rId4"/>
          <a:stretch>
            <a:fillRect/>
          </a:stretch>
        </p:blipFill>
        <p:spPr>
          <a:xfrm>
            <a:off x="4466583" y="5184221"/>
            <a:ext cx="1732543" cy="562514"/>
          </a:xfrm>
          <a:prstGeom prst="rect">
            <a:avLst/>
          </a:prstGeom>
        </p:spPr>
      </p:pic>
      <p:sp>
        <p:nvSpPr>
          <p:cNvPr id="9" name="TextBox 8">
            <a:extLst>
              <a:ext uri="{FF2B5EF4-FFF2-40B4-BE49-F238E27FC236}">
                <a16:creationId xmlns:a16="http://schemas.microsoft.com/office/drawing/2014/main" id="{C5744016-629B-432D-B605-47D474225967}"/>
              </a:ext>
            </a:extLst>
          </p:cNvPr>
          <p:cNvSpPr txBox="1"/>
          <p:nvPr/>
        </p:nvSpPr>
        <p:spPr>
          <a:xfrm>
            <a:off x="4974967" y="4771246"/>
            <a:ext cx="715773" cy="369332"/>
          </a:xfrm>
          <a:prstGeom prst="rect">
            <a:avLst/>
          </a:prstGeom>
          <a:noFill/>
        </p:spPr>
        <p:txBody>
          <a:bodyPr wrap="none" rtlCol="0">
            <a:spAutoFit/>
          </a:bodyPr>
          <a:lstStyle/>
          <a:p>
            <a:r>
              <a:rPr lang="en-US" dirty="0"/>
              <a:t>Legal</a:t>
            </a:r>
          </a:p>
        </p:txBody>
      </p:sp>
    </p:spTree>
    <p:extLst>
      <p:ext uri="{BB962C8B-B14F-4D97-AF65-F5344CB8AC3E}">
        <p14:creationId xmlns:p14="http://schemas.microsoft.com/office/powerpoint/2010/main" val="18571880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51A1-801F-FFB6-7B66-A758B3C4AABC}"/>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B7941AC7-7C18-0BF2-226C-BD5338A1D214}"/>
              </a:ext>
            </a:extLst>
          </p:cNvPr>
          <p:cNvSpPr>
            <a:spLocks noGrp="1"/>
          </p:cNvSpPr>
          <p:nvPr>
            <p:ph idx="1"/>
          </p:nvPr>
        </p:nvSpPr>
        <p:spPr/>
        <p:txBody>
          <a:bodyPr/>
          <a:lstStyle/>
          <a:p>
            <a:r>
              <a:rPr lang="en-US" dirty="0"/>
              <a:t>Pointers may be defined in the same statement as other variables of the same type. </a:t>
            </a:r>
          </a:p>
          <a:p>
            <a:pPr lvl="1"/>
            <a:r>
              <a:rPr lang="en-US" b="1" i="1" dirty="0">
                <a:solidFill>
                  <a:srgbClr val="333333"/>
                </a:solidFill>
                <a:effectLst/>
              </a:rPr>
              <a:t>int</a:t>
            </a:r>
            <a:r>
              <a:rPr lang="en-US" b="1" i="1" dirty="0"/>
              <a:t> </a:t>
            </a:r>
            <a:r>
              <a:rPr lang="en-US" b="1" i="1" dirty="0" err="1"/>
              <a:t>myValue</a:t>
            </a:r>
            <a:r>
              <a:rPr lang="en-US" b="1" i="1" dirty="0"/>
              <a:t>, *pint = &amp;</a:t>
            </a:r>
            <a:r>
              <a:rPr lang="en-US" b="1" i="1" dirty="0" err="1"/>
              <a:t>myValue</a:t>
            </a:r>
            <a:r>
              <a:rPr lang="en-US" b="1" i="1" dirty="0"/>
              <a:t>;</a:t>
            </a:r>
          </a:p>
          <a:p>
            <a:pPr lvl="1"/>
            <a:r>
              <a:rPr lang="en-US" b="1" i="1" dirty="0">
                <a:solidFill>
                  <a:srgbClr val="333333"/>
                </a:solidFill>
                <a:effectLst/>
              </a:rPr>
              <a:t>double</a:t>
            </a:r>
            <a:r>
              <a:rPr lang="en-US" b="1" i="1" dirty="0"/>
              <a:t> readings[</a:t>
            </a:r>
            <a:r>
              <a:rPr lang="en-US" b="1" i="1" dirty="0">
                <a:solidFill>
                  <a:srgbClr val="1D7C7C"/>
                </a:solidFill>
                <a:effectLst/>
              </a:rPr>
              <a:t>50</a:t>
            </a:r>
            <a:r>
              <a:rPr lang="en-US" b="1" i="1" dirty="0"/>
              <a:t>], *marker = readings;</a:t>
            </a:r>
          </a:p>
          <a:p>
            <a:r>
              <a:rPr lang="en-US" dirty="0"/>
              <a:t>A pointer can only be initialized with the address of an object that has already been defined. The following is illegal</a:t>
            </a:r>
            <a:endParaRPr lang="en-US" b="1" i="1" dirty="0"/>
          </a:p>
          <a:p>
            <a:endParaRPr lang="en-US" b="1" i="1" dirty="0"/>
          </a:p>
        </p:txBody>
      </p:sp>
      <p:pic>
        <p:nvPicPr>
          <p:cNvPr id="4" name="Picture 3">
            <a:extLst>
              <a:ext uri="{FF2B5EF4-FFF2-40B4-BE49-F238E27FC236}">
                <a16:creationId xmlns:a16="http://schemas.microsoft.com/office/drawing/2014/main" id="{09F279D2-FBDD-59C3-8A4C-575DD3D566CE}"/>
              </a:ext>
            </a:extLst>
          </p:cNvPr>
          <p:cNvPicPr>
            <a:picLocks noChangeAspect="1"/>
          </p:cNvPicPr>
          <p:nvPr/>
        </p:nvPicPr>
        <p:blipFill>
          <a:blip r:embed="rId2"/>
          <a:stretch>
            <a:fillRect/>
          </a:stretch>
        </p:blipFill>
        <p:spPr>
          <a:xfrm>
            <a:off x="2852828" y="4648200"/>
            <a:ext cx="4617647" cy="859097"/>
          </a:xfrm>
          <a:prstGeom prst="rect">
            <a:avLst/>
          </a:prstGeom>
        </p:spPr>
      </p:pic>
    </p:spTree>
    <p:extLst>
      <p:ext uri="{BB962C8B-B14F-4D97-AF65-F5344CB8AC3E}">
        <p14:creationId xmlns:p14="http://schemas.microsoft.com/office/powerpoint/2010/main" val="3900848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01811-83F2-E754-595E-6C95916E0909}"/>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B28319A7-1761-4794-ECC1-91F48B96E0FD}"/>
              </a:ext>
            </a:extLst>
          </p:cNvPr>
          <p:cNvSpPr>
            <a:spLocks noGrp="1"/>
          </p:cNvSpPr>
          <p:nvPr>
            <p:ph idx="1"/>
          </p:nvPr>
        </p:nvSpPr>
        <p:spPr/>
        <p:txBody>
          <a:bodyPr>
            <a:normAutofit lnSpcReduction="10000"/>
          </a:bodyPr>
          <a:lstStyle/>
          <a:p>
            <a:r>
              <a:rPr lang="en-US" dirty="0"/>
              <a:t>A local pointer variable that has not been initialized does not hold a valid address, and an attempt to use such a pointer will result in execution-time errors. </a:t>
            </a:r>
          </a:p>
          <a:p>
            <a:r>
              <a:rPr lang="en-US" dirty="0">
                <a:effectLst/>
              </a:rPr>
              <a:t>The convention in older versions of C++ is to assign the address 0 to a pointer that does not currently point to a valid memory location:</a:t>
            </a:r>
          </a:p>
          <a:p>
            <a:endParaRPr lang="en-US" dirty="0"/>
          </a:p>
          <a:p>
            <a:r>
              <a:rPr lang="en-US" dirty="0"/>
              <a:t>In many computers, the address 0 is occupied by operating system data and is not accessible to user programs. This makes 0 a safe choice for a value that indicates an invalid memory location.</a:t>
            </a:r>
          </a:p>
        </p:txBody>
      </p:sp>
      <p:pic>
        <p:nvPicPr>
          <p:cNvPr id="4" name="Picture 3">
            <a:extLst>
              <a:ext uri="{FF2B5EF4-FFF2-40B4-BE49-F238E27FC236}">
                <a16:creationId xmlns:a16="http://schemas.microsoft.com/office/drawing/2014/main" id="{518383D2-A838-9723-566C-574016FF07B3}"/>
              </a:ext>
            </a:extLst>
          </p:cNvPr>
          <p:cNvPicPr>
            <a:picLocks noChangeAspect="1"/>
          </p:cNvPicPr>
          <p:nvPr/>
        </p:nvPicPr>
        <p:blipFill>
          <a:blip r:embed="rId2"/>
          <a:stretch>
            <a:fillRect/>
          </a:stretch>
        </p:blipFill>
        <p:spPr>
          <a:xfrm>
            <a:off x="3942751" y="3774655"/>
            <a:ext cx="3204174" cy="736960"/>
          </a:xfrm>
          <a:prstGeom prst="rect">
            <a:avLst/>
          </a:prstGeom>
        </p:spPr>
      </p:pic>
    </p:spTree>
    <p:extLst>
      <p:ext uri="{BB962C8B-B14F-4D97-AF65-F5344CB8AC3E}">
        <p14:creationId xmlns:p14="http://schemas.microsoft.com/office/powerpoint/2010/main" val="4195407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D6FA-5E38-C61E-B9AA-D194CE260E7B}"/>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C585A45C-93A0-8866-BCF7-8E4B8E661F05}"/>
              </a:ext>
            </a:extLst>
          </p:cNvPr>
          <p:cNvSpPr>
            <a:spLocks noGrp="1"/>
          </p:cNvSpPr>
          <p:nvPr>
            <p:ph idx="1"/>
          </p:nvPr>
        </p:nvSpPr>
        <p:spPr/>
        <p:txBody>
          <a:bodyPr/>
          <a:lstStyle/>
          <a:p>
            <a:r>
              <a:rPr lang="en-US" dirty="0"/>
              <a:t>Many header files, including iostream, </a:t>
            </a:r>
            <a:r>
              <a:rPr lang="en-US" dirty="0" err="1"/>
              <a:t>fstream</a:t>
            </a:r>
            <a:r>
              <a:rPr lang="en-US" dirty="0"/>
              <a:t>, and </a:t>
            </a:r>
            <a:r>
              <a:rPr lang="en-US" dirty="0" err="1"/>
              <a:t>cstdlib</a:t>
            </a:r>
            <a:r>
              <a:rPr lang="en-US" dirty="0"/>
              <a:t>, define a constant named NULL to represent the </a:t>
            </a:r>
            <a:r>
              <a:rPr lang="en-US" i="1" dirty="0"/>
              <a:t>pointer value</a:t>
            </a:r>
            <a:r>
              <a:rPr lang="en-US" dirty="0"/>
              <a:t> 0</a:t>
            </a:r>
          </a:p>
          <a:p>
            <a:endParaRPr lang="en-US" dirty="0"/>
          </a:p>
          <a:p>
            <a:endParaRPr lang="en-US" dirty="0"/>
          </a:p>
          <a:p>
            <a:endParaRPr lang="en-US" dirty="0"/>
          </a:p>
          <a:p>
            <a:r>
              <a:rPr lang="en-US" dirty="0"/>
              <a:t>A pointer whose value is 0 is called a </a:t>
            </a:r>
            <a:r>
              <a:rPr lang="en-US" b="1" dirty="0">
                <a:hlinkClick r:id="rId2"/>
              </a:rPr>
              <a:t>null</a:t>
            </a:r>
            <a:r>
              <a:rPr lang="en-US" dirty="0"/>
              <a:t> pointer. </a:t>
            </a:r>
            <a:r>
              <a:rPr lang="en-US" b="1" dirty="0"/>
              <a:t>C++ 11 defines the key word </a:t>
            </a:r>
            <a:r>
              <a:rPr lang="en-US" b="1" dirty="0" err="1"/>
              <a:t>nullptr</a:t>
            </a:r>
            <a:r>
              <a:rPr lang="en-US" b="1" dirty="0"/>
              <a:t> to indicate an invalid memory address:</a:t>
            </a:r>
          </a:p>
        </p:txBody>
      </p:sp>
      <p:pic>
        <p:nvPicPr>
          <p:cNvPr id="4" name="Picture 3">
            <a:extLst>
              <a:ext uri="{FF2B5EF4-FFF2-40B4-BE49-F238E27FC236}">
                <a16:creationId xmlns:a16="http://schemas.microsoft.com/office/drawing/2014/main" id="{86821969-E591-EE19-8BED-A285F7327EF4}"/>
              </a:ext>
            </a:extLst>
          </p:cNvPr>
          <p:cNvPicPr>
            <a:picLocks noChangeAspect="1"/>
          </p:cNvPicPr>
          <p:nvPr/>
        </p:nvPicPr>
        <p:blipFill>
          <a:blip r:embed="rId3"/>
          <a:stretch>
            <a:fillRect/>
          </a:stretch>
        </p:blipFill>
        <p:spPr>
          <a:xfrm>
            <a:off x="4511832" y="2849352"/>
            <a:ext cx="3168336" cy="670225"/>
          </a:xfrm>
          <a:prstGeom prst="rect">
            <a:avLst/>
          </a:prstGeom>
        </p:spPr>
      </p:pic>
      <p:pic>
        <p:nvPicPr>
          <p:cNvPr id="5" name="Picture 4">
            <a:extLst>
              <a:ext uri="{FF2B5EF4-FFF2-40B4-BE49-F238E27FC236}">
                <a16:creationId xmlns:a16="http://schemas.microsoft.com/office/drawing/2014/main" id="{C75F67A3-A6AD-CC2D-4CBF-15F750026D48}"/>
              </a:ext>
            </a:extLst>
          </p:cNvPr>
          <p:cNvPicPr>
            <a:picLocks noChangeAspect="1"/>
          </p:cNvPicPr>
          <p:nvPr/>
        </p:nvPicPr>
        <p:blipFill>
          <a:blip r:embed="rId4"/>
          <a:stretch>
            <a:fillRect/>
          </a:stretch>
        </p:blipFill>
        <p:spPr>
          <a:xfrm>
            <a:off x="4511832" y="5418227"/>
            <a:ext cx="3550880" cy="758735"/>
          </a:xfrm>
          <a:prstGeom prst="rect">
            <a:avLst/>
          </a:prstGeom>
        </p:spPr>
      </p:pic>
    </p:spTree>
    <p:extLst>
      <p:ext uri="{BB962C8B-B14F-4D97-AF65-F5344CB8AC3E}">
        <p14:creationId xmlns:p14="http://schemas.microsoft.com/office/powerpoint/2010/main" val="3862899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B2EC3-E2ED-EF77-8650-3FE24F49E690}"/>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67EF9214-BD41-2E80-5CE7-C9F5E972774A}"/>
              </a:ext>
            </a:extLst>
          </p:cNvPr>
          <p:cNvSpPr>
            <a:spLocks noGrp="1"/>
          </p:cNvSpPr>
          <p:nvPr>
            <p:ph idx="1"/>
          </p:nvPr>
        </p:nvSpPr>
        <p:spPr/>
        <p:txBody>
          <a:bodyPr/>
          <a:lstStyle/>
          <a:p>
            <a:r>
              <a:rPr lang="en-US" dirty="0"/>
              <a:t>You can test a pointer p against 0, NULL, or </a:t>
            </a:r>
            <a:r>
              <a:rPr lang="en-US" dirty="0" err="1"/>
              <a:t>nullptr</a:t>
            </a:r>
            <a:r>
              <a:rPr lang="en-US" dirty="0"/>
              <a:t> to determine if it points to a valid address using equality-testing operators != and ==. For example,</a:t>
            </a:r>
          </a:p>
        </p:txBody>
      </p:sp>
      <p:pic>
        <p:nvPicPr>
          <p:cNvPr id="4" name="Picture 3">
            <a:extLst>
              <a:ext uri="{FF2B5EF4-FFF2-40B4-BE49-F238E27FC236}">
                <a16:creationId xmlns:a16="http://schemas.microsoft.com/office/drawing/2014/main" id="{4242D00B-E897-87D3-777D-DC24ED89A992}"/>
              </a:ext>
            </a:extLst>
          </p:cNvPr>
          <p:cNvPicPr>
            <a:picLocks noChangeAspect="1"/>
          </p:cNvPicPr>
          <p:nvPr/>
        </p:nvPicPr>
        <p:blipFill>
          <a:blip r:embed="rId2"/>
          <a:stretch>
            <a:fillRect/>
          </a:stretch>
        </p:blipFill>
        <p:spPr>
          <a:xfrm>
            <a:off x="3470635" y="3564986"/>
            <a:ext cx="5250730" cy="1050146"/>
          </a:xfrm>
          <a:prstGeom prst="rect">
            <a:avLst/>
          </a:prstGeom>
        </p:spPr>
      </p:pic>
    </p:spTree>
    <p:extLst>
      <p:ext uri="{BB962C8B-B14F-4D97-AF65-F5344CB8AC3E}">
        <p14:creationId xmlns:p14="http://schemas.microsoft.com/office/powerpoint/2010/main" val="2938965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6570-7196-32E8-F6B3-5800E740617A}"/>
              </a:ext>
            </a:extLst>
          </p:cNvPr>
          <p:cNvSpPr>
            <a:spLocks noGrp="1"/>
          </p:cNvSpPr>
          <p:nvPr>
            <p:ph type="title"/>
          </p:nvPr>
        </p:nvSpPr>
        <p:spPr/>
        <p:txBody>
          <a:bodyPr/>
          <a:lstStyle/>
          <a:p>
            <a:r>
              <a:rPr lang="en-US" dirty="0"/>
              <a:t>Initializing Pointers</a:t>
            </a:r>
          </a:p>
        </p:txBody>
      </p:sp>
      <p:sp>
        <p:nvSpPr>
          <p:cNvPr id="3" name="Content Placeholder 2">
            <a:extLst>
              <a:ext uri="{FF2B5EF4-FFF2-40B4-BE49-F238E27FC236}">
                <a16:creationId xmlns:a16="http://schemas.microsoft.com/office/drawing/2014/main" id="{367E06ED-BABF-A2B9-F11C-4EFD9747FF70}"/>
              </a:ext>
            </a:extLst>
          </p:cNvPr>
          <p:cNvSpPr>
            <a:spLocks noGrp="1"/>
          </p:cNvSpPr>
          <p:nvPr>
            <p:ph idx="1"/>
          </p:nvPr>
        </p:nvSpPr>
        <p:spPr/>
        <p:txBody>
          <a:bodyPr/>
          <a:lstStyle/>
          <a:p>
            <a:r>
              <a:rPr lang="en-US" dirty="0"/>
              <a:t>In C++ 11, putting an empty pair of braces { } at the end of a variable definition initializes the variable to its default value. The default value for numeric types such as int, long, and double is zero, while the default value for pointer types is </a:t>
            </a:r>
            <a:r>
              <a:rPr lang="en-US" dirty="0" err="1"/>
              <a:t>nullptr</a:t>
            </a:r>
            <a:r>
              <a:rPr lang="en-US" dirty="0"/>
              <a:t>.</a:t>
            </a:r>
          </a:p>
        </p:txBody>
      </p:sp>
      <p:pic>
        <p:nvPicPr>
          <p:cNvPr id="4" name="Picture 3">
            <a:extLst>
              <a:ext uri="{FF2B5EF4-FFF2-40B4-BE49-F238E27FC236}">
                <a16:creationId xmlns:a16="http://schemas.microsoft.com/office/drawing/2014/main" id="{348BEDB9-BA94-7BB4-304E-868660F92B45}"/>
              </a:ext>
            </a:extLst>
          </p:cNvPr>
          <p:cNvPicPr>
            <a:picLocks noChangeAspect="1"/>
          </p:cNvPicPr>
          <p:nvPr/>
        </p:nvPicPr>
        <p:blipFill>
          <a:blip r:embed="rId2"/>
          <a:stretch>
            <a:fillRect/>
          </a:stretch>
        </p:blipFill>
        <p:spPr>
          <a:xfrm>
            <a:off x="4344717" y="3516941"/>
            <a:ext cx="2725432" cy="2660022"/>
          </a:xfrm>
          <a:prstGeom prst="rect">
            <a:avLst/>
          </a:prstGeom>
        </p:spPr>
      </p:pic>
    </p:spTree>
    <p:extLst>
      <p:ext uri="{BB962C8B-B14F-4D97-AF65-F5344CB8AC3E}">
        <p14:creationId xmlns:p14="http://schemas.microsoft.com/office/powerpoint/2010/main" val="1052204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F1221-2B03-799C-2965-0BC32F907C66}"/>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5B4370CF-B830-F36F-6ED0-034053DA2DCE}"/>
              </a:ext>
            </a:extLst>
          </p:cNvPr>
          <p:cNvSpPr>
            <a:spLocks noGrp="1"/>
          </p:cNvSpPr>
          <p:nvPr>
            <p:ph idx="1"/>
          </p:nvPr>
        </p:nvSpPr>
        <p:spPr/>
        <p:txBody>
          <a:bodyPr/>
          <a:lstStyle/>
          <a:p>
            <a:r>
              <a:rPr lang="en-US" dirty="0"/>
              <a:t>C++’s relational operators may be used to compare pointer values</a:t>
            </a:r>
            <a:r>
              <a:rPr lang="en-US" b="1" dirty="0"/>
              <a:t>.</a:t>
            </a:r>
            <a:r>
              <a:rPr lang="en-US" b="1" dirty="0">
                <a:solidFill>
                  <a:srgbClr val="FF0000"/>
                </a:solidFill>
              </a:rPr>
              <a:t>    &gt; &lt;    ==    !=    &gt;=     &lt;=</a:t>
            </a:r>
          </a:p>
          <a:p>
            <a:r>
              <a:rPr lang="en-US" dirty="0"/>
              <a:t>If one address comes before another address in memory, the first address is considered “less than” the second. </a:t>
            </a:r>
          </a:p>
          <a:p>
            <a:r>
              <a:rPr lang="en-US" dirty="0"/>
              <a:t>In an array, all the elements are stored in consecutive memory locations, so the address of element 1 is greater than the address of element 0.</a:t>
            </a:r>
          </a:p>
        </p:txBody>
      </p:sp>
    </p:spTree>
    <p:extLst>
      <p:ext uri="{BB962C8B-B14F-4D97-AF65-F5344CB8AC3E}">
        <p14:creationId xmlns:p14="http://schemas.microsoft.com/office/powerpoint/2010/main" val="2380019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3866E-5075-8482-2AE0-38CCB9818993}"/>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9E5001DD-8F7B-E86B-198B-25E56D3097CE}"/>
              </a:ext>
            </a:extLst>
          </p:cNvPr>
          <p:cNvSpPr>
            <a:spLocks noGrp="1"/>
          </p:cNvSpPr>
          <p:nvPr>
            <p:ph idx="1"/>
          </p:nvPr>
        </p:nvSpPr>
        <p:spPr/>
        <p:txBody>
          <a:bodyPr/>
          <a:lstStyle/>
          <a:p>
            <a:r>
              <a:rPr lang="en-US" dirty="0"/>
              <a:t>Because the addresses grow larger for each subsequent element in the array, the following Boolean expressions are all true:</a:t>
            </a:r>
            <a:endParaRPr lang="en-US" b="1" dirty="0">
              <a:solidFill>
                <a:srgbClr val="FF0000"/>
              </a:solidFill>
            </a:endParaRPr>
          </a:p>
          <a:p>
            <a:pPr lvl="1"/>
            <a:r>
              <a:rPr lang="en-US" dirty="0"/>
              <a:t>&amp;array[</a:t>
            </a:r>
            <a:r>
              <a:rPr lang="en-US" dirty="0">
                <a:solidFill>
                  <a:srgbClr val="1D7C7C"/>
                </a:solidFill>
                <a:effectLst/>
              </a:rPr>
              <a:t>1</a:t>
            </a:r>
            <a:r>
              <a:rPr lang="en-US" dirty="0"/>
              <a:t>] &gt; &amp;array[</a:t>
            </a:r>
            <a:r>
              <a:rPr lang="en-US" dirty="0">
                <a:solidFill>
                  <a:srgbClr val="1D7C7C"/>
                </a:solidFill>
                <a:effectLst/>
              </a:rPr>
              <a:t>0</a:t>
            </a:r>
            <a:r>
              <a:rPr lang="en-US" dirty="0"/>
              <a:t>] </a:t>
            </a:r>
          </a:p>
          <a:p>
            <a:pPr lvl="1"/>
            <a:r>
              <a:rPr lang="en-US" dirty="0"/>
              <a:t>array &lt; &amp;array[4] </a:t>
            </a:r>
          </a:p>
          <a:p>
            <a:pPr lvl="1"/>
            <a:r>
              <a:rPr lang="en-US" dirty="0"/>
              <a:t>array == &amp;array[0] </a:t>
            </a:r>
          </a:p>
          <a:p>
            <a:pPr lvl="1"/>
            <a:r>
              <a:rPr lang="en-US" dirty="0"/>
              <a:t>&amp;array[2] != &amp;array[3]</a:t>
            </a:r>
          </a:p>
        </p:txBody>
      </p:sp>
    </p:spTree>
    <p:extLst>
      <p:ext uri="{BB962C8B-B14F-4D97-AF65-F5344CB8AC3E}">
        <p14:creationId xmlns:p14="http://schemas.microsoft.com/office/powerpoint/2010/main" val="1420755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F5CDB-B236-111A-0F5D-1752BBE54F6C}"/>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5D2CDE38-3968-E773-2785-F363DE676DF3}"/>
              </a:ext>
            </a:extLst>
          </p:cNvPr>
          <p:cNvSpPr>
            <a:spLocks noGrp="1"/>
          </p:cNvSpPr>
          <p:nvPr>
            <p:ph idx="1"/>
          </p:nvPr>
        </p:nvSpPr>
        <p:spPr/>
        <p:txBody>
          <a:bodyPr>
            <a:normAutofit/>
          </a:bodyPr>
          <a:lstStyle/>
          <a:p>
            <a:r>
              <a:rPr lang="en-US" dirty="0">
                <a:effectLst/>
              </a:rPr>
              <a:t>Comparing two pointers is not the same as comparing the values the two pointers point to. For example, the following if statement compares the addresses stored in the pointer variables ptr1 and ptr2:  </a:t>
            </a:r>
          </a:p>
          <a:p>
            <a:pPr lvl="1"/>
            <a:r>
              <a:rPr lang="en-US" b="1" dirty="0">
                <a:solidFill>
                  <a:srgbClr val="FF0000"/>
                </a:solidFill>
                <a:effectLst/>
              </a:rPr>
              <a:t>if</a:t>
            </a:r>
            <a:r>
              <a:rPr lang="en-US" b="1" dirty="0">
                <a:solidFill>
                  <a:srgbClr val="FF0000"/>
                </a:solidFill>
              </a:rPr>
              <a:t> (ptr1 &lt; ptr2) </a:t>
            </a:r>
          </a:p>
          <a:p>
            <a:r>
              <a:rPr lang="en-US" dirty="0"/>
              <a:t>The following statement, however, compares the values that ptr1 and ptr2 point to:</a:t>
            </a:r>
            <a:endParaRPr lang="en-US" b="1" dirty="0">
              <a:solidFill>
                <a:srgbClr val="FF0000"/>
              </a:solidFill>
            </a:endParaRPr>
          </a:p>
          <a:p>
            <a:pPr lvl="1"/>
            <a:r>
              <a:rPr lang="en-US" b="1" dirty="0">
                <a:solidFill>
                  <a:srgbClr val="FF0000"/>
                </a:solidFill>
                <a:effectLst/>
              </a:rPr>
              <a:t>if</a:t>
            </a:r>
            <a:r>
              <a:rPr lang="en-US" b="1" dirty="0">
                <a:solidFill>
                  <a:srgbClr val="FF0000"/>
                </a:solidFill>
              </a:rPr>
              <a:t> (*ptr1 &lt; *ptr2) </a:t>
            </a:r>
          </a:p>
          <a:p>
            <a:r>
              <a:rPr lang="en-US" dirty="0"/>
              <a:t>The capability of comparing addresses gives you another way to be sure a pointer does not go beyond the boundaries of an array. </a:t>
            </a:r>
            <a:endParaRPr lang="en-US" b="1" dirty="0">
              <a:solidFill>
                <a:srgbClr val="FF0000"/>
              </a:solidFill>
              <a:effectLst/>
            </a:endParaRPr>
          </a:p>
          <a:p>
            <a:endParaRPr lang="en-US" dirty="0"/>
          </a:p>
        </p:txBody>
      </p:sp>
    </p:spTree>
    <p:extLst>
      <p:ext uri="{BB962C8B-B14F-4D97-AF65-F5344CB8AC3E}">
        <p14:creationId xmlns:p14="http://schemas.microsoft.com/office/powerpoint/2010/main" val="27343935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18F5-E422-8082-D89B-54D63F3F6AA9}"/>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7EE44D8-C120-447E-8B77-F757B10D578F}"/>
              </a:ext>
            </a:extLst>
          </p:cNvPr>
          <p:cNvPicPr>
            <a:picLocks noChangeAspect="1"/>
          </p:cNvPicPr>
          <p:nvPr/>
        </p:nvPicPr>
        <p:blipFill>
          <a:blip r:embed="rId2"/>
          <a:stretch>
            <a:fillRect/>
          </a:stretch>
        </p:blipFill>
        <p:spPr>
          <a:xfrm>
            <a:off x="6008536" y="-5723"/>
            <a:ext cx="4575815" cy="6863723"/>
          </a:xfrm>
          <a:prstGeom prst="rect">
            <a:avLst/>
          </a:prstGeom>
        </p:spPr>
      </p:pic>
      <p:pic>
        <p:nvPicPr>
          <p:cNvPr id="5" name="Picture 4">
            <a:extLst>
              <a:ext uri="{FF2B5EF4-FFF2-40B4-BE49-F238E27FC236}">
                <a16:creationId xmlns:a16="http://schemas.microsoft.com/office/drawing/2014/main" id="{AB3C324A-2DBC-77CB-5EEE-7B45F15D4548}"/>
              </a:ext>
            </a:extLst>
          </p:cNvPr>
          <p:cNvPicPr>
            <a:picLocks noChangeAspect="1"/>
          </p:cNvPicPr>
          <p:nvPr/>
        </p:nvPicPr>
        <p:blipFill>
          <a:blip r:embed="rId3"/>
          <a:stretch>
            <a:fillRect/>
          </a:stretch>
        </p:blipFill>
        <p:spPr>
          <a:xfrm>
            <a:off x="1177984" y="2334763"/>
            <a:ext cx="3166303" cy="2188474"/>
          </a:xfrm>
          <a:prstGeom prst="rect">
            <a:avLst/>
          </a:prstGeom>
        </p:spPr>
      </p:pic>
    </p:spTree>
    <p:extLst>
      <p:ext uri="{BB962C8B-B14F-4D97-AF65-F5344CB8AC3E}">
        <p14:creationId xmlns:p14="http://schemas.microsoft.com/office/powerpoint/2010/main" val="1051831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1EF03-EFF0-B8F8-B540-D46391FEC76C}"/>
              </a:ext>
            </a:extLst>
          </p:cNvPr>
          <p:cNvSpPr>
            <a:spLocks noGrp="1"/>
          </p:cNvSpPr>
          <p:nvPr>
            <p:ph type="title"/>
          </p:nvPr>
        </p:nvSpPr>
        <p:spPr/>
        <p:txBody>
          <a:bodyPr/>
          <a:lstStyle/>
          <a:p>
            <a:r>
              <a:rPr lang="en-US" dirty="0"/>
              <a:t>Comparing pointers</a:t>
            </a:r>
          </a:p>
        </p:txBody>
      </p:sp>
      <p:sp>
        <p:nvSpPr>
          <p:cNvPr id="3" name="Content Placeholder 2">
            <a:extLst>
              <a:ext uri="{FF2B5EF4-FFF2-40B4-BE49-F238E27FC236}">
                <a16:creationId xmlns:a16="http://schemas.microsoft.com/office/drawing/2014/main" id="{A67D346D-AAE1-2AD1-C63B-D7DD005BCD80}"/>
              </a:ext>
            </a:extLst>
          </p:cNvPr>
          <p:cNvSpPr>
            <a:spLocks noGrp="1"/>
          </p:cNvSpPr>
          <p:nvPr>
            <p:ph idx="1"/>
          </p:nvPr>
        </p:nvSpPr>
        <p:spPr/>
        <p:txBody>
          <a:bodyPr/>
          <a:lstStyle/>
          <a:p>
            <a:r>
              <a:rPr lang="en-US" dirty="0"/>
              <a:t>Most comparisons involving pointers compare a pointer to 0, NULL, or </a:t>
            </a:r>
            <a:r>
              <a:rPr lang="en-US" dirty="0" err="1"/>
              <a:t>nullptr</a:t>
            </a:r>
            <a:r>
              <a:rPr lang="en-US" dirty="0"/>
              <a:t> to determine whether the pointer points to a legitimate address. For example, assuming that </a:t>
            </a:r>
            <a:r>
              <a:rPr lang="en-US" dirty="0" err="1"/>
              <a:t>ptrToInt</a:t>
            </a:r>
            <a:r>
              <a:rPr lang="en-US" dirty="0"/>
              <a:t> has been defined as a pointer to int, the code prints the integer pointed to only after verifying that </a:t>
            </a:r>
            <a:r>
              <a:rPr lang="en-US" dirty="0" err="1"/>
              <a:t>ptrToInt</a:t>
            </a:r>
            <a:r>
              <a:rPr lang="en-US" dirty="0"/>
              <a:t> is not a null pointer.</a:t>
            </a:r>
          </a:p>
          <a:p>
            <a:pPr marL="0" indent="0">
              <a:buNone/>
            </a:pPr>
            <a:r>
              <a:rPr lang="en-US" b="1" dirty="0">
                <a:solidFill>
                  <a:srgbClr val="333333"/>
                </a:solidFill>
                <a:effectLst/>
              </a:rPr>
              <a:t>	</a:t>
            </a:r>
            <a:r>
              <a:rPr lang="en-US" sz="2400" b="1" dirty="0">
                <a:solidFill>
                  <a:srgbClr val="333333"/>
                </a:solidFill>
                <a:effectLst/>
              </a:rPr>
              <a:t>if</a:t>
            </a:r>
            <a:r>
              <a:rPr lang="en-US" sz="2400" dirty="0"/>
              <a:t> (</a:t>
            </a:r>
            <a:r>
              <a:rPr lang="en-US" sz="2400" dirty="0" err="1"/>
              <a:t>ptrToInt</a:t>
            </a:r>
            <a:r>
              <a:rPr lang="en-US" sz="2400" dirty="0"/>
              <a:t> != </a:t>
            </a:r>
            <a:r>
              <a:rPr lang="en-US" sz="2400" dirty="0" err="1">
                <a:solidFill>
                  <a:srgbClr val="1D7C7C"/>
                </a:solidFill>
                <a:effectLst/>
              </a:rPr>
              <a:t>nullptr</a:t>
            </a:r>
            <a:r>
              <a:rPr lang="en-US" sz="2400" dirty="0"/>
              <a:t>) </a:t>
            </a:r>
          </a:p>
          <a:p>
            <a:pPr marL="457200" lvl="1" indent="0">
              <a:buNone/>
            </a:pPr>
            <a:r>
              <a:rPr lang="en-US" dirty="0"/>
              <a:t>		</a:t>
            </a:r>
            <a:r>
              <a:rPr lang="en-US" dirty="0" err="1"/>
              <a:t>cout</a:t>
            </a:r>
            <a:r>
              <a:rPr lang="en-US" dirty="0"/>
              <a:t> ≪ *</a:t>
            </a:r>
            <a:r>
              <a:rPr lang="en-US" dirty="0" err="1"/>
              <a:t>ptrToInt</a:t>
            </a:r>
            <a:r>
              <a:rPr lang="en-US" dirty="0"/>
              <a:t>; </a:t>
            </a:r>
          </a:p>
          <a:p>
            <a:pPr marL="457200" lvl="1" indent="0">
              <a:buNone/>
            </a:pPr>
            <a:r>
              <a:rPr lang="en-US" b="1" dirty="0">
                <a:solidFill>
                  <a:srgbClr val="333333"/>
                </a:solidFill>
                <a:effectLst/>
              </a:rPr>
              <a:t>	else</a:t>
            </a:r>
            <a:r>
              <a:rPr lang="en-US" dirty="0"/>
              <a:t> </a:t>
            </a:r>
          </a:p>
          <a:p>
            <a:pPr marL="457200" lvl="1" indent="0">
              <a:buNone/>
            </a:pPr>
            <a:r>
              <a:rPr lang="en-US" dirty="0"/>
              <a:t>		</a:t>
            </a:r>
            <a:r>
              <a:rPr lang="en-US" dirty="0" err="1"/>
              <a:t>cout</a:t>
            </a:r>
            <a:r>
              <a:rPr lang="en-US" dirty="0"/>
              <a:t> ≪ </a:t>
            </a:r>
            <a:r>
              <a:rPr lang="en-US" dirty="0">
                <a:solidFill>
                  <a:srgbClr val="DD1144"/>
                </a:solidFill>
                <a:effectLst/>
              </a:rPr>
              <a:t>"null pointer"</a:t>
            </a:r>
            <a:r>
              <a:rPr lang="en-US" dirty="0"/>
              <a:t>;</a:t>
            </a:r>
          </a:p>
        </p:txBody>
      </p:sp>
    </p:spTree>
    <p:extLst>
      <p:ext uri="{BB962C8B-B14F-4D97-AF65-F5344CB8AC3E}">
        <p14:creationId xmlns:p14="http://schemas.microsoft.com/office/powerpoint/2010/main" val="55036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A6B11-0635-3135-BF70-87F015C5D0C0}"/>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D4E29D00-9280-14F3-8241-BE263CC982F7}"/>
              </a:ext>
            </a:extLst>
          </p:cNvPr>
          <p:cNvSpPr>
            <a:spLocks noGrp="1"/>
          </p:cNvSpPr>
          <p:nvPr>
            <p:ph idx="1"/>
          </p:nvPr>
        </p:nvSpPr>
        <p:spPr/>
        <p:txBody>
          <a:bodyPr>
            <a:normAutofit fontScale="92500"/>
          </a:bodyPr>
          <a:lstStyle/>
          <a:p>
            <a:r>
              <a:rPr lang="en-US" dirty="0">
                <a:effectLst/>
              </a:rPr>
              <a:t>A pointer can be used as a function parameter. It gives the function access to the original argument, much like a reference parameter does.</a:t>
            </a:r>
          </a:p>
          <a:p>
            <a:r>
              <a:rPr lang="en-US" dirty="0"/>
              <a:t>A reference variable acts as an alias to the original variable used as an argument. </a:t>
            </a:r>
          </a:p>
          <a:p>
            <a:r>
              <a:rPr lang="en-US" dirty="0"/>
              <a:t>This gives the function access to the original argument variable, allowing it to change the variable’s contents. </a:t>
            </a:r>
          </a:p>
          <a:p>
            <a:r>
              <a:rPr lang="en-US" dirty="0"/>
              <a:t>When a variable is passed into a reference parameter, the argument is said to be passed by reference.</a:t>
            </a:r>
            <a:endParaRPr lang="en-US" dirty="0">
              <a:effectLst/>
            </a:endParaRPr>
          </a:p>
          <a:p>
            <a:r>
              <a:rPr lang="en-US" b="1" dirty="0"/>
              <a:t>An alternative to passing an argument by reference is to use a pointer variable as the parameter. </a:t>
            </a:r>
            <a:endParaRPr lang="en-US" b="1" dirty="0">
              <a:effectLst/>
            </a:endParaRPr>
          </a:p>
          <a:p>
            <a:endParaRPr lang="en-US" dirty="0"/>
          </a:p>
        </p:txBody>
      </p:sp>
    </p:spTree>
    <p:extLst>
      <p:ext uri="{BB962C8B-B14F-4D97-AF65-F5344CB8AC3E}">
        <p14:creationId xmlns:p14="http://schemas.microsoft.com/office/powerpoint/2010/main" val="116992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AC425-8E89-B075-143C-636CD7BAD7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A5CBF-87E1-8264-C7C3-C42E0BF9C7A3}"/>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91BEA26B-6040-CD9A-06D2-E69A3B095645}"/>
              </a:ext>
            </a:extLst>
          </p:cNvPr>
          <p:cNvSpPr>
            <a:spLocks noGrp="1"/>
          </p:cNvSpPr>
          <p:nvPr>
            <p:ph idx="1"/>
          </p:nvPr>
        </p:nvSpPr>
        <p:spPr/>
        <p:txBody>
          <a:bodyPr>
            <a:normAutofit/>
          </a:bodyPr>
          <a:lstStyle/>
          <a:p>
            <a:r>
              <a:rPr lang="en-US" dirty="0"/>
              <a:t>Admittedly, reference variables are much easier to work with than pointers. Reference variables hide all the “mechanics” of dereferencing and indirection. </a:t>
            </a:r>
          </a:p>
          <a:p>
            <a:r>
              <a:rPr lang="en-US" dirty="0"/>
              <a:t>You should still learn to use pointers as function arguments, however, because some tasks requires it.</a:t>
            </a:r>
          </a:p>
          <a:p>
            <a:r>
              <a:rPr lang="en-US" dirty="0"/>
              <a:t>Also, the C++ library has many functions that use pointers as parameters.</a:t>
            </a:r>
          </a:p>
        </p:txBody>
      </p:sp>
    </p:spTree>
    <p:extLst>
      <p:ext uri="{BB962C8B-B14F-4D97-AF65-F5344CB8AC3E}">
        <p14:creationId xmlns:p14="http://schemas.microsoft.com/office/powerpoint/2010/main" val="3164655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0720D-3815-02CB-C60F-84DC35877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9020-5F1A-27DF-E3EE-33C33C53A3E1}"/>
              </a:ext>
            </a:extLst>
          </p:cNvPr>
          <p:cNvSpPr>
            <a:spLocks noGrp="1"/>
          </p:cNvSpPr>
          <p:nvPr>
            <p:ph type="title"/>
          </p:nvPr>
        </p:nvSpPr>
        <p:spPr/>
        <p:txBody>
          <a:bodyPr/>
          <a:lstStyle/>
          <a:p>
            <a:r>
              <a:rPr lang="en-US" dirty="0"/>
              <a:t>Pointers as Function Parameters</a:t>
            </a:r>
          </a:p>
        </p:txBody>
      </p:sp>
      <p:sp>
        <p:nvSpPr>
          <p:cNvPr id="3" name="Content Placeholder 2">
            <a:extLst>
              <a:ext uri="{FF2B5EF4-FFF2-40B4-BE49-F238E27FC236}">
                <a16:creationId xmlns:a16="http://schemas.microsoft.com/office/drawing/2014/main" id="{AB6D8782-6E04-705B-3A7B-5C54E4A0F76A}"/>
              </a:ext>
            </a:extLst>
          </p:cNvPr>
          <p:cNvSpPr>
            <a:spLocks noGrp="1"/>
          </p:cNvSpPr>
          <p:nvPr>
            <p:ph idx="1"/>
          </p:nvPr>
        </p:nvSpPr>
        <p:spPr/>
        <p:txBody>
          <a:bodyPr>
            <a:normAutofit/>
          </a:bodyPr>
          <a:lstStyle/>
          <a:p>
            <a:pPr marL="0" indent="0">
              <a:buNone/>
            </a:pPr>
            <a:endParaRPr lang="en-US" dirty="0"/>
          </a:p>
          <a:p>
            <a:pPr marL="0" indent="0">
              <a:buNone/>
            </a:pPr>
            <a:endParaRPr lang="en-US" dirty="0"/>
          </a:p>
          <a:p>
            <a:pPr marL="0" indent="0">
              <a:buNone/>
            </a:pPr>
            <a:endParaRPr lang="en-US" dirty="0"/>
          </a:p>
          <a:p>
            <a:r>
              <a:rPr lang="en-US" dirty="0"/>
              <a:t>This statement multiplies the original variable, whose address is stored in </a:t>
            </a:r>
            <a:r>
              <a:rPr lang="en-US" dirty="0" err="1"/>
              <a:t>val</a:t>
            </a:r>
            <a:r>
              <a:rPr lang="en-US" dirty="0"/>
              <a:t>, by two. </a:t>
            </a:r>
          </a:p>
          <a:p>
            <a:r>
              <a:rPr lang="en-US" dirty="0"/>
              <a:t>When the function is called, the address of the variable that is to be doubled must be used as the argument, not the variable itself. such as </a:t>
            </a:r>
            <a:r>
              <a:rPr lang="en-US" b="1" i="1" dirty="0" err="1">
                <a:solidFill>
                  <a:srgbClr val="FF0000"/>
                </a:solidFill>
                <a:effectLst/>
              </a:rPr>
              <a:t>doubleValue</a:t>
            </a:r>
            <a:r>
              <a:rPr lang="en-US" b="1" i="1" dirty="0">
                <a:solidFill>
                  <a:srgbClr val="FF0000"/>
                </a:solidFill>
              </a:rPr>
              <a:t>(&amp;number); </a:t>
            </a:r>
          </a:p>
        </p:txBody>
      </p:sp>
      <p:pic>
        <p:nvPicPr>
          <p:cNvPr id="7" name="Picture 6">
            <a:extLst>
              <a:ext uri="{FF2B5EF4-FFF2-40B4-BE49-F238E27FC236}">
                <a16:creationId xmlns:a16="http://schemas.microsoft.com/office/drawing/2014/main" id="{8847DD04-F6DF-1A06-6FDD-B7F2EF3CDF7F}"/>
              </a:ext>
            </a:extLst>
          </p:cNvPr>
          <p:cNvPicPr>
            <a:picLocks noChangeAspect="1"/>
          </p:cNvPicPr>
          <p:nvPr/>
        </p:nvPicPr>
        <p:blipFill>
          <a:blip r:embed="rId2"/>
          <a:stretch>
            <a:fillRect/>
          </a:stretch>
        </p:blipFill>
        <p:spPr>
          <a:xfrm>
            <a:off x="4311170" y="1614576"/>
            <a:ext cx="2931305" cy="1352910"/>
          </a:xfrm>
          <a:prstGeom prst="rect">
            <a:avLst/>
          </a:prstGeom>
        </p:spPr>
      </p:pic>
    </p:spTree>
    <p:extLst>
      <p:ext uri="{BB962C8B-B14F-4D97-AF65-F5344CB8AC3E}">
        <p14:creationId xmlns:p14="http://schemas.microsoft.com/office/powerpoint/2010/main" val="1630154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7D861-841A-C7B3-4107-81A05BF987DA}"/>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EC0DA48B-D471-5151-CB0C-F593C2FFA834}"/>
              </a:ext>
            </a:extLst>
          </p:cNvPr>
          <p:cNvPicPr>
            <a:picLocks noChangeAspect="1"/>
          </p:cNvPicPr>
          <p:nvPr/>
        </p:nvPicPr>
        <p:blipFill>
          <a:blip r:embed="rId2"/>
          <a:stretch>
            <a:fillRect/>
          </a:stretch>
        </p:blipFill>
        <p:spPr>
          <a:xfrm>
            <a:off x="7223904" y="9638"/>
            <a:ext cx="3274443" cy="6800766"/>
          </a:xfrm>
          <a:prstGeom prst="rect">
            <a:avLst/>
          </a:prstGeom>
        </p:spPr>
      </p:pic>
      <p:pic>
        <p:nvPicPr>
          <p:cNvPr id="5" name="Picture 4">
            <a:extLst>
              <a:ext uri="{FF2B5EF4-FFF2-40B4-BE49-F238E27FC236}">
                <a16:creationId xmlns:a16="http://schemas.microsoft.com/office/drawing/2014/main" id="{AF49D6E0-A21A-77F3-C431-2086B3556B81}"/>
              </a:ext>
            </a:extLst>
          </p:cNvPr>
          <p:cNvPicPr>
            <a:picLocks noChangeAspect="1"/>
          </p:cNvPicPr>
          <p:nvPr/>
        </p:nvPicPr>
        <p:blipFill>
          <a:blip r:embed="rId3"/>
          <a:stretch>
            <a:fillRect/>
          </a:stretch>
        </p:blipFill>
        <p:spPr>
          <a:xfrm>
            <a:off x="2445064" y="2469864"/>
            <a:ext cx="4166055" cy="1325563"/>
          </a:xfrm>
          <a:prstGeom prst="rect">
            <a:avLst/>
          </a:prstGeom>
        </p:spPr>
      </p:pic>
      <p:sp>
        <p:nvSpPr>
          <p:cNvPr id="6" name="TextBox 5">
            <a:extLst>
              <a:ext uri="{FF2B5EF4-FFF2-40B4-BE49-F238E27FC236}">
                <a16:creationId xmlns:a16="http://schemas.microsoft.com/office/drawing/2014/main" id="{F84B8241-AFD5-36C0-820D-218A9D16F8E9}"/>
              </a:ext>
            </a:extLst>
          </p:cNvPr>
          <p:cNvSpPr txBox="1"/>
          <p:nvPr/>
        </p:nvSpPr>
        <p:spPr>
          <a:xfrm>
            <a:off x="408726" y="4449368"/>
            <a:ext cx="652691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It’s critical that the indirection operator be used in the (</a:t>
            </a:r>
            <a:r>
              <a:rPr lang="en-US" dirty="0" err="1"/>
              <a:t>cin</a:t>
            </a:r>
            <a:r>
              <a:rPr lang="en-US" dirty="0"/>
              <a:t> &gt;&gt; *input) statement. </a:t>
            </a:r>
          </a:p>
          <a:p>
            <a:pPr marL="285750" indent="-285750">
              <a:buFont typeface="Arial" panose="020B0604020202020204" pitchFamily="34" charset="0"/>
              <a:buChar char="•"/>
            </a:pPr>
            <a:r>
              <a:rPr lang="en-US" dirty="0"/>
              <a:t>Without it, </a:t>
            </a:r>
            <a:r>
              <a:rPr lang="en-US" dirty="0" err="1"/>
              <a:t>cin</a:t>
            </a:r>
            <a:r>
              <a:rPr lang="en-US" dirty="0"/>
              <a:t> would store the value entered by the user in input, as if the value were an address. </a:t>
            </a:r>
          </a:p>
          <a:p>
            <a:pPr marL="285750" indent="-285750">
              <a:buFont typeface="Arial" panose="020B0604020202020204" pitchFamily="34" charset="0"/>
              <a:buChar char="•"/>
            </a:pPr>
            <a:r>
              <a:rPr lang="en-US" dirty="0"/>
              <a:t>If this happens, input will no longer point to the number variable in function main. Subsequent use of the pointer will result in erroneous, if not disastrous, results.</a:t>
            </a:r>
          </a:p>
        </p:txBody>
      </p:sp>
    </p:spTree>
    <p:extLst>
      <p:ext uri="{BB962C8B-B14F-4D97-AF65-F5344CB8AC3E}">
        <p14:creationId xmlns:p14="http://schemas.microsoft.com/office/powerpoint/2010/main" val="348346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ABCBA-8772-4780-43DD-7A85D6CBB517}"/>
              </a:ext>
            </a:extLst>
          </p:cNvPr>
          <p:cNvSpPr>
            <a:spLocks noGrp="1"/>
          </p:cNvSpPr>
          <p:nvPr>
            <p:ph type="title"/>
          </p:nvPr>
        </p:nvSpPr>
        <p:spPr/>
        <p:txBody>
          <a:bodyPr/>
          <a:lstStyle/>
          <a:p>
            <a:r>
              <a:rPr lang="en-US" dirty="0"/>
              <a:t>Pointers to Constants and Constant Pointers</a:t>
            </a:r>
          </a:p>
        </p:txBody>
      </p:sp>
      <p:sp>
        <p:nvSpPr>
          <p:cNvPr id="3" name="Content Placeholder 2">
            <a:extLst>
              <a:ext uri="{FF2B5EF4-FFF2-40B4-BE49-F238E27FC236}">
                <a16:creationId xmlns:a16="http://schemas.microsoft.com/office/drawing/2014/main" id="{74936D86-C873-19CA-CE67-0E6D40EFAFC6}"/>
              </a:ext>
            </a:extLst>
          </p:cNvPr>
          <p:cNvSpPr>
            <a:spLocks noGrp="1"/>
          </p:cNvSpPr>
          <p:nvPr>
            <p:ph idx="1"/>
          </p:nvPr>
        </p:nvSpPr>
        <p:spPr/>
        <p:txBody>
          <a:bodyPr/>
          <a:lstStyle/>
          <a:p>
            <a:r>
              <a:rPr lang="en-US" dirty="0"/>
              <a:t>A pointer to a constant may not be used to change the value it points to; </a:t>
            </a:r>
          </a:p>
          <a:p>
            <a:r>
              <a:rPr lang="en-US" dirty="0"/>
              <a:t>A constant pointer may not be changed after it has been initialized.</a:t>
            </a:r>
          </a:p>
        </p:txBody>
      </p:sp>
    </p:spTree>
    <p:extLst>
      <p:ext uri="{BB962C8B-B14F-4D97-AF65-F5344CB8AC3E}">
        <p14:creationId xmlns:p14="http://schemas.microsoft.com/office/powerpoint/2010/main" val="2240937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4F69C-085F-0522-2CD4-853158CCCDFC}"/>
              </a:ext>
            </a:extLst>
          </p:cNvPr>
          <p:cNvSpPr>
            <a:spLocks noGrp="1"/>
          </p:cNvSpPr>
          <p:nvPr>
            <p:ph type="title"/>
          </p:nvPr>
        </p:nvSpPr>
        <p:spPr/>
        <p:txBody>
          <a:bodyPr/>
          <a:lstStyle/>
          <a:p>
            <a:r>
              <a:rPr lang="en-US" dirty="0"/>
              <a:t>Pointers to Constants</a:t>
            </a:r>
          </a:p>
        </p:txBody>
      </p:sp>
      <p:sp>
        <p:nvSpPr>
          <p:cNvPr id="3" name="Content Placeholder 2">
            <a:extLst>
              <a:ext uri="{FF2B5EF4-FFF2-40B4-BE49-F238E27FC236}">
                <a16:creationId xmlns:a16="http://schemas.microsoft.com/office/drawing/2014/main" id="{AE07A27B-E70D-2DE3-D3C2-51407955BE84}"/>
              </a:ext>
            </a:extLst>
          </p:cNvPr>
          <p:cNvSpPr>
            <a:spLocks noGrp="1"/>
          </p:cNvSpPr>
          <p:nvPr>
            <p:ph idx="1"/>
          </p:nvPr>
        </p:nvSpPr>
        <p:spPr/>
        <p:txBody>
          <a:bodyPr/>
          <a:lstStyle/>
          <a:p>
            <a:r>
              <a:rPr lang="en-US" dirty="0"/>
              <a:t>You have seen how an item’s address can be passed into a pointer parameter, and the pointer can be used to modify the item that was passed as an argument. </a:t>
            </a:r>
          </a:p>
          <a:p>
            <a:r>
              <a:rPr lang="en-US" dirty="0"/>
              <a:t>Sometimes it is necessary to pass the address of a const item into a pointer. When this is the case, the pointer must be defined as a pointer to a const item. </a:t>
            </a:r>
          </a:p>
        </p:txBody>
      </p:sp>
    </p:spTree>
    <p:extLst>
      <p:ext uri="{BB962C8B-B14F-4D97-AF65-F5344CB8AC3E}">
        <p14:creationId xmlns:p14="http://schemas.microsoft.com/office/powerpoint/2010/main" val="22026869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8CA3-2DDE-4EFC-EBC0-57AD0B1B1F15}"/>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EB43D846-CA1B-FA21-9360-E9E72F77746E}"/>
              </a:ext>
            </a:extLst>
          </p:cNvPr>
          <p:cNvSpPr>
            <a:spLocks noGrp="1"/>
          </p:cNvSpPr>
          <p:nvPr>
            <p:ph idx="1"/>
          </p:nvPr>
        </p:nvSpPr>
        <p:spPr>
          <a:xfrm>
            <a:off x="5244860" y="471277"/>
            <a:ext cx="6823495" cy="6231448"/>
          </a:xfrm>
        </p:spPr>
        <p:txBody>
          <a:bodyPr>
            <a:normAutofit/>
          </a:bodyPr>
          <a:lstStyle/>
          <a:p>
            <a:pPr algn="just"/>
            <a:r>
              <a:rPr lang="en-US" sz="2200" dirty="0"/>
              <a:t>In this code, </a:t>
            </a:r>
            <a:r>
              <a:rPr lang="en-US" sz="2200" dirty="0" err="1"/>
              <a:t>payRates</a:t>
            </a:r>
            <a:r>
              <a:rPr lang="en-US" sz="2200" dirty="0"/>
              <a:t> is an array of const doubles. </a:t>
            </a:r>
          </a:p>
          <a:p>
            <a:pPr algn="just"/>
            <a:r>
              <a:rPr lang="en-US" sz="2200" dirty="0"/>
              <a:t>This means that each element in the array is a const double, and the compiler will not allow us to write code that changes the array’s contents. </a:t>
            </a:r>
          </a:p>
          <a:p>
            <a:pPr algn="just"/>
            <a:r>
              <a:rPr lang="en-US" sz="2200" dirty="0"/>
              <a:t>If we want to pass the </a:t>
            </a:r>
            <a:r>
              <a:rPr lang="en-US" sz="2200" dirty="0" err="1"/>
              <a:t>payRates</a:t>
            </a:r>
            <a:r>
              <a:rPr lang="en-US" sz="2200" dirty="0"/>
              <a:t> array into a pointer parameter, the parameter must be declared as a pointer to const double. </a:t>
            </a:r>
          </a:p>
          <a:p>
            <a:pPr algn="just"/>
            <a:r>
              <a:rPr lang="en-US" sz="2200" dirty="0"/>
              <a:t>In the function header, notice that the rates parameter is defined as a pointer to const double. It should be noted that the word const is applied to the thing that rates points to, not rates itself.</a:t>
            </a:r>
          </a:p>
          <a:p>
            <a:pPr algn="just"/>
            <a:r>
              <a:rPr lang="en-US" sz="2200" dirty="0"/>
              <a:t>Because rates is a pointer to a const, the compiler will not allow us to write code that changes the thing that rates points to.</a:t>
            </a:r>
          </a:p>
          <a:p>
            <a:pPr algn="just"/>
            <a:r>
              <a:rPr lang="en-US" sz="2200" dirty="0"/>
              <a:t>Because rates is a pointer to a const, the compiler will not allow us to write code that changes the thing that rates points to.</a:t>
            </a:r>
          </a:p>
        </p:txBody>
      </p:sp>
      <p:pic>
        <p:nvPicPr>
          <p:cNvPr id="4" name="Picture 3">
            <a:extLst>
              <a:ext uri="{FF2B5EF4-FFF2-40B4-BE49-F238E27FC236}">
                <a16:creationId xmlns:a16="http://schemas.microsoft.com/office/drawing/2014/main" id="{19D359AF-33F3-A715-49BE-DE95396370D0}"/>
              </a:ext>
            </a:extLst>
          </p:cNvPr>
          <p:cNvPicPr>
            <a:picLocks noChangeAspect="1"/>
          </p:cNvPicPr>
          <p:nvPr/>
        </p:nvPicPr>
        <p:blipFill>
          <a:blip r:embed="rId2"/>
          <a:stretch>
            <a:fillRect/>
          </a:stretch>
        </p:blipFill>
        <p:spPr>
          <a:xfrm>
            <a:off x="838200" y="1690688"/>
            <a:ext cx="3708034" cy="931862"/>
          </a:xfrm>
          <a:prstGeom prst="rect">
            <a:avLst/>
          </a:prstGeom>
        </p:spPr>
      </p:pic>
      <p:pic>
        <p:nvPicPr>
          <p:cNvPr id="5" name="Picture 4">
            <a:extLst>
              <a:ext uri="{FF2B5EF4-FFF2-40B4-BE49-F238E27FC236}">
                <a16:creationId xmlns:a16="http://schemas.microsoft.com/office/drawing/2014/main" id="{1662BFE5-5584-3AFE-846F-DD1452D48ED4}"/>
              </a:ext>
            </a:extLst>
          </p:cNvPr>
          <p:cNvPicPr>
            <a:picLocks noChangeAspect="1"/>
          </p:cNvPicPr>
          <p:nvPr/>
        </p:nvPicPr>
        <p:blipFill>
          <a:blip r:embed="rId3"/>
          <a:stretch>
            <a:fillRect/>
          </a:stretch>
        </p:blipFill>
        <p:spPr>
          <a:xfrm>
            <a:off x="831235" y="2622550"/>
            <a:ext cx="3714999" cy="2225495"/>
          </a:xfrm>
          <a:prstGeom prst="rect">
            <a:avLst/>
          </a:prstGeom>
        </p:spPr>
      </p:pic>
      <p:pic>
        <p:nvPicPr>
          <p:cNvPr id="6" name="Picture 5">
            <a:extLst>
              <a:ext uri="{FF2B5EF4-FFF2-40B4-BE49-F238E27FC236}">
                <a16:creationId xmlns:a16="http://schemas.microsoft.com/office/drawing/2014/main" id="{88560F69-4A44-0B8E-4D20-721313DB124E}"/>
              </a:ext>
            </a:extLst>
          </p:cNvPr>
          <p:cNvPicPr>
            <a:picLocks noChangeAspect="1"/>
          </p:cNvPicPr>
          <p:nvPr/>
        </p:nvPicPr>
        <p:blipFill>
          <a:blip r:embed="rId4"/>
          <a:stretch>
            <a:fillRect/>
          </a:stretch>
        </p:blipFill>
        <p:spPr>
          <a:xfrm>
            <a:off x="1040442" y="5167312"/>
            <a:ext cx="3212240" cy="1227318"/>
          </a:xfrm>
          <a:prstGeom prst="rect">
            <a:avLst/>
          </a:prstGeom>
        </p:spPr>
      </p:pic>
    </p:spTree>
    <p:extLst>
      <p:ext uri="{BB962C8B-B14F-4D97-AF65-F5344CB8AC3E}">
        <p14:creationId xmlns:p14="http://schemas.microsoft.com/office/powerpoint/2010/main" val="3577617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5E956-CC5D-9309-3933-F93C74EFE372}"/>
              </a:ext>
            </a:extLst>
          </p:cNvPr>
          <p:cNvSpPr>
            <a:spLocks noGrp="1"/>
          </p:cNvSpPr>
          <p:nvPr>
            <p:ph type="title"/>
          </p:nvPr>
        </p:nvSpPr>
        <p:spPr>
          <a:xfrm>
            <a:off x="838200" y="365125"/>
            <a:ext cx="7020464" cy="1325563"/>
          </a:xfrm>
        </p:spPr>
        <p:txBody>
          <a:bodyPr>
            <a:normAutofit/>
          </a:bodyPr>
          <a:lstStyle/>
          <a:p>
            <a:r>
              <a:rPr lang="en-US" sz="3500" dirty="0"/>
              <a:t>Passing a Non-Constant Argument into a Pointer to a Constant</a:t>
            </a:r>
          </a:p>
        </p:txBody>
      </p:sp>
      <p:sp>
        <p:nvSpPr>
          <p:cNvPr id="3" name="Content Placeholder 2">
            <a:extLst>
              <a:ext uri="{FF2B5EF4-FFF2-40B4-BE49-F238E27FC236}">
                <a16:creationId xmlns:a16="http://schemas.microsoft.com/office/drawing/2014/main" id="{30FD30A0-35F7-3C92-8982-690885C17222}"/>
              </a:ext>
            </a:extLst>
          </p:cNvPr>
          <p:cNvSpPr>
            <a:spLocks noGrp="1"/>
          </p:cNvSpPr>
          <p:nvPr>
            <p:ph idx="1"/>
          </p:nvPr>
        </p:nvSpPr>
        <p:spPr>
          <a:xfrm>
            <a:off x="633323" y="3614468"/>
            <a:ext cx="7020464" cy="3174520"/>
          </a:xfrm>
        </p:spPr>
        <p:txBody>
          <a:bodyPr>
            <a:normAutofit fontScale="77500" lnSpcReduction="20000"/>
          </a:bodyPr>
          <a:lstStyle/>
          <a:p>
            <a:r>
              <a:rPr lang="en-US" dirty="0"/>
              <a:t>Although a constant’s address can be passed only to a pointer to const, a pointer to const can also receive the address of a non-constant item. </a:t>
            </a:r>
          </a:p>
          <a:p>
            <a:r>
              <a:rPr lang="en-US" dirty="0"/>
              <a:t>When writing a function that uses a pointer parameter, and the function is not intended to change the data the parameter points to, it is always a good idea to make the parameter a pointer to const. </a:t>
            </a:r>
          </a:p>
          <a:p>
            <a:r>
              <a:rPr lang="en-US" dirty="0"/>
              <a:t>Not only will this protect you from writing code in the function that accidentally changes the argument, but the function will be able to accept the addresses of both constant and non-constant arguments.</a:t>
            </a:r>
          </a:p>
        </p:txBody>
      </p:sp>
      <p:pic>
        <p:nvPicPr>
          <p:cNvPr id="4" name="Picture 3">
            <a:extLst>
              <a:ext uri="{FF2B5EF4-FFF2-40B4-BE49-F238E27FC236}">
                <a16:creationId xmlns:a16="http://schemas.microsoft.com/office/drawing/2014/main" id="{CCF68148-0275-FBE3-AB9E-43C1952095E9}"/>
              </a:ext>
            </a:extLst>
          </p:cNvPr>
          <p:cNvPicPr>
            <a:picLocks noChangeAspect="1"/>
          </p:cNvPicPr>
          <p:nvPr/>
        </p:nvPicPr>
        <p:blipFill>
          <a:blip r:embed="rId2"/>
          <a:stretch>
            <a:fillRect/>
          </a:stretch>
        </p:blipFill>
        <p:spPr>
          <a:xfrm>
            <a:off x="8048445" y="0"/>
            <a:ext cx="3952456" cy="6887112"/>
          </a:xfrm>
          <a:prstGeom prst="rect">
            <a:avLst/>
          </a:prstGeom>
        </p:spPr>
      </p:pic>
      <p:pic>
        <p:nvPicPr>
          <p:cNvPr id="5" name="Picture 4">
            <a:extLst>
              <a:ext uri="{FF2B5EF4-FFF2-40B4-BE49-F238E27FC236}">
                <a16:creationId xmlns:a16="http://schemas.microsoft.com/office/drawing/2014/main" id="{F89C72C9-97CA-A497-B923-E4209BA9140B}"/>
              </a:ext>
            </a:extLst>
          </p:cNvPr>
          <p:cNvPicPr>
            <a:picLocks noChangeAspect="1"/>
          </p:cNvPicPr>
          <p:nvPr/>
        </p:nvPicPr>
        <p:blipFill>
          <a:blip r:embed="rId3"/>
          <a:stretch>
            <a:fillRect/>
          </a:stretch>
        </p:blipFill>
        <p:spPr>
          <a:xfrm>
            <a:off x="1860252" y="1807235"/>
            <a:ext cx="4566607" cy="1358660"/>
          </a:xfrm>
          <a:prstGeom prst="rect">
            <a:avLst/>
          </a:prstGeom>
        </p:spPr>
      </p:pic>
    </p:spTree>
    <p:extLst>
      <p:ext uri="{BB962C8B-B14F-4D97-AF65-F5344CB8AC3E}">
        <p14:creationId xmlns:p14="http://schemas.microsoft.com/office/powerpoint/2010/main" val="1257827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195CC-3567-528E-2A80-B802C90F7844}"/>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212E6CF0-6DD7-D609-B86B-F21ED2C37350}"/>
              </a:ext>
            </a:extLst>
          </p:cNvPr>
          <p:cNvSpPr>
            <a:spLocks noGrp="1"/>
          </p:cNvSpPr>
          <p:nvPr>
            <p:ph idx="1"/>
          </p:nvPr>
        </p:nvSpPr>
        <p:spPr/>
        <p:txBody>
          <a:bodyPr/>
          <a:lstStyle/>
          <a:p>
            <a:pPr algn="l"/>
            <a:r>
              <a:rPr lang="en-US" dirty="0"/>
              <a:t>W</a:t>
            </a:r>
            <a:r>
              <a:rPr lang="en-US" dirty="0">
                <a:effectLst/>
              </a:rPr>
              <a:t>e discussed pointers to const, that is, pointers that point to const data. You can also use the const key word to define a constant pointer. Here is the difference between a pointer to const and a const pointer:</a:t>
            </a:r>
          </a:p>
          <a:p>
            <a:pPr lvl="1"/>
            <a:r>
              <a:rPr lang="en-US" dirty="0"/>
              <a:t>A pointer to const points to a constant item. The data that the pointer points to cannot change, but the pointer itself can change.</a:t>
            </a:r>
          </a:p>
          <a:p>
            <a:pPr lvl="1"/>
            <a:r>
              <a:rPr lang="en-US" dirty="0"/>
              <a:t>With a const pointer, it is the pointer itself that is constant. Once the pointer is initialized with an address, it cannot point to anything else.</a:t>
            </a:r>
          </a:p>
          <a:p>
            <a:endParaRPr lang="en-US" dirty="0"/>
          </a:p>
        </p:txBody>
      </p:sp>
    </p:spTree>
    <p:extLst>
      <p:ext uri="{BB962C8B-B14F-4D97-AF65-F5344CB8AC3E}">
        <p14:creationId xmlns:p14="http://schemas.microsoft.com/office/powerpoint/2010/main" val="1133502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F7C0-A5B8-899C-BC1F-ECED76329345}"/>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6C0191C9-4702-A691-8909-EF05D319C309}"/>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In the code, </a:t>
            </a:r>
            <a:r>
              <a:rPr lang="en-US" dirty="0" err="1"/>
              <a:t>ptr</a:t>
            </a:r>
            <a:r>
              <a:rPr lang="en-US" dirty="0"/>
              <a:t> is initialized with the address of the value variable. Because </a:t>
            </a:r>
            <a:r>
              <a:rPr lang="en-US" dirty="0" err="1"/>
              <a:t>ptr</a:t>
            </a:r>
            <a:r>
              <a:rPr lang="en-US" dirty="0"/>
              <a:t> is a constant pointer, a compiler error will result if we write code that makes </a:t>
            </a:r>
            <a:r>
              <a:rPr lang="en-US" dirty="0" err="1"/>
              <a:t>ptr</a:t>
            </a:r>
            <a:r>
              <a:rPr lang="en-US" dirty="0"/>
              <a:t> point to anything else. An error will not result, however, if we use </a:t>
            </a:r>
            <a:r>
              <a:rPr lang="en-US" dirty="0" err="1"/>
              <a:t>ptr</a:t>
            </a:r>
            <a:r>
              <a:rPr lang="en-US" dirty="0"/>
              <a:t> to change the contents of value. This is because value is not constant, and </a:t>
            </a:r>
            <a:r>
              <a:rPr lang="en-US" dirty="0" err="1"/>
              <a:t>ptr</a:t>
            </a:r>
            <a:r>
              <a:rPr lang="en-US" dirty="0"/>
              <a:t> is not a pointer to const.</a:t>
            </a:r>
          </a:p>
        </p:txBody>
      </p:sp>
      <p:pic>
        <p:nvPicPr>
          <p:cNvPr id="4" name="Picture 3">
            <a:extLst>
              <a:ext uri="{FF2B5EF4-FFF2-40B4-BE49-F238E27FC236}">
                <a16:creationId xmlns:a16="http://schemas.microsoft.com/office/drawing/2014/main" id="{B899C5E2-475C-7F52-00DC-DD93D5143940}"/>
              </a:ext>
            </a:extLst>
          </p:cNvPr>
          <p:cNvPicPr>
            <a:picLocks noChangeAspect="1"/>
          </p:cNvPicPr>
          <p:nvPr/>
        </p:nvPicPr>
        <p:blipFill>
          <a:blip r:embed="rId2"/>
          <a:stretch>
            <a:fillRect/>
          </a:stretch>
        </p:blipFill>
        <p:spPr>
          <a:xfrm>
            <a:off x="1873763" y="2150704"/>
            <a:ext cx="2768289" cy="1024267"/>
          </a:xfrm>
          <a:prstGeom prst="rect">
            <a:avLst/>
          </a:prstGeom>
        </p:spPr>
      </p:pic>
      <p:pic>
        <p:nvPicPr>
          <p:cNvPr id="5" name="Picture 4">
            <a:extLst>
              <a:ext uri="{FF2B5EF4-FFF2-40B4-BE49-F238E27FC236}">
                <a16:creationId xmlns:a16="http://schemas.microsoft.com/office/drawing/2014/main" id="{C9789147-A68C-7343-A91B-B6CEBAAA4397}"/>
              </a:ext>
            </a:extLst>
          </p:cNvPr>
          <p:cNvPicPr>
            <a:picLocks noChangeAspect="1"/>
          </p:cNvPicPr>
          <p:nvPr/>
        </p:nvPicPr>
        <p:blipFill>
          <a:blip r:embed="rId3"/>
          <a:srcRect t="2572" b="-1"/>
          <a:stretch/>
        </p:blipFill>
        <p:spPr>
          <a:xfrm>
            <a:off x="6694337" y="1864893"/>
            <a:ext cx="3308137" cy="1595887"/>
          </a:xfrm>
          <a:prstGeom prst="rect">
            <a:avLst/>
          </a:prstGeom>
        </p:spPr>
      </p:pic>
    </p:spTree>
    <p:extLst>
      <p:ext uri="{BB962C8B-B14F-4D97-AF65-F5344CB8AC3E}">
        <p14:creationId xmlns:p14="http://schemas.microsoft.com/office/powerpoint/2010/main" val="37170195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DC089-0ADA-D69F-24C0-D2DAAD3F6A90}"/>
              </a:ext>
            </a:extLst>
          </p:cNvPr>
          <p:cNvSpPr>
            <a:spLocks noGrp="1"/>
          </p:cNvSpPr>
          <p:nvPr>
            <p:ph type="title"/>
          </p:nvPr>
        </p:nvSpPr>
        <p:spPr/>
        <p:txBody>
          <a:bodyPr/>
          <a:lstStyle/>
          <a:p>
            <a:r>
              <a:rPr lang="en-US" dirty="0"/>
              <a:t>Constant Pointers</a:t>
            </a:r>
          </a:p>
        </p:txBody>
      </p:sp>
      <p:sp>
        <p:nvSpPr>
          <p:cNvPr id="3" name="Content Placeholder 2">
            <a:extLst>
              <a:ext uri="{FF2B5EF4-FFF2-40B4-BE49-F238E27FC236}">
                <a16:creationId xmlns:a16="http://schemas.microsoft.com/office/drawing/2014/main" id="{C5F7553D-96AF-47A2-97FE-BD629A6DFC5F}"/>
              </a:ext>
            </a:extLst>
          </p:cNvPr>
          <p:cNvSpPr>
            <a:spLocks noGrp="1"/>
          </p:cNvSpPr>
          <p:nvPr>
            <p:ph idx="1"/>
          </p:nvPr>
        </p:nvSpPr>
        <p:spPr/>
        <p:txBody>
          <a:bodyPr/>
          <a:lstStyle/>
          <a:p>
            <a:r>
              <a:rPr lang="en-US" dirty="0"/>
              <a:t>Constant pointers must be initialized with a starting value, as shown in the previous example code. </a:t>
            </a:r>
          </a:p>
          <a:p>
            <a:r>
              <a:rPr lang="en-US" dirty="0"/>
              <a:t>If a constant pointer is used as a function parameter, the parameter will be initialized with the address that is passed as an argument into it and cannot be changed to point to anything else while the function is executing. </a:t>
            </a:r>
          </a:p>
          <a:p>
            <a:endParaRPr lang="en-US" dirty="0"/>
          </a:p>
          <a:p>
            <a:r>
              <a:rPr lang="en-US" dirty="0"/>
              <a:t>However, </a:t>
            </a:r>
            <a:r>
              <a:rPr lang="en-US" dirty="0" err="1"/>
              <a:t>ptr</a:t>
            </a:r>
            <a:r>
              <a:rPr lang="en-US" dirty="0"/>
              <a:t> does not point to a const, so we can have code that changes the data that </a:t>
            </a:r>
            <a:r>
              <a:rPr lang="en-US" dirty="0" err="1"/>
              <a:t>ptr</a:t>
            </a:r>
            <a:r>
              <a:rPr lang="en-US" dirty="0"/>
              <a:t> points to.</a:t>
            </a:r>
          </a:p>
        </p:txBody>
      </p:sp>
      <p:pic>
        <p:nvPicPr>
          <p:cNvPr id="4" name="Picture 3">
            <a:extLst>
              <a:ext uri="{FF2B5EF4-FFF2-40B4-BE49-F238E27FC236}">
                <a16:creationId xmlns:a16="http://schemas.microsoft.com/office/drawing/2014/main" id="{DB4DC6FC-4062-999B-9CD8-2995D63BFABA}"/>
              </a:ext>
            </a:extLst>
          </p:cNvPr>
          <p:cNvPicPr>
            <a:picLocks noChangeAspect="1"/>
          </p:cNvPicPr>
          <p:nvPr/>
        </p:nvPicPr>
        <p:blipFill>
          <a:blip r:embed="rId2"/>
          <a:stretch>
            <a:fillRect/>
          </a:stretch>
        </p:blipFill>
        <p:spPr>
          <a:xfrm>
            <a:off x="6201314" y="3913756"/>
            <a:ext cx="4457805" cy="1046433"/>
          </a:xfrm>
          <a:prstGeom prst="rect">
            <a:avLst/>
          </a:prstGeom>
        </p:spPr>
      </p:pic>
      <p:pic>
        <p:nvPicPr>
          <p:cNvPr id="5" name="Picture 4">
            <a:extLst>
              <a:ext uri="{FF2B5EF4-FFF2-40B4-BE49-F238E27FC236}">
                <a16:creationId xmlns:a16="http://schemas.microsoft.com/office/drawing/2014/main" id="{8EDAE150-9BED-77BE-7296-BE42AF2447B7}"/>
              </a:ext>
            </a:extLst>
          </p:cNvPr>
          <p:cNvPicPr>
            <a:picLocks noChangeAspect="1"/>
          </p:cNvPicPr>
          <p:nvPr/>
        </p:nvPicPr>
        <p:blipFill>
          <a:blip r:embed="rId3"/>
          <a:stretch>
            <a:fillRect/>
          </a:stretch>
        </p:blipFill>
        <p:spPr>
          <a:xfrm>
            <a:off x="7288241" y="5446442"/>
            <a:ext cx="2832862" cy="1204524"/>
          </a:xfrm>
          <a:prstGeom prst="rect">
            <a:avLst/>
          </a:prstGeom>
        </p:spPr>
      </p:pic>
    </p:spTree>
    <p:extLst>
      <p:ext uri="{BB962C8B-B14F-4D97-AF65-F5344CB8AC3E}">
        <p14:creationId xmlns:p14="http://schemas.microsoft.com/office/powerpoint/2010/main" val="28848274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5F4BC-368C-A51C-633B-34BF2AB08131}"/>
              </a:ext>
            </a:extLst>
          </p:cNvPr>
          <p:cNvSpPr>
            <a:spLocks noGrp="1"/>
          </p:cNvSpPr>
          <p:nvPr>
            <p:ph type="title"/>
          </p:nvPr>
        </p:nvSpPr>
        <p:spPr/>
        <p:txBody>
          <a:bodyPr/>
          <a:lstStyle/>
          <a:p>
            <a:r>
              <a:rPr lang="en-US" dirty="0"/>
              <a:t>Constant Pointers to Constants</a:t>
            </a:r>
          </a:p>
        </p:txBody>
      </p:sp>
      <p:sp>
        <p:nvSpPr>
          <p:cNvPr id="3" name="Content Placeholder 2">
            <a:extLst>
              <a:ext uri="{FF2B5EF4-FFF2-40B4-BE49-F238E27FC236}">
                <a16:creationId xmlns:a16="http://schemas.microsoft.com/office/drawing/2014/main" id="{F1D78316-9B69-3070-FDBB-3EF5AE429DAA}"/>
              </a:ext>
            </a:extLst>
          </p:cNvPr>
          <p:cNvSpPr>
            <a:spLocks noGrp="1"/>
          </p:cNvSpPr>
          <p:nvPr>
            <p:ph idx="1"/>
          </p:nvPr>
        </p:nvSpPr>
        <p:spPr/>
        <p:txBody>
          <a:bodyPr/>
          <a:lstStyle/>
          <a:p>
            <a:r>
              <a:rPr lang="en-US" dirty="0"/>
              <a:t>So far, when using const with pointers we’ve seen pointers to constants and we’ve seen constant pointers. </a:t>
            </a:r>
          </a:p>
          <a:p>
            <a:r>
              <a:rPr lang="en-US" b="1" dirty="0"/>
              <a:t>We can also have constant pointers to constants.</a:t>
            </a:r>
          </a:p>
          <a:p>
            <a:r>
              <a:rPr lang="en-US" dirty="0"/>
              <a:t>In the code, </a:t>
            </a:r>
            <a:r>
              <a:rPr lang="en-US" dirty="0" err="1"/>
              <a:t>ptr</a:t>
            </a:r>
            <a:r>
              <a:rPr lang="en-US" dirty="0"/>
              <a:t> is initialized with the address of value. Because </a:t>
            </a:r>
            <a:r>
              <a:rPr lang="en-US" dirty="0" err="1"/>
              <a:t>ptr</a:t>
            </a:r>
            <a:r>
              <a:rPr lang="en-US" dirty="0"/>
              <a:t> is a const pointer, we cannot write code that makes </a:t>
            </a:r>
            <a:r>
              <a:rPr lang="en-US" dirty="0" err="1"/>
              <a:t>ptr</a:t>
            </a:r>
            <a:r>
              <a:rPr lang="en-US" dirty="0"/>
              <a:t> point to anything else. Because </a:t>
            </a:r>
            <a:r>
              <a:rPr lang="en-US" dirty="0" err="1"/>
              <a:t>ptr</a:t>
            </a:r>
            <a:r>
              <a:rPr lang="en-US" dirty="0"/>
              <a:t> is a pointer to const, we cannot use it to change the contents of value.</a:t>
            </a:r>
            <a:endParaRPr lang="en-US" b="1" dirty="0"/>
          </a:p>
        </p:txBody>
      </p:sp>
      <p:pic>
        <p:nvPicPr>
          <p:cNvPr id="4" name="Picture 3">
            <a:extLst>
              <a:ext uri="{FF2B5EF4-FFF2-40B4-BE49-F238E27FC236}">
                <a16:creationId xmlns:a16="http://schemas.microsoft.com/office/drawing/2014/main" id="{FC20EFD3-3651-85ED-A81F-69918B58EA69}"/>
              </a:ext>
            </a:extLst>
          </p:cNvPr>
          <p:cNvPicPr>
            <a:picLocks noChangeAspect="1"/>
          </p:cNvPicPr>
          <p:nvPr/>
        </p:nvPicPr>
        <p:blipFill>
          <a:blip r:embed="rId2"/>
          <a:stretch>
            <a:fillRect/>
          </a:stretch>
        </p:blipFill>
        <p:spPr>
          <a:xfrm>
            <a:off x="1265370" y="5219819"/>
            <a:ext cx="4149144" cy="879056"/>
          </a:xfrm>
          <a:prstGeom prst="rect">
            <a:avLst/>
          </a:prstGeom>
        </p:spPr>
      </p:pic>
      <p:pic>
        <p:nvPicPr>
          <p:cNvPr id="5" name="Picture 4">
            <a:extLst>
              <a:ext uri="{FF2B5EF4-FFF2-40B4-BE49-F238E27FC236}">
                <a16:creationId xmlns:a16="http://schemas.microsoft.com/office/drawing/2014/main" id="{FFBC0A64-5F44-6E9E-76F7-7CB354CA40CF}"/>
              </a:ext>
            </a:extLst>
          </p:cNvPr>
          <p:cNvPicPr>
            <a:picLocks noChangeAspect="1"/>
          </p:cNvPicPr>
          <p:nvPr/>
        </p:nvPicPr>
        <p:blipFill>
          <a:blip r:embed="rId3"/>
          <a:stretch>
            <a:fillRect/>
          </a:stretch>
        </p:blipFill>
        <p:spPr>
          <a:xfrm>
            <a:off x="6777487" y="4605846"/>
            <a:ext cx="4729192" cy="2036494"/>
          </a:xfrm>
          <a:prstGeom prst="rect">
            <a:avLst/>
          </a:prstGeom>
        </p:spPr>
      </p:pic>
    </p:spTree>
    <p:extLst>
      <p:ext uri="{BB962C8B-B14F-4D97-AF65-F5344CB8AC3E}">
        <p14:creationId xmlns:p14="http://schemas.microsoft.com/office/powerpoint/2010/main" val="1287800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4CE3-D9E5-1735-D466-914BFDB8ABF4}"/>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8EFA413F-5A6B-5A5D-103B-3BC50034CFE8}"/>
              </a:ext>
            </a:extLst>
          </p:cNvPr>
          <p:cNvSpPr>
            <a:spLocks noGrp="1"/>
          </p:cNvSpPr>
          <p:nvPr>
            <p:ph idx="1"/>
          </p:nvPr>
        </p:nvSpPr>
        <p:spPr/>
        <p:txBody>
          <a:bodyPr/>
          <a:lstStyle/>
          <a:p>
            <a:r>
              <a:rPr lang="en-US" dirty="0"/>
              <a:t>Variables may be created and destroyed while a program is running.</a:t>
            </a:r>
          </a:p>
          <a:p>
            <a:r>
              <a:rPr lang="en-US" dirty="0"/>
              <a:t>if you don’t know how many variables to define - we allow the program to create its own variables “on the fly.” </a:t>
            </a:r>
          </a:p>
          <a:p>
            <a:r>
              <a:rPr lang="en-US" dirty="0"/>
              <a:t>This is called </a:t>
            </a:r>
            <a:r>
              <a:rPr lang="en-US" b="1" dirty="0">
                <a:hlinkClick r:id="rId2">
                  <a:extLst>
                    <a:ext uri="{A12FA001-AC4F-418D-AE19-62706E023703}">
                      <ahyp:hlinkClr xmlns:ahyp="http://schemas.microsoft.com/office/drawing/2018/hyperlinkcolor" val="tx"/>
                    </a:ext>
                  </a:extLst>
                </a:hlinkClick>
              </a:rPr>
              <a:t>dynamic memory allocation</a:t>
            </a:r>
            <a:r>
              <a:rPr lang="en-US" dirty="0"/>
              <a:t> and is only possible through the use of pointers.</a:t>
            </a:r>
          </a:p>
        </p:txBody>
      </p:sp>
    </p:spTree>
    <p:extLst>
      <p:ext uri="{BB962C8B-B14F-4D97-AF65-F5344CB8AC3E}">
        <p14:creationId xmlns:p14="http://schemas.microsoft.com/office/powerpoint/2010/main" val="8573303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1B3F-55A5-331C-A082-8280752A2F7F}"/>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37A97ED8-8A12-D3F7-9FA1-C926CCD69254}"/>
              </a:ext>
            </a:extLst>
          </p:cNvPr>
          <p:cNvSpPr>
            <a:spLocks noGrp="1"/>
          </p:cNvSpPr>
          <p:nvPr>
            <p:ph idx="1"/>
          </p:nvPr>
        </p:nvSpPr>
        <p:spPr/>
        <p:txBody>
          <a:bodyPr>
            <a:normAutofit fontScale="92500"/>
          </a:bodyPr>
          <a:lstStyle/>
          <a:p>
            <a:r>
              <a:rPr lang="en-US" dirty="0"/>
              <a:t>To dynamically allocate memory means that a program, while running, asks the computer to set aside a chunk of unused memory large enough to hold a variable of a specific data type.</a:t>
            </a:r>
          </a:p>
          <a:p>
            <a:r>
              <a:rPr lang="en-US" dirty="0"/>
              <a:t>Let’s say a program needs to create an integer variable. It will make a request to the computer that it allocate enough bytes to store an int. </a:t>
            </a:r>
          </a:p>
          <a:p>
            <a:r>
              <a:rPr lang="en-US" dirty="0"/>
              <a:t>When the computer fills this request, it finds and sets aside a chunk of unused memory large enough for the variable. </a:t>
            </a:r>
          </a:p>
          <a:p>
            <a:r>
              <a:rPr lang="en-US" dirty="0"/>
              <a:t>It then gives the program the starting address of the chunk of memory. The program can only access the newly allocated memory through its address, so a pointer is required to use those bytes.</a:t>
            </a:r>
          </a:p>
        </p:txBody>
      </p:sp>
    </p:spTree>
    <p:extLst>
      <p:ext uri="{BB962C8B-B14F-4D97-AF65-F5344CB8AC3E}">
        <p14:creationId xmlns:p14="http://schemas.microsoft.com/office/powerpoint/2010/main" val="7071683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3AA21-2A20-E188-4F63-5191FA90D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7463B-AA31-1E3D-BB30-B00924BE40C4}"/>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D69142CA-EF00-75B5-2510-09FCD79B28A6}"/>
              </a:ext>
            </a:extLst>
          </p:cNvPr>
          <p:cNvSpPr>
            <a:spLocks noGrp="1"/>
          </p:cNvSpPr>
          <p:nvPr>
            <p:ph idx="1"/>
          </p:nvPr>
        </p:nvSpPr>
        <p:spPr/>
        <p:txBody>
          <a:bodyPr>
            <a:normAutofit/>
          </a:bodyPr>
          <a:lstStyle/>
          <a:p>
            <a:r>
              <a:rPr lang="en-US" dirty="0"/>
              <a:t>The way a C++ program requests dynamically allocated memory is through the new operator. Assume a program has a pointer to an int defined as </a:t>
            </a:r>
          </a:p>
          <a:p>
            <a:r>
              <a:rPr lang="en-US" b="1" i="1" dirty="0">
                <a:solidFill>
                  <a:srgbClr val="0070C0"/>
                </a:solidFill>
                <a:effectLst/>
              </a:rPr>
              <a:t>int</a:t>
            </a:r>
            <a:r>
              <a:rPr lang="en-US" b="1" i="1" dirty="0">
                <a:solidFill>
                  <a:srgbClr val="0070C0"/>
                </a:solidFill>
              </a:rPr>
              <a:t> *</a:t>
            </a:r>
            <a:r>
              <a:rPr lang="en-US" b="1" i="1" dirty="0" err="1">
                <a:solidFill>
                  <a:srgbClr val="0070C0"/>
                </a:solidFill>
              </a:rPr>
              <a:t>iptr</a:t>
            </a:r>
            <a:r>
              <a:rPr lang="en-US" b="1" i="1" dirty="0">
                <a:solidFill>
                  <a:srgbClr val="0070C0"/>
                </a:solidFill>
              </a:rPr>
              <a:t> = </a:t>
            </a:r>
            <a:r>
              <a:rPr lang="en-US" b="1" i="1" dirty="0" err="1">
                <a:solidFill>
                  <a:srgbClr val="0070C0"/>
                </a:solidFill>
                <a:effectLst/>
              </a:rPr>
              <a:t>nullptr</a:t>
            </a:r>
            <a:r>
              <a:rPr lang="en-US" b="1" i="1" dirty="0">
                <a:solidFill>
                  <a:srgbClr val="0070C0"/>
                </a:solidFill>
              </a:rPr>
              <a:t>;</a:t>
            </a:r>
          </a:p>
          <a:p>
            <a:r>
              <a:rPr lang="en-US" dirty="0"/>
              <a:t>You can use the new operator to dynamically allocate an integer variable and assign the address of the newly allocated variable to </a:t>
            </a:r>
            <a:r>
              <a:rPr lang="en-US" dirty="0" err="1"/>
              <a:t>iptr</a:t>
            </a:r>
            <a:r>
              <a:rPr lang="en-US" dirty="0"/>
              <a:t> like this:</a:t>
            </a:r>
            <a:endParaRPr lang="en-US" b="1" i="1" dirty="0">
              <a:solidFill>
                <a:srgbClr val="0070C0"/>
              </a:solidFill>
            </a:endParaRPr>
          </a:p>
          <a:p>
            <a:r>
              <a:rPr lang="en-US" b="1" i="1" dirty="0" err="1">
                <a:solidFill>
                  <a:srgbClr val="0070C0"/>
                </a:solidFill>
              </a:rPr>
              <a:t>iptr</a:t>
            </a:r>
            <a:r>
              <a:rPr lang="en-US" b="1" i="1" dirty="0">
                <a:solidFill>
                  <a:srgbClr val="0070C0"/>
                </a:solidFill>
              </a:rPr>
              <a:t> = </a:t>
            </a:r>
            <a:r>
              <a:rPr lang="en-US" b="1" i="1" dirty="0">
                <a:solidFill>
                  <a:srgbClr val="0070C0"/>
                </a:solidFill>
                <a:effectLst/>
              </a:rPr>
              <a:t>new</a:t>
            </a:r>
            <a:r>
              <a:rPr lang="en-US" b="1" i="1" dirty="0">
                <a:solidFill>
                  <a:srgbClr val="0070C0"/>
                </a:solidFill>
              </a:rPr>
              <a:t> </a:t>
            </a:r>
            <a:r>
              <a:rPr lang="en-US" b="1" i="1" dirty="0">
                <a:solidFill>
                  <a:srgbClr val="0070C0"/>
                </a:solidFill>
                <a:effectLst/>
              </a:rPr>
              <a:t>int</a:t>
            </a:r>
            <a:r>
              <a:rPr lang="en-US" b="1" i="1" dirty="0">
                <a:solidFill>
                  <a:srgbClr val="0070C0"/>
                </a:solidFill>
              </a:rPr>
              <a:t>;</a:t>
            </a:r>
          </a:p>
          <a:p>
            <a:endParaRPr lang="en-US" dirty="0"/>
          </a:p>
        </p:txBody>
      </p:sp>
    </p:spTree>
    <p:extLst>
      <p:ext uri="{BB962C8B-B14F-4D97-AF65-F5344CB8AC3E}">
        <p14:creationId xmlns:p14="http://schemas.microsoft.com/office/powerpoint/2010/main" val="36717123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B4B5-BFA0-26E3-1697-27174162AC1B}"/>
              </a:ext>
            </a:extLst>
          </p:cNvPr>
          <p:cNvSpPr>
            <a:spLocks noGrp="1"/>
          </p:cNvSpPr>
          <p:nvPr>
            <p:ph type="title"/>
          </p:nvPr>
        </p:nvSpPr>
        <p:spPr/>
        <p:txBody>
          <a:bodyPr/>
          <a:lstStyle/>
          <a:p>
            <a:r>
              <a:rPr lang="en-US" dirty="0"/>
              <a:t>Dynamic Memory Allocation</a:t>
            </a:r>
          </a:p>
        </p:txBody>
      </p:sp>
      <p:pic>
        <p:nvPicPr>
          <p:cNvPr id="4" name="Picture 3">
            <a:extLst>
              <a:ext uri="{FF2B5EF4-FFF2-40B4-BE49-F238E27FC236}">
                <a16:creationId xmlns:a16="http://schemas.microsoft.com/office/drawing/2014/main" id="{D17152F0-8CF4-4238-320C-65981667E8F2}"/>
              </a:ext>
            </a:extLst>
          </p:cNvPr>
          <p:cNvPicPr>
            <a:picLocks noChangeAspect="1"/>
          </p:cNvPicPr>
          <p:nvPr/>
        </p:nvPicPr>
        <p:blipFill>
          <a:blip r:embed="rId2"/>
          <a:stretch>
            <a:fillRect/>
          </a:stretch>
        </p:blipFill>
        <p:spPr>
          <a:xfrm>
            <a:off x="2653937" y="1562100"/>
            <a:ext cx="6654800" cy="3733800"/>
          </a:xfrm>
          <a:prstGeom prst="rect">
            <a:avLst/>
          </a:prstGeom>
        </p:spPr>
      </p:pic>
      <p:pic>
        <p:nvPicPr>
          <p:cNvPr id="5" name="Picture 4">
            <a:extLst>
              <a:ext uri="{FF2B5EF4-FFF2-40B4-BE49-F238E27FC236}">
                <a16:creationId xmlns:a16="http://schemas.microsoft.com/office/drawing/2014/main" id="{8627F14E-BA0E-F9F0-5B5F-3969EC4A311A}"/>
              </a:ext>
            </a:extLst>
          </p:cNvPr>
          <p:cNvPicPr>
            <a:picLocks noChangeAspect="1"/>
          </p:cNvPicPr>
          <p:nvPr/>
        </p:nvPicPr>
        <p:blipFill>
          <a:blip r:embed="rId3"/>
          <a:stretch>
            <a:fillRect/>
          </a:stretch>
        </p:blipFill>
        <p:spPr>
          <a:xfrm>
            <a:off x="3130550" y="5578475"/>
            <a:ext cx="5930900" cy="914400"/>
          </a:xfrm>
          <a:prstGeom prst="rect">
            <a:avLst/>
          </a:prstGeom>
        </p:spPr>
      </p:pic>
    </p:spTree>
    <p:extLst>
      <p:ext uri="{BB962C8B-B14F-4D97-AF65-F5344CB8AC3E}">
        <p14:creationId xmlns:p14="http://schemas.microsoft.com/office/powerpoint/2010/main" val="3747828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20B0D-39CB-C3CF-A230-25E7CF6E675F}"/>
              </a:ext>
            </a:extLst>
          </p:cNvPr>
          <p:cNvSpPr>
            <a:spLocks noGrp="1"/>
          </p:cNvSpPr>
          <p:nvPr>
            <p:ph type="title"/>
          </p:nvPr>
        </p:nvSpPr>
        <p:spPr/>
        <p:txBody>
          <a:bodyPr/>
          <a:lstStyle/>
          <a:p>
            <a:r>
              <a:rPr lang="en-US" dirty="0"/>
              <a:t>Stack and Heap</a:t>
            </a:r>
          </a:p>
        </p:txBody>
      </p:sp>
      <p:sp>
        <p:nvSpPr>
          <p:cNvPr id="3" name="Content Placeholder 2">
            <a:extLst>
              <a:ext uri="{FF2B5EF4-FFF2-40B4-BE49-F238E27FC236}">
                <a16:creationId xmlns:a16="http://schemas.microsoft.com/office/drawing/2014/main" id="{02A6FD2A-42C8-0910-DF7C-5F4D917A1A2E}"/>
              </a:ext>
            </a:extLst>
          </p:cNvPr>
          <p:cNvSpPr>
            <a:spLocks noGrp="1"/>
          </p:cNvSpPr>
          <p:nvPr>
            <p:ph idx="1"/>
          </p:nvPr>
        </p:nvSpPr>
        <p:spPr/>
        <p:txBody>
          <a:bodyPr/>
          <a:lstStyle/>
          <a:p>
            <a:r>
              <a:rPr lang="en-US" dirty="0"/>
              <a:t>In C++, memory is divided into different regions, primarily the </a:t>
            </a:r>
            <a:r>
              <a:rPr lang="en-US" b="1" dirty="0"/>
              <a:t>stack</a:t>
            </a:r>
            <a:r>
              <a:rPr lang="en-US" dirty="0"/>
              <a:t> and </a:t>
            </a:r>
            <a:r>
              <a:rPr lang="en-US" b="1" dirty="0"/>
              <a:t>heap</a:t>
            </a:r>
            <a:r>
              <a:rPr lang="en-US" dirty="0"/>
              <a:t>. Each serves a distinct purpose and has different characteristics regarding memory allocation, management, and lifetime.</a:t>
            </a:r>
            <a:endParaRPr lang="en-US" b="1" dirty="0">
              <a:solidFill>
                <a:srgbClr val="FF0000"/>
              </a:solidFill>
            </a:endParaRPr>
          </a:p>
          <a:p>
            <a:r>
              <a:rPr lang="en-US" dirty="0"/>
              <a:t>The stack is a region of memory that stores temporary variables created by each function (local variables). </a:t>
            </a:r>
          </a:p>
          <a:p>
            <a:r>
              <a:rPr lang="en-US" dirty="0"/>
              <a:t>The heap is a region of memory used for dynamic memory allocation. </a:t>
            </a:r>
          </a:p>
          <a:p>
            <a:r>
              <a:rPr lang="en-US" dirty="0"/>
              <a:t>Unlike the stack, memory on the heap can be allocated and deallocated at any time during the program's execution.</a:t>
            </a:r>
            <a:endParaRPr lang="en-US" b="1" dirty="0">
              <a:solidFill>
                <a:srgbClr val="FF0000"/>
              </a:solidFill>
            </a:endParaRPr>
          </a:p>
        </p:txBody>
      </p:sp>
    </p:spTree>
    <p:extLst>
      <p:ext uri="{BB962C8B-B14F-4D97-AF65-F5344CB8AC3E}">
        <p14:creationId xmlns:p14="http://schemas.microsoft.com/office/powerpoint/2010/main" val="31133101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A3DCE-13AA-97A2-3E9F-2629137A42FB}"/>
              </a:ext>
            </a:extLst>
          </p:cNvPr>
          <p:cNvSpPr>
            <a:spLocks noGrp="1"/>
          </p:cNvSpPr>
          <p:nvPr>
            <p:ph type="title"/>
          </p:nvPr>
        </p:nvSpPr>
        <p:spPr/>
        <p:txBody>
          <a:bodyPr/>
          <a:lstStyle/>
          <a:p>
            <a:r>
              <a:rPr lang="en-US" dirty="0"/>
              <a:t>Stack and Heap</a:t>
            </a:r>
          </a:p>
        </p:txBody>
      </p:sp>
      <p:sp>
        <p:nvSpPr>
          <p:cNvPr id="3" name="Content Placeholder 2">
            <a:extLst>
              <a:ext uri="{FF2B5EF4-FFF2-40B4-BE49-F238E27FC236}">
                <a16:creationId xmlns:a16="http://schemas.microsoft.com/office/drawing/2014/main" id="{7137BB5D-5494-347E-FEBC-8173358E3063}"/>
              </a:ext>
            </a:extLst>
          </p:cNvPr>
          <p:cNvSpPr>
            <a:spLocks noGrp="1"/>
          </p:cNvSpPr>
          <p:nvPr>
            <p:ph idx="1"/>
          </p:nvPr>
        </p:nvSpPr>
        <p:spPr/>
        <p:txBody>
          <a:bodyPr/>
          <a:lstStyle/>
          <a:p>
            <a:r>
              <a:rPr lang="en-US" dirty="0"/>
              <a:t>Memory allocation on the stack is done automatically when a function is called and deallocated when the function exits.</a:t>
            </a:r>
          </a:p>
          <a:p>
            <a:r>
              <a:rPr lang="en-US" dirty="0"/>
              <a:t>Local variables, function parameters, and return addresses are stored on the stack.</a:t>
            </a:r>
          </a:p>
          <a:p>
            <a:r>
              <a:rPr lang="en-US" dirty="0"/>
              <a:t>Variables stored in stack memory are only available within the scope of the function in which they are declared. Once the function exits, the memory is reclaimed automatically.</a:t>
            </a:r>
          </a:p>
          <a:p>
            <a:pPr marL="0" indent="0">
              <a:buNone/>
            </a:pPr>
            <a:endParaRPr lang="en-US" dirty="0"/>
          </a:p>
        </p:txBody>
      </p:sp>
    </p:spTree>
    <p:extLst>
      <p:ext uri="{BB962C8B-B14F-4D97-AF65-F5344CB8AC3E}">
        <p14:creationId xmlns:p14="http://schemas.microsoft.com/office/powerpoint/2010/main" val="33358490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BEA00-A5BE-5EAF-8240-5ED1EBB69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AC23A-036C-B6DB-9EF8-B9B7909BD095}"/>
              </a:ext>
            </a:extLst>
          </p:cNvPr>
          <p:cNvSpPr>
            <a:spLocks noGrp="1"/>
          </p:cNvSpPr>
          <p:nvPr>
            <p:ph type="title"/>
          </p:nvPr>
        </p:nvSpPr>
        <p:spPr/>
        <p:txBody>
          <a:bodyPr/>
          <a:lstStyle/>
          <a:p>
            <a:r>
              <a:rPr lang="en-US" dirty="0"/>
              <a:t>Stack and Heap</a:t>
            </a:r>
          </a:p>
        </p:txBody>
      </p:sp>
      <p:sp>
        <p:nvSpPr>
          <p:cNvPr id="3" name="Content Placeholder 2">
            <a:extLst>
              <a:ext uri="{FF2B5EF4-FFF2-40B4-BE49-F238E27FC236}">
                <a16:creationId xmlns:a16="http://schemas.microsoft.com/office/drawing/2014/main" id="{9F2A6C36-25C7-47FF-B08A-40D9C1A907A0}"/>
              </a:ext>
            </a:extLst>
          </p:cNvPr>
          <p:cNvSpPr>
            <a:spLocks noGrp="1"/>
          </p:cNvSpPr>
          <p:nvPr>
            <p:ph idx="1"/>
          </p:nvPr>
        </p:nvSpPr>
        <p:spPr/>
        <p:txBody>
          <a:bodyPr/>
          <a:lstStyle/>
          <a:p>
            <a:r>
              <a:rPr lang="en-US" dirty="0"/>
              <a:t>Memory on the heap is allocated using the </a:t>
            </a:r>
            <a:r>
              <a:rPr lang="en-US" dirty="0">
                <a:solidFill>
                  <a:srgbClr val="FF0000"/>
                </a:solidFill>
              </a:rPr>
              <a:t>new </a:t>
            </a:r>
            <a:r>
              <a:rPr lang="en-US" dirty="0"/>
              <a:t>operator and deallocated using the delete operator. </a:t>
            </a:r>
          </a:p>
          <a:p>
            <a:r>
              <a:rPr lang="en-US" dirty="0"/>
              <a:t>This allows for creating data structures with variable sizes that can grow or shrink as needed.</a:t>
            </a:r>
          </a:p>
          <a:p>
            <a:r>
              <a:rPr lang="en-US" dirty="0"/>
              <a:t>The heap has a larger size limit than the stack and is typically only constrained by the amount of available memory on the system.</a:t>
            </a:r>
          </a:p>
          <a:p>
            <a:r>
              <a:rPr lang="en-US" dirty="0"/>
              <a:t>Variables stored in heap memory persist until they are explicitly deallocated using </a:t>
            </a:r>
            <a:r>
              <a:rPr lang="en-US" dirty="0">
                <a:solidFill>
                  <a:srgbClr val="FF0000"/>
                </a:solidFill>
              </a:rPr>
              <a:t>delete</a:t>
            </a:r>
            <a:r>
              <a:rPr lang="en-US" dirty="0"/>
              <a:t>. They remain accessible across function calls as long as the pointer to them remains valid.</a:t>
            </a:r>
          </a:p>
        </p:txBody>
      </p:sp>
    </p:spTree>
    <p:extLst>
      <p:ext uri="{BB962C8B-B14F-4D97-AF65-F5344CB8AC3E}">
        <p14:creationId xmlns:p14="http://schemas.microsoft.com/office/powerpoint/2010/main" val="39662316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5DAD0-20B2-88D4-E7CD-197506D7DF24}"/>
              </a:ext>
            </a:extLst>
          </p:cNvPr>
          <p:cNvSpPr>
            <a:spLocks noGrp="1"/>
          </p:cNvSpPr>
          <p:nvPr>
            <p:ph type="title"/>
          </p:nvPr>
        </p:nvSpPr>
        <p:spPr/>
        <p:txBody>
          <a:bodyPr/>
          <a:lstStyle/>
          <a:p>
            <a:r>
              <a:rPr lang="en-US" dirty="0"/>
              <a:t>When to use?</a:t>
            </a:r>
          </a:p>
        </p:txBody>
      </p:sp>
      <p:sp>
        <p:nvSpPr>
          <p:cNvPr id="3" name="Content Placeholder 2">
            <a:extLst>
              <a:ext uri="{FF2B5EF4-FFF2-40B4-BE49-F238E27FC236}">
                <a16:creationId xmlns:a16="http://schemas.microsoft.com/office/drawing/2014/main" id="{C08886A3-69DD-080D-26D6-49BBC3D5255F}"/>
              </a:ext>
            </a:extLst>
          </p:cNvPr>
          <p:cNvSpPr>
            <a:spLocks noGrp="1"/>
          </p:cNvSpPr>
          <p:nvPr>
            <p:ph idx="1"/>
          </p:nvPr>
        </p:nvSpPr>
        <p:spPr/>
        <p:txBody>
          <a:bodyPr/>
          <a:lstStyle/>
          <a:p>
            <a:r>
              <a:rPr lang="en-US" dirty="0"/>
              <a:t>Short-Lived vs long-lived variable</a:t>
            </a:r>
          </a:p>
          <a:p>
            <a:r>
              <a:rPr lang="en-US" dirty="0"/>
              <a:t>Known Size at Compile Time vs Dynamic Size whose size may change during runtime or is not known at compile time.</a:t>
            </a:r>
          </a:p>
          <a:p>
            <a:r>
              <a:rPr lang="en-US" dirty="0"/>
              <a:t>Stack use cases - Local variables, function parameters;</a:t>
            </a:r>
          </a:p>
          <a:p>
            <a:r>
              <a:rPr lang="en-US" dirty="0"/>
              <a:t>Heap use cases - Arrays with unknown size at compile time, objects</a:t>
            </a:r>
          </a:p>
        </p:txBody>
      </p:sp>
    </p:spTree>
    <p:extLst>
      <p:ext uri="{BB962C8B-B14F-4D97-AF65-F5344CB8AC3E}">
        <p14:creationId xmlns:p14="http://schemas.microsoft.com/office/powerpoint/2010/main" val="10149471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BE471-E7C8-8846-23EB-F222C59B73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F7AFF-ED00-341C-C7B7-8A79D880CEDE}"/>
              </a:ext>
            </a:extLst>
          </p:cNvPr>
          <p:cNvSpPr>
            <a:spLocks noGrp="1"/>
          </p:cNvSpPr>
          <p:nvPr>
            <p:ph type="title"/>
          </p:nvPr>
        </p:nvSpPr>
        <p:spPr/>
        <p:txBody>
          <a:bodyPr/>
          <a:lstStyle/>
          <a:p>
            <a:r>
              <a:rPr lang="en-US" dirty="0"/>
              <a:t>Dynamic Memory Allocation</a:t>
            </a:r>
          </a:p>
        </p:txBody>
      </p:sp>
      <p:sp>
        <p:nvSpPr>
          <p:cNvPr id="3" name="Content Placeholder 2">
            <a:extLst>
              <a:ext uri="{FF2B5EF4-FFF2-40B4-BE49-F238E27FC236}">
                <a16:creationId xmlns:a16="http://schemas.microsoft.com/office/drawing/2014/main" id="{20833406-0754-6A80-3BDB-B0F4E06C4456}"/>
              </a:ext>
            </a:extLst>
          </p:cNvPr>
          <p:cNvSpPr>
            <a:spLocks noGrp="1"/>
          </p:cNvSpPr>
          <p:nvPr>
            <p:ph idx="1"/>
          </p:nvPr>
        </p:nvSpPr>
        <p:spPr/>
        <p:txBody>
          <a:bodyPr/>
          <a:lstStyle/>
          <a:p>
            <a:r>
              <a:rPr lang="en-US" dirty="0"/>
              <a:t>Every call to </a:t>
            </a:r>
            <a:r>
              <a:rPr lang="en-US" b="1" i="1" dirty="0">
                <a:solidFill>
                  <a:srgbClr val="FF0000"/>
                </a:solidFill>
              </a:rPr>
              <a:t>new</a:t>
            </a:r>
            <a:r>
              <a:rPr lang="en-US" dirty="0">
                <a:solidFill>
                  <a:srgbClr val="FF0000"/>
                </a:solidFill>
              </a:rPr>
              <a:t> </a:t>
            </a:r>
            <a:r>
              <a:rPr lang="en-US" dirty="0"/>
              <a:t>allocates storage from the </a:t>
            </a:r>
            <a:r>
              <a:rPr lang="en-US" b="1" i="1" dirty="0">
                <a:solidFill>
                  <a:srgbClr val="FF0000"/>
                </a:solidFill>
              </a:rPr>
              <a:t>heap.</a:t>
            </a:r>
            <a:r>
              <a:rPr lang="en-US" b="1" dirty="0">
                <a:solidFill>
                  <a:srgbClr val="FF0000"/>
                </a:solidFill>
              </a:rPr>
              <a:t> </a:t>
            </a:r>
          </a:p>
          <a:p>
            <a:r>
              <a:rPr lang="en-US" dirty="0"/>
              <a:t>A program that has finished using a dynamically allocated block of memory should </a:t>
            </a:r>
            <a:r>
              <a:rPr lang="en-US" i="1" dirty="0"/>
              <a:t>free</a:t>
            </a:r>
            <a:r>
              <a:rPr lang="en-US" dirty="0"/>
              <a:t> the memory and return it to the heap to make it available for future use. </a:t>
            </a:r>
          </a:p>
          <a:p>
            <a:r>
              <a:rPr lang="en-US" dirty="0"/>
              <a:t>This is accomplished by calling the </a:t>
            </a:r>
            <a:r>
              <a:rPr lang="en-US" b="1" i="1" dirty="0">
                <a:solidFill>
                  <a:srgbClr val="FF0000"/>
                </a:solidFill>
              </a:rPr>
              <a:t>delete </a:t>
            </a:r>
            <a:r>
              <a:rPr lang="en-US" dirty="0"/>
              <a:t>operator and passing it the address of the memory to be deallocated. </a:t>
            </a:r>
          </a:p>
          <a:p>
            <a:r>
              <a:rPr lang="en-US" dirty="0"/>
              <a:t>After delete has completed, the value of the pointer should be set to </a:t>
            </a:r>
            <a:r>
              <a:rPr lang="en-US" dirty="0" err="1"/>
              <a:t>nullptr</a:t>
            </a:r>
            <a:r>
              <a:rPr lang="en-US" dirty="0"/>
              <a:t> to indicate that it is no longer valid. </a:t>
            </a:r>
            <a:endParaRPr lang="en-US" b="1" dirty="0">
              <a:solidFill>
                <a:srgbClr val="FF0000"/>
              </a:solidFill>
            </a:endParaRPr>
          </a:p>
          <a:p>
            <a:endParaRPr lang="en-US" b="1" dirty="0">
              <a:solidFill>
                <a:srgbClr val="FF0000"/>
              </a:solidFill>
            </a:endParaRPr>
          </a:p>
        </p:txBody>
      </p:sp>
      <p:pic>
        <p:nvPicPr>
          <p:cNvPr id="4" name="Picture 3">
            <a:extLst>
              <a:ext uri="{FF2B5EF4-FFF2-40B4-BE49-F238E27FC236}">
                <a16:creationId xmlns:a16="http://schemas.microsoft.com/office/drawing/2014/main" id="{A4690EC5-61FC-A1C1-A219-1D8D429912FE}"/>
              </a:ext>
            </a:extLst>
          </p:cNvPr>
          <p:cNvPicPr>
            <a:picLocks noChangeAspect="1"/>
          </p:cNvPicPr>
          <p:nvPr/>
        </p:nvPicPr>
        <p:blipFill>
          <a:blip r:embed="rId2"/>
          <a:stretch>
            <a:fillRect/>
          </a:stretch>
        </p:blipFill>
        <p:spPr>
          <a:xfrm>
            <a:off x="1659538" y="5643562"/>
            <a:ext cx="1925447" cy="668337"/>
          </a:xfrm>
          <a:prstGeom prst="rect">
            <a:avLst/>
          </a:prstGeom>
        </p:spPr>
      </p:pic>
      <p:pic>
        <p:nvPicPr>
          <p:cNvPr id="5" name="Picture 4">
            <a:extLst>
              <a:ext uri="{FF2B5EF4-FFF2-40B4-BE49-F238E27FC236}">
                <a16:creationId xmlns:a16="http://schemas.microsoft.com/office/drawing/2014/main" id="{193986F9-FFA4-CC63-9FF2-83F37FAC0380}"/>
              </a:ext>
            </a:extLst>
          </p:cNvPr>
          <p:cNvPicPr>
            <a:picLocks noChangeAspect="1"/>
          </p:cNvPicPr>
          <p:nvPr/>
        </p:nvPicPr>
        <p:blipFill>
          <a:blip r:embed="rId3"/>
          <a:stretch>
            <a:fillRect/>
          </a:stretch>
        </p:blipFill>
        <p:spPr>
          <a:xfrm>
            <a:off x="4900667" y="5672929"/>
            <a:ext cx="1699830" cy="642455"/>
          </a:xfrm>
          <a:prstGeom prst="rect">
            <a:avLst/>
          </a:prstGeom>
        </p:spPr>
      </p:pic>
    </p:spTree>
    <p:extLst>
      <p:ext uri="{BB962C8B-B14F-4D97-AF65-F5344CB8AC3E}">
        <p14:creationId xmlns:p14="http://schemas.microsoft.com/office/powerpoint/2010/main" val="3325815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A2CC-21AC-5D45-3E73-1E3BD817B5E7}"/>
              </a:ext>
            </a:extLst>
          </p:cNvPr>
          <p:cNvSpPr>
            <a:spLocks noGrp="1"/>
          </p:cNvSpPr>
          <p:nvPr>
            <p:ph type="title"/>
          </p:nvPr>
        </p:nvSpPr>
        <p:spPr/>
        <p:txBody>
          <a:bodyPr/>
          <a:lstStyle/>
          <a:p>
            <a:r>
              <a:rPr lang="en-US" dirty="0"/>
              <a:t>Dangling Pointers</a:t>
            </a:r>
          </a:p>
        </p:txBody>
      </p:sp>
      <p:sp>
        <p:nvSpPr>
          <p:cNvPr id="3" name="Content Placeholder 2">
            <a:extLst>
              <a:ext uri="{FF2B5EF4-FFF2-40B4-BE49-F238E27FC236}">
                <a16:creationId xmlns:a16="http://schemas.microsoft.com/office/drawing/2014/main" id="{4C87253B-4614-CAE2-5695-A616687A1913}"/>
              </a:ext>
            </a:extLst>
          </p:cNvPr>
          <p:cNvSpPr>
            <a:spLocks noGrp="1"/>
          </p:cNvSpPr>
          <p:nvPr>
            <p:ph idx="1"/>
          </p:nvPr>
        </p:nvSpPr>
        <p:spPr/>
        <p:txBody>
          <a:bodyPr/>
          <a:lstStyle/>
          <a:p>
            <a:r>
              <a:rPr lang="en-US" dirty="0"/>
              <a:t>A pointer is said to be </a:t>
            </a:r>
            <a:r>
              <a:rPr lang="en-US" dirty="0">
                <a:hlinkClick r:id="rId2"/>
              </a:rPr>
              <a:t>dangling</a:t>
            </a:r>
            <a:r>
              <a:rPr lang="en-US" dirty="0"/>
              <a:t> if it is pointing to a memory location that has been freed by a call to delete.</a:t>
            </a:r>
          </a:p>
          <a:p>
            <a:r>
              <a:rPr lang="en-US" dirty="0"/>
              <a:t>When you access a dangling pointer, you are trying to use memory that has already been freed and returned to the heap. </a:t>
            </a:r>
          </a:p>
          <a:p>
            <a:r>
              <a:rPr lang="en-US" dirty="0"/>
              <a:t>In fact, such memory may already be reallocated by another call to new.</a:t>
            </a:r>
          </a:p>
          <a:p>
            <a:pPr algn="l"/>
            <a:r>
              <a:rPr lang="en-US" dirty="0">
                <a:effectLst/>
              </a:rPr>
              <a:t>You can avoid the use of dangling pointers by always</a:t>
            </a:r>
          </a:p>
          <a:p>
            <a:pPr lvl="1">
              <a:buFont typeface="+mj-lt"/>
              <a:buAutoNum type="arabicPeriod"/>
            </a:pPr>
            <a:r>
              <a:rPr lang="en-US" dirty="0"/>
              <a:t>setting pointers to null as soon as their memory is freed, and</a:t>
            </a:r>
          </a:p>
          <a:p>
            <a:pPr lvl="1">
              <a:buFont typeface="+mj-lt"/>
              <a:buAutoNum type="arabicPeriod"/>
            </a:pPr>
            <a:r>
              <a:rPr lang="en-US" dirty="0"/>
              <a:t>verifying that a pointer is not null before you attempt to access its memory.</a:t>
            </a:r>
          </a:p>
          <a:p>
            <a:endParaRPr lang="en-US" dirty="0"/>
          </a:p>
        </p:txBody>
      </p:sp>
    </p:spTree>
    <p:extLst>
      <p:ext uri="{BB962C8B-B14F-4D97-AF65-F5344CB8AC3E}">
        <p14:creationId xmlns:p14="http://schemas.microsoft.com/office/powerpoint/2010/main" val="28489947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A98D-877A-2BF7-D6E8-2B52D0B07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A8005-95C5-F371-9DB9-CA3A6B2D8FF4}"/>
              </a:ext>
            </a:extLst>
          </p:cNvPr>
          <p:cNvSpPr>
            <a:spLocks noGrp="1"/>
          </p:cNvSpPr>
          <p:nvPr>
            <p:ph type="title"/>
          </p:nvPr>
        </p:nvSpPr>
        <p:spPr/>
        <p:txBody>
          <a:bodyPr/>
          <a:lstStyle/>
          <a:p>
            <a:r>
              <a:rPr lang="en-US" dirty="0"/>
              <a:t>Dangling Pointers and Memory Leaks</a:t>
            </a:r>
          </a:p>
        </p:txBody>
      </p:sp>
      <p:sp>
        <p:nvSpPr>
          <p:cNvPr id="3" name="Content Placeholder 2">
            <a:extLst>
              <a:ext uri="{FF2B5EF4-FFF2-40B4-BE49-F238E27FC236}">
                <a16:creationId xmlns:a16="http://schemas.microsoft.com/office/drawing/2014/main" id="{9C17F2D3-E541-E48B-851D-7AA6427C3896}"/>
              </a:ext>
            </a:extLst>
          </p:cNvPr>
          <p:cNvSpPr>
            <a:spLocks noGrp="1"/>
          </p:cNvSpPr>
          <p:nvPr>
            <p:ph idx="1"/>
          </p:nvPr>
        </p:nvSpPr>
        <p:spPr/>
        <p:txBody>
          <a:bodyPr/>
          <a:lstStyle/>
          <a:p>
            <a:pPr lvl="1"/>
            <a:r>
              <a:rPr lang="en-US" dirty="0"/>
              <a:t>A </a:t>
            </a:r>
            <a:r>
              <a:rPr lang="en-US" b="1" dirty="0">
                <a:hlinkClick r:id="rId3"/>
              </a:rPr>
              <a:t>memory leak</a:t>
            </a:r>
            <a:r>
              <a:rPr lang="en-US" dirty="0"/>
              <a:t> is said to occur in your program if, after you have finished using a block of memory allocated by new, you forget to free it via delete.</a:t>
            </a:r>
          </a:p>
          <a:p>
            <a:pPr lvl="1"/>
            <a:r>
              <a:rPr lang="en-US" dirty="0"/>
              <a:t>The leaked block of memory remains unavailable for use until the program terminates. </a:t>
            </a:r>
          </a:p>
          <a:p>
            <a:pPr lvl="1"/>
            <a:r>
              <a:rPr lang="en-US" dirty="0"/>
              <a:t>Memory leaks are especially serious when they occur in loops. </a:t>
            </a:r>
          </a:p>
          <a:p>
            <a:pPr lvl="1"/>
            <a:r>
              <a:rPr lang="en-US" dirty="0"/>
              <a:t>They are even more serious in programs such as Web servers and other network programs that are expected to run for months or even years without being shut down. Over time, a Web server with a memory leak will exhaust all memory in the computer on which it is running, requiring both it and the computer to be shut down and restarted.</a:t>
            </a:r>
          </a:p>
          <a:p>
            <a:pPr lvl="1">
              <a:buFont typeface="+mj-lt"/>
              <a:buAutoNum type="arabicPeriod"/>
            </a:pPr>
            <a:endParaRPr lang="en-US" dirty="0"/>
          </a:p>
          <a:p>
            <a:endParaRPr lang="en-US" dirty="0"/>
          </a:p>
        </p:txBody>
      </p:sp>
    </p:spTree>
    <p:extLst>
      <p:ext uri="{BB962C8B-B14F-4D97-AF65-F5344CB8AC3E}">
        <p14:creationId xmlns:p14="http://schemas.microsoft.com/office/powerpoint/2010/main" val="20459054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8271E-4700-0FCE-CB2B-145AB9D1B17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F7E184A6-B0CC-FB0D-C367-211919A3C890}"/>
              </a:ext>
            </a:extLst>
          </p:cNvPr>
          <p:cNvPicPr>
            <a:picLocks noChangeAspect="1"/>
          </p:cNvPicPr>
          <p:nvPr/>
        </p:nvPicPr>
        <p:blipFill>
          <a:blip r:embed="rId2"/>
          <a:stretch>
            <a:fillRect/>
          </a:stretch>
        </p:blipFill>
        <p:spPr>
          <a:xfrm>
            <a:off x="6096000" y="136635"/>
            <a:ext cx="3242313" cy="6721365"/>
          </a:xfrm>
          <a:prstGeom prst="rect">
            <a:avLst/>
          </a:prstGeom>
        </p:spPr>
      </p:pic>
      <p:pic>
        <p:nvPicPr>
          <p:cNvPr id="5" name="Picture 4">
            <a:extLst>
              <a:ext uri="{FF2B5EF4-FFF2-40B4-BE49-F238E27FC236}">
                <a16:creationId xmlns:a16="http://schemas.microsoft.com/office/drawing/2014/main" id="{363DAE86-997C-D8F4-0495-F5153190094D}"/>
              </a:ext>
            </a:extLst>
          </p:cNvPr>
          <p:cNvPicPr>
            <a:picLocks noChangeAspect="1"/>
          </p:cNvPicPr>
          <p:nvPr/>
        </p:nvPicPr>
        <p:blipFill>
          <a:blip r:embed="rId3"/>
          <a:stretch>
            <a:fillRect/>
          </a:stretch>
        </p:blipFill>
        <p:spPr>
          <a:xfrm>
            <a:off x="1371600" y="2554233"/>
            <a:ext cx="4191000" cy="2527300"/>
          </a:xfrm>
          <a:prstGeom prst="rect">
            <a:avLst/>
          </a:prstGeom>
        </p:spPr>
      </p:pic>
    </p:spTree>
    <p:extLst>
      <p:ext uri="{BB962C8B-B14F-4D97-AF65-F5344CB8AC3E}">
        <p14:creationId xmlns:p14="http://schemas.microsoft.com/office/powerpoint/2010/main" val="26939296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0690B-C036-1FA5-051C-5A0D15AB146E}"/>
              </a:ext>
            </a:extLst>
          </p:cNvPr>
          <p:cNvSpPr>
            <a:spLocks noGrp="1"/>
          </p:cNvSpPr>
          <p:nvPr>
            <p:ph type="title"/>
          </p:nvPr>
        </p:nvSpPr>
        <p:spPr/>
        <p:txBody>
          <a:bodyPr/>
          <a:lstStyle/>
          <a:p>
            <a:r>
              <a:rPr lang="en-US" dirty="0"/>
              <a:t>Returning Pointers from Functions</a:t>
            </a:r>
          </a:p>
        </p:txBody>
      </p:sp>
      <p:sp>
        <p:nvSpPr>
          <p:cNvPr id="3" name="Content Placeholder 2">
            <a:extLst>
              <a:ext uri="{FF2B5EF4-FFF2-40B4-BE49-F238E27FC236}">
                <a16:creationId xmlns:a16="http://schemas.microsoft.com/office/drawing/2014/main" id="{299E265B-5183-BAD9-9831-49DFD9DBC85B}"/>
              </a:ext>
            </a:extLst>
          </p:cNvPr>
          <p:cNvSpPr>
            <a:spLocks noGrp="1"/>
          </p:cNvSpPr>
          <p:nvPr>
            <p:ph idx="1"/>
          </p:nvPr>
        </p:nvSpPr>
        <p:spPr>
          <a:xfrm>
            <a:off x="838200" y="1825625"/>
            <a:ext cx="10515600" cy="1939816"/>
          </a:xfrm>
        </p:spPr>
        <p:txBody>
          <a:bodyPr/>
          <a:lstStyle/>
          <a:p>
            <a:r>
              <a:rPr lang="en-US" dirty="0"/>
              <a:t>Functions can return pointers, but you must be sure the item the pointer references still exists.</a:t>
            </a:r>
          </a:p>
          <a:p>
            <a:r>
              <a:rPr lang="en-US" dirty="0"/>
              <a:t>It is often useful for a function to dynamically allocate storage for an object, fill the object with data, and return its address. </a:t>
            </a:r>
          </a:p>
        </p:txBody>
      </p:sp>
      <p:pic>
        <p:nvPicPr>
          <p:cNvPr id="4" name="Picture 3">
            <a:extLst>
              <a:ext uri="{FF2B5EF4-FFF2-40B4-BE49-F238E27FC236}">
                <a16:creationId xmlns:a16="http://schemas.microsoft.com/office/drawing/2014/main" id="{EA031904-3FCE-B941-45C2-5A0BEACF3E11}"/>
              </a:ext>
            </a:extLst>
          </p:cNvPr>
          <p:cNvPicPr>
            <a:picLocks noChangeAspect="1"/>
          </p:cNvPicPr>
          <p:nvPr/>
        </p:nvPicPr>
        <p:blipFill>
          <a:blip r:embed="rId3"/>
          <a:stretch>
            <a:fillRect/>
          </a:stretch>
        </p:blipFill>
        <p:spPr>
          <a:xfrm>
            <a:off x="7021921" y="3765441"/>
            <a:ext cx="4615658" cy="2727434"/>
          </a:xfrm>
          <a:prstGeom prst="rect">
            <a:avLst/>
          </a:prstGeom>
        </p:spPr>
      </p:pic>
      <p:sp>
        <p:nvSpPr>
          <p:cNvPr id="9" name="Rectangle 10">
            <a:extLst>
              <a:ext uri="{FF2B5EF4-FFF2-40B4-BE49-F238E27FC236}">
                <a16:creationId xmlns:a16="http://schemas.microsoft.com/office/drawing/2014/main" id="{EE6CA98E-6BA2-7C90-832B-CDF8170E0018}"/>
              </a:ext>
            </a:extLst>
          </p:cNvPr>
          <p:cNvSpPr>
            <a:spLocks noChangeArrowheads="1"/>
          </p:cNvSpPr>
          <p:nvPr/>
        </p:nvSpPr>
        <p:spPr bwMode="auto">
          <a:xfrm>
            <a:off x="1111292" y="3765441"/>
            <a:ext cx="541282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rPr>
              <a:t>Consider a function that returns for a given positive integer the sequence of the first integer squares. For example, if the function is passed the value 4, it returns an array whose elements are 1, 4, 9, and 16.</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dirty="0"/>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dirty="0"/>
              <a:t>When called, the function allocates an array of the given size, sets the elements of the array to the required values, and returns the address of the base of the array.</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35" name="Picture 11" descr="n">
            <a:extLst>
              <a:ext uri="{FF2B5EF4-FFF2-40B4-BE49-F238E27FC236}">
                <a16:creationId xmlns:a16="http://schemas.microsoft.com/office/drawing/2014/main" id="{2FA8BC29-9EB9-35EC-6353-D8F336F84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673138" y="4960946"/>
            <a:ext cx="50745" cy="4571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n">
            <a:extLst>
              <a:ext uri="{FF2B5EF4-FFF2-40B4-BE49-F238E27FC236}">
                <a16:creationId xmlns:a16="http://schemas.microsoft.com/office/drawing/2014/main" id="{580ACB87-45AB-5D0D-828A-DE7A7B0E2D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9489363" y="4960946"/>
            <a:ext cx="50745" cy="45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1829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4724D-1E5D-43D0-4D41-FB2587075BF7}"/>
              </a:ext>
            </a:extLst>
          </p:cNvPr>
          <p:cNvSpPr>
            <a:spLocks noGrp="1"/>
          </p:cNvSpPr>
          <p:nvPr>
            <p:ph type="title"/>
          </p:nvPr>
        </p:nvSpPr>
        <p:spPr/>
        <p:txBody>
          <a:bodyPr/>
          <a:lstStyle/>
          <a:p>
            <a:r>
              <a:rPr lang="en-US" dirty="0"/>
              <a:t>Stopping memory leaks</a:t>
            </a:r>
          </a:p>
        </p:txBody>
      </p:sp>
      <p:sp>
        <p:nvSpPr>
          <p:cNvPr id="3" name="Content Placeholder 2">
            <a:extLst>
              <a:ext uri="{FF2B5EF4-FFF2-40B4-BE49-F238E27FC236}">
                <a16:creationId xmlns:a16="http://schemas.microsoft.com/office/drawing/2014/main" id="{91BAD165-A020-14C4-FB68-F22897D76AB7}"/>
              </a:ext>
            </a:extLst>
          </p:cNvPr>
          <p:cNvSpPr>
            <a:spLocks noGrp="1"/>
          </p:cNvSpPr>
          <p:nvPr>
            <p:ph idx="1"/>
          </p:nvPr>
        </p:nvSpPr>
        <p:spPr/>
        <p:txBody>
          <a:bodyPr/>
          <a:lstStyle/>
          <a:p>
            <a:r>
              <a:rPr lang="en-US" dirty="0"/>
              <a:t>It is important for programs that use dynamically allocated memory to ensure that each call to new is eventually followed by a call to delete that frees the allocated memory and returns it to the heap. </a:t>
            </a:r>
          </a:p>
          <a:p>
            <a:r>
              <a:rPr lang="en-US" dirty="0"/>
              <a:t>Whenever possible, the function that invokes new to allocate storage should also be the function that invokes delete to deallocate the storage.</a:t>
            </a:r>
          </a:p>
        </p:txBody>
      </p:sp>
    </p:spTree>
    <p:extLst>
      <p:ext uri="{BB962C8B-B14F-4D97-AF65-F5344CB8AC3E}">
        <p14:creationId xmlns:p14="http://schemas.microsoft.com/office/powerpoint/2010/main" val="34227992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88ED0-C595-0532-0588-B7281C357988}"/>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77751497-8DFF-D3DA-D6F1-EEE7B7ABF42B}"/>
              </a:ext>
            </a:extLst>
          </p:cNvPr>
          <p:cNvPicPr>
            <a:picLocks noGrp="1" noChangeAspect="1"/>
          </p:cNvPicPr>
          <p:nvPr>
            <p:ph idx="1"/>
          </p:nvPr>
        </p:nvPicPr>
        <p:blipFill>
          <a:blip r:embed="rId2"/>
          <a:stretch>
            <a:fillRect/>
          </a:stretch>
        </p:blipFill>
        <p:spPr>
          <a:xfrm>
            <a:off x="3994381" y="365125"/>
            <a:ext cx="5874833" cy="6081833"/>
          </a:xfrm>
          <a:prstGeom prst="rect">
            <a:avLst/>
          </a:prstGeom>
        </p:spPr>
      </p:pic>
    </p:spTree>
    <p:extLst>
      <p:ext uri="{BB962C8B-B14F-4D97-AF65-F5344CB8AC3E}">
        <p14:creationId xmlns:p14="http://schemas.microsoft.com/office/powerpoint/2010/main" val="32913491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D30A7-BDA0-582A-E4AB-57242DA547B7}"/>
              </a:ext>
            </a:extLst>
          </p:cNvPr>
          <p:cNvSpPr>
            <a:spLocks noGrp="1"/>
          </p:cNvSpPr>
          <p:nvPr>
            <p:ph type="title"/>
          </p:nvPr>
        </p:nvSpPr>
        <p:spPr/>
        <p:txBody>
          <a:bodyPr/>
          <a:lstStyle/>
          <a:p>
            <a:r>
              <a:rPr lang="en-US" dirty="0"/>
              <a:t>Smart Pointers</a:t>
            </a:r>
          </a:p>
        </p:txBody>
      </p:sp>
      <p:sp>
        <p:nvSpPr>
          <p:cNvPr id="3" name="Content Placeholder 2">
            <a:extLst>
              <a:ext uri="{FF2B5EF4-FFF2-40B4-BE49-F238E27FC236}">
                <a16:creationId xmlns:a16="http://schemas.microsoft.com/office/drawing/2014/main" id="{F5EE95CC-D6E5-522D-5871-ED906F63B024}"/>
              </a:ext>
            </a:extLst>
          </p:cNvPr>
          <p:cNvSpPr>
            <a:spLocks noGrp="1"/>
          </p:cNvSpPr>
          <p:nvPr>
            <p:ph idx="1"/>
          </p:nvPr>
        </p:nvSpPr>
        <p:spPr/>
        <p:txBody>
          <a:bodyPr/>
          <a:lstStyle/>
          <a:p>
            <a:r>
              <a:rPr lang="en-US" dirty="0"/>
              <a:t>C++ 11 introduces smart pointers, objects that work like pointers but have the ability to automatically delete dynamically allocated memory that is no longer being used.</a:t>
            </a:r>
          </a:p>
          <a:p>
            <a:r>
              <a:rPr lang="en-US" dirty="0"/>
              <a:t>Can avoid dangling pointers, double deletion</a:t>
            </a:r>
          </a:p>
          <a:p>
            <a:r>
              <a:rPr lang="en-US" dirty="0"/>
              <a:t>C++ 11 provides three types of smart pointers defined by classes called </a:t>
            </a:r>
            <a:r>
              <a:rPr lang="en-US" dirty="0" err="1"/>
              <a:t>unique_ptr</a:t>
            </a:r>
            <a:r>
              <a:rPr lang="en-US" dirty="0"/>
              <a:t>, </a:t>
            </a:r>
            <a:r>
              <a:rPr lang="en-US" dirty="0" err="1"/>
              <a:t>shared_ptr</a:t>
            </a:r>
            <a:r>
              <a:rPr lang="en-US" dirty="0"/>
              <a:t>, and </a:t>
            </a:r>
            <a:r>
              <a:rPr lang="en-US" dirty="0" err="1"/>
              <a:t>weak_ptr</a:t>
            </a:r>
            <a:r>
              <a:rPr lang="en-US" dirty="0"/>
              <a:t>. We will refer to these as </a:t>
            </a:r>
            <a:r>
              <a:rPr lang="en-US" dirty="0">
                <a:hlinkClick r:id="rId2"/>
              </a:rPr>
              <a:t>unique pointers</a:t>
            </a:r>
            <a:r>
              <a:rPr lang="en-US" dirty="0"/>
              <a:t>, </a:t>
            </a:r>
            <a:r>
              <a:rPr lang="en-US" dirty="0">
                <a:hlinkClick r:id="rId2"/>
              </a:rPr>
              <a:t>shared pointers</a:t>
            </a:r>
            <a:r>
              <a:rPr lang="en-US" dirty="0"/>
              <a:t>, and </a:t>
            </a:r>
            <a:r>
              <a:rPr lang="en-US" dirty="0">
                <a:hlinkClick r:id="rId2"/>
              </a:rPr>
              <a:t>weak pointers</a:t>
            </a:r>
            <a:r>
              <a:rPr lang="en-US" i="1" dirty="0"/>
              <a:t>.</a:t>
            </a:r>
          </a:p>
          <a:p>
            <a:r>
              <a:rPr lang="en-US" dirty="0"/>
              <a:t>A smart pointer is said to </a:t>
            </a:r>
            <a:r>
              <a:rPr lang="en-US" dirty="0">
                <a:hlinkClick r:id="rId2"/>
              </a:rPr>
              <a:t>own or manage</a:t>
            </a:r>
            <a:r>
              <a:rPr lang="en-US" dirty="0"/>
              <a:t> the object that it points to.</a:t>
            </a:r>
            <a:endParaRPr lang="en-US" i="1" dirty="0"/>
          </a:p>
          <a:p>
            <a:endParaRPr lang="en-US" dirty="0"/>
          </a:p>
        </p:txBody>
      </p:sp>
    </p:spTree>
    <p:extLst>
      <p:ext uri="{BB962C8B-B14F-4D97-AF65-F5344CB8AC3E}">
        <p14:creationId xmlns:p14="http://schemas.microsoft.com/office/powerpoint/2010/main" val="39511018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7160-7925-B165-36D1-9D4800388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AD40B-B917-530C-E6D3-78D15CF8244F}"/>
              </a:ext>
            </a:extLst>
          </p:cNvPr>
          <p:cNvSpPr>
            <a:spLocks noGrp="1"/>
          </p:cNvSpPr>
          <p:nvPr>
            <p:ph type="title"/>
          </p:nvPr>
        </p:nvSpPr>
        <p:spPr/>
        <p:txBody>
          <a:bodyPr/>
          <a:lstStyle/>
          <a:p>
            <a:r>
              <a:rPr lang="en-US" dirty="0"/>
              <a:t>Smart Unique Pointers</a:t>
            </a:r>
          </a:p>
        </p:txBody>
      </p:sp>
      <p:sp>
        <p:nvSpPr>
          <p:cNvPr id="3" name="Content Placeholder 2">
            <a:extLst>
              <a:ext uri="{FF2B5EF4-FFF2-40B4-BE49-F238E27FC236}">
                <a16:creationId xmlns:a16="http://schemas.microsoft.com/office/drawing/2014/main" id="{64B8975D-5BDF-7767-60B2-3D6EEE08B32F}"/>
              </a:ext>
            </a:extLst>
          </p:cNvPr>
          <p:cNvSpPr>
            <a:spLocks noGrp="1"/>
          </p:cNvSpPr>
          <p:nvPr>
            <p:ph idx="1"/>
          </p:nvPr>
        </p:nvSpPr>
        <p:spPr/>
        <p:txBody>
          <a:bodyPr/>
          <a:lstStyle/>
          <a:p>
            <a:r>
              <a:rPr lang="en-US" b="1" dirty="0"/>
              <a:t>std::</a:t>
            </a:r>
            <a:r>
              <a:rPr lang="en-US" b="1" dirty="0" err="1"/>
              <a:t>unique_ptr</a:t>
            </a:r>
            <a:endParaRPr lang="en-US" dirty="0"/>
          </a:p>
          <a:p>
            <a:pPr lvl="1"/>
            <a:r>
              <a:rPr lang="en-US" b="1" dirty="0"/>
              <a:t>Ownership</a:t>
            </a:r>
            <a:r>
              <a:rPr lang="en-US" dirty="0"/>
              <a:t>: Represents exclusive ownership of a dynamically allocated object. Only one </a:t>
            </a:r>
            <a:r>
              <a:rPr lang="en-US" dirty="0" err="1"/>
              <a:t>unique_ptr</a:t>
            </a:r>
            <a:r>
              <a:rPr lang="en-US" dirty="0"/>
              <a:t> can own a specific resource at a time.</a:t>
            </a:r>
          </a:p>
          <a:p>
            <a:pPr lvl="1"/>
            <a:r>
              <a:rPr lang="en-US" b="1" dirty="0"/>
              <a:t>Transfer Ownership</a:t>
            </a:r>
            <a:r>
              <a:rPr lang="en-US" dirty="0"/>
              <a:t>: Ownership can be transferred using std::move().</a:t>
            </a:r>
          </a:p>
          <a:p>
            <a:pPr lvl="1"/>
            <a:r>
              <a:rPr lang="en-US" b="1" dirty="0"/>
              <a:t>Automatic Deallocation</a:t>
            </a:r>
            <a:r>
              <a:rPr lang="en-US" dirty="0"/>
              <a:t>: Automatically deallocates memory when it goes out of scope.</a:t>
            </a:r>
          </a:p>
          <a:p>
            <a:pPr lvl="1"/>
            <a:r>
              <a:rPr lang="en-US" b="1" dirty="0"/>
              <a:t>Use Case</a:t>
            </a:r>
            <a:r>
              <a:rPr lang="en-US" dirty="0"/>
              <a:t>: When you want a single owner of a resource.</a:t>
            </a:r>
          </a:p>
          <a:p>
            <a:endParaRPr lang="en-US" dirty="0"/>
          </a:p>
        </p:txBody>
      </p:sp>
      <p:pic>
        <p:nvPicPr>
          <p:cNvPr id="4" name="Picture 3">
            <a:extLst>
              <a:ext uri="{FF2B5EF4-FFF2-40B4-BE49-F238E27FC236}">
                <a16:creationId xmlns:a16="http://schemas.microsoft.com/office/drawing/2014/main" id="{7F0922A4-B814-5371-AF69-700D7BC43145}"/>
              </a:ext>
            </a:extLst>
          </p:cNvPr>
          <p:cNvPicPr>
            <a:picLocks noChangeAspect="1"/>
          </p:cNvPicPr>
          <p:nvPr/>
        </p:nvPicPr>
        <p:blipFill>
          <a:blip r:embed="rId2"/>
          <a:stretch>
            <a:fillRect/>
          </a:stretch>
        </p:blipFill>
        <p:spPr>
          <a:xfrm>
            <a:off x="2622550" y="4636081"/>
            <a:ext cx="6216650" cy="2120975"/>
          </a:xfrm>
          <a:prstGeom prst="rect">
            <a:avLst/>
          </a:prstGeom>
        </p:spPr>
      </p:pic>
    </p:spTree>
    <p:extLst>
      <p:ext uri="{BB962C8B-B14F-4D97-AF65-F5344CB8AC3E}">
        <p14:creationId xmlns:p14="http://schemas.microsoft.com/office/powerpoint/2010/main" val="14128475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F79E0-4C01-5AA0-55E3-57566CCA90E9}"/>
              </a:ext>
            </a:extLst>
          </p:cNvPr>
          <p:cNvSpPr>
            <a:spLocks noGrp="1"/>
          </p:cNvSpPr>
          <p:nvPr>
            <p:ph type="title"/>
          </p:nvPr>
        </p:nvSpPr>
        <p:spPr/>
        <p:txBody>
          <a:bodyPr/>
          <a:lstStyle/>
          <a:p>
            <a:r>
              <a:rPr lang="en-US" dirty="0"/>
              <a:t>Smart Unique Pointers</a:t>
            </a:r>
          </a:p>
        </p:txBody>
      </p:sp>
      <p:pic>
        <p:nvPicPr>
          <p:cNvPr id="4" name="Content Placeholder 3">
            <a:extLst>
              <a:ext uri="{FF2B5EF4-FFF2-40B4-BE49-F238E27FC236}">
                <a16:creationId xmlns:a16="http://schemas.microsoft.com/office/drawing/2014/main" id="{AAA3A81F-6907-57D8-B678-A3DB79F397B8}"/>
              </a:ext>
            </a:extLst>
          </p:cNvPr>
          <p:cNvPicPr>
            <a:picLocks noGrp="1" noChangeAspect="1"/>
          </p:cNvPicPr>
          <p:nvPr>
            <p:ph idx="1"/>
          </p:nvPr>
        </p:nvPicPr>
        <p:blipFill>
          <a:blip r:embed="rId2"/>
          <a:stretch>
            <a:fillRect/>
          </a:stretch>
        </p:blipFill>
        <p:spPr>
          <a:xfrm>
            <a:off x="2698750" y="2470944"/>
            <a:ext cx="6794500" cy="3060700"/>
          </a:xfrm>
          <a:prstGeom prst="rect">
            <a:avLst/>
          </a:prstGeom>
        </p:spPr>
      </p:pic>
    </p:spTree>
    <p:extLst>
      <p:ext uri="{BB962C8B-B14F-4D97-AF65-F5344CB8AC3E}">
        <p14:creationId xmlns:p14="http://schemas.microsoft.com/office/powerpoint/2010/main" val="2774173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EBC2-32FE-2504-1870-FE784CF9B898}"/>
              </a:ext>
            </a:extLst>
          </p:cNvPr>
          <p:cNvSpPr>
            <a:spLocks noGrp="1"/>
          </p:cNvSpPr>
          <p:nvPr>
            <p:ph type="title"/>
          </p:nvPr>
        </p:nvSpPr>
        <p:spPr/>
        <p:txBody>
          <a:bodyPr/>
          <a:lstStyle/>
          <a:p>
            <a:r>
              <a:rPr lang="en-US" dirty="0"/>
              <a:t>Smart Shared Pointers</a:t>
            </a:r>
          </a:p>
        </p:txBody>
      </p:sp>
      <p:sp>
        <p:nvSpPr>
          <p:cNvPr id="3" name="Content Placeholder 2">
            <a:extLst>
              <a:ext uri="{FF2B5EF4-FFF2-40B4-BE49-F238E27FC236}">
                <a16:creationId xmlns:a16="http://schemas.microsoft.com/office/drawing/2014/main" id="{96702FEF-B116-B029-EEBA-E69685C3A9A6}"/>
              </a:ext>
            </a:extLst>
          </p:cNvPr>
          <p:cNvSpPr>
            <a:spLocks noGrp="1"/>
          </p:cNvSpPr>
          <p:nvPr>
            <p:ph idx="1"/>
          </p:nvPr>
        </p:nvSpPr>
        <p:spPr/>
        <p:txBody>
          <a:bodyPr/>
          <a:lstStyle/>
          <a:p>
            <a:r>
              <a:rPr lang="en-US" b="1" dirty="0"/>
              <a:t>std::</a:t>
            </a:r>
            <a:r>
              <a:rPr lang="en-US" b="1" dirty="0" err="1"/>
              <a:t>shared_ptr</a:t>
            </a:r>
            <a:endParaRPr lang="en-US" dirty="0"/>
          </a:p>
          <a:p>
            <a:pPr lvl="1"/>
            <a:r>
              <a:rPr lang="en-US" b="1" dirty="0"/>
              <a:t>Ownership</a:t>
            </a:r>
            <a:r>
              <a:rPr lang="en-US" dirty="0"/>
              <a:t>: Allows multiple smart pointers to share ownership of a single resource. The resource is deallocated when the last </a:t>
            </a:r>
            <a:r>
              <a:rPr lang="en-US" dirty="0" err="1"/>
              <a:t>shared_ptr</a:t>
            </a:r>
            <a:r>
              <a:rPr lang="en-US" dirty="0"/>
              <a:t> pointing to it is destroyed or reset.</a:t>
            </a:r>
          </a:p>
          <a:p>
            <a:pPr lvl="1"/>
            <a:r>
              <a:rPr lang="en-US" b="1" dirty="0"/>
              <a:t>Reference Counting</a:t>
            </a:r>
            <a:r>
              <a:rPr lang="en-US" dirty="0"/>
              <a:t>: Maintains a reference count to track how many </a:t>
            </a:r>
            <a:r>
              <a:rPr lang="en-US" dirty="0" err="1"/>
              <a:t>shared_ptr</a:t>
            </a:r>
            <a:r>
              <a:rPr lang="en-US" dirty="0"/>
              <a:t> instances point to the same resource.</a:t>
            </a:r>
          </a:p>
          <a:p>
            <a:pPr lvl="1"/>
            <a:r>
              <a:rPr lang="en-US" b="1" dirty="0"/>
              <a:t>Use Case</a:t>
            </a:r>
            <a:r>
              <a:rPr lang="en-US" dirty="0"/>
              <a:t>: When multiple owners of a resource are needed.</a:t>
            </a:r>
          </a:p>
          <a:p>
            <a:endParaRPr lang="en-US" dirty="0"/>
          </a:p>
        </p:txBody>
      </p:sp>
      <p:pic>
        <p:nvPicPr>
          <p:cNvPr id="4" name="Picture 3">
            <a:extLst>
              <a:ext uri="{FF2B5EF4-FFF2-40B4-BE49-F238E27FC236}">
                <a16:creationId xmlns:a16="http://schemas.microsoft.com/office/drawing/2014/main" id="{75605ED0-3373-B69A-0693-244D58E44B60}"/>
              </a:ext>
            </a:extLst>
          </p:cNvPr>
          <p:cNvPicPr>
            <a:picLocks noChangeAspect="1"/>
          </p:cNvPicPr>
          <p:nvPr/>
        </p:nvPicPr>
        <p:blipFill>
          <a:blip r:embed="rId2"/>
          <a:stretch>
            <a:fillRect/>
          </a:stretch>
        </p:blipFill>
        <p:spPr>
          <a:xfrm>
            <a:off x="3590596" y="4493485"/>
            <a:ext cx="5010807" cy="2230617"/>
          </a:xfrm>
          <a:prstGeom prst="rect">
            <a:avLst/>
          </a:prstGeom>
        </p:spPr>
      </p:pic>
    </p:spTree>
    <p:extLst>
      <p:ext uri="{BB962C8B-B14F-4D97-AF65-F5344CB8AC3E}">
        <p14:creationId xmlns:p14="http://schemas.microsoft.com/office/powerpoint/2010/main" val="19700672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A336-0C7A-4854-1DD1-58FAA3C36A1D}"/>
              </a:ext>
            </a:extLst>
          </p:cNvPr>
          <p:cNvSpPr>
            <a:spLocks noGrp="1"/>
          </p:cNvSpPr>
          <p:nvPr>
            <p:ph type="title"/>
          </p:nvPr>
        </p:nvSpPr>
        <p:spPr/>
        <p:txBody>
          <a:bodyPr/>
          <a:lstStyle/>
          <a:p>
            <a:r>
              <a:rPr lang="en-US" dirty="0"/>
              <a:t>Smart Shared Pointers</a:t>
            </a:r>
          </a:p>
        </p:txBody>
      </p:sp>
      <p:pic>
        <p:nvPicPr>
          <p:cNvPr id="4" name="Picture 3">
            <a:extLst>
              <a:ext uri="{FF2B5EF4-FFF2-40B4-BE49-F238E27FC236}">
                <a16:creationId xmlns:a16="http://schemas.microsoft.com/office/drawing/2014/main" id="{D2F4C5B2-ED2D-58BE-832F-70F9BF2C2117}"/>
              </a:ext>
            </a:extLst>
          </p:cNvPr>
          <p:cNvPicPr>
            <a:picLocks noChangeAspect="1"/>
          </p:cNvPicPr>
          <p:nvPr/>
        </p:nvPicPr>
        <p:blipFill>
          <a:blip r:embed="rId2"/>
          <a:stretch>
            <a:fillRect/>
          </a:stretch>
        </p:blipFill>
        <p:spPr>
          <a:xfrm>
            <a:off x="2730500" y="2276583"/>
            <a:ext cx="6731000" cy="3187700"/>
          </a:xfrm>
          <a:prstGeom prst="rect">
            <a:avLst/>
          </a:prstGeom>
        </p:spPr>
      </p:pic>
    </p:spTree>
    <p:extLst>
      <p:ext uri="{BB962C8B-B14F-4D97-AF65-F5344CB8AC3E}">
        <p14:creationId xmlns:p14="http://schemas.microsoft.com/office/powerpoint/2010/main" val="308825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1539</TotalTime>
  <Words>3803</Words>
  <Application>Microsoft Macintosh PowerPoint</Application>
  <PresentationFormat>Widescreen</PresentationFormat>
  <Paragraphs>248</Paragraphs>
  <Slides>60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Aptos</vt:lpstr>
      <vt:lpstr>Aptos Display</vt:lpstr>
      <vt:lpstr>Arial</vt:lpstr>
      <vt:lpstr>Office Theme</vt:lpstr>
      <vt:lpstr>     Week 6 Pointers part 1 </vt:lpstr>
      <vt:lpstr>Pointers and the Address Operator</vt:lpstr>
      <vt:lpstr>Pointers and the Address Operator</vt:lpstr>
      <vt:lpstr>Example</vt:lpstr>
      <vt:lpstr>Pointer Variables</vt:lpstr>
      <vt:lpstr>Example</vt:lpstr>
      <vt:lpstr>Example</vt:lpstr>
      <vt:lpstr>The Relationship Between Arrays and Pointers</vt:lpstr>
      <vt:lpstr>Example</vt:lpstr>
      <vt:lpstr>The Relationship Between Arrays and Pointers</vt:lpstr>
      <vt:lpstr>The Relationship Between Arrays and Pointers</vt:lpstr>
      <vt:lpstr>The Relationship Between Arrays and Pointers</vt:lpstr>
      <vt:lpstr>Example</vt:lpstr>
      <vt:lpstr>Example</vt:lpstr>
      <vt:lpstr>The Relationship Between Arrays and Pointers</vt:lpstr>
      <vt:lpstr>Pointer Arithmetic</vt:lpstr>
      <vt:lpstr>Pointer Arithmetic</vt:lpstr>
      <vt:lpstr>Initializing Pointers</vt:lpstr>
      <vt:lpstr>Initializing Pointers</vt:lpstr>
      <vt:lpstr>Initializing Pointers</vt:lpstr>
      <vt:lpstr>Initializing Pointers</vt:lpstr>
      <vt:lpstr>Initializing Pointers</vt:lpstr>
      <vt:lpstr>Initializing Pointers</vt:lpstr>
      <vt:lpstr>Comparing Pointers</vt:lpstr>
      <vt:lpstr>Comparing pointers</vt:lpstr>
      <vt:lpstr>Comparing pointers</vt:lpstr>
      <vt:lpstr>Example</vt:lpstr>
      <vt:lpstr>Comparing pointers</vt:lpstr>
      <vt:lpstr>Pointers as Function Parameters</vt:lpstr>
      <vt:lpstr>Pointers as Function Parameters</vt:lpstr>
      <vt:lpstr>Pointers as Function Parameters</vt:lpstr>
      <vt:lpstr>Example</vt:lpstr>
      <vt:lpstr>Pointers to Constants and Constant Pointers</vt:lpstr>
      <vt:lpstr>Pointers to Constants</vt:lpstr>
      <vt:lpstr>Example</vt:lpstr>
      <vt:lpstr>Passing a Non-Constant Argument into a Pointer to a Constant</vt:lpstr>
      <vt:lpstr>Constant Pointers</vt:lpstr>
      <vt:lpstr>Constant Pointers</vt:lpstr>
      <vt:lpstr>Constant Pointers</vt:lpstr>
      <vt:lpstr>Constant Pointers to Constants</vt:lpstr>
      <vt:lpstr>Dynamic Memory Allocation</vt:lpstr>
      <vt:lpstr>Dynamic Memory Allocation</vt:lpstr>
      <vt:lpstr>Dynamic Memory Allocation</vt:lpstr>
      <vt:lpstr>Dynamic Memory Allocation</vt:lpstr>
      <vt:lpstr>Stack and Heap</vt:lpstr>
      <vt:lpstr>Stack and Heap</vt:lpstr>
      <vt:lpstr>Stack and Heap</vt:lpstr>
      <vt:lpstr>When to use?</vt:lpstr>
      <vt:lpstr>Dynamic Memory Allocation</vt:lpstr>
      <vt:lpstr>Dangling Pointers</vt:lpstr>
      <vt:lpstr>Dangling Pointers and Memory Leaks</vt:lpstr>
      <vt:lpstr>Example</vt:lpstr>
      <vt:lpstr>Returning Pointers from Functions</vt:lpstr>
      <vt:lpstr>Stopping memory leaks</vt:lpstr>
      <vt:lpstr>Example</vt:lpstr>
      <vt:lpstr>Smart Pointers</vt:lpstr>
      <vt:lpstr>Smart Unique Pointers</vt:lpstr>
      <vt:lpstr>Smart Unique Pointers</vt:lpstr>
      <vt:lpstr>Smart Shared Pointers</vt:lpstr>
      <vt:lpstr>Smart Shared Pointers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3</cp:revision>
  <dcterms:created xsi:type="dcterms:W3CDTF">2024-10-03T10:45:59Z</dcterms:created>
  <dcterms:modified xsi:type="dcterms:W3CDTF">2024-10-08T12:27:43Z</dcterms:modified>
</cp:coreProperties>
</file>