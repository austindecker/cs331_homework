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4527"/>
    <p:restoredTop sz="94595"/>
  </p:normalViewPr>
  <p:slideViewPr>
    <p:cSldViewPr snapToGrid="0">
      <p:cViewPr varScale="1">
        <p:scale>
          <a:sx n="148" d="100"/>
          <a:sy n="148" d="100"/>
        </p:scale>
        <p:origin x="216" y="130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8A2F-4365-D5E2-D465-032ACCB52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168BD9-20B6-6132-CF43-BF4037F75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7D49D7-B718-CF68-B131-58DDD5589467}"/>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F91F0153-DD61-796F-DD38-BFC69C071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E31BB-1528-52E3-57F2-CB41876B83DA}"/>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33570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6AE4-7F17-FC1A-AEC4-E26DDE87D3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26D4AB-2917-FBF4-1BB6-57665E9D97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89B2E-D113-42F7-E6CF-BAED9A35E275}"/>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119CB1DA-7EFC-ECE2-23C4-80FA6341FE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8B6B0-FAD1-7CA8-78A4-F216D1B2437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3842162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1137-6178-6DBB-C088-FE89EE044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80035A-CDD9-A970-FBEF-FBBE067EE0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7D358E-C6CD-8ED4-3FB3-3128BF9C794A}"/>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F93CE6F8-0115-B340-2938-D48935A71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157A9-C2C6-5795-EE96-D437B46EB2F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83838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F8EF-545A-B7EB-7890-4F1E50296F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99E7-C443-5CE9-70DA-B82DBCB7BC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801608-B1C3-35AE-7306-BFF44B53B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97C921-9281-CEC5-C4E4-E4299A2966D2}"/>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6" name="Footer Placeholder 5">
            <a:extLst>
              <a:ext uri="{FF2B5EF4-FFF2-40B4-BE49-F238E27FC236}">
                <a16:creationId xmlns:a16="http://schemas.microsoft.com/office/drawing/2014/main" id="{029AFBD3-ADC2-6227-9723-730D92C9D0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391D0E-C9B2-742D-D70E-DCD8DB8E1208}"/>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795963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6CDC-6789-FF32-3CA0-02585DB109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A5A97E-B86F-D8DF-E767-8616D6FB7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6E48E0-5054-086F-4FFC-D4AC47F67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3F346D-0796-6501-19BC-DDA99491C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AA787F-85A4-20D7-EA8C-51B2A391C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EFC7BC-FBAA-0AAE-4399-6F36B20245AD}"/>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8" name="Footer Placeholder 7">
            <a:extLst>
              <a:ext uri="{FF2B5EF4-FFF2-40B4-BE49-F238E27FC236}">
                <a16:creationId xmlns:a16="http://schemas.microsoft.com/office/drawing/2014/main" id="{B015EF69-FF40-DD9F-D5A3-13AE343106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F1A6A-C403-DDDD-1CD4-0A987324ED53}"/>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57520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C26B3-3804-E7B3-3B92-78DE01268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730C52-9D13-0847-8930-D435C70183BD}"/>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4" name="Footer Placeholder 3">
            <a:extLst>
              <a:ext uri="{FF2B5EF4-FFF2-40B4-BE49-F238E27FC236}">
                <a16:creationId xmlns:a16="http://schemas.microsoft.com/office/drawing/2014/main" id="{4FDFA2C4-A8C8-32EC-6EB1-986FF56994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CF24A0-B09F-3C0B-C443-82679100D61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1101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A0262F-0E93-7E41-72CF-CC3EAF61A24E}"/>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3" name="Footer Placeholder 2">
            <a:extLst>
              <a:ext uri="{FF2B5EF4-FFF2-40B4-BE49-F238E27FC236}">
                <a16:creationId xmlns:a16="http://schemas.microsoft.com/office/drawing/2014/main" id="{F8B6710B-B1FF-E21A-A584-15BCDB23A2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089A74-0247-D372-4573-C677AE78A2E6}"/>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7977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A0688-698F-7220-55CA-D1D4F24E48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EAE0F9-2DB2-C10B-2E41-7D142A2BA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D97DB5-D3EB-F0E5-1D61-A6394CA81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C89F95-245A-0434-6A9E-37096778D1EB}"/>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6" name="Footer Placeholder 5">
            <a:extLst>
              <a:ext uri="{FF2B5EF4-FFF2-40B4-BE49-F238E27FC236}">
                <a16:creationId xmlns:a16="http://schemas.microsoft.com/office/drawing/2014/main" id="{781B5273-4A7F-1AFA-8F24-4F848FC0EB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B8C4D-2D7F-FD00-4A07-DEABE7743AAB}"/>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36086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7174-4C00-F804-29B4-297237F404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D7FEAB-CBAE-A3B1-699B-13162DB88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BACF55-65F0-0D3E-70AF-E96D33AD6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C6923-07F1-69BD-A683-944C9CB5CD77}"/>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6" name="Footer Placeholder 5">
            <a:extLst>
              <a:ext uri="{FF2B5EF4-FFF2-40B4-BE49-F238E27FC236}">
                <a16:creationId xmlns:a16="http://schemas.microsoft.com/office/drawing/2014/main" id="{99C0F8AA-66CD-A080-E392-8E4E411B4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ACD9A-A2D5-3AFA-65E5-1BF4C0C1286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268870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8D362-7F81-BF76-C8CF-2C3733AE2A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2091F-1AA0-C68C-5A8B-375EEC481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EF810-347E-5CFF-9CBA-97CC8C22D238}"/>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E6AC8737-B0BC-464F-4D12-C22A26757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8CD53-93BF-36F6-7EF8-844EB3782C82}"/>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97553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BE4A8-DF77-AF54-2065-2902B39AC5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7173AD-7E3C-8080-B4D8-9FF01054EB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34E86-26A4-D0DD-1DC9-BCFD2FBD5268}"/>
              </a:ext>
            </a:extLst>
          </p:cNvPr>
          <p:cNvSpPr>
            <a:spLocks noGrp="1"/>
          </p:cNvSpPr>
          <p:nvPr>
            <p:ph type="dt" sz="half" idx="10"/>
          </p:nvPr>
        </p:nvSpPr>
        <p:spPr/>
        <p:txBody>
          <a:body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7DF2FEDE-FE64-8081-CE0E-9FB11A8A3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6AE6F-D644-6875-829D-930EE7F148A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405436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F8EA3-0678-0EB3-E63D-4BFBB48B9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7A29FB-933F-187E-E825-6424E7777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7FC7-062B-BD80-56AB-FEA5BF4CF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73D3D-5D8B-C945-AD7A-9665419A7C3F}" type="datetimeFigureOut">
              <a:rPr lang="en-US" smtClean="0"/>
              <a:t>10/3/24</a:t>
            </a:fld>
            <a:endParaRPr lang="en-US"/>
          </a:p>
        </p:txBody>
      </p:sp>
      <p:sp>
        <p:nvSpPr>
          <p:cNvPr id="5" name="Footer Placeholder 4">
            <a:extLst>
              <a:ext uri="{FF2B5EF4-FFF2-40B4-BE49-F238E27FC236}">
                <a16:creationId xmlns:a16="http://schemas.microsoft.com/office/drawing/2014/main" id="{AC39BD25-23E6-4D92-6C08-2B348713F7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C9B6CF-BFCC-1782-B9B2-5561C002E0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0A00FB-7AB9-794E-8F93-21ED628BF8EA}" type="slidenum">
              <a:rPr lang="en-US" smtClean="0"/>
              <a:t>‹#›</a:t>
            </a:fld>
            <a:endParaRPr lang="en-US"/>
          </a:p>
        </p:txBody>
      </p:sp>
    </p:spTree>
    <p:extLst>
      <p:ext uri="{BB962C8B-B14F-4D97-AF65-F5344CB8AC3E}">
        <p14:creationId xmlns:p14="http://schemas.microsoft.com/office/powerpoint/2010/main" val="899147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5531509-1e98-4310-86ce-b239f26e537d?userPreferredType=re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63fdeaed-fe77-4a89-bda7-76bd35d4b65b?userPreferredType=rea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728487db-c307-4ea8-93b1-a5b19a1803c5?userPreferredType=read"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plus.pearson.com/products/38bfda0e-08b5-4b34-9a14-38c88560fefb/pages/urn:pearson:entity:2a1f2a78-a27a-4c80-ac37-721a0018aa79?userPreferredType=read" TargetMode="Externa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7D9B-EE36-3E21-CA75-0CE4E325C93C}"/>
              </a:ext>
            </a:extLst>
          </p:cNvPr>
          <p:cNvSpPr>
            <a:spLocks noGrp="1"/>
          </p:cNvSpPr>
          <p:nvPr>
            <p:ph type="ctrTitle"/>
          </p:nvPr>
        </p:nvSpPr>
        <p:spPr>
          <a:xfrm>
            <a:off x="1524000" y="1122363"/>
            <a:ext cx="9144000" cy="2975184"/>
          </a:xfrm>
        </p:spPr>
        <p:txBody>
          <a:bodyPr>
            <a:normAutofit fontScale="90000"/>
          </a:bodyPr>
          <a:lstStyle/>
          <a:p>
            <a:br>
              <a:rPr lang="en-US" dirty="0"/>
            </a:br>
            <a:br>
              <a:rPr lang="en-US" dirty="0"/>
            </a:br>
            <a:br>
              <a:rPr lang="en-US" dirty="0"/>
            </a:br>
            <a:br>
              <a:rPr lang="en-US" dirty="0"/>
            </a:br>
            <a:br>
              <a:rPr lang="en-US" dirty="0"/>
            </a:br>
            <a:r>
              <a:rPr lang="en-US" dirty="0"/>
              <a:t>Week 6</a:t>
            </a:r>
            <a:br>
              <a:rPr lang="en-US" dirty="0"/>
            </a:br>
            <a:r>
              <a:rPr lang="en-US" dirty="0"/>
              <a:t>Pointers part 1</a:t>
            </a:r>
            <a:br>
              <a:rPr lang="en-US" dirty="0"/>
            </a:br>
            <a:endParaRPr lang="en-US" dirty="0"/>
          </a:p>
        </p:txBody>
      </p:sp>
      <p:sp>
        <p:nvSpPr>
          <p:cNvPr id="3" name="Subtitle 2">
            <a:extLst>
              <a:ext uri="{FF2B5EF4-FFF2-40B4-BE49-F238E27FC236}">
                <a16:creationId xmlns:a16="http://schemas.microsoft.com/office/drawing/2014/main" id="{39BF1D26-46C3-12F2-BE0C-D63583E2D9CE}"/>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a:p>
            <a:endParaRPr lang="en-US" dirty="0"/>
          </a:p>
        </p:txBody>
      </p:sp>
    </p:spTree>
    <p:extLst>
      <p:ext uri="{BB962C8B-B14F-4D97-AF65-F5344CB8AC3E}">
        <p14:creationId xmlns:p14="http://schemas.microsoft.com/office/powerpoint/2010/main" val="624838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EEF3-B03A-16E9-09E1-F46ED65DC432}"/>
              </a:ext>
            </a:extLst>
          </p:cNvPr>
          <p:cNvSpPr>
            <a:spLocks noGrp="1"/>
          </p:cNvSpPr>
          <p:nvPr>
            <p:ph type="title"/>
          </p:nvPr>
        </p:nvSpPr>
        <p:spPr/>
        <p:txBody>
          <a:bodyPr/>
          <a:lstStyle/>
          <a:p>
            <a:r>
              <a:rPr lang="en-US" dirty="0"/>
              <a:t>Pointers and the Address Operator</a:t>
            </a:r>
          </a:p>
        </p:txBody>
      </p:sp>
      <p:sp>
        <p:nvSpPr>
          <p:cNvPr id="3" name="Content Placeholder 2">
            <a:extLst>
              <a:ext uri="{FF2B5EF4-FFF2-40B4-BE49-F238E27FC236}">
                <a16:creationId xmlns:a16="http://schemas.microsoft.com/office/drawing/2014/main" id="{1B4607D8-4572-E9D3-AFD7-5532DD28F7DA}"/>
              </a:ext>
            </a:extLst>
          </p:cNvPr>
          <p:cNvSpPr>
            <a:spLocks noGrp="1"/>
          </p:cNvSpPr>
          <p:nvPr>
            <p:ph idx="1"/>
          </p:nvPr>
        </p:nvSpPr>
        <p:spPr/>
        <p:txBody>
          <a:bodyPr/>
          <a:lstStyle/>
          <a:p>
            <a:r>
              <a:rPr lang="en-US" dirty="0"/>
              <a:t>Every variable is assigned a memory location whose address can be retrieved using the address operator &amp;. </a:t>
            </a:r>
          </a:p>
          <a:p>
            <a:r>
              <a:rPr lang="en-US" b="1" dirty="0"/>
              <a:t>The address of a memory location is called a </a:t>
            </a:r>
            <a:r>
              <a:rPr lang="en-US" b="1" i="1" dirty="0"/>
              <a:t>pointer.</a:t>
            </a:r>
          </a:p>
          <a:p>
            <a:r>
              <a:rPr lang="en-US" dirty="0"/>
              <a:t>Each byte of memory has a unique address. A variable’s address is the address of the first byte allocated to that variable.</a:t>
            </a:r>
            <a:endParaRPr lang="en-US" b="1" dirty="0"/>
          </a:p>
        </p:txBody>
      </p:sp>
      <p:pic>
        <p:nvPicPr>
          <p:cNvPr id="4" name="Picture 3">
            <a:extLst>
              <a:ext uri="{FF2B5EF4-FFF2-40B4-BE49-F238E27FC236}">
                <a16:creationId xmlns:a16="http://schemas.microsoft.com/office/drawing/2014/main" id="{851361C4-5AED-78C4-47D7-7E2EB8C220A9}"/>
              </a:ext>
            </a:extLst>
          </p:cNvPr>
          <p:cNvPicPr>
            <a:picLocks noChangeAspect="1"/>
          </p:cNvPicPr>
          <p:nvPr/>
        </p:nvPicPr>
        <p:blipFill>
          <a:blip r:embed="rId2"/>
          <a:stretch>
            <a:fillRect/>
          </a:stretch>
        </p:blipFill>
        <p:spPr>
          <a:xfrm>
            <a:off x="3702532" y="4526322"/>
            <a:ext cx="4786935" cy="1362704"/>
          </a:xfrm>
          <a:prstGeom prst="rect">
            <a:avLst/>
          </a:prstGeom>
        </p:spPr>
      </p:pic>
    </p:spTree>
    <p:extLst>
      <p:ext uri="{BB962C8B-B14F-4D97-AF65-F5344CB8AC3E}">
        <p14:creationId xmlns:p14="http://schemas.microsoft.com/office/powerpoint/2010/main" val="4114593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8C9B-BED0-B50C-5514-D582B8D4C5D8}"/>
              </a:ext>
            </a:extLst>
          </p:cNvPr>
          <p:cNvSpPr>
            <a:spLocks noGrp="1"/>
          </p:cNvSpPr>
          <p:nvPr>
            <p:ph type="title"/>
          </p:nvPr>
        </p:nvSpPr>
        <p:spPr/>
        <p:txBody>
          <a:bodyPr/>
          <a:lstStyle/>
          <a:p>
            <a:r>
              <a:rPr lang="en-US" dirty="0"/>
              <a:t>Pointers and the Address Operator</a:t>
            </a:r>
          </a:p>
        </p:txBody>
      </p:sp>
      <p:sp>
        <p:nvSpPr>
          <p:cNvPr id="3" name="Content Placeholder 2">
            <a:extLst>
              <a:ext uri="{FF2B5EF4-FFF2-40B4-BE49-F238E27FC236}">
                <a16:creationId xmlns:a16="http://schemas.microsoft.com/office/drawing/2014/main" id="{626AA444-1CA0-4AA3-966F-6AE2E8D4BE9D}"/>
              </a:ext>
            </a:extLst>
          </p:cNvPr>
          <p:cNvSpPr>
            <a:spLocks noGrp="1"/>
          </p:cNvSpPr>
          <p:nvPr>
            <p:ph idx="1"/>
          </p:nvPr>
        </p:nvSpPr>
        <p:spPr/>
        <p:txBody>
          <a:bodyPr/>
          <a:lstStyle/>
          <a:p>
            <a:r>
              <a:rPr lang="en-US" dirty="0"/>
              <a:t>C++ has an </a:t>
            </a:r>
            <a:r>
              <a:rPr lang="en-US" dirty="0">
                <a:hlinkClick r:id="rId2"/>
              </a:rPr>
              <a:t>address operator</a:t>
            </a:r>
            <a:r>
              <a:rPr lang="en-US" dirty="0"/>
              <a:t> &amp; that can be used to retrieve the address of any variable. - </a:t>
            </a:r>
            <a:r>
              <a:rPr lang="en-US" b="1" i="1" dirty="0"/>
              <a:t>&amp;amount</a:t>
            </a:r>
          </a:p>
          <a:p>
            <a:r>
              <a:rPr lang="en-US" b="1" i="1" dirty="0" err="1"/>
              <a:t>cout</a:t>
            </a:r>
            <a:r>
              <a:rPr lang="en-US" b="1" i="1" dirty="0"/>
              <a:t> ≪ </a:t>
            </a:r>
            <a:r>
              <a:rPr lang="en-US" b="1" i="1" dirty="0">
                <a:solidFill>
                  <a:srgbClr val="333333"/>
                </a:solidFill>
                <a:effectLst/>
              </a:rPr>
              <a:t>long</a:t>
            </a:r>
            <a:r>
              <a:rPr lang="en-US" b="1" i="1" dirty="0"/>
              <a:t>(&amp;amount); </a:t>
            </a:r>
          </a:p>
          <a:p>
            <a:r>
              <a:rPr lang="en-US" dirty="0"/>
              <a:t>By default, C++ prints addresses in hexadecimal. </a:t>
            </a:r>
            <a:endParaRPr lang="en-US" b="1" i="1" dirty="0"/>
          </a:p>
        </p:txBody>
      </p:sp>
    </p:spTree>
    <p:extLst>
      <p:ext uri="{BB962C8B-B14F-4D97-AF65-F5344CB8AC3E}">
        <p14:creationId xmlns:p14="http://schemas.microsoft.com/office/powerpoint/2010/main" val="349992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4D41-096D-5827-E946-225D3CF0958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1DDBA5FE-A31F-D52F-6135-74F3221CAB24}"/>
              </a:ext>
            </a:extLst>
          </p:cNvPr>
          <p:cNvPicPr>
            <a:picLocks noChangeAspect="1"/>
          </p:cNvPicPr>
          <p:nvPr/>
        </p:nvPicPr>
        <p:blipFill>
          <a:blip r:embed="rId2"/>
          <a:stretch>
            <a:fillRect/>
          </a:stretch>
        </p:blipFill>
        <p:spPr>
          <a:xfrm>
            <a:off x="5900169" y="0"/>
            <a:ext cx="5453631" cy="6858000"/>
          </a:xfrm>
          <a:prstGeom prst="rect">
            <a:avLst/>
          </a:prstGeom>
        </p:spPr>
      </p:pic>
      <p:pic>
        <p:nvPicPr>
          <p:cNvPr id="5" name="Picture 4">
            <a:extLst>
              <a:ext uri="{FF2B5EF4-FFF2-40B4-BE49-F238E27FC236}">
                <a16:creationId xmlns:a16="http://schemas.microsoft.com/office/drawing/2014/main" id="{6B3C8F41-ECC7-3C1F-8DF4-8A87438099FD}"/>
              </a:ext>
            </a:extLst>
          </p:cNvPr>
          <p:cNvPicPr>
            <a:picLocks noChangeAspect="1"/>
          </p:cNvPicPr>
          <p:nvPr/>
        </p:nvPicPr>
        <p:blipFill>
          <a:blip r:embed="rId3"/>
          <a:stretch>
            <a:fillRect/>
          </a:stretch>
        </p:blipFill>
        <p:spPr>
          <a:xfrm>
            <a:off x="612320" y="2681514"/>
            <a:ext cx="4798715" cy="2053771"/>
          </a:xfrm>
          <a:prstGeom prst="rect">
            <a:avLst/>
          </a:prstGeom>
        </p:spPr>
      </p:pic>
    </p:spTree>
    <p:extLst>
      <p:ext uri="{BB962C8B-B14F-4D97-AF65-F5344CB8AC3E}">
        <p14:creationId xmlns:p14="http://schemas.microsoft.com/office/powerpoint/2010/main" val="95805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B1F3-22B6-E834-968B-547E7C49B017}"/>
              </a:ext>
            </a:extLst>
          </p:cNvPr>
          <p:cNvSpPr>
            <a:spLocks noGrp="1"/>
          </p:cNvSpPr>
          <p:nvPr>
            <p:ph type="title"/>
          </p:nvPr>
        </p:nvSpPr>
        <p:spPr/>
        <p:txBody>
          <a:bodyPr/>
          <a:lstStyle/>
          <a:p>
            <a:r>
              <a:rPr lang="en-US" dirty="0"/>
              <a:t>Pointer Variables</a:t>
            </a:r>
          </a:p>
        </p:txBody>
      </p:sp>
      <p:sp>
        <p:nvSpPr>
          <p:cNvPr id="3" name="Content Placeholder 2">
            <a:extLst>
              <a:ext uri="{FF2B5EF4-FFF2-40B4-BE49-F238E27FC236}">
                <a16:creationId xmlns:a16="http://schemas.microsoft.com/office/drawing/2014/main" id="{2778E5F6-DA96-6028-BFC9-72E4F8E9D12C}"/>
              </a:ext>
            </a:extLst>
          </p:cNvPr>
          <p:cNvSpPr>
            <a:spLocks noGrp="1"/>
          </p:cNvSpPr>
          <p:nvPr>
            <p:ph idx="1"/>
          </p:nvPr>
        </p:nvSpPr>
        <p:spPr/>
        <p:txBody>
          <a:bodyPr/>
          <a:lstStyle/>
          <a:p>
            <a:r>
              <a:rPr lang="en-US" dirty="0"/>
              <a:t>Like other data values, memory addresses, or pointer values, can be stored in variables of the appropriate type. </a:t>
            </a:r>
          </a:p>
          <a:p>
            <a:r>
              <a:rPr lang="en-US" b="1" dirty="0"/>
              <a:t>A variable that stores an address is called a </a:t>
            </a:r>
            <a:r>
              <a:rPr lang="en-US" b="1" dirty="0">
                <a:hlinkClick r:id="rId2"/>
              </a:rPr>
              <a:t>pointer variable</a:t>
            </a:r>
            <a:r>
              <a:rPr lang="en-US" b="1" i="1" dirty="0"/>
              <a:t>,</a:t>
            </a:r>
            <a:r>
              <a:rPr lang="en-US" b="1" dirty="0"/>
              <a:t> but is often simply referred to as just a </a:t>
            </a:r>
            <a:r>
              <a:rPr lang="en-US" b="1" i="1" dirty="0"/>
              <a:t>pointer.</a:t>
            </a:r>
          </a:p>
          <a:p>
            <a:r>
              <a:rPr lang="en-US" b="1" i="1" dirty="0">
                <a:solidFill>
                  <a:srgbClr val="FF0000"/>
                </a:solidFill>
                <a:effectLst/>
              </a:rPr>
              <a:t>int</a:t>
            </a:r>
            <a:r>
              <a:rPr lang="en-US" b="1" i="1" dirty="0">
                <a:solidFill>
                  <a:srgbClr val="FF0000"/>
                </a:solidFill>
              </a:rPr>
              <a:t> *</a:t>
            </a:r>
            <a:r>
              <a:rPr lang="en-US" b="1" i="1" dirty="0" err="1">
                <a:solidFill>
                  <a:srgbClr val="FF0000"/>
                </a:solidFill>
              </a:rPr>
              <a:t>ptr</a:t>
            </a:r>
            <a:r>
              <a:rPr lang="en-US" b="1" i="1" dirty="0">
                <a:solidFill>
                  <a:srgbClr val="FF0000"/>
                </a:solidFill>
              </a:rPr>
              <a:t>;</a:t>
            </a:r>
            <a:r>
              <a:rPr lang="en-US" b="1" dirty="0">
                <a:solidFill>
                  <a:srgbClr val="FF0000"/>
                </a:solidFill>
              </a:rPr>
              <a:t> </a:t>
            </a:r>
          </a:p>
          <a:p>
            <a:r>
              <a:rPr lang="en-US" dirty="0"/>
              <a:t>The asterisk before the variable name indicates that </a:t>
            </a:r>
            <a:r>
              <a:rPr lang="en-US" dirty="0" err="1"/>
              <a:t>ptr</a:t>
            </a:r>
            <a:r>
              <a:rPr lang="en-US" dirty="0"/>
              <a:t> is a pointer variable, and the int data type indicates that </a:t>
            </a:r>
            <a:r>
              <a:rPr lang="en-US" dirty="0" err="1"/>
              <a:t>ptr</a:t>
            </a:r>
            <a:r>
              <a:rPr lang="en-US" dirty="0"/>
              <a:t> can only be used to point to, or hold addresses of, integer variables. </a:t>
            </a:r>
            <a:endParaRPr lang="en-US" b="1" dirty="0"/>
          </a:p>
          <a:p>
            <a:pPr lvl="1"/>
            <a:endParaRPr lang="en-US" b="1" i="1" dirty="0"/>
          </a:p>
        </p:txBody>
      </p:sp>
    </p:spTree>
    <p:extLst>
      <p:ext uri="{BB962C8B-B14F-4D97-AF65-F5344CB8AC3E}">
        <p14:creationId xmlns:p14="http://schemas.microsoft.com/office/powerpoint/2010/main" val="1332814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1686F-E4C3-8E6D-7C7E-926F02E648B9}"/>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CB883BBD-6FDF-1173-B2CC-838D55BBF761}"/>
              </a:ext>
            </a:extLst>
          </p:cNvPr>
          <p:cNvPicPr>
            <a:picLocks noGrp="1" noChangeAspect="1"/>
          </p:cNvPicPr>
          <p:nvPr>
            <p:ph idx="1"/>
          </p:nvPr>
        </p:nvPicPr>
        <p:blipFill>
          <a:blip r:embed="rId2"/>
          <a:stretch>
            <a:fillRect/>
          </a:stretch>
        </p:blipFill>
        <p:spPr>
          <a:xfrm>
            <a:off x="5301170" y="570377"/>
            <a:ext cx="5730973" cy="5588883"/>
          </a:xfrm>
          <a:prstGeom prst="rect">
            <a:avLst/>
          </a:prstGeom>
        </p:spPr>
      </p:pic>
      <p:pic>
        <p:nvPicPr>
          <p:cNvPr id="5" name="Picture 4">
            <a:extLst>
              <a:ext uri="{FF2B5EF4-FFF2-40B4-BE49-F238E27FC236}">
                <a16:creationId xmlns:a16="http://schemas.microsoft.com/office/drawing/2014/main" id="{F5985174-C5F9-EAA6-154C-F836E7647FBA}"/>
              </a:ext>
            </a:extLst>
          </p:cNvPr>
          <p:cNvPicPr>
            <a:picLocks noChangeAspect="1"/>
          </p:cNvPicPr>
          <p:nvPr/>
        </p:nvPicPr>
        <p:blipFill>
          <a:blip r:embed="rId3"/>
          <a:stretch>
            <a:fillRect/>
          </a:stretch>
        </p:blipFill>
        <p:spPr>
          <a:xfrm>
            <a:off x="753492" y="3025991"/>
            <a:ext cx="3647979" cy="899028"/>
          </a:xfrm>
          <a:prstGeom prst="rect">
            <a:avLst/>
          </a:prstGeom>
        </p:spPr>
      </p:pic>
    </p:spTree>
    <p:extLst>
      <p:ext uri="{BB962C8B-B14F-4D97-AF65-F5344CB8AC3E}">
        <p14:creationId xmlns:p14="http://schemas.microsoft.com/office/powerpoint/2010/main" val="3343960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CC62-1DE2-D298-AE25-C1BD7EDB8C0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475734B-7F6C-0491-CB4A-1629E6A6AC5E}"/>
              </a:ext>
            </a:extLst>
          </p:cNvPr>
          <p:cNvSpPr>
            <a:spLocks noGrp="1"/>
          </p:cNvSpPr>
          <p:nvPr>
            <p:ph idx="1"/>
          </p:nvPr>
        </p:nvSpPr>
        <p:spPr>
          <a:xfrm>
            <a:off x="838200" y="1825625"/>
            <a:ext cx="2603740" cy="4351338"/>
          </a:xfrm>
        </p:spPr>
        <p:txBody>
          <a:bodyPr/>
          <a:lstStyle/>
          <a:p>
            <a:r>
              <a:rPr lang="en-US" dirty="0"/>
              <a:t>You can use a pointer to indirectly access and modify the variable being pointed to.</a:t>
            </a:r>
          </a:p>
        </p:txBody>
      </p:sp>
      <p:pic>
        <p:nvPicPr>
          <p:cNvPr id="4" name="Picture 3">
            <a:extLst>
              <a:ext uri="{FF2B5EF4-FFF2-40B4-BE49-F238E27FC236}">
                <a16:creationId xmlns:a16="http://schemas.microsoft.com/office/drawing/2014/main" id="{66894E6D-A230-BE14-871C-1899988F7E55}"/>
              </a:ext>
            </a:extLst>
          </p:cNvPr>
          <p:cNvPicPr>
            <a:picLocks noChangeAspect="1"/>
          </p:cNvPicPr>
          <p:nvPr/>
        </p:nvPicPr>
        <p:blipFill>
          <a:blip r:embed="rId2"/>
          <a:stretch>
            <a:fillRect/>
          </a:stretch>
        </p:blipFill>
        <p:spPr>
          <a:xfrm>
            <a:off x="4814018" y="21752"/>
            <a:ext cx="4493883" cy="6814495"/>
          </a:xfrm>
          <a:prstGeom prst="rect">
            <a:avLst/>
          </a:prstGeom>
        </p:spPr>
      </p:pic>
    </p:spTree>
    <p:extLst>
      <p:ext uri="{BB962C8B-B14F-4D97-AF65-F5344CB8AC3E}">
        <p14:creationId xmlns:p14="http://schemas.microsoft.com/office/powerpoint/2010/main" val="2393591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006B-7961-CDA6-78A0-B79C5981DB5C}"/>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FC9CC973-AF15-E25A-1DBA-F6A64CFB0045}"/>
              </a:ext>
            </a:extLst>
          </p:cNvPr>
          <p:cNvSpPr>
            <a:spLocks noGrp="1"/>
          </p:cNvSpPr>
          <p:nvPr>
            <p:ph idx="1"/>
          </p:nvPr>
        </p:nvSpPr>
        <p:spPr/>
        <p:txBody>
          <a:bodyPr/>
          <a:lstStyle/>
          <a:p>
            <a:r>
              <a:rPr lang="en-US" dirty="0"/>
              <a:t>You learned earlier that an array name, without brackets and a subscript, actually represents the starting address of the array.</a:t>
            </a:r>
          </a:p>
          <a:p>
            <a:r>
              <a:rPr lang="en-US" dirty="0"/>
              <a:t>This means that an array name is really a pointer</a:t>
            </a:r>
          </a:p>
          <a:p>
            <a:r>
              <a:rPr lang="en-US" b="1" dirty="0"/>
              <a:t>So, Array names can be used as pointer constants, and pointers can be used as array names.</a:t>
            </a:r>
          </a:p>
        </p:txBody>
      </p:sp>
    </p:spTree>
    <p:extLst>
      <p:ext uri="{BB962C8B-B14F-4D97-AF65-F5344CB8AC3E}">
        <p14:creationId xmlns:p14="http://schemas.microsoft.com/office/powerpoint/2010/main" val="1923666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0EC77-F3E1-A2A0-FD36-3308E80CD6E7}"/>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B95E26CE-EFF5-5AC8-6409-3B103D776F91}"/>
              </a:ext>
            </a:extLst>
          </p:cNvPr>
          <p:cNvPicPr>
            <a:picLocks noGrp="1" noChangeAspect="1"/>
          </p:cNvPicPr>
          <p:nvPr>
            <p:ph idx="1"/>
          </p:nvPr>
        </p:nvPicPr>
        <p:blipFill>
          <a:blip r:embed="rId2"/>
          <a:stretch>
            <a:fillRect/>
          </a:stretch>
        </p:blipFill>
        <p:spPr>
          <a:xfrm>
            <a:off x="1021989" y="1513651"/>
            <a:ext cx="5212391" cy="4533466"/>
          </a:xfrm>
          <a:prstGeom prst="rect">
            <a:avLst/>
          </a:prstGeom>
        </p:spPr>
      </p:pic>
      <p:sp>
        <p:nvSpPr>
          <p:cNvPr id="6" name="TextBox 5">
            <a:extLst>
              <a:ext uri="{FF2B5EF4-FFF2-40B4-BE49-F238E27FC236}">
                <a16:creationId xmlns:a16="http://schemas.microsoft.com/office/drawing/2014/main" id="{5D6EF762-3241-00ED-1BFA-C9279987D9CA}"/>
              </a:ext>
            </a:extLst>
          </p:cNvPr>
          <p:cNvSpPr txBox="1"/>
          <p:nvPr/>
        </p:nvSpPr>
        <p:spPr>
          <a:xfrm>
            <a:off x="6766881" y="2026058"/>
            <a:ext cx="4831092" cy="2585323"/>
          </a:xfrm>
          <a:prstGeom prst="rect">
            <a:avLst/>
          </a:prstGeom>
          <a:noFill/>
        </p:spPr>
        <p:txBody>
          <a:bodyPr wrap="square" rtlCol="0">
            <a:spAutoFit/>
          </a:bodyPr>
          <a:lstStyle/>
          <a:p>
            <a:pPr marL="285750" indent="-285750">
              <a:buFont typeface="Arial" panose="020B0604020202020204" pitchFamily="34" charset="0"/>
              <a:buChar char="•"/>
            </a:pPr>
            <a:r>
              <a:rPr lang="en-US" dirty="0"/>
              <a:t>Because numbers works like a pointer to the starting address of the array in. </a:t>
            </a:r>
          </a:p>
          <a:p>
            <a:endParaRPr lang="en-US" dirty="0"/>
          </a:p>
          <a:p>
            <a:pPr marL="285750" indent="-285750">
              <a:buFont typeface="Arial" panose="020B0604020202020204" pitchFamily="34" charset="0"/>
              <a:buChar char="•"/>
            </a:pPr>
            <a:r>
              <a:rPr lang="en-US" dirty="0"/>
              <a:t>In this program, the first element is retrieved when numbers is dereferenced. </a:t>
            </a:r>
          </a:p>
          <a:p>
            <a:endParaRPr lang="en-US" dirty="0"/>
          </a:p>
          <a:p>
            <a:pPr marL="285750" indent="-285750">
              <a:buFont typeface="Arial" panose="020B0604020202020204" pitchFamily="34" charset="0"/>
              <a:buChar char="•"/>
            </a:pPr>
            <a:r>
              <a:rPr lang="en-US" b="1" dirty="0"/>
              <a:t>So, how could the entire contents of an array be retrieved using the indirection operator? </a:t>
            </a:r>
          </a:p>
        </p:txBody>
      </p:sp>
    </p:spTree>
    <p:extLst>
      <p:ext uri="{BB962C8B-B14F-4D97-AF65-F5344CB8AC3E}">
        <p14:creationId xmlns:p14="http://schemas.microsoft.com/office/powerpoint/2010/main" val="94418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DBD8C-E542-A168-294E-186F512AD729}"/>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C02E7FD9-7518-E4C0-B5CD-6C7C27317E6E}"/>
              </a:ext>
            </a:extLst>
          </p:cNvPr>
          <p:cNvSpPr>
            <a:spLocks noGrp="1"/>
          </p:cNvSpPr>
          <p:nvPr>
            <p:ph idx="1"/>
          </p:nvPr>
        </p:nvSpPr>
        <p:spPr/>
        <p:txBody>
          <a:bodyPr/>
          <a:lstStyle/>
          <a:p>
            <a:r>
              <a:rPr lang="en-US" dirty="0"/>
              <a:t>Remember, array elements are stored together in memory</a:t>
            </a:r>
          </a:p>
          <a:p>
            <a:endParaRPr lang="en-US" dirty="0"/>
          </a:p>
          <a:p>
            <a:endParaRPr lang="en-US" dirty="0"/>
          </a:p>
          <a:p>
            <a:endParaRPr lang="en-US" dirty="0"/>
          </a:p>
          <a:p>
            <a:r>
              <a:rPr lang="en-US" dirty="0"/>
              <a:t>It makes sense that if numbers is the address of numbers[0], values could be added to numbers to get the addresses of the other elements in the array. </a:t>
            </a:r>
          </a:p>
          <a:p>
            <a:r>
              <a:rPr lang="en-US" dirty="0"/>
              <a:t>It’s important to know, however, that pointers do not work like regular variables when used in mathematical statements.</a:t>
            </a:r>
          </a:p>
        </p:txBody>
      </p:sp>
      <p:pic>
        <p:nvPicPr>
          <p:cNvPr id="4" name="Picture 3">
            <a:extLst>
              <a:ext uri="{FF2B5EF4-FFF2-40B4-BE49-F238E27FC236}">
                <a16:creationId xmlns:a16="http://schemas.microsoft.com/office/drawing/2014/main" id="{5EF0DCB4-EA6A-8321-7B55-1BC4C7BB19B2}"/>
              </a:ext>
            </a:extLst>
          </p:cNvPr>
          <p:cNvPicPr>
            <a:picLocks noChangeAspect="1"/>
          </p:cNvPicPr>
          <p:nvPr/>
        </p:nvPicPr>
        <p:blipFill>
          <a:blip r:embed="rId2"/>
          <a:stretch>
            <a:fillRect/>
          </a:stretch>
        </p:blipFill>
        <p:spPr>
          <a:xfrm>
            <a:off x="3870310" y="2351896"/>
            <a:ext cx="4451380" cy="796745"/>
          </a:xfrm>
          <a:prstGeom prst="rect">
            <a:avLst/>
          </a:prstGeom>
        </p:spPr>
      </p:pic>
    </p:spTree>
    <p:extLst>
      <p:ext uri="{BB962C8B-B14F-4D97-AF65-F5344CB8AC3E}">
        <p14:creationId xmlns:p14="http://schemas.microsoft.com/office/powerpoint/2010/main" val="1586108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2BE8-F893-2C12-6925-3857986AE09E}"/>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A13B0696-98DF-B2F7-EFC2-FFCA92E7B07C}"/>
              </a:ext>
            </a:extLst>
          </p:cNvPr>
          <p:cNvSpPr>
            <a:spLocks noGrp="1"/>
          </p:cNvSpPr>
          <p:nvPr>
            <p:ph idx="1"/>
          </p:nvPr>
        </p:nvSpPr>
        <p:spPr/>
        <p:txBody>
          <a:bodyPr/>
          <a:lstStyle/>
          <a:p>
            <a:r>
              <a:rPr lang="en-US" dirty="0"/>
              <a:t>In C++, when you add a value to a pointer, you are actually adding that value </a:t>
            </a:r>
            <a:r>
              <a:rPr lang="en-US" i="1" dirty="0"/>
              <a:t>times the size of the data type being referenced by the pointer</a:t>
            </a:r>
            <a:r>
              <a:rPr lang="en-US" dirty="0"/>
              <a:t>. </a:t>
            </a:r>
          </a:p>
          <a:p>
            <a:r>
              <a:rPr lang="en-US" dirty="0"/>
              <a:t>In other words, if you add one to numbers, you are actually adding </a:t>
            </a:r>
            <a:r>
              <a:rPr lang="en-US" b="1" dirty="0"/>
              <a:t>1 * </a:t>
            </a:r>
            <a:r>
              <a:rPr lang="en-US" b="1" dirty="0" err="1"/>
              <a:t>sizeof</a:t>
            </a:r>
            <a:r>
              <a:rPr lang="en-US" b="1" dirty="0"/>
              <a:t>(short) to numbers. </a:t>
            </a:r>
            <a:r>
              <a:rPr lang="en-US" dirty="0"/>
              <a:t>If you add two to numbers, the result is </a:t>
            </a:r>
            <a:r>
              <a:rPr lang="en-US" b="1" dirty="0"/>
              <a:t>numbers + 2 * </a:t>
            </a:r>
            <a:r>
              <a:rPr lang="en-US" b="1" dirty="0" err="1"/>
              <a:t>sizeof</a:t>
            </a:r>
            <a:r>
              <a:rPr lang="en-US" b="1" dirty="0"/>
              <a:t>(short), </a:t>
            </a:r>
            <a:r>
              <a:rPr lang="en-US" dirty="0"/>
              <a:t>and so forth.</a:t>
            </a:r>
            <a:endParaRPr lang="en-US" b="1" dirty="0"/>
          </a:p>
        </p:txBody>
      </p:sp>
      <p:pic>
        <p:nvPicPr>
          <p:cNvPr id="4" name="Picture 3">
            <a:extLst>
              <a:ext uri="{FF2B5EF4-FFF2-40B4-BE49-F238E27FC236}">
                <a16:creationId xmlns:a16="http://schemas.microsoft.com/office/drawing/2014/main" id="{85D2D6F1-8A09-CC7B-8C86-B3D70D340615}"/>
              </a:ext>
            </a:extLst>
          </p:cNvPr>
          <p:cNvPicPr>
            <a:picLocks noChangeAspect="1"/>
          </p:cNvPicPr>
          <p:nvPr/>
        </p:nvPicPr>
        <p:blipFill>
          <a:blip r:embed="rId2"/>
          <a:stretch>
            <a:fillRect/>
          </a:stretch>
        </p:blipFill>
        <p:spPr>
          <a:xfrm>
            <a:off x="3011278" y="4727276"/>
            <a:ext cx="6169444" cy="1062679"/>
          </a:xfrm>
          <a:prstGeom prst="rect">
            <a:avLst/>
          </a:prstGeom>
        </p:spPr>
      </p:pic>
    </p:spTree>
    <p:extLst>
      <p:ext uri="{BB962C8B-B14F-4D97-AF65-F5344CB8AC3E}">
        <p14:creationId xmlns:p14="http://schemas.microsoft.com/office/powerpoint/2010/main" val="987800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17EF-FCC2-44DF-E6B9-EE0BC46B101F}"/>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3CBB7A62-F960-216E-5319-005E1DA98D6F}"/>
              </a:ext>
            </a:extLst>
          </p:cNvPr>
          <p:cNvSpPr>
            <a:spLocks noGrp="1"/>
          </p:cNvSpPr>
          <p:nvPr>
            <p:ph idx="1"/>
          </p:nvPr>
        </p:nvSpPr>
        <p:spPr/>
        <p:txBody>
          <a:bodyPr/>
          <a:lstStyle/>
          <a:p>
            <a:r>
              <a:rPr lang="en-US" dirty="0"/>
              <a:t>This automatic conversion means that an element in an array can be retrieved by using its subscript or by adding its subscript to a pointer to the array. </a:t>
            </a:r>
          </a:p>
          <a:p>
            <a:r>
              <a:rPr lang="en-US" dirty="0"/>
              <a:t>If the expression *numbers, which is the same as *(numbers + 0), retrieves the first element in the array, </a:t>
            </a:r>
          </a:p>
          <a:p>
            <a:r>
              <a:rPr lang="en-US" dirty="0"/>
              <a:t>Then *(numbers + 1) retrieves the second element. Likewise, *(numbers + 2) retrieves the third element, and so forth.</a:t>
            </a:r>
          </a:p>
        </p:txBody>
      </p:sp>
      <p:pic>
        <p:nvPicPr>
          <p:cNvPr id="4" name="Picture 3">
            <a:extLst>
              <a:ext uri="{FF2B5EF4-FFF2-40B4-BE49-F238E27FC236}">
                <a16:creationId xmlns:a16="http://schemas.microsoft.com/office/drawing/2014/main" id="{31A6B8A3-C9A5-B599-0941-E2F7CB6DB067}"/>
              </a:ext>
            </a:extLst>
          </p:cNvPr>
          <p:cNvPicPr>
            <a:picLocks noChangeAspect="1"/>
          </p:cNvPicPr>
          <p:nvPr/>
        </p:nvPicPr>
        <p:blipFill>
          <a:blip r:embed="rId2"/>
          <a:stretch>
            <a:fillRect/>
          </a:stretch>
        </p:blipFill>
        <p:spPr>
          <a:xfrm>
            <a:off x="3090295" y="5128186"/>
            <a:ext cx="6011409" cy="1183714"/>
          </a:xfrm>
          <a:prstGeom prst="rect">
            <a:avLst/>
          </a:prstGeom>
        </p:spPr>
      </p:pic>
    </p:spTree>
    <p:extLst>
      <p:ext uri="{BB962C8B-B14F-4D97-AF65-F5344CB8AC3E}">
        <p14:creationId xmlns:p14="http://schemas.microsoft.com/office/powerpoint/2010/main" val="76689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1BD6-3860-BDC5-E2EA-A7597FADC04A}"/>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F25F684-1BDF-80F3-4637-07E1C8066B24}"/>
              </a:ext>
            </a:extLst>
          </p:cNvPr>
          <p:cNvPicPr>
            <a:picLocks noChangeAspect="1"/>
          </p:cNvPicPr>
          <p:nvPr/>
        </p:nvPicPr>
        <p:blipFill>
          <a:blip r:embed="rId2"/>
          <a:stretch>
            <a:fillRect/>
          </a:stretch>
        </p:blipFill>
        <p:spPr>
          <a:xfrm>
            <a:off x="5900947" y="492184"/>
            <a:ext cx="5179437" cy="5434163"/>
          </a:xfrm>
          <a:prstGeom prst="rect">
            <a:avLst/>
          </a:prstGeom>
        </p:spPr>
      </p:pic>
      <p:pic>
        <p:nvPicPr>
          <p:cNvPr id="5" name="Picture 4">
            <a:extLst>
              <a:ext uri="{FF2B5EF4-FFF2-40B4-BE49-F238E27FC236}">
                <a16:creationId xmlns:a16="http://schemas.microsoft.com/office/drawing/2014/main" id="{E2CB74E3-4BF7-9E40-8B17-224727117F9A}"/>
              </a:ext>
            </a:extLst>
          </p:cNvPr>
          <p:cNvPicPr>
            <a:picLocks noChangeAspect="1"/>
          </p:cNvPicPr>
          <p:nvPr/>
        </p:nvPicPr>
        <p:blipFill>
          <a:blip r:embed="rId3"/>
          <a:stretch>
            <a:fillRect/>
          </a:stretch>
        </p:blipFill>
        <p:spPr>
          <a:xfrm>
            <a:off x="708804" y="3050276"/>
            <a:ext cx="3864925" cy="978259"/>
          </a:xfrm>
          <a:prstGeom prst="rect">
            <a:avLst/>
          </a:prstGeom>
        </p:spPr>
      </p:pic>
      <p:sp>
        <p:nvSpPr>
          <p:cNvPr id="6" name="TextBox 5">
            <a:extLst>
              <a:ext uri="{FF2B5EF4-FFF2-40B4-BE49-F238E27FC236}">
                <a16:creationId xmlns:a16="http://schemas.microsoft.com/office/drawing/2014/main" id="{979012B8-162F-8DAD-AB4E-CB747E2CEA84}"/>
              </a:ext>
            </a:extLst>
          </p:cNvPr>
          <p:cNvSpPr txBox="1"/>
          <p:nvPr/>
        </p:nvSpPr>
        <p:spPr>
          <a:xfrm>
            <a:off x="467900" y="4563373"/>
            <a:ext cx="4684103" cy="369332"/>
          </a:xfrm>
          <a:prstGeom prst="rect">
            <a:avLst/>
          </a:prstGeom>
          <a:noFill/>
        </p:spPr>
        <p:txBody>
          <a:bodyPr wrap="none" rtlCol="0">
            <a:spAutoFit/>
          </a:bodyPr>
          <a:lstStyle/>
          <a:p>
            <a:r>
              <a:rPr lang="en-US" b="1" dirty="0"/>
              <a:t>array[index] is equivalent to *(array + index)</a:t>
            </a:r>
          </a:p>
        </p:txBody>
      </p:sp>
    </p:spTree>
    <p:extLst>
      <p:ext uri="{BB962C8B-B14F-4D97-AF65-F5344CB8AC3E}">
        <p14:creationId xmlns:p14="http://schemas.microsoft.com/office/powerpoint/2010/main" val="16765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879F-560C-5E75-AE8B-EF700CFB5B8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F612A38-1A72-D3AA-44AD-87A3AE1D75B5}"/>
              </a:ext>
            </a:extLst>
          </p:cNvPr>
          <p:cNvPicPr>
            <a:picLocks noChangeAspect="1"/>
          </p:cNvPicPr>
          <p:nvPr/>
        </p:nvPicPr>
        <p:blipFill>
          <a:blip r:embed="rId2"/>
          <a:stretch>
            <a:fillRect/>
          </a:stretch>
        </p:blipFill>
        <p:spPr>
          <a:xfrm>
            <a:off x="5377011" y="220691"/>
            <a:ext cx="4776279" cy="6433355"/>
          </a:xfrm>
          <a:prstGeom prst="rect">
            <a:avLst/>
          </a:prstGeom>
        </p:spPr>
      </p:pic>
      <p:pic>
        <p:nvPicPr>
          <p:cNvPr id="5" name="Picture 4">
            <a:extLst>
              <a:ext uri="{FF2B5EF4-FFF2-40B4-BE49-F238E27FC236}">
                <a16:creationId xmlns:a16="http://schemas.microsoft.com/office/drawing/2014/main" id="{807815C4-42D2-4EF3-9792-FA897D48865C}"/>
              </a:ext>
            </a:extLst>
          </p:cNvPr>
          <p:cNvPicPr>
            <a:picLocks noChangeAspect="1"/>
          </p:cNvPicPr>
          <p:nvPr/>
        </p:nvPicPr>
        <p:blipFill>
          <a:blip r:embed="rId3"/>
          <a:stretch>
            <a:fillRect/>
          </a:stretch>
        </p:blipFill>
        <p:spPr>
          <a:xfrm>
            <a:off x="918953" y="2876549"/>
            <a:ext cx="3972224" cy="1428031"/>
          </a:xfrm>
          <a:prstGeom prst="rect">
            <a:avLst/>
          </a:prstGeom>
        </p:spPr>
      </p:pic>
    </p:spTree>
    <p:extLst>
      <p:ext uri="{BB962C8B-B14F-4D97-AF65-F5344CB8AC3E}">
        <p14:creationId xmlns:p14="http://schemas.microsoft.com/office/powerpoint/2010/main" val="2543122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C1F3-BFA0-927E-D3AE-D3E60AAD3CB0}"/>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54146ED5-0601-3F92-FD48-64F55E7FF94D}"/>
              </a:ext>
            </a:extLst>
          </p:cNvPr>
          <p:cNvSpPr>
            <a:spLocks noGrp="1"/>
          </p:cNvSpPr>
          <p:nvPr>
            <p:ph idx="1"/>
          </p:nvPr>
        </p:nvSpPr>
        <p:spPr>
          <a:xfrm>
            <a:off x="838200" y="1825625"/>
            <a:ext cx="10402019" cy="1325563"/>
          </a:xfrm>
        </p:spPr>
        <p:txBody>
          <a:bodyPr/>
          <a:lstStyle/>
          <a:p>
            <a:r>
              <a:rPr lang="en-US" dirty="0"/>
              <a:t>The only difference between array names and pointer variables is that you cannot change the address an array name points to. For example, given the following definitions:</a:t>
            </a:r>
          </a:p>
        </p:txBody>
      </p:sp>
      <p:pic>
        <p:nvPicPr>
          <p:cNvPr id="4" name="Picture 3">
            <a:extLst>
              <a:ext uri="{FF2B5EF4-FFF2-40B4-BE49-F238E27FC236}">
                <a16:creationId xmlns:a16="http://schemas.microsoft.com/office/drawing/2014/main" id="{75591045-AACA-CC80-B021-2C7F013F9E45}"/>
              </a:ext>
            </a:extLst>
          </p:cNvPr>
          <p:cNvPicPr>
            <a:picLocks noChangeAspect="1"/>
          </p:cNvPicPr>
          <p:nvPr/>
        </p:nvPicPr>
        <p:blipFill>
          <a:blip r:embed="rId2"/>
          <a:stretch>
            <a:fillRect/>
          </a:stretch>
        </p:blipFill>
        <p:spPr>
          <a:xfrm>
            <a:off x="1862825" y="3241734"/>
            <a:ext cx="4103961" cy="3182309"/>
          </a:xfrm>
          <a:prstGeom prst="rect">
            <a:avLst/>
          </a:prstGeom>
        </p:spPr>
      </p:pic>
      <p:sp>
        <p:nvSpPr>
          <p:cNvPr id="5" name="TextBox 4">
            <a:extLst>
              <a:ext uri="{FF2B5EF4-FFF2-40B4-BE49-F238E27FC236}">
                <a16:creationId xmlns:a16="http://schemas.microsoft.com/office/drawing/2014/main" id="{BAFDB843-82F7-5511-AF22-CEE75A1F3FD3}"/>
              </a:ext>
            </a:extLst>
          </p:cNvPr>
          <p:cNvSpPr txBox="1"/>
          <p:nvPr/>
        </p:nvSpPr>
        <p:spPr>
          <a:xfrm>
            <a:off x="8195094" y="3817225"/>
            <a:ext cx="2027208" cy="2031325"/>
          </a:xfrm>
          <a:prstGeom prst="rect">
            <a:avLst/>
          </a:prstGeom>
          <a:noFill/>
        </p:spPr>
        <p:txBody>
          <a:bodyPr wrap="square" rtlCol="0">
            <a:spAutoFit/>
          </a:bodyPr>
          <a:lstStyle/>
          <a:p>
            <a:r>
              <a:rPr lang="en-US" dirty="0"/>
              <a:t>Array names are </a:t>
            </a:r>
            <a:r>
              <a:rPr lang="en-US" b="1" dirty="0">
                <a:hlinkClick r:id="rId3"/>
              </a:rPr>
              <a:t>pointer constants</a:t>
            </a:r>
            <a:r>
              <a:rPr lang="en-US" dirty="0"/>
              <a:t>. You can’t make them point to anything but the array they represent.</a:t>
            </a:r>
          </a:p>
        </p:txBody>
      </p:sp>
    </p:spTree>
    <p:extLst>
      <p:ext uri="{BB962C8B-B14F-4D97-AF65-F5344CB8AC3E}">
        <p14:creationId xmlns:p14="http://schemas.microsoft.com/office/powerpoint/2010/main" val="2721996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64C7F-E1B5-1D9B-F25A-2F0CE682DD4B}"/>
              </a:ext>
            </a:extLst>
          </p:cNvPr>
          <p:cNvSpPr>
            <a:spLocks noGrp="1"/>
          </p:cNvSpPr>
          <p:nvPr>
            <p:ph type="title"/>
          </p:nvPr>
        </p:nvSpPr>
        <p:spPr>
          <a:xfrm>
            <a:off x="838200" y="34925"/>
            <a:ext cx="10515600" cy="1325563"/>
          </a:xfrm>
        </p:spPr>
        <p:txBody>
          <a:bodyPr/>
          <a:lstStyle/>
          <a:p>
            <a:r>
              <a:rPr lang="en-US" dirty="0"/>
              <a:t>Pointer Arithmetic</a:t>
            </a:r>
          </a:p>
        </p:txBody>
      </p:sp>
      <p:sp>
        <p:nvSpPr>
          <p:cNvPr id="3" name="Content Placeholder 2">
            <a:extLst>
              <a:ext uri="{FF2B5EF4-FFF2-40B4-BE49-F238E27FC236}">
                <a16:creationId xmlns:a16="http://schemas.microsoft.com/office/drawing/2014/main" id="{ADFB8C3B-BCF5-A1E9-FA77-6A4DADB0E2DD}"/>
              </a:ext>
            </a:extLst>
          </p:cNvPr>
          <p:cNvSpPr>
            <a:spLocks noGrp="1"/>
          </p:cNvSpPr>
          <p:nvPr>
            <p:ph idx="1"/>
          </p:nvPr>
        </p:nvSpPr>
        <p:spPr>
          <a:xfrm>
            <a:off x="838200" y="1825625"/>
            <a:ext cx="2853906" cy="4351338"/>
          </a:xfrm>
        </p:spPr>
        <p:txBody>
          <a:bodyPr/>
          <a:lstStyle/>
          <a:p>
            <a:r>
              <a:rPr lang="en-US" dirty="0"/>
              <a:t>The contents of pointer variables may be changed with mathematical statements that perform addition or subtraction</a:t>
            </a:r>
          </a:p>
        </p:txBody>
      </p:sp>
      <p:pic>
        <p:nvPicPr>
          <p:cNvPr id="4" name="Picture 3">
            <a:extLst>
              <a:ext uri="{FF2B5EF4-FFF2-40B4-BE49-F238E27FC236}">
                <a16:creationId xmlns:a16="http://schemas.microsoft.com/office/drawing/2014/main" id="{7131B8A1-7060-09FE-4083-FBD4FE236C58}"/>
              </a:ext>
            </a:extLst>
          </p:cNvPr>
          <p:cNvPicPr>
            <a:picLocks noChangeAspect="1"/>
          </p:cNvPicPr>
          <p:nvPr/>
        </p:nvPicPr>
        <p:blipFill>
          <a:blip r:embed="rId2"/>
          <a:stretch>
            <a:fillRect/>
          </a:stretch>
        </p:blipFill>
        <p:spPr>
          <a:xfrm>
            <a:off x="3856009" y="1047108"/>
            <a:ext cx="4227738" cy="5810891"/>
          </a:xfrm>
          <a:prstGeom prst="rect">
            <a:avLst/>
          </a:prstGeom>
        </p:spPr>
      </p:pic>
      <p:pic>
        <p:nvPicPr>
          <p:cNvPr id="5" name="Picture 4">
            <a:extLst>
              <a:ext uri="{FF2B5EF4-FFF2-40B4-BE49-F238E27FC236}">
                <a16:creationId xmlns:a16="http://schemas.microsoft.com/office/drawing/2014/main" id="{0DFB9163-599B-500B-6610-58B9A8DA1360}"/>
              </a:ext>
            </a:extLst>
          </p:cNvPr>
          <p:cNvPicPr>
            <a:picLocks noChangeAspect="1"/>
          </p:cNvPicPr>
          <p:nvPr/>
        </p:nvPicPr>
        <p:blipFill>
          <a:blip r:embed="rId3"/>
          <a:stretch>
            <a:fillRect/>
          </a:stretch>
        </p:blipFill>
        <p:spPr>
          <a:xfrm>
            <a:off x="8837657" y="1711101"/>
            <a:ext cx="2491898" cy="1717899"/>
          </a:xfrm>
          <a:prstGeom prst="rect">
            <a:avLst/>
          </a:prstGeom>
        </p:spPr>
      </p:pic>
      <p:sp>
        <p:nvSpPr>
          <p:cNvPr id="6" name="TextBox 5">
            <a:extLst>
              <a:ext uri="{FF2B5EF4-FFF2-40B4-BE49-F238E27FC236}">
                <a16:creationId xmlns:a16="http://schemas.microsoft.com/office/drawing/2014/main" id="{675B93CB-5576-FD92-BED0-876206BB1B35}"/>
              </a:ext>
            </a:extLst>
          </p:cNvPr>
          <p:cNvSpPr txBox="1"/>
          <p:nvPr/>
        </p:nvSpPr>
        <p:spPr>
          <a:xfrm>
            <a:off x="8901023" y="3829307"/>
            <a:ext cx="2606615" cy="2862322"/>
          </a:xfrm>
          <a:prstGeom prst="rect">
            <a:avLst/>
          </a:prstGeom>
          <a:noFill/>
        </p:spPr>
        <p:txBody>
          <a:bodyPr wrap="square" rtlCol="0">
            <a:spAutoFit/>
          </a:bodyPr>
          <a:lstStyle/>
          <a:p>
            <a:pPr algn="ctr"/>
            <a:r>
              <a:rPr lang="en-US" dirty="0"/>
              <a:t>Because </a:t>
            </a:r>
            <a:r>
              <a:rPr lang="en-US" dirty="0" err="1"/>
              <a:t>numPtr</a:t>
            </a:r>
            <a:r>
              <a:rPr lang="en-US" dirty="0"/>
              <a:t> is a pointer, the increment operator adds the size of one integer to </a:t>
            </a:r>
            <a:r>
              <a:rPr lang="en-US" dirty="0" err="1"/>
              <a:t>numPtr</a:t>
            </a:r>
            <a:r>
              <a:rPr lang="en-US" dirty="0"/>
              <a:t>, so it points to the next element in the array. Likewise, the decrement operator subtracts the size of one integer from the pointer.</a:t>
            </a:r>
          </a:p>
        </p:txBody>
      </p:sp>
    </p:spTree>
    <p:extLst>
      <p:ext uri="{BB962C8B-B14F-4D97-AF65-F5344CB8AC3E}">
        <p14:creationId xmlns:p14="http://schemas.microsoft.com/office/powerpoint/2010/main" val="1663785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4FEC0-B96B-9F81-6AD2-5534E7DD4914}"/>
              </a:ext>
            </a:extLst>
          </p:cNvPr>
          <p:cNvSpPr>
            <a:spLocks noGrp="1"/>
          </p:cNvSpPr>
          <p:nvPr>
            <p:ph type="title"/>
          </p:nvPr>
        </p:nvSpPr>
        <p:spPr/>
        <p:txBody>
          <a:bodyPr/>
          <a:lstStyle/>
          <a:p>
            <a:r>
              <a:rPr lang="en-US" dirty="0"/>
              <a:t>Pointer Arithmetic</a:t>
            </a:r>
          </a:p>
        </p:txBody>
      </p:sp>
      <p:sp>
        <p:nvSpPr>
          <p:cNvPr id="3" name="Content Placeholder 2">
            <a:extLst>
              <a:ext uri="{FF2B5EF4-FFF2-40B4-BE49-F238E27FC236}">
                <a16:creationId xmlns:a16="http://schemas.microsoft.com/office/drawing/2014/main" id="{A8D208B4-E969-9364-90CA-1B1D0F076807}"/>
              </a:ext>
            </a:extLst>
          </p:cNvPr>
          <p:cNvSpPr>
            <a:spLocks noGrp="1"/>
          </p:cNvSpPr>
          <p:nvPr>
            <p:ph idx="1"/>
          </p:nvPr>
        </p:nvSpPr>
        <p:spPr/>
        <p:txBody>
          <a:bodyPr/>
          <a:lstStyle/>
          <a:p>
            <a:pPr algn="l"/>
            <a:r>
              <a:rPr lang="en-US" dirty="0">
                <a:effectLst/>
              </a:rPr>
              <a:t>Not all arithmetic operations may be performed on pointers. </a:t>
            </a:r>
          </a:p>
          <a:p>
            <a:pPr algn="l"/>
            <a:r>
              <a:rPr lang="en-US" dirty="0">
                <a:effectLst/>
              </a:rPr>
              <a:t>For example, you cannot use </a:t>
            </a:r>
            <a:r>
              <a:rPr lang="en-US" dirty="0" err="1">
                <a:effectLst/>
              </a:rPr>
              <a:t>multipication</a:t>
            </a:r>
            <a:r>
              <a:rPr lang="en-US" dirty="0">
                <a:effectLst/>
              </a:rPr>
              <a:t> or division with pointers. The following operations are allowable:</a:t>
            </a:r>
          </a:p>
          <a:p>
            <a:pPr lvl="1"/>
            <a:r>
              <a:rPr lang="en-US" dirty="0"/>
              <a:t>The ++ and –– operators may be used to increment or decrement a pointer variable.</a:t>
            </a:r>
          </a:p>
          <a:p>
            <a:pPr lvl="1"/>
            <a:r>
              <a:rPr lang="en-US" dirty="0"/>
              <a:t>An integer may be added to or subtracted from a pointer variable. This may be performed with the + and – operators, or the += and −= operators.</a:t>
            </a:r>
          </a:p>
          <a:p>
            <a:pPr lvl="1"/>
            <a:r>
              <a:rPr lang="en-US" dirty="0"/>
              <a:t>A pointer may be subtracted from another pointer.</a:t>
            </a:r>
          </a:p>
          <a:p>
            <a:pPr marL="0" indent="0">
              <a:buNone/>
            </a:pPr>
            <a:endParaRPr lang="en-US" dirty="0"/>
          </a:p>
        </p:txBody>
      </p:sp>
    </p:spTree>
    <p:extLst>
      <p:ext uri="{BB962C8B-B14F-4D97-AF65-F5344CB8AC3E}">
        <p14:creationId xmlns:p14="http://schemas.microsoft.com/office/powerpoint/2010/main" val="4116810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7FC4-B459-318D-CD27-71EA6E3B35C5}"/>
              </a:ext>
            </a:extLst>
          </p:cNvPr>
          <p:cNvSpPr>
            <a:spLocks noGrp="1"/>
          </p:cNvSpPr>
          <p:nvPr>
            <p:ph type="title"/>
          </p:nvPr>
        </p:nvSpPr>
        <p:spPr>
          <a:xfrm>
            <a:off x="838200" y="365125"/>
            <a:ext cx="10515600" cy="1325563"/>
          </a:xfrm>
        </p:spPr>
        <p:txBody>
          <a:bodyPr/>
          <a:lstStyle/>
          <a:p>
            <a:r>
              <a:rPr lang="en-US" dirty="0"/>
              <a:t>Initializing Pointers</a:t>
            </a:r>
          </a:p>
        </p:txBody>
      </p:sp>
      <p:sp>
        <p:nvSpPr>
          <p:cNvPr id="3" name="Content Placeholder 2">
            <a:extLst>
              <a:ext uri="{FF2B5EF4-FFF2-40B4-BE49-F238E27FC236}">
                <a16:creationId xmlns:a16="http://schemas.microsoft.com/office/drawing/2014/main" id="{728E5891-5383-55C6-530F-8E6012DDF3BC}"/>
              </a:ext>
            </a:extLst>
          </p:cNvPr>
          <p:cNvSpPr>
            <a:spLocks noGrp="1"/>
          </p:cNvSpPr>
          <p:nvPr>
            <p:ph idx="1"/>
          </p:nvPr>
        </p:nvSpPr>
        <p:spPr/>
        <p:txBody>
          <a:bodyPr/>
          <a:lstStyle/>
          <a:p>
            <a:r>
              <a:rPr lang="en-US" b="1" dirty="0"/>
              <a:t>Pointers may be initialized with the address of an existing object.</a:t>
            </a:r>
          </a:p>
          <a:p>
            <a:r>
              <a:rPr lang="en-US" dirty="0"/>
              <a:t>Remember that a pointer is designed to point to an object of a specific data type. </a:t>
            </a:r>
          </a:p>
          <a:p>
            <a:r>
              <a:rPr lang="en-US" dirty="0"/>
              <a:t>When a pointer is initialized with an address, it must be the address of an object the pointer can point to.</a:t>
            </a:r>
          </a:p>
        </p:txBody>
      </p:sp>
      <p:pic>
        <p:nvPicPr>
          <p:cNvPr id="4" name="Picture 3">
            <a:extLst>
              <a:ext uri="{FF2B5EF4-FFF2-40B4-BE49-F238E27FC236}">
                <a16:creationId xmlns:a16="http://schemas.microsoft.com/office/drawing/2014/main" id="{33BCCEF7-6CA6-98C2-D823-FC8118953CFD}"/>
              </a:ext>
            </a:extLst>
          </p:cNvPr>
          <p:cNvPicPr>
            <a:picLocks noChangeAspect="1"/>
          </p:cNvPicPr>
          <p:nvPr/>
        </p:nvPicPr>
        <p:blipFill>
          <a:blip r:embed="rId2"/>
          <a:stretch>
            <a:fillRect/>
          </a:stretch>
        </p:blipFill>
        <p:spPr>
          <a:xfrm>
            <a:off x="1138685" y="5178230"/>
            <a:ext cx="2251280" cy="568505"/>
          </a:xfrm>
          <a:prstGeom prst="rect">
            <a:avLst/>
          </a:prstGeom>
        </p:spPr>
      </p:pic>
      <p:sp>
        <p:nvSpPr>
          <p:cNvPr id="5" name="TextBox 4">
            <a:extLst>
              <a:ext uri="{FF2B5EF4-FFF2-40B4-BE49-F238E27FC236}">
                <a16:creationId xmlns:a16="http://schemas.microsoft.com/office/drawing/2014/main" id="{3DCBE756-620E-FD27-2ED6-F71ACD76689A}"/>
              </a:ext>
            </a:extLst>
          </p:cNvPr>
          <p:cNvSpPr txBox="1"/>
          <p:nvPr/>
        </p:nvSpPr>
        <p:spPr>
          <a:xfrm>
            <a:off x="1906439" y="4808898"/>
            <a:ext cx="715773" cy="369332"/>
          </a:xfrm>
          <a:prstGeom prst="rect">
            <a:avLst/>
          </a:prstGeom>
          <a:noFill/>
        </p:spPr>
        <p:txBody>
          <a:bodyPr wrap="none" rtlCol="0">
            <a:spAutoFit/>
          </a:bodyPr>
          <a:lstStyle/>
          <a:p>
            <a:r>
              <a:rPr lang="en-US" dirty="0"/>
              <a:t>Legal</a:t>
            </a:r>
          </a:p>
        </p:txBody>
      </p:sp>
      <p:sp>
        <p:nvSpPr>
          <p:cNvPr id="6" name="TextBox 5">
            <a:extLst>
              <a:ext uri="{FF2B5EF4-FFF2-40B4-BE49-F238E27FC236}">
                <a16:creationId xmlns:a16="http://schemas.microsoft.com/office/drawing/2014/main" id="{53914FAA-5832-A9E2-E33E-B62ED328D171}"/>
              </a:ext>
            </a:extLst>
          </p:cNvPr>
          <p:cNvSpPr txBox="1"/>
          <p:nvPr/>
        </p:nvSpPr>
        <p:spPr>
          <a:xfrm>
            <a:off x="8709353" y="4808898"/>
            <a:ext cx="777713" cy="369332"/>
          </a:xfrm>
          <a:prstGeom prst="rect">
            <a:avLst/>
          </a:prstGeom>
          <a:noFill/>
        </p:spPr>
        <p:txBody>
          <a:bodyPr wrap="none" rtlCol="0">
            <a:spAutoFit/>
          </a:bodyPr>
          <a:lstStyle/>
          <a:p>
            <a:r>
              <a:rPr lang="en-US" dirty="0"/>
              <a:t>Illegal</a:t>
            </a:r>
          </a:p>
        </p:txBody>
      </p:sp>
      <p:pic>
        <p:nvPicPr>
          <p:cNvPr id="7" name="Picture 6">
            <a:extLst>
              <a:ext uri="{FF2B5EF4-FFF2-40B4-BE49-F238E27FC236}">
                <a16:creationId xmlns:a16="http://schemas.microsoft.com/office/drawing/2014/main" id="{A54AE09F-EC7C-23D1-76F7-7E070277FC65}"/>
              </a:ext>
            </a:extLst>
          </p:cNvPr>
          <p:cNvPicPr>
            <a:picLocks noChangeAspect="1"/>
          </p:cNvPicPr>
          <p:nvPr/>
        </p:nvPicPr>
        <p:blipFill>
          <a:blip r:embed="rId3"/>
          <a:stretch>
            <a:fillRect/>
          </a:stretch>
        </p:blipFill>
        <p:spPr>
          <a:xfrm>
            <a:off x="7697651" y="5178230"/>
            <a:ext cx="2801118" cy="507289"/>
          </a:xfrm>
          <a:prstGeom prst="rect">
            <a:avLst/>
          </a:prstGeom>
        </p:spPr>
      </p:pic>
      <p:pic>
        <p:nvPicPr>
          <p:cNvPr id="8" name="Picture 7">
            <a:extLst>
              <a:ext uri="{FF2B5EF4-FFF2-40B4-BE49-F238E27FC236}">
                <a16:creationId xmlns:a16="http://schemas.microsoft.com/office/drawing/2014/main" id="{C352F14E-3F5D-239C-8055-755821A8D0B6}"/>
              </a:ext>
            </a:extLst>
          </p:cNvPr>
          <p:cNvPicPr>
            <a:picLocks noChangeAspect="1"/>
          </p:cNvPicPr>
          <p:nvPr/>
        </p:nvPicPr>
        <p:blipFill>
          <a:blip r:embed="rId4"/>
          <a:stretch>
            <a:fillRect/>
          </a:stretch>
        </p:blipFill>
        <p:spPr>
          <a:xfrm>
            <a:off x="4466583" y="5184221"/>
            <a:ext cx="1732543" cy="562514"/>
          </a:xfrm>
          <a:prstGeom prst="rect">
            <a:avLst/>
          </a:prstGeom>
        </p:spPr>
      </p:pic>
      <p:sp>
        <p:nvSpPr>
          <p:cNvPr id="9" name="TextBox 8">
            <a:extLst>
              <a:ext uri="{FF2B5EF4-FFF2-40B4-BE49-F238E27FC236}">
                <a16:creationId xmlns:a16="http://schemas.microsoft.com/office/drawing/2014/main" id="{C5744016-629B-432D-B605-47D474225967}"/>
              </a:ext>
            </a:extLst>
          </p:cNvPr>
          <p:cNvSpPr txBox="1"/>
          <p:nvPr/>
        </p:nvSpPr>
        <p:spPr>
          <a:xfrm>
            <a:off x="4974967" y="4771246"/>
            <a:ext cx="715773" cy="369332"/>
          </a:xfrm>
          <a:prstGeom prst="rect">
            <a:avLst/>
          </a:prstGeom>
          <a:noFill/>
        </p:spPr>
        <p:txBody>
          <a:bodyPr wrap="none" rtlCol="0">
            <a:spAutoFit/>
          </a:bodyPr>
          <a:lstStyle/>
          <a:p>
            <a:r>
              <a:rPr lang="en-US" dirty="0"/>
              <a:t>Legal</a:t>
            </a:r>
          </a:p>
        </p:txBody>
      </p:sp>
    </p:spTree>
    <p:extLst>
      <p:ext uri="{BB962C8B-B14F-4D97-AF65-F5344CB8AC3E}">
        <p14:creationId xmlns:p14="http://schemas.microsoft.com/office/powerpoint/2010/main" val="1857188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51A1-801F-FFB6-7B66-A758B3C4AABC}"/>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B7941AC7-7C18-0BF2-226C-BD5338A1D214}"/>
              </a:ext>
            </a:extLst>
          </p:cNvPr>
          <p:cNvSpPr>
            <a:spLocks noGrp="1"/>
          </p:cNvSpPr>
          <p:nvPr>
            <p:ph idx="1"/>
          </p:nvPr>
        </p:nvSpPr>
        <p:spPr/>
        <p:txBody>
          <a:bodyPr/>
          <a:lstStyle/>
          <a:p>
            <a:r>
              <a:rPr lang="en-US" dirty="0"/>
              <a:t>Pointers may be defined in the same statement as other variables of the same type. </a:t>
            </a:r>
          </a:p>
          <a:p>
            <a:pPr lvl="1"/>
            <a:r>
              <a:rPr lang="en-US" b="1" i="1" dirty="0">
                <a:solidFill>
                  <a:srgbClr val="333333"/>
                </a:solidFill>
                <a:effectLst/>
              </a:rPr>
              <a:t>int</a:t>
            </a:r>
            <a:r>
              <a:rPr lang="en-US" b="1" i="1" dirty="0"/>
              <a:t> </a:t>
            </a:r>
            <a:r>
              <a:rPr lang="en-US" b="1" i="1" dirty="0" err="1"/>
              <a:t>myValue</a:t>
            </a:r>
            <a:r>
              <a:rPr lang="en-US" b="1" i="1" dirty="0"/>
              <a:t>, *pint = &amp;</a:t>
            </a:r>
            <a:r>
              <a:rPr lang="en-US" b="1" i="1" dirty="0" err="1"/>
              <a:t>myValue</a:t>
            </a:r>
            <a:r>
              <a:rPr lang="en-US" b="1" i="1" dirty="0"/>
              <a:t>;</a:t>
            </a:r>
          </a:p>
          <a:p>
            <a:pPr lvl="1"/>
            <a:r>
              <a:rPr lang="en-US" b="1" i="1" dirty="0">
                <a:solidFill>
                  <a:srgbClr val="333333"/>
                </a:solidFill>
                <a:effectLst/>
              </a:rPr>
              <a:t>double</a:t>
            </a:r>
            <a:r>
              <a:rPr lang="en-US" b="1" i="1" dirty="0"/>
              <a:t> readings[</a:t>
            </a:r>
            <a:r>
              <a:rPr lang="en-US" b="1" i="1" dirty="0">
                <a:solidFill>
                  <a:srgbClr val="1D7C7C"/>
                </a:solidFill>
                <a:effectLst/>
              </a:rPr>
              <a:t>50</a:t>
            </a:r>
            <a:r>
              <a:rPr lang="en-US" b="1" i="1" dirty="0"/>
              <a:t>], *marker = readings;</a:t>
            </a:r>
          </a:p>
          <a:p>
            <a:r>
              <a:rPr lang="en-US" dirty="0"/>
              <a:t>A pointer can only be initialized with the address of an object that has already been defined. The following is illegal</a:t>
            </a:r>
            <a:endParaRPr lang="en-US" b="1" i="1" dirty="0"/>
          </a:p>
          <a:p>
            <a:endParaRPr lang="en-US" b="1" i="1" dirty="0"/>
          </a:p>
        </p:txBody>
      </p:sp>
      <p:pic>
        <p:nvPicPr>
          <p:cNvPr id="4" name="Picture 3">
            <a:extLst>
              <a:ext uri="{FF2B5EF4-FFF2-40B4-BE49-F238E27FC236}">
                <a16:creationId xmlns:a16="http://schemas.microsoft.com/office/drawing/2014/main" id="{09F279D2-FBDD-59C3-8A4C-575DD3D566CE}"/>
              </a:ext>
            </a:extLst>
          </p:cNvPr>
          <p:cNvPicPr>
            <a:picLocks noChangeAspect="1"/>
          </p:cNvPicPr>
          <p:nvPr/>
        </p:nvPicPr>
        <p:blipFill>
          <a:blip r:embed="rId2"/>
          <a:stretch>
            <a:fillRect/>
          </a:stretch>
        </p:blipFill>
        <p:spPr>
          <a:xfrm>
            <a:off x="2852828" y="4648200"/>
            <a:ext cx="4617647" cy="859097"/>
          </a:xfrm>
          <a:prstGeom prst="rect">
            <a:avLst/>
          </a:prstGeom>
        </p:spPr>
      </p:pic>
    </p:spTree>
    <p:extLst>
      <p:ext uri="{BB962C8B-B14F-4D97-AF65-F5344CB8AC3E}">
        <p14:creationId xmlns:p14="http://schemas.microsoft.com/office/powerpoint/2010/main" val="390084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01811-83F2-E754-595E-6C95916E0909}"/>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B28319A7-1761-4794-ECC1-91F48B96E0FD}"/>
              </a:ext>
            </a:extLst>
          </p:cNvPr>
          <p:cNvSpPr>
            <a:spLocks noGrp="1"/>
          </p:cNvSpPr>
          <p:nvPr>
            <p:ph idx="1"/>
          </p:nvPr>
        </p:nvSpPr>
        <p:spPr/>
        <p:txBody>
          <a:bodyPr>
            <a:normAutofit lnSpcReduction="10000"/>
          </a:bodyPr>
          <a:lstStyle/>
          <a:p>
            <a:r>
              <a:rPr lang="en-US" dirty="0"/>
              <a:t>A local pointer variable that has not been initialized does not hold a valid address, and an attempt to use such a pointer will result in execution-time errors. </a:t>
            </a:r>
          </a:p>
          <a:p>
            <a:r>
              <a:rPr lang="en-US" dirty="0">
                <a:effectLst/>
              </a:rPr>
              <a:t>The convention in older versions of C++ is to assign the address 0 to a pointer that does not currently point to a valid memory location:</a:t>
            </a:r>
          </a:p>
          <a:p>
            <a:endParaRPr lang="en-US" dirty="0"/>
          </a:p>
          <a:p>
            <a:r>
              <a:rPr lang="en-US" dirty="0"/>
              <a:t>In many computers, the address 0 is occupied by operating system data and is not accessible to user programs. This makes 0 a safe choice for a value that indicates an invalid memory location.</a:t>
            </a:r>
          </a:p>
        </p:txBody>
      </p:sp>
      <p:pic>
        <p:nvPicPr>
          <p:cNvPr id="4" name="Picture 3">
            <a:extLst>
              <a:ext uri="{FF2B5EF4-FFF2-40B4-BE49-F238E27FC236}">
                <a16:creationId xmlns:a16="http://schemas.microsoft.com/office/drawing/2014/main" id="{518383D2-A838-9723-566C-574016FF07B3}"/>
              </a:ext>
            </a:extLst>
          </p:cNvPr>
          <p:cNvPicPr>
            <a:picLocks noChangeAspect="1"/>
          </p:cNvPicPr>
          <p:nvPr/>
        </p:nvPicPr>
        <p:blipFill>
          <a:blip r:embed="rId2"/>
          <a:stretch>
            <a:fillRect/>
          </a:stretch>
        </p:blipFill>
        <p:spPr>
          <a:xfrm>
            <a:off x="3942751" y="3774655"/>
            <a:ext cx="3204174" cy="736960"/>
          </a:xfrm>
          <a:prstGeom prst="rect">
            <a:avLst/>
          </a:prstGeom>
        </p:spPr>
      </p:pic>
    </p:spTree>
    <p:extLst>
      <p:ext uri="{BB962C8B-B14F-4D97-AF65-F5344CB8AC3E}">
        <p14:creationId xmlns:p14="http://schemas.microsoft.com/office/powerpoint/2010/main" val="4195407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D6FA-5E38-C61E-B9AA-D194CE260E7B}"/>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C585A45C-93A0-8866-BCF7-8E4B8E661F05}"/>
              </a:ext>
            </a:extLst>
          </p:cNvPr>
          <p:cNvSpPr>
            <a:spLocks noGrp="1"/>
          </p:cNvSpPr>
          <p:nvPr>
            <p:ph idx="1"/>
          </p:nvPr>
        </p:nvSpPr>
        <p:spPr/>
        <p:txBody>
          <a:bodyPr/>
          <a:lstStyle/>
          <a:p>
            <a:r>
              <a:rPr lang="en-US" dirty="0"/>
              <a:t>Many header files, including iostream, </a:t>
            </a:r>
            <a:r>
              <a:rPr lang="en-US" dirty="0" err="1"/>
              <a:t>fstream</a:t>
            </a:r>
            <a:r>
              <a:rPr lang="en-US" dirty="0"/>
              <a:t>, and </a:t>
            </a:r>
            <a:r>
              <a:rPr lang="en-US" dirty="0" err="1"/>
              <a:t>cstdlib</a:t>
            </a:r>
            <a:r>
              <a:rPr lang="en-US" dirty="0"/>
              <a:t>, define a constant named NULL to represent the </a:t>
            </a:r>
            <a:r>
              <a:rPr lang="en-US" i="1" dirty="0"/>
              <a:t>pointer value</a:t>
            </a:r>
            <a:r>
              <a:rPr lang="en-US" dirty="0"/>
              <a:t> 0</a:t>
            </a:r>
          </a:p>
          <a:p>
            <a:endParaRPr lang="en-US" dirty="0"/>
          </a:p>
          <a:p>
            <a:endParaRPr lang="en-US" dirty="0"/>
          </a:p>
          <a:p>
            <a:endParaRPr lang="en-US" dirty="0"/>
          </a:p>
          <a:p>
            <a:r>
              <a:rPr lang="en-US" dirty="0"/>
              <a:t>A pointer whose value is 0 is called a </a:t>
            </a:r>
            <a:r>
              <a:rPr lang="en-US" b="1" dirty="0">
                <a:hlinkClick r:id="rId2"/>
              </a:rPr>
              <a:t>null</a:t>
            </a:r>
            <a:r>
              <a:rPr lang="en-US" dirty="0"/>
              <a:t> pointer. </a:t>
            </a:r>
            <a:r>
              <a:rPr lang="en-US" b="1" dirty="0"/>
              <a:t>C++ 11 defines the key word </a:t>
            </a:r>
            <a:r>
              <a:rPr lang="en-US" b="1" dirty="0" err="1"/>
              <a:t>nullptr</a:t>
            </a:r>
            <a:r>
              <a:rPr lang="en-US" b="1" dirty="0"/>
              <a:t> to indicate an invalid memory address:</a:t>
            </a:r>
          </a:p>
        </p:txBody>
      </p:sp>
      <p:pic>
        <p:nvPicPr>
          <p:cNvPr id="4" name="Picture 3">
            <a:extLst>
              <a:ext uri="{FF2B5EF4-FFF2-40B4-BE49-F238E27FC236}">
                <a16:creationId xmlns:a16="http://schemas.microsoft.com/office/drawing/2014/main" id="{86821969-E591-EE19-8BED-A285F7327EF4}"/>
              </a:ext>
            </a:extLst>
          </p:cNvPr>
          <p:cNvPicPr>
            <a:picLocks noChangeAspect="1"/>
          </p:cNvPicPr>
          <p:nvPr/>
        </p:nvPicPr>
        <p:blipFill>
          <a:blip r:embed="rId3"/>
          <a:stretch>
            <a:fillRect/>
          </a:stretch>
        </p:blipFill>
        <p:spPr>
          <a:xfrm>
            <a:off x="4511832" y="2849352"/>
            <a:ext cx="3168336" cy="670225"/>
          </a:xfrm>
          <a:prstGeom prst="rect">
            <a:avLst/>
          </a:prstGeom>
        </p:spPr>
      </p:pic>
      <p:pic>
        <p:nvPicPr>
          <p:cNvPr id="5" name="Picture 4">
            <a:extLst>
              <a:ext uri="{FF2B5EF4-FFF2-40B4-BE49-F238E27FC236}">
                <a16:creationId xmlns:a16="http://schemas.microsoft.com/office/drawing/2014/main" id="{C75F67A3-A6AD-CC2D-4CBF-15F750026D48}"/>
              </a:ext>
            </a:extLst>
          </p:cNvPr>
          <p:cNvPicPr>
            <a:picLocks noChangeAspect="1"/>
          </p:cNvPicPr>
          <p:nvPr/>
        </p:nvPicPr>
        <p:blipFill>
          <a:blip r:embed="rId4"/>
          <a:stretch>
            <a:fillRect/>
          </a:stretch>
        </p:blipFill>
        <p:spPr>
          <a:xfrm>
            <a:off x="4511832" y="5418227"/>
            <a:ext cx="3550880" cy="758735"/>
          </a:xfrm>
          <a:prstGeom prst="rect">
            <a:avLst/>
          </a:prstGeom>
        </p:spPr>
      </p:pic>
    </p:spTree>
    <p:extLst>
      <p:ext uri="{BB962C8B-B14F-4D97-AF65-F5344CB8AC3E}">
        <p14:creationId xmlns:p14="http://schemas.microsoft.com/office/powerpoint/2010/main" val="3862899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B2EC3-E2ED-EF77-8650-3FE24F49E690}"/>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67EF9214-BD41-2E80-5CE7-C9F5E972774A}"/>
              </a:ext>
            </a:extLst>
          </p:cNvPr>
          <p:cNvSpPr>
            <a:spLocks noGrp="1"/>
          </p:cNvSpPr>
          <p:nvPr>
            <p:ph idx="1"/>
          </p:nvPr>
        </p:nvSpPr>
        <p:spPr/>
        <p:txBody>
          <a:bodyPr/>
          <a:lstStyle/>
          <a:p>
            <a:r>
              <a:rPr lang="en-US" dirty="0"/>
              <a:t>You can test a pointer p against 0, NULL, or </a:t>
            </a:r>
            <a:r>
              <a:rPr lang="en-US" dirty="0" err="1"/>
              <a:t>nullptr</a:t>
            </a:r>
            <a:r>
              <a:rPr lang="en-US" dirty="0"/>
              <a:t> to determine if it points to a valid address using equality-testing operators != and ==. For example,</a:t>
            </a:r>
          </a:p>
        </p:txBody>
      </p:sp>
      <p:pic>
        <p:nvPicPr>
          <p:cNvPr id="4" name="Picture 3">
            <a:extLst>
              <a:ext uri="{FF2B5EF4-FFF2-40B4-BE49-F238E27FC236}">
                <a16:creationId xmlns:a16="http://schemas.microsoft.com/office/drawing/2014/main" id="{4242D00B-E897-87D3-777D-DC24ED89A992}"/>
              </a:ext>
            </a:extLst>
          </p:cNvPr>
          <p:cNvPicPr>
            <a:picLocks noChangeAspect="1"/>
          </p:cNvPicPr>
          <p:nvPr/>
        </p:nvPicPr>
        <p:blipFill>
          <a:blip r:embed="rId2"/>
          <a:stretch>
            <a:fillRect/>
          </a:stretch>
        </p:blipFill>
        <p:spPr>
          <a:xfrm>
            <a:off x="3470635" y="3564986"/>
            <a:ext cx="5250730" cy="1050146"/>
          </a:xfrm>
          <a:prstGeom prst="rect">
            <a:avLst/>
          </a:prstGeom>
        </p:spPr>
      </p:pic>
    </p:spTree>
    <p:extLst>
      <p:ext uri="{BB962C8B-B14F-4D97-AF65-F5344CB8AC3E}">
        <p14:creationId xmlns:p14="http://schemas.microsoft.com/office/powerpoint/2010/main" val="2938965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6570-7196-32E8-F6B3-5800E740617A}"/>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367E06ED-BABF-A2B9-F11C-4EFD9747FF70}"/>
              </a:ext>
            </a:extLst>
          </p:cNvPr>
          <p:cNvSpPr>
            <a:spLocks noGrp="1"/>
          </p:cNvSpPr>
          <p:nvPr>
            <p:ph idx="1"/>
          </p:nvPr>
        </p:nvSpPr>
        <p:spPr/>
        <p:txBody>
          <a:bodyPr/>
          <a:lstStyle/>
          <a:p>
            <a:r>
              <a:rPr lang="en-US" dirty="0"/>
              <a:t>In C++ 11, putting an empty pair of braces { } at the end of a variable definition initializes the variable to its default value. The default value for numeric types such as int, long, and double is zero, while the default value for pointer types is </a:t>
            </a:r>
            <a:r>
              <a:rPr lang="en-US" dirty="0" err="1"/>
              <a:t>nullptr</a:t>
            </a:r>
            <a:r>
              <a:rPr lang="en-US" dirty="0"/>
              <a:t>.</a:t>
            </a:r>
          </a:p>
        </p:txBody>
      </p:sp>
      <p:pic>
        <p:nvPicPr>
          <p:cNvPr id="4" name="Picture 3">
            <a:extLst>
              <a:ext uri="{FF2B5EF4-FFF2-40B4-BE49-F238E27FC236}">
                <a16:creationId xmlns:a16="http://schemas.microsoft.com/office/drawing/2014/main" id="{348BEDB9-BA94-7BB4-304E-868660F92B45}"/>
              </a:ext>
            </a:extLst>
          </p:cNvPr>
          <p:cNvPicPr>
            <a:picLocks noChangeAspect="1"/>
          </p:cNvPicPr>
          <p:nvPr/>
        </p:nvPicPr>
        <p:blipFill>
          <a:blip r:embed="rId2"/>
          <a:stretch>
            <a:fillRect/>
          </a:stretch>
        </p:blipFill>
        <p:spPr>
          <a:xfrm>
            <a:off x="4344717" y="3516941"/>
            <a:ext cx="2725432" cy="2660022"/>
          </a:xfrm>
          <a:prstGeom prst="rect">
            <a:avLst/>
          </a:prstGeom>
        </p:spPr>
      </p:pic>
    </p:spTree>
    <p:extLst>
      <p:ext uri="{BB962C8B-B14F-4D97-AF65-F5344CB8AC3E}">
        <p14:creationId xmlns:p14="http://schemas.microsoft.com/office/powerpoint/2010/main" val="1052204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1221-2B03-799C-2965-0BC32F907C66}"/>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5B4370CF-B830-F36F-6ED0-034053DA2DCE}"/>
              </a:ext>
            </a:extLst>
          </p:cNvPr>
          <p:cNvSpPr>
            <a:spLocks noGrp="1"/>
          </p:cNvSpPr>
          <p:nvPr>
            <p:ph idx="1"/>
          </p:nvPr>
        </p:nvSpPr>
        <p:spPr/>
        <p:txBody>
          <a:bodyPr/>
          <a:lstStyle/>
          <a:p>
            <a:r>
              <a:rPr lang="en-US" dirty="0"/>
              <a:t>C++’s relational operators may be used to compare pointer values</a:t>
            </a:r>
            <a:r>
              <a:rPr lang="en-US" b="1" dirty="0"/>
              <a:t>.</a:t>
            </a:r>
            <a:r>
              <a:rPr lang="en-US" b="1" dirty="0">
                <a:solidFill>
                  <a:srgbClr val="FF0000"/>
                </a:solidFill>
              </a:rPr>
              <a:t>    &gt; &lt;    ==    !=    &gt;=     &lt;=</a:t>
            </a:r>
          </a:p>
          <a:p>
            <a:r>
              <a:rPr lang="en-US" dirty="0"/>
              <a:t>If one address comes before another address in memory, the first address is considered “less than” the second. </a:t>
            </a:r>
          </a:p>
          <a:p>
            <a:r>
              <a:rPr lang="en-US" dirty="0"/>
              <a:t>In an array, all the elements are stored in consecutive memory locations, so the address of element 1 is greater than the address of element 0.</a:t>
            </a:r>
          </a:p>
        </p:txBody>
      </p:sp>
    </p:spTree>
    <p:extLst>
      <p:ext uri="{BB962C8B-B14F-4D97-AF65-F5344CB8AC3E}">
        <p14:creationId xmlns:p14="http://schemas.microsoft.com/office/powerpoint/2010/main" val="2380019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866E-5075-8482-2AE0-38CCB9818993}"/>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9E5001DD-8F7B-E86B-198B-25E56D3097CE}"/>
              </a:ext>
            </a:extLst>
          </p:cNvPr>
          <p:cNvSpPr>
            <a:spLocks noGrp="1"/>
          </p:cNvSpPr>
          <p:nvPr>
            <p:ph idx="1"/>
          </p:nvPr>
        </p:nvSpPr>
        <p:spPr/>
        <p:txBody>
          <a:bodyPr/>
          <a:lstStyle/>
          <a:p>
            <a:r>
              <a:rPr lang="en-US" dirty="0"/>
              <a:t>Because the addresses grow larger for each subsequent element in the array, the following Boolean expressions are all true:</a:t>
            </a:r>
            <a:endParaRPr lang="en-US" b="1" dirty="0">
              <a:solidFill>
                <a:srgbClr val="FF0000"/>
              </a:solidFill>
            </a:endParaRPr>
          </a:p>
          <a:p>
            <a:pPr lvl="1"/>
            <a:r>
              <a:rPr lang="en-US" dirty="0"/>
              <a:t>&amp;array[</a:t>
            </a:r>
            <a:r>
              <a:rPr lang="en-US" dirty="0">
                <a:solidFill>
                  <a:srgbClr val="1D7C7C"/>
                </a:solidFill>
                <a:effectLst/>
              </a:rPr>
              <a:t>1</a:t>
            </a:r>
            <a:r>
              <a:rPr lang="en-US" dirty="0"/>
              <a:t>] &gt; &amp;array[</a:t>
            </a:r>
            <a:r>
              <a:rPr lang="en-US" dirty="0">
                <a:solidFill>
                  <a:srgbClr val="1D7C7C"/>
                </a:solidFill>
                <a:effectLst/>
              </a:rPr>
              <a:t>0</a:t>
            </a:r>
            <a:r>
              <a:rPr lang="en-US" dirty="0"/>
              <a:t>] </a:t>
            </a:r>
          </a:p>
          <a:p>
            <a:pPr lvl="1"/>
            <a:r>
              <a:rPr lang="en-US" dirty="0"/>
              <a:t>array &lt; &amp;array[4] </a:t>
            </a:r>
          </a:p>
          <a:p>
            <a:pPr lvl="1"/>
            <a:r>
              <a:rPr lang="en-US" dirty="0"/>
              <a:t>array == &amp;array[0] </a:t>
            </a:r>
          </a:p>
          <a:p>
            <a:pPr lvl="1"/>
            <a:r>
              <a:rPr lang="en-US" dirty="0"/>
              <a:t>&amp;array[2] != &amp;array[3]</a:t>
            </a:r>
          </a:p>
        </p:txBody>
      </p:sp>
    </p:spTree>
    <p:extLst>
      <p:ext uri="{BB962C8B-B14F-4D97-AF65-F5344CB8AC3E}">
        <p14:creationId xmlns:p14="http://schemas.microsoft.com/office/powerpoint/2010/main" val="1420755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5CDB-B236-111A-0F5D-1752BBE54F6C}"/>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5D2CDE38-3968-E773-2785-F363DE676DF3}"/>
              </a:ext>
            </a:extLst>
          </p:cNvPr>
          <p:cNvSpPr>
            <a:spLocks noGrp="1"/>
          </p:cNvSpPr>
          <p:nvPr>
            <p:ph idx="1"/>
          </p:nvPr>
        </p:nvSpPr>
        <p:spPr/>
        <p:txBody>
          <a:bodyPr>
            <a:normAutofit/>
          </a:bodyPr>
          <a:lstStyle/>
          <a:p>
            <a:r>
              <a:rPr lang="en-US" dirty="0">
                <a:effectLst/>
              </a:rPr>
              <a:t>Comparing two pointers is not the same as comparing the values the two pointers point to. For example, the following if statement compares the addresses stored in the pointer variables ptr1 and ptr2:  </a:t>
            </a:r>
          </a:p>
          <a:p>
            <a:pPr lvl="1"/>
            <a:r>
              <a:rPr lang="en-US" b="1" dirty="0">
                <a:solidFill>
                  <a:srgbClr val="FF0000"/>
                </a:solidFill>
                <a:effectLst/>
              </a:rPr>
              <a:t>if</a:t>
            </a:r>
            <a:r>
              <a:rPr lang="en-US" b="1" dirty="0">
                <a:solidFill>
                  <a:srgbClr val="FF0000"/>
                </a:solidFill>
              </a:rPr>
              <a:t> (ptr1 &lt; ptr2) </a:t>
            </a:r>
          </a:p>
          <a:p>
            <a:r>
              <a:rPr lang="en-US" dirty="0"/>
              <a:t>The following statement, however, compares the values that ptr1 and ptr2 point to:</a:t>
            </a:r>
            <a:endParaRPr lang="en-US" b="1" dirty="0">
              <a:solidFill>
                <a:srgbClr val="FF0000"/>
              </a:solidFill>
            </a:endParaRPr>
          </a:p>
          <a:p>
            <a:pPr lvl="1"/>
            <a:r>
              <a:rPr lang="en-US" b="1" dirty="0">
                <a:solidFill>
                  <a:srgbClr val="FF0000"/>
                </a:solidFill>
                <a:effectLst/>
              </a:rPr>
              <a:t>if</a:t>
            </a:r>
            <a:r>
              <a:rPr lang="en-US" b="1" dirty="0">
                <a:solidFill>
                  <a:srgbClr val="FF0000"/>
                </a:solidFill>
              </a:rPr>
              <a:t> (*ptr1 &lt; *ptr2) </a:t>
            </a:r>
          </a:p>
          <a:p>
            <a:r>
              <a:rPr lang="en-US" dirty="0"/>
              <a:t>The capability of comparing addresses gives you another way to be sure a pointer does not go beyond the boundaries of an array. </a:t>
            </a:r>
            <a:endParaRPr lang="en-US" b="1" dirty="0">
              <a:solidFill>
                <a:srgbClr val="FF0000"/>
              </a:solidFill>
              <a:effectLst/>
            </a:endParaRPr>
          </a:p>
          <a:p>
            <a:endParaRPr lang="en-US" dirty="0"/>
          </a:p>
        </p:txBody>
      </p:sp>
    </p:spTree>
    <p:extLst>
      <p:ext uri="{BB962C8B-B14F-4D97-AF65-F5344CB8AC3E}">
        <p14:creationId xmlns:p14="http://schemas.microsoft.com/office/powerpoint/2010/main" val="2734393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18F5-E422-8082-D89B-54D63F3F6AA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7EE44D8-C120-447E-8B77-F757B10D578F}"/>
              </a:ext>
            </a:extLst>
          </p:cNvPr>
          <p:cNvPicPr>
            <a:picLocks noChangeAspect="1"/>
          </p:cNvPicPr>
          <p:nvPr/>
        </p:nvPicPr>
        <p:blipFill>
          <a:blip r:embed="rId2"/>
          <a:stretch>
            <a:fillRect/>
          </a:stretch>
        </p:blipFill>
        <p:spPr>
          <a:xfrm>
            <a:off x="6008536" y="-5723"/>
            <a:ext cx="4575815" cy="6863723"/>
          </a:xfrm>
          <a:prstGeom prst="rect">
            <a:avLst/>
          </a:prstGeom>
        </p:spPr>
      </p:pic>
      <p:pic>
        <p:nvPicPr>
          <p:cNvPr id="5" name="Picture 4">
            <a:extLst>
              <a:ext uri="{FF2B5EF4-FFF2-40B4-BE49-F238E27FC236}">
                <a16:creationId xmlns:a16="http://schemas.microsoft.com/office/drawing/2014/main" id="{AB3C324A-2DBC-77CB-5EEE-7B45F15D4548}"/>
              </a:ext>
            </a:extLst>
          </p:cNvPr>
          <p:cNvPicPr>
            <a:picLocks noChangeAspect="1"/>
          </p:cNvPicPr>
          <p:nvPr/>
        </p:nvPicPr>
        <p:blipFill>
          <a:blip r:embed="rId3"/>
          <a:stretch>
            <a:fillRect/>
          </a:stretch>
        </p:blipFill>
        <p:spPr>
          <a:xfrm>
            <a:off x="1177984" y="2334763"/>
            <a:ext cx="3166303" cy="2188474"/>
          </a:xfrm>
          <a:prstGeom prst="rect">
            <a:avLst/>
          </a:prstGeom>
        </p:spPr>
      </p:pic>
    </p:spTree>
    <p:extLst>
      <p:ext uri="{BB962C8B-B14F-4D97-AF65-F5344CB8AC3E}">
        <p14:creationId xmlns:p14="http://schemas.microsoft.com/office/powerpoint/2010/main" val="1051831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EF03-EFF0-B8F8-B540-D46391FEC76C}"/>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A67D346D-AAE1-2AD1-C63B-D7DD005BCD80}"/>
              </a:ext>
            </a:extLst>
          </p:cNvPr>
          <p:cNvSpPr>
            <a:spLocks noGrp="1"/>
          </p:cNvSpPr>
          <p:nvPr>
            <p:ph idx="1"/>
          </p:nvPr>
        </p:nvSpPr>
        <p:spPr/>
        <p:txBody>
          <a:bodyPr/>
          <a:lstStyle/>
          <a:p>
            <a:r>
              <a:rPr lang="en-US" dirty="0"/>
              <a:t>Most comparisons involving pointers compare a pointer to 0, NULL, or </a:t>
            </a:r>
            <a:r>
              <a:rPr lang="en-US" dirty="0" err="1"/>
              <a:t>nullptr</a:t>
            </a:r>
            <a:r>
              <a:rPr lang="en-US" dirty="0"/>
              <a:t> to determine whether the pointer points to a legitimate address. For example, assuming that </a:t>
            </a:r>
            <a:r>
              <a:rPr lang="en-US" dirty="0" err="1"/>
              <a:t>ptrToInt</a:t>
            </a:r>
            <a:r>
              <a:rPr lang="en-US" dirty="0"/>
              <a:t> has been defined as a pointer to int, the code prints the integer pointed to only after verifying that </a:t>
            </a:r>
            <a:r>
              <a:rPr lang="en-US" dirty="0" err="1"/>
              <a:t>ptrToInt</a:t>
            </a:r>
            <a:r>
              <a:rPr lang="en-US" dirty="0"/>
              <a:t> is not a null pointer.</a:t>
            </a:r>
          </a:p>
          <a:p>
            <a:pPr marL="0" indent="0">
              <a:buNone/>
            </a:pPr>
            <a:r>
              <a:rPr lang="en-US" b="1" dirty="0">
                <a:solidFill>
                  <a:srgbClr val="333333"/>
                </a:solidFill>
                <a:effectLst/>
              </a:rPr>
              <a:t>	</a:t>
            </a:r>
            <a:r>
              <a:rPr lang="en-US" sz="2400" b="1" dirty="0">
                <a:solidFill>
                  <a:srgbClr val="333333"/>
                </a:solidFill>
                <a:effectLst/>
              </a:rPr>
              <a:t>if</a:t>
            </a:r>
            <a:r>
              <a:rPr lang="en-US" sz="2400" dirty="0"/>
              <a:t> (</a:t>
            </a:r>
            <a:r>
              <a:rPr lang="en-US" sz="2400" dirty="0" err="1"/>
              <a:t>ptrToInt</a:t>
            </a:r>
            <a:r>
              <a:rPr lang="en-US" sz="2400" dirty="0"/>
              <a:t> != </a:t>
            </a:r>
            <a:r>
              <a:rPr lang="en-US" sz="2400" dirty="0" err="1">
                <a:solidFill>
                  <a:srgbClr val="1D7C7C"/>
                </a:solidFill>
                <a:effectLst/>
              </a:rPr>
              <a:t>nullptr</a:t>
            </a:r>
            <a:r>
              <a:rPr lang="en-US" sz="2400" dirty="0"/>
              <a:t>) </a:t>
            </a:r>
          </a:p>
          <a:p>
            <a:pPr marL="457200" lvl="1" indent="0">
              <a:buNone/>
            </a:pPr>
            <a:r>
              <a:rPr lang="en-US" dirty="0"/>
              <a:t>		</a:t>
            </a:r>
            <a:r>
              <a:rPr lang="en-US" dirty="0" err="1"/>
              <a:t>cout</a:t>
            </a:r>
            <a:r>
              <a:rPr lang="en-US" dirty="0"/>
              <a:t> ≪ *</a:t>
            </a:r>
            <a:r>
              <a:rPr lang="en-US" dirty="0" err="1"/>
              <a:t>ptrToInt</a:t>
            </a:r>
            <a:r>
              <a:rPr lang="en-US" dirty="0"/>
              <a:t>; </a:t>
            </a:r>
          </a:p>
          <a:p>
            <a:pPr marL="457200" lvl="1" indent="0">
              <a:buNone/>
            </a:pPr>
            <a:r>
              <a:rPr lang="en-US" b="1" dirty="0">
                <a:solidFill>
                  <a:srgbClr val="333333"/>
                </a:solidFill>
                <a:effectLst/>
              </a:rPr>
              <a:t>	else</a:t>
            </a:r>
            <a:r>
              <a:rPr lang="en-US" dirty="0"/>
              <a:t> </a:t>
            </a:r>
          </a:p>
          <a:p>
            <a:pPr marL="457200" lvl="1" indent="0">
              <a:buNone/>
            </a:pPr>
            <a:r>
              <a:rPr lang="en-US" dirty="0"/>
              <a:t>		</a:t>
            </a:r>
            <a:r>
              <a:rPr lang="en-US" dirty="0" err="1"/>
              <a:t>cout</a:t>
            </a:r>
            <a:r>
              <a:rPr lang="en-US" dirty="0"/>
              <a:t> ≪ </a:t>
            </a:r>
            <a:r>
              <a:rPr lang="en-US" dirty="0">
                <a:solidFill>
                  <a:srgbClr val="DD1144"/>
                </a:solidFill>
                <a:effectLst/>
              </a:rPr>
              <a:t>"null pointer"</a:t>
            </a:r>
            <a:r>
              <a:rPr lang="en-US" dirty="0"/>
              <a:t>;</a:t>
            </a:r>
          </a:p>
        </p:txBody>
      </p:sp>
    </p:spTree>
    <p:extLst>
      <p:ext uri="{BB962C8B-B14F-4D97-AF65-F5344CB8AC3E}">
        <p14:creationId xmlns:p14="http://schemas.microsoft.com/office/powerpoint/2010/main" val="55036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6B11-0635-3135-BF70-87F015C5D0C0}"/>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D4E29D00-9280-14F3-8241-BE263CC982F7}"/>
              </a:ext>
            </a:extLst>
          </p:cNvPr>
          <p:cNvSpPr>
            <a:spLocks noGrp="1"/>
          </p:cNvSpPr>
          <p:nvPr>
            <p:ph idx="1"/>
          </p:nvPr>
        </p:nvSpPr>
        <p:spPr/>
        <p:txBody>
          <a:bodyPr>
            <a:normAutofit fontScale="92500"/>
          </a:bodyPr>
          <a:lstStyle/>
          <a:p>
            <a:r>
              <a:rPr lang="en-US" dirty="0">
                <a:effectLst/>
              </a:rPr>
              <a:t>A pointer can be used as a function parameter. It gives the function access to the original argument, much like a reference parameter does.</a:t>
            </a:r>
          </a:p>
          <a:p>
            <a:r>
              <a:rPr lang="en-US" dirty="0"/>
              <a:t>A reference variable acts as an alias to the original variable used as an argument. </a:t>
            </a:r>
          </a:p>
          <a:p>
            <a:r>
              <a:rPr lang="en-US" dirty="0"/>
              <a:t>This gives the function access to the original argument variable, allowing it to change the variable’s contents. </a:t>
            </a:r>
          </a:p>
          <a:p>
            <a:r>
              <a:rPr lang="en-US" dirty="0"/>
              <a:t>When a variable is passed into a reference parameter, the argument is said to be passed by reference.</a:t>
            </a:r>
            <a:endParaRPr lang="en-US" dirty="0">
              <a:effectLst/>
            </a:endParaRPr>
          </a:p>
          <a:p>
            <a:r>
              <a:rPr lang="en-US" b="1" dirty="0"/>
              <a:t>An alternative to passing an argument by reference is to use a pointer variable as the parameter. </a:t>
            </a:r>
            <a:endParaRPr lang="en-US" b="1" dirty="0">
              <a:effectLst/>
            </a:endParaRPr>
          </a:p>
          <a:p>
            <a:endParaRPr lang="en-US" dirty="0"/>
          </a:p>
        </p:txBody>
      </p:sp>
    </p:spTree>
    <p:extLst>
      <p:ext uri="{BB962C8B-B14F-4D97-AF65-F5344CB8AC3E}">
        <p14:creationId xmlns:p14="http://schemas.microsoft.com/office/powerpoint/2010/main" val="116992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AC425-8E89-B075-143C-636CD7BAD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A5CBF-87E1-8264-C7C3-C42E0BF9C7A3}"/>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91BEA26B-6040-CD9A-06D2-E69A3B095645}"/>
              </a:ext>
            </a:extLst>
          </p:cNvPr>
          <p:cNvSpPr>
            <a:spLocks noGrp="1"/>
          </p:cNvSpPr>
          <p:nvPr>
            <p:ph idx="1"/>
          </p:nvPr>
        </p:nvSpPr>
        <p:spPr/>
        <p:txBody>
          <a:bodyPr>
            <a:normAutofit/>
          </a:bodyPr>
          <a:lstStyle/>
          <a:p>
            <a:r>
              <a:rPr lang="en-US" dirty="0"/>
              <a:t>Admittedly, reference variables are much easier to work with than pointers. Reference variables hide all the “mechanics” of dereferencing and indirection. </a:t>
            </a:r>
          </a:p>
          <a:p>
            <a:r>
              <a:rPr lang="en-US" dirty="0"/>
              <a:t>You should still learn to use pointers as function arguments, however, because some tasks requires it.</a:t>
            </a:r>
          </a:p>
          <a:p>
            <a:r>
              <a:rPr lang="en-US" dirty="0"/>
              <a:t>Also, the C++ library has many functions that use pointers as parameters.</a:t>
            </a:r>
          </a:p>
        </p:txBody>
      </p:sp>
    </p:spTree>
    <p:extLst>
      <p:ext uri="{BB962C8B-B14F-4D97-AF65-F5344CB8AC3E}">
        <p14:creationId xmlns:p14="http://schemas.microsoft.com/office/powerpoint/2010/main" val="3164655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0720D-3815-02CB-C60F-84DC35877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9020-5F1A-27DF-E3EE-33C33C53A3E1}"/>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AB6D8782-6E04-705B-3A7B-5C54E4A0F76A}"/>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r>
              <a:rPr lang="en-US" dirty="0"/>
              <a:t>This statement multiplies the original variable, whose address is stored in </a:t>
            </a:r>
            <a:r>
              <a:rPr lang="en-US" dirty="0" err="1"/>
              <a:t>val</a:t>
            </a:r>
            <a:r>
              <a:rPr lang="en-US" dirty="0"/>
              <a:t>, by two. </a:t>
            </a:r>
          </a:p>
          <a:p>
            <a:r>
              <a:rPr lang="en-US" dirty="0"/>
              <a:t>When the function is called, the address of the variable that is to be doubled must be used as the argument, not the variable itself. such as </a:t>
            </a:r>
            <a:r>
              <a:rPr lang="en-US" b="1" i="1" dirty="0" err="1">
                <a:solidFill>
                  <a:srgbClr val="FF0000"/>
                </a:solidFill>
                <a:effectLst/>
              </a:rPr>
              <a:t>doubleValue</a:t>
            </a:r>
            <a:r>
              <a:rPr lang="en-US" b="1" i="1" dirty="0">
                <a:solidFill>
                  <a:srgbClr val="FF0000"/>
                </a:solidFill>
              </a:rPr>
              <a:t>(&amp;number); </a:t>
            </a:r>
          </a:p>
        </p:txBody>
      </p:sp>
      <p:pic>
        <p:nvPicPr>
          <p:cNvPr id="7" name="Picture 6">
            <a:extLst>
              <a:ext uri="{FF2B5EF4-FFF2-40B4-BE49-F238E27FC236}">
                <a16:creationId xmlns:a16="http://schemas.microsoft.com/office/drawing/2014/main" id="{8847DD04-F6DF-1A06-6FDD-B7F2EF3CDF7F}"/>
              </a:ext>
            </a:extLst>
          </p:cNvPr>
          <p:cNvPicPr>
            <a:picLocks noChangeAspect="1"/>
          </p:cNvPicPr>
          <p:nvPr/>
        </p:nvPicPr>
        <p:blipFill>
          <a:blip r:embed="rId2"/>
          <a:stretch>
            <a:fillRect/>
          </a:stretch>
        </p:blipFill>
        <p:spPr>
          <a:xfrm>
            <a:off x="4311170" y="1614576"/>
            <a:ext cx="2931305" cy="1352910"/>
          </a:xfrm>
          <a:prstGeom prst="rect">
            <a:avLst/>
          </a:prstGeom>
        </p:spPr>
      </p:pic>
    </p:spTree>
    <p:extLst>
      <p:ext uri="{BB962C8B-B14F-4D97-AF65-F5344CB8AC3E}">
        <p14:creationId xmlns:p14="http://schemas.microsoft.com/office/powerpoint/2010/main" val="1630154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D861-841A-C7B3-4107-81A05BF987DA}"/>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C0DA48B-D471-5151-CB0C-F593C2FFA834}"/>
              </a:ext>
            </a:extLst>
          </p:cNvPr>
          <p:cNvPicPr>
            <a:picLocks noChangeAspect="1"/>
          </p:cNvPicPr>
          <p:nvPr/>
        </p:nvPicPr>
        <p:blipFill>
          <a:blip r:embed="rId2"/>
          <a:stretch>
            <a:fillRect/>
          </a:stretch>
        </p:blipFill>
        <p:spPr>
          <a:xfrm>
            <a:off x="7223904" y="9638"/>
            <a:ext cx="3274443" cy="6800766"/>
          </a:xfrm>
          <a:prstGeom prst="rect">
            <a:avLst/>
          </a:prstGeom>
        </p:spPr>
      </p:pic>
      <p:pic>
        <p:nvPicPr>
          <p:cNvPr id="5" name="Picture 4">
            <a:extLst>
              <a:ext uri="{FF2B5EF4-FFF2-40B4-BE49-F238E27FC236}">
                <a16:creationId xmlns:a16="http://schemas.microsoft.com/office/drawing/2014/main" id="{AF49D6E0-A21A-77F3-C431-2086B3556B81}"/>
              </a:ext>
            </a:extLst>
          </p:cNvPr>
          <p:cNvPicPr>
            <a:picLocks noChangeAspect="1"/>
          </p:cNvPicPr>
          <p:nvPr/>
        </p:nvPicPr>
        <p:blipFill>
          <a:blip r:embed="rId3"/>
          <a:stretch>
            <a:fillRect/>
          </a:stretch>
        </p:blipFill>
        <p:spPr>
          <a:xfrm>
            <a:off x="2445064" y="2469864"/>
            <a:ext cx="4166055" cy="1325563"/>
          </a:xfrm>
          <a:prstGeom prst="rect">
            <a:avLst/>
          </a:prstGeom>
        </p:spPr>
      </p:pic>
      <p:sp>
        <p:nvSpPr>
          <p:cNvPr id="6" name="TextBox 5">
            <a:extLst>
              <a:ext uri="{FF2B5EF4-FFF2-40B4-BE49-F238E27FC236}">
                <a16:creationId xmlns:a16="http://schemas.microsoft.com/office/drawing/2014/main" id="{F84B8241-AFD5-36C0-820D-218A9D16F8E9}"/>
              </a:ext>
            </a:extLst>
          </p:cNvPr>
          <p:cNvSpPr txBox="1"/>
          <p:nvPr/>
        </p:nvSpPr>
        <p:spPr>
          <a:xfrm>
            <a:off x="408726" y="4449368"/>
            <a:ext cx="652691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It’s critical that the indirection operator be used in the (</a:t>
            </a:r>
            <a:r>
              <a:rPr lang="en-US" dirty="0" err="1"/>
              <a:t>cin</a:t>
            </a:r>
            <a:r>
              <a:rPr lang="en-US" dirty="0"/>
              <a:t> &gt;&gt; *input) statement. </a:t>
            </a:r>
          </a:p>
          <a:p>
            <a:pPr marL="285750" indent="-285750">
              <a:buFont typeface="Arial" panose="020B0604020202020204" pitchFamily="34" charset="0"/>
              <a:buChar char="•"/>
            </a:pPr>
            <a:r>
              <a:rPr lang="en-US" dirty="0"/>
              <a:t>Without it, </a:t>
            </a:r>
            <a:r>
              <a:rPr lang="en-US" dirty="0" err="1"/>
              <a:t>cin</a:t>
            </a:r>
            <a:r>
              <a:rPr lang="en-US" dirty="0"/>
              <a:t> would store the value entered by the user in input, as if the value were an address. </a:t>
            </a:r>
          </a:p>
          <a:p>
            <a:pPr marL="285750" indent="-285750">
              <a:buFont typeface="Arial" panose="020B0604020202020204" pitchFamily="34" charset="0"/>
              <a:buChar char="•"/>
            </a:pPr>
            <a:r>
              <a:rPr lang="en-US" dirty="0"/>
              <a:t>If this happens, input will no longer point to the number variable in function main. Subsequent use of the pointer will result in erroneous, if not disastrous, results.</a:t>
            </a:r>
          </a:p>
        </p:txBody>
      </p:sp>
    </p:spTree>
    <p:extLst>
      <p:ext uri="{BB962C8B-B14F-4D97-AF65-F5344CB8AC3E}">
        <p14:creationId xmlns:p14="http://schemas.microsoft.com/office/powerpoint/2010/main" val="348346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BCBA-8772-4780-43DD-7A85D6CBB517}"/>
              </a:ext>
            </a:extLst>
          </p:cNvPr>
          <p:cNvSpPr>
            <a:spLocks noGrp="1"/>
          </p:cNvSpPr>
          <p:nvPr>
            <p:ph type="title"/>
          </p:nvPr>
        </p:nvSpPr>
        <p:spPr/>
        <p:txBody>
          <a:bodyPr/>
          <a:lstStyle/>
          <a:p>
            <a:r>
              <a:rPr lang="en-US" dirty="0"/>
              <a:t>Pointers to Constants and Constant Pointers</a:t>
            </a:r>
          </a:p>
        </p:txBody>
      </p:sp>
      <p:sp>
        <p:nvSpPr>
          <p:cNvPr id="3" name="Content Placeholder 2">
            <a:extLst>
              <a:ext uri="{FF2B5EF4-FFF2-40B4-BE49-F238E27FC236}">
                <a16:creationId xmlns:a16="http://schemas.microsoft.com/office/drawing/2014/main" id="{74936D86-C873-19CA-CE67-0E6D40EFAFC6}"/>
              </a:ext>
            </a:extLst>
          </p:cNvPr>
          <p:cNvSpPr>
            <a:spLocks noGrp="1"/>
          </p:cNvSpPr>
          <p:nvPr>
            <p:ph idx="1"/>
          </p:nvPr>
        </p:nvSpPr>
        <p:spPr/>
        <p:txBody>
          <a:bodyPr/>
          <a:lstStyle/>
          <a:p>
            <a:r>
              <a:rPr lang="en-US" dirty="0"/>
              <a:t>A pointer to a constant may not be used to change the value it points to; </a:t>
            </a:r>
          </a:p>
          <a:p>
            <a:r>
              <a:rPr lang="en-US" dirty="0"/>
              <a:t>A constant pointer may not be changed after it has been initialized.</a:t>
            </a:r>
          </a:p>
        </p:txBody>
      </p:sp>
    </p:spTree>
    <p:extLst>
      <p:ext uri="{BB962C8B-B14F-4D97-AF65-F5344CB8AC3E}">
        <p14:creationId xmlns:p14="http://schemas.microsoft.com/office/powerpoint/2010/main" val="2240937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4F69C-085F-0522-2CD4-853158CCCDFC}"/>
              </a:ext>
            </a:extLst>
          </p:cNvPr>
          <p:cNvSpPr>
            <a:spLocks noGrp="1"/>
          </p:cNvSpPr>
          <p:nvPr>
            <p:ph type="title"/>
          </p:nvPr>
        </p:nvSpPr>
        <p:spPr/>
        <p:txBody>
          <a:bodyPr/>
          <a:lstStyle/>
          <a:p>
            <a:r>
              <a:rPr lang="en-US" dirty="0"/>
              <a:t>Pointers to Constants</a:t>
            </a:r>
          </a:p>
        </p:txBody>
      </p:sp>
      <p:sp>
        <p:nvSpPr>
          <p:cNvPr id="3" name="Content Placeholder 2">
            <a:extLst>
              <a:ext uri="{FF2B5EF4-FFF2-40B4-BE49-F238E27FC236}">
                <a16:creationId xmlns:a16="http://schemas.microsoft.com/office/drawing/2014/main" id="{AE07A27B-E70D-2DE3-D3C2-51407955BE84}"/>
              </a:ext>
            </a:extLst>
          </p:cNvPr>
          <p:cNvSpPr>
            <a:spLocks noGrp="1"/>
          </p:cNvSpPr>
          <p:nvPr>
            <p:ph idx="1"/>
          </p:nvPr>
        </p:nvSpPr>
        <p:spPr/>
        <p:txBody>
          <a:bodyPr/>
          <a:lstStyle/>
          <a:p>
            <a:r>
              <a:rPr lang="en-US" dirty="0"/>
              <a:t>You have seen how an item’s address can be passed into a pointer parameter, and the pointer can be used to modify the item that was passed as an argument. </a:t>
            </a:r>
          </a:p>
          <a:p>
            <a:r>
              <a:rPr lang="en-US" dirty="0"/>
              <a:t>Sometimes it is necessary to pass the address of a const item into a pointer. When this is the case, the pointer must be defined as a pointer to a const item. </a:t>
            </a:r>
          </a:p>
        </p:txBody>
      </p:sp>
    </p:spTree>
    <p:extLst>
      <p:ext uri="{BB962C8B-B14F-4D97-AF65-F5344CB8AC3E}">
        <p14:creationId xmlns:p14="http://schemas.microsoft.com/office/powerpoint/2010/main" val="2202686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8CA3-2DDE-4EFC-EBC0-57AD0B1B1F1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B43D846-CA1B-FA21-9360-E9E72F77746E}"/>
              </a:ext>
            </a:extLst>
          </p:cNvPr>
          <p:cNvSpPr>
            <a:spLocks noGrp="1"/>
          </p:cNvSpPr>
          <p:nvPr>
            <p:ph idx="1"/>
          </p:nvPr>
        </p:nvSpPr>
        <p:spPr>
          <a:xfrm>
            <a:off x="5244860" y="471277"/>
            <a:ext cx="6823495" cy="6231448"/>
          </a:xfrm>
        </p:spPr>
        <p:txBody>
          <a:bodyPr>
            <a:normAutofit/>
          </a:bodyPr>
          <a:lstStyle/>
          <a:p>
            <a:pPr algn="just"/>
            <a:r>
              <a:rPr lang="en-US" sz="2200" dirty="0"/>
              <a:t>In this code, </a:t>
            </a:r>
            <a:r>
              <a:rPr lang="en-US" sz="2200" dirty="0" err="1"/>
              <a:t>payRates</a:t>
            </a:r>
            <a:r>
              <a:rPr lang="en-US" sz="2200" dirty="0"/>
              <a:t> is an array of const doubles. </a:t>
            </a:r>
          </a:p>
          <a:p>
            <a:pPr algn="just"/>
            <a:r>
              <a:rPr lang="en-US" sz="2200" dirty="0"/>
              <a:t>This means that each element in the array is a const double, and the compiler will not allow us to write code that changes the array’s contents. </a:t>
            </a:r>
          </a:p>
          <a:p>
            <a:pPr algn="just"/>
            <a:r>
              <a:rPr lang="en-US" sz="2200" dirty="0"/>
              <a:t>If we want to pass the </a:t>
            </a:r>
            <a:r>
              <a:rPr lang="en-US" sz="2200" dirty="0" err="1"/>
              <a:t>payRates</a:t>
            </a:r>
            <a:r>
              <a:rPr lang="en-US" sz="2200" dirty="0"/>
              <a:t> array into a pointer parameter, the parameter must be declared as a pointer to const double. </a:t>
            </a:r>
          </a:p>
          <a:p>
            <a:pPr algn="just"/>
            <a:r>
              <a:rPr lang="en-US" sz="2200" dirty="0"/>
              <a:t>In the function header, notice that the rates parameter is defined as a pointer to const double. It should be noted that the word const is applied to the thing that rates points to, not rates itself.</a:t>
            </a:r>
          </a:p>
          <a:p>
            <a:pPr algn="just"/>
            <a:r>
              <a:rPr lang="en-US" sz="2200" dirty="0"/>
              <a:t>Because rates is a pointer to a const, the compiler will not allow us to write code that changes the thing that rates points to.</a:t>
            </a:r>
          </a:p>
          <a:p>
            <a:pPr algn="just"/>
            <a:r>
              <a:rPr lang="en-US" sz="2200" dirty="0"/>
              <a:t>Because rates is a pointer to a const, the compiler will not allow us to write code that changes the thing that rates points to.</a:t>
            </a:r>
          </a:p>
        </p:txBody>
      </p:sp>
      <p:pic>
        <p:nvPicPr>
          <p:cNvPr id="4" name="Picture 3">
            <a:extLst>
              <a:ext uri="{FF2B5EF4-FFF2-40B4-BE49-F238E27FC236}">
                <a16:creationId xmlns:a16="http://schemas.microsoft.com/office/drawing/2014/main" id="{19D359AF-33F3-A715-49BE-DE95396370D0}"/>
              </a:ext>
            </a:extLst>
          </p:cNvPr>
          <p:cNvPicPr>
            <a:picLocks noChangeAspect="1"/>
          </p:cNvPicPr>
          <p:nvPr/>
        </p:nvPicPr>
        <p:blipFill>
          <a:blip r:embed="rId2"/>
          <a:stretch>
            <a:fillRect/>
          </a:stretch>
        </p:blipFill>
        <p:spPr>
          <a:xfrm>
            <a:off x="838200" y="1690688"/>
            <a:ext cx="3708034" cy="931862"/>
          </a:xfrm>
          <a:prstGeom prst="rect">
            <a:avLst/>
          </a:prstGeom>
        </p:spPr>
      </p:pic>
      <p:pic>
        <p:nvPicPr>
          <p:cNvPr id="5" name="Picture 4">
            <a:extLst>
              <a:ext uri="{FF2B5EF4-FFF2-40B4-BE49-F238E27FC236}">
                <a16:creationId xmlns:a16="http://schemas.microsoft.com/office/drawing/2014/main" id="{1662BFE5-5584-3AFE-846F-DD1452D48ED4}"/>
              </a:ext>
            </a:extLst>
          </p:cNvPr>
          <p:cNvPicPr>
            <a:picLocks noChangeAspect="1"/>
          </p:cNvPicPr>
          <p:nvPr/>
        </p:nvPicPr>
        <p:blipFill>
          <a:blip r:embed="rId3"/>
          <a:stretch>
            <a:fillRect/>
          </a:stretch>
        </p:blipFill>
        <p:spPr>
          <a:xfrm>
            <a:off x="831235" y="2622550"/>
            <a:ext cx="3714999" cy="2225495"/>
          </a:xfrm>
          <a:prstGeom prst="rect">
            <a:avLst/>
          </a:prstGeom>
        </p:spPr>
      </p:pic>
      <p:pic>
        <p:nvPicPr>
          <p:cNvPr id="6" name="Picture 5">
            <a:extLst>
              <a:ext uri="{FF2B5EF4-FFF2-40B4-BE49-F238E27FC236}">
                <a16:creationId xmlns:a16="http://schemas.microsoft.com/office/drawing/2014/main" id="{88560F69-4A44-0B8E-4D20-721313DB124E}"/>
              </a:ext>
            </a:extLst>
          </p:cNvPr>
          <p:cNvPicPr>
            <a:picLocks noChangeAspect="1"/>
          </p:cNvPicPr>
          <p:nvPr/>
        </p:nvPicPr>
        <p:blipFill>
          <a:blip r:embed="rId4"/>
          <a:stretch>
            <a:fillRect/>
          </a:stretch>
        </p:blipFill>
        <p:spPr>
          <a:xfrm>
            <a:off x="1040442" y="5167312"/>
            <a:ext cx="3212240" cy="1227318"/>
          </a:xfrm>
          <a:prstGeom prst="rect">
            <a:avLst/>
          </a:prstGeom>
        </p:spPr>
      </p:pic>
    </p:spTree>
    <p:extLst>
      <p:ext uri="{BB962C8B-B14F-4D97-AF65-F5344CB8AC3E}">
        <p14:creationId xmlns:p14="http://schemas.microsoft.com/office/powerpoint/2010/main" val="3577617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E956-CC5D-9309-3933-F93C74EFE372}"/>
              </a:ext>
            </a:extLst>
          </p:cNvPr>
          <p:cNvSpPr>
            <a:spLocks noGrp="1"/>
          </p:cNvSpPr>
          <p:nvPr>
            <p:ph type="title"/>
          </p:nvPr>
        </p:nvSpPr>
        <p:spPr>
          <a:xfrm>
            <a:off x="838200" y="365125"/>
            <a:ext cx="7020464" cy="1325563"/>
          </a:xfrm>
        </p:spPr>
        <p:txBody>
          <a:bodyPr>
            <a:normAutofit/>
          </a:bodyPr>
          <a:lstStyle/>
          <a:p>
            <a:r>
              <a:rPr lang="en-US" sz="3500" dirty="0"/>
              <a:t>Passing a Non-Constant Argument into a Pointer to a Constant</a:t>
            </a:r>
          </a:p>
        </p:txBody>
      </p:sp>
      <p:sp>
        <p:nvSpPr>
          <p:cNvPr id="3" name="Content Placeholder 2">
            <a:extLst>
              <a:ext uri="{FF2B5EF4-FFF2-40B4-BE49-F238E27FC236}">
                <a16:creationId xmlns:a16="http://schemas.microsoft.com/office/drawing/2014/main" id="{30FD30A0-35F7-3C92-8982-690885C17222}"/>
              </a:ext>
            </a:extLst>
          </p:cNvPr>
          <p:cNvSpPr>
            <a:spLocks noGrp="1"/>
          </p:cNvSpPr>
          <p:nvPr>
            <p:ph idx="1"/>
          </p:nvPr>
        </p:nvSpPr>
        <p:spPr>
          <a:xfrm>
            <a:off x="633323" y="3614468"/>
            <a:ext cx="7020464" cy="3174520"/>
          </a:xfrm>
        </p:spPr>
        <p:txBody>
          <a:bodyPr>
            <a:normAutofit fontScale="77500" lnSpcReduction="20000"/>
          </a:bodyPr>
          <a:lstStyle/>
          <a:p>
            <a:r>
              <a:rPr lang="en-US" dirty="0"/>
              <a:t>Although a constant’s address can be passed only to a pointer to const, a pointer to const can also receive the address of a non-constant item. </a:t>
            </a:r>
          </a:p>
          <a:p>
            <a:r>
              <a:rPr lang="en-US" dirty="0"/>
              <a:t>When writing a function that uses a pointer parameter, and the function is not intended to change the data the parameter points to, it is always a good idea to make the parameter a pointer to const. </a:t>
            </a:r>
          </a:p>
          <a:p>
            <a:r>
              <a:rPr lang="en-US" dirty="0"/>
              <a:t>Not only will this protect you from writing code in the function that accidentally changes the argument, but the function will be able to accept the addresses of both constant and non-constant arguments.</a:t>
            </a:r>
          </a:p>
        </p:txBody>
      </p:sp>
      <p:pic>
        <p:nvPicPr>
          <p:cNvPr id="4" name="Picture 3">
            <a:extLst>
              <a:ext uri="{FF2B5EF4-FFF2-40B4-BE49-F238E27FC236}">
                <a16:creationId xmlns:a16="http://schemas.microsoft.com/office/drawing/2014/main" id="{CCF68148-0275-FBE3-AB9E-43C1952095E9}"/>
              </a:ext>
            </a:extLst>
          </p:cNvPr>
          <p:cNvPicPr>
            <a:picLocks noChangeAspect="1"/>
          </p:cNvPicPr>
          <p:nvPr/>
        </p:nvPicPr>
        <p:blipFill>
          <a:blip r:embed="rId2"/>
          <a:stretch>
            <a:fillRect/>
          </a:stretch>
        </p:blipFill>
        <p:spPr>
          <a:xfrm>
            <a:off x="8048445" y="0"/>
            <a:ext cx="3952456" cy="6887112"/>
          </a:xfrm>
          <a:prstGeom prst="rect">
            <a:avLst/>
          </a:prstGeom>
        </p:spPr>
      </p:pic>
      <p:pic>
        <p:nvPicPr>
          <p:cNvPr id="5" name="Picture 4">
            <a:extLst>
              <a:ext uri="{FF2B5EF4-FFF2-40B4-BE49-F238E27FC236}">
                <a16:creationId xmlns:a16="http://schemas.microsoft.com/office/drawing/2014/main" id="{F89C72C9-97CA-A497-B923-E4209BA9140B}"/>
              </a:ext>
            </a:extLst>
          </p:cNvPr>
          <p:cNvPicPr>
            <a:picLocks noChangeAspect="1"/>
          </p:cNvPicPr>
          <p:nvPr/>
        </p:nvPicPr>
        <p:blipFill>
          <a:blip r:embed="rId3"/>
          <a:stretch>
            <a:fillRect/>
          </a:stretch>
        </p:blipFill>
        <p:spPr>
          <a:xfrm>
            <a:off x="1860252" y="1807235"/>
            <a:ext cx="4566607" cy="1358660"/>
          </a:xfrm>
          <a:prstGeom prst="rect">
            <a:avLst/>
          </a:prstGeom>
        </p:spPr>
      </p:pic>
    </p:spTree>
    <p:extLst>
      <p:ext uri="{BB962C8B-B14F-4D97-AF65-F5344CB8AC3E}">
        <p14:creationId xmlns:p14="http://schemas.microsoft.com/office/powerpoint/2010/main" val="1257827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95CC-3567-528E-2A80-B802C90F7844}"/>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212E6CF0-6DD7-D609-B86B-F21ED2C37350}"/>
              </a:ext>
            </a:extLst>
          </p:cNvPr>
          <p:cNvSpPr>
            <a:spLocks noGrp="1"/>
          </p:cNvSpPr>
          <p:nvPr>
            <p:ph idx="1"/>
          </p:nvPr>
        </p:nvSpPr>
        <p:spPr/>
        <p:txBody>
          <a:bodyPr/>
          <a:lstStyle/>
          <a:p>
            <a:pPr algn="l"/>
            <a:r>
              <a:rPr lang="en-US" dirty="0"/>
              <a:t>W</a:t>
            </a:r>
            <a:r>
              <a:rPr lang="en-US" dirty="0">
                <a:effectLst/>
              </a:rPr>
              <a:t>e discussed pointers to const, that is, pointers that point to const data. You can also use the const key word to define a constant pointer. Here is the difference between a pointer to const and a const pointer:</a:t>
            </a:r>
          </a:p>
          <a:p>
            <a:pPr lvl="1"/>
            <a:r>
              <a:rPr lang="en-US" dirty="0"/>
              <a:t>A pointer to const points to a constant item. The data that the pointer points to cannot change, but the pointer itself can change.</a:t>
            </a:r>
          </a:p>
          <a:p>
            <a:pPr lvl="1"/>
            <a:r>
              <a:rPr lang="en-US" dirty="0"/>
              <a:t>With a const pointer, it is the pointer itself that is constant. Once the pointer is initialized with an address, it cannot point to anything else.</a:t>
            </a:r>
          </a:p>
          <a:p>
            <a:endParaRPr lang="en-US" dirty="0"/>
          </a:p>
        </p:txBody>
      </p:sp>
    </p:spTree>
    <p:extLst>
      <p:ext uri="{BB962C8B-B14F-4D97-AF65-F5344CB8AC3E}">
        <p14:creationId xmlns:p14="http://schemas.microsoft.com/office/powerpoint/2010/main" val="1133502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F7C0-A5B8-899C-BC1F-ECED76329345}"/>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6C0191C9-4702-A691-8909-EF05D319C309}"/>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In the code, </a:t>
            </a:r>
            <a:r>
              <a:rPr lang="en-US" dirty="0" err="1"/>
              <a:t>ptr</a:t>
            </a:r>
            <a:r>
              <a:rPr lang="en-US" dirty="0"/>
              <a:t> is initialized with the address of the value variable. Because </a:t>
            </a:r>
            <a:r>
              <a:rPr lang="en-US" dirty="0" err="1"/>
              <a:t>ptr</a:t>
            </a:r>
            <a:r>
              <a:rPr lang="en-US" dirty="0"/>
              <a:t> is a constant pointer, a compiler error will result if we write code that makes </a:t>
            </a:r>
            <a:r>
              <a:rPr lang="en-US" dirty="0" err="1"/>
              <a:t>ptr</a:t>
            </a:r>
            <a:r>
              <a:rPr lang="en-US" dirty="0"/>
              <a:t> point to anything else. An error will not result, however, if we use </a:t>
            </a:r>
            <a:r>
              <a:rPr lang="en-US" dirty="0" err="1"/>
              <a:t>ptr</a:t>
            </a:r>
            <a:r>
              <a:rPr lang="en-US" dirty="0"/>
              <a:t> to change the contents of value. This is because value is not constant, and </a:t>
            </a:r>
            <a:r>
              <a:rPr lang="en-US" dirty="0" err="1"/>
              <a:t>ptr</a:t>
            </a:r>
            <a:r>
              <a:rPr lang="en-US" dirty="0"/>
              <a:t> is not a pointer to const.</a:t>
            </a:r>
          </a:p>
        </p:txBody>
      </p:sp>
      <p:pic>
        <p:nvPicPr>
          <p:cNvPr id="4" name="Picture 3">
            <a:extLst>
              <a:ext uri="{FF2B5EF4-FFF2-40B4-BE49-F238E27FC236}">
                <a16:creationId xmlns:a16="http://schemas.microsoft.com/office/drawing/2014/main" id="{B899C5E2-475C-7F52-00DC-DD93D5143940}"/>
              </a:ext>
            </a:extLst>
          </p:cNvPr>
          <p:cNvPicPr>
            <a:picLocks noChangeAspect="1"/>
          </p:cNvPicPr>
          <p:nvPr/>
        </p:nvPicPr>
        <p:blipFill>
          <a:blip r:embed="rId2"/>
          <a:stretch>
            <a:fillRect/>
          </a:stretch>
        </p:blipFill>
        <p:spPr>
          <a:xfrm>
            <a:off x="1873763" y="2150704"/>
            <a:ext cx="2768289" cy="1024267"/>
          </a:xfrm>
          <a:prstGeom prst="rect">
            <a:avLst/>
          </a:prstGeom>
        </p:spPr>
      </p:pic>
      <p:pic>
        <p:nvPicPr>
          <p:cNvPr id="5" name="Picture 4">
            <a:extLst>
              <a:ext uri="{FF2B5EF4-FFF2-40B4-BE49-F238E27FC236}">
                <a16:creationId xmlns:a16="http://schemas.microsoft.com/office/drawing/2014/main" id="{C9789147-A68C-7343-A91B-B6CEBAAA4397}"/>
              </a:ext>
            </a:extLst>
          </p:cNvPr>
          <p:cNvPicPr>
            <a:picLocks noChangeAspect="1"/>
          </p:cNvPicPr>
          <p:nvPr/>
        </p:nvPicPr>
        <p:blipFill>
          <a:blip r:embed="rId3"/>
          <a:srcRect t="2572" b="-1"/>
          <a:stretch/>
        </p:blipFill>
        <p:spPr>
          <a:xfrm>
            <a:off x="6694337" y="1864893"/>
            <a:ext cx="3308137" cy="1595887"/>
          </a:xfrm>
          <a:prstGeom prst="rect">
            <a:avLst/>
          </a:prstGeom>
        </p:spPr>
      </p:pic>
    </p:spTree>
    <p:extLst>
      <p:ext uri="{BB962C8B-B14F-4D97-AF65-F5344CB8AC3E}">
        <p14:creationId xmlns:p14="http://schemas.microsoft.com/office/powerpoint/2010/main" val="3717019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DC089-0ADA-D69F-24C0-D2DAAD3F6A90}"/>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C5F7553D-96AF-47A2-97FE-BD629A6DFC5F}"/>
              </a:ext>
            </a:extLst>
          </p:cNvPr>
          <p:cNvSpPr>
            <a:spLocks noGrp="1"/>
          </p:cNvSpPr>
          <p:nvPr>
            <p:ph idx="1"/>
          </p:nvPr>
        </p:nvSpPr>
        <p:spPr/>
        <p:txBody>
          <a:bodyPr/>
          <a:lstStyle/>
          <a:p>
            <a:r>
              <a:rPr lang="en-US" dirty="0"/>
              <a:t>Constant pointers must be initialized with a starting value, as shown in the previous example code. </a:t>
            </a:r>
          </a:p>
          <a:p>
            <a:r>
              <a:rPr lang="en-US" dirty="0"/>
              <a:t>If a constant pointer is used as a function parameter, the parameter will be initialized with the address that is passed as an argument into it and cannot be changed to point to anything else while the function is executing. </a:t>
            </a:r>
          </a:p>
          <a:p>
            <a:endParaRPr lang="en-US" dirty="0"/>
          </a:p>
          <a:p>
            <a:r>
              <a:rPr lang="en-US" dirty="0"/>
              <a:t>However, </a:t>
            </a:r>
            <a:r>
              <a:rPr lang="en-US" dirty="0" err="1"/>
              <a:t>ptr</a:t>
            </a:r>
            <a:r>
              <a:rPr lang="en-US" dirty="0"/>
              <a:t> does not point to a const, so we can have code that changes the data that </a:t>
            </a:r>
            <a:r>
              <a:rPr lang="en-US" dirty="0" err="1"/>
              <a:t>ptr</a:t>
            </a:r>
            <a:r>
              <a:rPr lang="en-US" dirty="0"/>
              <a:t> points to.</a:t>
            </a:r>
          </a:p>
        </p:txBody>
      </p:sp>
      <p:pic>
        <p:nvPicPr>
          <p:cNvPr id="4" name="Picture 3">
            <a:extLst>
              <a:ext uri="{FF2B5EF4-FFF2-40B4-BE49-F238E27FC236}">
                <a16:creationId xmlns:a16="http://schemas.microsoft.com/office/drawing/2014/main" id="{DB4DC6FC-4062-999B-9CD8-2995D63BFABA}"/>
              </a:ext>
            </a:extLst>
          </p:cNvPr>
          <p:cNvPicPr>
            <a:picLocks noChangeAspect="1"/>
          </p:cNvPicPr>
          <p:nvPr/>
        </p:nvPicPr>
        <p:blipFill>
          <a:blip r:embed="rId2"/>
          <a:stretch>
            <a:fillRect/>
          </a:stretch>
        </p:blipFill>
        <p:spPr>
          <a:xfrm>
            <a:off x="6201314" y="3913756"/>
            <a:ext cx="4457805" cy="1046433"/>
          </a:xfrm>
          <a:prstGeom prst="rect">
            <a:avLst/>
          </a:prstGeom>
        </p:spPr>
      </p:pic>
      <p:pic>
        <p:nvPicPr>
          <p:cNvPr id="5" name="Picture 4">
            <a:extLst>
              <a:ext uri="{FF2B5EF4-FFF2-40B4-BE49-F238E27FC236}">
                <a16:creationId xmlns:a16="http://schemas.microsoft.com/office/drawing/2014/main" id="{8EDAE150-9BED-77BE-7296-BE42AF2447B7}"/>
              </a:ext>
            </a:extLst>
          </p:cNvPr>
          <p:cNvPicPr>
            <a:picLocks noChangeAspect="1"/>
          </p:cNvPicPr>
          <p:nvPr/>
        </p:nvPicPr>
        <p:blipFill>
          <a:blip r:embed="rId3"/>
          <a:stretch>
            <a:fillRect/>
          </a:stretch>
        </p:blipFill>
        <p:spPr>
          <a:xfrm>
            <a:off x="7288241" y="5446442"/>
            <a:ext cx="2832862" cy="1204524"/>
          </a:xfrm>
          <a:prstGeom prst="rect">
            <a:avLst/>
          </a:prstGeom>
        </p:spPr>
      </p:pic>
    </p:spTree>
    <p:extLst>
      <p:ext uri="{BB962C8B-B14F-4D97-AF65-F5344CB8AC3E}">
        <p14:creationId xmlns:p14="http://schemas.microsoft.com/office/powerpoint/2010/main" val="2884827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F4BC-368C-A51C-633B-34BF2AB08131}"/>
              </a:ext>
            </a:extLst>
          </p:cNvPr>
          <p:cNvSpPr>
            <a:spLocks noGrp="1"/>
          </p:cNvSpPr>
          <p:nvPr>
            <p:ph type="title"/>
          </p:nvPr>
        </p:nvSpPr>
        <p:spPr/>
        <p:txBody>
          <a:bodyPr/>
          <a:lstStyle/>
          <a:p>
            <a:r>
              <a:rPr lang="en-US" dirty="0"/>
              <a:t>Constant Pointers to Constants</a:t>
            </a:r>
          </a:p>
        </p:txBody>
      </p:sp>
      <p:sp>
        <p:nvSpPr>
          <p:cNvPr id="3" name="Content Placeholder 2">
            <a:extLst>
              <a:ext uri="{FF2B5EF4-FFF2-40B4-BE49-F238E27FC236}">
                <a16:creationId xmlns:a16="http://schemas.microsoft.com/office/drawing/2014/main" id="{F1D78316-9B69-3070-FDBB-3EF5AE429DAA}"/>
              </a:ext>
            </a:extLst>
          </p:cNvPr>
          <p:cNvSpPr>
            <a:spLocks noGrp="1"/>
          </p:cNvSpPr>
          <p:nvPr>
            <p:ph idx="1"/>
          </p:nvPr>
        </p:nvSpPr>
        <p:spPr/>
        <p:txBody>
          <a:bodyPr/>
          <a:lstStyle/>
          <a:p>
            <a:r>
              <a:rPr lang="en-US" dirty="0"/>
              <a:t>So far, when using const with pointers we’ve seen pointers to constants and we’ve seen constant pointers. </a:t>
            </a:r>
          </a:p>
          <a:p>
            <a:r>
              <a:rPr lang="en-US" b="1" dirty="0"/>
              <a:t>We can also have constant pointers to constants.</a:t>
            </a:r>
          </a:p>
          <a:p>
            <a:r>
              <a:rPr lang="en-US" dirty="0"/>
              <a:t>In the code, </a:t>
            </a:r>
            <a:r>
              <a:rPr lang="en-US" dirty="0" err="1"/>
              <a:t>ptr</a:t>
            </a:r>
            <a:r>
              <a:rPr lang="en-US" dirty="0"/>
              <a:t> is initialized with the address of value. Because </a:t>
            </a:r>
            <a:r>
              <a:rPr lang="en-US" dirty="0" err="1"/>
              <a:t>ptr</a:t>
            </a:r>
            <a:r>
              <a:rPr lang="en-US" dirty="0"/>
              <a:t> is a const pointer, we cannot write code that makes </a:t>
            </a:r>
            <a:r>
              <a:rPr lang="en-US" dirty="0" err="1"/>
              <a:t>ptr</a:t>
            </a:r>
            <a:r>
              <a:rPr lang="en-US" dirty="0"/>
              <a:t> point to anything else. Because </a:t>
            </a:r>
            <a:r>
              <a:rPr lang="en-US" dirty="0" err="1"/>
              <a:t>ptr</a:t>
            </a:r>
            <a:r>
              <a:rPr lang="en-US" dirty="0"/>
              <a:t> is a pointer to const, we cannot use it to change the contents of value.</a:t>
            </a:r>
            <a:endParaRPr lang="en-US" b="1" dirty="0"/>
          </a:p>
        </p:txBody>
      </p:sp>
      <p:pic>
        <p:nvPicPr>
          <p:cNvPr id="4" name="Picture 3">
            <a:extLst>
              <a:ext uri="{FF2B5EF4-FFF2-40B4-BE49-F238E27FC236}">
                <a16:creationId xmlns:a16="http://schemas.microsoft.com/office/drawing/2014/main" id="{FC20EFD3-3651-85ED-A81F-69918B58EA69}"/>
              </a:ext>
            </a:extLst>
          </p:cNvPr>
          <p:cNvPicPr>
            <a:picLocks noChangeAspect="1"/>
          </p:cNvPicPr>
          <p:nvPr/>
        </p:nvPicPr>
        <p:blipFill>
          <a:blip r:embed="rId2"/>
          <a:stretch>
            <a:fillRect/>
          </a:stretch>
        </p:blipFill>
        <p:spPr>
          <a:xfrm>
            <a:off x="1265370" y="5219819"/>
            <a:ext cx="4149144" cy="879056"/>
          </a:xfrm>
          <a:prstGeom prst="rect">
            <a:avLst/>
          </a:prstGeom>
        </p:spPr>
      </p:pic>
      <p:pic>
        <p:nvPicPr>
          <p:cNvPr id="5" name="Picture 4">
            <a:extLst>
              <a:ext uri="{FF2B5EF4-FFF2-40B4-BE49-F238E27FC236}">
                <a16:creationId xmlns:a16="http://schemas.microsoft.com/office/drawing/2014/main" id="{FFBC0A64-5F44-6E9E-76F7-7CB354CA40CF}"/>
              </a:ext>
            </a:extLst>
          </p:cNvPr>
          <p:cNvPicPr>
            <a:picLocks noChangeAspect="1"/>
          </p:cNvPicPr>
          <p:nvPr/>
        </p:nvPicPr>
        <p:blipFill>
          <a:blip r:embed="rId3"/>
          <a:stretch>
            <a:fillRect/>
          </a:stretch>
        </p:blipFill>
        <p:spPr>
          <a:xfrm>
            <a:off x="6777487" y="4605846"/>
            <a:ext cx="4729192" cy="2036494"/>
          </a:xfrm>
          <a:prstGeom prst="rect">
            <a:avLst/>
          </a:prstGeom>
        </p:spPr>
      </p:pic>
    </p:spTree>
    <p:extLst>
      <p:ext uri="{BB962C8B-B14F-4D97-AF65-F5344CB8AC3E}">
        <p14:creationId xmlns:p14="http://schemas.microsoft.com/office/powerpoint/2010/main" val="1287800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2484</Words>
  <Application>Microsoft Macintosh PowerPoint</Application>
  <PresentationFormat>Widescreen</PresentationFormat>
  <Paragraphs>166</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     Week 6 Pointers part 1 </vt:lpstr>
      <vt:lpstr>Pointers and the Address Operator</vt:lpstr>
      <vt:lpstr>Pointers and the Address Operator</vt:lpstr>
      <vt:lpstr>Example</vt:lpstr>
      <vt:lpstr>Pointer Variables</vt:lpstr>
      <vt:lpstr>Example</vt:lpstr>
      <vt:lpstr>Example</vt:lpstr>
      <vt:lpstr>The Relationship Between Arrays and Pointers</vt:lpstr>
      <vt:lpstr>Example</vt:lpstr>
      <vt:lpstr>The Relationship Between Arrays and Pointers</vt:lpstr>
      <vt:lpstr>The Relationship Between Arrays and Pointers</vt:lpstr>
      <vt:lpstr>The Relationship Between Arrays and Pointers</vt:lpstr>
      <vt:lpstr>Example</vt:lpstr>
      <vt:lpstr>Example</vt:lpstr>
      <vt:lpstr>The Relationship Between Arrays and Pointers</vt:lpstr>
      <vt:lpstr>Pointer Arithmetic</vt:lpstr>
      <vt:lpstr>Pointer Arithmetic</vt:lpstr>
      <vt:lpstr>Initializing Pointers</vt:lpstr>
      <vt:lpstr>Initializing Pointers</vt:lpstr>
      <vt:lpstr>Initializing Pointers</vt:lpstr>
      <vt:lpstr>Initializing Pointers</vt:lpstr>
      <vt:lpstr>Initializing Pointers</vt:lpstr>
      <vt:lpstr>Initializing Pointers</vt:lpstr>
      <vt:lpstr>Comparing Pointers</vt:lpstr>
      <vt:lpstr>Comparing pointers</vt:lpstr>
      <vt:lpstr>Comparing pointers</vt:lpstr>
      <vt:lpstr>Example</vt:lpstr>
      <vt:lpstr>Comparing pointers</vt:lpstr>
      <vt:lpstr>Pointers as Function Parameters</vt:lpstr>
      <vt:lpstr>Pointers as Function Parameters</vt:lpstr>
      <vt:lpstr>Pointers as Function Parameters</vt:lpstr>
      <vt:lpstr>Example</vt:lpstr>
      <vt:lpstr>Pointers to Constants and Constant Pointers</vt:lpstr>
      <vt:lpstr>Pointers to Constants</vt:lpstr>
      <vt:lpstr>Example</vt:lpstr>
      <vt:lpstr>Passing a Non-Constant Argument into a Pointer to a Constant</vt:lpstr>
      <vt:lpstr>Constant Pointers</vt:lpstr>
      <vt:lpstr>Constant Pointers</vt:lpstr>
      <vt:lpstr>Constant Pointers</vt:lpstr>
      <vt:lpstr>Constant Pointers to Constants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cp:revision>
  <dcterms:created xsi:type="dcterms:W3CDTF">2024-10-03T10:45:59Z</dcterms:created>
  <dcterms:modified xsi:type="dcterms:W3CDTF">2024-10-03T12:55:40Z</dcterms:modified>
</cp:coreProperties>
</file>