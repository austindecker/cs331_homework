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89"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2" r:id="rId25"/>
    <p:sldId id="313" r:id="rId26"/>
    <p:sldId id="314" r:id="rId27"/>
    <p:sldId id="315" r:id="rId28"/>
    <p:sldId id="316" r:id="rId29"/>
    <p:sldId id="317" r:id="rId30"/>
    <p:sldId id="318" r:id="rId31"/>
    <p:sldId id="319" r:id="rId32"/>
    <p:sldId id="320" r:id="rId33"/>
    <p:sldId id="322" r:id="rId34"/>
    <p:sldId id="321" r:id="rId35"/>
    <p:sldId id="323" r:id="rId36"/>
    <p:sldId id="324" r:id="rId37"/>
    <p:sldId id="325" r:id="rId38"/>
    <p:sldId id="326" r:id="rId39"/>
    <p:sldId id="327" r:id="rId40"/>
    <p:sldId id="32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5604"/>
    <p:restoredTop sz="94765"/>
  </p:normalViewPr>
  <p:slideViewPr>
    <p:cSldViewPr snapToGrid="0">
      <p:cViewPr varScale="1">
        <p:scale>
          <a:sx n="123" d="100"/>
          <a:sy n="123" d="100"/>
        </p:scale>
        <p:origin x="400"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E01D0-F1EC-1243-9AD4-91C9E3646098}" type="datetimeFigureOut">
              <a:rPr lang="en-US" smtClean="0"/>
              <a:t>10/1/24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06A0-375C-314B-86CC-A06D6D3EE7A1}" type="slidenum">
              <a:rPr lang="en-US" smtClean="0"/>
              <a:t>‹#›</a:t>
            </a:fld>
            <a:endParaRPr lang="en-US"/>
          </a:p>
        </p:txBody>
      </p:sp>
    </p:spTree>
    <p:extLst>
      <p:ext uri="{BB962C8B-B14F-4D97-AF65-F5344CB8AC3E}">
        <p14:creationId xmlns:p14="http://schemas.microsoft.com/office/powerpoint/2010/main" val="1352329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CC06A0-375C-314B-86CC-A06D6D3EE7A1}" type="slidenum">
              <a:rPr lang="en-US" smtClean="0"/>
              <a:t>18</a:t>
            </a:fld>
            <a:endParaRPr lang="en-US"/>
          </a:p>
        </p:txBody>
      </p:sp>
    </p:spTree>
    <p:extLst>
      <p:ext uri="{BB962C8B-B14F-4D97-AF65-F5344CB8AC3E}">
        <p14:creationId xmlns:p14="http://schemas.microsoft.com/office/powerpoint/2010/main" val="855079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4952-0ABB-E3EB-BD54-A7557F3238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DF8661-4A68-2DCB-2825-C4F5457F6D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E25DB5-CAF9-64FC-0029-B294877BF38B}"/>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5" name="Footer Placeholder 4">
            <a:extLst>
              <a:ext uri="{FF2B5EF4-FFF2-40B4-BE49-F238E27FC236}">
                <a16:creationId xmlns:a16="http://schemas.microsoft.com/office/drawing/2014/main" id="{166B4977-201F-0C21-0256-FC1ADA898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E8D20-4A2E-8F60-E6D7-19557A88CDF5}"/>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3419331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D48F-2BA6-E202-08C2-05C2BCE2B5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25EA6C-020D-105D-067E-389A4932D1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E353D1-D40C-387A-DD01-FAFA3FCC1EBB}"/>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5" name="Footer Placeholder 4">
            <a:extLst>
              <a:ext uri="{FF2B5EF4-FFF2-40B4-BE49-F238E27FC236}">
                <a16:creationId xmlns:a16="http://schemas.microsoft.com/office/drawing/2014/main" id="{93F4B1D8-77AE-0B15-9FAA-392CB29758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A40F1-3C1B-CAC3-8399-FFEB625F1705}"/>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718605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7F26-2EF7-FD02-0C22-A366DD89EB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8B4405-A4E8-F8D6-38D4-4C68063029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434D4B-27E8-7017-206E-08C37750BCE9}"/>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5" name="Footer Placeholder 4">
            <a:extLst>
              <a:ext uri="{FF2B5EF4-FFF2-40B4-BE49-F238E27FC236}">
                <a16:creationId xmlns:a16="http://schemas.microsoft.com/office/drawing/2014/main" id="{4AA59759-7973-2BDC-8EE4-15D2334D1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9EEEB8-EFFB-39A0-A87A-7F1DFE6584BC}"/>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1785961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9B84-9CA6-9492-3F92-6C112BF907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36D44B-E729-0741-FEC6-1A2844A9AE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F0704C-DD2D-10AE-BEB1-76FFB55C2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8559A8-F758-3D1C-1375-96B5F9267B59}"/>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6" name="Footer Placeholder 5">
            <a:extLst>
              <a:ext uri="{FF2B5EF4-FFF2-40B4-BE49-F238E27FC236}">
                <a16:creationId xmlns:a16="http://schemas.microsoft.com/office/drawing/2014/main" id="{98237F09-6E19-D116-13CB-6735D1660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BCB829-85C9-F371-3105-1395E4EBD3D6}"/>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1048541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924E-DD50-B31D-30DB-19794757D1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92B59F-859F-DC0B-DC6D-0C9AD93D4A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16500F-D950-B7A2-EEE5-7AA132076D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7FAE6B-EB20-3D6B-6B80-4F778C7830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6A375D-3378-E9E3-CF82-77F0010C6B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C5E8BA-7980-17AA-56EB-5C72F4A04EAC}"/>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8" name="Footer Placeholder 7">
            <a:extLst>
              <a:ext uri="{FF2B5EF4-FFF2-40B4-BE49-F238E27FC236}">
                <a16:creationId xmlns:a16="http://schemas.microsoft.com/office/drawing/2014/main" id="{15B21345-B93C-5CE9-90EA-6B0A6CB609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4CAE7F-DF38-ED3D-A1D9-FA469BA9D326}"/>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4058527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192A8-88CD-3790-753F-5D1433CE3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5C9387-1113-3F28-FB23-6C6DE0B9056E}"/>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4" name="Footer Placeholder 3">
            <a:extLst>
              <a:ext uri="{FF2B5EF4-FFF2-40B4-BE49-F238E27FC236}">
                <a16:creationId xmlns:a16="http://schemas.microsoft.com/office/drawing/2014/main" id="{E451F55F-4346-7F59-3022-33FEDC36EF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42DE72-9C3B-3D2E-9459-ED4C986A36FC}"/>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841970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E8181F-73B4-CB9D-9D73-633F1F617F7F}"/>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3" name="Footer Placeholder 2">
            <a:extLst>
              <a:ext uri="{FF2B5EF4-FFF2-40B4-BE49-F238E27FC236}">
                <a16:creationId xmlns:a16="http://schemas.microsoft.com/office/drawing/2014/main" id="{62067ED3-4B7B-34DE-569E-FF69A72B5F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446D9C-6B2D-5ADE-C9E3-BF73C5B2634E}"/>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25929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109AE-F972-937D-5266-650428DFE1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F151A8-D835-3C20-2B8C-442C55F09F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DAF806-E7F8-2BD9-4038-9CD35D24B1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8846B1-A463-A1FF-B9B0-5AEF42456641}"/>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6" name="Footer Placeholder 5">
            <a:extLst>
              <a:ext uri="{FF2B5EF4-FFF2-40B4-BE49-F238E27FC236}">
                <a16:creationId xmlns:a16="http://schemas.microsoft.com/office/drawing/2014/main" id="{37D6AF0B-78F4-1D9E-B541-F2D7C47E00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CD184-94DE-CD9F-70D3-1332A3D0F8A9}"/>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3666784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29F04-DDF3-37EB-575F-7BBEE51A9B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B59522-66AE-1960-C03A-FA27FDE7C3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F15A31-FD6C-6193-E04C-7030A3C176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D29C75-412B-2254-C5C1-341D13F153BF}"/>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6" name="Footer Placeholder 5">
            <a:extLst>
              <a:ext uri="{FF2B5EF4-FFF2-40B4-BE49-F238E27FC236}">
                <a16:creationId xmlns:a16="http://schemas.microsoft.com/office/drawing/2014/main" id="{804575A7-1B37-B6B6-24BC-ADB35B96D0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34706C-3B1F-3685-02C5-0EA62C839535}"/>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2974976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EF329-8993-25B6-97FB-01AB6162E0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2DA59-569B-4611-34DE-745FDEA539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6C2564-7BB5-A362-6C7E-6F6C5401DE6A}"/>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5" name="Footer Placeholder 4">
            <a:extLst>
              <a:ext uri="{FF2B5EF4-FFF2-40B4-BE49-F238E27FC236}">
                <a16:creationId xmlns:a16="http://schemas.microsoft.com/office/drawing/2014/main" id="{AE7768D0-C914-98EA-7050-F3FF2D778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84331-885E-7491-2FD6-9472506B5CB7}"/>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1245694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1DB481-7DBF-230C-88AD-FAC3D8D45A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E3D89F-7639-AC23-B279-9BC66DAA3F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1CA1C4-1F33-1B6A-62DE-3B91FBAD94B5}"/>
              </a:ext>
            </a:extLst>
          </p:cNvPr>
          <p:cNvSpPr>
            <a:spLocks noGrp="1"/>
          </p:cNvSpPr>
          <p:nvPr>
            <p:ph type="dt" sz="half" idx="10"/>
          </p:nvPr>
        </p:nvSpPr>
        <p:spPr/>
        <p:txBody>
          <a:bodyPr/>
          <a:lstStyle/>
          <a:p>
            <a:fld id="{E3547F81-CA9E-F24D-B7CB-69EC3EA8820C}" type="datetimeFigureOut">
              <a:rPr lang="en-US" smtClean="0"/>
              <a:t>10/1/24</a:t>
            </a:fld>
            <a:endParaRPr lang="en-US"/>
          </a:p>
        </p:txBody>
      </p:sp>
      <p:sp>
        <p:nvSpPr>
          <p:cNvPr id="5" name="Footer Placeholder 4">
            <a:extLst>
              <a:ext uri="{FF2B5EF4-FFF2-40B4-BE49-F238E27FC236}">
                <a16:creationId xmlns:a16="http://schemas.microsoft.com/office/drawing/2014/main" id="{6E71D24E-634B-FB12-B648-D3E28D9510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D0D47-A0AF-D529-F54C-0CB2FDDA2ED9}"/>
              </a:ext>
            </a:extLst>
          </p:cNvPr>
          <p:cNvSpPr>
            <a:spLocks noGrp="1"/>
          </p:cNvSpPr>
          <p:nvPr>
            <p:ph type="sldNum" sz="quarter" idx="12"/>
          </p:nvPr>
        </p:nvSpPr>
        <p:spPr/>
        <p:txBody>
          <a:bodyPr/>
          <a:lstStyle/>
          <a:p>
            <a:fld id="{E35ECC7B-11E3-F246-9687-BB39A0F3A7BF}" type="slidenum">
              <a:rPr lang="en-US" smtClean="0"/>
              <a:t>‹#›</a:t>
            </a:fld>
            <a:endParaRPr lang="en-US"/>
          </a:p>
        </p:txBody>
      </p:sp>
    </p:spTree>
    <p:extLst>
      <p:ext uri="{BB962C8B-B14F-4D97-AF65-F5344CB8AC3E}">
        <p14:creationId xmlns:p14="http://schemas.microsoft.com/office/powerpoint/2010/main" val="1315067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D9F07B-52EF-1B2F-57CD-913C702057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FA861F-FDB9-3320-6E9E-002B09D8F9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375EC4-3E99-51C5-A984-3376CB2A4E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547F81-CA9E-F24D-B7CB-69EC3EA8820C}" type="datetimeFigureOut">
              <a:rPr lang="en-US" smtClean="0"/>
              <a:t>10/1/24</a:t>
            </a:fld>
            <a:endParaRPr lang="en-US"/>
          </a:p>
        </p:txBody>
      </p:sp>
      <p:sp>
        <p:nvSpPr>
          <p:cNvPr id="5" name="Footer Placeholder 4">
            <a:extLst>
              <a:ext uri="{FF2B5EF4-FFF2-40B4-BE49-F238E27FC236}">
                <a16:creationId xmlns:a16="http://schemas.microsoft.com/office/drawing/2014/main" id="{CE3C1D67-CF29-4574-668F-26B8C49914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4B7BE8-88D0-5035-02C1-50A579A5F4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5ECC7B-11E3-F246-9687-BB39A0F3A7BF}" type="slidenum">
              <a:rPr lang="en-US" smtClean="0"/>
              <a:t>‹#›</a:t>
            </a:fld>
            <a:endParaRPr lang="en-US"/>
          </a:p>
        </p:txBody>
      </p:sp>
    </p:spTree>
    <p:extLst>
      <p:ext uri="{BB962C8B-B14F-4D97-AF65-F5344CB8AC3E}">
        <p14:creationId xmlns:p14="http://schemas.microsoft.com/office/powerpoint/2010/main" val="3951246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eb4ad690-fea6-4496-9181-172cb2483bde?userPreferredType=rea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5436D-51CD-D0A4-CC87-277B6B4EF724}"/>
              </a:ext>
            </a:extLst>
          </p:cNvPr>
          <p:cNvSpPr>
            <a:spLocks noGrp="1"/>
          </p:cNvSpPr>
          <p:nvPr>
            <p:ph type="ctrTitle"/>
          </p:nvPr>
        </p:nvSpPr>
        <p:spPr/>
        <p:txBody>
          <a:bodyPr/>
          <a:lstStyle/>
          <a:p>
            <a:r>
              <a:rPr lang="en-US" dirty="0"/>
              <a:t>Week 5</a:t>
            </a:r>
            <a:br>
              <a:rPr lang="en-US" dirty="0"/>
            </a:br>
            <a:r>
              <a:rPr lang="en-US" dirty="0"/>
              <a:t>Array and Vector </a:t>
            </a:r>
            <a:r>
              <a:rPr lang="en-US"/>
              <a:t>part 2</a:t>
            </a:r>
            <a:endParaRPr lang="en-US" dirty="0"/>
          </a:p>
        </p:txBody>
      </p:sp>
      <p:sp>
        <p:nvSpPr>
          <p:cNvPr id="3" name="Subtitle 2">
            <a:extLst>
              <a:ext uri="{FF2B5EF4-FFF2-40B4-BE49-F238E27FC236}">
                <a16:creationId xmlns:a16="http://schemas.microsoft.com/office/drawing/2014/main" id="{ED5EC1F6-1004-49AB-1B9A-8B4C198642CF}"/>
              </a:ext>
            </a:extLst>
          </p:cNvPr>
          <p:cNvSpPr>
            <a:spLocks noGrp="1"/>
          </p:cNvSpPr>
          <p:nvPr>
            <p:ph type="subTitle" idx="1"/>
          </p:nvPr>
        </p:nvSpPr>
        <p:spPr/>
        <p:txBody>
          <a:bodyPr/>
          <a:lstStyle/>
          <a:p>
            <a:r>
              <a:rPr lang="en-US" dirty="0"/>
              <a:t>CS 331</a:t>
            </a:r>
          </a:p>
          <a:p>
            <a:r>
              <a:rPr lang="en-US" dirty="0"/>
              <a:t>An introduction to C++ and Object-Oriented Programming</a:t>
            </a:r>
          </a:p>
          <a:p>
            <a:r>
              <a:rPr lang="en-US" dirty="0"/>
              <a:t>MD Romael Haque</a:t>
            </a:r>
          </a:p>
          <a:p>
            <a:endParaRPr lang="en-US" dirty="0"/>
          </a:p>
        </p:txBody>
      </p:sp>
    </p:spTree>
    <p:extLst>
      <p:ext uri="{BB962C8B-B14F-4D97-AF65-F5344CB8AC3E}">
        <p14:creationId xmlns:p14="http://schemas.microsoft.com/office/powerpoint/2010/main" val="1775600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39F7A-8EF5-A0F0-58F8-FD89AE119659}"/>
              </a:ext>
            </a:extLst>
          </p:cNvPr>
          <p:cNvSpPr>
            <a:spLocks noGrp="1"/>
          </p:cNvSpPr>
          <p:nvPr>
            <p:ph type="title"/>
          </p:nvPr>
        </p:nvSpPr>
        <p:spPr/>
        <p:txBody>
          <a:bodyPr/>
          <a:lstStyle/>
          <a:p>
            <a:r>
              <a:rPr lang="en-US" dirty="0"/>
              <a:t>Partially Filled Arrays</a:t>
            </a:r>
          </a:p>
        </p:txBody>
      </p:sp>
      <p:sp>
        <p:nvSpPr>
          <p:cNvPr id="3" name="Content Placeholder 2">
            <a:extLst>
              <a:ext uri="{FF2B5EF4-FFF2-40B4-BE49-F238E27FC236}">
                <a16:creationId xmlns:a16="http://schemas.microsoft.com/office/drawing/2014/main" id="{6E3D4295-2C4C-9F88-4DB3-3062765CC953}"/>
              </a:ext>
            </a:extLst>
          </p:cNvPr>
          <p:cNvSpPr>
            <a:spLocks noGrp="1"/>
          </p:cNvSpPr>
          <p:nvPr>
            <p:ph idx="1"/>
          </p:nvPr>
        </p:nvSpPr>
        <p:spPr/>
        <p:txBody>
          <a:bodyPr>
            <a:normAutofit lnSpcReduction="10000"/>
          </a:bodyPr>
          <a:lstStyle/>
          <a:p>
            <a:r>
              <a:rPr lang="en-US" dirty="0"/>
              <a:t>Sometimes you need to store a series of items in an array, but you do not know the exact number of items. </a:t>
            </a:r>
          </a:p>
          <a:p>
            <a:r>
              <a:rPr lang="en-US" dirty="0"/>
              <a:t>As a result, you do not know the number of elements needed for the array. </a:t>
            </a:r>
          </a:p>
          <a:p>
            <a:r>
              <a:rPr lang="en-US" dirty="0"/>
              <a:t>One solution is to make the array large enough to hold the largest possible number of items. </a:t>
            </a:r>
          </a:p>
          <a:p>
            <a:r>
              <a:rPr lang="en-US" dirty="0"/>
              <a:t>However, if the actual number of items stored in the array is less than the number of elements, the array will be only partially filled.</a:t>
            </a:r>
          </a:p>
          <a:p>
            <a:r>
              <a:rPr lang="en-US" dirty="0"/>
              <a:t>When you process a partially filled array, you must only process the elements that contain valid data.</a:t>
            </a:r>
          </a:p>
        </p:txBody>
      </p:sp>
    </p:spTree>
    <p:extLst>
      <p:ext uri="{BB962C8B-B14F-4D97-AF65-F5344CB8AC3E}">
        <p14:creationId xmlns:p14="http://schemas.microsoft.com/office/powerpoint/2010/main" val="824908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93D0-0651-EE6A-55E0-B1393FD208C1}"/>
              </a:ext>
            </a:extLst>
          </p:cNvPr>
          <p:cNvSpPr>
            <a:spLocks noGrp="1"/>
          </p:cNvSpPr>
          <p:nvPr>
            <p:ph type="title"/>
          </p:nvPr>
        </p:nvSpPr>
        <p:spPr/>
        <p:txBody>
          <a:bodyPr/>
          <a:lstStyle/>
          <a:p>
            <a:r>
              <a:rPr lang="en-US" dirty="0"/>
              <a:t>Partially Filled Arrays</a:t>
            </a:r>
          </a:p>
        </p:txBody>
      </p:sp>
      <p:pic>
        <p:nvPicPr>
          <p:cNvPr id="4" name="Picture 3">
            <a:extLst>
              <a:ext uri="{FF2B5EF4-FFF2-40B4-BE49-F238E27FC236}">
                <a16:creationId xmlns:a16="http://schemas.microsoft.com/office/drawing/2014/main" id="{9ACFDE2E-81CA-CDCC-7F84-4450341B4619}"/>
              </a:ext>
            </a:extLst>
          </p:cNvPr>
          <p:cNvPicPr>
            <a:picLocks noChangeAspect="1"/>
          </p:cNvPicPr>
          <p:nvPr/>
        </p:nvPicPr>
        <p:blipFill>
          <a:blip r:embed="rId2"/>
          <a:stretch>
            <a:fillRect/>
          </a:stretch>
        </p:blipFill>
        <p:spPr>
          <a:xfrm>
            <a:off x="920206" y="1825625"/>
            <a:ext cx="4064000" cy="1066800"/>
          </a:xfrm>
          <a:prstGeom prst="rect">
            <a:avLst/>
          </a:prstGeom>
        </p:spPr>
      </p:pic>
      <p:pic>
        <p:nvPicPr>
          <p:cNvPr id="5" name="Picture 4">
            <a:extLst>
              <a:ext uri="{FF2B5EF4-FFF2-40B4-BE49-F238E27FC236}">
                <a16:creationId xmlns:a16="http://schemas.microsoft.com/office/drawing/2014/main" id="{25EFED7B-B01A-94CB-92CE-ECCB28603B9F}"/>
              </a:ext>
            </a:extLst>
          </p:cNvPr>
          <p:cNvPicPr>
            <a:picLocks noChangeAspect="1"/>
          </p:cNvPicPr>
          <p:nvPr/>
        </p:nvPicPr>
        <p:blipFill>
          <a:blip r:embed="rId3"/>
          <a:stretch>
            <a:fillRect/>
          </a:stretch>
        </p:blipFill>
        <p:spPr>
          <a:xfrm>
            <a:off x="920206" y="2860767"/>
            <a:ext cx="5867614" cy="3296285"/>
          </a:xfrm>
          <a:prstGeom prst="rect">
            <a:avLst/>
          </a:prstGeom>
        </p:spPr>
      </p:pic>
      <p:pic>
        <p:nvPicPr>
          <p:cNvPr id="6" name="Picture 5">
            <a:extLst>
              <a:ext uri="{FF2B5EF4-FFF2-40B4-BE49-F238E27FC236}">
                <a16:creationId xmlns:a16="http://schemas.microsoft.com/office/drawing/2014/main" id="{AD989DD8-2E91-4C60-CD5E-695F09871251}"/>
              </a:ext>
            </a:extLst>
          </p:cNvPr>
          <p:cNvPicPr>
            <a:picLocks noChangeAspect="1"/>
          </p:cNvPicPr>
          <p:nvPr/>
        </p:nvPicPr>
        <p:blipFill>
          <a:blip r:embed="rId4"/>
          <a:stretch>
            <a:fillRect/>
          </a:stretch>
        </p:blipFill>
        <p:spPr>
          <a:xfrm>
            <a:off x="7589940" y="3126376"/>
            <a:ext cx="4602060" cy="1060631"/>
          </a:xfrm>
          <a:prstGeom prst="rect">
            <a:avLst/>
          </a:prstGeom>
        </p:spPr>
      </p:pic>
      <p:sp>
        <p:nvSpPr>
          <p:cNvPr id="7" name="TextBox 6">
            <a:extLst>
              <a:ext uri="{FF2B5EF4-FFF2-40B4-BE49-F238E27FC236}">
                <a16:creationId xmlns:a16="http://schemas.microsoft.com/office/drawing/2014/main" id="{FF378E34-6204-00E3-9B72-6EB80FD84D56}"/>
              </a:ext>
            </a:extLst>
          </p:cNvPr>
          <p:cNvSpPr txBox="1"/>
          <p:nvPr/>
        </p:nvSpPr>
        <p:spPr>
          <a:xfrm>
            <a:off x="7768045" y="2707759"/>
            <a:ext cx="4116704" cy="369332"/>
          </a:xfrm>
          <a:prstGeom prst="rect">
            <a:avLst/>
          </a:prstGeom>
          <a:noFill/>
        </p:spPr>
        <p:txBody>
          <a:bodyPr wrap="none" rtlCol="0">
            <a:spAutoFit/>
          </a:bodyPr>
          <a:lstStyle/>
          <a:p>
            <a:r>
              <a:rPr lang="en-US" dirty="0"/>
              <a:t>To display all the valid values of an array</a:t>
            </a:r>
          </a:p>
        </p:txBody>
      </p:sp>
    </p:spTree>
    <p:extLst>
      <p:ext uri="{BB962C8B-B14F-4D97-AF65-F5344CB8AC3E}">
        <p14:creationId xmlns:p14="http://schemas.microsoft.com/office/powerpoint/2010/main" val="2100545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D733F-5B10-B0C2-1F65-9D77198DC276}"/>
              </a:ext>
            </a:extLst>
          </p:cNvPr>
          <p:cNvSpPr>
            <a:spLocks noGrp="1"/>
          </p:cNvSpPr>
          <p:nvPr>
            <p:ph type="title"/>
          </p:nvPr>
        </p:nvSpPr>
        <p:spPr/>
        <p:txBody>
          <a:bodyPr/>
          <a:lstStyle/>
          <a:p>
            <a:r>
              <a:rPr lang="en-US" dirty="0"/>
              <a:t>Processing Strings</a:t>
            </a:r>
          </a:p>
        </p:txBody>
      </p:sp>
      <p:sp>
        <p:nvSpPr>
          <p:cNvPr id="3" name="Content Placeholder 2">
            <a:extLst>
              <a:ext uri="{FF2B5EF4-FFF2-40B4-BE49-F238E27FC236}">
                <a16:creationId xmlns:a16="http://schemas.microsoft.com/office/drawing/2014/main" id="{1BDBE6B4-9AD4-5574-5ACB-A4E408D2FFB5}"/>
              </a:ext>
            </a:extLst>
          </p:cNvPr>
          <p:cNvSpPr>
            <a:spLocks noGrp="1"/>
          </p:cNvSpPr>
          <p:nvPr>
            <p:ph idx="1"/>
          </p:nvPr>
        </p:nvSpPr>
        <p:spPr/>
        <p:txBody>
          <a:bodyPr/>
          <a:lstStyle/>
          <a:p>
            <a:r>
              <a:rPr lang="en-US" dirty="0"/>
              <a:t>Strings are internally stored as arrays of characters. </a:t>
            </a:r>
          </a:p>
          <a:p>
            <a:r>
              <a:rPr lang="en-US" dirty="0"/>
              <a:t>They are different from other arrays in that the elements can either be treated as a set of individual characters or can be used as a single entity.</a:t>
            </a:r>
          </a:p>
        </p:txBody>
      </p:sp>
      <p:pic>
        <p:nvPicPr>
          <p:cNvPr id="4" name="Picture 3">
            <a:extLst>
              <a:ext uri="{FF2B5EF4-FFF2-40B4-BE49-F238E27FC236}">
                <a16:creationId xmlns:a16="http://schemas.microsoft.com/office/drawing/2014/main" id="{0C5132F3-F1C9-F888-B1CD-3EF4445DA590}"/>
              </a:ext>
            </a:extLst>
          </p:cNvPr>
          <p:cNvPicPr>
            <a:picLocks noChangeAspect="1"/>
          </p:cNvPicPr>
          <p:nvPr/>
        </p:nvPicPr>
        <p:blipFill>
          <a:blip r:embed="rId2"/>
          <a:stretch>
            <a:fillRect/>
          </a:stretch>
        </p:blipFill>
        <p:spPr>
          <a:xfrm>
            <a:off x="1193074" y="4001294"/>
            <a:ext cx="4267200" cy="1473200"/>
          </a:xfrm>
          <a:prstGeom prst="rect">
            <a:avLst/>
          </a:prstGeom>
        </p:spPr>
      </p:pic>
      <p:pic>
        <p:nvPicPr>
          <p:cNvPr id="5" name="Picture 4">
            <a:extLst>
              <a:ext uri="{FF2B5EF4-FFF2-40B4-BE49-F238E27FC236}">
                <a16:creationId xmlns:a16="http://schemas.microsoft.com/office/drawing/2014/main" id="{616976B0-2107-F53E-FCDC-602E0B4DF65F}"/>
              </a:ext>
            </a:extLst>
          </p:cNvPr>
          <p:cNvPicPr>
            <a:picLocks noChangeAspect="1"/>
          </p:cNvPicPr>
          <p:nvPr/>
        </p:nvPicPr>
        <p:blipFill>
          <a:blip r:embed="rId3"/>
          <a:stretch>
            <a:fillRect/>
          </a:stretch>
        </p:blipFill>
        <p:spPr>
          <a:xfrm>
            <a:off x="6021404" y="4224326"/>
            <a:ext cx="5474628" cy="1027135"/>
          </a:xfrm>
          <a:prstGeom prst="rect">
            <a:avLst/>
          </a:prstGeom>
        </p:spPr>
      </p:pic>
      <p:pic>
        <p:nvPicPr>
          <p:cNvPr id="6" name="Picture 5">
            <a:extLst>
              <a:ext uri="{FF2B5EF4-FFF2-40B4-BE49-F238E27FC236}">
                <a16:creationId xmlns:a16="http://schemas.microsoft.com/office/drawing/2014/main" id="{1EF779BC-79AB-A535-37FE-3B365F3516BF}"/>
              </a:ext>
            </a:extLst>
          </p:cNvPr>
          <p:cNvPicPr>
            <a:picLocks noChangeAspect="1"/>
          </p:cNvPicPr>
          <p:nvPr/>
        </p:nvPicPr>
        <p:blipFill>
          <a:blip r:embed="rId4"/>
          <a:stretch>
            <a:fillRect/>
          </a:stretch>
        </p:blipFill>
        <p:spPr>
          <a:xfrm>
            <a:off x="2338404" y="5675313"/>
            <a:ext cx="7366000" cy="1003300"/>
          </a:xfrm>
          <a:prstGeom prst="rect">
            <a:avLst/>
          </a:prstGeom>
        </p:spPr>
      </p:pic>
    </p:spTree>
    <p:extLst>
      <p:ext uri="{BB962C8B-B14F-4D97-AF65-F5344CB8AC3E}">
        <p14:creationId xmlns:p14="http://schemas.microsoft.com/office/powerpoint/2010/main" val="232590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83299-6CE7-6609-A596-C1F5B27592B1}"/>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2A1C82D2-8E72-98AA-2969-D1918C0B932D}"/>
              </a:ext>
            </a:extLst>
          </p:cNvPr>
          <p:cNvPicPr>
            <a:picLocks noChangeAspect="1"/>
          </p:cNvPicPr>
          <p:nvPr/>
        </p:nvPicPr>
        <p:blipFill>
          <a:blip r:embed="rId2"/>
          <a:stretch>
            <a:fillRect/>
          </a:stretch>
        </p:blipFill>
        <p:spPr>
          <a:xfrm>
            <a:off x="6625266" y="0"/>
            <a:ext cx="4253696" cy="6858000"/>
          </a:xfrm>
          <a:prstGeom prst="rect">
            <a:avLst/>
          </a:prstGeom>
        </p:spPr>
      </p:pic>
      <p:pic>
        <p:nvPicPr>
          <p:cNvPr id="5" name="Picture 4">
            <a:extLst>
              <a:ext uri="{FF2B5EF4-FFF2-40B4-BE49-F238E27FC236}">
                <a16:creationId xmlns:a16="http://schemas.microsoft.com/office/drawing/2014/main" id="{7B43C3A9-0BF3-8267-A6D9-CCEF06AF4E8D}"/>
              </a:ext>
            </a:extLst>
          </p:cNvPr>
          <p:cNvPicPr>
            <a:picLocks noChangeAspect="1"/>
          </p:cNvPicPr>
          <p:nvPr/>
        </p:nvPicPr>
        <p:blipFill>
          <a:blip r:embed="rId3"/>
          <a:stretch>
            <a:fillRect/>
          </a:stretch>
        </p:blipFill>
        <p:spPr>
          <a:xfrm>
            <a:off x="725896" y="2447108"/>
            <a:ext cx="5424532" cy="2244634"/>
          </a:xfrm>
          <a:prstGeom prst="rect">
            <a:avLst/>
          </a:prstGeom>
        </p:spPr>
      </p:pic>
    </p:spTree>
    <p:extLst>
      <p:ext uri="{BB962C8B-B14F-4D97-AF65-F5344CB8AC3E}">
        <p14:creationId xmlns:p14="http://schemas.microsoft.com/office/powerpoint/2010/main" val="764131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C2337-37A2-6A84-845E-74A018C38232}"/>
              </a:ext>
            </a:extLst>
          </p:cNvPr>
          <p:cNvSpPr>
            <a:spLocks noGrp="1"/>
          </p:cNvSpPr>
          <p:nvPr>
            <p:ph type="title"/>
          </p:nvPr>
        </p:nvSpPr>
        <p:spPr/>
        <p:txBody>
          <a:bodyPr/>
          <a:lstStyle/>
          <a:p>
            <a:r>
              <a:rPr lang="en-US" dirty="0"/>
              <a:t>Using Parallel Arrays</a:t>
            </a:r>
          </a:p>
        </p:txBody>
      </p:sp>
      <p:sp>
        <p:nvSpPr>
          <p:cNvPr id="3" name="Content Placeholder 2">
            <a:extLst>
              <a:ext uri="{FF2B5EF4-FFF2-40B4-BE49-F238E27FC236}">
                <a16:creationId xmlns:a16="http://schemas.microsoft.com/office/drawing/2014/main" id="{91179AA7-1AB3-BF58-413C-14BEACC3C693}"/>
              </a:ext>
            </a:extLst>
          </p:cNvPr>
          <p:cNvSpPr>
            <a:spLocks noGrp="1"/>
          </p:cNvSpPr>
          <p:nvPr>
            <p:ph idx="1"/>
          </p:nvPr>
        </p:nvSpPr>
        <p:spPr/>
        <p:txBody>
          <a:bodyPr>
            <a:normAutofit lnSpcReduction="10000"/>
          </a:bodyPr>
          <a:lstStyle/>
          <a:p>
            <a:r>
              <a:rPr lang="en-US" dirty="0"/>
              <a:t>By using the same subscript, you can build relationships between data stored in two or more arrays.</a:t>
            </a:r>
          </a:p>
          <a:p>
            <a:r>
              <a:rPr lang="en-US" dirty="0"/>
              <a:t>Sometimes it is useful to store related data in multiple arrays, especially when the data consists of different types. </a:t>
            </a:r>
          </a:p>
          <a:p>
            <a:r>
              <a:rPr lang="en-US" dirty="0"/>
              <a:t>One array might hold one kind of information, while another stores corresponding details. These arrays can be linked through their indexes, so that elements with the same index in different arrays are related. </a:t>
            </a:r>
          </a:p>
          <a:p>
            <a:r>
              <a:rPr lang="en-US" dirty="0"/>
              <a:t>For instance, one array could store names, while another array holds values associated with those names, allowing the corresponding data to be easily accessed and used together.</a:t>
            </a:r>
          </a:p>
        </p:txBody>
      </p:sp>
    </p:spTree>
    <p:extLst>
      <p:ext uri="{BB962C8B-B14F-4D97-AF65-F5344CB8AC3E}">
        <p14:creationId xmlns:p14="http://schemas.microsoft.com/office/powerpoint/2010/main" val="1240935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2A1C-A043-3368-1C32-A3679D6438D1}"/>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0D4E3D5A-5C16-55B6-0EB8-15F70E493E85}"/>
              </a:ext>
            </a:extLst>
          </p:cNvPr>
          <p:cNvPicPr>
            <a:picLocks noChangeAspect="1"/>
          </p:cNvPicPr>
          <p:nvPr/>
        </p:nvPicPr>
        <p:blipFill>
          <a:blip r:embed="rId2"/>
          <a:stretch>
            <a:fillRect/>
          </a:stretch>
        </p:blipFill>
        <p:spPr>
          <a:xfrm>
            <a:off x="4928341" y="0"/>
            <a:ext cx="4251202" cy="6858000"/>
          </a:xfrm>
          <a:prstGeom prst="rect">
            <a:avLst/>
          </a:prstGeom>
        </p:spPr>
      </p:pic>
      <p:pic>
        <p:nvPicPr>
          <p:cNvPr id="5" name="Picture 4">
            <a:extLst>
              <a:ext uri="{FF2B5EF4-FFF2-40B4-BE49-F238E27FC236}">
                <a16:creationId xmlns:a16="http://schemas.microsoft.com/office/drawing/2014/main" id="{A1D39146-6B8C-8EF8-AE94-96A4C6DB4BA2}"/>
              </a:ext>
            </a:extLst>
          </p:cNvPr>
          <p:cNvPicPr>
            <a:picLocks noChangeAspect="1"/>
          </p:cNvPicPr>
          <p:nvPr/>
        </p:nvPicPr>
        <p:blipFill>
          <a:blip r:embed="rId3"/>
          <a:stretch>
            <a:fillRect/>
          </a:stretch>
        </p:blipFill>
        <p:spPr>
          <a:xfrm>
            <a:off x="446465" y="1612312"/>
            <a:ext cx="4191458" cy="4880563"/>
          </a:xfrm>
          <a:prstGeom prst="rect">
            <a:avLst/>
          </a:prstGeom>
        </p:spPr>
      </p:pic>
      <p:pic>
        <p:nvPicPr>
          <p:cNvPr id="6" name="Picture 5">
            <a:extLst>
              <a:ext uri="{FF2B5EF4-FFF2-40B4-BE49-F238E27FC236}">
                <a16:creationId xmlns:a16="http://schemas.microsoft.com/office/drawing/2014/main" id="{96882843-25AD-A376-2EC1-346DCF4F0118}"/>
              </a:ext>
            </a:extLst>
          </p:cNvPr>
          <p:cNvPicPr>
            <a:picLocks noChangeAspect="1"/>
          </p:cNvPicPr>
          <p:nvPr/>
        </p:nvPicPr>
        <p:blipFill>
          <a:blip r:embed="rId4"/>
          <a:stretch>
            <a:fillRect/>
          </a:stretch>
        </p:blipFill>
        <p:spPr>
          <a:xfrm>
            <a:off x="9701349" y="3126376"/>
            <a:ext cx="2490651" cy="1241321"/>
          </a:xfrm>
          <a:prstGeom prst="rect">
            <a:avLst/>
          </a:prstGeom>
        </p:spPr>
      </p:pic>
    </p:spTree>
    <p:extLst>
      <p:ext uri="{BB962C8B-B14F-4D97-AF65-F5344CB8AC3E}">
        <p14:creationId xmlns:p14="http://schemas.microsoft.com/office/powerpoint/2010/main" val="2275822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04FF-086B-BA6A-326B-16DDA6534587}"/>
              </a:ext>
            </a:extLst>
          </p:cNvPr>
          <p:cNvSpPr>
            <a:spLocks noGrp="1"/>
          </p:cNvSpPr>
          <p:nvPr>
            <p:ph type="title"/>
          </p:nvPr>
        </p:nvSpPr>
        <p:spPr/>
        <p:txBody>
          <a:bodyPr/>
          <a:lstStyle/>
          <a:p>
            <a:r>
              <a:rPr lang="en-US" dirty="0"/>
              <a:t>The typedef Statement</a:t>
            </a:r>
          </a:p>
        </p:txBody>
      </p:sp>
      <p:sp>
        <p:nvSpPr>
          <p:cNvPr id="3" name="Content Placeholder 2">
            <a:extLst>
              <a:ext uri="{FF2B5EF4-FFF2-40B4-BE49-F238E27FC236}">
                <a16:creationId xmlns:a16="http://schemas.microsoft.com/office/drawing/2014/main" id="{09B22C38-5212-8512-2D14-2D93592EDC80}"/>
              </a:ext>
            </a:extLst>
          </p:cNvPr>
          <p:cNvSpPr>
            <a:spLocks noGrp="1"/>
          </p:cNvSpPr>
          <p:nvPr>
            <p:ph idx="1"/>
          </p:nvPr>
        </p:nvSpPr>
        <p:spPr/>
        <p:txBody>
          <a:bodyPr/>
          <a:lstStyle/>
          <a:p>
            <a:r>
              <a:rPr lang="en-US" dirty="0"/>
              <a:t>The typedef statement allows an alias to be associated with a simple or structured data type.</a:t>
            </a:r>
          </a:p>
          <a:p>
            <a:r>
              <a:rPr lang="en-US" dirty="0"/>
              <a:t>The typedef statement allows the programmer to create an alias, or synonym, for an existing data type. This can be a simple data type, such as an int, or a more complicated data type, such as an array. The simplest form of the statement is – </a:t>
            </a:r>
          </a:p>
          <a:p>
            <a:pPr lvl="1"/>
            <a:r>
              <a:rPr lang="en-US" b="1" i="1" dirty="0">
                <a:solidFill>
                  <a:srgbClr val="0070C0"/>
                </a:solidFill>
                <a:effectLst/>
              </a:rPr>
              <a:t>typedef</a:t>
            </a:r>
            <a:r>
              <a:rPr lang="en-US" i="1" dirty="0">
                <a:solidFill>
                  <a:srgbClr val="0070C0"/>
                </a:solidFill>
              </a:rPr>
              <a:t> &lt;existing data type&gt; &lt;alias&gt;; </a:t>
            </a:r>
          </a:p>
        </p:txBody>
      </p:sp>
      <p:pic>
        <p:nvPicPr>
          <p:cNvPr id="4" name="Picture 3">
            <a:extLst>
              <a:ext uri="{FF2B5EF4-FFF2-40B4-BE49-F238E27FC236}">
                <a16:creationId xmlns:a16="http://schemas.microsoft.com/office/drawing/2014/main" id="{6AA706B0-4E62-689D-B1C1-E96E6CFCFB64}"/>
              </a:ext>
            </a:extLst>
          </p:cNvPr>
          <p:cNvPicPr>
            <a:picLocks noChangeAspect="1"/>
          </p:cNvPicPr>
          <p:nvPr/>
        </p:nvPicPr>
        <p:blipFill>
          <a:blip r:embed="rId2"/>
          <a:stretch>
            <a:fillRect/>
          </a:stretch>
        </p:blipFill>
        <p:spPr>
          <a:xfrm>
            <a:off x="1535793" y="5026115"/>
            <a:ext cx="3111500" cy="393700"/>
          </a:xfrm>
          <a:prstGeom prst="rect">
            <a:avLst/>
          </a:prstGeom>
        </p:spPr>
      </p:pic>
      <p:pic>
        <p:nvPicPr>
          <p:cNvPr id="5" name="Picture 4">
            <a:extLst>
              <a:ext uri="{FF2B5EF4-FFF2-40B4-BE49-F238E27FC236}">
                <a16:creationId xmlns:a16="http://schemas.microsoft.com/office/drawing/2014/main" id="{847CB89D-17EC-F783-6AF9-E6BEA311C1EE}"/>
              </a:ext>
            </a:extLst>
          </p:cNvPr>
          <p:cNvPicPr>
            <a:picLocks noChangeAspect="1"/>
          </p:cNvPicPr>
          <p:nvPr/>
        </p:nvPicPr>
        <p:blipFill>
          <a:blip r:embed="rId3"/>
          <a:stretch>
            <a:fillRect/>
          </a:stretch>
        </p:blipFill>
        <p:spPr>
          <a:xfrm>
            <a:off x="1535793" y="5419815"/>
            <a:ext cx="3060700" cy="749300"/>
          </a:xfrm>
          <a:prstGeom prst="rect">
            <a:avLst/>
          </a:prstGeom>
        </p:spPr>
      </p:pic>
    </p:spTree>
    <p:extLst>
      <p:ext uri="{BB962C8B-B14F-4D97-AF65-F5344CB8AC3E}">
        <p14:creationId xmlns:p14="http://schemas.microsoft.com/office/powerpoint/2010/main" val="3272691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BA0A-5371-33D8-95E5-77F476011002}"/>
              </a:ext>
            </a:extLst>
          </p:cNvPr>
          <p:cNvSpPr>
            <a:spLocks noGrp="1"/>
          </p:cNvSpPr>
          <p:nvPr>
            <p:ph type="title"/>
          </p:nvPr>
        </p:nvSpPr>
        <p:spPr/>
        <p:txBody>
          <a:bodyPr/>
          <a:lstStyle/>
          <a:p>
            <a:r>
              <a:rPr lang="en-US" dirty="0"/>
              <a:t>Arrays as Function Arguments</a:t>
            </a:r>
          </a:p>
        </p:txBody>
      </p:sp>
      <p:sp>
        <p:nvSpPr>
          <p:cNvPr id="3" name="Content Placeholder 2">
            <a:extLst>
              <a:ext uri="{FF2B5EF4-FFF2-40B4-BE49-F238E27FC236}">
                <a16:creationId xmlns:a16="http://schemas.microsoft.com/office/drawing/2014/main" id="{03E85B59-5BA3-CAC0-EF71-7E737FECE06E}"/>
              </a:ext>
            </a:extLst>
          </p:cNvPr>
          <p:cNvSpPr>
            <a:spLocks noGrp="1"/>
          </p:cNvSpPr>
          <p:nvPr>
            <p:ph idx="1"/>
          </p:nvPr>
        </p:nvSpPr>
        <p:spPr/>
        <p:txBody>
          <a:bodyPr>
            <a:normAutofit fontScale="92500" lnSpcReduction="20000"/>
          </a:bodyPr>
          <a:lstStyle/>
          <a:p>
            <a:r>
              <a:rPr lang="en-US" dirty="0"/>
              <a:t>Individual elements of arrays and entire arrays can both be passed as arguments to functions</a:t>
            </a:r>
          </a:p>
          <a:p>
            <a:r>
              <a:rPr lang="en-US" dirty="0"/>
              <a:t>When a single element of an array is passed to a function, it is handled like any other variable. </a:t>
            </a:r>
          </a:p>
          <a:p>
            <a:pPr algn="l"/>
            <a:r>
              <a:rPr lang="en-US" dirty="0">
                <a:effectLst/>
              </a:rPr>
              <a:t>Often it is simpler to pass an entire array to a function so only one function call is needed for the function to access all the elements.</a:t>
            </a:r>
          </a:p>
          <a:p>
            <a:r>
              <a:rPr lang="en-US" dirty="0"/>
              <a:t>When we pass an array to a function, we pass the name of the array. This means we are actually sending it the address of the array so </a:t>
            </a:r>
            <a:r>
              <a:rPr lang="en-US" i="1" dirty="0"/>
              <a:t>it</a:t>
            </a:r>
            <a:r>
              <a:rPr lang="en-US" dirty="0"/>
              <a:t> can access the elements. </a:t>
            </a:r>
          </a:p>
          <a:p>
            <a:r>
              <a:rPr lang="en-US" dirty="0"/>
              <a:t>Because the name of an array without a subscript does not hold any data at all. Instead it holds the starting address of where the array is located in memory. )</a:t>
            </a:r>
          </a:p>
        </p:txBody>
      </p:sp>
    </p:spTree>
    <p:extLst>
      <p:ext uri="{BB962C8B-B14F-4D97-AF65-F5344CB8AC3E}">
        <p14:creationId xmlns:p14="http://schemas.microsoft.com/office/powerpoint/2010/main" val="2780601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A6328-2A77-94C0-A98E-DF8E5891E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EBD53-2648-75AC-FF23-CC2D70FA8CDD}"/>
              </a:ext>
            </a:extLst>
          </p:cNvPr>
          <p:cNvSpPr>
            <a:spLocks noGrp="1"/>
          </p:cNvSpPr>
          <p:nvPr>
            <p:ph type="title"/>
          </p:nvPr>
        </p:nvSpPr>
        <p:spPr/>
        <p:txBody>
          <a:bodyPr/>
          <a:lstStyle/>
          <a:p>
            <a:r>
              <a:rPr lang="en-US" dirty="0"/>
              <a:t>Arrays as Function Arguments</a:t>
            </a:r>
          </a:p>
        </p:txBody>
      </p:sp>
      <p:pic>
        <p:nvPicPr>
          <p:cNvPr id="7" name="Content Placeholder 6">
            <a:extLst>
              <a:ext uri="{FF2B5EF4-FFF2-40B4-BE49-F238E27FC236}">
                <a16:creationId xmlns:a16="http://schemas.microsoft.com/office/drawing/2014/main" id="{5C29E2F5-CA62-FCCA-55AA-5E6252A4BE20}"/>
              </a:ext>
            </a:extLst>
          </p:cNvPr>
          <p:cNvPicPr>
            <a:picLocks noGrp="1" noChangeAspect="1"/>
          </p:cNvPicPr>
          <p:nvPr>
            <p:ph idx="1"/>
          </p:nvPr>
        </p:nvPicPr>
        <p:blipFill>
          <a:blip r:embed="rId2"/>
          <a:stretch>
            <a:fillRect/>
          </a:stretch>
        </p:blipFill>
        <p:spPr>
          <a:xfrm>
            <a:off x="6344700" y="1405052"/>
            <a:ext cx="3522111" cy="5450453"/>
          </a:xfrm>
          <a:prstGeom prst="rect">
            <a:avLst/>
          </a:prstGeom>
        </p:spPr>
      </p:pic>
      <p:pic>
        <p:nvPicPr>
          <p:cNvPr id="6" name="Picture 5">
            <a:extLst>
              <a:ext uri="{FF2B5EF4-FFF2-40B4-BE49-F238E27FC236}">
                <a16:creationId xmlns:a16="http://schemas.microsoft.com/office/drawing/2014/main" id="{10C8FBA1-01D8-435D-EC47-23A987AE3341}"/>
              </a:ext>
            </a:extLst>
          </p:cNvPr>
          <p:cNvPicPr>
            <a:picLocks noChangeAspect="1"/>
          </p:cNvPicPr>
          <p:nvPr/>
        </p:nvPicPr>
        <p:blipFill>
          <a:blip r:embed="rId3"/>
          <a:stretch>
            <a:fillRect/>
          </a:stretch>
        </p:blipFill>
        <p:spPr>
          <a:xfrm>
            <a:off x="967374" y="1405053"/>
            <a:ext cx="3727290" cy="5477889"/>
          </a:xfrm>
          <a:prstGeom prst="rect">
            <a:avLst/>
          </a:prstGeom>
        </p:spPr>
      </p:pic>
    </p:spTree>
    <p:extLst>
      <p:ext uri="{BB962C8B-B14F-4D97-AF65-F5344CB8AC3E}">
        <p14:creationId xmlns:p14="http://schemas.microsoft.com/office/powerpoint/2010/main" val="867043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2C6A7-4E41-C0F4-28C9-E2457D2496E1}"/>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C38F072C-9D97-7D29-C07C-79568E669C23}"/>
              </a:ext>
            </a:extLst>
          </p:cNvPr>
          <p:cNvPicPr>
            <a:picLocks noChangeAspect="1"/>
          </p:cNvPicPr>
          <p:nvPr/>
        </p:nvPicPr>
        <p:blipFill>
          <a:blip r:embed="rId2"/>
          <a:stretch>
            <a:fillRect/>
          </a:stretch>
        </p:blipFill>
        <p:spPr>
          <a:xfrm>
            <a:off x="3143794" y="0"/>
            <a:ext cx="3709851" cy="6858000"/>
          </a:xfrm>
          <a:prstGeom prst="rect">
            <a:avLst/>
          </a:prstGeom>
        </p:spPr>
      </p:pic>
      <p:pic>
        <p:nvPicPr>
          <p:cNvPr id="5" name="Picture 4">
            <a:extLst>
              <a:ext uri="{FF2B5EF4-FFF2-40B4-BE49-F238E27FC236}">
                <a16:creationId xmlns:a16="http://schemas.microsoft.com/office/drawing/2014/main" id="{C91AA5C4-9483-C6E4-8310-7549959F3EF7}"/>
              </a:ext>
            </a:extLst>
          </p:cNvPr>
          <p:cNvPicPr>
            <a:picLocks noChangeAspect="1"/>
          </p:cNvPicPr>
          <p:nvPr/>
        </p:nvPicPr>
        <p:blipFill>
          <a:blip r:embed="rId3"/>
          <a:stretch>
            <a:fillRect/>
          </a:stretch>
        </p:blipFill>
        <p:spPr>
          <a:xfrm>
            <a:off x="8404123" y="0"/>
            <a:ext cx="2949677" cy="6858000"/>
          </a:xfrm>
          <a:prstGeom prst="rect">
            <a:avLst/>
          </a:prstGeom>
        </p:spPr>
      </p:pic>
    </p:spTree>
    <p:extLst>
      <p:ext uri="{BB962C8B-B14F-4D97-AF65-F5344CB8AC3E}">
        <p14:creationId xmlns:p14="http://schemas.microsoft.com/office/powerpoint/2010/main" val="45314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6AE5B-6A11-6FAF-7BF2-298E677DF96C}"/>
              </a:ext>
            </a:extLst>
          </p:cNvPr>
          <p:cNvSpPr>
            <a:spLocks noGrp="1"/>
          </p:cNvSpPr>
          <p:nvPr>
            <p:ph type="title"/>
          </p:nvPr>
        </p:nvSpPr>
        <p:spPr/>
        <p:txBody>
          <a:bodyPr/>
          <a:lstStyle/>
          <a:p>
            <a:r>
              <a:rPr lang="en-US" dirty="0"/>
              <a:t>Using const Array Parameters</a:t>
            </a:r>
          </a:p>
        </p:txBody>
      </p:sp>
      <p:sp>
        <p:nvSpPr>
          <p:cNvPr id="3" name="Content Placeholder 2">
            <a:extLst>
              <a:ext uri="{FF2B5EF4-FFF2-40B4-BE49-F238E27FC236}">
                <a16:creationId xmlns:a16="http://schemas.microsoft.com/office/drawing/2014/main" id="{51789000-A202-3099-6486-8227F10C43EF}"/>
              </a:ext>
            </a:extLst>
          </p:cNvPr>
          <p:cNvSpPr>
            <a:spLocks noGrp="1"/>
          </p:cNvSpPr>
          <p:nvPr>
            <p:ph idx="1"/>
          </p:nvPr>
        </p:nvSpPr>
        <p:spPr/>
        <p:txBody>
          <a:bodyPr/>
          <a:lstStyle/>
          <a:p>
            <a:r>
              <a:rPr lang="en-US" dirty="0"/>
              <a:t>Sometimes you want a function to be able to modify the contents of an array that is passed to it as an argument, but other times you don’t</a:t>
            </a:r>
          </a:p>
          <a:p>
            <a:r>
              <a:rPr lang="en-US" dirty="0"/>
              <a:t>You can prevent a function that should not change an array passed to it from accidentally making changes to it by using the const key word. </a:t>
            </a:r>
          </a:p>
        </p:txBody>
      </p:sp>
      <p:pic>
        <p:nvPicPr>
          <p:cNvPr id="4" name="Picture 3">
            <a:extLst>
              <a:ext uri="{FF2B5EF4-FFF2-40B4-BE49-F238E27FC236}">
                <a16:creationId xmlns:a16="http://schemas.microsoft.com/office/drawing/2014/main" id="{D843AB52-E5B3-1872-CE4C-2D3110285F00}"/>
              </a:ext>
            </a:extLst>
          </p:cNvPr>
          <p:cNvPicPr>
            <a:picLocks noChangeAspect="1"/>
          </p:cNvPicPr>
          <p:nvPr/>
        </p:nvPicPr>
        <p:blipFill>
          <a:blip r:embed="rId2"/>
          <a:stretch>
            <a:fillRect/>
          </a:stretch>
        </p:blipFill>
        <p:spPr>
          <a:xfrm>
            <a:off x="1255131" y="4787900"/>
            <a:ext cx="10187879" cy="783683"/>
          </a:xfrm>
          <a:prstGeom prst="rect">
            <a:avLst/>
          </a:prstGeom>
        </p:spPr>
      </p:pic>
    </p:spTree>
    <p:extLst>
      <p:ext uri="{BB962C8B-B14F-4D97-AF65-F5344CB8AC3E}">
        <p14:creationId xmlns:p14="http://schemas.microsoft.com/office/powerpoint/2010/main" val="893092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290C2-7DAF-BC3D-934F-77582EC0F49B}"/>
              </a:ext>
            </a:extLst>
          </p:cNvPr>
          <p:cNvSpPr>
            <a:spLocks noGrp="1"/>
          </p:cNvSpPr>
          <p:nvPr>
            <p:ph type="title"/>
          </p:nvPr>
        </p:nvSpPr>
        <p:spPr/>
        <p:txBody>
          <a:bodyPr/>
          <a:lstStyle/>
          <a:p>
            <a:r>
              <a:rPr lang="en-US" dirty="0"/>
              <a:t>Two-Dimensional Arrays</a:t>
            </a:r>
          </a:p>
        </p:txBody>
      </p:sp>
      <p:sp>
        <p:nvSpPr>
          <p:cNvPr id="3" name="Content Placeholder 2">
            <a:extLst>
              <a:ext uri="{FF2B5EF4-FFF2-40B4-BE49-F238E27FC236}">
                <a16:creationId xmlns:a16="http://schemas.microsoft.com/office/drawing/2014/main" id="{DDD58996-B9B9-AEA7-930E-C6CAC2860B24}"/>
              </a:ext>
            </a:extLst>
          </p:cNvPr>
          <p:cNvSpPr>
            <a:spLocks noGrp="1"/>
          </p:cNvSpPr>
          <p:nvPr>
            <p:ph idx="1"/>
          </p:nvPr>
        </p:nvSpPr>
        <p:spPr/>
        <p:txBody>
          <a:bodyPr>
            <a:normAutofit lnSpcReduction="10000"/>
          </a:bodyPr>
          <a:lstStyle/>
          <a:p>
            <a:r>
              <a:rPr lang="en-US" dirty="0"/>
              <a:t>A two-dimensional array is like several identical arrays put together. It is useful for storing multiple sets of data.</a:t>
            </a:r>
          </a:p>
          <a:p>
            <a:r>
              <a:rPr lang="en-US" dirty="0"/>
              <a:t>An array is useful for storing and working with a set of data. Sometimes, though, it’s necessary to work with multiple sets of data. </a:t>
            </a:r>
          </a:p>
          <a:p>
            <a:r>
              <a:rPr lang="en-US" dirty="0"/>
              <a:t>For example, in a grade-averaging program a teacher might record all of one student’s test scores in an array of doubles. If the teacher has 30 students, that means 30 arrays of doubles will be needed to record the scores for the entire class. Instead of defining 30 individual arrays, however, it would be better to define a two-dimensional array.</a:t>
            </a:r>
          </a:p>
        </p:txBody>
      </p:sp>
    </p:spTree>
    <p:extLst>
      <p:ext uri="{BB962C8B-B14F-4D97-AF65-F5344CB8AC3E}">
        <p14:creationId xmlns:p14="http://schemas.microsoft.com/office/powerpoint/2010/main" val="4142574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DA0CA-2244-0370-4186-D6100461C532}"/>
              </a:ext>
            </a:extLst>
          </p:cNvPr>
          <p:cNvSpPr>
            <a:spLocks noGrp="1"/>
          </p:cNvSpPr>
          <p:nvPr>
            <p:ph type="title"/>
          </p:nvPr>
        </p:nvSpPr>
        <p:spPr/>
        <p:txBody>
          <a:bodyPr/>
          <a:lstStyle/>
          <a:p>
            <a:r>
              <a:rPr lang="en-US" dirty="0"/>
              <a:t>Two-Dimensional Arrays</a:t>
            </a:r>
          </a:p>
        </p:txBody>
      </p:sp>
      <p:sp>
        <p:nvSpPr>
          <p:cNvPr id="3" name="Content Placeholder 2">
            <a:extLst>
              <a:ext uri="{FF2B5EF4-FFF2-40B4-BE49-F238E27FC236}">
                <a16:creationId xmlns:a16="http://schemas.microsoft.com/office/drawing/2014/main" id="{47F6A6FE-2D93-EEC7-0FB0-D6F9EA313DC2}"/>
              </a:ext>
            </a:extLst>
          </p:cNvPr>
          <p:cNvSpPr>
            <a:spLocks noGrp="1"/>
          </p:cNvSpPr>
          <p:nvPr>
            <p:ph idx="1"/>
          </p:nvPr>
        </p:nvSpPr>
        <p:spPr/>
        <p:txBody>
          <a:bodyPr/>
          <a:lstStyle/>
          <a:p>
            <a:r>
              <a:rPr lang="en-US" dirty="0"/>
              <a:t>It’s best to think of a two-dimensional array as a table having rows and columns of elements</a:t>
            </a:r>
          </a:p>
          <a:p>
            <a:endParaRPr lang="en-US" dirty="0"/>
          </a:p>
          <a:p>
            <a:endParaRPr lang="en-US" dirty="0"/>
          </a:p>
          <a:p>
            <a:endParaRPr lang="en-US" dirty="0"/>
          </a:p>
          <a:p>
            <a:endParaRPr lang="en-US" dirty="0"/>
          </a:p>
          <a:p>
            <a:r>
              <a:rPr lang="en-US" dirty="0"/>
              <a:t>To define a two-dimensional array, two size declarators are required. The first one is for the number of rows, and the second one is for the number of columns.</a:t>
            </a:r>
          </a:p>
        </p:txBody>
      </p:sp>
      <p:pic>
        <p:nvPicPr>
          <p:cNvPr id="4" name="Picture 3">
            <a:extLst>
              <a:ext uri="{FF2B5EF4-FFF2-40B4-BE49-F238E27FC236}">
                <a16:creationId xmlns:a16="http://schemas.microsoft.com/office/drawing/2014/main" id="{3D8EDF4B-432C-74DD-2EFC-D1FF953520E5}"/>
              </a:ext>
            </a:extLst>
          </p:cNvPr>
          <p:cNvPicPr>
            <a:picLocks noChangeAspect="1"/>
          </p:cNvPicPr>
          <p:nvPr/>
        </p:nvPicPr>
        <p:blipFill>
          <a:blip r:embed="rId2"/>
          <a:stretch>
            <a:fillRect/>
          </a:stretch>
        </p:blipFill>
        <p:spPr>
          <a:xfrm>
            <a:off x="2787650" y="2765967"/>
            <a:ext cx="6616700" cy="1638300"/>
          </a:xfrm>
          <a:prstGeom prst="rect">
            <a:avLst/>
          </a:prstGeom>
        </p:spPr>
      </p:pic>
      <p:pic>
        <p:nvPicPr>
          <p:cNvPr id="5" name="Picture 4">
            <a:extLst>
              <a:ext uri="{FF2B5EF4-FFF2-40B4-BE49-F238E27FC236}">
                <a16:creationId xmlns:a16="http://schemas.microsoft.com/office/drawing/2014/main" id="{6CAB64E4-619A-5F73-8C4D-ADE1A93DDD77}"/>
              </a:ext>
            </a:extLst>
          </p:cNvPr>
          <p:cNvPicPr>
            <a:picLocks noChangeAspect="1"/>
          </p:cNvPicPr>
          <p:nvPr/>
        </p:nvPicPr>
        <p:blipFill>
          <a:blip r:embed="rId3"/>
          <a:stretch>
            <a:fillRect/>
          </a:stretch>
        </p:blipFill>
        <p:spPr>
          <a:xfrm>
            <a:off x="6913447" y="5808122"/>
            <a:ext cx="2490903" cy="1007556"/>
          </a:xfrm>
          <a:prstGeom prst="rect">
            <a:avLst/>
          </a:prstGeom>
        </p:spPr>
      </p:pic>
    </p:spTree>
    <p:extLst>
      <p:ext uri="{BB962C8B-B14F-4D97-AF65-F5344CB8AC3E}">
        <p14:creationId xmlns:p14="http://schemas.microsoft.com/office/powerpoint/2010/main" val="1109890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1EE1D-E67A-BC7F-1FEC-D2BBC76E4649}"/>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703003D6-AC34-76DE-E7D6-F2EAB90CDCDF}"/>
              </a:ext>
            </a:extLst>
          </p:cNvPr>
          <p:cNvPicPr>
            <a:picLocks noChangeAspect="1"/>
          </p:cNvPicPr>
          <p:nvPr/>
        </p:nvPicPr>
        <p:blipFill>
          <a:blip r:embed="rId2"/>
          <a:stretch>
            <a:fillRect/>
          </a:stretch>
        </p:blipFill>
        <p:spPr>
          <a:xfrm>
            <a:off x="7050485" y="0"/>
            <a:ext cx="3175986" cy="6858000"/>
          </a:xfrm>
          <a:prstGeom prst="rect">
            <a:avLst/>
          </a:prstGeom>
        </p:spPr>
      </p:pic>
      <p:pic>
        <p:nvPicPr>
          <p:cNvPr id="5" name="Picture 4">
            <a:extLst>
              <a:ext uri="{FF2B5EF4-FFF2-40B4-BE49-F238E27FC236}">
                <a16:creationId xmlns:a16="http://schemas.microsoft.com/office/drawing/2014/main" id="{0E3DCE65-ECAF-1D29-BF7E-4E0B379EBA49}"/>
              </a:ext>
            </a:extLst>
          </p:cNvPr>
          <p:cNvPicPr>
            <a:picLocks noChangeAspect="1"/>
          </p:cNvPicPr>
          <p:nvPr/>
        </p:nvPicPr>
        <p:blipFill>
          <a:blip r:embed="rId3"/>
          <a:stretch>
            <a:fillRect/>
          </a:stretch>
        </p:blipFill>
        <p:spPr>
          <a:xfrm>
            <a:off x="1359752" y="1517747"/>
            <a:ext cx="5169181" cy="4967094"/>
          </a:xfrm>
          <a:prstGeom prst="rect">
            <a:avLst/>
          </a:prstGeom>
        </p:spPr>
      </p:pic>
    </p:spTree>
    <p:extLst>
      <p:ext uri="{BB962C8B-B14F-4D97-AF65-F5344CB8AC3E}">
        <p14:creationId xmlns:p14="http://schemas.microsoft.com/office/powerpoint/2010/main" val="4263851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323D-1312-0C9E-0070-EA96EB768797}"/>
              </a:ext>
            </a:extLst>
          </p:cNvPr>
          <p:cNvSpPr>
            <a:spLocks noGrp="1"/>
          </p:cNvSpPr>
          <p:nvPr>
            <p:ph type="title"/>
          </p:nvPr>
        </p:nvSpPr>
        <p:spPr/>
        <p:txBody>
          <a:bodyPr/>
          <a:lstStyle/>
          <a:p>
            <a:r>
              <a:rPr lang="en-US" dirty="0"/>
              <a:t>2-D Array initialization</a:t>
            </a:r>
          </a:p>
        </p:txBody>
      </p:sp>
      <p:sp>
        <p:nvSpPr>
          <p:cNvPr id="3" name="Content Placeholder 2">
            <a:extLst>
              <a:ext uri="{FF2B5EF4-FFF2-40B4-BE49-F238E27FC236}">
                <a16:creationId xmlns:a16="http://schemas.microsoft.com/office/drawing/2014/main" id="{B403BD8A-E863-57E6-32E1-9EB064B29DFE}"/>
              </a:ext>
            </a:extLst>
          </p:cNvPr>
          <p:cNvSpPr>
            <a:spLocks noGrp="1"/>
          </p:cNvSpPr>
          <p:nvPr>
            <p:ph idx="1"/>
          </p:nvPr>
        </p:nvSpPr>
        <p:spPr>
          <a:xfrm>
            <a:off x="838200" y="1825625"/>
            <a:ext cx="10515600" cy="2657165"/>
          </a:xfrm>
        </p:spPr>
        <p:txBody>
          <a:bodyPr/>
          <a:lstStyle/>
          <a:p>
            <a:r>
              <a:rPr lang="en-US" b="1" dirty="0">
                <a:solidFill>
                  <a:srgbClr val="333333"/>
                </a:solidFill>
                <a:effectLst/>
              </a:rPr>
              <a:t>int</a:t>
            </a:r>
            <a:r>
              <a:rPr lang="en-US" dirty="0"/>
              <a:t> hours[</a:t>
            </a:r>
            <a:r>
              <a:rPr lang="en-US" dirty="0">
                <a:solidFill>
                  <a:srgbClr val="1D7C7C"/>
                </a:solidFill>
                <a:effectLst/>
              </a:rPr>
              <a:t>3</a:t>
            </a:r>
            <a:r>
              <a:rPr lang="en-US" dirty="0"/>
              <a:t>][</a:t>
            </a:r>
            <a:r>
              <a:rPr lang="en-US" dirty="0">
                <a:solidFill>
                  <a:srgbClr val="1D7C7C"/>
                </a:solidFill>
                <a:effectLst/>
              </a:rPr>
              <a:t>2</a:t>
            </a:r>
            <a:r>
              <a:rPr lang="en-US" dirty="0"/>
              <a:t>] = {{</a:t>
            </a:r>
            <a:r>
              <a:rPr lang="en-US" dirty="0">
                <a:solidFill>
                  <a:srgbClr val="1D7C7C"/>
                </a:solidFill>
                <a:effectLst/>
              </a:rPr>
              <a:t>8</a:t>
            </a:r>
            <a:r>
              <a:rPr lang="en-US" dirty="0"/>
              <a:t>, </a:t>
            </a:r>
            <a:r>
              <a:rPr lang="en-US" dirty="0">
                <a:solidFill>
                  <a:srgbClr val="1D7C7C"/>
                </a:solidFill>
                <a:effectLst/>
              </a:rPr>
              <a:t>5</a:t>
            </a:r>
            <a:r>
              <a:rPr lang="en-US" dirty="0"/>
              <a:t>}, {</a:t>
            </a:r>
            <a:r>
              <a:rPr lang="en-US" dirty="0">
                <a:solidFill>
                  <a:srgbClr val="1D7C7C"/>
                </a:solidFill>
                <a:effectLst/>
              </a:rPr>
              <a:t>7</a:t>
            </a:r>
            <a:r>
              <a:rPr lang="en-US" dirty="0"/>
              <a:t>, </a:t>
            </a:r>
            <a:r>
              <a:rPr lang="en-US" dirty="0">
                <a:solidFill>
                  <a:srgbClr val="1D7C7C"/>
                </a:solidFill>
                <a:effectLst/>
              </a:rPr>
              <a:t>9</a:t>
            </a:r>
            <a:r>
              <a:rPr lang="en-US" dirty="0"/>
              <a:t>}, {</a:t>
            </a:r>
            <a:r>
              <a:rPr lang="en-US" dirty="0">
                <a:solidFill>
                  <a:srgbClr val="1D7C7C"/>
                </a:solidFill>
                <a:effectLst/>
              </a:rPr>
              <a:t>6</a:t>
            </a:r>
            <a:r>
              <a:rPr lang="en-US" dirty="0"/>
              <a:t>, </a:t>
            </a:r>
            <a:r>
              <a:rPr lang="en-US" dirty="0">
                <a:solidFill>
                  <a:srgbClr val="1D7C7C"/>
                </a:solidFill>
                <a:effectLst/>
              </a:rPr>
              <a:t>3</a:t>
            </a:r>
            <a:r>
              <a:rPr lang="en-US" dirty="0"/>
              <a:t>}};</a:t>
            </a:r>
          </a:p>
          <a:p>
            <a:pPr marL="0" indent="0">
              <a:buNone/>
            </a:pPr>
            <a:r>
              <a:rPr lang="en-US" dirty="0"/>
              <a:t>OR</a:t>
            </a:r>
          </a:p>
          <a:p>
            <a:r>
              <a:rPr lang="en-US" b="1" dirty="0">
                <a:solidFill>
                  <a:srgbClr val="333333"/>
                </a:solidFill>
                <a:effectLst/>
              </a:rPr>
              <a:t>int</a:t>
            </a:r>
            <a:r>
              <a:rPr lang="en-US" dirty="0"/>
              <a:t> hours[</a:t>
            </a:r>
            <a:r>
              <a:rPr lang="en-US" dirty="0">
                <a:solidFill>
                  <a:srgbClr val="1D7C7C"/>
                </a:solidFill>
                <a:effectLst/>
              </a:rPr>
              <a:t>3</a:t>
            </a:r>
            <a:r>
              <a:rPr lang="en-US" dirty="0"/>
              <a:t>][</a:t>
            </a:r>
            <a:r>
              <a:rPr lang="en-US" dirty="0">
                <a:solidFill>
                  <a:srgbClr val="1D7C7C"/>
                </a:solidFill>
                <a:effectLst/>
              </a:rPr>
              <a:t>2</a:t>
            </a:r>
            <a:r>
              <a:rPr lang="en-US" dirty="0"/>
              <a:t>] = {{</a:t>
            </a:r>
            <a:r>
              <a:rPr lang="en-US" dirty="0">
                <a:solidFill>
                  <a:srgbClr val="1D7C7C"/>
                </a:solidFill>
                <a:effectLst/>
              </a:rPr>
              <a:t>8</a:t>
            </a:r>
            <a:r>
              <a:rPr lang="en-US" dirty="0"/>
              <a:t>, </a:t>
            </a:r>
            <a:r>
              <a:rPr lang="en-US" dirty="0">
                <a:solidFill>
                  <a:srgbClr val="1D7C7C"/>
                </a:solidFill>
                <a:effectLst/>
              </a:rPr>
              <a:t>5</a:t>
            </a:r>
            <a:r>
              <a:rPr lang="en-US" dirty="0"/>
              <a:t>}, </a:t>
            </a:r>
            <a:br>
              <a:rPr lang="en-US" dirty="0"/>
            </a:br>
            <a:r>
              <a:rPr lang="en-US" dirty="0"/>
              <a:t>			  {</a:t>
            </a:r>
            <a:r>
              <a:rPr lang="en-US" dirty="0">
                <a:solidFill>
                  <a:srgbClr val="1D7C7C"/>
                </a:solidFill>
                <a:effectLst/>
              </a:rPr>
              <a:t>7</a:t>
            </a:r>
            <a:r>
              <a:rPr lang="en-US" dirty="0"/>
              <a:t>, </a:t>
            </a:r>
            <a:r>
              <a:rPr lang="en-US" dirty="0">
                <a:solidFill>
                  <a:srgbClr val="1D7C7C"/>
                </a:solidFill>
                <a:effectLst/>
              </a:rPr>
              <a:t>9</a:t>
            </a:r>
            <a:r>
              <a:rPr lang="en-US" dirty="0"/>
              <a:t>}, </a:t>
            </a:r>
          </a:p>
          <a:p>
            <a:pPr marL="0" indent="0">
              <a:buNone/>
            </a:pPr>
            <a:r>
              <a:rPr lang="en-US" dirty="0"/>
              <a:t>                                        {</a:t>
            </a:r>
            <a:r>
              <a:rPr lang="en-US" dirty="0">
                <a:solidFill>
                  <a:srgbClr val="1D7C7C"/>
                </a:solidFill>
                <a:effectLst/>
              </a:rPr>
              <a:t>6</a:t>
            </a:r>
            <a:r>
              <a:rPr lang="en-US" dirty="0"/>
              <a:t>, </a:t>
            </a:r>
            <a:r>
              <a:rPr lang="en-US" dirty="0">
                <a:solidFill>
                  <a:srgbClr val="1D7C7C"/>
                </a:solidFill>
                <a:effectLst/>
              </a:rPr>
              <a:t>3</a:t>
            </a:r>
            <a:r>
              <a:rPr lang="en-US" dirty="0"/>
              <a:t>}};</a:t>
            </a:r>
          </a:p>
        </p:txBody>
      </p:sp>
      <p:pic>
        <p:nvPicPr>
          <p:cNvPr id="4" name="Picture 3">
            <a:extLst>
              <a:ext uri="{FF2B5EF4-FFF2-40B4-BE49-F238E27FC236}">
                <a16:creationId xmlns:a16="http://schemas.microsoft.com/office/drawing/2014/main" id="{107F7DD4-549C-1524-C725-9BD427DE1E16}"/>
              </a:ext>
            </a:extLst>
          </p:cNvPr>
          <p:cNvPicPr>
            <a:picLocks noChangeAspect="1"/>
          </p:cNvPicPr>
          <p:nvPr/>
        </p:nvPicPr>
        <p:blipFill>
          <a:blip r:embed="rId2"/>
          <a:stretch>
            <a:fillRect/>
          </a:stretch>
        </p:blipFill>
        <p:spPr>
          <a:xfrm>
            <a:off x="7460785" y="1914466"/>
            <a:ext cx="2974243" cy="2200333"/>
          </a:xfrm>
          <a:prstGeom prst="rect">
            <a:avLst/>
          </a:prstGeom>
        </p:spPr>
      </p:pic>
      <p:pic>
        <p:nvPicPr>
          <p:cNvPr id="5" name="Picture 4">
            <a:extLst>
              <a:ext uri="{FF2B5EF4-FFF2-40B4-BE49-F238E27FC236}">
                <a16:creationId xmlns:a16="http://schemas.microsoft.com/office/drawing/2014/main" id="{30317E30-CE38-88E6-DAFD-DB974BC2E43E}"/>
              </a:ext>
            </a:extLst>
          </p:cNvPr>
          <p:cNvPicPr>
            <a:picLocks noChangeAspect="1"/>
          </p:cNvPicPr>
          <p:nvPr/>
        </p:nvPicPr>
        <p:blipFill>
          <a:blip r:embed="rId3"/>
          <a:stretch>
            <a:fillRect/>
          </a:stretch>
        </p:blipFill>
        <p:spPr>
          <a:xfrm>
            <a:off x="2774329" y="5193681"/>
            <a:ext cx="5744271" cy="883734"/>
          </a:xfrm>
          <a:prstGeom prst="rect">
            <a:avLst/>
          </a:prstGeom>
        </p:spPr>
      </p:pic>
      <p:sp>
        <p:nvSpPr>
          <p:cNvPr id="6" name="TextBox 5">
            <a:extLst>
              <a:ext uri="{FF2B5EF4-FFF2-40B4-BE49-F238E27FC236}">
                <a16:creationId xmlns:a16="http://schemas.microsoft.com/office/drawing/2014/main" id="{D4CCBCA7-461A-59C7-A32F-9BD4B328FDE0}"/>
              </a:ext>
            </a:extLst>
          </p:cNvPr>
          <p:cNvSpPr txBox="1"/>
          <p:nvPr/>
        </p:nvSpPr>
        <p:spPr>
          <a:xfrm>
            <a:off x="838200" y="5193681"/>
            <a:ext cx="1605775" cy="923330"/>
          </a:xfrm>
          <a:prstGeom prst="rect">
            <a:avLst/>
          </a:prstGeom>
          <a:noFill/>
        </p:spPr>
        <p:txBody>
          <a:bodyPr wrap="square" rtlCol="0">
            <a:spAutoFit/>
          </a:bodyPr>
          <a:lstStyle/>
          <a:p>
            <a:r>
              <a:rPr lang="en-US" dirty="0"/>
              <a:t>Same but extra braces is a good idea</a:t>
            </a:r>
          </a:p>
        </p:txBody>
      </p:sp>
    </p:spTree>
    <p:extLst>
      <p:ext uri="{BB962C8B-B14F-4D97-AF65-F5344CB8AC3E}">
        <p14:creationId xmlns:p14="http://schemas.microsoft.com/office/powerpoint/2010/main" val="1027742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9A79-729F-3241-A798-EA19AEF36249}"/>
              </a:ext>
            </a:extLst>
          </p:cNvPr>
          <p:cNvSpPr>
            <a:spLocks noGrp="1"/>
          </p:cNvSpPr>
          <p:nvPr>
            <p:ph type="title"/>
          </p:nvPr>
        </p:nvSpPr>
        <p:spPr/>
        <p:txBody>
          <a:bodyPr/>
          <a:lstStyle/>
          <a:p>
            <a:r>
              <a:rPr lang="en-US" dirty="0"/>
              <a:t>Passing Two-Dimensional Arrays to Functions</a:t>
            </a:r>
          </a:p>
        </p:txBody>
      </p:sp>
      <p:sp>
        <p:nvSpPr>
          <p:cNvPr id="3" name="Content Placeholder 2">
            <a:extLst>
              <a:ext uri="{FF2B5EF4-FFF2-40B4-BE49-F238E27FC236}">
                <a16:creationId xmlns:a16="http://schemas.microsoft.com/office/drawing/2014/main" id="{F9577D42-337D-1114-46F2-CE90EF64AB14}"/>
              </a:ext>
            </a:extLst>
          </p:cNvPr>
          <p:cNvSpPr>
            <a:spLocks noGrp="1"/>
          </p:cNvSpPr>
          <p:nvPr>
            <p:ph idx="1"/>
          </p:nvPr>
        </p:nvSpPr>
        <p:spPr/>
        <p:txBody>
          <a:bodyPr/>
          <a:lstStyle/>
          <a:p>
            <a:r>
              <a:rPr lang="en-US" dirty="0"/>
              <a:t>When a two-dimensional array is passed to a function, the parameter type must contain a size declarator for the number of columns.</a:t>
            </a:r>
          </a:p>
          <a:p>
            <a:pPr lvl="1"/>
            <a:r>
              <a:rPr lang="en-US" i="1" dirty="0">
                <a:solidFill>
                  <a:srgbClr val="0070C0"/>
                </a:solidFill>
              </a:rPr>
              <a:t>void </a:t>
            </a:r>
            <a:r>
              <a:rPr lang="en-US" i="1" dirty="0" err="1">
                <a:solidFill>
                  <a:srgbClr val="0070C0"/>
                </a:solidFill>
              </a:rPr>
              <a:t>showArray</a:t>
            </a:r>
            <a:r>
              <a:rPr lang="en-US" i="1" dirty="0">
                <a:solidFill>
                  <a:srgbClr val="0070C0"/>
                </a:solidFill>
              </a:rPr>
              <a:t>(const int array[][NUM_COLS], int </a:t>
            </a:r>
            <a:r>
              <a:rPr lang="en-US" i="1" dirty="0" err="1">
                <a:solidFill>
                  <a:srgbClr val="0070C0"/>
                </a:solidFill>
              </a:rPr>
              <a:t>numRows</a:t>
            </a:r>
            <a:r>
              <a:rPr lang="en-US" i="1" dirty="0">
                <a:solidFill>
                  <a:srgbClr val="0070C0"/>
                </a:solidFill>
              </a:rPr>
              <a:t>)</a:t>
            </a:r>
          </a:p>
        </p:txBody>
      </p:sp>
    </p:spTree>
    <p:extLst>
      <p:ext uri="{BB962C8B-B14F-4D97-AF65-F5344CB8AC3E}">
        <p14:creationId xmlns:p14="http://schemas.microsoft.com/office/powerpoint/2010/main" val="1800745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EE173-DC6D-29EB-AD79-074D5271D4D0}"/>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61AF89FA-2291-76C3-24C3-77FD99E9E41C}"/>
              </a:ext>
            </a:extLst>
          </p:cNvPr>
          <p:cNvPicPr>
            <a:picLocks noGrp="1" noChangeAspect="1"/>
          </p:cNvPicPr>
          <p:nvPr>
            <p:ph idx="1"/>
          </p:nvPr>
        </p:nvPicPr>
        <p:blipFill>
          <a:blip r:embed="rId3"/>
          <a:stretch>
            <a:fillRect/>
          </a:stretch>
        </p:blipFill>
        <p:spPr>
          <a:xfrm>
            <a:off x="6586141" y="31040"/>
            <a:ext cx="3360748" cy="6826960"/>
          </a:xfrm>
          <a:prstGeom prst="rect">
            <a:avLst/>
          </a:prstGeom>
        </p:spPr>
      </p:pic>
      <p:pic>
        <p:nvPicPr>
          <p:cNvPr id="5" name="Picture 4">
            <a:extLst>
              <a:ext uri="{FF2B5EF4-FFF2-40B4-BE49-F238E27FC236}">
                <a16:creationId xmlns:a16="http://schemas.microsoft.com/office/drawing/2014/main" id="{B9513168-1776-AB49-87E8-92458A51E986}"/>
              </a:ext>
            </a:extLst>
          </p:cNvPr>
          <p:cNvPicPr>
            <a:picLocks noChangeAspect="1"/>
          </p:cNvPicPr>
          <p:nvPr/>
        </p:nvPicPr>
        <p:blipFill>
          <a:blip r:embed="rId4"/>
          <a:stretch>
            <a:fillRect/>
          </a:stretch>
        </p:blipFill>
        <p:spPr>
          <a:xfrm>
            <a:off x="735361" y="2419814"/>
            <a:ext cx="4760995" cy="2694723"/>
          </a:xfrm>
          <a:prstGeom prst="rect">
            <a:avLst/>
          </a:prstGeom>
        </p:spPr>
      </p:pic>
    </p:spTree>
    <p:extLst>
      <p:ext uri="{BB962C8B-B14F-4D97-AF65-F5344CB8AC3E}">
        <p14:creationId xmlns:p14="http://schemas.microsoft.com/office/powerpoint/2010/main" val="426203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95E4D-A650-85C9-F051-8125C46F9F1E}"/>
              </a:ext>
            </a:extLst>
          </p:cNvPr>
          <p:cNvSpPr>
            <a:spLocks noGrp="1"/>
          </p:cNvSpPr>
          <p:nvPr>
            <p:ph type="title"/>
          </p:nvPr>
        </p:nvSpPr>
        <p:spPr/>
        <p:txBody>
          <a:bodyPr/>
          <a:lstStyle/>
          <a:p>
            <a:r>
              <a:rPr lang="en-US" dirty="0"/>
              <a:t>Summing All the Elements of a Two-Dimensional Array</a:t>
            </a:r>
          </a:p>
        </p:txBody>
      </p:sp>
      <p:sp>
        <p:nvSpPr>
          <p:cNvPr id="3" name="Content Placeholder 2">
            <a:extLst>
              <a:ext uri="{FF2B5EF4-FFF2-40B4-BE49-F238E27FC236}">
                <a16:creationId xmlns:a16="http://schemas.microsoft.com/office/drawing/2014/main" id="{B742E621-5B75-7AAF-6D13-6A3B1AD5F63B}"/>
              </a:ext>
            </a:extLst>
          </p:cNvPr>
          <p:cNvSpPr>
            <a:spLocks noGrp="1"/>
          </p:cNvSpPr>
          <p:nvPr>
            <p:ph idx="1"/>
          </p:nvPr>
        </p:nvSpPr>
        <p:spPr/>
        <p:txBody>
          <a:bodyPr/>
          <a:lstStyle/>
          <a:p>
            <a:r>
              <a:rPr lang="en-US" dirty="0"/>
              <a:t>We summed all the data in a two-dimensional array by using a nested loop and adding the contents of each array element to an accumulator.</a:t>
            </a:r>
          </a:p>
        </p:txBody>
      </p:sp>
      <p:pic>
        <p:nvPicPr>
          <p:cNvPr id="6" name="Picture 5">
            <a:extLst>
              <a:ext uri="{FF2B5EF4-FFF2-40B4-BE49-F238E27FC236}">
                <a16:creationId xmlns:a16="http://schemas.microsoft.com/office/drawing/2014/main" id="{6D15AA2C-DBF2-ED21-550E-CDC5F639482D}"/>
              </a:ext>
            </a:extLst>
          </p:cNvPr>
          <p:cNvPicPr>
            <a:picLocks noChangeAspect="1"/>
          </p:cNvPicPr>
          <p:nvPr/>
        </p:nvPicPr>
        <p:blipFill>
          <a:blip r:embed="rId2"/>
          <a:stretch>
            <a:fillRect/>
          </a:stretch>
        </p:blipFill>
        <p:spPr>
          <a:xfrm>
            <a:off x="3994150" y="3423444"/>
            <a:ext cx="4203700" cy="1155700"/>
          </a:xfrm>
          <a:prstGeom prst="rect">
            <a:avLst/>
          </a:prstGeom>
        </p:spPr>
      </p:pic>
    </p:spTree>
    <p:extLst>
      <p:ext uri="{BB962C8B-B14F-4D97-AF65-F5344CB8AC3E}">
        <p14:creationId xmlns:p14="http://schemas.microsoft.com/office/powerpoint/2010/main" val="1414943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88D7A-5519-97D2-1443-AAC5F7A84C54}"/>
              </a:ext>
            </a:extLst>
          </p:cNvPr>
          <p:cNvSpPr>
            <a:spLocks noGrp="1"/>
          </p:cNvSpPr>
          <p:nvPr>
            <p:ph type="title"/>
          </p:nvPr>
        </p:nvSpPr>
        <p:spPr/>
        <p:txBody>
          <a:bodyPr/>
          <a:lstStyle/>
          <a:p>
            <a:r>
              <a:rPr lang="en-US" dirty="0"/>
              <a:t>Summing the Rows of a Two-Dimensional Array</a:t>
            </a:r>
          </a:p>
        </p:txBody>
      </p:sp>
      <p:sp>
        <p:nvSpPr>
          <p:cNvPr id="3" name="Content Placeholder 2">
            <a:extLst>
              <a:ext uri="{FF2B5EF4-FFF2-40B4-BE49-F238E27FC236}">
                <a16:creationId xmlns:a16="http://schemas.microsoft.com/office/drawing/2014/main" id="{004120F3-3780-D361-A2C1-2DB9402A671F}"/>
              </a:ext>
            </a:extLst>
          </p:cNvPr>
          <p:cNvSpPr>
            <a:spLocks noGrp="1"/>
          </p:cNvSpPr>
          <p:nvPr>
            <p:ph idx="1"/>
          </p:nvPr>
        </p:nvSpPr>
        <p:spPr/>
        <p:txBody>
          <a:bodyPr/>
          <a:lstStyle/>
          <a:p>
            <a:r>
              <a:rPr lang="en-US" dirty="0"/>
              <a:t>Sometimes, however, you need to calculate separately the sum of each row in a two-dimensional array. </a:t>
            </a:r>
          </a:p>
          <a:p>
            <a:r>
              <a:rPr lang="en-US" dirty="0"/>
              <a:t>You can again use the nested loops but now, after each summarization of a row you set the accumulator to zero</a:t>
            </a:r>
          </a:p>
        </p:txBody>
      </p:sp>
    </p:spTree>
    <p:extLst>
      <p:ext uri="{BB962C8B-B14F-4D97-AF65-F5344CB8AC3E}">
        <p14:creationId xmlns:p14="http://schemas.microsoft.com/office/powerpoint/2010/main" val="1342791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D51C0-10CD-2458-506D-0007ECC25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EEEAC-2886-1D5F-842B-68627B2E344B}"/>
              </a:ext>
            </a:extLst>
          </p:cNvPr>
          <p:cNvSpPr>
            <a:spLocks noGrp="1"/>
          </p:cNvSpPr>
          <p:nvPr>
            <p:ph type="title"/>
          </p:nvPr>
        </p:nvSpPr>
        <p:spPr/>
        <p:txBody>
          <a:bodyPr/>
          <a:lstStyle/>
          <a:p>
            <a:r>
              <a:rPr lang="en-US" dirty="0"/>
              <a:t>Summing the Rows of a Two-Dimensional Array</a:t>
            </a:r>
          </a:p>
        </p:txBody>
      </p:sp>
      <p:pic>
        <p:nvPicPr>
          <p:cNvPr id="6" name="Picture 5">
            <a:extLst>
              <a:ext uri="{FF2B5EF4-FFF2-40B4-BE49-F238E27FC236}">
                <a16:creationId xmlns:a16="http://schemas.microsoft.com/office/drawing/2014/main" id="{7AB392FD-CA76-0D86-10AA-5CD9F39F1D88}"/>
              </a:ext>
            </a:extLst>
          </p:cNvPr>
          <p:cNvPicPr>
            <a:picLocks noChangeAspect="1"/>
          </p:cNvPicPr>
          <p:nvPr/>
        </p:nvPicPr>
        <p:blipFill>
          <a:blip r:embed="rId2"/>
          <a:stretch>
            <a:fillRect/>
          </a:stretch>
        </p:blipFill>
        <p:spPr>
          <a:xfrm>
            <a:off x="3429000" y="1343102"/>
            <a:ext cx="5334000" cy="5270500"/>
          </a:xfrm>
          <a:prstGeom prst="rect">
            <a:avLst/>
          </a:prstGeom>
        </p:spPr>
      </p:pic>
    </p:spTree>
    <p:extLst>
      <p:ext uri="{BB962C8B-B14F-4D97-AF65-F5344CB8AC3E}">
        <p14:creationId xmlns:p14="http://schemas.microsoft.com/office/powerpoint/2010/main" val="3799667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1B089-E0FD-6608-C500-BCD3C98EB067}"/>
              </a:ext>
            </a:extLst>
          </p:cNvPr>
          <p:cNvSpPr>
            <a:spLocks noGrp="1"/>
          </p:cNvSpPr>
          <p:nvPr>
            <p:ph type="title"/>
          </p:nvPr>
        </p:nvSpPr>
        <p:spPr/>
        <p:txBody>
          <a:bodyPr/>
          <a:lstStyle/>
          <a:p>
            <a:r>
              <a:rPr lang="en-US" dirty="0"/>
              <a:t>Summing the Columns of a Two-Dimensional Array</a:t>
            </a:r>
          </a:p>
        </p:txBody>
      </p:sp>
      <p:sp>
        <p:nvSpPr>
          <p:cNvPr id="3" name="Content Placeholder 2">
            <a:extLst>
              <a:ext uri="{FF2B5EF4-FFF2-40B4-BE49-F238E27FC236}">
                <a16:creationId xmlns:a16="http://schemas.microsoft.com/office/drawing/2014/main" id="{45E77EB4-D656-EDEC-5A4C-3980677AC079}"/>
              </a:ext>
            </a:extLst>
          </p:cNvPr>
          <p:cNvSpPr>
            <a:spLocks noGrp="1"/>
          </p:cNvSpPr>
          <p:nvPr>
            <p:ph idx="1"/>
          </p:nvPr>
        </p:nvSpPr>
        <p:spPr/>
        <p:txBody>
          <a:bodyPr/>
          <a:lstStyle/>
          <a:p>
            <a:r>
              <a:rPr lang="en-US" dirty="0"/>
              <a:t>Same strategies as rows but the order of the two loops is reversed. </a:t>
            </a:r>
          </a:p>
        </p:txBody>
      </p:sp>
      <p:pic>
        <p:nvPicPr>
          <p:cNvPr id="4" name="Picture 3">
            <a:extLst>
              <a:ext uri="{FF2B5EF4-FFF2-40B4-BE49-F238E27FC236}">
                <a16:creationId xmlns:a16="http://schemas.microsoft.com/office/drawing/2014/main" id="{36106AEF-8EC7-6791-BB73-CE71DD3957F0}"/>
              </a:ext>
            </a:extLst>
          </p:cNvPr>
          <p:cNvPicPr>
            <a:picLocks noChangeAspect="1"/>
          </p:cNvPicPr>
          <p:nvPr/>
        </p:nvPicPr>
        <p:blipFill>
          <a:blip r:embed="rId2"/>
          <a:stretch>
            <a:fillRect/>
          </a:stretch>
        </p:blipFill>
        <p:spPr>
          <a:xfrm>
            <a:off x="2940050" y="2535973"/>
            <a:ext cx="6311900" cy="4038600"/>
          </a:xfrm>
          <a:prstGeom prst="rect">
            <a:avLst/>
          </a:prstGeom>
        </p:spPr>
      </p:pic>
    </p:spTree>
    <p:extLst>
      <p:ext uri="{BB962C8B-B14F-4D97-AF65-F5344CB8AC3E}">
        <p14:creationId xmlns:p14="http://schemas.microsoft.com/office/powerpoint/2010/main" val="3919016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4A3C-A754-86CF-E875-D8111DC64B4A}"/>
              </a:ext>
            </a:extLst>
          </p:cNvPr>
          <p:cNvSpPr>
            <a:spLocks noGrp="1"/>
          </p:cNvSpPr>
          <p:nvPr>
            <p:ph type="title"/>
          </p:nvPr>
        </p:nvSpPr>
        <p:spPr/>
        <p:txBody>
          <a:bodyPr/>
          <a:lstStyle/>
          <a:p>
            <a:r>
              <a:rPr lang="en-US" dirty="0"/>
              <a:t>Arrays with Three or More Dimensions</a:t>
            </a:r>
          </a:p>
        </p:txBody>
      </p:sp>
      <p:sp>
        <p:nvSpPr>
          <p:cNvPr id="3" name="Content Placeholder 2">
            <a:extLst>
              <a:ext uri="{FF2B5EF4-FFF2-40B4-BE49-F238E27FC236}">
                <a16:creationId xmlns:a16="http://schemas.microsoft.com/office/drawing/2014/main" id="{60934145-3111-9A06-A271-33499952352C}"/>
              </a:ext>
            </a:extLst>
          </p:cNvPr>
          <p:cNvSpPr>
            <a:spLocks noGrp="1"/>
          </p:cNvSpPr>
          <p:nvPr>
            <p:ph idx="1"/>
          </p:nvPr>
        </p:nvSpPr>
        <p:spPr/>
        <p:txBody>
          <a:bodyPr/>
          <a:lstStyle/>
          <a:p>
            <a:r>
              <a:rPr lang="en-US" dirty="0">
                <a:effectLst/>
              </a:rPr>
              <a:t>C++ allows you to create arrays with virtually any number of dimensions. Here is an example of a three-dimensional (3D) array definition:</a:t>
            </a:r>
          </a:p>
          <a:p>
            <a:pPr lvl="1"/>
            <a:r>
              <a:rPr lang="en-US" b="1" i="1" dirty="0">
                <a:solidFill>
                  <a:srgbClr val="0070C0"/>
                </a:solidFill>
                <a:effectLst/>
              </a:rPr>
              <a:t>double</a:t>
            </a:r>
            <a:r>
              <a:rPr lang="en-US" i="1" dirty="0">
                <a:solidFill>
                  <a:srgbClr val="0070C0"/>
                </a:solidFill>
              </a:rPr>
              <a:t> seat[</a:t>
            </a:r>
            <a:r>
              <a:rPr lang="en-US" i="1" dirty="0">
                <a:solidFill>
                  <a:srgbClr val="0070C0"/>
                </a:solidFill>
                <a:effectLst/>
              </a:rPr>
              <a:t>3</a:t>
            </a:r>
            <a:r>
              <a:rPr lang="en-US" i="1" dirty="0">
                <a:solidFill>
                  <a:srgbClr val="0070C0"/>
                </a:solidFill>
              </a:rPr>
              <a:t>][</a:t>
            </a:r>
            <a:r>
              <a:rPr lang="en-US" i="1" dirty="0">
                <a:solidFill>
                  <a:srgbClr val="0070C0"/>
                </a:solidFill>
                <a:effectLst/>
              </a:rPr>
              <a:t>5</a:t>
            </a:r>
            <a:r>
              <a:rPr lang="en-US" i="1" dirty="0">
                <a:solidFill>
                  <a:srgbClr val="0070C0"/>
                </a:solidFill>
              </a:rPr>
              <a:t>][</a:t>
            </a:r>
            <a:r>
              <a:rPr lang="en-US" i="1" dirty="0">
                <a:solidFill>
                  <a:srgbClr val="0070C0"/>
                </a:solidFill>
                <a:effectLst/>
              </a:rPr>
              <a:t>8</a:t>
            </a:r>
            <a:r>
              <a:rPr lang="en-US" i="1" dirty="0">
                <a:solidFill>
                  <a:srgbClr val="0070C0"/>
                </a:solidFill>
              </a:rPr>
              <a:t>]; </a:t>
            </a:r>
          </a:p>
        </p:txBody>
      </p:sp>
      <p:pic>
        <p:nvPicPr>
          <p:cNvPr id="4" name="Picture 3">
            <a:extLst>
              <a:ext uri="{FF2B5EF4-FFF2-40B4-BE49-F238E27FC236}">
                <a16:creationId xmlns:a16="http://schemas.microsoft.com/office/drawing/2014/main" id="{351951B7-9037-73A2-F317-23A09A8FA866}"/>
              </a:ext>
            </a:extLst>
          </p:cNvPr>
          <p:cNvPicPr>
            <a:picLocks noChangeAspect="1"/>
          </p:cNvPicPr>
          <p:nvPr/>
        </p:nvPicPr>
        <p:blipFill>
          <a:blip r:embed="rId2"/>
          <a:stretch>
            <a:fillRect/>
          </a:stretch>
        </p:blipFill>
        <p:spPr>
          <a:xfrm>
            <a:off x="3422650" y="3879076"/>
            <a:ext cx="5346700" cy="1397000"/>
          </a:xfrm>
          <a:prstGeom prst="rect">
            <a:avLst/>
          </a:prstGeom>
        </p:spPr>
      </p:pic>
    </p:spTree>
    <p:extLst>
      <p:ext uri="{BB962C8B-B14F-4D97-AF65-F5344CB8AC3E}">
        <p14:creationId xmlns:p14="http://schemas.microsoft.com/office/powerpoint/2010/main" val="3577220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CB396-33A1-F2D5-A513-7840957CD7DA}"/>
              </a:ext>
            </a:extLst>
          </p:cNvPr>
          <p:cNvSpPr>
            <a:spLocks noGrp="1"/>
          </p:cNvSpPr>
          <p:nvPr>
            <p:ph type="title"/>
          </p:nvPr>
        </p:nvSpPr>
        <p:spPr/>
        <p:txBody>
          <a:bodyPr/>
          <a:lstStyle/>
          <a:p>
            <a:r>
              <a:rPr lang="en-US" dirty="0"/>
              <a:t>Introduction to the STL vector</a:t>
            </a:r>
          </a:p>
        </p:txBody>
      </p:sp>
      <p:sp>
        <p:nvSpPr>
          <p:cNvPr id="3" name="Content Placeholder 2">
            <a:extLst>
              <a:ext uri="{FF2B5EF4-FFF2-40B4-BE49-F238E27FC236}">
                <a16:creationId xmlns:a16="http://schemas.microsoft.com/office/drawing/2014/main" id="{A9ED04FB-179C-978F-1B61-99169DF2348F}"/>
              </a:ext>
            </a:extLst>
          </p:cNvPr>
          <p:cNvSpPr>
            <a:spLocks noGrp="1"/>
          </p:cNvSpPr>
          <p:nvPr>
            <p:ph idx="1"/>
          </p:nvPr>
        </p:nvSpPr>
        <p:spPr/>
        <p:txBody>
          <a:bodyPr/>
          <a:lstStyle/>
          <a:p>
            <a:r>
              <a:rPr lang="en-US" dirty="0"/>
              <a:t>The Standard Template Library includes a data type called a vector. </a:t>
            </a:r>
          </a:p>
          <a:p>
            <a:r>
              <a:rPr lang="en-US" dirty="0"/>
              <a:t>It is similar to a one-dimensional array but has a number of advantages compared to a standard array.</a:t>
            </a:r>
          </a:p>
          <a:p>
            <a:r>
              <a:rPr lang="en-US" dirty="0"/>
              <a:t>To use vectors, your program header must indicate that you are using namespace std, since vectors are contained within that namespace.</a:t>
            </a:r>
          </a:p>
        </p:txBody>
      </p:sp>
    </p:spTree>
    <p:extLst>
      <p:ext uri="{BB962C8B-B14F-4D97-AF65-F5344CB8AC3E}">
        <p14:creationId xmlns:p14="http://schemas.microsoft.com/office/powerpoint/2010/main" val="96390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54EC0-7085-0459-EFD9-AC3C748692E8}"/>
              </a:ext>
            </a:extLst>
          </p:cNvPr>
          <p:cNvSpPr>
            <a:spLocks noGrp="1"/>
          </p:cNvSpPr>
          <p:nvPr>
            <p:ph type="title"/>
          </p:nvPr>
        </p:nvSpPr>
        <p:spPr/>
        <p:txBody>
          <a:bodyPr/>
          <a:lstStyle/>
          <a:p>
            <a:r>
              <a:rPr lang="en-US" dirty="0"/>
              <a:t>Introduction to the STL vector</a:t>
            </a:r>
          </a:p>
        </p:txBody>
      </p:sp>
      <p:sp>
        <p:nvSpPr>
          <p:cNvPr id="3" name="Content Placeholder 2">
            <a:extLst>
              <a:ext uri="{FF2B5EF4-FFF2-40B4-BE49-F238E27FC236}">
                <a16:creationId xmlns:a16="http://schemas.microsoft.com/office/drawing/2014/main" id="{A5F5CE19-95F6-754A-CAD2-E2D1AEBB24EF}"/>
              </a:ext>
            </a:extLst>
          </p:cNvPr>
          <p:cNvSpPr>
            <a:spLocks noGrp="1"/>
          </p:cNvSpPr>
          <p:nvPr>
            <p:ph idx="1"/>
          </p:nvPr>
        </p:nvSpPr>
        <p:spPr/>
        <p:txBody>
          <a:bodyPr/>
          <a:lstStyle/>
          <a:p>
            <a:r>
              <a:rPr lang="en-US" dirty="0"/>
              <a:t>The data types that are defined in the STL are commonly called </a:t>
            </a:r>
            <a:r>
              <a:rPr lang="en-US" dirty="0">
                <a:hlinkClick r:id="rId2"/>
              </a:rPr>
              <a:t>containers</a:t>
            </a:r>
            <a:r>
              <a:rPr lang="en-US" dirty="0"/>
              <a:t>. They are called containers because they store and organize data. </a:t>
            </a:r>
          </a:p>
          <a:p>
            <a:r>
              <a:rPr lang="en-US" dirty="0"/>
              <a:t>There are two types of containers in the STL: sequence containers and associative containers. </a:t>
            </a:r>
          </a:p>
          <a:p>
            <a:pPr lvl="1"/>
            <a:r>
              <a:rPr lang="en-US" dirty="0"/>
              <a:t>A </a:t>
            </a:r>
            <a:r>
              <a:rPr lang="en-US" dirty="0">
                <a:hlinkClick r:id="rId2"/>
              </a:rPr>
              <a:t>sequence container</a:t>
            </a:r>
            <a:r>
              <a:rPr lang="en-US" dirty="0"/>
              <a:t> organizes data in a sequential fashion, similar to an array. </a:t>
            </a:r>
          </a:p>
          <a:p>
            <a:pPr lvl="1"/>
            <a:r>
              <a:rPr lang="en-US" dirty="0">
                <a:hlinkClick r:id="rId2"/>
              </a:rPr>
              <a:t>Associative containers</a:t>
            </a:r>
            <a:r>
              <a:rPr lang="en-US" dirty="0"/>
              <a:t> organize data with keys, which allow rapid, random access to elements stored in the container.</a:t>
            </a:r>
          </a:p>
        </p:txBody>
      </p:sp>
    </p:spTree>
    <p:extLst>
      <p:ext uri="{BB962C8B-B14F-4D97-AF65-F5344CB8AC3E}">
        <p14:creationId xmlns:p14="http://schemas.microsoft.com/office/powerpoint/2010/main" val="2725909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E956D-781F-28AF-4CD1-A0678C6194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D226BD-12AB-D309-9BC9-F2E1B0589BB7}"/>
              </a:ext>
            </a:extLst>
          </p:cNvPr>
          <p:cNvSpPr>
            <a:spLocks noGrp="1"/>
          </p:cNvSpPr>
          <p:nvPr>
            <p:ph idx="1"/>
          </p:nvPr>
        </p:nvSpPr>
        <p:spPr/>
        <p:txBody>
          <a:bodyPr/>
          <a:lstStyle/>
          <a:p>
            <a:pPr marL="0" indent="0" algn="l">
              <a:buNone/>
            </a:pPr>
            <a:r>
              <a:rPr lang="en-US" dirty="0"/>
              <a:t>A</a:t>
            </a:r>
            <a:r>
              <a:rPr lang="en-US" dirty="0">
                <a:effectLst/>
              </a:rPr>
              <a:t> vector offers several advantages over arrays. Here are just a few:</a:t>
            </a:r>
          </a:p>
          <a:p>
            <a:pPr>
              <a:buFont typeface="Arial" panose="020B0604020202020204" pitchFamily="34" charset="0"/>
              <a:buChar char="•"/>
            </a:pPr>
            <a:r>
              <a:rPr lang="en-US" dirty="0"/>
              <a:t>You do not have to declare the number of elements that the vector will have.</a:t>
            </a:r>
          </a:p>
          <a:p>
            <a:pPr>
              <a:buFont typeface="Arial" panose="020B0604020202020204" pitchFamily="34" charset="0"/>
              <a:buChar char="•"/>
            </a:pPr>
            <a:r>
              <a:rPr lang="en-US" dirty="0"/>
              <a:t>If you add a value to a vector that is already full, the vector will automatically increase its size to accommodate the new value.</a:t>
            </a:r>
          </a:p>
          <a:p>
            <a:pPr>
              <a:buFont typeface="Arial" panose="020B0604020202020204" pitchFamily="34" charset="0"/>
              <a:buChar char="•"/>
            </a:pPr>
            <a:r>
              <a:rPr lang="en-US" dirty="0"/>
              <a:t>Vectors can report the number of elements they contain.</a:t>
            </a:r>
          </a:p>
        </p:txBody>
      </p:sp>
    </p:spTree>
    <p:extLst>
      <p:ext uri="{BB962C8B-B14F-4D97-AF65-F5344CB8AC3E}">
        <p14:creationId xmlns:p14="http://schemas.microsoft.com/office/powerpoint/2010/main" val="2167129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4AD28-C5C3-C5CC-CE5B-C79067262685}"/>
              </a:ext>
            </a:extLst>
          </p:cNvPr>
          <p:cNvSpPr>
            <a:spLocks noGrp="1"/>
          </p:cNvSpPr>
          <p:nvPr>
            <p:ph type="title"/>
          </p:nvPr>
        </p:nvSpPr>
        <p:spPr/>
        <p:txBody>
          <a:bodyPr/>
          <a:lstStyle/>
          <a:p>
            <a:r>
              <a:rPr lang="en-US" dirty="0"/>
              <a:t>Defining and Initializing a Vector</a:t>
            </a:r>
          </a:p>
        </p:txBody>
      </p:sp>
      <p:sp>
        <p:nvSpPr>
          <p:cNvPr id="3" name="Content Placeholder 2">
            <a:extLst>
              <a:ext uri="{FF2B5EF4-FFF2-40B4-BE49-F238E27FC236}">
                <a16:creationId xmlns:a16="http://schemas.microsoft.com/office/drawing/2014/main" id="{1050055A-7465-AF9C-4410-1B9C764CC2C3}"/>
              </a:ext>
            </a:extLst>
          </p:cNvPr>
          <p:cNvSpPr>
            <a:spLocks noGrp="1"/>
          </p:cNvSpPr>
          <p:nvPr>
            <p:ph idx="1"/>
          </p:nvPr>
        </p:nvSpPr>
        <p:spPr/>
        <p:txBody>
          <a:bodyPr>
            <a:normAutofit/>
          </a:bodyPr>
          <a:lstStyle/>
          <a:p>
            <a:pPr marL="0" indent="0">
              <a:buNone/>
            </a:pPr>
            <a:r>
              <a:rPr lang="en-US" b="1" i="1" dirty="0"/>
              <a:t>#include &lt;vector&gt;</a:t>
            </a:r>
          </a:p>
          <a:p>
            <a:r>
              <a:rPr lang="en-US" dirty="0"/>
              <a:t>To create a vector object you use a statement whose syntax is somewhat different from the syntax used in defining a regular variable or array. Here is an example:</a:t>
            </a:r>
            <a:endParaRPr lang="en-US" i="1" dirty="0"/>
          </a:p>
          <a:p>
            <a:pPr lvl="1"/>
            <a:r>
              <a:rPr lang="en-US" b="1" i="1" dirty="0"/>
              <a:t>#vector&lt;</a:t>
            </a:r>
            <a:r>
              <a:rPr lang="en-US" b="1" i="1" dirty="0">
                <a:solidFill>
                  <a:srgbClr val="333333"/>
                </a:solidFill>
                <a:effectLst/>
              </a:rPr>
              <a:t>int</a:t>
            </a:r>
            <a:r>
              <a:rPr lang="en-US" b="1" i="1" dirty="0"/>
              <a:t>&gt; numbers; </a:t>
            </a:r>
          </a:p>
          <a:p>
            <a:r>
              <a:rPr lang="en-US" dirty="0"/>
              <a:t>No need to declare the size, but you can do it anyway</a:t>
            </a:r>
          </a:p>
          <a:p>
            <a:pPr lvl="1"/>
            <a:r>
              <a:rPr lang="en-US" b="1" i="1" dirty="0"/>
              <a:t>#vector&lt;</a:t>
            </a:r>
            <a:r>
              <a:rPr lang="en-US" b="1" i="1" dirty="0">
                <a:solidFill>
                  <a:srgbClr val="333333"/>
                </a:solidFill>
                <a:effectLst/>
              </a:rPr>
              <a:t>int</a:t>
            </a:r>
            <a:r>
              <a:rPr lang="en-US" b="1" i="1" dirty="0"/>
              <a:t>&gt; </a:t>
            </a:r>
            <a:r>
              <a:rPr lang="en-US" b="1" i="1" dirty="0">
                <a:solidFill>
                  <a:srgbClr val="990000"/>
                </a:solidFill>
                <a:effectLst/>
              </a:rPr>
              <a:t>numbers</a:t>
            </a:r>
            <a:r>
              <a:rPr lang="en-US" b="1" i="1" dirty="0"/>
              <a:t>(</a:t>
            </a:r>
            <a:r>
              <a:rPr lang="en-US" b="1" i="1" dirty="0">
                <a:solidFill>
                  <a:srgbClr val="1D7C7C"/>
                </a:solidFill>
                <a:effectLst/>
              </a:rPr>
              <a:t>10</a:t>
            </a:r>
            <a:r>
              <a:rPr lang="en-US" b="1" i="1" dirty="0"/>
              <a:t>); </a:t>
            </a:r>
          </a:p>
          <a:p>
            <a:r>
              <a:rPr lang="en-US" dirty="0">
                <a:effectLst/>
              </a:rPr>
              <a:t>This statement defines numbers as a vector of 10 </a:t>
            </a:r>
            <a:r>
              <a:rPr lang="en-US" dirty="0" err="1">
                <a:effectLst/>
              </a:rPr>
              <a:t>ints</a:t>
            </a:r>
            <a:r>
              <a:rPr lang="en-US" dirty="0">
                <a:effectLst/>
              </a:rPr>
              <a:t>, but this is only a starting size. Its size will expand if you add more than 10 values to it.</a:t>
            </a:r>
          </a:p>
          <a:p>
            <a:pPr marL="0" indent="0">
              <a:buNone/>
            </a:pPr>
            <a:endParaRPr lang="en-US" i="1" dirty="0"/>
          </a:p>
        </p:txBody>
      </p:sp>
    </p:spTree>
    <p:extLst>
      <p:ext uri="{BB962C8B-B14F-4D97-AF65-F5344CB8AC3E}">
        <p14:creationId xmlns:p14="http://schemas.microsoft.com/office/powerpoint/2010/main" val="4291502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9DA1-0C2A-4E21-51F5-D847AA792467}"/>
              </a:ext>
            </a:extLst>
          </p:cNvPr>
          <p:cNvSpPr>
            <a:spLocks noGrp="1"/>
          </p:cNvSpPr>
          <p:nvPr>
            <p:ph type="title"/>
          </p:nvPr>
        </p:nvSpPr>
        <p:spPr/>
        <p:txBody>
          <a:bodyPr/>
          <a:lstStyle/>
          <a:p>
            <a:r>
              <a:rPr lang="en-US" dirty="0"/>
              <a:t>Defining and Initializing a Vector</a:t>
            </a:r>
          </a:p>
        </p:txBody>
      </p:sp>
      <p:sp>
        <p:nvSpPr>
          <p:cNvPr id="3" name="Content Placeholder 2">
            <a:extLst>
              <a:ext uri="{FF2B5EF4-FFF2-40B4-BE49-F238E27FC236}">
                <a16:creationId xmlns:a16="http://schemas.microsoft.com/office/drawing/2014/main" id="{E80B9BC0-E482-8E94-E5ED-5F017A511D0A}"/>
              </a:ext>
            </a:extLst>
          </p:cNvPr>
          <p:cNvSpPr>
            <a:spLocks noGrp="1"/>
          </p:cNvSpPr>
          <p:nvPr>
            <p:ph idx="1"/>
          </p:nvPr>
        </p:nvSpPr>
        <p:spPr/>
        <p:txBody>
          <a:bodyPr>
            <a:normAutofit lnSpcReduction="10000"/>
          </a:bodyPr>
          <a:lstStyle/>
          <a:p>
            <a:r>
              <a:rPr lang="en-US" dirty="0"/>
              <a:t>When you specify a starting size for a vector, you may also specify an initialization value. The initialization value is copied to each element. Here is an example:</a:t>
            </a:r>
          </a:p>
          <a:p>
            <a:pPr lvl="1"/>
            <a:r>
              <a:rPr lang="en-US" b="1" i="1" dirty="0"/>
              <a:t>vector&lt;</a:t>
            </a:r>
            <a:r>
              <a:rPr lang="en-US" b="1" i="1" dirty="0">
                <a:solidFill>
                  <a:srgbClr val="333333"/>
                </a:solidFill>
                <a:effectLst/>
              </a:rPr>
              <a:t>int</a:t>
            </a:r>
            <a:r>
              <a:rPr lang="en-US" b="1" i="1" dirty="0"/>
              <a:t>&gt; </a:t>
            </a:r>
            <a:r>
              <a:rPr lang="en-US" b="1" i="1" dirty="0">
                <a:solidFill>
                  <a:srgbClr val="990000"/>
                </a:solidFill>
                <a:effectLst/>
              </a:rPr>
              <a:t>numbers</a:t>
            </a:r>
            <a:r>
              <a:rPr lang="en-US" b="1" i="1" dirty="0"/>
              <a:t>(</a:t>
            </a:r>
            <a:r>
              <a:rPr lang="en-US" b="1" i="1" dirty="0">
                <a:solidFill>
                  <a:srgbClr val="1D7C7C"/>
                </a:solidFill>
                <a:effectLst/>
              </a:rPr>
              <a:t>10</a:t>
            </a:r>
            <a:r>
              <a:rPr lang="en-US" b="1" i="1" dirty="0"/>
              <a:t>, </a:t>
            </a:r>
            <a:r>
              <a:rPr lang="en-US" b="1" i="1" dirty="0">
                <a:solidFill>
                  <a:srgbClr val="1D7C7C"/>
                </a:solidFill>
                <a:effectLst/>
              </a:rPr>
              <a:t>2</a:t>
            </a:r>
            <a:r>
              <a:rPr lang="en-US" b="1" i="1" dirty="0"/>
              <a:t>); </a:t>
            </a:r>
          </a:p>
          <a:p>
            <a:pPr lvl="1"/>
            <a:endParaRPr lang="en-US" b="1" i="1" dirty="0"/>
          </a:p>
          <a:p>
            <a:pPr marL="457200" lvl="1" indent="0">
              <a:buNone/>
            </a:pPr>
            <a:r>
              <a:rPr lang="en-US" dirty="0"/>
              <a:t>You may also initialize a vector with the values in another vector. For example, if set1 is a vector of </a:t>
            </a:r>
            <a:r>
              <a:rPr lang="en-US" dirty="0" err="1"/>
              <a:t>ints</a:t>
            </a:r>
            <a:r>
              <a:rPr lang="en-US" dirty="0"/>
              <a:t> that already has values in it, the following statement will create a new vector, named set2, which is an exact copy of set1.</a:t>
            </a:r>
          </a:p>
          <a:p>
            <a:pPr lvl="1"/>
            <a:r>
              <a:rPr lang="en-US" b="1" i="1" dirty="0"/>
              <a:t>vector&lt;</a:t>
            </a:r>
            <a:r>
              <a:rPr lang="en-US" b="1" i="1" dirty="0">
                <a:solidFill>
                  <a:srgbClr val="333333"/>
                </a:solidFill>
                <a:effectLst/>
              </a:rPr>
              <a:t>int</a:t>
            </a:r>
            <a:r>
              <a:rPr lang="en-US" b="1" i="1" dirty="0"/>
              <a:t>&gt; </a:t>
            </a:r>
            <a:r>
              <a:rPr lang="en-US" b="1" i="1" dirty="0">
                <a:solidFill>
                  <a:srgbClr val="990000"/>
                </a:solidFill>
                <a:effectLst/>
              </a:rPr>
              <a:t>set2</a:t>
            </a:r>
            <a:r>
              <a:rPr lang="en-US" b="1" i="1" dirty="0"/>
              <a:t>(set1);</a:t>
            </a:r>
          </a:p>
          <a:p>
            <a:pPr lvl="1"/>
            <a:r>
              <a:rPr lang="en-US" b="1" i="1" dirty="0"/>
              <a:t>Or </a:t>
            </a:r>
            <a:r>
              <a:rPr lang="en-US" dirty="0"/>
              <a:t>initialize a vector with a list of values</a:t>
            </a:r>
          </a:p>
          <a:p>
            <a:pPr lvl="2"/>
            <a:r>
              <a:rPr lang="en-US" dirty="0"/>
              <a:t>vector&lt;</a:t>
            </a:r>
            <a:r>
              <a:rPr lang="en-US" b="1" dirty="0">
                <a:solidFill>
                  <a:srgbClr val="333333"/>
                </a:solidFill>
                <a:effectLst/>
              </a:rPr>
              <a:t>int</a:t>
            </a:r>
            <a:r>
              <a:rPr lang="en-US" dirty="0"/>
              <a:t>&gt; numbers { </a:t>
            </a:r>
            <a:r>
              <a:rPr lang="en-US" dirty="0">
                <a:solidFill>
                  <a:srgbClr val="1D7C7C"/>
                </a:solidFill>
                <a:effectLst/>
              </a:rPr>
              <a:t>10</a:t>
            </a:r>
            <a:r>
              <a:rPr lang="en-US" dirty="0"/>
              <a:t>, </a:t>
            </a:r>
            <a:r>
              <a:rPr lang="en-US" dirty="0">
                <a:solidFill>
                  <a:srgbClr val="1D7C7C"/>
                </a:solidFill>
                <a:effectLst/>
              </a:rPr>
              <a:t>20</a:t>
            </a:r>
            <a:r>
              <a:rPr lang="en-US" dirty="0"/>
              <a:t>, </a:t>
            </a:r>
            <a:r>
              <a:rPr lang="en-US" dirty="0">
                <a:solidFill>
                  <a:srgbClr val="1D7C7C"/>
                </a:solidFill>
                <a:effectLst/>
              </a:rPr>
              <a:t>30</a:t>
            </a:r>
            <a:r>
              <a:rPr lang="en-US" dirty="0"/>
              <a:t>, </a:t>
            </a:r>
            <a:r>
              <a:rPr lang="en-US" dirty="0">
                <a:solidFill>
                  <a:srgbClr val="1D7C7C"/>
                </a:solidFill>
                <a:effectLst/>
              </a:rPr>
              <a:t>40</a:t>
            </a:r>
            <a:r>
              <a:rPr lang="en-US" dirty="0"/>
              <a:t> };</a:t>
            </a:r>
            <a:endParaRPr lang="en-US" b="1" i="1" dirty="0"/>
          </a:p>
          <a:p>
            <a:pPr lvl="1"/>
            <a:endParaRPr lang="en-US" b="1" i="1" dirty="0"/>
          </a:p>
        </p:txBody>
      </p:sp>
    </p:spTree>
    <p:extLst>
      <p:ext uri="{BB962C8B-B14F-4D97-AF65-F5344CB8AC3E}">
        <p14:creationId xmlns:p14="http://schemas.microsoft.com/office/powerpoint/2010/main" val="3576399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1EFC6-BE2D-BD48-A427-38977E9D129C}"/>
              </a:ext>
            </a:extLst>
          </p:cNvPr>
          <p:cNvSpPr>
            <a:spLocks noGrp="1"/>
          </p:cNvSpPr>
          <p:nvPr>
            <p:ph type="title"/>
          </p:nvPr>
        </p:nvSpPr>
        <p:spPr/>
        <p:txBody>
          <a:bodyPr/>
          <a:lstStyle/>
          <a:p>
            <a:r>
              <a:rPr lang="en-US" dirty="0"/>
              <a:t>Defining and Initializing a Vector</a:t>
            </a:r>
          </a:p>
        </p:txBody>
      </p:sp>
      <p:pic>
        <p:nvPicPr>
          <p:cNvPr id="4" name="Content Placeholder 3">
            <a:extLst>
              <a:ext uri="{FF2B5EF4-FFF2-40B4-BE49-F238E27FC236}">
                <a16:creationId xmlns:a16="http://schemas.microsoft.com/office/drawing/2014/main" id="{270BBBA4-766A-C6F4-A029-91939E5B382F}"/>
              </a:ext>
            </a:extLst>
          </p:cNvPr>
          <p:cNvPicPr>
            <a:picLocks noGrp="1" noChangeAspect="1"/>
          </p:cNvPicPr>
          <p:nvPr>
            <p:ph idx="1"/>
          </p:nvPr>
        </p:nvPicPr>
        <p:blipFill>
          <a:blip r:embed="rId2"/>
          <a:stretch>
            <a:fillRect/>
          </a:stretch>
        </p:blipFill>
        <p:spPr>
          <a:xfrm>
            <a:off x="2146701" y="1807113"/>
            <a:ext cx="7898597" cy="4513484"/>
          </a:xfrm>
          <a:prstGeom prst="rect">
            <a:avLst/>
          </a:prstGeom>
        </p:spPr>
      </p:pic>
    </p:spTree>
    <p:extLst>
      <p:ext uri="{BB962C8B-B14F-4D97-AF65-F5344CB8AC3E}">
        <p14:creationId xmlns:p14="http://schemas.microsoft.com/office/powerpoint/2010/main" val="3005346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1198C-E561-F2A1-B810-7C7BC1A5258D}"/>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AAEB42E3-E33E-282C-E80A-BF12E59DCFE1}"/>
              </a:ext>
            </a:extLst>
          </p:cNvPr>
          <p:cNvPicPr>
            <a:picLocks noChangeAspect="1"/>
          </p:cNvPicPr>
          <p:nvPr/>
        </p:nvPicPr>
        <p:blipFill>
          <a:blip r:embed="rId2"/>
          <a:stretch>
            <a:fillRect/>
          </a:stretch>
        </p:blipFill>
        <p:spPr>
          <a:xfrm>
            <a:off x="4406322" y="0"/>
            <a:ext cx="4207741" cy="6875628"/>
          </a:xfrm>
          <a:prstGeom prst="rect">
            <a:avLst/>
          </a:prstGeom>
        </p:spPr>
      </p:pic>
    </p:spTree>
    <p:extLst>
      <p:ext uri="{BB962C8B-B14F-4D97-AF65-F5344CB8AC3E}">
        <p14:creationId xmlns:p14="http://schemas.microsoft.com/office/powerpoint/2010/main" val="986124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C1CAA-A7D4-E008-CA0F-0D9C61613727}"/>
              </a:ext>
            </a:extLst>
          </p:cNvPr>
          <p:cNvSpPr>
            <a:spLocks noGrp="1"/>
          </p:cNvSpPr>
          <p:nvPr>
            <p:ph type="title"/>
          </p:nvPr>
        </p:nvSpPr>
        <p:spPr/>
        <p:txBody>
          <a:bodyPr/>
          <a:lstStyle/>
          <a:p>
            <a:r>
              <a:rPr lang="en-US" dirty="0"/>
              <a:t>Example: Using the Range-Based for Loop with a vector </a:t>
            </a:r>
          </a:p>
        </p:txBody>
      </p:sp>
      <p:pic>
        <p:nvPicPr>
          <p:cNvPr id="6" name="Content Placeholder 5" descr="A screenshot of a computer program&#10;&#10;Description automatically generated">
            <a:extLst>
              <a:ext uri="{FF2B5EF4-FFF2-40B4-BE49-F238E27FC236}">
                <a16:creationId xmlns:a16="http://schemas.microsoft.com/office/drawing/2014/main" id="{8A2A4AD0-B124-2617-D3CF-F8CE367C893C}"/>
              </a:ext>
            </a:extLst>
          </p:cNvPr>
          <p:cNvPicPr>
            <a:picLocks noGrp="1" noChangeAspect="1"/>
          </p:cNvPicPr>
          <p:nvPr>
            <p:ph idx="1"/>
          </p:nvPr>
        </p:nvPicPr>
        <p:blipFill>
          <a:blip r:embed="rId2"/>
          <a:stretch>
            <a:fillRect/>
          </a:stretch>
        </p:blipFill>
        <p:spPr>
          <a:xfrm>
            <a:off x="6881667" y="1243084"/>
            <a:ext cx="4480395" cy="5614915"/>
          </a:xfrm>
        </p:spPr>
      </p:pic>
      <p:pic>
        <p:nvPicPr>
          <p:cNvPr id="7" name="Picture 6">
            <a:extLst>
              <a:ext uri="{FF2B5EF4-FFF2-40B4-BE49-F238E27FC236}">
                <a16:creationId xmlns:a16="http://schemas.microsoft.com/office/drawing/2014/main" id="{444B206A-27E5-7FCA-60B6-A7936782C2EB}"/>
              </a:ext>
            </a:extLst>
          </p:cNvPr>
          <p:cNvPicPr>
            <a:picLocks noChangeAspect="1"/>
          </p:cNvPicPr>
          <p:nvPr/>
        </p:nvPicPr>
        <p:blipFill>
          <a:blip r:embed="rId3"/>
          <a:stretch>
            <a:fillRect/>
          </a:stretch>
        </p:blipFill>
        <p:spPr>
          <a:xfrm>
            <a:off x="1252681" y="2547143"/>
            <a:ext cx="4098895" cy="2284630"/>
          </a:xfrm>
          <a:prstGeom prst="rect">
            <a:avLst/>
          </a:prstGeom>
        </p:spPr>
      </p:pic>
    </p:spTree>
    <p:extLst>
      <p:ext uri="{BB962C8B-B14F-4D97-AF65-F5344CB8AC3E}">
        <p14:creationId xmlns:p14="http://schemas.microsoft.com/office/powerpoint/2010/main" val="1759775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87316-E038-B7DF-E950-72EBC3C8C1EB}"/>
              </a:ext>
            </a:extLst>
          </p:cNvPr>
          <p:cNvSpPr>
            <a:spLocks noGrp="1"/>
          </p:cNvSpPr>
          <p:nvPr>
            <p:ph type="title"/>
          </p:nvPr>
        </p:nvSpPr>
        <p:spPr/>
        <p:txBody>
          <a:bodyPr/>
          <a:lstStyle/>
          <a:p>
            <a:r>
              <a:rPr lang="en-US" dirty="0"/>
              <a:t>Determining the Size of a Vector</a:t>
            </a:r>
          </a:p>
        </p:txBody>
      </p:sp>
      <p:sp>
        <p:nvSpPr>
          <p:cNvPr id="3" name="Content Placeholder 2">
            <a:extLst>
              <a:ext uri="{FF2B5EF4-FFF2-40B4-BE49-F238E27FC236}">
                <a16:creationId xmlns:a16="http://schemas.microsoft.com/office/drawing/2014/main" id="{22C9F672-CCE1-977F-43DE-FAD6E0855AAA}"/>
              </a:ext>
            </a:extLst>
          </p:cNvPr>
          <p:cNvSpPr>
            <a:spLocks noGrp="1"/>
          </p:cNvSpPr>
          <p:nvPr>
            <p:ph idx="1"/>
          </p:nvPr>
        </p:nvSpPr>
        <p:spPr/>
        <p:txBody>
          <a:bodyPr/>
          <a:lstStyle/>
          <a:p>
            <a:r>
              <a:rPr lang="en-US" dirty="0"/>
              <a:t>Unlike arrays, vectors can report the number of elements they contain. This is accomplished with the size member function. Here is an example of a statement that uses the size member function: </a:t>
            </a:r>
          </a:p>
          <a:p>
            <a:pPr lvl="1"/>
            <a:r>
              <a:rPr lang="en-US" b="1" dirty="0" err="1"/>
              <a:t>numValues</a:t>
            </a:r>
            <a:r>
              <a:rPr lang="en-US" b="1" dirty="0"/>
              <a:t> = </a:t>
            </a:r>
            <a:r>
              <a:rPr lang="en-US" b="1" dirty="0" err="1"/>
              <a:t>set.</a:t>
            </a:r>
            <a:r>
              <a:rPr lang="en-US" b="1" dirty="0" err="1">
                <a:solidFill>
                  <a:srgbClr val="007AA3"/>
                </a:solidFill>
                <a:effectLst/>
              </a:rPr>
              <a:t>size</a:t>
            </a:r>
            <a:r>
              <a:rPr lang="en-US" b="1" dirty="0"/>
              <a:t>(); </a:t>
            </a:r>
          </a:p>
        </p:txBody>
      </p:sp>
      <p:pic>
        <p:nvPicPr>
          <p:cNvPr id="4" name="Picture 3">
            <a:extLst>
              <a:ext uri="{FF2B5EF4-FFF2-40B4-BE49-F238E27FC236}">
                <a16:creationId xmlns:a16="http://schemas.microsoft.com/office/drawing/2014/main" id="{C8332929-921F-0156-D13C-2F790D57CFEC}"/>
              </a:ext>
            </a:extLst>
          </p:cNvPr>
          <p:cNvPicPr>
            <a:picLocks noChangeAspect="1"/>
          </p:cNvPicPr>
          <p:nvPr/>
        </p:nvPicPr>
        <p:blipFill>
          <a:blip r:embed="rId2"/>
          <a:stretch>
            <a:fillRect/>
          </a:stretch>
        </p:blipFill>
        <p:spPr>
          <a:xfrm>
            <a:off x="2721263" y="4432301"/>
            <a:ext cx="6086760" cy="1521690"/>
          </a:xfrm>
          <a:prstGeom prst="rect">
            <a:avLst/>
          </a:prstGeom>
        </p:spPr>
      </p:pic>
    </p:spTree>
    <p:extLst>
      <p:ext uri="{BB962C8B-B14F-4D97-AF65-F5344CB8AC3E}">
        <p14:creationId xmlns:p14="http://schemas.microsoft.com/office/powerpoint/2010/main" val="799979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60F0-6326-FF64-25BC-F7BF8724A519}"/>
              </a:ext>
            </a:extLst>
          </p:cNvPr>
          <p:cNvSpPr>
            <a:spLocks noGrp="1"/>
          </p:cNvSpPr>
          <p:nvPr>
            <p:ph type="title"/>
          </p:nvPr>
        </p:nvSpPr>
        <p:spPr/>
        <p:txBody>
          <a:bodyPr/>
          <a:lstStyle/>
          <a:p>
            <a:r>
              <a:rPr lang="en-US" dirty="0"/>
              <a:t>Adding Elements to a vector</a:t>
            </a:r>
          </a:p>
        </p:txBody>
      </p:sp>
      <p:sp>
        <p:nvSpPr>
          <p:cNvPr id="3" name="Content Placeholder 2">
            <a:extLst>
              <a:ext uri="{FF2B5EF4-FFF2-40B4-BE49-F238E27FC236}">
                <a16:creationId xmlns:a16="http://schemas.microsoft.com/office/drawing/2014/main" id="{164FDEE3-A465-6BA2-7303-18C14B0F93D7}"/>
              </a:ext>
            </a:extLst>
          </p:cNvPr>
          <p:cNvSpPr>
            <a:spLocks noGrp="1"/>
          </p:cNvSpPr>
          <p:nvPr>
            <p:ph idx="1"/>
          </p:nvPr>
        </p:nvSpPr>
        <p:spPr>
          <a:xfrm>
            <a:off x="838200" y="1825625"/>
            <a:ext cx="10515600" cy="4814166"/>
          </a:xfrm>
        </p:spPr>
        <p:txBody>
          <a:bodyPr>
            <a:normAutofit lnSpcReduction="10000"/>
          </a:bodyPr>
          <a:lstStyle/>
          <a:p>
            <a:r>
              <a:rPr lang="en-US" dirty="0"/>
              <a:t>You cannot, however, use the [] operator to access a vector element that does not yet exist. </a:t>
            </a:r>
          </a:p>
          <a:p>
            <a:r>
              <a:rPr lang="en-US" dirty="0"/>
              <a:t>To store a value in a vector that does not have a starting size, or that is already full, you should use the </a:t>
            </a:r>
            <a:r>
              <a:rPr lang="en-US" b="1" dirty="0" err="1"/>
              <a:t>push_back</a:t>
            </a:r>
            <a:r>
              <a:rPr lang="en-US" b="1" dirty="0"/>
              <a:t> member function. </a:t>
            </a:r>
          </a:p>
          <a:p>
            <a:r>
              <a:rPr lang="en-US" dirty="0"/>
              <a:t>This function accepts a value as an argument and stores it in a new element placed at the end of the vector. (It “pushes” the value at the “back” of the vector.)</a:t>
            </a:r>
          </a:p>
          <a:p>
            <a:pPr lvl="1"/>
            <a:r>
              <a:rPr lang="en-US" b="1" i="1" dirty="0" err="1"/>
              <a:t>numbers.</a:t>
            </a:r>
            <a:r>
              <a:rPr lang="en-US" b="1" i="1" dirty="0" err="1">
                <a:solidFill>
                  <a:srgbClr val="007AA3"/>
                </a:solidFill>
                <a:effectLst/>
              </a:rPr>
              <a:t>push_back</a:t>
            </a:r>
            <a:r>
              <a:rPr lang="en-US" b="1" i="1" dirty="0"/>
              <a:t>(</a:t>
            </a:r>
            <a:r>
              <a:rPr lang="en-US" b="1" i="1" dirty="0">
                <a:solidFill>
                  <a:srgbClr val="1D7C7C"/>
                </a:solidFill>
                <a:effectLst/>
              </a:rPr>
              <a:t>25</a:t>
            </a:r>
            <a:r>
              <a:rPr lang="en-US" b="1" i="1" dirty="0"/>
              <a:t>);</a:t>
            </a:r>
          </a:p>
          <a:p>
            <a:pPr marL="457200" lvl="1" indent="0">
              <a:buNone/>
            </a:pPr>
            <a:endParaRPr lang="en-US" dirty="0"/>
          </a:p>
          <a:p>
            <a:pPr marL="457200" lvl="1" indent="0">
              <a:buNone/>
            </a:pPr>
            <a:r>
              <a:rPr lang="en-US" dirty="0"/>
              <a:t>This statement creates a new element holding 25 and places it at the end of numbers. If numbers previously had no elements, the new element becomes its single element.</a:t>
            </a:r>
            <a:endParaRPr lang="en-US" b="1" i="1" dirty="0"/>
          </a:p>
        </p:txBody>
      </p:sp>
    </p:spTree>
    <p:extLst>
      <p:ext uri="{BB962C8B-B14F-4D97-AF65-F5344CB8AC3E}">
        <p14:creationId xmlns:p14="http://schemas.microsoft.com/office/powerpoint/2010/main" val="1300906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47F46-AEFC-A500-12A2-C1FC625BC652}"/>
              </a:ext>
            </a:extLst>
          </p:cNvPr>
          <p:cNvSpPr>
            <a:spLocks noGrp="1"/>
          </p:cNvSpPr>
          <p:nvPr>
            <p:ph type="title"/>
          </p:nvPr>
        </p:nvSpPr>
        <p:spPr/>
        <p:txBody>
          <a:bodyPr/>
          <a:lstStyle/>
          <a:p>
            <a:r>
              <a:rPr lang="en-US" dirty="0"/>
              <a:t>Removing Elements from a Vector</a:t>
            </a:r>
          </a:p>
        </p:txBody>
      </p:sp>
      <p:sp>
        <p:nvSpPr>
          <p:cNvPr id="3" name="Content Placeholder 2">
            <a:extLst>
              <a:ext uri="{FF2B5EF4-FFF2-40B4-BE49-F238E27FC236}">
                <a16:creationId xmlns:a16="http://schemas.microsoft.com/office/drawing/2014/main" id="{6E569FD4-06DA-2AFF-D9A5-FBD534EECE7B}"/>
              </a:ext>
            </a:extLst>
          </p:cNvPr>
          <p:cNvSpPr>
            <a:spLocks noGrp="1"/>
          </p:cNvSpPr>
          <p:nvPr>
            <p:ph idx="1"/>
          </p:nvPr>
        </p:nvSpPr>
        <p:spPr/>
        <p:txBody>
          <a:bodyPr/>
          <a:lstStyle/>
          <a:p>
            <a:r>
              <a:rPr lang="en-US" dirty="0"/>
              <a:t>To remove the last element from a vector you can use the </a:t>
            </a:r>
            <a:r>
              <a:rPr lang="en-US" dirty="0" err="1"/>
              <a:t>pop_back</a:t>
            </a:r>
            <a:r>
              <a:rPr lang="en-US" dirty="0"/>
              <a:t> member function. The following statement removes the last element from a vector named collection.</a:t>
            </a:r>
          </a:p>
          <a:p>
            <a:pPr lvl="1"/>
            <a:r>
              <a:rPr lang="en-US" b="1" i="1" dirty="0" err="1"/>
              <a:t>collection.</a:t>
            </a:r>
            <a:r>
              <a:rPr lang="en-US" b="1" i="1" dirty="0" err="1">
                <a:solidFill>
                  <a:srgbClr val="007AA3"/>
                </a:solidFill>
                <a:effectLst/>
              </a:rPr>
              <a:t>pop_back</a:t>
            </a:r>
            <a:r>
              <a:rPr lang="en-US" b="1" i="1" dirty="0"/>
              <a:t>(); </a:t>
            </a:r>
          </a:p>
        </p:txBody>
      </p:sp>
    </p:spTree>
    <p:extLst>
      <p:ext uri="{BB962C8B-B14F-4D97-AF65-F5344CB8AC3E}">
        <p14:creationId xmlns:p14="http://schemas.microsoft.com/office/powerpoint/2010/main" val="2218651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ADB3B-BCC6-3DC9-B09D-C5308B7D731C}"/>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E9D1FEBE-B570-F7A7-2DFE-79156C15BA10}"/>
              </a:ext>
            </a:extLst>
          </p:cNvPr>
          <p:cNvPicPr>
            <a:picLocks noChangeAspect="1"/>
          </p:cNvPicPr>
          <p:nvPr/>
        </p:nvPicPr>
        <p:blipFill>
          <a:blip r:embed="rId2"/>
          <a:stretch>
            <a:fillRect/>
          </a:stretch>
        </p:blipFill>
        <p:spPr>
          <a:xfrm>
            <a:off x="6283037" y="-7889"/>
            <a:ext cx="4772890" cy="6873777"/>
          </a:xfrm>
          <a:prstGeom prst="rect">
            <a:avLst/>
          </a:prstGeom>
        </p:spPr>
      </p:pic>
      <p:pic>
        <p:nvPicPr>
          <p:cNvPr id="5" name="Picture 4">
            <a:extLst>
              <a:ext uri="{FF2B5EF4-FFF2-40B4-BE49-F238E27FC236}">
                <a16:creationId xmlns:a16="http://schemas.microsoft.com/office/drawing/2014/main" id="{0A2A329F-17D0-E994-7108-B13A089F444F}"/>
              </a:ext>
            </a:extLst>
          </p:cNvPr>
          <p:cNvPicPr>
            <a:picLocks noChangeAspect="1"/>
          </p:cNvPicPr>
          <p:nvPr/>
        </p:nvPicPr>
        <p:blipFill>
          <a:blip r:embed="rId3"/>
          <a:stretch>
            <a:fillRect/>
          </a:stretch>
        </p:blipFill>
        <p:spPr>
          <a:xfrm>
            <a:off x="838200" y="2334200"/>
            <a:ext cx="5012684" cy="2424835"/>
          </a:xfrm>
          <a:prstGeom prst="rect">
            <a:avLst/>
          </a:prstGeom>
        </p:spPr>
      </p:pic>
    </p:spTree>
    <p:extLst>
      <p:ext uri="{BB962C8B-B14F-4D97-AF65-F5344CB8AC3E}">
        <p14:creationId xmlns:p14="http://schemas.microsoft.com/office/powerpoint/2010/main" val="3730219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5015D-F128-BF4D-4A7B-505A86FA7BD8}"/>
              </a:ext>
            </a:extLst>
          </p:cNvPr>
          <p:cNvSpPr>
            <a:spLocks noGrp="1"/>
          </p:cNvSpPr>
          <p:nvPr>
            <p:ph type="title"/>
          </p:nvPr>
        </p:nvSpPr>
        <p:spPr/>
        <p:txBody>
          <a:bodyPr/>
          <a:lstStyle/>
          <a:p>
            <a:r>
              <a:rPr lang="en-US" dirty="0"/>
              <a:t>Clearing a Vector</a:t>
            </a:r>
          </a:p>
        </p:txBody>
      </p:sp>
      <p:sp>
        <p:nvSpPr>
          <p:cNvPr id="3" name="Content Placeholder 2">
            <a:extLst>
              <a:ext uri="{FF2B5EF4-FFF2-40B4-BE49-F238E27FC236}">
                <a16:creationId xmlns:a16="http://schemas.microsoft.com/office/drawing/2014/main" id="{C1FA52D9-CEC1-DB56-5E56-6497CA6A05EF}"/>
              </a:ext>
            </a:extLst>
          </p:cNvPr>
          <p:cNvSpPr>
            <a:spLocks noGrp="1"/>
          </p:cNvSpPr>
          <p:nvPr>
            <p:ph idx="1"/>
          </p:nvPr>
        </p:nvSpPr>
        <p:spPr/>
        <p:txBody>
          <a:bodyPr/>
          <a:lstStyle/>
          <a:p>
            <a:r>
              <a:rPr lang="en-US" dirty="0"/>
              <a:t>To completely clear the contents of a vector, use the clear member function, as shown in the following example:</a:t>
            </a:r>
          </a:p>
          <a:p>
            <a:pPr lvl="1"/>
            <a:r>
              <a:rPr lang="en-US" b="1" i="1" dirty="0" err="1"/>
              <a:t>numbers.</a:t>
            </a:r>
            <a:r>
              <a:rPr lang="en-US" b="1" i="1" dirty="0" err="1">
                <a:solidFill>
                  <a:srgbClr val="007AA3"/>
                </a:solidFill>
                <a:effectLst/>
              </a:rPr>
              <a:t>clear</a:t>
            </a:r>
            <a:r>
              <a:rPr lang="en-US" b="1" i="1" dirty="0"/>
              <a:t>();</a:t>
            </a:r>
          </a:p>
        </p:txBody>
      </p:sp>
    </p:spTree>
    <p:extLst>
      <p:ext uri="{BB962C8B-B14F-4D97-AF65-F5344CB8AC3E}">
        <p14:creationId xmlns:p14="http://schemas.microsoft.com/office/powerpoint/2010/main" val="101175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0822E-B7CA-5FB7-8B03-295CCFEE8580}"/>
              </a:ext>
            </a:extLst>
          </p:cNvPr>
          <p:cNvSpPr>
            <a:spLocks noGrp="1"/>
          </p:cNvSpPr>
          <p:nvPr>
            <p:ph type="title"/>
          </p:nvPr>
        </p:nvSpPr>
        <p:spPr/>
        <p:txBody>
          <a:bodyPr/>
          <a:lstStyle/>
          <a:p>
            <a:r>
              <a:rPr lang="en-US" dirty="0"/>
              <a:t>Detecting an Empty Vector</a:t>
            </a:r>
          </a:p>
        </p:txBody>
      </p:sp>
      <p:sp>
        <p:nvSpPr>
          <p:cNvPr id="3" name="Content Placeholder 2">
            <a:extLst>
              <a:ext uri="{FF2B5EF4-FFF2-40B4-BE49-F238E27FC236}">
                <a16:creationId xmlns:a16="http://schemas.microsoft.com/office/drawing/2014/main" id="{4ABD9CE0-63A1-C733-5EAE-8D37CBF5803A}"/>
              </a:ext>
            </a:extLst>
          </p:cNvPr>
          <p:cNvSpPr>
            <a:spLocks noGrp="1"/>
          </p:cNvSpPr>
          <p:nvPr>
            <p:ph idx="1"/>
          </p:nvPr>
        </p:nvSpPr>
        <p:spPr/>
        <p:txBody>
          <a:bodyPr/>
          <a:lstStyle/>
          <a:p>
            <a:r>
              <a:rPr lang="en-US" dirty="0"/>
              <a:t>To determine if a vector is empty, use the empty member function.</a:t>
            </a:r>
          </a:p>
          <a:p>
            <a:r>
              <a:rPr lang="en-US" dirty="0"/>
              <a:t>The function returns true if the vector is empty, and false if the vector has elements stored in it. </a:t>
            </a:r>
          </a:p>
          <a:p>
            <a:r>
              <a:rPr lang="en-US" dirty="0"/>
              <a:t>Assuming </a:t>
            </a:r>
            <a:r>
              <a:rPr lang="en-US" dirty="0" err="1"/>
              <a:t>numberVector</a:t>
            </a:r>
            <a:r>
              <a:rPr lang="en-US" dirty="0"/>
              <a:t> is a vector, here is an example of its use:</a:t>
            </a:r>
            <a:endParaRPr lang="en-US" b="1" dirty="0">
              <a:solidFill>
                <a:srgbClr val="333333"/>
              </a:solidFill>
              <a:effectLst/>
            </a:endParaRPr>
          </a:p>
          <a:p>
            <a:pPr lvl="1"/>
            <a:r>
              <a:rPr lang="en-US" b="1" i="1" dirty="0">
                <a:solidFill>
                  <a:srgbClr val="333333"/>
                </a:solidFill>
                <a:effectLst/>
              </a:rPr>
              <a:t>if</a:t>
            </a:r>
            <a:r>
              <a:rPr lang="en-US" i="1" dirty="0"/>
              <a:t> (</a:t>
            </a:r>
            <a:r>
              <a:rPr lang="en-US" i="1" dirty="0" err="1"/>
              <a:t>numberVector.</a:t>
            </a:r>
            <a:r>
              <a:rPr lang="en-US" i="1" dirty="0" err="1">
                <a:solidFill>
                  <a:srgbClr val="007AA3"/>
                </a:solidFill>
                <a:effectLst/>
              </a:rPr>
              <a:t>empty</a:t>
            </a:r>
            <a:r>
              <a:rPr lang="en-US" i="1" dirty="0"/>
              <a:t>())</a:t>
            </a:r>
          </a:p>
          <a:p>
            <a:pPr marL="914400" lvl="2" indent="0">
              <a:buNone/>
            </a:pPr>
            <a:r>
              <a:rPr lang="en-US" i="1" dirty="0" err="1"/>
              <a:t>cout</a:t>
            </a:r>
            <a:r>
              <a:rPr lang="en-US" i="1" dirty="0"/>
              <a:t> &lt;&lt; </a:t>
            </a:r>
            <a:r>
              <a:rPr lang="en-US" i="1" dirty="0">
                <a:solidFill>
                  <a:srgbClr val="DD1144"/>
                </a:solidFill>
                <a:effectLst/>
              </a:rPr>
              <a:t>"No values in </a:t>
            </a:r>
            <a:r>
              <a:rPr lang="en-US" i="1" dirty="0" err="1">
                <a:solidFill>
                  <a:srgbClr val="DD1144"/>
                </a:solidFill>
                <a:effectLst/>
              </a:rPr>
              <a:t>numberVector</a:t>
            </a:r>
            <a:r>
              <a:rPr lang="en-US" i="1" dirty="0">
                <a:solidFill>
                  <a:srgbClr val="DD1144"/>
                </a:solidFill>
                <a:effectLst/>
              </a:rPr>
              <a:t>.\n"</a:t>
            </a:r>
            <a:r>
              <a:rPr lang="en-US" i="1" dirty="0"/>
              <a:t>;</a:t>
            </a:r>
          </a:p>
        </p:txBody>
      </p:sp>
    </p:spTree>
    <p:extLst>
      <p:ext uri="{BB962C8B-B14F-4D97-AF65-F5344CB8AC3E}">
        <p14:creationId xmlns:p14="http://schemas.microsoft.com/office/powerpoint/2010/main" val="1655909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E0C60-B75E-D411-E993-8B8B1A121A46}"/>
              </a:ext>
            </a:extLst>
          </p:cNvPr>
          <p:cNvSpPr>
            <a:spLocks noGrp="1"/>
          </p:cNvSpPr>
          <p:nvPr>
            <p:ph type="title"/>
          </p:nvPr>
        </p:nvSpPr>
        <p:spPr/>
        <p:txBody>
          <a:bodyPr/>
          <a:lstStyle/>
          <a:p>
            <a:r>
              <a:rPr lang="en-US" dirty="0"/>
              <a:t>Common Vector Member Functions</a:t>
            </a:r>
          </a:p>
        </p:txBody>
      </p:sp>
      <p:pic>
        <p:nvPicPr>
          <p:cNvPr id="4" name="Picture 3">
            <a:extLst>
              <a:ext uri="{FF2B5EF4-FFF2-40B4-BE49-F238E27FC236}">
                <a16:creationId xmlns:a16="http://schemas.microsoft.com/office/drawing/2014/main" id="{B842A21C-A9D9-6681-8CB4-EE2CC67F236A}"/>
              </a:ext>
            </a:extLst>
          </p:cNvPr>
          <p:cNvPicPr>
            <a:picLocks noChangeAspect="1"/>
          </p:cNvPicPr>
          <p:nvPr/>
        </p:nvPicPr>
        <p:blipFill>
          <a:blip r:embed="rId2"/>
          <a:stretch>
            <a:fillRect/>
          </a:stretch>
        </p:blipFill>
        <p:spPr>
          <a:xfrm>
            <a:off x="1944253" y="1576846"/>
            <a:ext cx="7906327" cy="4848895"/>
          </a:xfrm>
          <a:prstGeom prst="rect">
            <a:avLst/>
          </a:prstGeom>
        </p:spPr>
      </p:pic>
    </p:spTree>
    <p:extLst>
      <p:ext uri="{BB962C8B-B14F-4D97-AF65-F5344CB8AC3E}">
        <p14:creationId xmlns:p14="http://schemas.microsoft.com/office/powerpoint/2010/main" val="3382212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C822-A842-DE5E-2154-99404CDFE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447BE-CA57-5A90-CC64-399F6B0C0CD3}"/>
              </a:ext>
            </a:extLst>
          </p:cNvPr>
          <p:cNvSpPr>
            <a:spLocks noGrp="1"/>
          </p:cNvSpPr>
          <p:nvPr>
            <p:ph type="title"/>
          </p:nvPr>
        </p:nvSpPr>
        <p:spPr/>
        <p:txBody>
          <a:bodyPr/>
          <a:lstStyle/>
          <a:p>
            <a:r>
              <a:rPr lang="en-US" dirty="0"/>
              <a:t>Common Vector Member Functions</a:t>
            </a:r>
          </a:p>
        </p:txBody>
      </p:sp>
      <p:pic>
        <p:nvPicPr>
          <p:cNvPr id="3" name="Picture 2">
            <a:extLst>
              <a:ext uri="{FF2B5EF4-FFF2-40B4-BE49-F238E27FC236}">
                <a16:creationId xmlns:a16="http://schemas.microsoft.com/office/drawing/2014/main" id="{0F97FADC-A752-247F-1DAE-F39B080BECBF}"/>
              </a:ext>
            </a:extLst>
          </p:cNvPr>
          <p:cNvPicPr>
            <a:picLocks noChangeAspect="1"/>
          </p:cNvPicPr>
          <p:nvPr/>
        </p:nvPicPr>
        <p:blipFill>
          <a:blip r:embed="rId2"/>
          <a:stretch>
            <a:fillRect/>
          </a:stretch>
        </p:blipFill>
        <p:spPr>
          <a:xfrm>
            <a:off x="2048163" y="1470781"/>
            <a:ext cx="7417956" cy="5022094"/>
          </a:xfrm>
          <a:prstGeom prst="rect">
            <a:avLst/>
          </a:prstGeom>
        </p:spPr>
      </p:pic>
    </p:spTree>
    <p:extLst>
      <p:ext uri="{BB962C8B-B14F-4D97-AF65-F5344CB8AC3E}">
        <p14:creationId xmlns:p14="http://schemas.microsoft.com/office/powerpoint/2010/main" val="580897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806C4-0939-C4E3-127F-F674E5581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42831-617C-A57F-A366-DB1A16056ED9}"/>
              </a:ext>
            </a:extLst>
          </p:cNvPr>
          <p:cNvSpPr>
            <a:spLocks noGrp="1"/>
          </p:cNvSpPr>
          <p:nvPr>
            <p:ph type="title"/>
          </p:nvPr>
        </p:nvSpPr>
        <p:spPr/>
        <p:txBody>
          <a:bodyPr/>
          <a:lstStyle/>
          <a:p>
            <a:r>
              <a:rPr lang="en-US" dirty="0"/>
              <a:t>Common Vector Member Functions</a:t>
            </a:r>
          </a:p>
        </p:txBody>
      </p:sp>
      <p:pic>
        <p:nvPicPr>
          <p:cNvPr id="4" name="Picture 3">
            <a:extLst>
              <a:ext uri="{FF2B5EF4-FFF2-40B4-BE49-F238E27FC236}">
                <a16:creationId xmlns:a16="http://schemas.microsoft.com/office/drawing/2014/main" id="{5D92A9BB-4038-41D5-6D72-9D4DB0F1E2E6}"/>
              </a:ext>
            </a:extLst>
          </p:cNvPr>
          <p:cNvPicPr>
            <a:picLocks noChangeAspect="1"/>
          </p:cNvPicPr>
          <p:nvPr/>
        </p:nvPicPr>
        <p:blipFill>
          <a:blip r:embed="rId2"/>
          <a:stretch>
            <a:fillRect/>
          </a:stretch>
        </p:blipFill>
        <p:spPr>
          <a:xfrm>
            <a:off x="1552364" y="1934441"/>
            <a:ext cx="8407088" cy="3240232"/>
          </a:xfrm>
          <a:prstGeom prst="rect">
            <a:avLst/>
          </a:prstGeom>
        </p:spPr>
      </p:pic>
    </p:spTree>
    <p:extLst>
      <p:ext uri="{BB962C8B-B14F-4D97-AF65-F5344CB8AC3E}">
        <p14:creationId xmlns:p14="http://schemas.microsoft.com/office/powerpoint/2010/main" val="2036347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TotalTime>
  <Words>1801</Words>
  <Application>Microsoft Macintosh PowerPoint</Application>
  <PresentationFormat>Widescreen</PresentationFormat>
  <Paragraphs>128</Paragraphs>
  <Slides>40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Aptos Display</vt:lpstr>
      <vt:lpstr>Arial</vt:lpstr>
      <vt:lpstr>Office Theme</vt:lpstr>
      <vt:lpstr>Week 5 Array and Vector part 2</vt:lpstr>
      <vt:lpstr>Partially Filled Arrays</vt:lpstr>
      <vt:lpstr>Partially Filled Arrays</vt:lpstr>
      <vt:lpstr>Processing Strings</vt:lpstr>
      <vt:lpstr>Example</vt:lpstr>
      <vt:lpstr>Using Parallel Arrays</vt:lpstr>
      <vt:lpstr>Example</vt:lpstr>
      <vt:lpstr>The typedef Statement</vt:lpstr>
      <vt:lpstr>Arrays as Function Arguments</vt:lpstr>
      <vt:lpstr>Arrays as Function Arguments</vt:lpstr>
      <vt:lpstr>Example</vt:lpstr>
      <vt:lpstr>Using const Array Parameters</vt:lpstr>
      <vt:lpstr>Two-Dimensional Arrays</vt:lpstr>
      <vt:lpstr>Two-Dimensional Arrays</vt:lpstr>
      <vt:lpstr>Example</vt:lpstr>
      <vt:lpstr>2-D Array initialization</vt:lpstr>
      <vt:lpstr>Passing Two-Dimensional Arrays to Functions</vt:lpstr>
      <vt:lpstr>Example</vt:lpstr>
      <vt:lpstr>Summing All the Elements of a Two-Dimensional Array</vt:lpstr>
      <vt:lpstr>Summing the Rows of a Two-Dimensional Array</vt:lpstr>
      <vt:lpstr>Summing the Rows of a Two-Dimensional Array</vt:lpstr>
      <vt:lpstr>Summing the Columns of a Two-Dimensional Array</vt:lpstr>
      <vt:lpstr>Arrays with Three or More Dimensions</vt:lpstr>
      <vt:lpstr>Introduction to the STL vector</vt:lpstr>
      <vt:lpstr>Introduction to the STL vector</vt:lpstr>
      <vt:lpstr>PowerPoint Presentation</vt:lpstr>
      <vt:lpstr>Defining and Initializing a Vector</vt:lpstr>
      <vt:lpstr>Defining and Initializing a Vector</vt:lpstr>
      <vt:lpstr>Defining and Initializing a Vector</vt:lpstr>
      <vt:lpstr>Example</vt:lpstr>
      <vt:lpstr>Example: Using the Range-Based for Loop with a vector </vt:lpstr>
      <vt:lpstr>Determining the Size of a Vector</vt:lpstr>
      <vt:lpstr>Adding Elements to a vector</vt:lpstr>
      <vt:lpstr>Removing Elements from a Vector</vt:lpstr>
      <vt:lpstr>Example</vt:lpstr>
      <vt:lpstr>Clearing a Vector</vt:lpstr>
      <vt:lpstr>Detecting an Empty Vector</vt:lpstr>
      <vt:lpstr>Common Vector Member Functions</vt:lpstr>
      <vt:lpstr>Common Vector Member Functions</vt:lpstr>
      <vt:lpstr>Common Vector Member Functions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10</cp:revision>
  <dcterms:created xsi:type="dcterms:W3CDTF">2024-09-24T11:41:01Z</dcterms:created>
  <dcterms:modified xsi:type="dcterms:W3CDTF">2024-10-01T12:34:20Z</dcterms:modified>
</cp:coreProperties>
</file>