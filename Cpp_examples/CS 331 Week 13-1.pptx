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28" r:id="rId28"/>
    <p:sldId id="304" r:id="rId29"/>
    <p:sldId id="306" r:id="rId30"/>
    <p:sldId id="305"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321" r:id="rId46"/>
    <p:sldId id="322" r:id="rId47"/>
    <p:sldId id="323" r:id="rId48"/>
    <p:sldId id="324" r:id="rId49"/>
    <p:sldId id="325" r:id="rId50"/>
    <p:sldId id="326" r:id="rId51"/>
    <p:sldId id="32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ferSingleView="1">
    <p:restoredLeft sz="14527"/>
    <p:restoredTop sz="94733"/>
  </p:normalViewPr>
  <p:slideViewPr>
    <p:cSldViewPr snapToGrid="0">
      <p:cViewPr varScale="1">
        <p:scale>
          <a:sx n="148" d="100"/>
          <a:sy n="148" d="100"/>
        </p:scale>
        <p:origin x="216" y="142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F63BF3-E48E-FE45-B8FE-374AD529E661}" type="datetimeFigureOut">
              <a:rPr lang="en-US" smtClean="0"/>
              <a:t>11/19/24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B10C6-F36F-C54D-8FF6-7606C59D5860}" type="slidenum">
              <a:rPr lang="en-US" smtClean="0"/>
              <a:t>‹#›</a:t>
            </a:fld>
            <a:endParaRPr lang="en-US"/>
          </a:p>
        </p:txBody>
      </p:sp>
    </p:spTree>
    <p:extLst>
      <p:ext uri="{BB962C8B-B14F-4D97-AF65-F5344CB8AC3E}">
        <p14:creationId xmlns:p14="http://schemas.microsoft.com/office/powerpoint/2010/main" val="119045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FB10C6-F36F-C54D-8FF6-7606C59D5860}" type="slidenum">
              <a:rPr lang="en-US" smtClean="0"/>
              <a:t>17</a:t>
            </a:fld>
            <a:endParaRPr lang="en-US"/>
          </a:p>
        </p:txBody>
      </p:sp>
    </p:spTree>
    <p:extLst>
      <p:ext uri="{BB962C8B-B14F-4D97-AF65-F5344CB8AC3E}">
        <p14:creationId xmlns:p14="http://schemas.microsoft.com/office/powerpoint/2010/main" val="2103915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5511-DB31-326E-399A-02AE9A8804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7FE8A4-53E2-7FCD-886D-F8725C1D6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4F905-2F28-E323-F7DB-AEC08560072D}"/>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5" name="Footer Placeholder 4">
            <a:extLst>
              <a:ext uri="{FF2B5EF4-FFF2-40B4-BE49-F238E27FC236}">
                <a16:creationId xmlns:a16="http://schemas.microsoft.com/office/drawing/2014/main" id="{D1979DE4-80A9-8C58-66F0-42F2A10B9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8A3A5-214E-67C2-140C-174B13E0C1D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808922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C748-833B-7880-80DF-5C90B957D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1AB2F4-C2CF-969D-6E9A-1D7B28048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C6E4C7-3BC9-AFD7-B05B-0692CAD2AA08}"/>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5" name="Footer Placeholder 4">
            <a:extLst>
              <a:ext uri="{FF2B5EF4-FFF2-40B4-BE49-F238E27FC236}">
                <a16:creationId xmlns:a16="http://schemas.microsoft.com/office/drawing/2014/main" id="{540ADAF5-7A70-6779-13B2-A7B604FEA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E0105-EF09-4244-DDAB-F228A8FDA263}"/>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3527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2788C-8FFC-9D02-2F63-27886ED476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DA6C6E-33F9-7288-9EA4-BD8F31C9DB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C9DF32-1C75-F93C-D122-2878C5D5CB81}"/>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5" name="Footer Placeholder 4">
            <a:extLst>
              <a:ext uri="{FF2B5EF4-FFF2-40B4-BE49-F238E27FC236}">
                <a16:creationId xmlns:a16="http://schemas.microsoft.com/office/drawing/2014/main" id="{996F073C-1AA8-8992-F4B7-37790235A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5BD98-34ED-5934-1066-400483BDC94A}"/>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254733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9CFB9-75C3-8099-BD3D-8C3F788CCE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8928DD-12D5-E6AF-9B04-87F6D3CD58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AFCF32-0321-6646-2CAF-1DCABCF3B8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7906DE-F9EF-D232-A923-1837FEA8B96B}"/>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6" name="Footer Placeholder 5">
            <a:extLst>
              <a:ext uri="{FF2B5EF4-FFF2-40B4-BE49-F238E27FC236}">
                <a16:creationId xmlns:a16="http://schemas.microsoft.com/office/drawing/2014/main" id="{2A024A25-5594-72CB-92DC-95D36DC18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B09B14-8D70-15D2-274A-11DABD4CB1D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354524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10F9-90EB-26DA-7467-FDD1942FCF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C95C83-8C12-21A8-333A-D0266A2111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99EEF4-68A7-5AC1-9AFE-2E6AE17EAF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402387-1C90-E208-1283-357B5B76D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00205E-5DF7-C868-0E01-C6183EC764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73E94-01CC-4227-54D4-F95D3C17C576}"/>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8" name="Footer Placeholder 7">
            <a:extLst>
              <a:ext uri="{FF2B5EF4-FFF2-40B4-BE49-F238E27FC236}">
                <a16:creationId xmlns:a16="http://schemas.microsoft.com/office/drawing/2014/main" id="{68778635-8BD2-23C1-7E62-6AF7D4A2EC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FE19B-9974-605B-0B28-AC95304D8198}"/>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986436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A2B3-7B56-A526-F0A6-5DCD8669C4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56661F-CD7B-5327-694A-618392545692}"/>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4" name="Footer Placeholder 3">
            <a:extLst>
              <a:ext uri="{FF2B5EF4-FFF2-40B4-BE49-F238E27FC236}">
                <a16:creationId xmlns:a16="http://schemas.microsoft.com/office/drawing/2014/main" id="{1127053B-3B2B-3228-6302-BC402F58CE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5A3758-F701-1B94-5FFF-31A5800CB1D5}"/>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478351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9C2289-AC04-9D0C-074D-AC99B03C12F5}"/>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3" name="Footer Placeholder 2">
            <a:extLst>
              <a:ext uri="{FF2B5EF4-FFF2-40B4-BE49-F238E27FC236}">
                <a16:creationId xmlns:a16="http://schemas.microsoft.com/office/drawing/2014/main" id="{A6EDA553-FBB9-0E78-B0EA-0E7BEE03F0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A3716-124B-A37D-1DB2-5EB85BFBD89C}"/>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23165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929C9-02EE-96B2-5157-3358ED77DC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6FDDE9-8B80-9FC0-D3ED-52A432D8C7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B44577-036C-34A6-7D96-F79809ACF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8DD4E9-534E-3D62-10DC-40779F95A29E}"/>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6" name="Footer Placeholder 5">
            <a:extLst>
              <a:ext uri="{FF2B5EF4-FFF2-40B4-BE49-F238E27FC236}">
                <a16:creationId xmlns:a16="http://schemas.microsoft.com/office/drawing/2014/main" id="{242BBB1B-AFCA-25E9-EE7B-20A36FEFF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9893FB-5E8D-6E72-464E-C090B01F2DAA}"/>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81071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91FE-F596-0A3C-F573-BE82C359FE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BBE5C7-8B55-6217-6F0B-AE7D95A7B8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C43BC0-7307-5AB3-957E-CB91145D5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A1BCD-7C4E-88F7-4B15-EC2AB1793A95}"/>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6" name="Footer Placeholder 5">
            <a:extLst>
              <a:ext uri="{FF2B5EF4-FFF2-40B4-BE49-F238E27FC236}">
                <a16:creationId xmlns:a16="http://schemas.microsoft.com/office/drawing/2014/main" id="{FA215552-5170-7C65-D47F-D01D68A1DD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66E66-2D4D-F68A-7291-F08A1B06D82C}"/>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2595903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DCCC-E064-14FB-6144-2576D7CF49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8E1986-188C-5843-C0ED-C149BA3DA9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DCAD7-59D2-7D67-1F7E-21C935FE9768}"/>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5" name="Footer Placeholder 4">
            <a:extLst>
              <a:ext uri="{FF2B5EF4-FFF2-40B4-BE49-F238E27FC236}">
                <a16:creationId xmlns:a16="http://schemas.microsoft.com/office/drawing/2014/main" id="{65C271E6-B1FC-A858-AF3C-346FFA2C6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9752C-51B1-9525-A5AF-A072582070CE}"/>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1106067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6C07EE-F465-1FEF-52C6-CCFB223F39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59F677-0FC6-91FA-BB02-F2F8F359E5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9CF52D-CC1B-CC79-195D-A249A79B8CDB}"/>
              </a:ext>
            </a:extLst>
          </p:cNvPr>
          <p:cNvSpPr>
            <a:spLocks noGrp="1"/>
          </p:cNvSpPr>
          <p:nvPr>
            <p:ph type="dt" sz="half" idx="10"/>
          </p:nvPr>
        </p:nvSpPr>
        <p:spPr/>
        <p:txBody>
          <a:bodyPr/>
          <a:lstStyle/>
          <a:p>
            <a:fld id="{CA04CA06-6EC4-5F46-A802-374C19351989}" type="datetimeFigureOut">
              <a:rPr lang="en-US" smtClean="0"/>
              <a:t>11/18/24</a:t>
            </a:fld>
            <a:endParaRPr lang="en-US"/>
          </a:p>
        </p:txBody>
      </p:sp>
      <p:sp>
        <p:nvSpPr>
          <p:cNvPr id="5" name="Footer Placeholder 4">
            <a:extLst>
              <a:ext uri="{FF2B5EF4-FFF2-40B4-BE49-F238E27FC236}">
                <a16:creationId xmlns:a16="http://schemas.microsoft.com/office/drawing/2014/main" id="{067316FC-6D2E-507E-87B9-5232B21BD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D92E8-22C7-DB2F-8A68-6DD2AFE43926}"/>
              </a:ext>
            </a:extLst>
          </p:cNvPr>
          <p:cNvSpPr>
            <a:spLocks noGrp="1"/>
          </p:cNvSpPr>
          <p:nvPr>
            <p:ph type="sldNum" sz="quarter" idx="12"/>
          </p:nvPr>
        </p:nvSpPr>
        <p:spPr/>
        <p:txBody>
          <a:bodyPr/>
          <a:lstStyle/>
          <a:p>
            <a:fld id="{D0AB1FB0-8E40-FF42-929D-3D944DFE8885}" type="slidenum">
              <a:rPr lang="en-US" smtClean="0"/>
              <a:t>‹#›</a:t>
            </a:fld>
            <a:endParaRPr lang="en-US"/>
          </a:p>
        </p:txBody>
      </p:sp>
    </p:spTree>
    <p:extLst>
      <p:ext uri="{BB962C8B-B14F-4D97-AF65-F5344CB8AC3E}">
        <p14:creationId xmlns:p14="http://schemas.microsoft.com/office/powerpoint/2010/main" val="3129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E46B24-AB7C-9DC9-AC26-51E3748843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D91739-D012-26B6-DB9F-6D9A0878E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0D82A-DA1B-059E-432D-B1D055FF1D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04CA06-6EC4-5F46-A802-374C19351989}" type="datetimeFigureOut">
              <a:rPr lang="en-US" smtClean="0"/>
              <a:t>11/18/24</a:t>
            </a:fld>
            <a:endParaRPr lang="en-US"/>
          </a:p>
        </p:txBody>
      </p:sp>
      <p:sp>
        <p:nvSpPr>
          <p:cNvPr id="5" name="Footer Placeholder 4">
            <a:extLst>
              <a:ext uri="{FF2B5EF4-FFF2-40B4-BE49-F238E27FC236}">
                <a16:creationId xmlns:a16="http://schemas.microsoft.com/office/drawing/2014/main" id="{D963A45C-6F14-49BF-57EB-C84CE674C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D50D68-7B98-3BEA-CA53-4DBCEE6BDD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AB1FB0-8E40-FF42-929D-3D944DFE8885}" type="slidenum">
              <a:rPr lang="en-US" smtClean="0"/>
              <a:t>‹#›</a:t>
            </a:fld>
            <a:endParaRPr lang="en-US"/>
          </a:p>
        </p:txBody>
      </p:sp>
    </p:spTree>
    <p:extLst>
      <p:ext uri="{BB962C8B-B14F-4D97-AF65-F5344CB8AC3E}">
        <p14:creationId xmlns:p14="http://schemas.microsoft.com/office/powerpoint/2010/main" val="394562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06286275-fb8c-40ca-b69d-f0e1890f948c?userPreferredType=stud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06286275-fb8c-40ca-b69d-f0e1890f948c?userPreferredType=study"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f348ae1-2c46-4a8e-a826-c29293cbad55?userPreferredType=stud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f348ae1-2c46-4a8e-a826-c29293cbad55?userPreferredType=stud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f348ae1-2c46-4a8e-a826-c29293cbad55?userPreferredType=stud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3c89e70-e1d3-4ff1-b505-28221493cb64?userPreferredType=read"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Polymorphism and Virtual Functions Part 1</a:t>
            </a:r>
          </a:p>
          <a:p>
            <a:r>
              <a:rPr lang="en-US" dirty="0"/>
              <a:t>MD Romael Haque</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CE93-AFEC-B7A1-67F4-BF3C8DD7AB1D}"/>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14CCB00D-F5D1-AF59-0667-30234F01A5E0}"/>
              </a:ext>
            </a:extLst>
          </p:cNvPr>
          <p:cNvSpPr>
            <a:spLocks noGrp="1"/>
          </p:cNvSpPr>
          <p:nvPr>
            <p:ph idx="1"/>
          </p:nvPr>
        </p:nvSpPr>
        <p:spPr/>
        <p:txBody>
          <a:bodyPr/>
          <a:lstStyle/>
          <a:p>
            <a:r>
              <a:rPr lang="en-US" dirty="0"/>
              <a:t>A piece of code is said to be</a:t>
            </a:r>
            <a:r>
              <a:rPr lang="en-US" b="1" dirty="0"/>
              <a:t> </a:t>
            </a:r>
            <a:r>
              <a:rPr lang="en-US" b="1" dirty="0">
                <a:hlinkClick r:id="rId2">
                  <a:extLst>
                    <a:ext uri="{A12FA001-AC4F-418D-AE19-62706E023703}">
                      <ahyp:hlinkClr xmlns:ahyp="http://schemas.microsoft.com/office/drawing/2018/hyperlinkcolor" val="tx"/>
                    </a:ext>
                  </a:extLst>
                </a:hlinkClick>
              </a:rPr>
              <a:t>polymorphic</a:t>
            </a:r>
            <a:r>
              <a:rPr lang="en-US" b="1" dirty="0"/>
              <a:t> </a:t>
            </a:r>
            <a:r>
              <a:rPr lang="en-US" dirty="0"/>
              <a:t>if executing the code with different types of data produces different behavior. </a:t>
            </a:r>
          </a:p>
          <a:p>
            <a:r>
              <a:rPr lang="en-US" dirty="0"/>
              <a:t>For example, a function would be called polymorphic if it executes differently when it is passed different types of parameters.</a:t>
            </a:r>
          </a:p>
        </p:txBody>
      </p:sp>
    </p:spTree>
    <p:extLst>
      <p:ext uri="{BB962C8B-B14F-4D97-AF65-F5344CB8AC3E}">
        <p14:creationId xmlns:p14="http://schemas.microsoft.com/office/powerpoint/2010/main" val="3348572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4C9BD-7D90-1C93-9446-F8AB50BC0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C1716-0FFD-ED74-2308-9CFB6232C059}"/>
              </a:ext>
            </a:extLst>
          </p:cNvPr>
          <p:cNvSpPr>
            <a:spLocks noGrp="1"/>
          </p:cNvSpPr>
          <p:nvPr>
            <p:ph type="title"/>
          </p:nvPr>
        </p:nvSpPr>
        <p:spPr>
          <a:xfrm>
            <a:off x="838200" y="365125"/>
            <a:ext cx="5710646" cy="1325563"/>
          </a:xfrm>
        </p:spPr>
        <p:txBody>
          <a:bodyPr>
            <a:normAutofit fontScale="90000"/>
          </a:bodyPr>
          <a:lstStyle/>
          <a:p>
            <a:r>
              <a:rPr lang="en-US" dirty="0"/>
              <a:t>Polymorphism and Virtual Member Functions</a:t>
            </a:r>
          </a:p>
        </p:txBody>
      </p:sp>
      <p:sp>
        <p:nvSpPr>
          <p:cNvPr id="3" name="Content Placeholder 2">
            <a:extLst>
              <a:ext uri="{FF2B5EF4-FFF2-40B4-BE49-F238E27FC236}">
                <a16:creationId xmlns:a16="http://schemas.microsoft.com/office/drawing/2014/main" id="{3892C564-CC0B-E058-EC10-89436DD2CC9B}"/>
              </a:ext>
            </a:extLst>
          </p:cNvPr>
          <p:cNvSpPr>
            <a:spLocks noGrp="1"/>
          </p:cNvSpPr>
          <p:nvPr>
            <p:ph idx="1"/>
          </p:nvPr>
        </p:nvSpPr>
        <p:spPr>
          <a:xfrm>
            <a:off x="838200" y="1825625"/>
            <a:ext cx="5397137" cy="4351338"/>
          </a:xfrm>
        </p:spPr>
        <p:txBody>
          <a:bodyPr>
            <a:normAutofit/>
          </a:bodyPr>
          <a:lstStyle/>
          <a:p>
            <a:r>
              <a:rPr lang="en-US" dirty="0"/>
              <a:t>To illustrate polymorphism, consider this program. </a:t>
            </a:r>
          </a:p>
          <a:p>
            <a:r>
              <a:rPr lang="en-US" dirty="0"/>
              <a:t>The program creates a vector of (pointers to) Person objects of type Student, Faculty, and </a:t>
            </a:r>
            <a:r>
              <a:rPr lang="en-US" dirty="0" err="1"/>
              <a:t>TFaculty</a:t>
            </a:r>
            <a:r>
              <a:rPr lang="en-US" dirty="0"/>
              <a:t>. </a:t>
            </a:r>
          </a:p>
          <a:p>
            <a:r>
              <a:rPr lang="en-US" dirty="0"/>
              <a:t>It then prints the names in all the objects using the same code.</a:t>
            </a:r>
          </a:p>
        </p:txBody>
      </p:sp>
      <p:pic>
        <p:nvPicPr>
          <p:cNvPr id="4" name="Picture 3">
            <a:extLst>
              <a:ext uri="{FF2B5EF4-FFF2-40B4-BE49-F238E27FC236}">
                <a16:creationId xmlns:a16="http://schemas.microsoft.com/office/drawing/2014/main" id="{C20F6477-F492-2BE3-9931-B0BD8F831E5E}"/>
              </a:ext>
            </a:extLst>
          </p:cNvPr>
          <p:cNvPicPr>
            <a:picLocks noChangeAspect="1"/>
          </p:cNvPicPr>
          <p:nvPr/>
        </p:nvPicPr>
        <p:blipFill>
          <a:blip r:embed="rId2"/>
          <a:stretch>
            <a:fillRect/>
          </a:stretch>
        </p:blipFill>
        <p:spPr>
          <a:xfrm>
            <a:off x="7517827" y="0"/>
            <a:ext cx="3914197" cy="6858000"/>
          </a:xfrm>
          <a:prstGeom prst="rect">
            <a:avLst/>
          </a:prstGeom>
        </p:spPr>
      </p:pic>
    </p:spTree>
    <p:extLst>
      <p:ext uri="{BB962C8B-B14F-4D97-AF65-F5344CB8AC3E}">
        <p14:creationId xmlns:p14="http://schemas.microsoft.com/office/powerpoint/2010/main" val="981577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35C3-CA86-3167-30DE-330143154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F340B-5902-4996-3D72-D04D73395F46}"/>
              </a:ext>
            </a:extLst>
          </p:cNvPr>
          <p:cNvSpPr>
            <a:spLocks noGrp="1"/>
          </p:cNvSpPr>
          <p:nvPr>
            <p:ph type="title"/>
          </p:nvPr>
        </p:nvSpPr>
        <p:spPr>
          <a:xfrm>
            <a:off x="838200" y="365125"/>
            <a:ext cx="5710646" cy="1325563"/>
          </a:xfrm>
        </p:spPr>
        <p:txBody>
          <a:bodyPr>
            <a:normAutofit fontScale="90000"/>
          </a:bodyPr>
          <a:lstStyle/>
          <a:p>
            <a:r>
              <a:rPr lang="en-US" dirty="0"/>
              <a:t>Polymorphism and Virtual Member Functions</a:t>
            </a:r>
          </a:p>
        </p:txBody>
      </p:sp>
      <p:sp>
        <p:nvSpPr>
          <p:cNvPr id="3" name="Content Placeholder 2">
            <a:extLst>
              <a:ext uri="{FF2B5EF4-FFF2-40B4-BE49-F238E27FC236}">
                <a16:creationId xmlns:a16="http://schemas.microsoft.com/office/drawing/2014/main" id="{54CE9969-55F0-A2BF-8957-9BBEF7128A6C}"/>
              </a:ext>
            </a:extLst>
          </p:cNvPr>
          <p:cNvSpPr>
            <a:spLocks noGrp="1"/>
          </p:cNvSpPr>
          <p:nvPr>
            <p:ph idx="1"/>
          </p:nvPr>
        </p:nvSpPr>
        <p:spPr>
          <a:xfrm>
            <a:off x="838200" y="1825625"/>
            <a:ext cx="5867400" cy="4351338"/>
          </a:xfrm>
        </p:spPr>
        <p:txBody>
          <a:bodyPr>
            <a:normAutofit fontScale="92500" lnSpcReduction="10000"/>
          </a:bodyPr>
          <a:lstStyle/>
          <a:p>
            <a:r>
              <a:rPr lang="en-US" dirty="0"/>
              <a:t>Notice that the program calls the Person version of the </a:t>
            </a:r>
            <a:r>
              <a:rPr lang="en-US" i="1" dirty="0" err="1">
                <a:solidFill>
                  <a:srgbClr val="FF0000"/>
                </a:solidFill>
              </a:rPr>
              <a:t>getName</a:t>
            </a:r>
            <a:r>
              <a:rPr lang="en-US" dirty="0"/>
              <a:t> function for all objects in the array, even though the </a:t>
            </a:r>
            <a:r>
              <a:rPr lang="en-US" i="1" dirty="0" err="1">
                <a:solidFill>
                  <a:srgbClr val="FF0000"/>
                </a:solidFill>
              </a:rPr>
              <a:t>TFaculty</a:t>
            </a:r>
            <a:r>
              <a:rPr lang="en-US" dirty="0"/>
              <a:t> objects have their own, more specialized version. </a:t>
            </a:r>
          </a:p>
          <a:p>
            <a:r>
              <a:rPr lang="en-US" dirty="0"/>
              <a:t>This code is obviously not polymorphic, for it executes the same member function for each object, regardless of its type. </a:t>
            </a:r>
          </a:p>
          <a:p>
            <a:r>
              <a:rPr lang="en-US" dirty="0"/>
              <a:t>In other words, it does not behave differently for different types of objects.</a:t>
            </a:r>
          </a:p>
        </p:txBody>
      </p:sp>
      <p:pic>
        <p:nvPicPr>
          <p:cNvPr id="4" name="Picture 3">
            <a:extLst>
              <a:ext uri="{FF2B5EF4-FFF2-40B4-BE49-F238E27FC236}">
                <a16:creationId xmlns:a16="http://schemas.microsoft.com/office/drawing/2014/main" id="{78155A79-ACA0-B1E3-2C37-86CFD2C4A470}"/>
              </a:ext>
            </a:extLst>
          </p:cNvPr>
          <p:cNvPicPr>
            <a:picLocks noChangeAspect="1"/>
          </p:cNvPicPr>
          <p:nvPr/>
        </p:nvPicPr>
        <p:blipFill>
          <a:blip r:embed="rId2"/>
          <a:stretch>
            <a:fillRect/>
          </a:stretch>
        </p:blipFill>
        <p:spPr>
          <a:xfrm>
            <a:off x="7517827" y="0"/>
            <a:ext cx="3914197" cy="6858000"/>
          </a:xfrm>
          <a:prstGeom prst="rect">
            <a:avLst/>
          </a:prstGeom>
        </p:spPr>
      </p:pic>
    </p:spTree>
    <p:extLst>
      <p:ext uri="{BB962C8B-B14F-4D97-AF65-F5344CB8AC3E}">
        <p14:creationId xmlns:p14="http://schemas.microsoft.com/office/powerpoint/2010/main" val="2079457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76AC3-CC27-05AC-C008-5FEAB8F0F1DF}"/>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75549D94-5FD6-0A8F-C79B-20CB3FDD187C}"/>
              </a:ext>
            </a:extLst>
          </p:cNvPr>
          <p:cNvSpPr>
            <a:spLocks noGrp="1"/>
          </p:cNvSpPr>
          <p:nvPr>
            <p:ph idx="1"/>
          </p:nvPr>
        </p:nvSpPr>
        <p:spPr>
          <a:xfrm>
            <a:off x="838200" y="1825625"/>
            <a:ext cx="10515600" cy="4766764"/>
          </a:xfrm>
        </p:spPr>
        <p:txBody>
          <a:bodyPr>
            <a:normAutofit/>
          </a:bodyPr>
          <a:lstStyle/>
          <a:p>
            <a:pPr algn="l"/>
            <a:r>
              <a:rPr lang="en-US" dirty="0">
                <a:effectLst/>
              </a:rPr>
              <a:t>To better understand what is happening, we need to take a closer look at each of the five calls </a:t>
            </a:r>
            <a:r>
              <a:rPr lang="en-US" dirty="0"/>
              <a:t>used to retrieve the name to be printed</a:t>
            </a:r>
            <a:r>
              <a:rPr lang="en-US" dirty="0">
                <a:effectLst/>
              </a:rPr>
              <a:t>: </a:t>
            </a:r>
            <a:r>
              <a:rPr lang="en-US" i="1" dirty="0">
                <a:solidFill>
                  <a:srgbClr val="FF0000"/>
                </a:solidFill>
              </a:rPr>
              <a:t>people[k]−&gt;</a:t>
            </a:r>
            <a:r>
              <a:rPr lang="en-US" i="1" dirty="0" err="1">
                <a:solidFill>
                  <a:srgbClr val="FF0000"/>
                </a:solidFill>
                <a:effectLst/>
              </a:rPr>
              <a:t>getName</a:t>
            </a:r>
            <a:r>
              <a:rPr lang="en-US" i="1" dirty="0">
                <a:solidFill>
                  <a:srgbClr val="FF0000"/>
                </a:solidFill>
              </a:rPr>
              <a:t>() </a:t>
            </a:r>
          </a:p>
          <a:p>
            <a:r>
              <a:rPr lang="en-US" dirty="0">
                <a:effectLst/>
              </a:rPr>
              <a:t>In each of these calls, a pointer </a:t>
            </a:r>
            <a:r>
              <a:rPr lang="en-US" i="1" dirty="0">
                <a:solidFill>
                  <a:srgbClr val="FF0000"/>
                </a:solidFill>
                <a:effectLst/>
              </a:rPr>
              <a:t>people[k] </a:t>
            </a:r>
            <a:r>
              <a:rPr lang="en-US" dirty="0">
                <a:effectLst/>
              </a:rPr>
              <a:t>to the base class Person is used to invoke the </a:t>
            </a:r>
            <a:r>
              <a:rPr lang="en-US" i="1" dirty="0" err="1">
                <a:solidFill>
                  <a:srgbClr val="FF0000"/>
                </a:solidFill>
                <a:effectLst/>
              </a:rPr>
              <a:t>getName</a:t>
            </a:r>
            <a:r>
              <a:rPr lang="en-US" dirty="0">
                <a:effectLst/>
              </a:rPr>
              <a:t> function in objects of different derived classes. </a:t>
            </a:r>
          </a:p>
          <a:p>
            <a:r>
              <a:rPr lang="en-US" dirty="0">
                <a:effectLst/>
              </a:rPr>
              <a:t>Some of these classes, like </a:t>
            </a:r>
            <a:r>
              <a:rPr lang="en-US" i="1" dirty="0" err="1">
                <a:solidFill>
                  <a:srgbClr val="FF0000"/>
                </a:solidFill>
                <a:effectLst/>
              </a:rPr>
              <a:t>TFaculty</a:t>
            </a:r>
            <a:r>
              <a:rPr lang="en-US" dirty="0">
                <a:effectLst/>
              </a:rPr>
              <a:t>, override </a:t>
            </a:r>
            <a:r>
              <a:rPr lang="en-US" i="1" dirty="0" err="1">
                <a:solidFill>
                  <a:srgbClr val="FF0000"/>
                </a:solidFill>
                <a:effectLst/>
              </a:rPr>
              <a:t>getName</a:t>
            </a:r>
            <a:r>
              <a:rPr lang="en-US" dirty="0">
                <a:effectLst/>
              </a:rPr>
              <a:t> to provide a more specialized version of that function. </a:t>
            </a:r>
          </a:p>
          <a:p>
            <a:pPr algn="l"/>
            <a:endParaRPr lang="en-US" i="1" dirty="0">
              <a:solidFill>
                <a:srgbClr val="FF0000"/>
              </a:solidFill>
            </a:endParaRPr>
          </a:p>
          <a:p>
            <a:pPr algn="l"/>
            <a:endParaRPr lang="en-US" i="1" dirty="0">
              <a:solidFill>
                <a:srgbClr val="FF0000"/>
              </a:solidFill>
            </a:endParaRPr>
          </a:p>
          <a:p>
            <a:endParaRPr lang="en-US" dirty="0"/>
          </a:p>
        </p:txBody>
      </p:sp>
    </p:spTree>
    <p:extLst>
      <p:ext uri="{BB962C8B-B14F-4D97-AF65-F5344CB8AC3E}">
        <p14:creationId xmlns:p14="http://schemas.microsoft.com/office/powerpoint/2010/main" val="126048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0DA50-25EB-786C-BA01-E673255A0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4F37E-6431-6946-6D57-E36A051F24ED}"/>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463B1D37-B229-B2EA-86F8-F020ED5B5593}"/>
              </a:ext>
            </a:extLst>
          </p:cNvPr>
          <p:cNvSpPr>
            <a:spLocks noGrp="1"/>
          </p:cNvSpPr>
          <p:nvPr>
            <p:ph idx="1"/>
          </p:nvPr>
        </p:nvSpPr>
        <p:spPr>
          <a:xfrm>
            <a:off x="838200" y="1825625"/>
            <a:ext cx="10515600" cy="4766764"/>
          </a:xfrm>
        </p:spPr>
        <p:txBody>
          <a:bodyPr>
            <a:normAutofit/>
          </a:bodyPr>
          <a:lstStyle/>
          <a:p>
            <a:r>
              <a:rPr lang="en-US" dirty="0">
                <a:effectLst/>
              </a:rPr>
              <a:t>When people[k] is pointing to a </a:t>
            </a:r>
            <a:r>
              <a:rPr lang="en-US" i="1" dirty="0" err="1">
                <a:solidFill>
                  <a:srgbClr val="FF0000"/>
                </a:solidFill>
                <a:effectLst/>
              </a:rPr>
              <a:t>TFaculty</a:t>
            </a:r>
            <a:r>
              <a:rPr lang="en-US" dirty="0">
                <a:effectLst/>
              </a:rPr>
              <a:t> object, the compiler must choose between the </a:t>
            </a:r>
            <a:r>
              <a:rPr lang="en-US" dirty="0" err="1">
                <a:effectLst/>
              </a:rPr>
              <a:t>getName</a:t>
            </a:r>
            <a:r>
              <a:rPr lang="en-US" dirty="0">
                <a:effectLst/>
              </a:rPr>
              <a:t> defined in Person, the class of the pointer, and the </a:t>
            </a:r>
            <a:r>
              <a:rPr lang="en-US" i="1" dirty="0" err="1">
                <a:solidFill>
                  <a:srgbClr val="FF0000"/>
                </a:solidFill>
                <a:effectLst/>
              </a:rPr>
              <a:t>getName</a:t>
            </a:r>
            <a:r>
              <a:rPr lang="en-US" dirty="0">
                <a:effectLst/>
              </a:rPr>
              <a:t> defined in </a:t>
            </a:r>
            <a:r>
              <a:rPr lang="en-US" i="1" dirty="0" err="1">
                <a:solidFill>
                  <a:srgbClr val="FF0000"/>
                </a:solidFill>
                <a:effectLst/>
              </a:rPr>
              <a:t>TFaculty</a:t>
            </a:r>
            <a:r>
              <a:rPr lang="en-US" dirty="0">
                <a:effectLst/>
              </a:rPr>
              <a:t>, the class that the object actually belongs to.</a:t>
            </a:r>
          </a:p>
          <a:p>
            <a:r>
              <a:rPr lang="en-US" dirty="0">
                <a:effectLst/>
              </a:rPr>
              <a:t>The default C++ behavior is to use the class type of the pointer rather than that of the object to determine which version of an overridden function to call.</a:t>
            </a:r>
          </a:p>
          <a:p>
            <a:pPr algn="l"/>
            <a:endParaRPr lang="en-US" i="1" dirty="0">
              <a:solidFill>
                <a:srgbClr val="FF0000"/>
              </a:solidFill>
            </a:endParaRPr>
          </a:p>
          <a:p>
            <a:pPr algn="l"/>
            <a:endParaRPr lang="en-US" i="1" dirty="0">
              <a:solidFill>
                <a:srgbClr val="FF0000"/>
              </a:solidFill>
            </a:endParaRPr>
          </a:p>
          <a:p>
            <a:endParaRPr lang="en-US" dirty="0"/>
          </a:p>
        </p:txBody>
      </p:sp>
    </p:spTree>
    <p:extLst>
      <p:ext uri="{BB962C8B-B14F-4D97-AF65-F5344CB8AC3E}">
        <p14:creationId xmlns:p14="http://schemas.microsoft.com/office/powerpoint/2010/main" val="2470115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D8E5-D3EE-55AF-BED4-A1C1D355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2143B-DB21-DD58-F25B-6B72C9A99E53}"/>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F2E92F94-642D-41F3-8377-A88BDF9344F4}"/>
              </a:ext>
            </a:extLst>
          </p:cNvPr>
          <p:cNvSpPr>
            <a:spLocks noGrp="1"/>
          </p:cNvSpPr>
          <p:nvPr>
            <p:ph idx="1"/>
          </p:nvPr>
        </p:nvSpPr>
        <p:spPr>
          <a:xfrm>
            <a:off x="838200" y="1825625"/>
            <a:ext cx="5606143" cy="4766764"/>
          </a:xfrm>
        </p:spPr>
        <p:txBody>
          <a:bodyPr>
            <a:normAutofit/>
          </a:bodyPr>
          <a:lstStyle/>
          <a:p>
            <a:r>
              <a:rPr lang="en-US" dirty="0"/>
              <a:t>The scenario of invoking a member function of a derived class object through a base class pointer is a common occurrence in object-oriented programming. </a:t>
            </a:r>
          </a:p>
          <a:p>
            <a:r>
              <a:rPr lang="en-US" dirty="0"/>
              <a:t>Let us say that we have a base class B with a member function </a:t>
            </a:r>
            <a:r>
              <a:rPr lang="en-US" dirty="0" err="1">
                <a:solidFill>
                  <a:srgbClr val="FF0000"/>
                </a:solidFill>
              </a:rPr>
              <a:t>mfun</a:t>
            </a:r>
            <a:r>
              <a:rPr lang="en-US" dirty="0">
                <a:solidFill>
                  <a:srgbClr val="FF0000"/>
                </a:solidFill>
              </a:rPr>
              <a:t>() </a:t>
            </a:r>
            <a:r>
              <a:rPr lang="en-US" dirty="0"/>
              <a:t>and a base class pointer </a:t>
            </a:r>
            <a:r>
              <a:rPr lang="en-US" dirty="0" err="1">
                <a:solidFill>
                  <a:srgbClr val="FF0000"/>
                </a:solidFill>
              </a:rPr>
              <a:t>ptr</a:t>
            </a:r>
            <a:r>
              <a:rPr lang="en-US" dirty="0"/>
              <a:t> that is pointing to an object of a derived class D.</a:t>
            </a:r>
            <a:endParaRPr lang="en-US" i="1" dirty="0">
              <a:solidFill>
                <a:srgbClr val="FF0000"/>
              </a:solidFill>
            </a:endParaRPr>
          </a:p>
          <a:p>
            <a:pPr algn="l"/>
            <a:endParaRPr lang="en-US" i="1" dirty="0">
              <a:solidFill>
                <a:srgbClr val="FF0000"/>
              </a:solidFill>
            </a:endParaRPr>
          </a:p>
          <a:p>
            <a:endParaRPr lang="en-US" dirty="0"/>
          </a:p>
        </p:txBody>
      </p:sp>
      <p:pic>
        <p:nvPicPr>
          <p:cNvPr id="4" name="Picture 3">
            <a:extLst>
              <a:ext uri="{FF2B5EF4-FFF2-40B4-BE49-F238E27FC236}">
                <a16:creationId xmlns:a16="http://schemas.microsoft.com/office/drawing/2014/main" id="{D84B7B07-A984-D419-984F-B7C71ED0E56E}"/>
              </a:ext>
            </a:extLst>
          </p:cNvPr>
          <p:cNvPicPr>
            <a:picLocks noChangeAspect="1"/>
          </p:cNvPicPr>
          <p:nvPr/>
        </p:nvPicPr>
        <p:blipFill>
          <a:blip r:embed="rId2"/>
          <a:stretch>
            <a:fillRect/>
          </a:stretch>
        </p:blipFill>
        <p:spPr>
          <a:xfrm>
            <a:off x="7257741" y="1690688"/>
            <a:ext cx="3898900" cy="4584700"/>
          </a:xfrm>
          <a:prstGeom prst="rect">
            <a:avLst/>
          </a:prstGeom>
        </p:spPr>
      </p:pic>
    </p:spTree>
    <p:extLst>
      <p:ext uri="{BB962C8B-B14F-4D97-AF65-F5344CB8AC3E}">
        <p14:creationId xmlns:p14="http://schemas.microsoft.com/office/powerpoint/2010/main" val="385629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0C5D-F7B6-490D-6583-A54D35EAC485}"/>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A8560D43-4F62-5DD5-5693-FF40AC135632}"/>
              </a:ext>
            </a:extLst>
          </p:cNvPr>
          <p:cNvSpPr>
            <a:spLocks noGrp="1"/>
          </p:cNvSpPr>
          <p:nvPr>
            <p:ph idx="1"/>
          </p:nvPr>
        </p:nvSpPr>
        <p:spPr/>
        <p:txBody>
          <a:bodyPr/>
          <a:lstStyle/>
          <a:p>
            <a:pPr algn="l"/>
            <a:r>
              <a:rPr lang="en-US" dirty="0">
                <a:effectLst/>
              </a:rPr>
              <a:t>We want to tell the compiler that whenever we write</a:t>
            </a:r>
          </a:p>
          <a:p>
            <a:pPr lvl="1"/>
            <a:r>
              <a:rPr lang="en-US" i="1" dirty="0" err="1">
                <a:solidFill>
                  <a:srgbClr val="FF0000"/>
                </a:solidFill>
              </a:rPr>
              <a:t>ptr</a:t>
            </a:r>
            <a:r>
              <a:rPr lang="en-US" i="1" dirty="0">
                <a:solidFill>
                  <a:srgbClr val="FF0000"/>
                </a:solidFill>
              </a:rPr>
              <a:t>−&gt;</a:t>
            </a:r>
            <a:r>
              <a:rPr lang="en-US" i="1" dirty="0" err="1">
                <a:solidFill>
                  <a:srgbClr val="FF0000"/>
                </a:solidFill>
                <a:effectLst/>
              </a:rPr>
              <a:t>mfun</a:t>
            </a:r>
            <a:r>
              <a:rPr lang="en-US" i="1" dirty="0">
                <a:solidFill>
                  <a:srgbClr val="FF0000"/>
                </a:solidFill>
              </a:rPr>
              <a:t>() </a:t>
            </a:r>
          </a:p>
          <a:p>
            <a:pPr algn="l"/>
            <a:r>
              <a:rPr lang="en-US" dirty="0">
                <a:effectLst/>
              </a:rPr>
              <a:t>the compiler should select the more specialized version of </a:t>
            </a:r>
            <a:r>
              <a:rPr lang="en-US" dirty="0" err="1">
                <a:solidFill>
                  <a:srgbClr val="FF0000"/>
                </a:solidFill>
                <a:effectLst/>
              </a:rPr>
              <a:t>mfun</a:t>
            </a:r>
            <a:r>
              <a:rPr lang="en-US" dirty="0">
                <a:solidFill>
                  <a:srgbClr val="FF0000"/>
                </a:solidFill>
                <a:effectLst/>
              </a:rPr>
              <a:t>() </a:t>
            </a:r>
            <a:r>
              <a:rPr lang="en-US" dirty="0">
                <a:effectLst/>
              </a:rPr>
              <a:t>in the derived class. </a:t>
            </a:r>
          </a:p>
          <a:p>
            <a:pPr algn="l"/>
            <a:r>
              <a:rPr lang="en-US" dirty="0">
                <a:effectLst/>
              </a:rPr>
              <a:t>We can do this in C++ by declaring </a:t>
            </a:r>
            <a:r>
              <a:rPr lang="en-US" dirty="0" err="1">
                <a:solidFill>
                  <a:srgbClr val="FF0000"/>
                </a:solidFill>
                <a:effectLst/>
              </a:rPr>
              <a:t>mfun</a:t>
            </a:r>
            <a:r>
              <a:rPr lang="en-US" dirty="0">
                <a:solidFill>
                  <a:srgbClr val="FF0000"/>
                </a:solidFill>
                <a:effectLst/>
              </a:rPr>
              <a:t>() </a:t>
            </a:r>
            <a:r>
              <a:rPr lang="en-US" dirty="0">
                <a:effectLst/>
              </a:rPr>
              <a:t>to be a </a:t>
            </a:r>
            <a:r>
              <a:rPr lang="en-US" b="1" dirty="0">
                <a:effectLst/>
                <a:hlinkClick r:id="rId2"/>
              </a:rPr>
              <a:t>virtual</a:t>
            </a:r>
            <a:r>
              <a:rPr lang="en-US" dirty="0">
                <a:effectLst/>
              </a:rPr>
              <a:t> function in the base class. </a:t>
            </a:r>
          </a:p>
          <a:p>
            <a:pPr algn="l"/>
            <a:r>
              <a:rPr lang="en-US" dirty="0">
                <a:effectLst/>
              </a:rPr>
              <a:t>Virtual functions are used in C++ to support polymorphic behavior. </a:t>
            </a:r>
          </a:p>
          <a:p>
            <a:endParaRPr lang="en-US" dirty="0"/>
          </a:p>
        </p:txBody>
      </p:sp>
    </p:spTree>
    <p:extLst>
      <p:ext uri="{BB962C8B-B14F-4D97-AF65-F5344CB8AC3E}">
        <p14:creationId xmlns:p14="http://schemas.microsoft.com/office/powerpoint/2010/main" val="477389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34C8A-52CF-732C-4798-EB6146290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D7E18-DFB1-37A8-90F0-A8B62094034A}"/>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86DEDF61-8A3F-0461-686F-A9582AFBCA38}"/>
              </a:ext>
            </a:extLst>
          </p:cNvPr>
          <p:cNvSpPr>
            <a:spLocks noGrp="1"/>
          </p:cNvSpPr>
          <p:nvPr>
            <p:ph idx="1"/>
          </p:nvPr>
        </p:nvSpPr>
        <p:spPr/>
        <p:txBody>
          <a:bodyPr/>
          <a:lstStyle/>
          <a:p>
            <a:pPr algn="l"/>
            <a:r>
              <a:rPr lang="en-US" dirty="0"/>
              <a:t>Thus, to achieve polymorphic behavior for </a:t>
            </a:r>
            <a:r>
              <a:rPr lang="en-US" dirty="0" err="1"/>
              <a:t>mfun</a:t>
            </a:r>
            <a:r>
              <a:rPr lang="en-US" dirty="0"/>
              <a:t>() in the class B and all of its derived classes, we must modify the definition of B as follows:</a:t>
            </a:r>
          </a:p>
        </p:txBody>
      </p:sp>
      <p:pic>
        <p:nvPicPr>
          <p:cNvPr id="4" name="Picture 3">
            <a:extLst>
              <a:ext uri="{FF2B5EF4-FFF2-40B4-BE49-F238E27FC236}">
                <a16:creationId xmlns:a16="http://schemas.microsoft.com/office/drawing/2014/main" id="{F062BEDC-8371-66BD-8874-CB2360F9684B}"/>
              </a:ext>
            </a:extLst>
          </p:cNvPr>
          <p:cNvPicPr>
            <a:picLocks noChangeAspect="1"/>
          </p:cNvPicPr>
          <p:nvPr/>
        </p:nvPicPr>
        <p:blipFill>
          <a:blip r:embed="rId2"/>
          <a:stretch>
            <a:fillRect/>
          </a:stretch>
        </p:blipFill>
        <p:spPr>
          <a:xfrm>
            <a:off x="4337050" y="3055439"/>
            <a:ext cx="3517900" cy="2349500"/>
          </a:xfrm>
          <a:prstGeom prst="rect">
            <a:avLst/>
          </a:prstGeom>
        </p:spPr>
      </p:pic>
    </p:spTree>
    <p:extLst>
      <p:ext uri="{BB962C8B-B14F-4D97-AF65-F5344CB8AC3E}">
        <p14:creationId xmlns:p14="http://schemas.microsoft.com/office/powerpoint/2010/main" val="311357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2CDF-21AC-8080-5250-970F61F1E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B0772-4C38-4DFA-BF2A-A6384ACCD928}"/>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77BDF6F0-0BE1-9481-DA05-C7A5E3D187E2}"/>
              </a:ext>
            </a:extLst>
          </p:cNvPr>
          <p:cNvSpPr>
            <a:spLocks noGrp="1"/>
          </p:cNvSpPr>
          <p:nvPr>
            <p:ph idx="1"/>
          </p:nvPr>
        </p:nvSpPr>
        <p:spPr/>
        <p:txBody>
          <a:bodyPr/>
          <a:lstStyle/>
          <a:p>
            <a:pPr algn="l"/>
            <a:r>
              <a:rPr lang="en-US" dirty="0"/>
              <a:t>The virtual characteristic is inherited: That is, if a member function of a derived class overrides a virtual function in the base class, then that member function is automatically virtual itself. </a:t>
            </a:r>
          </a:p>
          <a:p>
            <a:pPr algn="l"/>
            <a:r>
              <a:rPr lang="en-US" dirty="0"/>
              <a:t>Thus, the declaration of </a:t>
            </a:r>
            <a:r>
              <a:rPr lang="en-US" dirty="0" err="1"/>
              <a:t>mfun</a:t>
            </a:r>
            <a:r>
              <a:rPr lang="en-US" dirty="0"/>
              <a:t> as virtual in B makes </a:t>
            </a:r>
            <a:r>
              <a:rPr lang="en-US" dirty="0" err="1"/>
              <a:t>mfun</a:t>
            </a:r>
            <a:r>
              <a:rPr lang="en-US" dirty="0"/>
              <a:t> virtual in D and in all classes derived from D.</a:t>
            </a:r>
          </a:p>
          <a:p>
            <a:pPr algn="l"/>
            <a:r>
              <a:rPr lang="en-US" dirty="0"/>
              <a:t>In our example, the virtual function has been defined inside the class declaration. </a:t>
            </a:r>
          </a:p>
          <a:p>
            <a:pPr algn="l"/>
            <a:r>
              <a:rPr lang="en-US" dirty="0">
                <a:solidFill>
                  <a:srgbClr val="FF0000"/>
                </a:solidFill>
              </a:rPr>
              <a:t>If a virtual member function is defined outside of the class declaration, the virtual key word goes on its declaration inside the class but not on the definition.</a:t>
            </a:r>
          </a:p>
        </p:txBody>
      </p:sp>
    </p:spTree>
    <p:extLst>
      <p:ext uri="{BB962C8B-B14F-4D97-AF65-F5344CB8AC3E}">
        <p14:creationId xmlns:p14="http://schemas.microsoft.com/office/powerpoint/2010/main" val="205236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904D3-3155-6C36-14A3-E383CCFA7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33935-44EC-6C0B-A3C7-D3BBF94D768C}"/>
              </a:ext>
            </a:extLst>
          </p:cNvPr>
          <p:cNvSpPr>
            <a:spLocks noGrp="1"/>
          </p:cNvSpPr>
          <p:nvPr>
            <p:ph type="title"/>
          </p:nvPr>
        </p:nvSpPr>
        <p:spPr/>
        <p:txBody>
          <a:bodyPr/>
          <a:lstStyle/>
          <a:p>
            <a:r>
              <a:rPr lang="en-US" dirty="0"/>
              <a:t>Polymorphism and Virtual Member Functions</a:t>
            </a:r>
          </a:p>
        </p:txBody>
      </p:sp>
      <p:sp>
        <p:nvSpPr>
          <p:cNvPr id="3" name="Content Placeholder 2">
            <a:extLst>
              <a:ext uri="{FF2B5EF4-FFF2-40B4-BE49-F238E27FC236}">
                <a16:creationId xmlns:a16="http://schemas.microsoft.com/office/drawing/2014/main" id="{CA9ED19E-9E5C-C382-1A7F-B4A7936A2E56}"/>
              </a:ext>
            </a:extLst>
          </p:cNvPr>
          <p:cNvSpPr>
            <a:spLocks noGrp="1"/>
          </p:cNvSpPr>
          <p:nvPr>
            <p:ph idx="1"/>
          </p:nvPr>
        </p:nvSpPr>
        <p:spPr/>
        <p:txBody>
          <a:bodyPr/>
          <a:lstStyle/>
          <a:p>
            <a:pPr algn="l"/>
            <a:r>
              <a:rPr lang="en-US" dirty="0"/>
              <a:t>Although it is not necessary, many programmers tag all virtual functions with the key word virtual to make it easer to identify them. </a:t>
            </a:r>
          </a:p>
          <a:p>
            <a:pPr algn="l"/>
            <a:r>
              <a:rPr lang="en-US" dirty="0"/>
              <a:t>This is good practice, and accordingly, the definition of D should be written as follows:</a:t>
            </a:r>
          </a:p>
        </p:txBody>
      </p:sp>
      <p:pic>
        <p:nvPicPr>
          <p:cNvPr id="4" name="Picture 3">
            <a:extLst>
              <a:ext uri="{FF2B5EF4-FFF2-40B4-BE49-F238E27FC236}">
                <a16:creationId xmlns:a16="http://schemas.microsoft.com/office/drawing/2014/main" id="{107AA3A5-5E25-6252-4006-7304557E3172}"/>
              </a:ext>
            </a:extLst>
          </p:cNvPr>
          <p:cNvPicPr>
            <a:picLocks noChangeAspect="1"/>
          </p:cNvPicPr>
          <p:nvPr/>
        </p:nvPicPr>
        <p:blipFill>
          <a:blip r:embed="rId2"/>
          <a:stretch>
            <a:fillRect/>
          </a:stretch>
        </p:blipFill>
        <p:spPr>
          <a:xfrm>
            <a:off x="4032250" y="4089400"/>
            <a:ext cx="4127500" cy="2222500"/>
          </a:xfrm>
          <a:prstGeom prst="rect">
            <a:avLst/>
          </a:prstGeom>
        </p:spPr>
      </p:pic>
    </p:spTree>
    <p:extLst>
      <p:ext uri="{BB962C8B-B14F-4D97-AF65-F5344CB8AC3E}">
        <p14:creationId xmlns:p14="http://schemas.microsoft.com/office/powerpoint/2010/main" val="3894320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13644-5E0F-A1A6-23D8-8F9F245DEBC9}"/>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4038A95C-81D6-55F8-886F-CB856B112FF8}"/>
              </a:ext>
            </a:extLst>
          </p:cNvPr>
          <p:cNvPicPr>
            <a:picLocks noChangeAspect="1"/>
          </p:cNvPicPr>
          <p:nvPr/>
        </p:nvPicPr>
        <p:blipFill>
          <a:blip r:embed="rId2"/>
          <a:stretch>
            <a:fillRect/>
          </a:stretch>
        </p:blipFill>
        <p:spPr>
          <a:xfrm>
            <a:off x="838200" y="1690688"/>
            <a:ext cx="5003758" cy="4562566"/>
          </a:xfrm>
          <a:prstGeom prst="rect">
            <a:avLst/>
          </a:prstGeom>
        </p:spPr>
      </p:pic>
      <p:pic>
        <p:nvPicPr>
          <p:cNvPr id="5" name="Picture 4">
            <a:extLst>
              <a:ext uri="{FF2B5EF4-FFF2-40B4-BE49-F238E27FC236}">
                <a16:creationId xmlns:a16="http://schemas.microsoft.com/office/drawing/2014/main" id="{40B47BA7-1378-3293-7A6E-DF2284FB8485}"/>
              </a:ext>
            </a:extLst>
          </p:cNvPr>
          <p:cNvPicPr>
            <a:picLocks noChangeAspect="1"/>
          </p:cNvPicPr>
          <p:nvPr/>
        </p:nvPicPr>
        <p:blipFill>
          <a:blip r:embed="rId3"/>
          <a:stretch>
            <a:fillRect/>
          </a:stretch>
        </p:blipFill>
        <p:spPr>
          <a:xfrm>
            <a:off x="6654453" y="1690688"/>
            <a:ext cx="5266661" cy="4448856"/>
          </a:xfrm>
          <a:prstGeom prst="rect">
            <a:avLst/>
          </a:prstGeom>
        </p:spPr>
      </p:pic>
    </p:spTree>
    <p:extLst>
      <p:ext uri="{BB962C8B-B14F-4D97-AF65-F5344CB8AC3E}">
        <p14:creationId xmlns:p14="http://schemas.microsoft.com/office/powerpoint/2010/main" val="114016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6FEA-FB3F-BD77-6140-B437EF477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26D94-EA84-93B3-8E25-BA0BF46BC370}"/>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F70944B0-2814-391D-7F00-29034D9923BD}"/>
              </a:ext>
            </a:extLst>
          </p:cNvPr>
          <p:cNvPicPr>
            <a:picLocks noChangeAspect="1"/>
          </p:cNvPicPr>
          <p:nvPr/>
        </p:nvPicPr>
        <p:blipFill>
          <a:blip r:embed="rId2"/>
          <a:stretch>
            <a:fillRect/>
          </a:stretch>
        </p:blipFill>
        <p:spPr>
          <a:xfrm>
            <a:off x="5347843" y="69908"/>
            <a:ext cx="4997940" cy="6788092"/>
          </a:xfrm>
          <a:prstGeom prst="rect">
            <a:avLst/>
          </a:prstGeom>
        </p:spPr>
      </p:pic>
      <p:pic>
        <p:nvPicPr>
          <p:cNvPr id="6" name="Picture 5">
            <a:extLst>
              <a:ext uri="{FF2B5EF4-FFF2-40B4-BE49-F238E27FC236}">
                <a16:creationId xmlns:a16="http://schemas.microsoft.com/office/drawing/2014/main" id="{1748A2B1-F2AD-1233-0230-FC1DC6709888}"/>
              </a:ext>
            </a:extLst>
          </p:cNvPr>
          <p:cNvPicPr>
            <a:picLocks noChangeAspect="1"/>
          </p:cNvPicPr>
          <p:nvPr/>
        </p:nvPicPr>
        <p:blipFill>
          <a:blip r:embed="rId3"/>
          <a:stretch>
            <a:fillRect/>
          </a:stretch>
        </p:blipFill>
        <p:spPr>
          <a:xfrm>
            <a:off x="1097280" y="2187604"/>
            <a:ext cx="3048000" cy="2552700"/>
          </a:xfrm>
          <a:prstGeom prst="rect">
            <a:avLst/>
          </a:prstGeom>
        </p:spPr>
      </p:pic>
    </p:spTree>
    <p:extLst>
      <p:ext uri="{BB962C8B-B14F-4D97-AF65-F5344CB8AC3E}">
        <p14:creationId xmlns:p14="http://schemas.microsoft.com/office/powerpoint/2010/main" val="115998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4D63-0D52-F0F0-EB74-3F5CE0FF2AB0}"/>
              </a:ext>
            </a:extLst>
          </p:cNvPr>
          <p:cNvSpPr>
            <a:spLocks noGrp="1"/>
          </p:cNvSpPr>
          <p:nvPr>
            <p:ph type="title"/>
          </p:nvPr>
        </p:nvSpPr>
        <p:spPr/>
        <p:txBody>
          <a:bodyPr/>
          <a:lstStyle/>
          <a:p>
            <a:r>
              <a:rPr lang="en-US" dirty="0"/>
              <a:t>Dynamic and Static Binding</a:t>
            </a:r>
          </a:p>
        </p:txBody>
      </p:sp>
      <p:sp>
        <p:nvSpPr>
          <p:cNvPr id="3" name="Content Placeholder 2">
            <a:extLst>
              <a:ext uri="{FF2B5EF4-FFF2-40B4-BE49-F238E27FC236}">
                <a16:creationId xmlns:a16="http://schemas.microsoft.com/office/drawing/2014/main" id="{29401183-954E-7E50-6FF9-B4A36A75C505}"/>
              </a:ext>
            </a:extLst>
          </p:cNvPr>
          <p:cNvSpPr>
            <a:spLocks noGrp="1"/>
          </p:cNvSpPr>
          <p:nvPr>
            <p:ph idx="1"/>
          </p:nvPr>
        </p:nvSpPr>
        <p:spPr/>
        <p:txBody>
          <a:bodyPr/>
          <a:lstStyle/>
          <a:p>
            <a:r>
              <a:rPr lang="en-US" dirty="0"/>
              <a:t>The compiler is said to </a:t>
            </a:r>
            <a:r>
              <a:rPr lang="en-US" b="1" dirty="0">
                <a:hlinkClick r:id="rId2">
                  <a:extLst>
                    <a:ext uri="{A12FA001-AC4F-418D-AE19-62706E023703}">
                      <ahyp:hlinkClr xmlns:ahyp="http://schemas.microsoft.com/office/drawing/2018/hyperlinkcolor" val="tx"/>
                    </a:ext>
                  </a:extLst>
                </a:hlinkClick>
              </a:rPr>
              <a:t>bind</a:t>
            </a:r>
            <a:r>
              <a:rPr lang="en-US" dirty="0"/>
              <a:t> the name of a function when it selects the code that should be executed when the function name is invoked. </a:t>
            </a:r>
          </a:p>
          <a:p>
            <a:r>
              <a:rPr lang="en-US" dirty="0"/>
              <a:t>In other words, the compiler binds the name to a function definition when the function is called.</a:t>
            </a:r>
          </a:p>
        </p:txBody>
      </p:sp>
    </p:spTree>
    <p:extLst>
      <p:ext uri="{BB962C8B-B14F-4D97-AF65-F5344CB8AC3E}">
        <p14:creationId xmlns:p14="http://schemas.microsoft.com/office/powerpoint/2010/main" val="3674200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F489D-DF12-5388-C53D-F2B2282A0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354BB-2400-8134-E5BA-6681A8F11478}"/>
              </a:ext>
            </a:extLst>
          </p:cNvPr>
          <p:cNvSpPr>
            <a:spLocks noGrp="1"/>
          </p:cNvSpPr>
          <p:nvPr>
            <p:ph type="title"/>
          </p:nvPr>
        </p:nvSpPr>
        <p:spPr/>
        <p:txBody>
          <a:bodyPr/>
          <a:lstStyle/>
          <a:p>
            <a:r>
              <a:rPr lang="en-US" dirty="0"/>
              <a:t>Dynamic and Static Binding</a:t>
            </a:r>
          </a:p>
        </p:txBody>
      </p:sp>
      <p:sp>
        <p:nvSpPr>
          <p:cNvPr id="3" name="Content Placeholder 2">
            <a:extLst>
              <a:ext uri="{FF2B5EF4-FFF2-40B4-BE49-F238E27FC236}">
                <a16:creationId xmlns:a16="http://schemas.microsoft.com/office/drawing/2014/main" id="{1CF888FA-7F8D-6A0D-2860-49C5B5F95B4F}"/>
              </a:ext>
            </a:extLst>
          </p:cNvPr>
          <p:cNvSpPr>
            <a:spLocks noGrp="1"/>
          </p:cNvSpPr>
          <p:nvPr>
            <p:ph idx="1"/>
          </p:nvPr>
        </p:nvSpPr>
        <p:spPr/>
        <p:txBody>
          <a:bodyPr>
            <a:normAutofit lnSpcReduction="10000"/>
          </a:bodyPr>
          <a:lstStyle/>
          <a:p>
            <a:r>
              <a:rPr lang="en-US" b="1" dirty="0">
                <a:hlinkClick r:id="rId2">
                  <a:extLst>
                    <a:ext uri="{A12FA001-AC4F-418D-AE19-62706E023703}">
                      <ahyp:hlinkClr xmlns:ahyp="http://schemas.microsoft.com/office/drawing/2018/hyperlinkcolor" val="tx"/>
                    </a:ext>
                  </a:extLst>
                </a:hlinkClick>
              </a:rPr>
              <a:t>Static binding</a:t>
            </a:r>
            <a:r>
              <a:rPr lang="en-US" b="1" dirty="0"/>
              <a:t> </a:t>
            </a:r>
            <a:r>
              <a:rPr lang="en-US" dirty="0"/>
              <a:t>happens at compile time and binds the name to a fixed function definition, which is then executed each time the name is invoked. </a:t>
            </a:r>
          </a:p>
          <a:p>
            <a:r>
              <a:rPr lang="en-US" dirty="0"/>
              <a:t>In static binding, the compiler uses type information available at compile time. </a:t>
            </a:r>
          </a:p>
          <a:p>
            <a:r>
              <a:rPr lang="en-US" dirty="0"/>
              <a:t>If the code is operating on objects of different classes within an inheritance hierarchy, the only type information available to the compiler will be the base class pointer type used to access all the objects. </a:t>
            </a:r>
          </a:p>
          <a:p>
            <a:r>
              <a:rPr lang="en-US" dirty="0"/>
              <a:t>Consequently, static binding will always use the base class version of a member function.</a:t>
            </a:r>
          </a:p>
        </p:txBody>
      </p:sp>
    </p:spTree>
    <p:extLst>
      <p:ext uri="{BB962C8B-B14F-4D97-AF65-F5344CB8AC3E}">
        <p14:creationId xmlns:p14="http://schemas.microsoft.com/office/powerpoint/2010/main" val="2695635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B2DB7-4103-2808-B8AE-FAC8D2153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BB4B7-0957-A2FA-4A74-D4B0C571C64D}"/>
              </a:ext>
            </a:extLst>
          </p:cNvPr>
          <p:cNvSpPr>
            <a:spLocks noGrp="1"/>
          </p:cNvSpPr>
          <p:nvPr>
            <p:ph type="title"/>
          </p:nvPr>
        </p:nvSpPr>
        <p:spPr/>
        <p:txBody>
          <a:bodyPr/>
          <a:lstStyle/>
          <a:p>
            <a:r>
              <a:rPr lang="en-US" dirty="0"/>
              <a:t>Dynamic and Static Binding</a:t>
            </a:r>
          </a:p>
        </p:txBody>
      </p:sp>
      <p:sp>
        <p:nvSpPr>
          <p:cNvPr id="3" name="Content Placeholder 2">
            <a:extLst>
              <a:ext uri="{FF2B5EF4-FFF2-40B4-BE49-F238E27FC236}">
                <a16:creationId xmlns:a16="http://schemas.microsoft.com/office/drawing/2014/main" id="{A7DC4049-0B59-503A-94B7-8520D5EBBAC4}"/>
              </a:ext>
            </a:extLst>
          </p:cNvPr>
          <p:cNvSpPr>
            <a:spLocks noGrp="1"/>
          </p:cNvSpPr>
          <p:nvPr>
            <p:ph idx="1"/>
          </p:nvPr>
        </p:nvSpPr>
        <p:spPr>
          <a:xfrm>
            <a:off x="838200" y="1825625"/>
            <a:ext cx="10515600" cy="4667250"/>
          </a:xfrm>
        </p:spPr>
        <p:txBody>
          <a:bodyPr>
            <a:normAutofit/>
          </a:bodyPr>
          <a:lstStyle/>
          <a:p>
            <a:r>
              <a:rPr lang="en-US" dirty="0"/>
              <a:t>In contrast, </a:t>
            </a:r>
            <a:r>
              <a:rPr lang="en-US" b="1" dirty="0">
                <a:hlinkClick r:id="rId2">
                  <a:extLst>
                    <a:ext uri="{A12FA001-AC4F-418D-AE19-62706E023703}">
                      <ahyp:hlinkClr xmlns:ahyp="http://schemas.microsoft.com/office/drawing/2018/hyperlinkcolor" val="tx"/>
                    </a:ext>
                  </a:extLst>
                </a:hlinkClick>
              </a:rPr>
              <a:t>dynamic binding</a:t>
            </a:r>
            <a:r>
              <a:rPr lang="en-US" b="1" dirty="0"/>
              <a:t> </a:t>
            </a:r>
            <a:r>
              <a:rPr lang="en-US" dirty="0"/>
              <a:t>occurs at run time. </a:t>
            </a:r>
          </a:p>
          <a:p>
            <a:r>
              <a:rPr lang="en-US" dirty="0"/>
              <a:t>Dynamic binding works only if the compiler can determine at run time the exact class that a subclass object belongs to. </a:t>
            </a:r>
          </a:p>
          <a:p>
            <a:r>
              <a:rPr lang="en-US" dirty="0"/>
              <a:t>The compiler then uses this run-time type information to call the version of the function defined in that class. </a:t>
            </a:r>
          </a:p>
          <a:p>
            <a:r>
              <a:rPr lang="en-US" dirty="0"/>
              <a:t>To make dynamic binding possible, the compiler stores run-time type information in every object of a class with a virtual function.</a:t>
            </a:r>
          </a:p>
          <a:p>
            <a:r>
              <a:rPr lang="en-US" dirty="0"/>
              <a:t>Dynamic binding always uses the version of the member function in the actual class of the object, regardless of the class of the pointer used to access the object.</a:t>
            </a:r>
          </a:p>
        </p:txBody>
      </p:sp>
    </p:spTree>
    <p:extLst>
      <p:ext uri="{BB962C8B-B14F-4D97-AF65-F5344CB8AC3E}">
        <p14:creationId xmlns:p14="http://schemas.microsoft.com/office/powerpoint/2010/main" val="2720038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C8F0-5C34-61F7-A76D-7DBB4D1A3CE0}"/>
              </a:ext>
            </a:extLst>
          </p:cNvPr>
          <p:cNvSpPr>
            <a:spLocks noGrp="1"/>
          </p:cNvSpPr>
          <p:nvPr>
            <p:ph type="title"/>
          </p:nvPr>
        </p:nvSpPr>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83775374-A230-41F4-A3EE-F4F29E6F6D69}"/>
              </a:ext>
            </a:extLst>
          </p:cNvPr>
          <p:cNvSpPr>
            <a:spLocks noGrp="1"/>
          </p:cNvSpPr>
          <p:nvPr>
            <p:ph idx="1"/>
          </p:nvPr>
        </p:nvSpPr>
        <p:spPr/>
        <p:txBody>
          <a:bodyPr/>
          <a:lstStyle/>
          <a:p>
            <a:r>
              <a:rPr lang="en-US" dirty="0"/>
              <a:t>C++ 11 introduces the override key word to help prevent subtle errors when overriding virtual functions.</a:t>
            </a:r>
          </a:p>
        </p:txBody>
      </p:sp>
    </p:spTree>
    <p:extLst>
      <p:ext uri="{BB962C8B-B14F-4D97-AF65-F5344CB8AC3E}">
        <p14:creationId xmlns:p14="http://schemas.microsoft.com/office/powerpoint/2010/main" val="322161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5A3F-5DA3-1374-558B-31A779A5A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67620-EE2E-54C8-7639-B4CBCF40AD17}"/>
              </a:ext>
            </a:extLst>
          </p:cNvPr>
          <p:cNvSpPr>
            <a:spLocks noGrp="1"/>
          </p:cNvSpPr>
          <p:nvPr>
            <p:ph type="title"/>
          </p:nvPr>
        </p:nvSpPr>
        <p:spPr>
          <a:xfrm>
            <a:off x="838200" y="365125"/>
            <a:ext cx="5736771" cy="1325563"/>
          </a:xfrm>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06743B67-3B67-F596-6149-877FB198D31E}"/>
              </a:ext>
            </a:extLst>
          </p:cNvPr>
          <p:cNvSpPr>
            <a:spLocks noGrp="1"/>
          </p:cNvSpPr>
          <p:nvPr>
            <p:ph idx="1"/>
          </p:nvPr>
        </p:nvSpPr>
        <p:spPr>
          <a:xfrm>
            <a:off x="838200" y="1825625"/>
            <a:ext cx="5736771" cy="4351338"/>
          </a:xfrm>
        </p:spPr>
        <p:txBody>
          <a:bodyPr>
            <a:normAutofit lnSpcReduction="10000"/>
          </a:bodyPr>
          <a:lstStyle/>
          <a:p>
            <a:r>
              <a:rPr lang="en-US" dirty="0"/>
              <a:t>There is a mistake in this program</a:t>
            </a:r>
          </a:p>
          <a:p>
            <a:r>
              <a:rPr lang="en-US" dirty="0"/>
              <a:t>In this program, a Base class pointer b is pointing to a Derived class object. </a:t>
            </a:r>
          </a:p>
          <a:p>
            <a:r>
              <a:rPr lang="en-US" dirty="0"/>
              <a:t>Because the </a:t>
            </a:r>
            <a:r>
              <a:rPr lang="en-US" dirty="0" err="1"/>
              <a:t>functionA</a:t>
            </a:r>
            <a:r>
              <a:rPr lang="en-US" dirty="0"/>
              <a:t> is virtual, we expect that the call to </a:t>
            </a:r>
            <a:r>
              <a:rPr lang="en-US" dirty="0" err="1"/>
              <a:t>functionA</a:t>
            </a:r>
            <a:r>
              <a:rPr lang="en-US" dirty="0"/>
              <a:t> through b will call the Derived class version. </a:t>
            </a:r>
          </a:p>
          <a:p>
            <a:r>
              <a:rPr lang="en-US" dirty="0"/>
              <a:t>This is not the case, however, as you can see from the program’s output.</a:t>
            </a:r>
          </a:p>
        </p:txBody>
      </p:sp>
      <p:pic>
        <p:nvPicPr>
          <p:cNvPr id="4" name="Picture 3">
            <a:extLst>
              <a:ext uri="{FF2B5EF4-FFF2-40B4-BE49-F238E27FC236}">
                <a16:creationId xmlns:a16="http://schemas.microsoft.com/office/drawing/2014/main" id="{60B6DD50-1ACC-EFC7-2F3A-044911060561}"/>
              </a:ext>
            </a:extLst>
          </p:cNvPr>
          <p:cNvPicPr>
            <a:picLocks noChangeAspect="1"/>
          </p:cNvPicPr>
          <p:nvPr/>
        </p:nvPicPr>
        <p:blipFill>
          <a:blip r:embed="rId2"/>
          <a:stretch>
            <a:fillRect/>
          </a:stretch>
        </p:blipFill>
        <p:spPr>
          <a:xfrm>
            <a:off x="7506496" y="0"/>
            <a:ext cx="4581293" cy="6858000"/>
          </a:xfrm>
          <a:prstGeom prst="rect">
            <a:avLst/>
          </a:prstGeom>
        </p:spPr>
      </p:pic>
    </p:spTree>
    <p:extLst>
      <p:ext uri="{BB962C8B-B14F-4D97-AF65-F5344CB8AC3E}">
        <p14:creationId xmlns:p14="http://schemas.microsoft.com/office/powerpoint/2010/main" val="2409151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B0B75-AEA7-E79D-8955-060889DCE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B35AE-34AF-6C3F-33ED-0702C7BB153C}"/>
              </a:ext>
            </a:extLst>
          </p:cNvPr>
          <p:cNvSpPr>
            <a:spLocks noGrp="1"/>
          </p:cNvSpPr>
          <p:nvPr>
            <p:ph type="title"/>
          </p:nvPr>
        </p:nvSpPr>
        <p:spPr>
          <a:xfrm>
            <a:off x="838200" y="365125"/>
            <a:ext cx="5736771" cy="1325563"/>
          </a:xfrm>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5AEB39F4-34C8-4744-63EA-CCABC965DFBB}"/>
              </a:ext>
            </a:extLst>
          </p:cNvPr>
          <p:cNvSpPr>
            <a:spLocks noGrp="1"/>
          </p:cNvSpPr>
          <p:nvPr>
            <p:ph idx="1"/>
          </p:nvPr>
        </p:nvSpPr>
        <p:spPr>
          <a:xfrm>
            <a:off x="838200" y="1825625"/>
            <a:ext cx="5736771" cy="4351338"/>
          </a:xfrm>
        </p:spPr>
        <p:txBody>
          <a:bodyPr>
            <a:normAutofit fontScale="92500"/>
          </a:bodyPr>
          <a:lstStyle/>
          <a:p>
            <a:r>
              <a:rPr lang="en-US" dirty="0"/>
              <a:t>The reason is that the the two functions have different parameter types, so </a:t>
            </a:r>
            <a:r>
              <a:rPr lang="en-US" dirty="0" err="1"/>
              <a:t>functionA</a:t>
            </a:r>
            <a:r>
              <a:rPr lang="en-US" dirty="0"/>
              <a:t> in the Derived class does not override </a:t>
            </a:r>
            <a:r>
              <a:rPr lang="en-US" dirty="0" err="1"/>
              <a:t>functionA</a:t>
            </a:r>
            <a:r>
              <a:rPr lang="en-US" dirty="0"/>
              <a:t> in the Base class. </a:t>
            </a:r>
          </a:p>
          <a:p>
            <a:r>
              <a:rPr lang="en-US" dirty="0"/>
              <a:t>The function in the base class takes an int argument, but the one in the derived class takes a long argument. </a:t>
            </a:r>
          </a:p>
          <a:p>
            <a:r>
              <a:rPr lang="en-US" dirty="0"/>
              <a:t>So, </a:t>
            </a:r>
            <a:r>
              <a:rPr lang="en-US" dirty="0" err="1"/>
              <a:t>functionA</a:t>
            </a:r>
            <a:r>
              <a:rPr lang="en-US" dirty="0"/>
              <a:t> in the Derived class merely overloads </a:t>
            </a:r>
            <a:r>
              <a:rPr lang="en-US" dirty="0" err="1"/>
              <a:t>functionA</a:t>
            </a:r>
            <a:r>
              <a:rPr lang="en-US" dirty="0"/>
              <a:t> in the Base class.</a:t>
            </a:r>
          </a:p>
        </p:txBody>
      </p:sp>
      <p:pic>
        <p:nvPicPr>
          <p:cNvPr id="4" name="Picture 3">
            <a:extLst>
              <a:ext uri="{FF2B5EF4-FFF2-40B4-BE49-F238E27FC236}">
                <a16:creationId xmlns:a16="http://schemas.microsoft.com/office/drawing/2014/main" id="{E4BEAE90-2D1A-03A1-3CD8-833BB9E4EB1F}"/>
              </a:ext>
            </a:extLst>
          </p:cNvPr>
          <p:cNvPicPr>
            <a:picLocks noChangeAspect="1"/>
          </p:cNvPicPr>
          <p:nvPr/>
        </p:nvPicPr>
        <p:blipFill>
          <a:blip r:embed="rId2"/>
          <a:stretch>
            <a:fillRect/>
          </a:stretch>
        </p:blipFill>
        <p:spPr>
          <a:xfrm>
            <a:off x="7506496" y="0"/>
            <a:ext cx="4581293" cy="6858000"/>
          </a:xfrm>
          <a:prstGeom prst="rect">
            <a:avLst/>
          </a:prstGeom>
        </p:spPr>
      </p:pic>
    </p:spTree>
    <p:extLst>
      <p:ext uri="{BB962C8B-B14F-4D97-AF65-F5344CB8AC3E}">
        <p14:creationId xmlns:p14="http://schemas.microsoft.com/office/powerpoint/2010/main" val="1138617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E962C-3232-3752-E32C-2A6559276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C44FD-FB13-86E6-CC15-A931018C65EB}"/>
              </a:ext>
            </a:extLst>
          </p:cNvPr>
          <p:cNvSpPr>
            <a:spLocks noGrp="1"/>
          </p:cNvSpPr>
          <p:nvPr>
            <p:ph type="title"/>
          </p:nvPr>
        </p:nvSpPr>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3C02DC03-0522-CC6D-E672-08FC05AC41E1}"/>
              </a:ext>
            </a:extLst>
          </p:cNvPr>
          <p:cNvSpPr>
            <a:spLocks noGrp="1"/>
          </p:cNvSpPr>
          <p:nvPr>
            <p:ph idx="1"/>
          </p:nvPr>
        </p:nvSpPr>
        <p:spPr/>
        <p:txBody>
          <a:bodyPr/>
          <a:lstStyle/>
          <a:p>
            <a:r>
              <a:rPr lang="en-US" dirty="0"/>
              <a:t>To make sure that a member function in a derived class overrides a virtual member function in a base class, you can place the </a:t>
            </a:r>
            <a:r>
              <a:rPr lang="en-US" b="1" dirty="0"/>
              <a:t>override</a:t>
            </a:r>
            <a:r>
              <a:rPr lang="en-US" dirty="0"/>
              <a:t> key word just after the derived class’s function prototype (or the function header, if the function is written inline). </a:t>
            </a:r>
          </a:p>
          <a:p>
            <a:r>
              <a:rPr lang="en-US" dirty="0"/>
              <a:t>The override key word tells the compiler that the function is supposed to override a function in the base class. </a:t>
            </a:r>
          </a:p>
          <a:p>
            <a:r>
              <a:rPr lang="en-US" dirty="0"/>
              <a:t>It will cause a compiler error if the function does not actually override any functions.</a:t>
            </a:r>
          </a:p>
        </p:txBody>
      </p:sp>
    </p:spTree>
    <p:extLst>
      <p:ext uri="{BB962C8B-B14F-4D97-AF65-F5344CB8AC3E}">
        <p14:creationId xmlns:p14="http://schemas.microsoft.com/office/powerpoint/2010/main" val="4117289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AD0D5-2196-8B95-6EB0-9AF84C37A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0945C-B564-7F1A-9047-88CF92BB653C}"/>
              </a:ext>
            </a:extLst>
          </p:cNvPr>
          <p:cNvSpPr>
            <a:spLocks noGrp="1"/>
          </p:cNvSpPr>
          <p:nvPr>
            <p:ph type="title"/>
          </p:nvPr>
        </p:nvSpPr>
        <p:spPr>
          <a:xfrm>
            <a:off x="838200" y="365125"/>
            <a:ext cx="5736771" cy="1325563"/>
          </a:xfrm>
        </p:spPr>
        <p:txBody>
          <a:bodyPr/>
          <a:lstStyle/>
          <a:p>
            <a:r>
              <a:rPr lang="en-US" dirty="0"/>
              <a:t>C++ 11’s override and final Key Words</a:t>
            </a:r>
          </a:p>
        </p:txBody>
      </p:sp>
      <p:sp>
        <p:nvSpPr>
          <p:cNvPr id="3" name="Content Placeholder 2">
            <a:extLst>
              <a:ext uri="{FF2B5EF4-FFF2-40B4-BE49-F238E27FC236}">
                <a16:creationId xmlns:a16="http://schemas.microsoft.com/office/drawing/2014/main" id="{82EC460A-D0CB-5526-58FF-BA30F6CF41C2}"/>
              </a:ext>
            </a:extLst>
          </p:cNvPr>
          <p:cNvSpPr>
            <a:spLocks noGrp="1"/>
          </p:cNvSpPr>
          <p:nvPr>
            <p:ph idx="1"/>
          </p:nvPr>
        </p:nvSpPr>
        <p:spPr>
          <a:xfrm>
            <a:off x="838200" y="1825625"/>
            <a:ext cx="5736771" cy="4351338"/>
          </a:xfrm>
        </p:spPr>
        <p:txBody>
          <a:bodyPr>
            <a:normAutofit/>
          </a:bodyPr>
          <a:lstStyle/>
          <a:p>
            <a:r>
              <a:rPr lang="en-US" dirty="0"/>
              <a:t>This example demonstrates how previous example can be fixed so that the Derived class function does in fact override the Base class function. </a:t>
            </a:r>
          </a:p>
          <a:p>
            <a:r>
              <a:rPr lang="en-US" dirty="0"/>
              <a:t>Notice in line 16 that we have changed the parameter in the Derived class function to int, and we have added the override key word to the function header.</a:t>
            </a:r>
          </a:p>
        </p:txBody>
      </p:sp>
      <p:pic>
        <p:nvPicPr>
          <p:cNvPr id="5" name="Picture 4">
            <a:extLst>
              <a:ext uri="{FF2B5EF4-FFF2-40B4-BE49-F238E27FC236}">
                <a16:creationId xmlns:a16="http://schemas.microsoft.com/office/drawing/2014/main" id="{F788129D-897B-DC87-3DD1-43880F741843}"/>
              </a:ext>
            </a:extLst>
          </p:cNvPr>
          <p:cNvPicPr>
            <a:picLocks noChangeAspect="1"/>
          </p:cNvPicPr>
          <p:nvPr/>
        </p:nvPicPr>
        <p:blipFill>
          <a:blip r:embed="rId2"/>
          <a:stretch>
            <a:fillRect/>
          </a:stretch>
        </p:blipFill>
        <p:spPr>
          <a:xfrm>
            <a:off x="7188874" y="0"/>
            <a:ext cx="4537268" cy="6858000"/>
          </a:xfrm>
          <a:prstGeom prst="rect">
            <a:avLst/>
          </a:prstGeom>
        </p:spPr>
      </p:pic>
    </p:spTree>
    <p:extLst>
      <p:ext uri="{BB962C8B-B14F-4D97-AF65-F5344CB8AC3E}">
        <p14:creationId xmlns:p14="http://schemas.microsoft.com/office/powerpoint/2010/main" val="1989623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6D2F2-1B42-820C-5E49-9C3F15D671F8}"/>
              </a:ext>
            </a:extLst>
          </p:cNvPr>
          <p:cNvSpPr>
            <a:spLocks noGrp="1"/>
          </p:cNvSpPr>
          <p:nvPr>
            <p:ph type="title"/>
          </p:nvPr>
        </p:nvSpPr>
        <p:spPr/>
        <p:txBody>
          <a:bodyPr/>
          <a:lstStyle/>
          <a:p>
            <a:r>
              <a:rPr lang="en-US" dirty="0"/>
              <a:t>Preventing a Member Function from Being Overridden</a:t>
            </a:r>
          </a:p>
        </p:txBody>
      </p:sp>
      <p:sp>
        <p:nvSpPr>
          <p:cNvPr id="3" name="Content Placeholder 2">
            <a:extLst>
              <a:ext uri="{FF2B5EF4-FFF2-40B4-BE49-F238E27FC236}">
                <a16:creationId xmlns:a16="http://schemas.microsoft.com/office/drawing/2014/main" id="{7372A15E-9C9E-AEF6-51B5-8F148D1BD926}"/>
              </a:ext>
            </a:extLst>
          </p:cNvPr>
          <p:cNvSpPr>
            <a:spLocks noGrp="1"/>
          </p:cNvSpPr>
          <p:nvPr>
            <p:ph idx="1"/>
          </p:nvPr>
        </p:nvSpPr>
        <p:spPr/>
        <p:txBody>
          <a:bodyPr>
            <a:normAutofit/>
          </a:bodyPr>
          <a:lstStyle/>
          <a:p>
            <a:r>
              <a:rPr lang="en-US" dirty="0"/>
              <a:t>In some derived classes, you might want to make sure that a virtual member function cannot be overridden any further down the class hierarchy. </a:t>
            </a:r>
          </a:p>
          <a:p>
            <a:r>
              <a:rPr lang="en-US" dirty="0"/>
              <a:t>When a member function is declared with the final key word, it cannot be overridden in a derived class. </a:t>
            </a:r>
          </a:p>
          <a:p>
            <a:r>
              <a:rPr lang="en-US" dirty="0"/>
              <a:t>The following member function prototype is an example that uses the final key word:</a:t>
            </a:r>
          </a:p>
          <a:p>
            <a:pPr lvl="1"/>
            <a:r>
              <a:rPr lang="en-US" b="1" i="1" dirty="0">
                <a:solidFill>
                  <a:srgbClr val="FF0000"/>
                </a:solidFill>
                <a:effectLst/>
              </a:rPr>
              <a:t>virtual</a:t>
            </a:r>
            <a:r>
              <a:rPr lang="en-US" i="1" dirty="0">
                <a:solidFill>
                  <a:srgbClr val="FF0000"/>
                </a:solidFill>
              </a:rPr>
              <a:t> </a:t>
            </a:r>
            <a:r>
              <a:rPr lang="en-US" b="1" i="1" dirty="0">
                <a:solidFill>
                  <a:srgbClr val="FF0000"/>
                </a:solidFill>
                <a:effectLst/>
              </a:rPr>
              <a:t>void</a:t>
            </a:r>
            <a:r>
              <a:rPr lang="en-US" i="1" dirty="0">
                <a:solidFill>
                  <a:srgbClr val="FF0000"/>
                </a:solidFill>
              </a:rPr>
              <a:t> </a:t>
            </a:r>
            <a:r>
              <a:rPr lang="en-US" b="1" i="1" dirty="0">
                <a:solidFill>
                  <a:srgbClr val="FF0000"/>
                </a:solidFill>
                <a:effectLst/>
              </a:rPr>
              <a:t>message</a:t>
            </a:r>
            <a:r>
              <a:rPr lang="en-US" i="1" dirty="0">
                <a:solidFill>
                  <a:srgbClr val="FF0000"/>
                </a:solidFill>
              </a:rPr>
              <a:t>() </a:t>
            </a:r>
            <a:r>
              <a:rPr lang="en-US" b="1" i="1" dirty="0">
                <a:solidFill>
                  <a:srgbClr val="FF0000"/>
                </a:solidFill>
                <a:effectLst/>
              </a:rPr>
              <a:t>const</a:t>
            </a:r>
            <a:r>
              <a:rPr lang="en-US" i="1" dirty="0">
                <a:solidFill>
                  <a:srgbClr val="FF0000"/>
                </a:solidFill>
              </a:rPr>
              <a:t> </a:t>
            </a:r>
            <a:r>
              <a:rPr lang="en-US" b="1" i="1" dirty="0">
                <a:solidFill>
                  <a:srgbClr val="FF0000"/>
                </a:solidFill>
                <a:effectLst/>
              </a:rPr>
              <a:t>final</a:t>
            </a:r>
            <a:r>
              <a:rPr lang="en-US" i="1" dirty="0">
                <a:solidFill>
                  <a:srgbClr val="FF0000"/>
                </a:solidFill>
              </a:rPr>
              <a:t>;</a:t>
            </a:r>
          </a:p>
          <a:p>
            <a:r>
              <a:rPr lang="en-US" dirty="0"/>
              <a:t>If a derived class attempts to override a final member function, the compiler generates an error.</a:t>
            </a:r>
          </a:p>
        </p:txBody>
      </p:sp>
    </p:spTree>
    <p:extLst>
      <p:ext uri="{BB962C8B-B14F-4D97-AF65-F5344CB8AC3E}">
        <p14:creationId xmlns:p14="http://schemas.microsoft.com/office/powerpoint/2010/main" val="907537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EFC46-CA45-A437-ECC2-692BB6CD8791}"/>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724DC882-63BF-D35F-CC59-6800FBBFAB02}"/>
              </a:ext>
            </a:extLst>
          </p:cNvPr>
          <p:cNvSpPr>
            <a:spLocks noGrp="1"/>
          </p:cNvSpPr>
          <p:nvPr>
            <p:ph idx="1"/>
          </p:nvPr>
        </p:nvSpPr>
        <p:spPr/>
        <p:txBody>
          <a:bodyPr>
            <a:normAutofit/>
          </a:bodyPr>
          <a:lstStyle/>
          <a:p>
            <a:r>
              <a:rPr lang="en-US" dirty="0"/>
              <a:t>It is often convenient to have a base class for an inheritance hierarchy that defines a member function that must be implemented in every derived class but cannot be implemented by the base class itself because the details needed for a reasonable implementation can only be found in the derived classes.</a:t>
            </a:r>
          </a:p>
          <a:p>
            <a:r>
              <a:rPr lang="en-US" dirty="0"/>
              <a:t> If this is the case, the C++ language permits the programmer to declare the function a </a:t>
            </a:r>
            <a:r>
              <a:rPr lang="en-US" b="1" dirty="0">
                <a:hlinkClick r:id="rId2">
                  <a:extLst>
                    <a:ext uri="{A12FA001-AC4F-418D-AE19-62706E023703}">
                      <ahyp:hlinkClr xmlns:ahyp="http://schemas.microsoft.com/office/drawing/2018/hyperlinkcolor" val="tx"/>
                    </a:ext>
                  </a:extLst>
                </a:hlinkClick>
              </a:rPr>
              <a:t>pure virtual function</a:t>
            </a:r>
            <a:r>
              <a:rPr lang="en-US" dirty="0"/>
              <a:t>, that is, a member function for which the class provides no implementation. </a:t>
            </a:r>
          </a:p>
        </p:txBody>
      </p:sp>
    </p:spTree>
    <p:extLst>
      <p:ext uri="{BB962C8B-B14F-4D97-AF65-F5344CB8AC3E}">
        <p14:creationId xmlns:p14="http://schemas.microsoft.com/office/powerpoint/2010/main" val="2685263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8E3C8-CCB4-6B43-7D28-478189861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BAEB4-27DA-7207-82F8-EF011DC9CCC3}"/>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0DB2B91A-DB20-F738-2370-2A248ED8EEFD}"/>
              </a:ext>
            </a:extLst>
          </p:cNvPr>
          <p:cNvSpPr>
            <a:spLocks noGrp="1"/>
          </p:cNvSpPr>
          <p:nvPr>
            <p:ph idx="1"/>
          </p:nvPr>
        </p:nvSpPr>
        <p:spPr/>
        <p:txBody>
          <a:bodyPr>
            <a:normAutofit/>
          </a:bodyPr>
          <a:lstStyle/>
          <a:p>
            <a:r>
              <a:rPr lang="en-US" dirty="0"/>
              <a:t>The C++ way of declaring a pure virtual function is to put the expression = 0 in the class declaration where the body of the function would otherwise have gone.</a:t>
            </a:r>
          </a:p>
          <a:p>
            <a:r>
              <a:rPr lang="en-US" dirty="0"/>
              <a:t>For example, if a member function void draw() is being declared pure virtual, then its declaration in its class looks like</a:t>
            </a:r>
          </a:p>
          <a:p>
            <a:pPr lvl="1"/>
            <a:r>
              <a:rPr lang="en-US" b="1" i="1" dirty="0">
                <a:solidFill>
                  <a:srgbClr val="FF0000"/>
                </a:solidFill>
                <a:effectLst/>
              </a:rPr>
              <a:t>void</a:t>
            </a:r>
            <a:r>
              <a:rPr lang="en-US" i="1" dirty="0">
                <a:solidFill>
                  <a:srgbClr val="FF0000"/>
                </a:solidFill>
              </a:rPr>
              <a:t> </a:t>
            </a:r>
            <a:r>
              <a:rPr lang="en-US" b="1" i="1" dirty="0">
                <a:solidFill>
                  <a:srgbClr val="FF0000"/>
                </a:solidFill>
                <a:effectLst/>
              </a:rPr>
              <a:t>draw</a:t>
            </a:r>
            <a:r>
              <a:rPr lang="en-US" i="1" dirty="0">
                <a:solidFill>
                  <a:srgbClr val="FF0000"/>
                </a:solidFill>
              </a:rPr>
              <a:t>() = </a:t>
            </a:r>
            <a:r>
              <a:rPr lang="en-US" i="1" dirty="0">
                <a:solidFill>
                  <a:srgbClr val="FF0000"/>
                </a:solidFill>
                <a:effectLst/>
              </a:rPr>
              <a:t>0</a:t>
            </a:r>
            <a:endParaRPr lang="en-US" i="1" dirty="0">
              <a:solidFill>
                <a:srgbClr val="FF0000"/>
              </a:solidFill>
            </a:endParaRPr>
          </a:p>
        </p:txBody>
      </p:sp>
    </p:spTree>
    <p:extLst>
      <p:ext uri="{BB962C8B-B14F-4D97-AF65-F5344CB8AC3E}">
        <p14:creationId xmlns:p14="http://schemas.microsoft.com/office/powerpoint/2010/main" val="638060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2EFD5-6933-310F-7756-92DEE582E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19E52-3D7C-D8E9-9A53-947665B379A1}"/>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384252CF-392F-66A2-3879-339A1650022C}"/>
              </a:ext>
            </a:extLst>
          </p:cNvPr>
          <p:cNvSpPr>
            <a:spLocks noGrp="1"/>
          </p:cNvSpPr>
          <p:nvPr>
            <p:ph idx="1"/>
          </p:nvPr>
        </p:nvSpPr>
        <p:spPr/>
        <p:txBody>
          <a:bodyPr>
            <a:normAutofit/>
          </a:bodyPr>
          <a:lstStyle/>
          <a:p>
            <a:r>
              <a:rPr lang="en-US" dirty="0"/>
              <a:t>A pure virtual function is sometimes called an </a:t>
            </a:r>
            <a:r>
              <a:rPr lang="en-US" i="1" dirty="0"/>
              <a:t>abstract</a:t>
            </a:r>
            <a:r>
              <a:rPr lang="en-US" dirty="0"/>
              <a:t> function, and a class with at least one pure virtual function is called an </a:t>
            </a:r>
            <a:r>
              <a:rPr lang="en-US" i="1" dirty="0"/>
              <a:t>abstract</a:t>
            </a:r>
            <a:r>
              <a:rPr lang="en-US" dirty="0"/>
              <a:t> class. </a:t>
            </a:r>
          </a:p>
          <a:p>
            <a:r>
              <a:rPr lang="en-US" dirty="0"/>
              <a:t>The C++ compiler will not allow you to instantiate an abstract class. </a:t>
            </a:r>
          </a:p>
          <a:p>
            <a:r>
              <a:rPr lang="en-US" dirty="0"/>
              <a:t>Abstract classes can only be subclassed: That is, you can only use them as base classes from which to derive other classes.</a:t>
            </a:r>
            <a:endParaRPr lang="en-US" i="1" dirty="0">
              <a:solidFill>
                <a:srgbClr val="FF0000"/>
              </a:solidFill>
            </a:endParaRPr>
          </a:p>
        </p:txBody>
      </p:sp>
    </p:spTree>
    <p:extLst>
      <p:ext uri="{BB962C8B-B14F-4D97-AF65-F5344CB8AC3E}">
        <p14:creationId xmlns:p14="http://schemas.microsoft.com/office/powerpoint/2010/main" val="3779700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841D8-1AC1-8F05-29F7-C8E8EDC33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3B976-A4C6-21BE-6A02-EE73E9FF7D8D}"/>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015D0F8D-6A9B-0991-AA09-69712F2BE881}"/>
              </a:ext>
            </a:extLst>
          </p:cNvPr>
          <p:cNvSpPr>
            <a:spLocks noGrp="1"/>
          </p:cNvSpPr>
          <p:nvPr>
            <p:ph idx="1"/>
          </p:nvPr>
        </p:nvSpPr>
        <p:spPr/>
        <p:txBody>
          <a:bodyPr>
            <a:normAutofit/>
          </a:bodyPr>
          <a:lstStyle/>
          <a:p>
            <a:r>
              <a:rPr lang="en-US" dirty="0"/>
              <a:t>A class derived from an abstract class inherits all functions in the base class and will itself be an abstract class unless it overrides all the abstract functions it inherits. </a:t>
            </a:r>
          </a:p>
          <a:p>
            <a:r>
              <a:rPr lang="en-US" dirty="0"/>
              <a:t>The usefulness of abstract classes lies in the fact that they define an interface that will then have to be supported by objects of all classes derived from it.</a:t>
            </a:r>
            <a:endParaRPr lang="en-US" i="1" dirty="0">
              <a:solidFill>
                <a:srgbClr val="FF0000"/>
              </a:solidFill>
            </a:endParaRPr>
          </a:p>
        </p:txBody>
      </p:sp>
    </p:spTree>
    <p:extLst>
      <p:ext uri="{BB962C8B-B14F-4D97-AF65-F5344CB8AC3E}">
        <p14:creationId xmlns:p14="http://schemas.microsoft.com/office/powerpoint/2010/main" val="305743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8FB6F-DC68-9F88-DE03-49A76FE660B7}"/>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6291DEE9-268C-048D-9FE8-FA0261E693CC}"/>
              </a:ext>
            </a:extLst>
          </p:cNvPr>
          <p:cNvPicPr>
            <a:picLocks noChangeAspect="1"/>
          </p:cNvPicPr>
          <p:nvPr/>
        </p:nvPicPr>
        <p:blipFill>
          <a:blip r:embed="rId2"/>
          <a:stretch>
            <a:fillRect/>
          </a:stretch>
        </p:blipFill>
        <p:spPr>
          <a:xfrm>
            <a:off x="5930899" y="493022"/>
            <a:ext cx="5637123" cy="5690981"/>
          </a:xfrm>
          <a:prstGeom prst="rect">
            <a:avLst/>
          </a:prstGeom>
        </p:spPr>
      </p:pic>
      <p:pic>
        <p:nvPicPr>
          <p:cNvPr id="5" name="Picture 4">
            <a:extLst>
              <a:ext uri="{FF2B5EF4-FFF2-40B4-BE49-F238E27FC236}">
                <a16:creationId xmlns:a16="http://schemas.microsoft.com/office/drawing/2014/main" id="{BF0F1FF2-35B2-7ED8-5208-CAEDC2DB7C6C}"/>
              </a:ext>
            </a:extLst>
          </p:cNvPr>
          <p:cNvPicPr>
            <a:picLocks noChangeAspect="1"/>
          </p:cNvPicPr>
          <p:nvPr/>
        </p:nvPicPr>
        <p:blipFill>
          <a:blip r:embed="rId3"/>
          <a:stretch>
            <a:fillRect/>
          </a:stretch>
        </p:blipFill>
        <p:spPr>
          <a:xfrm>
            <a:off x="838200" y="2546349"/>
            <a:ext cx="4621726" cy="2379333"/>
          </a:xfrm>
          <a:prstGeom prst="rect">
            <a:avLst/>
          </a:prstGeom>
        </p:spPr>
      </p:pic>
    </p:spTree>
    <p:extLst>
      <p:ext uri="{BB962C8B-B14F-4D97-AF65-F5344CB8AC3E}">
        <p14:creationId xmlns:p14="http://schemas.microsoft.com/office/powerpoint/2010/main" val="3845707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34E5-F7BD-0F60-EF3C-7BCD42FD0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08A5B-1F05-DAA7-74BE-C867F04EA707}"/>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10DEA648-A631-9FA1-7844-DCDDF04A2BD2}"/>
              </a:ext>
            </a:extLst>
          </p:cNvPr>
          <p:cNvSpPr>
            <a:spLocks noGrp="1"/>
          </p:cNvSpPr>
          <p:nvPr>
            <p:ph idx="1"/>
          </p:nvPr>
        </p:nvSpPr>
        <p:spPr/>
        <p:txBody>
          <a:bodyPr>
            <a:normAutofit/>
          </a:bodyPr>
          <a:lstStyle/>
          <a:p>
            <a:pPr algn="l"/>
            <a:r>
              <a:rPr lang="en-US" dirty="0">
                <a:effectLst/>
              </a:rPr>
              <a:t>You can think of an abstract class as a class that has no instances other than those that belong to some subclass. </a:t>
            </a:r>
          </a:p>
          <a:p>
            <a:pPr algn="l"/>
            <a:r>
              <a:rPr lang="en-US" dirty="0">
                <a:effectLst/>
              </a:rPr>
              <a:t>There are many examples of abstract classes in real life. For example, in the animal kingdom, the class “Animal” of all animals is an abstract class.</a:t>
            </a:r>
          </a:p>
          <a:p>
            <a:pPr algn="l"/>
            <a:r>
              <a:rPr lang="en-US" dirty="0">
                <a:effectLst/>
              </a:rPr>
              <a:t>There are no instances of animals that do not actually belong to some subclass. There are animals that are dogs, or chickens, or foxes, but there no animals that are just animals.</a:t>
            </a:r>
          </a:p>
        </p:txBody>
      </p:sp>
    </p:spTree>
    <p:extLst>
      <p:ext uri="{BB962C8B-B14F-4D97-AF65-F5344CB8AC3E}">
        <p14:creationId xmlns:p14="http://schemas.microsoft.com/office/powerpoint/2010/main" val="1849979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245FB-0156-C2C0-49E3-DE2510AED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B90FF-BC42-B447-A943-684549F61922}"/>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CB2BDFD3-48BB-09D6-5FD5-F8844EBA9988}"/>
              </a:ext>
            </a:extLst>
          </p:cNvPr>
          <p:cNvSpPr>
            <a:spLocks noGrp="1"/>
          </p:cNvSpPr>
          <p:nvPr>
            <p:ph idx="1"/>
          </p:nvPr>
        </p:nvSpPr>
        <p:spPr/>
        <p:txBody>
          <a:bodyPr>
            <a:normAutofit/>
          </a:bodyPr>
          <a:lstStyle/>
          <a:p>
            <a:pPr algn="l"/>
            <a:r>
              <a:rPr lang="en-US" dirty="0"/>
              <a:t>Consider a graphics system that consists of a collection of shapes that must be drawn at certain locations on the screen. </a:t>
            </a:r>
          </a:p>
          <a:p>
            <a:pPr algn="l"/>
            <a:r>
              <a:rPr lang="en-US" dirty="0"/>
              <a:t>Each shape object would have some member variables to keep track of its position and a member function for drawing the shape at the right position.</a:t>
            </a:r>
          </a:p>
          <a:p>
            <a:pPr algn="l"/>
            <a:r>
              <a:rPr lang="en-US" dirty="0"/>
              <a:t>The different shapes supported by the system might include rectangles, hexagons, and others. </a:t>
            </a:r>
          </a:p>
          <a:p>
            <a:pPr algn="l"/>
            <a:r>
              <a:rPr lang="en-US" dirty="0"/>
              <a:t>Because a rectangle is a shape and a hexagon is a shape, it makes sense to have a Shape class and have both Rectangle and Hexagon be classes derived from Shape. </a:t>
            </a:r>
            <a:endParaRPr lang="en-US" dirty="0">
              <a:effectLst/>
            </a:endParaRPr>
          </a:p>
        </p:txBody>
      </p:sp>
    </p:spTree>
    <p:extLst>
      <p:ext uri="{BB962C8B-B14F-4D97-AF65-F5344CB8AC3E}">
        <p14:creationId xmlns:p14="http://schemas.microsoft.com/office/powerpoint/2010/main" val="3587677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AA47D-FAD1-7B78-B621-C2144F711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2E906-CCB2-B2FE-BBFB-CD195E5E9311}"/>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56199E29-282F-473F-4464-F333474CE52D}"/>
              </a:ext>
            </a:extLst>
          </p:cNvPr>
          <p:cNvSpPr>
            <a:spLocks noGrp="1"/>
          </p:cNvSpPr>
          <p:nvPr>
            <p:ph idx="1"/>
          </p:nvPr>
        </p:nvSpPr>
        <p:spPr/>
        <p:txBody>
          <a:bodyPr>
            <a:normAutofit/>
          </a:bodyPr>
          <a:lstStyle/>
          <a:p>
            <a:pPr algn="l"/>
            <a:r>
              <a:rPr lang="en-US" dirty="0"/>
              <a:t>The Shape class will have a member function </a:t>
            </a:r>
            <a:r>
              <a:rPr lang="en-US" dirty="0" err="1">
                <a:solidFill>
                  <a:srgbClr val="FF0000"/>
                </a:solidFill>
              </a:rPr>
              <a:t>setPosition</a:t>
            </a:r>
            <a:r>
              <a:rPr lang="en-US" dirty="0"/>
              <a:t> for setting the position of the shape, as well as a member function draw for drawing the shape. </a:t>
            </a:r>
          </a:p>
          <a:p>
            <a:pPr algn="l"/>
            <a:r>
              <a:rPr lang="en-US" dirty="0"/>
              <a:t>However, because Shape is an abstract class (there is no shape that is just a “shape”; it must be a rectangle, a hexagon, a triangle, or other) the logic for drawing a particular shape must be delegated to an appropriate subclass. </a:t>
            </a:r>
          </a:p>
          <a:p>
            <a:pPr algn="l"/>
            <a:r>
              <a:rPr lang="en-US" dirty="0"/>
              <a:t>Thus, the draw() function cannot have an implementation in the Shape class and must be made a pure virtual function.</a:t>
            </a:r>
            <a:endParaRPr lang="en-US" dirty="0">
              <a:effectLst/>
            </a:endParaRPr>
          </a:p>
        </p:txBody>
      </p:sp>
    </p:spTree>
    <p:extLst>
      <p:ext uri="{BB962C8B-B14F-4D97-AF65-F5344CB8AC3E}">
        <p14:creationId xmlns:p14="http://schemas.microsoft.com/office/powerpoint/2010/main" val="632259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EB27-86BE-F1DC-3017-0252831666EC}"/>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8376326A-9083-B476-31EB-2A11FA26904A}"/>
              </a:ext>
            </a:extLst>
          </p:cNvPr>
          <p:cNvPicPr>
            <a:picLocks noChangeAspect="1"/>
          </p:cNvPicPr>
          <p:nvPr/>
        </p:nvPicPr>
        <p:blipFill>
          <a:blip r:embed="rId2"/>
          <a:stretch>
            <a:fillRect/>
          </a:stretch>
        </p:blipFill>
        <p:spPr>
          <a:xfrm>
            <a:off x="1657931" y="1690688"/>
            <a:ext cx="3643824" cy="4046456"/>
          </a:xfrm>
          <a:prstGeom prst="rect">
            <a:avLst/>
          </a:prstGeom>
        </p:spPr>
      </p:pic>
      <p:pic>
        <p:nvPicPr>
          <p:cNvPr id="5" name="Picture 4">
            <a:extLst>
              <a:ext uri="{FF2B5EF4-FFF2-40B4-BE49-F238E27FC236}">
                <a16:creationId xmlns:a16="http://schemas.microsoft.com/office/drawing/2014/main" id="{1E2DB622-0823-72A2-5EB3-5191DC11555F}"/>
              </a:ext>
            </a:extLst>
          </p:cNvPr>
          <p:cNvPicPr>
            <a:picLocks noChangeAspect="1"/>
          </p:cNvPicPr>
          <p:nvPr/>
        </p:nvPicPr>
        <p:blipFill>
          <a:blip r:embed="rId3"/>
          <a:stretch>
            <a:fillRect/>
          </a:stretch>
        </p:blipFill>
        <p:spPr>
          <a:xfrm>
            <a:off x="6305549" y="1681690"/>
            <a:ext cx="4544481" cy="4046456"/>
          </a:xfrm>
          <a:prstGeom prst="rect">
            <a:avLst/>
          </a:prstGeom>
        </p:spPr>
      </p:pic>
    </p:spTree>
    <p:extLst>
      <p:ext uri="{BB962C8B-B14F-4D97-AF65-F5344CB8AC3E}">
        <p14:creationId xmlns:p14="http://schemas.microsoft.com/office/powerpoint/2010/main" val="1735566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C722A-8750-4DD4-47E9-F2DCE4C79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2F7E8-64E8-F58C-F5DC-75E13469E29A}"/>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8012F71C-6FCB-44BB-1077-F7B2F70B314E}"/>
              </a:ext>
            </a:extLst>
          </p:cNvPr>
          <p:cNvPicPr>
            <a:picLocks noChangeAspect="1"/>
          </p:cNvPicPr>
          <p:nvPr/>
        </p:nvPicPr>
        <p:blipFill>
          <a:blip r:embed="rId2"/>
          <a:stretch>
            <a:fillRect/>
          </a:stretch>
        </p:blipFill>
        <p:spPr>
          <a:xfrm>
            <a:off x="5832928" y="277812"/>
            <a:ext cx="5684495" cy="6302375"/>
          </a:xfrm>
          <a:prstGeom prst="rect">
            <a:avLst/>
          </a:prstGeom>
        </p:spPr>
      </p:pic>
      <p:pic>
        <p:nvPicPr>
          <p:cNvPr id="6" name="Picture 5">
            <a:extLst>
              <a:ext uri="{FF2B5EF4-FFF2-40B4-BE49-F238E27FC236}">
                <a16:creationId xmlns:a16="http://schemas.microsoft.com/office/drawing/2014/main" id="{E5C38A2C-EAB4-923D-9E4C-83C8F337B0E3}"/>
              </a:ext>
            </a:extLst>
          </p:cNvPr>
          <p:cNvPicPr>
            <a:picLocks noChangeAspect="1"/>
          </p:cNvPicPr>
          <p:nvPr/>
        </p:nvPicPr>
        <p:blipFill>
          <a:blip r:embed="rId3"/>
          <a:stretch>
            <a:fillRect/>
          </a:stretch>
        </p:blipFill>
        <p:spPr>
          <a:xfrm>
            <a:off x="1448706" y="2675164"/>
            <a:ext cx="2675231" cy="1733550"/>
          </a:xfrm>
          <a:prstGeom prst="rect">
            <a:avLst/>
          </a:prstGeom>
        </p:spPr>
      </p:pic>
    </p:spTree>
    <p:extLst>
      <p:ext uri="{BB962C8B-B14F-4D97-AF65-F5344CB8AC3E}">
        <p14:creationId xmlns:p14="http://schemas.microsoft.com/office/powerpoint/2010/main" val="2760714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8B3D-7705-B812-4802-4DA125A2927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4C53BF4B-E100-1AD2-2D14-A74CE0F4BE0F}"/>
              </a:ext>
            </a:extLst>
          </p:cNvPr>
          <p:cNvSpPr>
            <a:spLocks noGrp="1"/>
          </p:cNvSpPr>
          <p:nvPr>
            <p:ph idx="1"/>
          </p:nvPr>
        </p:nvSpPr>
        <p:spPr/>
        <p:txBody>
          <a:bodyPr/>
          <a:lstStyle/>
          <a:p>
            <a:r>
              <a:rPr lang="en-US" dirty="0"/>
              <a:t>This example affords another demonstration of dynamic binding and polymorphism. </a:t>
            </a:r>
          </a:p>
          <a:p>
            <a:r>
              <a:rPr lang="en-US" dirty="0"/>
              <a:t>Consider in particular the statement which is executed a number of different times in the loop </a:t>
            </a:r>
            <a:r>
              <a:rPr lang="en-US" i="1" dirty="0">
                <a:solidFill>
                  <a:srgbClr val="FF0000"/>
                </a:solidFill>
              </a:rPr>
              <a:t>shapes[j]−&gt;</a:t>
            </a:r>
            <a:r>
              <a:rPr lang="en-US" i="1" dirty="0">
                <a:solidFill>
                  <a:srgbClr val="FF0000"/>
                </a:solidFill>
                <a:effectLst/>
              </a:rPr>
              <a:t>draw</a:t>
            </a:r>
            <a:r>
              <a:rPr lang="en-US" i="1" dirty="0">
                <a:solidFill>
                  <a:srgbClr val="FF0000"/>
                </a:solidFill>
              </a:rPr>
              <a:t>(); </a:t>
            </a:r>
          </a:p>
          <a:p>
            <a:r>
              <a:rPr lang="en-US" dirty="0"/>
              <a:t>The first time the statement is executed, it invokes the draw function on a hexagon object, while the second time, it invokes the draw function on a rectangle object. </a:t>
            </a:r>
          </a:p>
          <a:p>
            <a:r>
              <a:rPr lang="en-US" dirty="0"/>
              <a:t>Because the two draw functions are in different classes, they produce different behavior.</a:t>
            </a:r>
            <a:endParaRPr lang="en-US" i="1" dirty="0">
              <a:solidFill>
                <a:srgbClr val="FF0000"/>
              </a:solidFill>
            </a:endParaRPr>
          </a:p>
        </p:txBody>
      </p:sp>
    </p:spTree>
    <p:extLst>
      <p:ext uri="{BB962C8B-B14F-4D97-AF65-F5344CB8AC3E}">
        <p14:creationId xmlns:p14="http://schemas.microsoft.com/office/powerpoint/2010/main" val="1490116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9697D-041F-2DA1-B89B-2EF35DF27485}"/>
              </a:ext>
            </a:extLst>
          </p:cNvPr>
          <p:cNvSpPr>
            <a:spLocks noGrp="1"/>
          </p:cNvSpPr>
          <p:nvPr>
            <p:ph type="title"/>
          </p:nvPr>
        </p:nvSpPr>
        <p:spPr/>
        <p:txBody>
          <a:bodyPr/>
          <a:lstStyle/>
          <a:p>
            <a:r>
              <a:rPr lang="en-US" dirty="0"/>
              <a:t>Abstract Base Classes and Pure Virtual Functions</a:t>
            </a:r>
          </a:p>
        </p:txBody>
      </p:sp>
      <p:sp>
        <p:nvSpPr>
          <p:cNvPr id="3" name="Content Placeholder 2">
            <a:extLst>
              <a:ext uri="{FF2B5EF4-FFF2-40B4-BE49-F238E27FC236}">
                <a16:creationId xmlns:a16="http://schemas.microsoft.com/office/drawing/2014/main" id="{688B1ACB-4A60-F78C-1311-A9D47AA8E925}"/>
              </a:ext>
            </a:extLst>
          </p:cNvPr>
          <p:cNvSpPr>
            <a:spLocks noGrp="1"/>
          </p:cNvSpPr>
          <p:nvPr>
            <p:ph idx="1"/>
          </p:nvPr>
        </p:nvSpPr>
        <p:spPr/>
        <p:txBody>
          <a:bodyPr/>
          <a:lstStyle/>
          <a:p>
            <a:pPr marL="0" indent="0" algn="l">
              <a:buNone/>
            </a:pPr>
            <a:r>
              <a:rPr lang="en-US" dirty="0">
                <a:effectLst/>
              </a:rPr>
              <a:t>Remember the following points about abstract base classes and pure virtual functions:</a:t>
            </a:r>
          </a:p>
          <a:p>
            <a:pPr>
              <a:buFont typeface="Arial" panose="020B0604020202020204" pitchFamily="34" charset="0"/>
              <a:buChar char="•"/>
            </a:pPr>
            <a:r>
              <a:rPr lang="en-US" dirty="0"/>
              <a:t>When a class contains a pure virtual function, it is an abstract base class.</a:t>
            </a:r>
          </a:p>
          <a:p>
            <a:pPr>
              <a:buFont typeface="Arial" panose="020B0604020202020204" pitchFamily="34" charset="0"/>
              <a:buChar char="•"/>
            </a:pPr>
            <a:r>
              <a:rPr lang="en-US" dirty="0"/>
              <a:t>Abstract base classes cannot be instantiated.</a:t>
            </a:r>
          </a:p>
          <a:p>
            <a:pPr>
              <a:buFont typeface="Arial" panose="020B0604020202020204" pitchFamily="34" charset="0"/>
              <a:buChar char="•"/>
            </a:pPr>
            <a:r>
              <a:rPr lang="en-US" dirty="0"/>
              <a:t>Pure virtual functions are declared with the = 0 notation and have no body or definition.</a:t>
            </a:r>
          </a:p>
          <a:p>
            <a:pPr>
              <a:buFont typeface="Arial" panose="020B0604020202020204" pitchFamily="34" charset="0"/>
              <a:buChar char="•"/>
            </a:pPr>
            <a:r>
              <a:rPr lang="en-US" dirty="0"/>
              <a:t>Pure virtual functions </a:t>
            </a:r>
            <a:r>
              <a:rPr lang="en-US" i="1" dirty="0"/>
              <a:t>must</a:t>
            </a:r>
            <a:r>
              <a:rPr lang="en-US" dirty="0"/>
              <a:t> be overridden in derived classes that need to be instantiated.</a:t>
            </a:r>
          </a:p>
          <a:p>
            <a:endParaRPr lang="en-US" dirty="0"/>
          </a:p>
        </p:txBody>
      </p:sp>
    </p:spTree>
    <p:extLst>
      <p:ext uri="{BB962C8B-B14F-4D97-AF65-F5344CB8AC3E}">
        <p14:creationId xmlns:p14="http://schemas.microsoft.com/office/powerpoint/2010/main" val="3049746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8A9AA-F242-83C5-838D-463189DDDD30}"/>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7931B017-06E2-20B0-16BF-5EDFEF441F98}"/>
              </a:ext>
            </a:extLst>
          </p:cNvPr>
          <p:cNvSpPr>
            <a:spLocks noGrp="1"/>
          </p:cNvSpPr>
          <p:nvPr>
            <p:ph idx="1"/>
          </p:nvPr>
        </p:nvSpPr>
        <p:spPr/>
        <p:txBody>
          <a:bodyPr>
            <a:normAutofit/>
          </a:bodyPr>
          <a:lstStyle/>
          <a:p>
            <a:r>
              <a:rPr lang="en-US" dirty="0"/>
              <a:t>Inheritance should model an “is −a” relation, rather than a “has −a” relation, between the derived and base classes.</a:t>
            </a:r>
          </a:p>
          <a:p>
            <a:r>
              <a:rPr lang="en-US" i="1" dirty="0"/>
              <a:t>Class inheritance</a:t>
            </a:r>
            <a:r>
              <a:rPr lang="en-US" dirty="0"/>
              <a:t> in an object-oriented language should be used to model the fact that the type of the derived class is a special case of the type of the base class. </a:t>
            </a:r>
          </a:p>
        </p:txBody>
      </p:sp>
    </p:spTree>
    <p:extLst>
      <p:ext uri="{BB962C8B-B14F-4D97-AF65-F5344CB8AC3E}">
        <p14:creationId xmlns:p14="http://schemas.microsoft.com/office/powerpoint/2010/main" val="1756025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BEF4-E797-76F1-A028-93E1D6E2C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22C8F-44EC-6CAA-CEFC-DEED54A6B789}"/>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CFD7F65B-C4FA-5A53-B547-EE73CCB23D54}"/>
              </a:ext>
            </a:extLst>
          </p:cNvPr>
          <p:cNvSpPr>
            <a:spLocks noGrp="1"/>
          </p:cNvSpPr>
          <p:nvPr>
            <p:ph idx="1"/>
          </p:nvPr>
        </p:nvSpPr>
        <p:spPr/>
        <p:txBody>
          <a:bodyPr>
            <a:normAutofit/>
          </a:bodyPr>
          <a:lstStyle/>
          <a:p>
            <a:r>
              <a:rPr lang="en-US" dirty="0"/>
              <a:t>Actually, a class can be considered to be the </a:t>
            </a:r>
            <a:r>
              <a:rPr lang="en-US" i="1" dirty="0"/>
              <a:t>set</a:t>
            </a:r>
            <a:r>
              <a:rPr lang="en-US" dirty="0"/>
              <a:t> of all objects that can be created from it. </a:t>
            </a:r>
          </a:p>
          <a:p>
            <a:r>
              <a:rPr lang="en-US" dirty="0"/>
              <a:t>Because the derived class is a special case of the base class, the set of objects that correspond to the derived class will be a </a:t>
            </a:r>
            <a:r>
              <a:rPr lang="en-US" i="1" dirty="0"/>
              <a:t>subset</a:t>
            </a:r>
            <a:r>
              <a:rPr lang="en-US" dirty="0"/>
              <a:t> of the set of objects that correspond to the base class. </a:t>
            </a:r>
          </a:p>
          <a:p>
            <a:r>
              <a:rPr lang="en-US" dirty="0"/>
              <a:t>Thus, every object of the derived class is also an object of the base class. In other words, each derived class object </a:t>
            </a:r>
            <a:r>
              <a:rPr lang="en-US" i="1" dirty="0">
                <a:solidFill>
                  <a:srgbClr val="FF0000"/>
                </a:solidFill>
              </a:rPr>
              <a:t>is a</a:t>
            </a:r>
            <a:r>
              <a:rPr lang="en-US" dirty="0">
                <a:solidFill>
                  <a:srgbClr val="FF0000"/>
                </a:solidFill>
              </a:rPr>
              <a:t> </a:t>
            </a:r>
            <a:r>
              <a:rPr lang="en-US" dirty="0"/>
              <a:t>base class object.</a:t>
            </a:r>
          </a:p>
        </p:txBody>
      </p:sp>
    </p:spTree>
    <p:extLst>
      <p:ext uri="{BB962C8B-B14F-4D97-AF65-F5344CB8AC3E}">
        <p14:creationId xmlns:p14="http://schemas.microsoft.com/office/powerpoint/2010/main" val="2258060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79F81-DA0A-C1F3-613A-EB67ECB4B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E3B83-EFA2-F626-8D0C-E203B4AF2C34}"/>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941D37CD-83C4-28E7-FCC7-EDEFFF99F969}"/>
              </a:ext>
            </a:extLst>
          </p:cNvPr>
          <p:cNvSpPr>
            <a:spLocks noGrp="1"/>
          </p:cNvSpPr>
          <p:nvPr>
            <p:ph idx="1"/>
          </p:nvPr>
        </p:nvSpPr>
        <p:spPr/>
        <p:txBody>
          <a:bodyPr>
            <a:normAutofit/>
          </a:bodyPr>
          <a:lstStyle/>
          <a:p>
            <a:r>
              <a:rPr lang="en-US" i="1" dirty="0"/>
              <a:t>Class composition</a:t>
            </a:r>
            <a:r>
              <a:rPr lang="en-US" dirty="0"/>
              <a:t> occurs whenever a class contains an object of another class as one of its member variables.</a:t>
            </a:r>
          </a:p>
          <a:p>
            <a:r>
              <a:rPr lang="en-US" dirty="0"/>
              <a:t>We know that composition models a </a:t>
            </a:r>
            <a:r>
              <a:rPr lang="en-US" i="1" dirty="0">
                <a:solidFill>
                  <a:srgbClr val="FF0000"/>
                </a:solidFill>
              </a:rPr>
              <a:t>has-a</a:t>
            </a:r>
            <a:r>
              <a:rPr lang="en-US" dirty="0"/>
              <a:t> relation between classes.</a:t>
            </a:r>
          </a:p>
          <a:p>
            <a:r>
              <a:rPr lang="en-US" dirty="0"/>
              <a:t>Because a derived class inherits all the members of its base class, a derived class effectively contains an object of its base class. </a:t>
            </a:r>
          </a:p>
          <a:p>
            <a:r>
              <a:rPr lang="en-US" dirty="0"/>
              <a:t>As a result, it is possible to use inheritance where a correct design would call for composition. </a:t>
            </a:r>
          </a:p>
          <a:p>
            <a:endParaRPr lang="en-US" dirty="0"/>
          </a:p>
        </p:txBody>
      </p:sp>
    </p:spTree>
    <p:extLst>
      <p:ext uri="{BB962C8B-B14F-4D97-AF65-F5344CB8AC3E}">
        <p14:creationId xmlns:p14="http://schemas.microsoft.com/office/powerpoint/2010/main" val="1530785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B6559-C694-BB07-3E31-6C2D66933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9877F-7594-0291-FEFF-5F776ADDBFB6}"/>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322E6BAA-D0E5-8F5F-715A-7841E3E039A6}"/>
              </a:ext>
            </a:extLst>
          </p:cNvPr>
          <p:cNvSpPr>
            <a:spLocks noGrp="1"/>
          </p:cNvSpPr>
          <p:nvPr>
            <p:ph idx="1"/>
          </p:nvPr>
        </p:nvSpPr>
        <p:spPr/>
        <p:txBody>
          <a:bodyPr>
            <a:normAutofit/>
          </a:bodyPr>
          <a:lstStyle/>
          <a:p>
            <a:r>
              <a:rPr lang="en-US" dirty="0"/>
              <a:t>As an example, consider a program that needs to represent data for a person, say the person’s name and street address. </a:t>
            </a:r>
          </a:p>
          <a:p>
            <a:r>
              <a:rPr lang="en-US" dirty="0"/>
              <a:t>The street address might consist of two lines:</a:t>
            </a:r>
          </a:p>
          <a:p>
            <a:endParaRPr lang="en-US" dirty="0"/>
          </a:p>
          <a:p>
            <a:r>
              <a:rPr lang="en-US" dirty="0"/>
              <a:t>Now suppose we had a class for representing a street address:</a:t>
            </a:r>
          </a:p>
        </p:txBody>
      </p:sp>
      <p:pic>
        <p:nvPicPr>
          <p:cNvPr id="4" name="Picture 3">
            <a:extLst>
              <a:ext uri="{FF2B5EF4-FFF2-40B4-BE49-F238E27FC236}">
                <a16:creationId xmlns:a16="http://schemas.microsoft.com/office/drawing/2014/main" id="{9F45367E-3C7F-BB38-CA69-6259D45C6D02}"/>
              </a:ext>
            </a:extLst>
          </p:cNvPr>
          <p:cNvPicPr>
            <a:picLocks noChangeAspect="1"/>
          </p:cNvPicPr>
          <p:nvPr/>
        </p:nvPicPr>
        <p:blipFill>
          <a:blip r:embed="rId2"/>
          <a:stretch>
            <a:fillRect/>
          </a:stretch>
        </p:blipFill>
        <p:spPr>
          <a:xfrm>
            <a:off x="8223370" y="2793863"/>
            <a:ext cx="1868200" cy="747280"/>
          </a:xfrm>
          <a:prstGeom prst="rect">
            <a:avLst/>
          </a:prstGeom>
        </p:spPr>
      </p:pic>
      <p:pic>
        <p:nvPicPr>
          <p:cNvPr id="5" name="Picture 4">
            <a:extLst>
              <a:ext uri="{FF2B5EF4-FFF2-40B4-BE49-F238E27FC236}">
                <a16:creationId xmlns:a16="http://schemas.microsoft.com/office/drawing/2014/main" id="{26AA77B5-6F5D-BF3F-EAC8-15B62E5A0F33}"/>
              </a:ext>
            </a:extLst>
          </p:cNvPr>
          <p:cNvPicPr>
            <a:picLocks noChangeAspect="1"/>
          </p:cNvPicPr>
          <p:nvPr/>
        </p:nvPicPr>
        <p:blipFill>
          <a:blip r:embed="rId3"/>
          <a:stretch>
            <a:fillRect/>
          </a:stretch>
        </p:blipFill>
        <p:spPr>
          <a:xfrm>
            <a:off x="5035070" y="4428885"/>
            <a:ext cx="2121859" cy="2063990"/>
          </a:xfrm>
          <a:prstGeom prst="rect">
            <a:avLst/>
          </a:prstGeom>
        </p:spPr>
      </p:pic>
    </p:spTree>
    <p:extLst>
      <p:ext uri="{BB962C8B-B14F-4D97-AF65-F5344CB8AC3E}">
        <p14:creationId xmlns:p14="http://schemas.microsoft.com/office/powerpoint/2010/main" val="1399493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04CA9-36D1-7E67-E982-3BD5153F0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DA910-FEC6-3441-0357-FF571127FF36}"/>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FA7E2EB2-DD0E-B1D4-CFDD-5455C50BE3AC}"/>
              </a:ext>
            </a:extLst>
          </p:cNvPr>
          <p:cNvSpPr>
            <a:spLocks noGrp="1"/>
          </p:cNvSpPr>
          <p:nvPr>
            <p:ph idx="1"/>
          </p:nvPr>
        </p:nvSpPr>
        <p:spPr/>
        <p:txBody>
          <a:bodyPr>
            <a:normAutofit/>
          </a:bodyPr>
          <a:lstStyle/>
          <a:p>
            <a:r>
              <a:rPr lang="en-US" dirty="0"/>
              <a:t>Because a person’s data has a name and a street address, the proper formulation of a class to represent a person’s data would use composition in the following way:</a:t>
            </a:r>
          </a:p>
        </p:txBody>
      </p:sp>
      <p:pic>
        <p:nvPicPr>
          <p:cNvPr id="6" name="Picture 5">
            <a:extLst>
              <a:ext uri="{FF2B5EF4-FFF2-40B4-BE49-F238E27FC236}">
                <a16:creationId xmlns:a16="http://schemas.microsoft.com/office/drawing/2014/main" id="{EAD52F89-24D6-40B2-B7B2-6FA16B9B4CB5}"/>
              </a:ext>
            </a:extLst>
          </p:cNvPr>
          <p:cNvPicPr>
            <a:picLocks noChangeAspect="1"/>
          </p:cNvPicPr>
          <p:nvPr/>
        </p:nvPicPr>
        <p:blipFill>
          <a:blip r:embed="rId2"/>
          <a:stretch>
            <a:fillRect/>
          </a:stretch>
        </p:blipFill>
        <p:spPr>
          <a:xfrm>
            <a:off x="4650738" y="3687433"/>
            <a:ext cx="2890523" cy="1980122"/>
          </a:xfrm>
          <a:prstGeom prst="rect">
            <a:avLst/>
          </a:prstGeom>
        </p:spPr>
      </p:pic>
    </p:spTree>
    <p:extLst>
      <p:ext uri="{BB962C8B-B14F-4D97-AF65-F5344CB8AC3E}">
        <p14:creationId xmlns:p14="http://schemas.microsoft.com/office/powerpoint/2010/main" val="41434305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0411F-B928-C6F3-D484-2CAC08AC1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6C3F4-A420-E87D-4096-E8CC78DDB95D}"/>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906D1EE1-5AFC-78C4-886F-FA940B6711F3}"/>
              </a:ext>
            </a:extLst>
          </p:cNvPr>
          <p:cNvSpPr>
            <a:spLocks noGrp="1"/>
          </p:cNvSpPr>
          <p:nvPr>
            <p:ph idx="1"/>
          </p:nvPr>
        </p:nvSpPr>
        <p:spPr/>
        <p:txBody>
          <a:bodyPr>
            <a:normAutofit/>
          </a:bodyPr>
          <a:lstStyle/>
          <a:p>
            <a:r>
              <a:rPr lang="en-US" dirty="0"/>
              <a:t>It is possible to define this class using inheritance instead of composition. </a:t>
            </a:r>
          </a:p>
          <a:p>
            <a:r>
              <a:rPr lang="en-US" dirty="0"/>
              <a:t>For example, we could define a class PersonData1 as follows:</a:t>
            </a:r>
          </a:p>
        </p:txBody>
      </p:sp>
      <p:pic>
        <p:nvPicPr>
          <p:cNvPr id="4" name="Picture 3">
            <a:extLst>
              <a:ext uri="{FF2B5EF4-FFF2-40B4-BE49-F238E27FC236}">
                <a16:creationId xmlns:a16="http://schemas.microsoft.com/office/drawing/2014/main" id="{80866762-B674-8112-5C46-4DEB1D72D708}"/>
              </a:ext>
            </a:extLst>
          </p:cNvPr>
          <p:cNvPicPr>
            <a:picLocks noChangeAspect="1"/>
          </p:cNvPicPr>
          <p:nvPr/>
        </p:nvPicPr>
        <p:blipFill>
          <a:blip r:embed="rId2"/>
          <a:stretch>
            <a:fillRect/>
          </a:stretch>
        </p:blipFill>
        <p:spPr>
          <a:xfrm>
            <a:off x="4021624" y="3662392"/>
            <a:ext cx="4148752" cy="1970657"/>
          </a:xfrm>
          <a:prstGeom prst="rect">
            <a:avLst/>
          </a:prstGeom>
        </p:spPr>
      </p:pic>
    </p:spTree>
    <p:extLst>
      <p:ext uri="{BB962C8B-B14F-4D97-AF65-F5344CB8AC3E}">
        <p14:creationId xmlns:p14="http://schemas.microsoft.com/office/powerpoint/2010/main" val="3121190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D84A-0370-34E8-2A51-09165E96A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6C4C1-8D92-7E2C-86A7-F7323CE897FA}"/>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476B3EB6-A98C-92E6-CDF2-006B494A5B4C}"/>
              </a:ext>
            </a:extLst>
          </p:cNvPr>
          <p:cNvSpPr>
            <a:spLocks noGrp="1"/>
          </p:cNvSpPr>
          <p:nvPr>
            <p:ph idx="1"/>
          </p:nvPr>
        </p:nvSpPr>
        <p:spPr/>
        <p:txBody>
          <a:bodyPr>
            <a:normAutofit/>
          </a:bodyPr>
          <a:lstStyle/>
          <a:p>
            <a:r>
              <a:rPr lang="en-US" dirty="0"/>
              <a:t>While this new definition would compile correctly, it is conceptually the wrong thing to do because it regards a person’s data as a special kind of </a:t>
            </a:r>
            <a:r>
              <a:rPr lang="en-US" i="1" dirty="0" err="1">
                <a:solidFill>
                  <a:srgbClr val="FF0000"/>
                </a:solidFill>
              </a:rPr>
              <a:t>StreetAddress</a:t>
            </a:r>
            <a:r>
              <a:rPr lang="en-US" dirty="0"/>
              <a:t>, which it is not. </a:t>
            </a:r>
          </a:p>
          <a:p>
            <a:r>
              <a:rPr lang="en-US" dirty="0"/>
              <a:t>This type of conceptual error in design can result in a program that is confusing to understand and difficult to maintain. </a:t>
            </a:r>
          </a:p>
          <a:p>
            <a:r>
              <a:rPr lang="en-US" dirty="0"/>
              <a:t>It is a good design practice to prefer composition to inheritance whenever possible. </a:t>
            </a:r>
          </a:p>
          <a:p>
            <a:r>
              <a:rPr lang="en-US" dirty="0"/>
              <a:t>One reason is that inheritance breaks the encapsulation of the base class by exposing the base class’s protected members to the methods of the derived class.</a:t>
            </a:r>
          </a:p>
        </p:txBody>
      </p:sp>
    </p:spTree>
    <p:extLst>
      <p:ext uri="{BB962C8B-B14F-4D97-AF65-F5344CB8AC3E}">
        <p14:creationId xmlns:p14="http://schemas.microsoft.com/office/powerpoint/2010/main" val="22764804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C1778-7FE7-C23C-2D72-08B9F8040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C3493-D154-F969-08E0-A56F87334C0A}"/>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BDED818A-4CE3-004A-E66B-6888034F7E51}"/>
              </a:ext>
            </a:extLst>
          </p:cNvPr>
          <p:cNvSpPr>
            <a:spLocks noGrp="1"/>
          </p:cNvSpPr>
          <p:nvPr>
            <p:ph idx="1"/>
          </p:nvPr>
        </p:nvSpPr>
        <p:spPr>
          <a:xfrm>
            <a:off x="838199" y="1825624"/>
            <a:ext cx="6658155" cy="4816715"/>
          </a:xfrm>
        </p:spPr>
        <p:txBody>
          <a:bodyPr>
            <a:normAutofit fontScale="92500" lnSpcReduction="10000"/>
          </a:bodyPr>
          <a:lstStyle/>
          <a:p>
            <a:r>
              <a:rPr lang="en-US" dirty="0"/>
              <a:t>Let us next consider an example where it makes sense to use inheritance rather than composition. </a:t>
            </a:r>
          </a:p>
          <a:p>
            <a:r>
              <a:rPr lang="en-US" dirty="0"/>
              <a:t>Suppose that we have a class Dog that represents the set of all dogs. </a:t>
            </a:r>
          </a:p>
          <a:p>
            <a:r>
              <a:rPr lang="en-US" dirty="0"/>
              <a:t>Assuming that each Dog object has a member variable </a:t>
            </a:r>
            <a:r>
              <a:rPr lang="en-US" dirty="0">
                <a:solidFill>
                  <a:srgbClr val="FF0000"/>
                </a:solidFill>
              </a:rPr>
              <a:t>weight</a:t>
            </a:r>
            <a:r>
              <a:rPr lang="en-US" dirty="0"/>
              <a:t> of type double and a member function void </a:t>
            </a:r>
            <a:r>
              <a:rPr lang="en-US" dirty="0">
                <a:solidFill>
                  <a:srgbClr val="FF0000"/>
                </a:solidFill>
              </a:rPr>
              <a:t>bark()</a:t>
            </a:r>
          </a:p>
          <a:p>
            <a:r>
              <a:rPr lang="en-US" dirty="0"/>
              <a:t>The class also has a constructor to allow Dog objects to be initialized. </a:t>
            </a:r>
          </a:p>
          <a:p>
            <a:r>
              <a:rPr lang="en-US" dirty="0"/>
              <a:t>Note that we have declared the bark() member function as virtual to allow it to be overridden in a derived class.</a:t>
            </a:r>
            <a:endParaRPr lang="en-US" dirty="0">
              <a:solidFill>
                <a:srgbClr val="FF0000"/>
              </a:solidFill>
            </a:endParaRPr>
          </a:p>
        </p:txBody>
      </p:sp>
      <p:pic>
        <p:nvPicPr>
          <p:cNvPr id="4" name="Picture 3">
            <a:extLst>
              <a:ext uri="{FF2B5EF4-FFF2-40B4-BE49-F238E27FC236}">
                <a16:creationId xmlns:a16="http://schemas.microsoft.com/office/drawing/2014/main" id="{C56EB81D-7336-5630-6BF6-17C038B34E04}"/>
              </a:ext>
            </a:extLst>
          </p:cNvPr>
          <p:cNvPicPr>
            <a:picLocks noChangeAspect="1"/>
          </p:cNvPicPr>
          <p:nvPr/>
        </p:nvPicPr>
        <p:blipFill>
          <a:blip r:embed="rId2"/>
          <a:stretch>
            <a:fillRect/>
          </a:stretch>
        </p:blipFill>
        <p:spPr>
          <a:xfrm>
            <a:off x="7712615" y="2395149"/>
            <a:ext cx="4273621" cy="3065372"/>
          </a:xfrm>
          <a:prstGeom prst="rect">
            <a:avLst/>
          </a:prstGeom>
        </p:spPr>
      </p:pic>
    </p:spTree>
    <p:extLst>
      <p:ext uri="{BB962C8B-B14F-4D97-AF65-F5344CB8AC3E}">
        <p14:creationId xmlns:p14="http://schemas.microsoft.com/office/powerpoint/2010/main" val="1558164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9481-5540-357A-5662-CC79C4E8DB91}"/>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74050F71-29D1-3232-3756-5B2499AEC6B5}"/>
              </a:ext>
            </a:extLst>
          </p:cNvPr>
          <p:cNvSpPr>
            <a:spLocks noGrp="1"/>
          </p:cNvSpPr>
          <p:nvPr>
            <p:ph idx="1"/>
          </p:nvPr>
        </p:nvSpPr>
        <p:spPr/>
        <p:txBody>
          <a:bodyPr>
            <a:normAutofit/>
          </a:bodyPr>
          <a:lstStyle/>
          <a:p>
            <a:r>
              <a:rPr lang="en-US" dirty="0"/>
              <a:t>Suppose that we need to have a class that represents the set of all sheep dogs. </a:t>
            </a:r>
          </a:p>
          <a:p>
            <a:r>
              <a:rPr lang="en-US" dirty="0"/>
              <a:t>Since every sheep dog is also a dog, it makes sense to derive the new </a:t>
            </a:r>
            <a:r>
              <a:rPr lang="en-US" dirty="0" err="1"/>
              <a:t>SheepDog</a:t>
            </a:r>
            <a:r>
              <a:rPr lang="en-US" dirty="0"/>
              <a:t> class from the Dog class. </a:t>
            </a:r>
          </a:p>
          <a:p>
            <a:r>
              <a:rPr lang="en-US" dirty="0"/>
              <a:t>That way, a </a:t>
            </a:r>
            <a:r>
              <a:rPr lang="en-US" dirty="0" err="1"/>
              <a:t>SheepDog</a:t>
            </a:r>
            <a:r>
              <a:rPr lang="en-US" dirty="0"/>
              <a:t> object will inherit every member of the Dog class. </a:t>
            </a:r>
          </a:p>
        </p:txBody>
      </p:sp>
    </p:spTree>
    <p:extLst>
      <p:ext uri="{BB962C8B-B14F-4D97-AF65-F5344CB8AC3E}">
        <p14:creationId xmlns:p14="http://schemas.microsoft.com/office/powerpoint/2010/main" val="3765489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68850-2615-E723-CA64-B7BC152B1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6660C-95FC-1F5A-C44E-98BF3E3E8F80}"/>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1B8C5295-8B43-E80E-4420-7F5B477DC373}"/>
              </a:ext>
            </a:extLst>
          </p:cNvPr>
          <p:cNvSpPr>
            <a:spLocks noGrp="1"/>
          </p:cNvSpPr>
          <p:nvPr>
            <p:ph idx="1"/>
          </p:nvPr>
        </p:nvSpPr>
        <p:spPr>
          <a:xfrm>
            <a:off x="596661" y="1770691"/>
            <a:ext cx="7003211" cy="4351338"/>
          </a:xfrm>
        </p:spPr>
        <p:txBody>
          <a:bodyPr>
            <a:normAutofit fontScale="92500" lnSpcReduction="10000"/>
          </a:bodyPr>
          <a:lstStyle/>
          <a:p>
            <a:r>
              <a:rPr lang="en-US" dirty="0"/>
              <a:t>In addition to having every characteristic that every dog has, a sheep dog can be expected to have other characteristics peculiar to sheep dogs.</a:t>
            </a:r>
          </a:p>
          <a:p>
            <a:r>
              <a:rPr lang="en-US" dirty="0"/>
              <a:t>For example, an integer member </a:t>
            </a:r>
            <a:r>
              <a:rPr lang="en-US" i="1" dirty="0" err="1">
                <a:solidFill>
                  <a:srgbClr val="FF0000"/>
                </a:solidFill>
              </a:rPr>
              <a:t>numberSheep</a:t>
            </a:r>
            <a:r>
              <a:rPr lang="en-US" dirty="0"/>
              <a:t> that indicates the maximum number of sheep the dog is trained to herd. </a:t>
            </a:r>
          </a:p>
          <a:p>
            <a:r>
              <a:rPr lang="en-US" dirty="0"/>
              <a:t>In addition, a sheep dog might have a way of barking different from that of a generic dog, perhaps one adapted to the tending of sheep.</a:t>
            </a:r>
          </a:p>
          <a:p>
            <a:r>
              <a:rPr lang="en-US" dirty="0"/>
              <a:t>This is accounted for by overriding the </a:t>
            </a:r>
            <a:r>
              <a:rPr lang="en-US" i="1" dirty="0">
                <a:solidFill>
                  <a:srgbClr val="FF0000"/>
                </a:solidFill>
              </a:rPr>
              <a:t>bark() </a:t>
            </a:r>
            <a:r>
              <a:rPr lang="en-US" dirty="0"/>
              <a:t>member function of the Dog class.</a:t>
            </a:r>
          </a:p>
        </p:txBody>
      </p:sp>
      <p:pic>
        <p:nvPicPr>
          <p:cNvPr id="4" name="Picture 3">
            <a:extLst>
              <a:ext uri="{FF2B5EF4-FFF2-40B4-BE49-F238E27FC236}">
                <a16:creationId xmlns:a16="http://schemas.microsoft.com/office/drawing/2014/main" id="{17655029-1A68-21B5-3878-E8D2950B2682}"/>
              </a:ext>
            </a:extLst>
          </p:cNvPr>
          <p:cNvPicPr>
            <a:picLocks noChangeAspect="1"/>
          </p:cNvPicPr>
          <p:nvPr/>
        </p:nvPicPr>
        <p:blipFill>
          <a:blip r:embed="rId2"/>
          <a:stretch>
            <a:fillRect/>
          </a:stretch>
        </p:blipFill>
        <p:spPr>
          <a:xfrm>
            <a:off x="7766649" y="1765240"/>
            <a:ext cx="4194518" cy="3713896"/>
          </a:xfrm>
          <a:prstGeom prst="rect">
            <a:avLst/>
          </a:prstGeom>
        </p:spPr>
      </p:pic>
    </p:spTree>
    <p:extLst>
      <p:ext uri="{BB962C8B-B14F-4D97-AF65-F5344CB8AC3E}">
        <p14:creationId xmlns:p14="http://schemas.microsoft.com/office/powerpoint/2010/main" val="2512159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27E49-7B2D-AE01-1429-F2AB0D91D92F}"/>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13C3ED3E-3F6D-50EB-E8B9-7B748E13727A}"/>
              </a:ext>
            </a:extLst>
          </p:cNvPr>
          <p:cNvSpPr>
            <a:spLocks noGrp="1"/>
          </p:cNvSpPr>
          <p:nvPr>
            <p:ph idx="1"/>
          </p:nvPr>
        </p:nvSpPr>
        <p:spPr/>
        <p:txBody>
          <a:bodyPr/>
          <a:lstStyle/>
          <a:p>
            <a:r>
              <a:rPr lang="en-US" dirty="0"/>
              <a:t>To demonstrate this class, we will set up a vector of dogs with some of the dogs in the vector being sheep dogs. </a:t>
            </a:r>
          </a:p>
          <a:p>
            <a:r>
              <a:rPr lang="en-US" dirty="0"/>
              <a:t>To get around the fact that a vector cannot hold two different types, we will use a vector of pointers to Dog. </a:t>
            </a:r>
          </a:p>
          <a:p>
            <a:r>
              <a:rPr lang="en-US" dirty="0"/>
              <a:t>We know that a pointer to a base class (in this case, Dog) can point to any derived class object (in this case, </a:t>
            </a:r>
            <a:r>
              <a:rPr lang="en-US" dirty="0" err="1"/>
              <a:t>SheepDog</a:t>
            </a:r>
            <a:r>
              <a:rPr lang="en-US" dirty="0"/>
              <a:t>). </a:t>
            </a:r>
          </a:p>
          <a:p>
            <a:r>
              <a:rPr lang="en-US" dirty="0"/>
              <a:t>We can therefore create a vector of pointers to Dog and have some of those pointers point to Dog objects while others point to </a:t>
            </a:r>
            <a:r>
              <a:rPr lang="en-US" dirty="0" err="1"/>
              <a:t>SheepDog</a:t>
            </a:r>
            <a:r>
              <a:rPr lang="en-US" dirty="0"/>
              <a:t> objects.</a:t>
            </a:r>
          </a:p>
        </p:txBody>
      </p:sp>
    </p:spTree>
    <p:extLst>
      <p:ext uri="{BB962C8B-B14F-4D97-AF65-F5344CB8AC3E}">
        <p14:creationId xmlns:p14="http://schemas.microsoft.com/office/powerpoint/2010/main" val="2890534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2875-7FE7-A471-83BC-147B88229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A69DF-AC3F-D2FA-D837-80328204FBAF}"/>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0F1A1190-86DB-F562-46AC-B8D37366CCAE}"/>
              </a:ext>
            </a:extLst>
          </p:cNvPr>
          <p:cNvSpPr>
            <a:spLocks noGrp="1"/>
          </p:cNvSpPr>
          <p:nvPr>
            <p:ph idx="1"/>
          </p:nvPr>
        </p:nvSpPr>
        <p:spPr/>
        <p:txBody>
          <a:bodyPr/>
          <a:lstStyle/>
          <a:p>
            <a:r>
              <a:rPr lang="en-US" dirty="0"/>
              <a:t>We can therefore create a vector of pointers to Dog and have some of those pointers point to Dog objects while others point to </a:t>
            </a:r>
            <a:r>
              <a:rPr lang="en-US" dirty="0" err="1"/>
              <a:t>SheepDog</a:t>
            </a:r>
            <a:r>
              <a:rPr lang="en-US" dirty="0"/>
              <a:t> objects.</a:t>
            </a:r>
          </a:p>
        </p:txBody>
      </p:sp>
      <p:pic>
        <p:nvPicPr>
          <p:cNvPr id="4" name="Picture 3">
            <a:extLst>
              <a:ext uri="{FF2B5EF4-FFF2-40B4-BE49-F238E27FC236}">
                <a16:creationId xmlns:a16="http://schemas.microsoft.com/office/drawing/2014/main" id="{4A859EB5-10B9-483A-348C-940ED3257BDA}"/>
              </a:ext>
            </a:extLst>
          </p:cNvPr>
          <p:cNvPicPr>
            <a:picLocks noChangeAspect="1"/>
          </p:cNvPicPr>
          <p:nvPr/>
        </p:nvPicPr>
        <p:blipFill>
          <a:blip r:embed="rId2"/>
          <a:stretch>
            <a:fillRect/>
          </a:stretch>
        </p:blipFill>
        <p:spPr>
          <a:xfrm>
            <a:off x="4068908" y="3339022"/>
            <a:ext cx="4054183" cy="1733310"/>
          </a:xfrm>
          <a:prstGeom prst="rect">
            <a:avLst/>
          </a:prstGeom>
        </p:spPr>
      </p:pic>
    </p:spTree>
    <p:extLst>
      <p:ext uri="{BB962C8B-B14F-4D97-AF65-F5344CB8AC3E}">
        <p14:creationId xmlns:p14="http://schemas.microsoft.com/office/powerpoint/2010/main" val="1364149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1B078-C49A-866E-E318-29EC457BD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CD05C-6274-57AA-D0C5-6147B3D4C394}"/>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960E476B-7B4E-54B6-5A84-99D9C7F51AB2}"/>
              </a:ext>
            </a:extLst>
          </p:cNvPr>
          <p:cNvSpPr>
            <a:spLocks noGrp="1"/>
          </p:cNvSpPr>
          <p:nvPr>
            <p:ph idx="1"/>
          </p:nvPr>
        </p:nvSpPr>
        <p:spPr>
          <a:xfrm>
            <a:off x="838200" y="1825625"/>
            <a:ext cx="10515600" cy="4667250"/>
          </a:xfrm>
        </p:spPr>
        <p:txBody>
          <a:bodyPr>
            <a:normAutofit/>
          </a:bodyPr>
          <a:lstStyle/>
          <a:p>
            <a:r>
              <a:rPr lang="en-US" dirty="0"/>
              <a:t>Finally, we can use a loop to call the bark()member function of each Dog object in the array.</a:t>
            </a:r>
          </a:p>
          <a:p>
            <a:endParaRPr lang="en-US" dirty="0"/>
          </a:p>
          <a:p>
            <a:endParaRPr lang="en-US" dirty="0"/>
          </a:p>
          <a:p>
            <a:endParaRPr lang="en-US" dirty="0"/>
          </a:p>
          <a:p>
            <a:endParaRPr lang="en-US" dirty="0"/>
          </a:p>
          <a:p>
            <a:r>
              <a:rPr lang="en-US" dirty="0"/>
              <a:t>Because of polymorphism, and because the </a:t>
            </a:r>
            <a:r>
              <a:rPr lang="en-US" i="1" dirty="0">
                <a:solidFill>
                  <a:srgbClr val="FF0000"/>
                </a:solidFill>
              </a:rPr>
              <a:t>bark() </a:t>
            </a:r>
            <a:r>
              <a:rPr lang="en-US" dirty="0"/>
              <a:t>function was declared virtual, the same line of code inside the loop will call the original </a:t>
            </a:r>
            <a:r>
              <a:rPr lang="en-US" i="1" dirty="0">
                <a:solidFill>
                  <a:srgbClr val="FF0000"/>
                </a:solidFill>
              </a:rPr>
              <a:t>bark() </a:t>
            </a:r>
            <a:r>
              <a:rPr lang="en-US" dirty="0"/>
              <a:t>function for a regular dog but will call the specialized bark() function for a sheep dog.</a:t>
            </a:r>
          </a:p>
        </p:txBody>
      </p:sp>
      <p:pic>
        <p:nvPicPr>
          <p:cNvPr id="5" name="Picture 4">
            <a:extLst>
              <a:ext uri="{FF2B5EF4-FFF2-40B4-BE49-F238E27FC236}">
                <a16:creationId xmlns:a16="http://schemas.microsoft.com/office/drawing/2014/main" id="{1BDA2D69-85C4-CE1D-612B-7F3320615E03}"/>
              </a:ext>
            </a:extLst>
          </p:cNvPr>
          <p:cNvPicPr>
            <a:picLocks noChangeAspect="1"/>
          </p:cNvPicPr>
          <p:nvPr/>
        </p:nvPicPr>
        <p:blipFill>
          <a:blip r:embed="rId2"/>
          <a:stretch>
            <a:fillRect/>
          </a:stretch>
        </p:blipFill>
        <p:spPr>
          <a:xfrm>
            <a:off x="3596625" y="2808737"/>
            <a:ext cx="4998749" cy="1815022"/>
          </a:xfrm>
          <a:prstGeom prst="rect">
            <a:avLst/>
          </a:prstGeom>
        </p:spPr>
      </p:pic>
    </p:spTree>
    <p:extLst>
      <p:ext uri="{BB962C8B-B14F-4D97-AF65-F5344CB8AC3E}">
        <p14:creationId xmlns:p14="http://schemas.microsoft.com/office/powerpoint/2010/main" val="21389327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F12D-D2FA-33CC-9D05-6A5B3123DFE0}"/>
              </a:ext>
            </a:extLst>
          </p:cNvPr>
          <p:cNvSpPr>
            <a:spLocks noGrp="1"/>
          </p:cNvSpPr>
          <p:nvPr>
            <p:ph type="title"/>
          </p:nvPr>
        </p:nvSpPr>
        <p:spPr/>
        <p:txBody>
          <a:bodyPr/>
          <a:lstStyle/>
          <a:p>
            <a:r>
              <a:rPr lang="en-US" dirty="0"/>
              <a:t>Complete Example</a:t>
            </a:r>
          </a:p>
        </p:txBody>
      </p:sp>
      <p:pic>
        <p:nvPicPr>
          <p:cNvPr id="4" name="Picture 3">
            <a:extLst>
              <a:ext uri="{FF2B5EF4-FFF2-40B4-BE49-F238E27FC236}">
                <a16:creationId xmlns:a16="http://schemas.microsoft.com/office/drawing/2014/main" id="{C0691416-1E40-19C2-6477-9C4E1F8AD385}"/>
              </a:ext>
            </a:extLst>
          </p:cNvPr>
          <p:cNvPicPr>
            <a:picLocks noChangeAspect="1"/>
          </p:cNvPicPr>
          <p:nvPr/>
        </p:nvPicPr>
        <p:blipFill>
          <a:blip r:embed="rId2"/>
          <a:stretch>
            <a:fillRect/>
          </a:stretch>
        </p:blipFill>
        <p:spPr>
          <a:xfrm>
            <a:off x="271254" y="1690688"/>
            <a:ext cx="3423250" cy="4545315"/>
          </a:xfrm>
          <a:prstGeom prst="rect">
            <a:avLst/>
          </a:prstGeom>
        </p:spPr>
      </p:pic>
      <p:pic>
        <p:nvPicPr>
          <p:cNvPr id="5" name="Picture 4">
            <a:extLst>
              <a:ext uri="{FF2B5EF4-FFF2-40B4-BE49-F238E27FC236}">
                <a16:creationId xmlns:a16="http://schemas.microsoft.com/office/drawing/2014/main" id="{7346D88D-7B8B-8B91-CB9F-FA2243E598C1}"/>
              </a:ext>
            </a:extLst>
          </p:cNvPr>
          <p:cNvPicPr>
            <a:picLocks noChangeAspect="1"/>
          </p:cNvPicPr>
          <p:nvPr/>
        </p:nvPicPr>
        <p:blipFill>
          <a:blip r:embed="rId3"/>
          <a:stretch>
            <a:fillRect/>
          </a:stretch>
        </p:blipFill>
        <p:spPr>
          <a:xfrm>
            <a:off x="3964796" y="1690688"/>
            <a:ext cx="3423249" cy="2502847"/>
          </a:xfrm>
          <a:prstGeom prst="rect">
            <a:avLst/>
          </a:prstGeom>
        </p:spPr>
      </p:pic>
      <p:pic>
        <p:nvPicPr>
          <p:cNvPr id="6" name="Picture 5">
            <a:extLst>
              <a:ext uri="{FF2B5EF4-FFF2-40B4-BE49-F238E27FC236}">
                <a16:creationId xmlns:a16="http://schemas.microsoft.com/office/drawing/2014/main" id="{3BA83AD4-3CD9-EE5B-0466-9C75AEEAD2B1}"/>
              </a:ext>
            </a:extLst>
          </p:cNvPr>
          <p:cNvPicPr>
            <a:picLocks noChangeAspect="1"/>
          </p:cNvPicPr>
          <p:nvPr/>
        </p:nvPicPr>
        <p:blipFill>
          <a:blip r:embed="rId4"/>
          <a:stretch>
            <a:fillRect/>
          </a:stretch>
        </p:blipFill>
        <p:spPr>
          <a:xfrm>
            <a:off x="7954033" y="1690688"/>
            <a:ext cx="4131574" cy="3827782"/>
          </a:xfrm>
          <a:prstGeom prst="rect">
            <a:avLst/>
          </a:prstGeom>
        </p:spPr>
      </p:pic>
      <p:pic>
        <p:nvPicPr>
          <p:cNvPr id="7" name="Picture 6">
            <a:extLst>
              <a:ext uri="{FF2B5EF4-FFF2-40B4-BE49-F238E27FC236}">
                <a16:creationId xmlns:a16="http://schemas.microsoft.com/office/drawing/2014/main" id="{BF25521C-7FB7-BFE1-8528-9858C274CC8D}"/>
              </a:ext>
            </a:extLst>
          </p:cNvPr>
          <p:cNvPicPr>
            <a:picLocks noChangeAspect="1"/>
          </p:cNvPicPr>
          <p:nvPr/>
        </p:nvPicPr>
        <p:blipFill>
          <a:blip r:embed="rId5"/>
          <a:stretch>
            <a:fillRect/>
          </a:stretch>
        </p:blipFill>
        <p:spPr>
          <a:xfrm>
            <a:off x="4260492" y="4551112"/>
            <a:ext cx="2797355" cy="1606589"/>
          </a:xfrm>
          <a:prstGeom prst="rect">
            <a:avLst/>
          </a:prstGeom>
        </p:spPr>
      </p:pic>
    </p:spTree>
    <p:extLst>
      <p:ext uri="{BB962C8B-B14F-4D97-AF65-F5344CB8AC3E}">
        <p14:creationId xmlns:p14="http://schemas.microsoft.com/office/powerpoint/2010/main" val="72993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871A-88A1-750F-7D8B-192593BBD984}"/>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563CC34F-06DE-08CB-5468-9355AEDFB214}"/>
              </a:ext>
            </a:extLst>
          </p:cNvPr>
          <p:cNvSpPr>
            <a:spLocks noGrp="1"/>
          </p:cNvSpPr>
          <p:nvPr>
            <p:ph idx="1"/>
          </p:nvPr>
        </p:nvSpPr>
        <p:spPr/>
        <p:txBody>
          <a:bodyPr/>
          <a:lstStyle/>
          <a:p>
            <a:pPr algn="l"/>
            <a:r>
              <a:rPr lang="en-US" dirty="0">
                <a:effectLst/>
              </a:rPr>
              <a:t>Inheritance is a better choice than composition in this example, since to use composition would be tantamount to saying that a sheep dog </a:t>
            </a:r>
            <a:r>
              <a:rPr lang="en-US" i="1" dirty="0">
                <a:effectLst/>
              </a:rPr>
              <a:t>has a</a:t>
            </a:r>
            <a:r>
              <a:rPr lang="en-US" dirty="0">
                <a:effectLst/>
              </a:rPr>
              <a:t> dog, instead of saying that a sheep dog </a:t>
            </a:r>
            <a:r>
              <a:rPr lang="en-US" i="1" dirty="0">
                <a:effectLst/>
              </a:rPr>
              <a:t>is a</a:t>
            </a:r>
            <a:r>
              <a:rPr lang="en-US" dirty="0">
                <a:effectLst/>
              </a:rPr>
              <a:t> dog.</a:t>
            </a:r>
          </a:p>
          <a:p>
            <a:r>
              <a:rPr lang="en-US" dirty="0"/>
              <a:t>How can you know when to use inheritance and when to use composition?</a:t>
            </a:r>
          </a:p>
        </p:txBody>
      </p:sp>
    </p:spTree>
    <p:extLst>
      <p:ext uri="{BB962C8B-B14F-4D97-AF65-F5344CB8AC3E}">
        <p14:creationId xmlns:p14="http://schemas.microsoft.com/office/powerpoint/2010/main" val="9355224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6A9C-064F-2ADB-EFB2-68344DE38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ED882-E01C-1EFA-C1AE-BA21368B9192}"/>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A341FAB0-8948-3652-7910-0C55A6D2BB57}"/>
              </a:ext>
            </a:extLst>
          </p:cNvPr>
          <p:cNvSpPr>
            <a:spLocks noGrp="1"/>
          </p:cNvSpPr>
          <p:nvPr>
            <p:ph idx="1"/>
          </p:nvPr>
        </p:nvSpPr>
        <p:spPr/>
        <p:txBody>
          <a:bodyPr/>
          <a:lstStyle/>
          <a:p>
            <a:pPr algn="l"/>
            <a:r>
              <a:rPr lang="en-US" dirty="0"/>
              <a:t>Suppose that you have an existing class C1 and you need to write a definition for another class C2 that will need the services of an associated C1 object. </a:t>
            </a:r>
          </a:p>
          <a:p>
            <a:pPr algn="l"/>
            <a:r>
              <a:rPr lang="en-US" dirty="0"/>
              <a:t>Should you derive C2 from C1, or should you give C2 a member variable of type C1? </a:t>
            </a:r>
          </a:p>
          <a:p>
            <a:pPr algn="l"/>
            <a:r>
              <a:rPr lang="en-US" dirty="0"/>
              <a:t>In general, you should prefer composition to inheritance. </a:t>
            </a:r>
          </a:p>
        </p:txBody>
      </p:sp>
    </p:spTree>
    <p:extLst>
      <p:ext uri="{BB962C8B-B14F-4D97-AF65-F5344CB8AC3E}">
        <p14:creationId xmlns:p14="http://schemas.microsoft.com/office/powerpoint/2010/main" val="201611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FB21E-3489-7D3B-45DE-22118C4BF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372C9-0612-1A00-E6A6-059F55E04EAF}"/>
              </a:ext>
            </a:extLst>
          </p:cNvPr>
          <p:cNvSpPr>
            <a:spLocks noGrp="1"/>
          </p:cNvSpPr>
          <p:nvPr>
            <p:ph type="title"/>
          </p:nvPr>
        </p:nvSpPr>
        <p:spPr/>
        <p:txBody>
          <a:bodyPr/>
          <a:lstStyle/>
          <a:p>
            <a:r>
              <a:rPr lang="en-US" dirty="0"/>
              <a:t>Composition versus Inheritance</a:t>
            </a:r>
          </a:p>
        </p:txBody>
      </p:sp>
      <p:sp>
        <p:nvSpPr>
          <p:cNvPr id="3" name="Content Placeholder 2">
            <a:extLst>
              <a:ext uri="{FF2B5EF4-FFF2-40B4-BE49-F238E27FC236}">
                <a16:creationId xmlns:a16="http://schemas.microsoft.com/office/drawing/2014/main" id="{B728A5AB-313D-2EF8-C35F-37B9F25320F1}"/>
              </a:ext>
            </a:extLst>
          </p:cNvPr>
          <p:cNvSpPr>
            <a:spLocks noGrp="1"/>
          </p:cNvSpPr>
          <p:nvPr>
            <p:ph idx="1"/>
          </p:nvPr>
        </p:nvSpPr>
        <p:spPr/>
        <p:txBody>
          <a:bodyPr/>
          <a:lstStyle/>
          <a:p>
            <a:pPr marL="0" indent="0" algn="l">
              <a:buNone/>
            </a:pPr>
            <a:r>
              <a:rPr lang="en-US" dirty="0">
                <a:effectLst/>
              </a:rPr>
              <a:t>To help determine if inheritance may be appropriate, you might ask the following questions:</a:t>
            </a:r>
          </a:p>
          <a:p>
            <a:pPr>
              <a:buFont typeface="Arial" panose="020B0604020202020204" pitchFamily="34" charset="0"/>
              <a:buChar char="•"/>
            </a:pPr>
            <a:r>
              <a:rPr lang="en-US" dirty="0"/>
              <a:t>Is it natural to think of a C2 object as a special type of C1 object? If so, then you should use inheritance.</a:t>
            </a:r>
          </a:p>
          <a:p>
            <a:pPr>
              <a:buFont typeface="Arial" panose="020B0604020202020204" pitchFamily="34" charset="0"/>
              <a:buChar char="•"/>
            </a:pPr>
            <a:r>
              <a:rPr lang="en-US" dirty="0"/>
              <a:t>Will objects of class C2 need to be used in places where objects of class C1 are used? For example, will they need to be passed to functions that take reference parameters of type C1, or pointers to C1? If so, then you should make C2 a derived class of C1.</a:t>
            </a:r>
          </a:p>
        </p:txBody>
      </p:sp>
    </p:spTree>
    <p:extLst>
      <p:ext uri="{BB962C8B-B14F-4D97-AF65-F5344CB8AC3E}">
        <p14:creationId xmlns:p14="http://schemas.microsoft.com/office/powerpoint/2010/main" val="2995310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835</TotalTime>
  <Words>3266</Words>
  <Application>Microsoft Macintosh PowerPoint</Application>
  <PresentationFormat>Widescreen</PresentationFormat>
  <Paragraphs>192</Paragraphs>
  <Slides>51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Aptos</vt:lpstr>
      <vt:lpstr>Aptos Display</vt:lpstr>
      <vt:lpstr>Arial</vt:lpstr>
      <vt:lpstr>Office Theme</vt:lpstr>
      <vt:lpstr>CS 331</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Polymorphism and Virtual Member Functions</vt:lpstr>
      <vt:lpstr>Example</vt:lpstr>
      <vt:lpstr>Example</vt:lpstr>
      <vt:lpstr>Dynamic and Static Binding</vt:lpstr>
      <vt:lpstr>Dynamic and Static Binding</vt:lpstr>
      <vt:lpstr>Dynamic and Static Binding</vt:lpstr>
      <vt:lpstr>C++ 11’s override and final Key Words</vt:lpstr>
      <vt:lpstr>C++ 11’s override and final Key Words</vt:lpstr>
      <vt:lpstr>C++ 11’s override and final Key Words</vt:lpstr>
      <vt:lpstr>C++ 11’s override and final Key Words</vt:lpstr>
      <vt:lpstr>C++ 11’s override and final Key Words</vt:lpstr>
      <vt:lpstr>Preventing a Member Function from Being Overridden</vt:lpstr>
      <vt:lpstr>Abstract Base Classes and Pure Virtual Functions</vt:lpstr>
      <vt:lpstr>Abstract Base Classes and Pure Virtual Functions</vt:lpstr>
      <vt:lpstr>Abstract Base Classes and Pure Virtual Functions</vt:lpstr>
      <vt:lpstr>Abstract Base Classes and Pure Virtual Functions</vt:lpstr>
      <vt:lpstr>Example</vt:lpstr>
      <vt:lpstr>Abstract Base Classes and Pure Virtual Functions</vt:lpstr>
      <vt:lpstr>Abstract Base Classes and Pure Virtual Functions</vt:lpstr>
      <vt:lpstr>Abstract Base Classes and Pure Virtual Functions</vt:lpstr>
      <vt:lpstr>Example</vt:lpstr>
      <vt:lpstr>Example</vt:lpstr>
      <vt:lpstr>Example</vt:lpstr>
      <vt:lpstr>Abstract Base Classes and Pure Virtual Functions</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Composition versus Inheritance</vt:lpstr>
      <vt:lpstr>Complete Example</vt:lpstr>
      <vt:lpstr>Composition versus Inheritance</vt:lpstr>
      <vt:lpstr>Composition versus Inheritance</vt:lpstr>
      <vt:lpstr>Composition versus Inheritance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5</cp:revision>
  <dcterms:created xsi:type="dcterms:W3CDTF">2024-11-14T10:47:34Z</dcterms:created>
  <dcterms:modified xsi:type="dcterms:W3CDTF">2024-11-19T13:02:45Z</dcterms:modified>
</cp:coreProperties>
</file>