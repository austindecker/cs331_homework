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55"/>
  </p:notesMasterIdLst>
  <p:sldIdLst>
    <p:sldId id="256" r:id="rId2"/>
    <p:sldId id="311" r:id="rId3"/>
    <p:sldId id="312" r:id="rId4"/>
    <p:sldId id="313" r:id="rId5"/>
    <p:sldId id="314" r:id="rId6"/>
    <p:sldId id="315" r:id="rId7"/>
    <p:sldId id="316" r:id="rId8"/>
    <p:sldId id="317" r:id="rId9"/>
    <p:sldId id="318" r:id="rId10"/>
    <p:sldId id="319" r:id="rId11"/>
    <p:sldId id="320" r:id="rId12"/>
    <p:sldId id="321" r:id="rId13"/>
    <p:sldId id="330" r:id="rId14"/>
    <p:sldId id="322" r:id="rId15"/>
    <p:sldId id="323" r:id="rId16"/>
    <p:sldId id="324" r:id="rId17"/>
    <p:sldId id="325" r:id="rId18"/>
    <p:sldId id="326" r:id="rId19"/>
    <p:sldId id="327" r:id="rId20"/>
    <p:sldId id="328" r:id="rId21"/>
    <p:sldId id="329" r:id="rId22"/>
    <p:sldId id="331" r:id="rId23"/>
    <p:sldId id="332" r:id="rId24"/>
    <p:sldId id="333" r:id="rId25"/>
    <p:sldId id="334" r:id="rId26"/>
    <p:sldId id="335" r:id="rId27"/>
    <p:sldId id="336" r:id="rId28"/>
    <p:sldId id="337" r:id="rId29"/>
    <p:sldId id="338" r:id="rId30"/>
    <p:sldId id="339" r:id="rId31"/>
    <p:sldId id="340" r:id="rId32"/>
    <p:sldId id="341" r:id="rId33"/>
    <p:sldId id="342" r:id="rId34"/>
    <p:sldId id="343" r:id="rId35"/>
    <p:sldId id="344" r:id="rId36"/>
    <p:sldId id="345" r:id="rId37"/>
    <p:sldId id="346" r:id="rId38"/>
    <p:sldId id="347" r:id="rId39"/>
    <p:sldId id="348" r:id="rId40"/>
    <p:sldId id="349" r:id="rId41"/>
    <p:sldId id="350" r:id="rId42"/>
    <p:sldId id="351" r:id="rId43"/>
    <p:sldId id="352" r:id="rId44"/>
    <p:sldId id="353" r:id="rId45"/>
    <p:sldId id="354" r:id="rId46"/>
    <p:sldId id="355" r:id="rId47"/>
    <p:sldId id="356" r:id="rId48"/>
    <p:sldId id="357" r:id="rId49"/>
    <p:sldId id="358" r:id="rId50"/>
    <p:sldId id="359" r:id="rId51"/>
    <p:sldId id="360" r:id="rId52"/>
    <p:sldId id="361" r:id="rId53"/>
    <p:sldId id="362" r:id="rId5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ferSingleView="1">
    <p:restoredLeft sz="13536"/>
    <p:restoredTop sz="94733"/>
  </p:normalViewPr>
  <p:slideViewPr>
    <p:cSldViewPr snapToGrid="0">
      <p:cViewPr varScale="1">
        <p:scale>
          <a:sx n="150" d="100"/>
          <a:sy n="150" d="100"/>
        </p:scale>
        <p:origin x="168" y="1360"/>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80" d="100"/>
        <a:sy n="80"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notesMaster" Target="notesMasters/notes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theme" Target="theme/theme1.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viewProps" Target="view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456C011-2B12-A349-B423-75820124C188}" type="datetimeFigureOut">
              <a:rPr lang="en-US" smtClean="0"/>
              <a:t>10/31/24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03771B0-8F24-4B48-82A1-68205750A15E}" type="slidenum">
              <a:rPr lang="en-US" smtClean="0"/>
              <a:t>‹#›</a:t>
            </a:fld>
            <a:endParaRPr lang="en-US"/>
          </a:p>
        </p:txBody>
      </p:sp>
    </p:spTree>
    <p:extLst>
      <p:ext uri="{BB962C8B-B14F-4D97-AF65-F5344CB8AC3E}">
        <p14:creationId xmlns:p14="http://schemas.microsoft.com/office/powerpoint/2010/main" val="264270769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367497-2233-5CF0-D049-3FFE529D28E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DF94D115-F585-35D3-86C8-CE06BA1A1BC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95996EB9-ED37-4522-F71D-A51F84C88D9A}"/>
              </a:ext>
            </a:extLst>
          </p:cNvPr>
          <p:cNvSpPr>
            <a:spLocks noGrp="1"/>
          </p:cNvSpPr>
          <p:nvPr>
            <p:ph type="dt" sz="half" idx="10"/>
          </p:nvPr>
        </p:nvSpPr>
        <p:spPr/>
        <p:txBody>
          <a:bodyPr/>
          <a:lstStyle/>
          <a:p>
            <a:fld id="{AB0FC227-1C15-4A43-BEB2-13798C94F5EF}" type="datetimeFigureOut">
              <a:rPr lang="en-US" smtClean="0"/>
              <a:t>10/31/24</a:t>
            </a:fld>
            <a:endParaRPr lang="en-US"/>
          </a:p>
        </p:txBody>
      </p:sp>
      <p:sp>
        <p:nvSpPr>
          <p:cNvPr id="5" name="Footer Placeholder 4">
            <a:extLst>
              <a:ext uri="{FF2B5EF4-FFF2-40B4-BE49-F238E27FC236}">
                <a16:creationId xmlns:a16="http://schemas.microsoft.com/office/drawing/2014/main" id="{668D73EB-6B6D-514E-46B4-AC8E2A7ED1F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DE70961-F70B-DCDF-5938-603A6023FACF}"/>
              </a:ext>
            </a:extLst>
          </p:cNvPr>
          <p:cNvSpPr>
            <a:spLocks noGrp="1"/>
          </p:cNvSpPr>
          <p:nvPr>
            <p:ph type="sldNum" sz="quarter" idx="12"/>
          </p:nvPr>
        </p:nvSpPr>
        <p:spPr/>
        <p:txBody>
          <a:bodyPr/>
          <a:lstStyle/>
          <a:p>
            <a:fld id="{58BA0F0C-220E-F745-AF73-56D3AD921199}" type="slidenum">
              <a:rPr lang="en-US" smtClean="0"/>
              <a:t>‹#›</a:t>
            </a:fld>
            <a:endParaRPr lang="en-US"/>
          </a:p>
        </p:txBody>
      </p:sp>
    </p:spTree>
    <p:extLst>
      <p:ext uri="{BB962C8B-B14F-4D97-AF65-F5344CB8AC3E}">
        <p14:creationId xmlns:p14="http://schemas.microsoft.com/office/powerpoint/2010/main" val="218700969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9DA4DE-2D31-0C7A-A721-701831C83E6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7ED0C0D-979C-4AB8-6686-C9351CC22C5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D6C67E4-650A-56FF-41C3-1B46C3CB540F}"/>
              </a:ext>
            </a:extLst>
          </p:cNvPr>
          <p:cNvSpPr>
            <a:spLocks noGrp="1"/>
          </p:cNvSpPr>
          <p:nvPr>
            <p:ph type="dt" sz="half" idx="10"/>
          </p:nvPr>
        </p:nvSpPr>
        <p:spPr/>
        <p:txBody>
          <a:bodyPr/>
          <a:lstStyle/>
          <a:p>
            <a:fld id="{AB0FC227-1C15-4A43-BEB2-13798C94F5EF}" type="datetimeFigureOut">
              <a:rPr lang="en-US" smtClean="0"/>
              <a:t>10/31/24</a:t>
            </a:fld>
            <a:endParaRPr lang="en-US"/>
          </a:p>
        </p:txBody>
      </p:sp>
      <p:sp>
        <p:nvSpPr>
          <p:cNvPr id="5" name="Footer Placeholder 4">
            <a:extLst>
              <a:ext uri="{FF2B5EF4-FFF2-40B4-BE49-F238E27FC236}">
                <a16:creationId xmlns:a16="http://schemas.microsoft.com/office/drawing/2014/main" id="{C271C418-59A5-361F-42A4-E3195CC5653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2858B9A-FAF1-FAEB-3795-06FB6CD79B36}"/>
              </a:ext>
            </a:extLst>
          </p:cNvPr>
          <p:cNvSpPr>
            <a:spLocks noGrp="1"/>
          </p:cNvSpPr>
          <p:nvPr>
            <p:ph type="sldNum" sz="quarter" idx="12"/>
          </p:nvPr>
        </p:nvSpPr>
        <p:spPr/>
        <p:txBody>
          <a:bodyPr/>
          <a:lstStyle/>
          <a:p>
            <a:fld id="{58BA0F0C-220E-F745-AF73-56D3AD921199}" type="slidenum">
              <a:rPr lang="en-US" smtClean="0"/>
              <a:t>‹#›</a:t>
            </a:fld>
            <a:endParaRPr lang="en-US"/>
          </a:p>
        </p:txBody>
      </p:sp>
    </p:spTree>
    <p:extLst>
      <p:ext uri="{BB962C8B-B14F-4D97-AF65-F5344CB8AC3E}">
        <p14:creationId xmlns:p14="http://schemas.microsoft.com/office/powerpoint/2010/main" val="386973894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F259E4-332F-B0C5-9ADD-446A2A66BC6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FB2DC95D-4EE4-FE1E-E538-C9EF981D3165}"/>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4B25E69-010B-BEE4-B7A9-B36D23D612C9}"/>
              </a:ext>
            </a:extLst>
          </p:cNvPr>
          <p:cNvSpPr>
            <a:spLocks noGrp="1"/>
          </p:cNvSpPr>
          <p:nvPr>
            <p:ph type="dt" sz="half" idx="10"/>
          </p:nvPr>
        </p:nvSpPr>
        <p:spPr/>
        <p:txBody>
          <a:bodyPr/>
          <a:lstStyle/>
          <a:p>
            <a:fld id="{AB0FC227-1C15-4A43-BEB2-13798C94F5EF}" type="datetimeFigureOut">
              <a:rPr lang="en-US" smtClean="0"/>
              <a:t>10/31/24</a:t>
            </a:fld>
            <a:endParaRPr lang="en-US"/>
          </a:p>
        </p:txBody>
      </p:sp>
      <p:sp>
        <p:nvSpPr>
          <p:cNvPr id="5" name="Footer Placeholder 4">
            <a:extLst>
              <a:ext uri="{FF2B5EF4-FFF2-40B4-BE49-F238E27FC236}">
                <a16:creationId xmlns:a16="http://schemas.microsoft.com/office/drawing/2014/main" id="{F70576AA-DCF5-179A-5EF8-DB0C5D62AAC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06DF326-798F-9EBB-37FC-6826A11179D6}"/>
              </a:ext>
            </a:extLst>
          </p:cNvPr>
          <p:cNvSpPr>
            <a:spLocks noGrp="1"/>
          </p:cNvSpPr>
          <p:nvPr>
            <p:ph type="sldNum" sz="quarter" idx="12"/>
          </p:nvPr>
        </p:nvSpPr>
        <p:spPr/>
        <p:txBody>
          <a:bodyPr/>
          <a:lstStyle/>
          <a:p>
            <a:fld id="{58BA0F0C-220E-F745-AF73-56D3AD921199}" type="slidenum">
              <a:rPr lang="en-US" smtClean="0"/>
              <a:t>‹#›</a:t>
            </a:fld>
            <a:endParaRPr lang="en-US"/>
          </a:p>
        </p:txBody>
      </p:sp>
    </p:spTree>
    <p:extLst>
      <p:ext uri="{BB962C8B-B14F-4D97-AF65-F5344CB8AC3E}">
        <p14:creationId xmlns:p14="http://schemas.microsoft.com/office/powerpoint/2010/main" val="92715804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C74D5F-9258-DF13-DCEF-218C81B1829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2FA7483-54CF-CB1C-6F5C-CF86CA1B94D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04BF5A2F-DF1A-A79D-BC75-8F70F087C35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5E468058-E579-F920-BD66-6AF61C39332C}"/>
              </a:ext>
            </a:extLst>
          </p:cNvPr>
          <p:cNvSpPr>
            <a:spLocks noGrp="1"/>
          </p:cNvSpPr>
          <p:nvPr>
            <p:ph type="dt" sz="half" idx="10"/>
          </p:nvPr>
        </p:nvSpPr>
        <p:spPr/>
        <p:txBody>
          <a:bodyPr/>
          <a:lstStyle/>
          <a:p>
            <a:fld id="{AB0FC227-1C15-4A43-BEB2-13798C94F5EF}" type="datetimeFigureOut">
              <a:rPr lang="en-US" smtClean="0"/>
              <a:t>10/31/24</a:t>
            </a:fld>
            <a:endParaRPr lang="en-US"/>
          </a:p>
        </p:txBody>
      </p:sp>
      <p:sp>
        <p:nvSpPr>
          <p:cNvPr id="6" name="Footer Placeholder 5">
            <a:extLst>
              <a:ext uri="{FF2B5EF4-FFF2-40B4-BE49-F238E27FC236}">
                <a16:creationId xmlns:a16="http://schemas.microsoft.com/office/drawing/2014/main" id="{2422F2A9-A4C6-0C5C-6645-32929077A39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93FC57C-92E4-F87D-E113-E8026EC42619}"/>
              </a:ext>
            </a:extLst>
          </p:cNvPr>
          <p:cNvSpPr>
            <a:spLocks noGrp="1"/>
          </p:cNvSpPr>
          <p:nvPr>
            <p:ph type="sldNum" sz="quarter" idx="12"/>
          </p:nvPr>
        </p:nvSpPr>
        <p:spPr/>
        <p:txBody>
          <a:bodyPr/>
          <a:lstStyle/>
          <a:p>
            <a:fld id="{58BA0F0C-220E-F745-AF73-56D3AD921199}" type="slidenum">
              <a:rPr lang="en-US" smtClean="0"/>
              <a:t>‹#›</a:t>
            </a:fld>
            <a:endParaRPr lang="en-US"/>
          </a:p>
        </p:txBody>
      </p:sp>
    </p:spTree>
    <p:extLst>
      <p:ext uri="{BB962C8B-B14F-4D97-AF65-F5344CB8AC3E}">
        <p14:creationId xmlns:p14="http://schemas.microsoft.com/office/powerpoint/2010/main" val="25907615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1788BF-5473-99A1-0999-2A058B6D0CC4}"/>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B8D4B2D7-B13D-4E6A-A7CB-45FE4391BA3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54FE831-2105-FC35-6CBC-C1A8A437B2B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BC050A41-473F-AB64-B608-38AC9065D34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0AFA31D-95BF-E042-532F-63CF23591FC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9AA18247-8390-2DAA-D575-263969C46CFF}"/>
              </a:ext>
            </a:extLst>
          </p:cNvPr>
          <p:cNvSpPr>
            <a:spLocks noGrp="1"/>
          </p:cNvSpPr>
          <p:nvPr>
            <p:ph type="dt" sz="half" idx="10"/>
          </p:nvPr>
        </p:nvSpPr>
        <p:spPr/>
        <p:txBody>
          <a:bodyPr/>
          <a:lstStyle/>
          <a:p>
            <a:fld id="{AB0FC227-1C15-4A43-BEB2-13798C94F5EF}" type="datetimeFigureOut">
              <a:rPr lang="en-US" smtClean="0"/>
              <a:t>10/31/24</a:t>
            </a:fld>
            <a:endParaRPr lang="en-US"/>
          </a:p>
        </p:txBody>
      </p:sp>
      <p:sp>
        <p:nvSpPr>
          <p:cNvPr id="8" name="Footer Placeholder 7">
            <a:extLst>
              <a:ext uri="{FF2B5EF4-FFF2-40B4-BE49-F238E27FC236}">
                <a16:creationId xmlns:a16="http://schemas.microsoft.com/office/drawing/2014/main" id="{7BA1577C-D833-D373-A105-6149F46EAA34}"/>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E21DA587-16E4-3EC3-9080-0DEDCC317F09}"/>
              </a:ext>
            </a:extLst>
          </p:cNvPr>
          <p:cNvSpPr>
            <a:spLocks noGrp="1"/>
          </p:cNvSpPr>
          <p:nvPr>
            <p:ph type="sldNum" sz="quarter" idx="12"/>
          </p:nvPr>
        </p:nvSpPr>
        <p:spPr/>
        <p:txBody>
          <a:bodyPr/>
          <a:lstStyle/>
          <a:p>
            <a:fld id="{58BA0F0C-220E-F745-AF73-56D3AD921199}" type="slidenum">
              <a:rPr lang="en-US" smtClean="0"/>
              <a:t>‹#›</a:t>
            </a:fld>
            <a:endParaRPr lang="en-US"/>
          </a:p>
        </p:txBody>
      </p:sp>
    </p:spTree>
    <p:extLst>
      <p:ext uri="{BB962C8B-B14F-4D97-AF65-F5344CB8AC3E}">
        <p14:creationId xmlns:p14="http://schemas.microsoft.com/office/powerpoint/2010/main" val="350645003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91D489-8375-52EB-A2BC-C499B7894532}"/>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A1245771-1C57-1C89-9263-F224DDBEEA95}"/>
              </a:ext>
            </a:extLst>
          </p:cNvPr>
          <p:cNvSpPr>
            <a:spLocks noGrp="1"/>
          </p:cNvSpPr>
          <p:nvPr>
            <p:ph type="dt" sz="half" idx="10"/>
          </p:nvPr>
        </p:nvSpPr>
        <p:spPr/>
        <p:txBody>
          <a:bodyPr/>
          <a:lstStyle/>
          <a:p>
            <a:fld id="{AB0FC227-1C15-4A43-BEB2-13798C94F5EF}" type="datetimeFigureOut">
              <a:rPr lang="en-US" smtClean="0"/>
              <a:t>10/31/24</a:t>
            </a:fld>
            <a:endParaRPr lang="en-US"/>
          </a:p>
        </p:txBody>
      </p:sp>
      <p:sp>
        <p:nvSpPr>
          <p:cNvPr id="4" name="Footer Placeholder 3">
            <a:extLst>
              <a:ext uri="{FF2B5EF4-FFF2-40B4-BE49-F238E27FC236}">
                <a16:creationId xmlns:a16="http://schemas.microsoft.com/office/drawing/2014/main" id="{1D65A188-9973-35EB-9077-12DDBED8DA81}"/>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83F0DC9-B6C9-3145-FC44-19D0EB210BE7}"/>
              </a:ext>
            </a:extLst>
          </p:cNvPr>
          <p:cNvSpPr>
            <a:spLocks noGrp="1"/>
          </p:cNvSpPr>
          <p:nvPr>
            <p:ph type="sldNum" sz="quarter" idx="12"/>
          </p:nvPr>
        </p:nvSpPr>
        <p:spPr/>
        <p:txBody>
          <a:bodyPr/>
          <a:lstStyle/>
          <a:p>
            <a:fld id="{58BA0F0C-220E-F745-AF73-56D3AD921199}" type="slidenum">
              <a:rPr lang="en-US" smtClean="0"/>
              <a:t>‹#›</a:t>
            </a:fld>
            <a:endParaRPr lang="en-US"/>
          </a:p>
        </p:txBody>
      </p:sp>
    </p:spTree>
    <p:extLst>
      <p:ext uri="{BB962C8B-B14F-4D97-AF65-F5344CB8AC3E}">
        <p14:creationId xmlns:p14="http://schemas.microsoft.com/office/powerpoint/2010/main" val="147611931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4673EAA-7F14-9166-7C72-F01F84FEFCEF}"/>
              </a:ext>
            </a:extLst>
          </p:cNvPr>
          <p:cNvSpPr>
            <a:spLocks noGrp="1"/>
          </p:cNvSpPr>
          <p:nvPr>
            <p:ph type="dt" sz="half" idx="10"/>
          </p:nvPr>
        </p:nvSpPr>
        <p:spPr/>
        <p:txBody>
          <a:bodyPr/>
          <a:lstStyle/>
          <a:p>
            <a:fld id="{AB0FC227-1C15-4A43-BEB2-13798C94F5EF}" type="datetimeFigureOut">
              <a:rPr lang="en-US" smtClean="0"/>
              <a:t>10/31/24</a:t>
            </a:fld>
            <a:endParaRPr lang="en-US"/>
          </a:p>
        </p:txBody>
      </p:sp>
      <p:sp>
        <p:nvSpPr>
          <p:cNvPr id="3" name="Footer Placeholder 2">
            <a:extLst>
              <a:ext uri="{FF2B5EF4-FFF2-40B4-BE49-F238E27FC236}">
                <a16:creationId xmlns:a16="http://schemas.microsoft.com/office/drawing/2014/main" id="{030751A4-47E3-CDB6-8894-9AF86C7E7985}"/>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AE5A304F-1503-1D29-5814-B8DECC3764BA}"/>
              </a:ext>
            </a:extLst>
          </p:cNvPr>
          <p:cNvSpPr>
            <a:spLocks noGrp="1"/>
          </p:cNvSpPr>
          <p:nvPr>
            <p:ph type="sldNum" sz="quarter" idx="12"/>
          </p:nvPr>
        </p:nvSpPr>
        <p:spPr/>
        <p:txBody>
          <a:bodyPr/>
          <a:lstStyle/>
          <a:p>
            <a:fld id="{58BA0F0C-220E-F745-AF73-56D3AD921199}" type="slidenum">
              <a:rPr lang="en-US" smtClean="0"/>
              <a:t>‹#›</a:t>
            </a:fld>
            <a:endParaRPr lang="en-US"/>
          </a:p>
        </p:txBody>
      </p:sp>
    </p:spTree>
    <p:extLst>
      <p:ext uri="{BB962C8B-B14F-4D97-AF65-F5344CB8AC3E}">
        <p14:creationId xmlns:p14="http://schemas.microsoft.com/office/powerpoint/2010/main" val="410164373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39920A-6A00-5561-7691-62B039253FD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FFEB7932-359D-59CA-2D49-88EA741FF8F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730CEEBE-F16C-AA7F-04CD-DDE66660C63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122EFDA-8312-C3FD-A13A-9D9C5938515B}"/>
              </a:ext>
            </a:extLst>
          </p:cNvPr>
          <p:cNvSpPr>
            <a:spLocks noGrp="1"/>
          </p:cNvSpPr>
          <p:nvPr>
            <p:ph type="dt" sz="half" idx="10"/>
          </p:nvPr>
        </p:nvSpPr>
        <p:spPr/>
        <p:txBody>
          <a:bodyPr/>
          <a:lstStyle/>
          <a:p>
            <a:fld id="{AB0FC227-1C15-4A43-BEB2-13798C94F5EF}" type="datetimeFigureOut">
              <a:rPr lang="en-US" smtClean="0"/>
              <a:t>10/31/24</a:t>
            </a:fld>
            <a:endParaRPr lang="en-US"/>
          </a:p>
        </p:txBody>
      </p:sp>
      <p:sp>
        <p:nvSpPr>
          <p:cNvPr id="6" name="Footer Placeholder 5">
            <a:extLst>
              <a:ext uri="{FF2B5EF4-FFF2-40B4-BE49-F238E27FC236}">
                <a16:creationId xmlns:a16="http://schemas.microsoft.com/office/drawing/2014/main" id="{2F7E43B2-AA34-EC21-F0C0-603309F721D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90F55F5-7423-0242-5A2F-09B40472387D}"/>
              </a:ext>
            </a:extLst>
          </p:cNvPr>
          <p:cNvSpPr>
            <a:spLocks noGrp="1"/>
          </p:cNvSpPr>
          <p:nvPr>
            <p:ph type="sldNum" sz="quarter" idx="12"/>
          </p:nvPr>
        </p:nvSpPr>
        <p:spPr/>
        <p:txBody>
          <a:bodyPr/>
          <a:lstStyle/>
          <a:p>
            <a:fld id="{58BA0F0C-220E-F745-AF73-56D3AD921199}" type="slidenum">
              <a:rPr lang="en-US" smtClean="0"/>
              <a:t>‹#›</a:t>
            </a:fld>
            <a:endParaRPr lang="en-US"/>
          </a:p>
        </p:txBody>
      </p:sp>
    </p:spTree>
    <p:extLst>
      <p:ext uri="{BB962C8B-B14F-4D97-AF65-F5344CB8AC3E}">
        <p14:creationId xmlns:p14="http://schemas.microsoft.com/office/powerpoint/2010/main" val="89444810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49EE61-E3C2-EA97-A111-262A8FDBD1B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EE872FFB-1CB2-ABC5-4969-9FAFA704234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A1F19B23-2D62-B991-5FB7-A1DD3A621F1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F2CBC6B-C59D-6BDA-29D9-5FAC341F8588}"/>
              </a:ext>
            </a:extLst>
          </p:cNvPr>
          <p:cNvSpPr>
            <a:spLocks noGrp="1"/>
          </p:cNvSpPr>
          <p:nvPr>
            <p:ph type="dt" sz="half" idx="10"/>
          </p:nvPr>
        </p:nvSpPr>
        <p:spPr/>
        <p:txBody>
          <a:bodyPr/>
          <a:lstStyle/>
          <a:p>
            <a:fld id="{AB0FC227-1C15-4A43-BEB2-13798C94F5EF}" type="datetimeFigureOut">
              <a:rPr lang="en-US" smtClean="0"/>
              <a:t>10/31/24</a:t>
            </a:fld>
            <a:endParaRPr lang="en-US"/>
          </a:p>
        </p:txBody>
      </p:sp>
      <p:sp>
        <p:nvSpPr>
          <p:cNvPr id="6" name="Footer Placeholder 5">
            <a:extLst>
              <a:ext uri="{FF2B5EF4-FFF2-40B4-BE49-F238E27FC236}">
                <a16:creationId xmlns:a16="http://schemas.microsoft.com/office/drawing/2014/main" id="{D8F245B9-8BDF-B1B5-8CE5-B3AC592FA5D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FDCD5E7-9497-5282-8256-9591208A113C}"/>
              </a:ext>
            </a:extLst>
          </p:cNvPr>
          <p:cNvSpPr>
            <a:spLocks noGrp="1"/>
          </p:cNvSpPr>
          <p:nvPr>
            <p:ph type="sldNum" sz="quarter" idx="12"/>
          </p:nvPr>
        </p:nvSpPr>
        <p:spPr/>
        <p:txBody>
          <a:bodyPr/>
          <a:lstStyle/>
          <a:p>
            <a:fld id="{58BA0F0C-220E-F745-AF73-56D3AD921199}" type="slidenum">
              <a:rPr lang="en-US" smtClean="0"/>
              <a:t>‹#›</a:t>
            </a:fld>
            <a:endParaRPr lang="en-US"/>
          </a:p>
        </p:txBody>
      </p:sp>
    </p:spTree>
    <p:extLst>
      <p:ext uri="{BB962C8B-B14F-4D97-AF65-F5344CB8AC3E}">
        <p14:creationId xmlns:p14="http://schemas.microsoft.com/office/powerpoint/2010/main" val="3986016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B4E768-A793-6624-FED1-9F422AEFDC97}"/>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4672B71F-51DC-3C01-BEB7-1AB58B161CF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DC81B14-3A7D-295C-274D-4E49DDF4206B}"/>
              </a:ext>
            </a:extLst>
          </p:cNvPr>
          <p:cNvSpPr>
            <a:spLocks noGrp="1"/>
          </p:cNvSpPr>
          <p:nvPr>
            <p:ph type="dt" sz="half" idx="10"/>
          </p:nvPr>
        </p:nvSpPr>
        <p:spPr/>
        <p:txBody>
          <a:bodyPr/>
          <a:lstStyle/>
          <a:p>
            <a:fld id="{AB0FC227-1C15-4A43-BEB2-13798C94F5EF}" type="datetimeFigureOut">
              <a:rPr lang="en-US" smtClean="0"/>
              <a:t>10/31/24</a:t>
            </a:fld>
            <a:endParaRPr lang="en-US"/>
          </a:p>
        </p:txBody>
      </p:sp>
      <p:sp>
        <p:nvSpPr>
          <p:cNvPr id="5" name="Footer Placeholder 4">
            <a:extLst>
              <a:ext uri="{FF2B5EF4-FFF2-40B4-BE49-F238E27FC236}">
                <a16:creationId xmlns:a16="http://schemas.microsoft.com/office/drawing/2014/main" id="{C9E405A0-2609-8DB4-3682-FE6423E700F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2C21D1E-0B56-2D31-63FA-16ECCC4E5521}"/>
              </a:ext>
            </a:extLst>
          </p:cNvPr>
          <p:cNvSpPr>
            <a:spLocks noGrp="1"/>
          </p:cNvSpPr>
          <p:nvPr>
            <p:ph type="sldNum" sz="quarter" idx="12"/>
          </p:nvPr>
        </p:nvSpPr>
        <p:spPr/>
        <p:txBody>
          <a:bodyPr/>
          <a:lstStyle/>
          <a:p>
            <a:fld id="{58BA0F0C-220E-F745-AF73-56D3AD921199}" type="slidenum">
              <a:rPr lang="en-US" smtClean="0"/>
              <a:t>‹#›</a:t>
            </a:fld>
            <a:endParaRPr lang="en-US"/>
          </a:p>
        </p:txBody>
      </p:sp>
    </p:spTree>
    <p:extLst>
      <p:ext uri="{BB962C8B-B14F-4D97-AF65-F5344CB8AC3E}">
        <p14:creationId xmlns:p14="http://schemas.microsoft.com/office/powerpoint/2010/main" val="250437158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D47ADB8-4CAC-F675-02CB-5F65CFA10C20}"/>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3EFA8541-0C6C-AA22-D374-80870AF1509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7811942-24E3-70CB-5920-73AC5FD9C4E7}"/>
              </a:ext>
            </a:extLst>
          </p:cNvPr>
          <p:cNvSpPr>
            <a:spLocks noGrp="1"/>
          </p:cNvSpPr>
          <p:nvPr>
            <p:ph type="dt" sz="half" idx="10"/>
          </p:nvPr>
        </p:nvSpPr>
        <p:spPr/>
        <p:txBody>
          <a:bodyPr/>
          <a:lstStyle/>
          <a:p>
            <a:fld id="{AB0FC227-1C15-4A43-BEB2-13798C94F5EF}" type="datetimeFigureOut">
              <a:rPr lang="en-US" smtClean="0"/>
              <a:t>10/31/24</a:t>
            </a:fld>
            <a:endParaRPr lang="en-US"/>
          </a:p>
        </p:txBody>
      </p:sp>
      <p:sp>
        <p:nvSpPr>
          <p:cNvPr id="5" name="Footer Placeholder 4">
            <a:extLst>
              <a:ext uri="{FF2B5EF4-FFF2-40B4-BE49-F238E27FC236}">
                <a16:creationId xmlns:a16="http://schemas.microsoft.com/office/drawing/2014/main" id="{41D0E9CF-C281-ED40-0225-DFAEFE0D9DC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1D0D6DC-533F-C171-BD27-F6902641CA29}"/>
              </a:ext>
            </a:extLst>
          </p:cNvPr>
          <p:cNvSpPr>
            <a:spLocks noGrp="1"/>
          </p:cNvSpPr>
          <p:nvPr>
            <p:ph type="sldNum" sz="quarter" idx="12"/>
          </p:nvPr>
        </p:nvSpPr>
        <p:spPr/>
        <p:txBody>
          <a:bodyPr/>
          <a:lstStyle/>
          <a:p>
            <a:fld id="{58BA0F0C-220E-F745-AF73-56D3AD921199}" type="slidenum">
              <a:rPr lang="en-US" smtClean="0"/>
              <a:t>‹#›</a:t>
            </a:fld>
            <a:endParaRPr lang="en-US"/>
          </a:p>
        </p:txBody>
      </p:sp>
    </p:spTree>
    <p:extLst>
      <p:ext uri="{BB962C8B-B14F-4D97-AF65-F5344CB8AC3E}">
        <p14:creationId xmlns:p14="http://schemas.microsoft.com/office/powerpoint/2010/main" val="159844912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C894179-025D-BD23-9799-BAE5EF15BA8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8662D5CB-8C7A-30FD-22E2-AFEABE0A711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6F3CC61-648A-B2B0-A5D7-454AF721700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AB0FC227-1C15-4A43-BEB2-13798C94F5EF}" type="datetimeFigureOut">
              <a:rPr lang="en-US" smtClean="0"/>
              <a:t>10/31/24</a:t>
            </a:fld>
            <a:endParaRPr lang="en-US"/>
          </a:p>
        </p:txBody>
      </p:sp>
      <p:sp>
        <p:nvSpPr>
          <p:cNvPr id="5" name="Footer Placeholder 4">
            <a:extLst>
              <a:ext uri="{FF2B5EF4-FFF2-40B4-BE49-F238E27FC236}">
                <a16:creationId xmlns:a16="http://schemas.microsoft.com/office/drawing/2014/main" id="{B9EB0CF4-EDD5-7B2F-27EE-13E5B726938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E6C55604-2777-5B4B-4679-40C254EEC83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58BA0F0C-220E-F745-AF73-56D3AD921199}" type="slidenum">
              <a:rPr lang="en-US" smtClean="0"/>
              <a:t>‹#›</a:t>
            </a:fld>
            <a:endParaRPr lang="en-US"/>
          </a:p>
        </p:txBody>
      </p:sp>
    </p:spTree>
    <p:extLst>
      <p:ext uri="{BB962C8B-B14F-4D97-AF65-F5344CB8AC3E}">
        <p14:creationId xmlns:p14="http://schemas.microsoft.com/office/powerpoint/2010/main" val="132311106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9.xml.rels><?xml version="1.0" encoding="UTF-8" standalone="yes"?>
<Relationships xmlns="http://schemas.openxmlformats.org/package/2006/relationships"><Relationship Id="rId2" Type="http://schemas.openxmlformats.org/officeDocument/2006/relationships/hyperlink" Target="https://plus.pearson.com/products/38bfda0e-08b5-4b34-9a14-38c88560fefb/pages/urn:pearson:entity:99efc711-3e4d-4c90-80fc-4d5f375b4143?userPreferredType=read" TargetMode="Externa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hyperlink" Target="https://plus.pearson.com/products/38bfda0e-08b5-4b34-9a14-38c88560fefb/pages/urn:pearson:entity:99efc711-3e4d-4c90-80fc-4d5f375b4143?userPreferredType=read" TargetMode="Externa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 Id="rId5" Type="http://schemas.openxmlformats.org/officeDocument/2006/relationships/image" Target="../media/image12.png"/><Relationship Id="rId4" Type="http://schemas.openxmlformats.org/officeDocument/2006/relationships/image" Target="../media/image11.png"/></Relationships>
</file>

<file path=ppt/slides/_rels/slide1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hyperlink" Target="https://plus.pearson.com/products/38bfda0e-08b5-4b34-9a14-38c88560fefb/pages/urn:pearson:entity:818e9af0-4799-476c-a368-390fc25c66cc?userPreferredType=read" TargetMode="Externa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 Id="rId5" Type="http://schemas.openxmlformats.org/officeDocument/2006/relationships/image" Target="../media/image16.png"/><Relationship Id="rId4" Type="http://schemas.openxmlformats.org/officeDocument/2006/relationships/image" Target="../media/image15.png"/></Relationships>
</file>

<file path=ppt/slides/_rels/slide2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 Id="rId4" Type="http://schemas.openxmlformats.org/officeDocument/2006/relationships/image" Target="../media/image19.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 Id="rId4" Type="http://schemas.openxmlformats.org/officeDocument/2006/relationships/image" Target="../media/image22.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hyperlink" Target="https://plus.pearson.com/products/38bfda0e-08b5-4b34-9a14-38c88560fefb/pages/urn:pearson:entity:0f54e964-11eb-4ff9-bfc9-ea78cf5a281a?userPreferredType=read" TargetMode="Externa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hyperlink" Target="https://plus.pearson.com/products/38bfda0e-08b5-4b34-9a14-38c88560fefb/pages/urn:pearson:entity:13a7d72d-a899-41da-a3c9-977cae8810e9?userPreferredType=read" TargetMode="Externa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2.xml"/><Relationship Id="rId4" Type="http://schemas.openxmlformats.org/officeDocument/2006/relationships/image" Target="../media/image27.png"/></Relationships>
</file>

<file path=ppt/slides/_rels/slide30.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hyperlink" Target="https://plus.pearson.com/products/38bfda0e-08b5-4b34-9a14-38c88560fefb/pages/urn:pearson:entity:114b2afb-760d-4821-bca4-1bf62127ed1d?userPreferredType=read" TargetMode="Externa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hyperlink" Target="https://plus.pearson.com/products/38bfda0e-08b5-4b34-9a14-38c88560fefb/pages/urn:pearson:entity:114b2afb-760d-4821-bca4-1bf62127ed1d?userPreferredType=read" TargetMode="Externa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slideLayout" Target="../slideLayouts/slideLayout2.xml"/><Relationship Id="rId4" Type="http://schemas.openxmlformats.org/officeDocument/2006/relationships/image" Target="../media/image39.png"/></Relationships>
</file>

<file path=ppt/slides/_rels/slide53.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0.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A2ACEA-34DD-C4AE-91D6-A79F7CA59153}"/>
              </a:ext>
            </a:extLst>
          </p:cNvPr>
          <p:cNvSpPr>
            <a:spLocks noGrp="1"/>
          </p:cNvSpPr>
          <p:nvPr>
            <p:ph type="ctrTitle"/>
          </p:nvPr>
        </p:nvSpPr>
        <p:spPr/>
        <p:txBody>
          <a:bodyPr/>
          <a:lstStyle/>
          <a:p>
            <a:r>
              <a:rPr lang="en-US" dirty="0"/>
              <a:t>CS 331</a:t>
            </a:r>
          </a:p>
        </p:txBody>
      </p:sp>
      <p:sp>
        <p:nvSpPr>
          <p:cNvPr id="3" name="Subtitle 2">
            <a:extLst>
              <a:ext uri="{FF2B5EF4-FFF2-40B4-BE49-F238E27FC236}">
                <a16:creationId xmlns:a16="http://schemas.microsoft.com/office/drawing/2014/main" id="{64FF1D7F-4059-C104-E5D6-F9234CEE0B98}"/>
              </a:ext>
            </a:extLst>
          </p:cNvPr>
          <p:cNvSpPr>
            <a:spLocks noGrp="1"/>
          </p:cNvSpPr>
          <p:nvPr>
            <p:ph type="subTitle" idx="1"/>
          </p:nvPr>
        </p:nvSpPr>
        <p:spPr/>
        <p:txBody>
          <a:bodyPr/>
          <a:lstStyle/>
          <a:p>
            <a:r>
              <a:rPr lang="en-US" sz="3000" b="1" dirty="0"/>
              <a:t>More about Classes</a:t>
            </a:r>
          </a:p>
          <a:p>
            <a:r>
              <a:rPr lang="en-US" dirty="0"/>
              <a:t>MD Romael Haque</a:t>
            </a:r>
          </a:p>
        </p:txBody>
      </p:sp>
    </p:spTree>
    <p:extLst>
      <p:ext uri="{BB962C8B-B14F-4D97-AF65-F5344CB8AC3E}">
        <p14:creationId xmlns:p14="http://schemas.microsoft.com/office/powerpoint/2010/main" val="67001787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E6814B-74A2-8878-00F9-552BC609029F}"/>
              </a:ext>
            </a:extLst>
          </p:cNvPr>
          <p:cNvSpPr>
            <a:spLocks noGrp="1"/>
          </p:cNvSpPr>
          <p:nvPr>
            <p:ph type="title"/>
          </p:nvPr>
        </p:nvSpPr>
        <p:spPr/>
        <p:txBody>
          <a:bodyPr/>
          <a:lstStyle/>
          <a:p>
            <a:r>
              <a:rPr lang="en-US" dirty="0"/>
              <a:t>Static Members</a:t>
            </a:r>
          </a:p>
        </p:txBody>
      </p:sp>
      <p:sp>
        <p:nvSpPr>
          <p:cNvPr id="3" name="Content Placeholder 2">
            <a:extLst>
              <a:ext uri="{FF2B5EF4-FFF2-40B4-BE49-F238E27FC236}">
                <a16:creationId xmlns:a16="http://schemas.microsoft.com/office/drawing/2014/main" id="{B7B6F4C5-D0EC-3B47-0F6B-A74981AF5272}"/>
              </a:ext>
            </a:extLst>
          </p:cNvPr>
          <p:cNvSpPr>
            <a:spLocks noGrp="1"/>
          </p:cNvSpPr>
          <p:nvPr>
            <p:ph idx="1"/>
          </p:nvPr>
        </p:nvSpPr>
        <p:spPr/>
        <p:txBody>
          <a:bodyPr/>
          <a:lstStyle/>
          <a:p>
            <a:r>
              <a:rPr lang="en-US" dirty="0">
                <a:effectLst/>
              </a:rPr>
              <a:t>If a member variable is declared static, all objects of that class have access to that variable. </a:t>
            </a:r>
          </a:p>
          <a:p>
            <a:r>
              <a:rPr lang="en-US" dirty="0">
                <a:effectLst/>
              </a:rPr>
              <a:t>If a member function is declared static, it may be called before any instances of the class are defined.</a:t>
            </a:r>
          </a:p>
          <a:p>
            <a:endParaRPr lang="en-US" dirty="0"/>
          </a:p>
        </p:txBody>
      </p:sp>
    </p:spTree>
    <p:extLst>
      <p:ext uri="{BB962C8B-B14F-4D97-AF65-F5344CB8AC3E}">
        <p14:creationId xmlns:p14="http://schemas.microsoft.com/office/powerpoint/2010/main" val="29834730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FB3690-6156-8AEC-5C57-7DF734ADA3C8}"/>
              </a:ext>
            </a:extLst>
          </p:cNvPr>
          <p:cNvSpPr>
            <a:spLocks noGrp="1"/>
          </p:cNvSpPr>
          <p:nvPr>
            <p:ph type="title"/>
          </p:nvPr>
        </p:nvSpPr>
        <p:spPr/>
        <p:txBody>
          <a:bodyPr/>
          <a:lstStyle/>
          <a:p>
            <a:r>
              <a:rPr lang="en-US" dirty="0"/>
              <a:t>Static Members</a:t>
            </a:r>
          </a:p>
        </p:txBody>
      </p:sp>
      <p:sp>
        <p:nvSpPr>
          <p:cNvPr id="3" name="Content Placeholder 2">
            <a:extLst>
              <a:ext uri="{FF2B5EF4-FFF2-40B4-BE49-F238E27FC236}">
                <a16:creationId xmlns:a16="http://schemas.microsoft.com/office/drawing/2014/main" id="{C57BF44F-F139-5709-9A37-C3B3CC31E9FC}"/>
              </a:ext>
            </a:extLst>
          </p:cNvPr>
          <p:cNvSpPr>
            <a:spLocks noGrp="1"/>
          </p:cNvSpPr>
          <p:nvPr>
            <p:ph idx="1"/>
          </p:nvPr>
        </p:nvSpPr>
        <p:spPr>
          <a:xfrm>
            <a:off x="838200" y="1825625"/>
            <a:ext cx="5916283" cy="4351338"/>
          </a:xfrm>
        </p:spPr>
        <p:txBody>
          <a:bodyPr/>
          <a:lstStyle/>
          <a:p>
            <a:r>
              <a:rPr lang="en-US" dirty="0"/>
              <a:t>By default, each class object (an instance of a class) has its own copy of the class’s member variables. </a:t>
            </a:r>
          </a:p>
          <a:p>
            <a:r>
              <a:rPr lang="en-US" dirty="0"/>
              <a:t>An object’s member variables are separate and distinct from the member variables of other objects of the same class.</a:t>
            </a:r>
          </a:p>
        </p:txBody>
      </p:sp>
      <p:pic>
        <p:nvPicPr>
          <p:cNvPr id="4" name="Picture 3">
            <a:extLst>
              <a:ext uri="{FF2B5EF4-FFF2-40B4-BE49-F238E27FC236}">
                <a16:creationId xmlns:a16="http://schemas.microsoft.com/office/drawing/2014/main" id="{DC8A143E-0D16-9A7B-AFBB-0BC0465A037D}"/>
              </a:ext>
            </a:extLst>
          </p:cNvPr>
          <p:cNvPicPr>
            <a:picLocks noChangeAspect="1"/>
          </p:cNvPicPr>
          <p:nvPr/>
        </p:nvPicPr>
        <p:blipFill>
          <a:blip r:embed="rId2"/>
          <a:stretch>
            <a:fillRect/>
          </a:stretch>
        </p:blipFill>
        <p:spPr>
          <a:xfrm>
            <a:off x="6879772" y="1625600"/>
            <a:ext cx="4310742" cy="3778552"/>
          </a:xfrm>
          <a:prstGeom prst="rect">
            <a:avLst/>
          </a:prstGeom>
        </p:spPr>
      </p:pic>
    </p:spTree>
    <p:extLst>
      <p:ext uri="{BB962C8B-B14F-4D97-AF65-F5344CB8AC3E}">
        <p14:creationId xmlns:p14="http://schemas.microsoft.com/office/powerpoint/2010/main" val="167784806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13718D-4D5E-368D-C6DD-79CB6B4A945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E52983D-AEEB-6071-B673-E84EA9808F8A}"/>
              </a:ext>
            </a:extLst>
          </p:cNvPr>
          <p:cNvSpPr>
            <a:spLocks noGrp="1"/>
          </p:cNvSpPr>
          <p:nvPr>
            <p:ph type="title"/>
          </p:nvPr>
        </p:nvSpPr>
        <p:spPr/>
        <p:txBody>
          <a:bodyPr/>
          <a:lstStyle/>
          <a:p>
            <a:r>
              <a:rPr lang="en-US" dirty="0"/>
              <a:t>Static Members</a:t>
            </a:r>
          </a:p>
        </p:txBody>
      </p:sp>
      <p:sp>
        <p:nvSpPr>
          <p:cNvPr id="3" name="Content Placeholder 2">
            <a:extLst>
              <a:ext uri="{FF2B5EF4-FFF2-40B4-BE49-F238E27FC236}">
                <a16:creationId xmlns:a16="http://schemas.microsoft.com/office/drawing/2014/main" id="{3F95BB38-0BF4-D09B-6719-277BBA0692C8}"/>
              </a:ext>
            </a:extLst>
          </p:cNvPr>
          <p:cNvSpPr>
            <a:spLocks noGrp="1"/>
          </p:cNvSpPr>
          <p:nvPr>
            <p:ph idx="1"/>
          </p:nvPr>
        </p:nvSpPr>
        <p:spPr>
          <a:xfrm>
            <a:off x="838200" y="1825625"/>
            <a:ext cx="6041572" cy="4351338"/>
          </a:xfrm>
        </p:spPr>
        <p:txBody>
          <a:bodyPr>
            <a:normAutofit lnSpcReduction="10000"/>
          </a:bodyPr>
          <a:lstStyle/>
          <a:p>
            <a:r>
              <a:rPr lang="en-US" dirty="0"/>
              <a:t>Now, Assume that in a program, two separate instances of the Widget class are created by the following declaration: </a:t>
            </a:r>
          </a:p>
          <a:p>
            <a:pPr lvl="1"/>
            <a:r>
              <a:rPr lang="en-US" i="1" dirty="0">
                <a:solidFill>
                  <a:srgbClr val="C00000"/>
                </a:solidFill>
              </a:rPr>
              <a:t>Widget </a:t>
            </a:r>
            <a:r>
              <a:rPr lang="en-US" b="1" i="1" dirty="0">
                <a:solidFill>
                  <a:srgbClr val="C00000"/>
                </a:solidFill>
                <a:effectLst/>
              </a:rPr>
              <a:t>w1</a:t>
            </a:r>
            <a:r>
              <a:rPr lang="en-US" i="1" dirty="0">
                <a:solidFill>
                  <a:srgbClr val="C00000"/>
                </a:solidFill>
              </a:rPr>
              <a:t>(</a:t>
            </a:r>
            <a:r>
              <a:rPr lang="en-US" i="1" dirty="0">
                <a:solidFill>
                  <a:srgbClr val="C00000"/>
                </a:solidFill>
                <a:effectLst/>
              </a:rPr>
              <a:t>14.50</a:t>
            </a:r>
            <a:r>
              <a:rPr lang="en-US" i="1" dirty="0">
                <a:solidFill>
                  <a:srgbClr val="C00000"/>
                </a:solidFill>
              </a:rPr>
              <a:t>, </a:t>
            </a:r>
            <a:r>
              <a:rPr lang="en-US" i="1" dirty="0">
                <a:solidFill>
                  <a:srgbClr val="C00000"/>
                </a:solidFill>
                <a:effectLst/>
              </a:rPr>
              <a:t>100</a:t>
            </a:r>
            <a:r>
              <a:rPr lang="en-US" i="1" dirty="0">
                <a:solidFill>
                  <a:srgbClr val="C00000"/>
                </a:solidFill>
              </a:rPr>
              <a:t>), </a:t>
            </a:r>
            <a:r>
              <a:rPr lang="en-US" b="1" i="1" dirty="0">
                <a:solidFill>
                  <a:srgbClr val="C00000"/>
                </a:solidFill>
                <a:effectLst/>
              </a:rPr>
              <a:t>w2</a:t>
            </a:r>
            <a:r>
              <a:rPr lang="en-US" i="1" dirty="0">
                <a:solidFill>
                  <a:srgbClr val="C00000"/>
                </a:solidFill>
              </a:rPr>
              <a:t>(</a:t>
            </a:r>
            <a:r>
              <a:rPr lang="en-US" i="1" dirty="0">
                <a:solidFill>
                  <a:srgbClr val="C00000"/>
                </a:solidFill>
                <a:effectLst/>
              </a:rPr>
              <a:t>12.75</a:t>
            </a:r>
            <a:r>
              <a:rPr lang="en-US" i="1" dirty="0">
                <a:solidFill>
                  <a:srgbClr val="C00000"/>
                </a:solidFill>
              </a:rPr>
              <a:t>, </a:t>
            </a:r>
            <a:r>
              <a:rPr lang="en-US" i="1" dirty="0">
                <a:solidFill>
                  <a:srgbClr val="C00000"/>
                </a:solidFill>
                <a:effectLst/>
              </a:rPr>
              <a:t>500</a:t>
            </a:r>
            <a:r>
              <a:rPr lang="en-US" i="1" dirty="0">
                <a:solidFill>
                  <a:srgbClr val="C00000"/>
                </a:solidFill>
              </a:rPr>
              <a:t>); </a:t>
            </a:r>
            <a:endParaRPr lang="en-US" dirty="0"/>
          </a:p>
          <a:p>
            <a:r>
              <a:rPr lang="en-US" dirty="0"/>
              <a:t>This statement creates w1 and w2, two distinct objects. Each has its own price and quantity member variables. </a:t>
            </a:r>
          </a:p>
          <a:p>
            <a:pPr lvl="1"/>
            <a:r>
              <a:rPr lang="en-US" i="1" dirty="0" err="1">
                <a:solidFill>
                  <a:srgbClr val="C00000"/>
                </a:solidFill>
              </a:rPr>
              <a:t>cout</a:t>
            </a:r>
            <a:r>
              <a:rPr lang="en-US" i="1" dirty="0">
                <a:solidFill>
                  <a:srgbClr val="C00000"/>
                </a:solidFill>
              </a:rPr>
              <a:t> &lt;&lt; w1.</a:t>
            </a:r>
            <a:r>
              <a:rPr lang="en-US" i="1" dirty="0">
                <a:solidFill>
                  <a:srgbClr val="C00000"/>
                </a:solidFill>
                <a:effectLst/>
              </a:rPr>
              <a:t>getQuantity</a:t>
            </a:r>
            <a:r>
              <a:rPr lang="en-US" i="1" dirty="0">
                <a:solidFill>
                  <a:srgbClr val="C00000"/>
                </a:solidFill>
              </a:rPr>
              <a:t>() &lt;&lt; </a:t>
            </a:r>
            <a:r>
              <a:rPr lang="en-US" i="1" dirty="0">
                <a:solidFill>
                  <a:srgbClr val="C00000"/>
                </a:solidFill>
                <a:effectLst/>
              </a:rPr>
              <a:t>" "</a:t>
            </a:r>
            <a:r>
              <a:rPr lang="en-US" i="1" dirty="0">
                <a:solidFill>
                  <a:srgbClr val="C00000"/>
                </a:solidFill>
              </a:rPr>
              <a:t> &lt;&lt; w2.</a:t>
            </a:r>
            <a:r>
              <a:rPr lang="en-US" i="1" dirty="0">
                <a:solidFill>
                  <a:srgbClr val="C00000"/>
                </a:solidFill>
                <a:effectLst/>
              </a:rPr>
              <a:t>getQuantity</a:t>
            </a:r>
            <a:r>
              <a:rPr lang="en-US" i="1" dirty="0">
                <a:solidFill>
                  <a:srgbClr val="C00000"/>
                </a:solidFill>
              </a:rPr>
              <a:t>(); </a:t>
            </a:r>
          </a:p>
          <a:p>
            <a:pPr lvl="2"/>
            <a:r>
              <a:rPr lang="en-US" dirty="0"/>
              <a:t>//will return the value 100 500</a:t>
            </a:r>
          </a:p>
          <a:p>
            <a:endParaRPr lang="en-US" dirty="0"/>
          </a:p>
        </p:txBody>
      </p:sp>
      <p:pic>
        <p:nvPicPr>
          <p:cNvPr id="4" name="Picture 3">
            <a:extLst>
              <a:ext uri="{FF2B5EF4-FFF2-40B4-BE49-F238E27FC236}">
                <a16:creationId xmlns:a16="http://schemas.microsoft.com/office/drawing/2014/main" id="{F0BD24CA-BF08-0001-60CE-9727518178E8}"/>
              </a:ext>
            </a:extLst>
          </p:cNvPr>
          <p:cNvPicPr>
            <a:picLocks noChangeAspect="1"/>
          </p:cNvPicPr>
          <p:nvPr/>
        </p:nvPicPr>
        <p:blipFill>
          <a:blip r:embed="rId2"/>
          <a:stretch>
            <a:fillRect/>
          </a:stretch>
        </p:blipFill>
        <p:spPr>
          <a:xfrm>
            <a:off x="6879772" y="823343"/>
            <a:ext cx="4310742" cy="3778552"/>
          </a:xfrm>
          <a:prstGeom prst="rect">
            <a:avLst/>
          </a:prstGeom>
        </p:spPr>
      </p:pic>
      <p:pic>
        <p:nvPicPr>
          <p:cNvPr id="5" name="Picture 4">
            <a:extLst>
              <a:ext uri="{FF2B5EF4-FFF2-40B4-BE49-F238E27FC236}">
                <a16:creationId xmlns:a16="http://schemas.microsoft.com/office/drawing/2014/main" id="{CA12E5F7-A812-3B98-9298-3DD73E48C9EA}"/>
              </a:ext>
            </a:extLst>
          </p:cNvPr>
          <p:cNvPicPr>
            <a:picLocks noChangeAspect="1"/>
          </p:cNvPicPr>
          <p:nvPr/>
        </p:nvPicPr>
        <p:blipFill>
          <a:blip r:embed="rId3"/>
          <a:stretch>
            <a:fillRect/>
          </a:stretch>
        </p:blipFill>
        <p:spPr>
          <a:xfrm>
            <a:off x="7320643" y="4946293"/>
            <a:ext cx="3429000" cy="1143000"/>
          </a:xfrm>
          <a:prstGeom prst="rect">
            <a:avLst/>
          </a:prstGeom>
        </p:spPr>
      </p:pic>
    </p:spTree>
    <p:extLst>
      <p:ext uri="{BB962C8B-B14F-4D97-AF65-F5344CB8AC3E}">
        <p14:creationId xmlns:p14="http://schemas.microsoft.com/office/powerpoint/2010/main" val="22197185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7B4783-9EA5-EE23-D374-0BBA74A8811F}"/>
              </a:ext>
            </a:extLst>
          </p:cNvPr>
          <p:cNvSpPr>
            <a:spLocks noGrp="1"/>
          </p:cNvSpPr>
          <p:nvPr>
            <p:ph type="title"/>
          </p:nvPr>
        </p:nvSpPr>
        <p:spPr/>
        <p:txBody>
          <a:bodyPr/>
          <a:lstStyle/>
          <a:p>
            <a:r>
              <a:rPr lang="en-US" dirty="0"/>
              <a:t>Static Member Variables</a:t>
            </a:r>
          </a:p>
        </p:txBody>
      </p:sp>
      <p:sp>
        <p:nvSpPr>
          <p:cNvPr id="3" name="Content Placeholder 2">
            <a:extLst>
              <a:ext uri="{FF2B5EF4-FFF2-40B4-BE49-F238E27FC236}">
                <a16:creationId xmlns:a16="http://schemas.microsoft.com/office/drawing/2014/main" id="{3685728F-4C86-A825-190E-7BF9E0C9F23C}"/>
              </a:ext>
            </a:extLst>
          </p:cNvPr>
          <p:cNvSpPr>
            <a:spLocks noGrp="1"/>
          </p:cNvSpPr>
          <p:nvPr>
            <p:ph idx="1"/>
          </p:nvPr>
        </p:nvSpPr>
        <p:spPr>
          <a:xfrm>
            <a:off x="838200" y="1825625"/>
            <a:ext cx="5553974" cy="4351338"/>
          </a:xfrm>
        </p:spPr>
        <p:txBody>
          <a:bodyPr/>
          <a:lstStyle/>
          <a:p>
            <a:r>
              <a:rPr lang="en-US" dirty="0"/>
              <a:t>It’s possible to create a member variable that is shared by all the objects of the same class. </a:t>
            </a:r>
          </a:p>
          <a:p>
            <a:r>
              <a:rPr lang="en-US" dirty="0"/>
              <a:t>To create such a member, simply place the key word static in front of the variable declaration</a:t>
            </a:r>
          </a:p>
        </p:txBody>
      </p:sp>
      <p:pic>
        <p:nvPicPr>
          <p:cNvPr id="4" name="Picture 3">
            <a:extLst>
              <a:ext uri="{FF2B5EF4-FFF2-40B4-BE49-F238E27FC236}">
                <a16:creationId xmlns:a16="http://schemas.microsoft.com/office/drawing/2014/main" id="{FACC3274-2CDF-2A6E-53EB-2C25DE5B86FF}"/>
              </a:ext>
            </a:extLst>
          </p:cNvPr>
          <p:cNvPicPr>
            <a:picLocks noChangeAspect="1"/>
          </p:cNvPicPr>
          <p:nvPr/>
        </p:nvPicPr>
        <p:blipFill>
          <a:blip r:embed="rId2"/>
          <a:stretch>
            <a:fillRect/>
          </a:stretch>
        </p:blipFill>
        <p:spPr>
          <a:xfrm>
            <a:off x="7060961" y="1690688"/>
            <a:ext cx="4756360" cy="3548632"/>
          </a:xfrm>
          <a:prstGeom prst="rect">
            <a:avLst/>
          </a:prstGeom>
        </p:spPr>
      </p:pic>
    </p:spTree>
    <p:extLst>
      <p:ext uri="{BB962C8B-B14F-4D97-AF65-F5344CB8AC3E}">
        <p14:creationId xmlns:p14="http://schemas.microsoft.com/office/powerpoint/2010/main" val="227831526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B55491-7A00-5BD8-732E-4A116D39750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154B234-CC69-A5C0-D226-48BD9EB6D2CD}"/>
              </a:ext>
            </a:extLst>
          </p:cNvPr>
          <p:cNvSpPr>
            <a:spLocks noGrp="1"/>
          </p:cNvSpPr>
          <p:nvPr>
            <p:ph type="title"/>
          </p:nvPr>
        </p:nvSpPr>
        <p:spPr/>
        <p:txBody>
          <a:bodyPr/>
          <a:lstStyle/>
          <a:p>
            <a:r>
              <a:rPr lang="en-US" dirty="0"/>
              <a:t>Static Member Variables</a:t>
            </a:r>
          </a:p>
        </p:txBody>
      </p:sp>
      <p:sp>
        <p:nvSpPr>
          <p:cNvPr id="3" name="Content Placeholder 2">
            <a:extLst>
              <a:ext uri="{FF2B5EF4-FFF2-40B4-BE49-F238E27FC236}">
                <a16:creationId xmlns:a16="http://schemas.microsoft.com/office/drawing/2014/main" id="{4E7F0126-A0B8-D1CD-C554-AF73354F83AD}"/>
              </a:ext>
            </a:extLst>
          </p:cNvPr>
          <p:cNvSpPr>
            <a:spLocks noGrp="1"/>
          </p:cNvSpPr>
          <p:nvPr>
            <p:ph idx="1"/>
          </p:nvPr>
        </p:nvSpPr>
        <p:spPr>
          <a:xfrm>
            <a:off x="838200" y="1825625"/>
            <a:ext cx="5553974" cy="4351338"/>
          </a:xfrm>
        </p:spPr>
        <p:txBody>
          <a:bodyPr/>
          <a:lstStyle/>
          <a:p>
            <a:r>
              <a:rPr lang="en-US" dirty="0"/>
              <a:t>Now we define x outside class</a:t>
            </a:r>
          </a:p>
          <a:p>
            <a:pPr lvl="1"/>
            <a:r>
              <a:rPr lang="en-US" b="1" i="1" dirty="0">
                <a:solidFill>
                  <a:srgbClr val="C00000"/>
                </a:solidFill>
                <a:effectLst/>
              </a:rPr>
              <a:t>int</a:t>
            </a:r>
            <a:r>
              <a:rPr lang="en-US" i="1" dirty="0">
                <a:solidFill>
                  <a:srgbClr val="C00000"/>
                </a:solidFill>
              </a:rPr>
              <a:t> </a:t>
            </a:r>
            <a:r>
              <a:rPr lang="en-US" i="1" dirty="0" err="1">
                <a:solidFill>
                  <a:srgbClr val="C00000"/>
                </a:solidFill>
              </a:rPr>
              <a:t>StatDemo</a:t>
            </a:r>
            <a:r>
              <a:rPr lang="en-US" i="1" dirty="0">
                <a:solidFill>
                  <a:srgbClr val="C00000"/>
                </a:solidFill>
              </a:rPr>
              <a:t>::x; </a:t>
            </a:r>
            <a:endParaRPr lang="en-US" dirty="0"/>
          </a:p>
          <a:p>
            <a:r>
              <a:rPr lang="en-US" dirty="0"/>
              <a:t>In this example, the member variable x will be shared by all objects of the </a:t>
            </a:r>
            <a:r>
              <a:rPr lang="en-US" dirty="0" err="1"/>
              <a:t>StatDemo</a:t>
            </a:r>
            <a:r>
              <a:rPr lang="en-US" dirty="0"/>
              <a:t> class.</a:t>
            </a:r>
          </a:p>
          <a:p>
            <a:r>
              <a:rPr lang="en-US" dirty="0"/>
              <a:t>When one class object puts a value in x, it will appear in all other </a:t>
            </a:r>
            <a:r>
              <a:rPr lang="en-US" dirty="0" err="1"/>
              <a:t>StatDemo</a:t>
            </a:r>
            <a:r>
              <a:rPr lang="en-US" dirty="0"/>
              <a:t> objects.</a:t>
            </a:r>
          </a:p>
        </p:txBody>
      </p:sp>
      <p:pic>
        <p:nvPicPr>
          <p:cNvPr id="4" name="Picture 3">
            <a:extLst>
              <a:ext uri="{FF2B5EF4-FFF2-40B4-BE49-F238E27FC236}">
                <a16:creationId xmlns:a16="http://schemas.microsoft.com/office/drawing/2014/main" id="{70CB9E99-4318-E53C-D4CA-84D49C1BE9B6}"/>
              </a:ext>
            </a:extLst>
          </p:cNvPr>
          <p:cNvPicPr>
            <a:picLocks noChangeAspect="1"/>
          </p:cNvPicPr>
          <p:nvPr/>
        </p:nvPicPr>
        <p:blipFill>
          <a:blip r:embed="rId2"/>
          <a:stretch>
            <a:fillRect/>
          </a:stretch>
        </p:blipFill>
        <p:spPr>
          <a:xfrm>
            <a:off x="7060961" y="1690688"/>
            <a:ext cx="4756360" cy="3548632"/>
          </a:xfrm>
          <a:prstGeom prst="rect">
            <a:avLst/>
          </a:prstGeom>
        </p:spPr>
      </p:pic>
    </p:spTree>
    <p:extLst>
      <p:ext uri="{BB962C8B-B14F-4D97-AF65-F5344CB8AC3E}">
        <p14:creationId xmlns:p14="http://schemas.microsoft.com/office/powerpoint/2010/main" val="227104726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E265F7-B9B6-0710-859A-F7DB42914D2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5F31441-5459-283F-ED53-349702ECB110}"/>
              </a:ext>
            </a:extLst>
          </p:cNvPr>
          <p:cNvSpPr>
            <a:spLocks noGrp="1"/>
          </p:cNvSpPr>
          <p:nvPr>
            <p:ph type="title"/>
          </p:nvPr>
        </p:nvSpPr>
        <p:spPr>
          <a:xfrm>
            <a:off x="838200" y="365125"/>
            <a:ext cx="5415471" cy="1325563"/>
          </a:xfrm>
        </p:spPr>
        <p:txBody>
          <a:bodyPr/>
          <a:lstStyle/>
          <a:p>
            <a:r>
              <a:rPr lang="en-US" dirty="0"/>
              <a:t>Static Member Variables</a:t>
            </a:r>
          </a:p>
        </p:txBody>
      </p:sp>
      <p:sp>
        <p:nvSpPr>
          <p:cNvPr id="3" name="Content Placeholder 2">
            <a:extLst>
              <a:ext uri="{FF2B5EF4-FFF2-40B4-BE49-F238E27FC236}">
                <a16:creationId xmlns:a16="http://schemas.microsoft.com/office/drawing/2014/main" id="{7F079FA4-5A3B-1A30-B281-D48601977AEA}"/>
              </a:ext>
            </a:extLst>
          </p:cNvPr>
          <p:cNvSpPr>
            <a:spLocks noGrp="1"/>
          </p:cNvSpPr>
          <p:nvPr>
            <p:ph idx="1"/>
          </p:nvPr>
        </p:nvSpPr>
        <p:spPr>
          <a:xfrm>
            <a:off x="838200" y="1825625"/>
            <a:ext cx="5553974" cy="4351338"/>
          </a:xfrm>
        </p:spPr>
        <p:txBody>
          <a:bodyPr/>
          <a:lstStyle/>
          <a:p>
            <a:r>
              <a:rPr lang="en-US" dirty="0"/>
              <a:t>Now we define x outside class</a:t>
            </a:r>
          </a:p>
          <a:p>
            <a:pPr lvl="1"/>
            <a:r>
              <a:rPr lang="en-US" b="1" i="1" dirty="0">
                <a:solidFill>
                  <a:srgbClr val="C00000"/>
                </a:solidFill>
                <a:effectLst/>
              </a:rPr>
              <a:t>int</a:t>
            </a:r>
            <a:r>
              <a:rPr lang="en-US" i="1" dirty="0">
                <a:solidFill>
                  <a:srgbClr val="C00000"/>
                </a:solidFill>
              </a:rPr>
              <a:t> </a:t>
            </a:r>
            <a:r>
              <a:rPr lang="en-US" i="1" dirty="0" err="1">
                <a:solidFill>
                  <a:srgbClr val="C00000"/>
                </a:solidFill>
              </a:rPr>
              <a:t>StatDemo</a:t>
            </a:r>
            <a:r>
              <a:rPr lang="en-US" i="1" dirty="0">
                <a:solidFill>
                  <a:srgbClr val="C00000"/>
                </a:solidFill>
              </a:rPr>
              <a:t>::x; </a:t>
            </a:r>
            <a:endParaRPr lang="en-US" dirty="0"/>
          </a:p>
          <a:p>
            <a:r>
              <a:rPr lang="en-US" dirty="0"/>
              <a:t>In this example, the member variable x will be shared by all objects of the </a:t>
            </a:r>
            <a:r>
              <a:rPr lang="en-US" dirty="0" err="1"/>
              <a:t>StatDemo</a:t>
            </a:r>
            <a:r>
              <a:rPr lang="en-US" dirty="0"/>
              <a:t> class.</a:t>
            </a:r>
          </a:p>
          <a:p>
            <a:r>
              <a:rPr lang="en-US" dirty="0"/>
              <a:t>When one class object puts a value in x, it will appear in all other </a:t>
            </a:r>
            <a:r>
              <a:rPr lang="en-US" dirty="0" err="1"/>
              <a:t>StatDemo</a:t>
            </a:r>
            <a:r>
              <a:rPr lang="en-US" dirty="0"/>
              <a:t> objects.</a:t>
            </a:r>
          </a:p>
        </p:txBody>
      </p:sp>
      <p:pic>
        <p:nvPicPr>
          <p:cNvPr id="5" name="Picture 4">
            <a:extLst>
              <a:ext uri="{FF2B5EF4-FFF2-40B4-BE49-F238E27FC236}">
                <a16:creationId xmlns:a16="http://schemas.microsoft.com/office/drawing/2014/main" id="{E2650B49-8CEA-5882-95DF-981148BDCA02}"/>
              </a:ext>
            </a:extLst>
          </p:cNvPr>
          <p:cNvPicPr>
            <a:picLocks noChangeAspect="1"/>
          </p:cNvPicPr>
          <p:nvPr/>
        </p:nvPicPr>
        <p:blipFill>
          <a:blip r:embed="rId2"/>
          <a:stretch>
            <a:fillRect/>
          </a:stretch>
        </p:blipFill>
        <p:spPr>
          <a:xfrm>
            <a:off x="6253671" y="431232"/>
            <a:ext cx="5740400" cy="3632200"/>
          </a:xfrm>
          <a:prstGeom prst="rect">
            <a:avLst/>
          </a:prstGeom>
        </p:spPr>
      </p:pic>
      <p:pic>
        <p:nvPicPr>
          <p:cNvPr id="6" name="Picture 5">
            <a:extLst>
              <a:ext uri="{FF2B5EF4-FFF2-40B4-BE49-F238E27FC236}">
                <a16:creationId xmlns:a16="http://schemas.microsoft.com/office/drawing/2014/main" id="{92E11C58-D9B9-43B3-AE9D-B1D3AE441B0E}"/>
              </a:ext>
            </a:extLst>
          </p:cNvPr>
          <p:cNvPicPr>
            <a:picLocks noChangeAspect="1"/>
          </p:cNvPicPr>
          <p:nvPr/>
        </p:nvPicPr>
        <p:blipFill>
          <a:blip r:embed="rId3"/>
          <a:stretch>
            <a:fillRect/>
          </a:stretch>
        </p:blipFill>
        <p:spPr>
          <a:xfrm>
            <a:off x="7447471" y="4502719"/>
            <a:ext cx="3352800" cy="2209800"/>
          </a:xfrm>
          <a:prstGeom prst="rect">
            <a:avLst/>
          </a:prstGeom>
        </p:spPr>
      </p:pic>
    </p:spTree>
    <p:extLst>
      <p:ext uri="{BB962C8B-B14F-4D97-AF65-F5344CB8AC3E}">
        <p14:creationId xmlns:p14="http://schemas.microsoft.com/office/powerpoint/2010/main" val="160770834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5EF716-F10C-E04C-D630-291931C3DA7F}"/>
              </a:ext>
            </a:extLst>
          </p:cNvPr>
          <p:cNvSpPr>
            <a:spLocks noGrp="1"/>
          </p:cNvSpPr>
          <p:nvPr>
            <p:ph type="title"/>
          </p:nvPr>
        </p:nvSpPr>
        <p:spPr/>
        <p:txBody>
          <a:bodyPr/>
          <a:lstStyle/>
          <a:p>
            <a:r>
              <a:rPr lang="en-US" dirty="0"/>
              <a:t>Example</a:t>
            </a:r>
          </a:p>
        </p:txBody>
      </p:sp>
      <p:pic>
        <p:nvPicPr>
          <p:cNvPr id="4" name="Picture 3">
            <a:extLst>
              <a:ext uri="{FF2B5EF4-FFF2-40B4-BE49-F238E27FC236}">
                <a16:creationId xmlns:a16="http://schemas.microsoft.com/office/drawing/2014/main" id="{97DF14A0-D93D-D30D-B8BB-8B154C32B664}"/>
              </a:ext>
            </a:extLst>
          </p:cNvPr>
          <p:cNvPicPr>
            <a:picLocks noChangeAspect="1"/>
          </p:cNvPicPr>
          <p:nvPr/>
        </p:nvPicPr>
        <p:blipFill>
          <a:blip r:embed="rId2"/>
          <a:stretch>
            <a:fillRect/>
          </a:stretch>
        </p:blipFill>
        <p:spPr>
          <a:xfrm>
            <a:off x="119332" y="1825625"/>
            <a:ext cx="4386263" cy="3358850"/>
          </a:xfrm>
          <a:prstGeom prst="rect">
            <a:avLst/>
          </a:prstGeom>
        </p:spPr>
      </p:pic>
      <p:pic>
        <p:nvPicPr>
          <p:cNvPr id="5" name="Picture 4">
            <a:extLst>
              <a:ext uri="{FF2B5EF4-FFF2-40B4-BE49-F238E27FC236}">
                <a16:creationId xmlns:a16="http://schemas.microsoft.com/office/drawing/2014/main" id="{B4B91AE3-22C7-BFE8-356D-8E31B72573BC}"/>
              </a:ext>
            </a:extLst>
          </p:cNvPr>
          <p:cNvPicPr>
            <a:picLocks noChangeAspect="1"/>
          </p:cNvPicPr>
          <p:nvPr/>
        </p:nvPicPr>
        <p:blipFill>
          <a:blip r:embed="rId3"/>
          <a:stretch>
            <a:fillRect/>
          </a:stretch>
        </p:blipFill>
        <p:spPr>
          <a:xfrm>
            <a:off x="4566273" y="0"/>
            <a:ext cx="3835831" cy="6858000"/>
          </a:xfrm>
          <a:prstGeom prst="rect">
            <a:avLst/>
          </a:prstGeom>
        </p:spPr>
      </p:pic>
      <p:pic>
        <p:nvPicPr>
          <p:cNvPr id="6" name="Picture 5">
            <a:extLst>
              <a:ext uri="{FF2B5EF4-FFF2-40B4-BE49-F238E27FC236}">
                <a16:creationId xmlns:a16="http://schemas.microsoft.com/office/drawing/2014/main" id="{EEF8A0C8-61C5-5992-82F4-D1D8881AEB02}"/>
              </a:ext>
            </a:extLst>
          </p:cNvPr>
          <p:cNvPicPr>
            <a:picLocks noChangeAspect="1"/>
          </p:cNvPicPr>
          <p:nvPr/>
        </p:nvPicPr>
        <p:blipFill>
          <a:blip r:embed="rId4"/>
          <a:stretch>
            <a:fillRect/>
          </a:stretch>
        </p:blipFill>
        <p:spPr>
          <a:xfrm>
            <a:off x="8462782" y="2270858"/>
            <a:ext cx="3745403" cy="2468384"/>
          </a:xfrm>
          <a:prstGeom prst="rect">
            <a:avLst/>
          </a:prstGeom>
        </p:spPr>
      </p:pic>
    </p:spTree>
    <p:extLst>
      <p:ext uri="{BB962C8B-B14F-4D97-AF65-F5344CB8AC3E}">
        <p14:creationId xmlns:p14="http://schemas.microsoft.com/office/powerpoint/2010/main" val="350958648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EFC265-BACB-5AA7-7CC4-D7EFF7206F9D}"/>
              </a:ext>
            </a:extLst>
          </p:cNvPr>
          <p:cNvSpPr>
            <a:spLocks noGrp="1"/>
          </p:cNvSpPr>
          <p:nvPr>
            <p:ph type="title"/>
          </p:nvPr>
        </p:nvSpPr>
        <p:spPr/>
        <p:txBody>
          <a:bodyPr/>
          <a:lstStyle/>
          <a:p>
            <a:r>
              <a:rPr lang="en-US" dirty="0"/>
              <a:t>Static Member Variables</a:t>
            </a:r>
          </a:p>
        </p:txBody>
      </p:sp>
      <p:sp>
        <p:nvSpPr>
          <p:cNvPr id="3" name="Content Placeholder 2">
            <a:extLst>
              <a:ext uri="{FF2B5EF4-FFF2-40B4-BE49-F238E27FC236}">
                <a16:creationId xmlns:a16="http://schemas.microsoft.com/office/drawing/2014/main" id="{CCBC1F55-D125-D336-0C49-07D49E68F2E7}"/>
              </a:ext>
            </a:extLst>
          </p:cNvPr>
          <p:cNvSpPr>
            <a:spLocks noGrp="1"/>
          </p:cNvSpPr>
          <p:nvPr>
            <p:ph idx="1"/>
          </p:nvPr>
        </p:nvSpPr>
        <p:spPr/>
        <p:txBody>
          <a:bodyPr/>
          <a:lstStyle/>
          <a:p>
            <a:r>
              <a:rPr lang="en-US" dirty="0">
                <a:effectLst/>
              </a:rPr>
              <a:t>Static member variables furnish a good example of the distinction between C++ declarations and C++ definitions. </a:t>
            </a:r>
          </a:p>
          <a:p>
            <a:r>
              <a:rPr lang="en-US" dirty="0">
                <a:effectLst/>
              </a:rPr>
              <a:t>A </a:t>
            </a:r>
            <a:r>
              <a:rPr lang="en-US" dirty="0">
                <a:effectLst/>
                <a:hlinkClick r:id="rId2"/>
              </a:rPr>
              <a:t>declaration</a:t>
            </a:r>
            <a:r>
              <a:rPr lang="en-US" dirty="0">
                <a:effectLst/>
              </a:rPr>
              <a:t> provides information about the existence and type of a variable or function. </a:t>
            </a:r>
          </a:p>
          <a:p>
            <a:r>
              <a:rPr lang="en-US" dirty="0">
                <a:effectLst/>
              </a:rPr>
              <a:t>A </a:t>
            </a:r>
            <a:r>
              <a:rPr lang="en-US" i="1" dirty="0">
                <a:effectLst/>
              </a:rPr>
              <a:t>definition</a:t>
            </a:r>
            <a:r>
              <a:rPr lang="en-US" dirty="0">
                <a:effectLst/>
              </a:rPr>
              <a:t> provides all the information contained in a declaration and, in addition, causes memory to be allocated for the variable or function being defined. </a:t>
            </a:r>
          </a:p>
          <a:p>
            <a:r>
              <a:rPr lang="en-US" dirty="0">
                <a:effectLst/>
              </a:rPr>
              <a:t>Static member variables must be </a:t>
            </a:r>
            <a:r>
              <a:rPr lang="en-US" i="1" dirty="0">
                <a:effectLst/>
              </a:rPr>
              <a:t>declared</a:t>
            </a:r>
            <a:r>
              <a:rPr lang="en-US" dirty="0">
                <a:effectLst/>
              </a:rPr>
              <a:t> inside the class and </a:t>
            </a:r>
            <a:r>
              <a:rPr lang="en-US" i="1" dirty="0">
                <a:effectLst/>
              </a:rPr>
              <a:t>defined</a:t>
            </a:r>
            <a:r>
              <a:rPr lang="en-US" dirty="0">
                <a:effectLst/>
              </a:rPr>
              <a:t> outside of it.</a:t>
            </a:r>
          </a:p>
          <a:p>
            <a:endParaRPr lang="en-US" dirty="0"/>
          </a:p>
        </p:txBody>
      </p:sp>
    </p:spTree>
    <p:extLst>
      <p:ext uri="{BB962C8B-B14F-4D97-AF65-F5344CB8AC3E}">
        <p14:creationId xmlns:p14="http://schemas.microsoft.com/office/powerpoint/2010/main" val="348495729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4B19CC-0166-19BE-DE76-9585EA6864B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958A681-E305-7B65-DB65-ED4FA9A55CE2}"/>
              </a:ext>
            </a:extLst>
          </p:cNvPr>
          <p:cNvSpPr>
            <a:spLocks noGrp="1"/>
          </p:cNvSpPr>
          <p:nvPr>
            <p:ph type="title"/>
          </p:nvPr>
        </p:nvSpPr>
        <p:spPr/>
        <p:txBody>
          <a:bodyPr/>
          <a:lstStyle/>
          <a:p>
            <a:r>
              <a:rPr lang="en-US" dirty="0"/>
              <a:t>Static Member Variables</a:t>
            </a:r>
          </a:p>
        </p:txBody>
      </p:sp>
      <p:sp>
        <p:nvSpPr>
          <p:cNvPr id="3" name="Content Placeholder 2">
            <a:extLst>
              <a:ext uri="{FF2B5EF4-FFF2-40B4-BE49-F238E27FC236}">
                <a16:creationId xmlns:a16="http://schemas.microsoft.com/office/drawing/2014/main" id="{3AF99475-2C2E-632C-33F4-CFFB908FF384}"/>
              </a:ext>
            </a:extLst>
          </p:cNvPr>
          <p:cNvSpPr>
            <a:spLocks noGrp="1"/>
          </p:cNvSpPr>
          <p:nvPr>
            <p:ph idx="1"/>
          </p:nvPr>
        </p:nvSpPr>
        <p:spPr/>
        <p:txBody>
          <a:bodyPr>
            <a:normAutofit lnSpcReduction="10000"/>
          </a:bodyPr>
          <a:lstStyle/>
          <a:p>
            <a:pPr algn="l"/>
            <a:r>
              <a:rPr lang="en-US" dirty="0">
                <a:effectLst/>
              </a:rPr>
              <a:t>In general, we can divide the member variables and functions of a class into two groups: </a:t>
            </a:r>
            <a:r>
              <a:rPr lang="en-US" i="1" dirty="0">
                <a:effectLst/>
              </a:rPr>
              <a:t>instance members</a:t>
            </a:r>
            <a:r>
              <a:rPr lang="en-US" dirty="0">
                <a:effectLst/>
              </a:rPr>
              <a:t> and </a:t>
            </a:r>
            <a:r>
              <a:rPr lang="en-US" dirty="0">
                <a:effectLst/>
                <a:hlinkClick r:id="rId2">
                  <a:extLst>
                    <a:ext uri="{A12FA001-AC4F-418D-AE19-62706E023703}">
                      <ahyp:hlinkClr xmlns:ahyp="http://schemas.microsoft.com/office/drawing/2018/hyperlinkcolor" val="tx"/>
                    </a:ext>
                  </a:extLst>
                </a:hlinkClick>
              </a:rPr>
              <a:t>static members</a:t>
            </a:r>
            <a:r>
              <a:rPr lang="en-US" dirty="0">
                <a:effectLst/>
              </a:rPr>
              <a:t>. </a:t>
            </a:r>
          </a:p>
          <a:p>
            <a:pPr algn="l"/>
            <a:r>
              <a:rPr lang="en-US" dirty="0">
                <a:effectLst/>
              </a:rPr>
              <a:t>An instance member is one whose use must be associated with a particular instance of the class. In particular, an instance variable of a class must be accessed through a specific instance of its class, and an instance member function must be called through a specific instance of its class.</a:t>
            </a:r>
          </a:p>
          <a:p>
            <a:pPr algn="l"/>
            <a:r>
              <a:rPr lang="en-US" dirty="0">
                <a:effectLst/>
              </a:rPr>
              <a:t>In contrast, the use of a static member variable, or the call of a static member function, does not need to be associated with any instance. Only the class of the static member needs to be specified.</a:t>
            </a:r>
          </a:p>
          <a:p>
            <a:endParaRPr lang="en-US" dirty="0"/>
          </a:p>
        </p:txBody>
      </p:sp>
    </p:spTree>
    <p:extLst>
      <p:ext uri="{BB962C8B-B14F-4D97-AF65-F5344CB8AC3E}">
        <p14:creationId xmlns:p14="http://schemas.microsoft.com/office/powerpoint/2010/main" val="138436309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D1ADDF-823A-7905-12E3-DC5F258247CE}"/>
              </a:ext>
            </a:extLst>
          </p:cNvPr>
          <p:cNvSpPr>
            <a:spLocks noGrp="1"/>
          </p:cNvSpPr>
          <p:nvPr>
            <p:ph type="title"/>
          </p:nvPr>
        </p:nvSpPr>
        <p:spPr/>
        <p:txBody>
          <a:bodyPr/>
          <a:lstStyle/>
          <a:p>
            <a:r>
              <a:rPr lang="en-US" dirty="0"/>
              <a:t>Static Member Functions</a:t>
            </a:r>
          </a:p>
        </p:txBody>
      </p:sp>
      <p:sp>
        <p:nvSpPr>
          <p:cNvPr id="3" name="Content Placeholder 2">
            <a:extLst>
              <a:ext uri="{FF2B5EF4-FFF2-40B4-BE49-F238E27FC236}">
                <a16:creationId xmlns:a16="http://schemas.microsoft.com/office/drawing/2014/main" id="{18B9190F-7AAE-0392-D4BF-4B95238B56AA}"/>
              </a:ext>
            </a:extLst>
          </p:cNvPr>
          <p:cNvSpPr>
            <a:spLocks noGrp="1"/>
          </p:cNvSpPr>
          <p:nvPr>
            <p:ph idx="1"/>
          </p:nvPr>
        </p:nvSpPr>
        <p:spPr/>
        <p:txBody>
          <a:bodyPr/>
          <a:lstStyle/>
          <a:p>
            <a:r>
              <a:rPr lang="en-US" dirty="0"/>
              <a:t>A member function of a class can be declared static by prefixing its declaration with the key word static. </a:t>
            </a:r>
          </a:p>
          <a:p>
            <a:r>
              <a:rPr lang="en-US" dirty="0"/>
              <a:t>static &lt;</a:t>
            </a:r>
            <a:r>
              <a:rPr lang="en-US" i="1" dirty="0"/>
              <a:t>return type</a:t>
            </a:r>
            <a:r>
              <a:rPr lang="en-US" dirty="0"/>
              <a:t>&gt;&lt;</a:t>
            </a:r>
            <a:r>
              <a:rPr lang="en-US" i="1" dirty="0"/>
              <a:t>function name</a:t>
            </a:r>
            <a:r>
              <a:rPr lang="en-US" dirty="0"/>
              <a:t>&gt;(&lt;</a:t>
            </a:r>
            <a:r>
              <a:rPr lang="en-US" i="1" dirty="0"/>
              <a:t>parameter list</a:t>
            </a:r>
            <a:r>
              <a:rPr lang="en-US" dirty="0"/>
              <a:t>&gt;)</a:t>
            </a:r>
          </a:p>
          <a:p>
            <a:r>
              <a:rPr lang="en-US" dirty="0"/>
              <a:t>Static member functions are normally used to work with static member variables of the class. In fact, member functions that do not access any </a:t>
            </a:r>
            <a:r>
              <a:rPr lang="en-US" dirty="0" err="1"/>
              <a:t>nonstatic</a:t>
            </a:r>
            <a:r>
              <a:rPr lang="en-US" dirty="0"/>
              <a:t> members of their class</a:t>
            </a:r>
          </a:p>
        </p:txBody>
      </p:sp>
    </p:spTree>
    <p:extLst>
      <p:ext uri="{BB962C8B-B14F-4D97-AF65-F5344CB8AC3E}">
        <p14:creationId xmlns:p14="http://schemas.microsoft.com/office/powerpoint/2010/main" val="128585059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CAF493-0CC2-21E4-4C1A-8676BB747ABA}"/>
              </a:ext>
            </a:extLst>
          </p:cNvPr>
          <p:cNvSpPr>
            <a:spLocks noGrp="1"/>
          </p:cNvSpPr>
          <p:nvPr>
            <p:ph type="title"/>
          </p:nvPr>
        </p:nvSpPr>
        <p:spPr>
          <a:xfrm>
            <a:off x="8627246" y="-178338"/>
            <a:ext cx="10515600" cy="1325563"/>
          </a:xfrm>
        </p:spPr>
        <p:txBody>
          <a:bodyPr/>
          <a:lstStyle/>
          <a:p>
            <a:r>
              <a:rPr lang="en-US" dirty="0"/>
              <a:t>Example</a:t>
            </a:r>
          </a:p>
        </p:txBody>
      </p:sp>
      <p:pic>
        <p:nvPicPr>
          <p:cNvPr id="4" name="Picture 3">
            <a:extLst>
              <a:ext uri="{FF2B5EF4-FFF2-40B4-BE49-F238E27FC236}">
                <a16:creationId xmlns:a16="http://schemas.microsoft.com/office/drawing/2014/main" id="{C3ADDFDE-EF76-EAE8-34B7-68A392BFC672}"/>
              </a:ext>
            </a:extLst>
          </p:cNvPr>
          <p:cNvPicPr>
            <a:picLocks noChangeAspect="1"/>
          </p:cNvPicPr>
          <p:nvPr/>
        </p:nvPicPr>
        <p:blipFill>
          <a:blip r:embed="rId2"/>
          <a:stretch>
            <a:fillRect/>
          </a:stretch>
        </p:blipFill>
        <p:spPr>
          <a:xfrm>
            <a:off x="0" y="9645"/>
            <a:ext cx="4427396" cy="3607878"/>
          </a:xfrm>
          <a:prstGeom prst="rect">
            <a:avLst/>
          </a:prstGeom>
        </p:spPr>
      </p:pic>
      <p:pic>
        <p:nvPicPr>
          <p:cNvPr id="5" name="Picture 4">
            <a:extLst>
              <a:ext uri="{FF2B5EF4-FFF2-40B4-BE49-F238E27FC236}">
                <a16:creationId xmlns:a16="http://schemas.microsoft.com/office/drawing/2014/main" id="{3DD3E01B-ACD7-C798-294B-FB91C8AD2A50}"/>
              </a:ext>
            </a:extLst>
          </p:cNvPr>
          <p:cNvPicPr>
            <a:picLocks noChangeAspect="1"/>
          </p:cNvPicPr>
          <p:nvPr/>
        </p:nvPicPr>
        <p:blipFill>
          <a:blip r:embed="rId3"/>
          <a:stretch>
            <a:fillRect/>
          </a:stretch>
        </p:blipFill>
        <p:spPr>
          <a:xfrm>
            <a:off x="0" y="3781367"/>
            <a:ext cx="4427396" cy="2902074"/>
          </a:xfrm>
          <a:prstGeom prst="rect">
            <a:avLst/>
          </a:prstGeom>
        </p:spPr>
      </p:pic>
      <p:pic>
        <p:nvPicPr>
          <p:cNvPr id="6" name="Picture 5">
            <a:extLst>
              <a:ext uri="{FF2B5EF4-FFF2-40B4-BE49-F238E27FC236}">
                <a16:creationId xmlns:a16="http://schemas.microsoft.com/office/drawing/2014/main" id="{01A0122B-7325-111D-5B0F-EF6359206911}"/>
              </a:ext>
            </a:extLst>
          </p:cNvPr>
          <p:cNvPicPr>
            <a:picLocks noChangeAspect="1"/>
          </p:cNvPicPr>
          <p:nvPr/>
        </p:nvPicPr>
        <p:blipFill>
          <a:blip r:embed="rId4"/>
          <a:stretch>
            <a:fillRect/>
          </a:stretch>
        </p:blipFill>
        <p:spPr>
          <a:xfrm>
            <a:off x="4724800" y="0"/>
            <a:ext cx="3605042" cy="6858000"/>
          </a:xfrm>
          <a:prstGeom prst="rect">
            <a:avLst/>
          </a:prstGeom>
        </p:spPr>
      </p:pic>
      <p:pic>
        <p:nvPicPr>
          <p:cNvPr id="7" name="Picture 6">
            <a:extLst>
              <a:ext uri="{FF2B5EF4-FFF2-40B4-BE49-F238E27FC236}">
                <a16:creationId xmlns:a16="http://schemas.microsoft.com/office/drawing/2014/main" id="{19FA72D9-E63D-2D4D-7FF4-A0EAFC7CD30A}"/>
              </a:ext>
            </a:extLst>
          </p:cNvPr>
          <p:cNvPicPr>
            <a:picLocks noChangeAspect="1"/>
          </p:cNvPicPr>
          <p:nvPr/>
        </p:nvPicPr>
        <p:blipFill>
          <a:blip r:embed="rId5"/>
          <a:stretch>
            <a:fillRect/>
          </a:stretch>
        </p:blipFill>
        <p:spPr>
          <a:xfrm>
            <a:off x="8485278" y="2558452"/>
            <a:ext cx="3706722" cy="2445829"/>
          </a:xfrm>
          <a:prstGeom prst="rect">
            <a:avLst/>
          </a:prstGeom>
        </p:spPr>
      </p:pic>
    </p:spTree>
    <p:extLst>
      <p:ext uri="{BB962C8B-B14F-4D97-AF65-F5344CB8AC3E}">
        <p14:creationId xmlns:p14="http://schemas.microsoft.com/office/powerpoint/2010/main" val="76211574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D35913-DFCE-3530-B553-27EB1994C1E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3BA9206-5D6D-CF85-171D-E2B6B8D3C0F9}"/>
              </a:ext>
            </a:extLst>
          </p:cNvPr>
          <p:cNvSpPr>
            <a:spLocks noGrp="1"/>
          </p:cNvSpPr>
          <p:nvPr>
            <p:ph type="title"/>
          </p:nvPr>
        </p:nvSpPr>
        <p:spPr>
          <a:xfrm>
            <a:off x="8627246" y="-178338"/>
            <a:ext cx="10515600" cy="1325563"/>
          </a:xfrm>
        </p:spPr>
        <p:txBody>
          <a:bodyPr/>
          <a:lstStyle/>
          <a:p>
            <a:r>
              <a:rPr lang="en-US" dirty="0"/>
              <a:t>Example</a:t>
            </a:r>
          </a:p>
        </p:txBody>
      </p:sp>
      <p:pic>
        <p:nvPicPr>
          <p:cNvPr id="6" name="Picture 5">
            <a:extLst>
              <a:ext uri="{FF2B5EF4-FFF2-40B4-BE49-F238E27FC236}">
                <a16:creationId xmlns:a16="http://schemas.microsoft.com/office/drawing/2014/main" id="{92DFB505-1325-0CB1-F8A4-F7FBFC63E9D2}"/>
              </a:ext>
            </a:extLst>
          </p:cNvPr>
          <p:cNvPicPr>
            <a:picLocks noChangeAspect="1"/>
          </p:cNvPicPr>
          <p:nvPr/>
        </p:nvPicPr>
        <p:blipFill>
          <a:blip r:embed="rId2"/>
          <a:stretch>
            <a:fillRect/>
          </a:stretch>
        </p:blipFill>
        <p:spPr>
          <a:xfrm>
            <a:off x="687638" y="0"/>
            <a:ext cx="3605042" cy="6858000"/>
          </a:xfrm>
          <a:prstGeom prst="rect">
            <a:avLst/>
          </a:prstGeom>
        </p:spPr>
      </p:pic>
      <p:sp>
        <p:nvSpPr>
          <p:cNvPr id="3" name="TextBox 2">
            <a:extLst>
              <a:ext uri="{FF2B5EF4-FFF2-40B4-BE49-F238E27FC236}">
                <a16:creationId xmlns:a16="http://schemas.microsoft.com/office/drawing/2014/main" id="{DE13923D-99F3-5942-C061-CAA3BFFEC478}"/>
              </a:ext>
            </a:extLst>
          </p:cNvPr>
          <p:cNvSpPr txBox="1"/>
          <p:nvPr/>
        </p:nvSpPr>
        <p:spPr>
          <a:xfrm>
            <a:off x="4658264" y="2236041"/>
            <a:ext cx="7203057" cy="3139321"/>
          </a:xfrm>
          <a:prstGeom prst="rect">
            <a:avLst/>
          </a:prstGeom>
          <a:noFill/>
        </p:spPr>
        <p:txBody>
          <a:bodyPr wrap="square" rtlCol="0">
            <a:spAutoFit/>
          </a:bodyPr>
          <a:lstStyle/>
          <a:p>
            <a:pPr marL="285750" indent="-285750" algn="l">
              <a:buFont typeface="Arial" panose="020B0604020202020204" pitchFamily="34" charset="0"/>
              <a:buChar char="•"/>
            </a:pPr>
            <a:r>
              <a:rPr lang="en-US" dirty="0">
                <a:effectLst/>
              </a:rPr>
              <a:t>Notice the statement that calls the static function </a:t>
            </a:r>
            <a:r>
              <a:rPr lang="en-US" dirty="0" err="1">
                <a:effectLst/>
              </a:rPr>
              <a:t>mainOffice</a:t>
            </a:r>
            <a:r>
              <a:rPr lang="en-US" dirty="0">
                <a:effectLst/>
              </a:rPr>
              <a:t>:</a:t>
            </a:r>
          </a:p>
          <a:p>
            <a:pPr rtl="0"/>
            <a:r>
              <a:rPr lang="en-US" b="1" i="1" dirty="0">
                <a:solidFill>
                  <a:srgbClr val="C00000"/>
                </a:solidFill>
              </a:rPr>
              <a:t>Budget::</a:t>
            </a:r>
            <a:r>
              <a:rPr lang="en-US" b="1" i="1" dirty="0" err="1">
                <a:solidFill>
                  <a:srgbClr val="C00000"/>
                </a:solidFill>
                <a:effectLst/>
              </a:rPr>
              <a:t>mainOffice</a:t>
            </a:r>
            <a:r>
              <a:rPr lang="en-US" b="1" i="1" dirty="0">
                <a:solidFill>
                  <a:srgbClr val="C00000"/>
                </a:solidFill>
              </a:rPr>
              <a:t>(amount); </a:t>
            </a:r>
          </a:p>
          <a:p>
            <a:pPr marL="285750" indent="-285750" algn="l">
              <a:buFont typeface="Arial" panose="020B0604020202020204" pitchFamily="34" charset="0"/>
              <a:buChar char="•"/>
            </a:pPr>
            <a:r>
              <a:rPr lang="en-US" dirty="0">
                <a:effectLst/>
              </a:rPr>
              <a:t>Calls to static member functions are normally made by connecting the function name to the class name with the scope resolution operator. </a:t>
            </a:r>
          </a:p>
          <a:p>
            <a:pPr marL="285750" indent="-285750" algn="l">
              <a:buFont typeface="Arial" panose="020B0604020202020204" pitchFamily="34" charset="0"/>
              <a:buChar char="•"/>
            </a:pPr>
            <a:r>
              <a:rPr lang="en-US" dirty="0">
                <a:effectLst/>
              </a:rPr>
              <a:t>If objects of the class have been defined, static member functions can also be called by connecting their names to the object with the dot operator. </a:t>
            </a:r>
          </a:p>
          <a:p>
            <a:pPr marL="285750" indent="-285750" algn="l">
              <a:buFont typeface="Arial" panose="020B0604020202020204" pitchFamily="34" charset="0"/>
              <a:buChar char="•"/>
            </a:pPr>
            <a:r>
              <a:rPr lang="en-US" dirty="0">
                <a:effectLst/>
              </a:rPr>
              <a:t>Thus, the last output statement of </a:t>
            </a:r>
            <a:r>
              <a:rPr lang="en-US" dirty="0" err="1">
                <a:effectLst/>
              </a:rPr>
              <a:t>yhis</a:t>
            </a:r>
            <a:r>
              <a:rPr lang="en-US" dirty="0">
                <a:effectLst/>
              </a:rPr>
              <a:t> program could be written as</a:t>
            </a:r>
          </a:p>
          <a:p>
            <a:pPr rtl="0"/>
            <a:r>
              <a:rPr lang="en-US" b="1" i="1" dirty="0" err="1">
                <a:solidFill>
                  <a:srgbClr val="C00000"/>
                </a:solidFill>
              </a:rPr>
              <a:t>cout</a:t>
            </a:r>
            <a:r>
              <a:rPr lang="en-US" b="1" i="1" dirty="0">
                <a:solidFill>
                  <a:srgbClr val="C00000"/>
                </a:solidFill>
              </a:rPr>
              <a:t> &lt;&lt; divisions[</a:t>
            </a:r>
            <a:r>
              <a:rPr lang="en-US" b="1" i="1" dirty="0">
                <a:solidFill>
                  <a:srgbClr val="C00000"/>
                </a:solidFill>
                <a:effectLst/>
              </a:rPr>
              <a:t>0</a:t>
            </a:r>
            <a:r>
              <a:rPr lang="en-US" b="1" i="1" dirty="0">
                <a:solidFill>
                  <a:srgbClr val="C00000"/>
                </a:solidFill>
              </a:rPr>
              <a:t>].</a:t>
            </a:r>
            <a:r>
              <a:rPr lang="en-US" b="1" i="1" dirty="0" err="1">
                <a:solidFill>
                  <a:srgbClr val="C00000"/>
                </a:solidFill>
                <a:effectLst/>
              </a:rPr>
              <a:t>getCorpBudget</a:t>
            </a:r>
            <a:r>
              <a:rPr lang="en-US" b="1" i="1" dirty="0">
                <a:solidFill>
                  <a:srgbClr val="C00000"/>
                </a:solidFill>
              </a:rPr>
              <a:t>() &lt;&lt; </a:t>
            </a:r>
            <a:r>
              <a:rPr lang="en-US" b="1" i="1" dirty="0" err="1">
                <a:solidFill>
                  <a:srgbClr val="C00000"/>
                </a:solidFill>
              </a:rPr>
              <a:t>endl</a:t>
            </a:r>
            <a:r>
              <a:rPr lang="en-US" b="1" i="1" dirty="0">
                <a:solidFill>
                  <a:srgbClr val="C00000"/>
                </a:solidFill>
              </a:rPr>
              <a:t>; </a:t>
            </a:r>
          </a:p>
          <a:p>
            <a:endParaRPr lang="en-US" dirty="0"/>
          </a:p>
        </p:txBody>
      </p:sp>
    </p:spTree>
    <p:extLst>
      <p:ext uri="{BB962C8B-B14F-4D97-AF65-F5344CB8AC3E}">
        <p14:creationId xmlns:p14="http://schemas.microsoft.com/office/powerpoint/2010/main" val="376348271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2E864D-2D94-82CE-68C5-FE269F655843}"/>
              </a:ext>
            </a:extLst>
          </p:cNvPr>
          <p:cNvSpPr>
            <a:spLocks noGrp="1"/>
          </p:cNvSpPr>
          <p:nvPr>
            <p:ph type="title"/>
          </p:nvPr>
        </p:nvSpPr>
        <p:spPr/>
        <p:txBody>
          <a:bodyPr/>
          <a:lstStyle/>
          <a:p>
            <a:r>
              <a:rPr lang="en-US" dirty="0"/>
              <a:t>Static member function</a:t>
            </a:r>
          </a:p>
        </p:txBody>
      </p:sp>
      <p:sp>
        <p:nvSpPr>
          <p:cNvPr id="3" name="Content Placeholder 2">
            <a:extLst>
              <a:ext uri="{FF2B5EF4-FFF2-40B4-BE49-F238E27FC236}">
                <a16:creationId xmlns:a16="http://schemas.microsoft.com/office/drawing/2014/main" id="{42BBA5C0-E5B1-3072-8EB0-D31C98515630}"/>
              </a:ext>
            </a:extLst>
          </p:cNvPr>
          <p:cNvSpPr>
            <a:spLocks noGrp="1"/>
          </p:cNvSpPr>
          <p:nvPr>
            <p:ph idx="1"/>
          </p:nvPr>
        </p:nvSpPr>
        <p:spPr/>
        <p:txBody>
          <a:bodyPr/>
          <a:lstStyle/>
          <a:p>
            <a:r>
              <a:rPr lang="en-US" dirty="0"/>
              <a:t>The this pointer cannot be used in a static member function because static member functions are not called through any instance of their class. </a:t>
            </a:r>
          </a:p>
          <a:p>
            <a:r>
              <a:rPr lang="en-US" dirty="0"/>
              <a:t>Moreover, a static member function cannot access an instance member of its class unless it specifies what instance the member belongs to. </a:t>
            </a:r>
          </a:p>
        </p:txBody>
      </p:sp>
    </p:spTree>
    <p:extLst>
      <p:ext uri="{BB962C8B-B14F-4D97-AF65-F5344CB8AC3E}">
        <p14:creationId xmlns:p14="http://schemas.microsoft.com/office/powerpoint/2010/main" val="233263063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1A8C31-AC50-9C8D-9051-B9B2DD01F9E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F218269-989E-2AB4-B637-C0061F2C173C}"/>
              </a:ext>
            </a:extLst>
          </p:cNvPr>
          <p:cNvSpPr>
            <a:spLocks noGrp="1"/>
          </p:cNvSpPr>
          <p:nvPr>
            <p:ph type="title"/>
          </p:nvPr>
        </p:nvSpPr>
        <p:spPr/>
        <p:txBody>
          <a:bodyPr/>
          <a:lstStyle/>
          <a:p>
            <a:r>
              <a:rPr lang="en-US" dirty="0"/>
              <a:t>Static member function</a:t>
            </a:r>
          </a:p>
        </p:txBody>
      </p:sp>
      <p:sp>
        <p:nvSpPr>
          <p:cNvPr id="3" name="Content Placeholder 2">
            <a:extLst>
              <a:ext uri="{FF2B5EF4-FFF2-40B4-BE49-F238E27FC236}">
                <a16:creationId xmlns:a16="http://schemas.microsoft.com/office/drawing/2014/main" id="{915DC23E-914D-2B84-491A-9D9C580077A6}"/>
              </a:ext>
            </a:extLst>
          </p:cNvPr>
          <p:cNvSpPr>
            <a:spLocks noGrp="1"/>
          </p:cNvSpPr>
          <p:nvPr>
            <p:ph idx="1"/>
          </p:nvPr>
        </p:nvSpPr>
        <p:spPr>
          <a:xfrm>
            <a:off x="838200" y="1825624"/>
            <a:ext cx="10591800" cy="4790835"/>
          </a:xfrm>
        </p:spPr>
        <p:txBody>
          <a:bodyPr>
            <a:normAutofit/>
          </a:bodyPr>
          <a:lstStyle/>
          <a:p>
            <a:pPr algn="l"/>
            <a:r>
              <a:rPr lang="en-US" dirty="0">
                <a:effectLst/>
              </a:rPr>
              <a:t>An advantage of static member functions is that they can be called before any instances of the class have been created. </a:t>
            </a:r>
          </a:p>
          <a:p>
            <a:pPr algn="l"/>
            <a:r>
              <a:rPr lang="en-US" dirty="0">
                <a:effectLst/>
              </a:rPr>
              <a:t>This allows them to be used to perform complex initialization tasks that have to be done before objects of the class have been created.</a:t>
            </a:r>
          </a:p>
          <a:p>
            <a:endParaRPr lang="en-US" dirty="0"/>
          </a:p>
        </p:txBody>
      </p:sp>
    </p:spTree>
    <p:extLst>
      <p:ext uri="{BB962C8B-B14F-4D97-AF65-F5344CB8AC3E}">
        <p14:creationId xmlns:p14="http://schemas.microsoft.com/office/powerpoint/2010/main" val="54717599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7AB9CF-5109-404D-2675-9053BFB91784}"/>
              </a:ext>
            </a:extLst>
          </p:cNvPr>
          <p:cNvSpPr>
            <a:spLocks noGrp="1"/>
          </p:cNvSpPr>
          <p:nvPr>
            <p:ph type="title"/>
          </p:nvPr>
        </p:nvSpPr>
        <p:spPr/>
        <p:txBody>
          <a:bodyPr/>
          <a:lstStyle/>
          <a:p>
            <a:r>
              <a:rPr lang="en-US" dirty="0"/>
              <a:t>Static Members</a:t>
            </a:r>
          </a:p>
        </p:txBody>
      </p:sp>
      <p:sp>
        <p:nvSpPr>
          <p:cNvPr id="3" name="Content Placeholder 2">
            <a:extLst>
              <a:ext uri="{FF2B5EF4-FFF2-40B4-BE49-F238E27FC236}">
                <a16:creationId xmlns:a16="http://schemas.microsoft.com/office/drawing/2014/main" id="{D53F1656-0803-3E45-D1F1-09CE696FFE27}"/>
              </a:ext>
            </a:extLst>
          </p:cNvPr>
          <p:cNvSpPr>
            <a:spLocks noGrp="1"/>
          </p:cNvSpPr>
          <p:nvPr>
            <p:ph idx="1"/>
          </p:nvPr>
        </p:nvSpPr>
        <p:spPr>
          <a:xfrm>
            <a:off x="838200" y="1825625"/>
            <a:ext cx="10515600" cy="4842594"/>
          </a:xfrm>
        </p:spPr>
        <p:txBody>
          <a:bodyPr>
            <a:normAutofit fontScale="92500" lnSpcReduction="10000"/>
          </a:bodyPr>
          <a:lstStyle/>
          <a:p>
            <a:r>
              <a:rPr lang="en-US" dirty="0">
                <a:effectLst/>
              </a:rPr>
              <a:t>C++ uses the key word static to describe both static class members and static local variables. </a:t>
            </a:r>
          </a:p>
          <a:p>
            <a:r>
              <a:rPr lang="en-US" dirty="0">
                <a:effectLst/>
              </a:rPr>
              <a:t>To understand why, it is helpful to look at the distinction between instance and static class members. </a:t>
            </a:r>
          </a:p>
          <a:p>
            <a:r>
              <a:rPr lang="en-US" dirty="0">
                <a:effectLst/>
              </a:rPr>
              <a:t>Each object of the class has its own copy of the instance members, but all objects share the same static members.</a:t>
            </a:r>
          </a:p>
          <a:p>
            <a:r>
              <a:rPr lang="en-US" dirty="0">
                <a:effectLst/>
              </a:rPr>
              <a:t>Similarly, each call to a function has its own copy of the non-static local variables, but all function calls share the same static local variables. </a:t>
            </a:r>
          </a:p>
          <a:p>
            <a:r>
              <a:rPr lang="en-US" dirty="0">
                <a:effectLst/>
              </a:rPr>
              <a:t>In this analogy, the function definition corresponds to the class, function calls correspond to objects of the class, and non-static local variables correspond to instance members.</a:t>
            </a:r>
          </a:p>
          <a:p>
            <a:endParaRPr lang="en-US" dirty="0"/>
          </a:p>
        </p:txBody>
      </p:sp>
    </p:spTree>
    <p:extLst>
      <p:ext uri="{BB962C8B-B14F-4D97-AF65-F5344CB8AC3E}">
        <p14:creationId xmlns:p14="http://schemas.microsoft.com/office/powerpoint/2010/main" val="357273091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60B6B7-E639-2B9E-49D1-A568782310F3}"/>
              </a:ext>
            </a:extLst>
          </p:cNvPr>
          <p:cNvSpPr>
            <a:spLocks noGrp="1"/>
          </p:cNvSpPr>
          <p:nvPr>
            <p:ph type="title"/>
          </p:nvPr>
        </p:nvSpPr>
        <p:spPr/>
        <p:txBody>
          <a:bodyPr/>
          <a:lstStyle/>
          <a:p>
            <a:r>
              <a:rPr lang="en-US" dirty="0"/>
              <a:t>Friends of Classes</a:t>
            </a:r>
          </a:p>
        </p:txBody>
      </p:sp>
      <p:sp>
        <p:nvSpPr>
          <p:cNvPr id="3" name="Content Placeholder 2">
            <a:extLst>
              <a:ext uri="{FF2B5EF4-FFF2-40B4-BE49-F238E27FC236}">
                <a16:creationId xmlns:a16="http://schemas.microsoft.com/office/drawing/2014/main" id="{A99BFD29-3931-33A6-CE97-65C28EA42658}"/>
              </a:ext>
            </a:extLst>
          </p:cNvPr>
          <p:cNvSpPr>
            <a:spLocks noGrp="1"/>
          </p:cNvSpPr>
          <p:nvPr>
            <p:ph idx="1"/>
          </p:nvPr>
        </p:nvSpPr>
        <p:spPr/>
        <p:txBody>
          <a:bodyPr>
            <a:normAutofit/>
          </a:bodyPr>
          <a:lstStyle/>
          <a:p>
            <a:r>
              <a:rPr lang="en-US" dirty="0"/>
              <a:t>Private members are hidden from all parts of the program outside the class, and accessing them requires a call to a public member function. </a:t>
            </a:r>
          </a:p>
          <a:p>
            <a:r>
              <a:rPr lang="en-US" dirty="0"/>
              <a:t>Sometimes you will want to create an exception to that rule. </a:t>
            </a:r>
          </a:p>
          <a:p>
            <a:r>
              <a:rPr lang="en-US" dirty="0"/>
              <a:t>A </a:t>
            </a:r>
            <a:r>
              <a:rPr lang="en-US" dirty="0">
                <a:hlinkClick r:id="rId2"/>
              </a:rPr>
              <a:t>friend</a:t>
            </a:r>
            <a:r>
              <a:rPr lang="en-US" b="1" dirty="0"/>
              <a:t> </a:t>
            </a:r>
            <a:r>
              <a:rPr lang="en-US" dirty="0"/>
              <a:t>function is a function that is not a member of a class but that has access to the class’s private members.</a:t>
            </a:r>
          </a:p>
          <a:p>
            <a:r>
              <a:rPr lang="en-US" dirty="0"/>
              <a:t> In other words, a friend function is treated as if it were a member of the class. A friend function can be a regular stand-alone function, or it can be a member of another class. (In fact, an entire class can be declared a friend of another class.)</a:t>
            </a:r>
          </a:p>
        </p:txBody>
      </p:sp>
    </p:spTree>
    <p:extLst>
      <p:ext uri="{BB962C8B-B14F-4D97-AF65-F5344CB8AC3E}">
        <p14:creationId xmlns:p14="http://schemas.microsoft.com/office/powerpoint/2010/main" val="22005760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8678CE-906B-F86F-1FE3-86BF0B23A35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EF8253D-28B3-C990-7142-68A15FD92340}"/>
              </a:ext>
            </a:extLst>
          </p:cNvPr>
          <p:cNvSpPr>
            <a:spLocks noGrp="1"/>
          </p:cNvSpPr>
          <p:nvPr>
            <p:ph type="title"/>
          </p:nvPr>
        </p:nvSpPr>
        <p:spPr/>
        <p:txBody>
          <a:bodyPr/>
          <a:lstStyle/>
          <a:p>
            <a:r>
              <a:rPr lang="en-US" dirty="0"/>
              <a:t>Friends of Classes</a:t>
            </a:r>
          </a:p>
        </p:txBody>
      </p:sp>
      <p:sp>
        <p:nvSpPr>
          <p:cNvPr id="3" name="Content Placeholder 2">
            <a:extLst>
              <a:ext uri="{FF2B5EF4-FFF2-40B4-BE49-F238E27FC236}">
                <a16:creationId xmlns:a16="http://schemas.microsoft.com/office/drawing/2014/main" id="{F328B1A0-B472-DEFF-9266-B7483BA5F36B}"/>
              </a:ext>
            </a:extLst>
          </p:cNvPr>
          <p:cNvSpPr>
            <a:spLocks noGrp="1"/>
          </p:cNvSpPr>
          <p:nvPr>
            <p:ph idx="1"/>
          </p:nvPr>
        </p:nvSpPr>
        <p:spPr/>
        <p:txBody>
          <a:bodyPr>
            <a:normAutofit/>
          </a:bodyPr>
          <a:lstStyle/>
          <a:p>
            <a:r>
              <a:rPr lang="en-US" dirty="0"/>
              <a:t>In order for a function or class to become a friend of another class, it must be declared as such by the class granting it access.</a:t>
            </a:r>
          </a:p>
          <a:p>
            <a:r>
              <a:rPr lang="en-US" dirty="0"/>
              <a:t>Classes keep a “list” of their friends, and only the external functions or classes whose names appear in the list are granted access. </a:t>
            </a:r>
          </a:p>
          <a:p>
            <a:r>
              <a:rPr lang="en-US" dirty="0"/>
              <a:t>A function is declared a friend by placing the key word friend in front of a prototype of the function. Here is the general format:</a:t>
            </a:r>
          </a:p>
          <a:p>
            <a:pPr lvl="1"/>
            <a:r>
              <a:rPr lang="en-US" b="1" i="1" dirty="0">
                <a:solidFill>
                  <a:srgbClr val="C00000"/>
                </a:solidFill>
                <a:effectLst/>
              </a:rPr>
              <a:t>friend</a:t>
            </a:r>
            <a:r>
              <a:rPr lang="en-US" i="1" dirty="0">
                <a:solidFill>
                  <a:srgbClr val="C00000"/>
                </a:solidFill>
              </a:rPr>
              <a:t> &lt;</a:t>
            </a:r>
            <a:r>
              <a:rPr lang="en-US" b="1" i="1" dirty="0">
                <a:solidFill>
                  <a:srgbClr val="C00000"/>
                </a:solidFill>
                <a:effectLst/>
              </a:rPr>
              <a:t>return</a:t>
            </a:r>
            <a:r>
              <a:rPr lang="en-US" i="1" dirty="0">
                <a:solidFill>
                  <a:srgbClr val="C00000"/>
                </a:solidFill>
              </a:rPr>
              <a:t> type&gt;&lt;function name&gt;(&lt;parameter type list&gt;);</a:t>
            </a:r>
          </a:p>
        </p:txBody>
      </p:sp>
    </p:spTree>
    <p:extLst>
      <p:ext uri="{BB962C8B-B14F-4D97-AF65-F5344CB8AC3E}">
        <p14:creationId xmlns:p14="http://schemas.microsoft.com/office/powerpoint/2010/main" val="92146281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0A1BC5-858C-8B7A-C416-A2DBA50EA32B}"/>
              </a:ext>
            </a:extLst>
          </p:cNvPr>
          <p:cNvSpPr>
            <a:spLocks noGrp="1"/>
          </p:cNvSpPr>
          <p:nvPr>
            <p:ph type="title"/>
          </p:nvPr>
        </p:nvSpPr>
        <p:spPr/>
        <p:txBody>
          <a:bodyPr/>
          <a:lstStyle/>
          <a:p>
            <a:r>
              <a:rPr lang="en-US" dirty="0"/>
              <a:t>Example</a:t>
            </a:r>
          </a:p>
        </p:txBody>
      </p:sp>
      <p:pic>
        <p:nvPicPr>
          <p:cNvPr id="6" name="Picture 5">
            <a:extLst>
              <a:ext uri="{FF2B5EF4-FFF2-40B4-BE49-F238E27FC236}">
                <a16:creationId xmlns:a16="http://schemas.microsoft.com/office/drawing/2014/main" id="{4C59347E-9341-6EF1-F4AB-831ADE15E273}"/>
              </a:ext>
            </a:extLst>
          </p:cNvPr>
          <p:cNvPicPr>
            <a:picLocks noChangeAspect="1"/>
          </p:cNvPicPr>
          <p:nvPr/>
        </p:nvPicPr>
        <p:blipFill>
          <a:blip r:embed="rId2"/>
          <a:stretch>
            <a:fillRect/>
          </a:stretch>
        </p:blipFill>
        <p:spPr>
          <a:xfrm>
            <a:off x="0" y="1414731"/>
            <a:ext cx="3424825" cy="2691443"/>
          </a:xfrm>
          <a:prstGeom prst="rect">
            <a:avLst/>
          </a:prstGeom>
        </p:spPr>
      </p:pic>
      <p:pic>
        <p:nvPicPr>
          <p:cNvPr id="7" name="Picture 6">
            <a:extLst>
              <a:ext uri="{FF2B5EF4-FFF2-40B4-BE49-F238E27FC236}">
                <a16:creationId xmlns:a16="http://schemas.microsoft.com/office/drawing/2014/main" id="{1D1A22DD-581A-E955-2C80-0BDDE7110919}"/>
              </a:ext>
            </a:extLst>
          </p:cNvPr>
          <p:cNvPicPr>
            <a:picLocks noChangeAspect="1"/>
          </p:cNvPicPr>
          <p:nvPr/>
        </p:nvPicPr>
        <p:blipFill>
          <a:blip r:embed="rId3"/>
          <a:stretch>
            <a:fillRect/>
          </a:stretch>
        </p:blipFill>
        <p:spPr>
          <a:xfrm>
            <a:off x="3755809" y="629727"/>
            <a:ext cx="4375562" cy="4849663"/>
          </a:xfrm>
          <a:prstGeom prst="rect">
            <a:avLst/>
          </a:prstGeom>
        </p:spPr>
      </p:pic>
      <p:pic>
        <p:nvPicPr>
          <p:cNvPr id="8" name="Picture 7">
            <a:extLst>
              <a:ext uri="{FF2B5EF4-FFF2-40B4-BE49-F238E27FC236}">
                <a16:creationId xmlns:a16="http://schemas.microsoft.com/office/drawing/2014/main" id="{2F65CA6F-9759-6461-B563-0588B9BDC1E0}"/>
              </a:ext>
            </a:extLst>
          </p:cNvPr>
          <p:cNvPicPr>
            <a:picLocks noChangeAspect="1"/>
          </p:cNvPicPr>
          <p:nvPr/>
        </p:nvPicPr>
        <p:blipFill>
          <a:blip r:embed="rId4"/>
          <a:stretch>
            <a:fillRect/>
          </a:stretch>
        </p:blipFill>
        <p:spPr>
          <a:xfrm>
            <a:off x="8291663" y="254567"/>
            <a:ext cx="3900337" cy="3082656"/>
          </a:xfrm>
          <a:prstGeom prst="rect">
            <a:avLst/>
          </a:prstGeom>
        </p:spPr>
      </p:pic>
      <p:pic>
        <p:nvPicPr>
          <p:cNvPr id="9" name="Picture 8">
            <a:extLst>
              <a:ext uri="{FF2B5EF4-FFF2-40B4-BE49-F238E27FC236}">
                <a16:creationId xmlns:a16="http://schemas.microsoft.com/office/drawing/2014/main" id="{AF5015C6-44A2-C435-08AC-6A3E1B720910}"/>
              </a:ext>
            </a:extLst>
          </p:cNvPr>
          <p:cNvPicPr>
            <a:picLocks noChangeAspect="1"/>
          </p:cNvPicPr>
          <p:nvPr/>
        </p:nvPicPr>
        <p:blipFill>
          <a:blip r:embed="rId5"/>
          <a:stretch>
            <a:fillRect/>
          </a:stretch>
        </p:blipFill>
        <p:spPr>
          <a:xfrm>
            <a:off x="8478073" y="3566723"/>
            <a:ext cx="3527516" cy="2926152"/>
          </a:xfrm>
          <a:prstGeom prst="rect">
            <a:avLst/>
          </a:prstGeom>
        </p:spPr>
      </p:pic>
    </p:spTree>
    <p:extLst>
      <p:ext uri="{BB962C8B-B14F-4D97-AF65-F5344CB8AC3E}">
        <p14:creationId xmlns:p14="http://schemas.microsoft.com/office/powerpoint/2010/main" val="103154341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5D5C9B-2781-28A7-7185-84D4CD67653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BE3FADE-7562-625C-C493-F5BE10DE2B17}"/>
              </a:ext>
            </a:extLst>
          </p:cNvPr>
          <p:cNvSpPr>
            <a:spLocks noGrp="1"/>
          </p:cNvSpPr>
          <p:nvPr>
            <p:ph type="title"/>
          </p:nvPr>
        </p:nvSpPr>
        <p:spPr/>
        <p:txBody>
          <a:bodyPr/>
          <a:lstStyle/>
          <a:p>
            <a:r>
              <a:rPr lang="en-US" dirty="0"/>
              <a:t>Example (contd.)</a:t>
            </a:r>
          </a:p>
        </p:txBody>
      </p:sp>
      <p:pic>
        <p:nvPicPr>
          <p:cNvPr id="4" name="Picture 3">
            <a:extLst>
              <a:ext uri="{FF2B5EF4-FFF2-40B4-BE49-F238E27FC236}">
                <a16:creationId xmlns:a16="http://schemas.microsoft.com/office/drawing/2014/main" id="{D0997894-C59A-0F77-66FA-73C11F7381F5}"/>
              </a:ext>
            </a:extLst>
          </p:cNvPr>
          <p:cNvPicPr>
            <a:picLocks noChangeAspect="1"/>
          </p:cNvPicPr>
          <p:nvPr/>
        </p:nvPicPr>
        <p:blipFill>
          <a:blip r:embed="rId2"/>
          <a:stretch>
            <a:fillRect/>
          </a:stretch>
        </p:blipFill>
        <p:spPr>
          <a:xfrm>
            <a:off x="682736" y="1535502"/>
            <a:ext cx="3649049" cy="5322498"/>
          </a:xfrm>
          <a:prstGeom prst="rect">
            <a:avLst/>
          </a:prstGeom>
        </p:spPr>
      </p:pic>
      <p:pic>
        <p:nvPicPr>
          <p:cNvPr id="5" name="Picture 4">
            <a:extLst>
              <a:ext uri="{FF2B5EF4-FFF2-40B4-BE49-F238E27FC236}">
                <a16:creationId xmlns:a16="http://schemas.microsoft.com/office/drawing/2014/main" id="{47F77379-E8F7-BB1C-C61D-87B7A16C9B90}"/>
              </a:ext>
            </a:extLst>
          </p:cNvPr>
          <p:cNvPicPr>
            <a:picLocks noChangeAspect="1"/>
          </p:cNvPicPr>
          <p:nvPr/>
        </p:nvPicPr>
        <p:blipFill>
          <a:blip r:embed="rId3"/>
          <a:stretch>
            <a:fillRect/>
          </a:stretch>
        </p:blipFill>
        <p:spPr>
          <a:xfrm>
            <a:off x="4415829" y="2380890"/>
            <a:ext cx="4272693" cy="3493339"/>
          </a:xfrm>
          <a:prstGeom prst="rect">
            <a:avLst/>
          </a:prstGeom>
        </p:spPr>
      </p:pic>
      <p:pic>
        <p:nvPicPr>
          <p:cNvPr id="10" name="Picture 9">
            <a:extLst>
              <a:ext uri="{FF2B5EF4-FFF2-40B4-BE49-F238E27FC236}">
                <a16:creationId xmlns:a16="http://schemas.microsoft.com/office/drawing/2014/main" id="{26C21E49-881A-2B75-4C2C-7797D00C71BC}"/>
              </a:ext>
            </a:extLst>
          </p:cNvPr>
          <p:cNvPicPr>
            <a:picLocks noChangeAspect="1"/>
          </p:cNvPicPr>
          <p:nvPr/>
        </p:nvPicPr>
        <p:blipFill>
          <a:blip r:embed="rId4"/>
          <a:stretch>
            <a:fillRect/>
          </a:stretch>
        </p:blipFill>
        <p:spPr>
          <a:xfrm>
            <a:off x="8793254" y="2009955"/>
            <a:ext cx="3398746" cy="4002655"/>
          </a:xfrm>
          <a:prstGeom prst="rect">
            <a:avLst/>
          </a:prstGeom>
        </p:spPr>
      </p:pic>
    </p:spTree>
    <p:extLst>
      <p:ext uri="{BB962C8B-B14F-4D97-AF65-F5344CB8AC3E}">
        <p14:creationId xmlns:p14="http://schemas.microsoft.com/office/powerpoint/2010/main" val="29560067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E4C667-7891-6D4C-B0A9-2F13509F00FE}"/>
              </a:ext>
            </a:extLst>
          </p:cNvPr>
          <p:cNvSpPr>
            <a:spLocks noGrp="1"/>
          </p:cNvSpPr>
          <p:nvPr>
            <p:ph type="title"/>
          </p:nvPr>
        </p:nvSpPr>
        <p:spPr/>
        <p:txBody>
          <a:bodyPr/>
          <a:lstStyle/>
          <a:p>
            <a:r>
              <a:rPr lang="en-US" dirty="0"/>
              <a:t>Friends of Classes</a:t>
            </a:r>
          </a:p>
        </p:txBody>
      </p:sp>
      <p:sp>
        <p:nvSpPr>
          <p:cNvPr id="3" name="Content Placeholder 2">
            <a:extLst>
              <a:ext uri="{FF2B5EF4-FFF2-40B4-BE49-F238E27FC236}">
                <a16:creationId xmlns:a16="http://schemas.microsoft.com/office/drawing/2014/main" id="{95A16D30-CA48-D14A-1BA8-EDD23FECB0D3}"/>
              </a:ext>
            </a:extLst>
          </p:cNvPr>
          <p:cNvSpPr>
            <a:spLocks noGrp="1"/>
          </p:cNvSpPr>
          <p:nvPr>
            <p:ph idx="1"/>
          </p:nvPr>
        </p:nvSpPr>
        <p:spPr/>
        <p:txBody>
          <a:bodyPr/>
          <a:lstStyle/>
          <a:p>
            <a:pPr algn="l"/>
            <a:r>
              <a:rPr lang="en-US" dirty="0">
                <a:effectLst/>
              </a:rPr>
              <a:t>As mentioned before, it is possible to make an entire class a friend of another class. The Budget class could make the Aux class its friend with the following declaration:</a:t>
            </a:r>
          </a:p>
          <a:p>
            <a:pPr lvl="1"/>
            <a:r>
              <a:rPr lang="en-US" b="1" i="1" dirty="0">
                <a:solidFill>
                  <a:srgbClr val="C00000"/>
                </a:solidFill>
                <a:effectLst/>
              </a:rPr>
              <a:t>friend</a:t>
            </a:r>
            <a:r>
              <a:rPr lang="en-US" i="1" dirty="0">
                <a:solidFill>
                  <a:srgbClr val="C00000"/>
                </a:solidFill>
              </a:rPr>
              <a:t> </a:t>
            </a:r>
            <a:r>
              <a:rPr lang="en-US" b="1" i="1" dirty="0">
                <a:solidFill>
                  <a:srgbClr val="C00000"/>
                </a:solidFill>
                <a:effectLst/>
              </a:rPr>
              <a:t>class</a:t>
            </a:r>
            <a:r>
              <a:rPr lang="en-US" i="1" dirty="0">
                <a:solidFill>
                  <a:srgbClr val="C00000"/>
                </a:solidFill>
              </a:rPr>
              <a:t> </a:t>
            </a:r>
            <a:r>
              <a:rPr lang="en-US" b="1" i="1" dirty="0">
                <a:solidFill>
                  <a:srgbClr val="C00000"/>
                </a:solidFill>
                <a:effectLst/>
              </a:rPr>
              <a:t>Aux</a:t>
            </a:r>
            <a:r>
              <a:rPr lang="en-US" i="1" dirty="0">
                <a:solidFill>
                  <a:srgbClr val="C00000"/>
                </a:solidFill>
              </a:rPr>
              <a:t>; </a:t>
            </a:r>
          </a:p>
          <a:p>
            <a:pPr algn="l"/>
            <a:r>
              <a:rPr lang="en-US" dirty="0">
                <a:effectLst/>
              </a:rPr>
              <a:t>This may not be a good idea, however. Every member function of Aux (including ones that may be added later) would have access to the private members of Budget. </a:t>
            </a:r>
          </a:p>
          <a:p>
            <a:pPr algn="l"/>
            <a:r>
              <a:rPr lang="en-US" dirty="0">
                <a:effectLst/>
              </a:rPr>
              <a:t>The best practice is to declare as friends only those functions that must have access to the private members of the class.</a:t>
            </a:r>
          </a:p>
          <a:p>
            <a:endParaRPr lang="en-US" dirty="0"/>
          </a:p>
        </p:txBody>
      </p:sp>
    </p:spTree>
    <p:extLst>
      <p:ext uri="{BB962C8B-B14F-4D97-AF65-F5344CB8AC3E}">
        <p14:creationId xmlns:p14="http://schemas.microsoft.com/office/powerpoint/2010/main" val="357156522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8A727A-748A-C6C0-C7DF-FA697148C227}"/>
              </a:ext>
            </a:extLst>
          </p:cNvPr>
          <p:cNvSpPr>
            <a:spLocks noGrp="1"/>
          </p:cNvSpPr>
          <p:nvPr>
            <p:ph type="title"/>
          </p:nvPr>
        </p:nvSpPr>
        <p:spPr/>
        <p:txBody>
          <a:bodyPr/>
          <a:lstStyle/>
          <a:p>
            <a:r>
              <a:rPr lang="en-US" dirty="0" err="1"/>
              <a:t>Memberwise</a:t>
            </a:r>
            <a:r>
              <a:rPr lang="en-US" dirty="0"/>
              <a:t> Assignment</a:t>
            </a:r>
          </a:p>
        </p:txBody>
      </p:sp>
      <p:sp>
        <p:nvSpPr>
          <p:cNvPr id="3" name="Content Placeholder 2">
            <a:extLst>
              <a:ext uri="{FF2B5EF4-FFF2-40B4-BE49-F238E27FC236}">
                <a16:creationId xmlns:a16="http://schemas.microsoft.com/office/drawing/2014/main" id="{9B1D9784-90C2-DA9B-B7E8-D06659947793}"/>
              </a:ext>
            </a:extLst>
          </p:cNvPr>
          <p:cNvSpPr>
            <a:spLocks noGrp="1"/>
          </p:cNvSpPr>
          <p:nvPr>
            <p:ph idx="1"/>
          </p:nvPr>
        </p:nvSpPr>
        <p:spPr/>
        <p:txBody>
          <a:bodyPr/>
          <a:lstStyle/>
          <a:p>
            <a:r>
              <a:rPr lang="en-US" dirty="0"/>
              <a:t>The = operator may be used to assign one object to another, or to initialize one object with another object’s data. By default, each member of one object is copied to its counterpart in the other object.</a:t>
            </a:r>
          </a:p>
          <a:p>
            <a:r>
              <a:rPr lang="en-US" dirty="0"/>
              <a:t>The = operator may be used to assign one object to another, or to initialize one object with another object’s data. By default, each member of one object is copied to its counterpart in the other object.</a:t>
            </a:r>
          </a:p>
          <a:p>
            <a:r>
              <a:rPr lang="en-US" dirty="0"/>
              <a:t>Let’s look at an example</a:t>
            </a:r>
          </a:p>
        </p:txBody>
      </p:sp>
    </p:spTree>
    <p:extLst>
      <p:ext uri="{BB962C8B-B14F-4D97-AF65-F5344CB8AC3E}">
        <p14:creationId xmlns:p14="http://schemas.microsoft.com/office/powerpoint/2010/main" val="249335090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1D91D3-F01B-7BDA-436C-8A90280B4D48}"/>
              </a:ext>
            </a:extLst>
          </p:cNvPr>
          <p:cNvSpPr>
            <a:spLocks noGrp="1"/>
          </p:cNvSpPr>
          <p:nvPr>
            <p:ph type="title"/>
          </p:nvPr>
        </p:nvSpPr>
        <p:spPr/>
        <p:txBody>
          <a:bodyPr/>
          <a:lstStyle/>
          <a:p>
            <a:r>
              <a:rPr lang="en-US" dirty="0"/>
              <a:t>Example</a:t>
            </a:r>
          </a:p>
        </p:txBody>
      </p:sp>
      <p:pic>
        <p:nvPicPr>
          <p:cNvPr id="4" name="Content Placeholder 3">
            <a:extLst>
              <a:ext uri="{FF2B5EF4-FFF2-40B4-BE49-F238E27FC236}">
                <a16:creationId xmlns:a16="http://schemas.microsoft.com/office/drawing/2014/main" id="{FD7A7ABA-67D1-A6C0-88FE-A8BFC63063BF}"/>
              </a:ext>
            </a:extLst>
          </p:cNvPr>
          <p:cNvPicPr>
            <a:picLocks noGrp="1" noChangeAspect="1"/>
          </p:cNvPicPr>
          <p:nvPr>
            <p:ph idx="1"/>
          </p:nvPr>
        </p:nvPicPr>
        <p:blipFill>
          <a:blip r:embed="rId2"/>
          <a:stretch>
            <a:fillRect/>
          </a:stretch>
        </p:blipFill>
        <p:spPr>
          <a:xfrm>
            <a:off x="744528" y="1929040"/>
            <a:ext cx="4004749" cy="4112986"/>
          </a:xfrm>
          <a:prstGeom prst="rect">
            <a:avLst/>
          </a:prstGeom>
        </p:spPr>
      </p:pic>
      <p:pic>
        <p:nvPicPr>
          <p:cNvPr id="5" name="Picture 4">
            <a:extLst>
              <a:ext uri="{FF2B5EF4-FFF2-40B4-BE49-F238E27FC236}">
                <a16:creationId xmlns:a16="http://schemas.microsoft.com/office/drawing/2014/main" id="{70C94774-9CAD-1A0F-6638-13F5EE977A74}"/>
              </a:ext>
            </a:extLst>
          </p:cNvPr>
          <p:cNvPicPr>
            <a:picLocks noChangeAspect="1"/>
          </p:cNvPicPr>
          <p:nvPr/>
        </p:nvPicPr>
        <p:blipFill>
          <a:blip r:embed="rId3"/>
          <a:stretch>
            <a:fillRect/>
          </a:stretch>
        </p:blipFill>
        <p:spPr>
          <a:xfrm>
            <a:off x="5052182" y="180337"/>
            <a:ext cx="4781085" cy="4112986"/>
          </a:xfrm>
          <a:prstGeom prst="rect">
            <a:avLst/>
          </a:prstGeom>
        </p:spPr>
      </p:pic>
      <p:pic>
        <p:nvPicPr>
          <p:cNvPr id="6" name="Picture 5">
            <a:extLst>
              <a:ext uri="{FF2B5EF4-FFF2-40B4-BE49-F238E27FC236}">
                <a16:creationId xmlns:a16="http://schemas.microsoft.com/office/drawing/2014/main" id="{8F054DA3-E8AA-E0AA-1B52-A916AE1BE9B6}"/>
              </a:ext>
            </a:extLst>
          </p:cNvPr>
          <p:cNvPicPr>
            <a:picLocks noChangeAspect="1"/>
          </p:cNvPicPr>
          <p:nvPr/>
        </p:nvPicPr>
        <p:blipFill>
          <a:blip r:embed="rId4"/>
          <a:stretch>
            <a:fillRect/>
          </a:stretch>
        </p:blipFill>
        <p:spPr>
          <a:xfrm>
            <a:off x="5145839" y="4562844"/>
            <a:ext cx="4153807" cy="2114819"/>
          </a:xfrm>
          <a:prstGeom prst="rect">
            <a:avLst/>
          </a:prstGeom>
        </p:spPr>
      </p:pic>
      <p:sp>
        <p:nvSpPr>
          <p:cNvPr id="9" name="TextBox 8">
            <a:extLst>
              <a:ext uri="{FF2B5EF4-FFF2-40B4-BE49-F238E27FC236}">
                <a16:creationId xmlns:a16="http://schemas.microsoft.com/office/drawing/2014/main" id="{EFFAACCD-ED76-3842-A049-8EC9FB7E0A11}"/>
              </a:ext>
            </a:extLst>
          </p:cNvPr>
          <p:cNvSpPr txBox="1"/>
          <p:nvPr/>
        </p:nvSpPr>
        <p:spPr>
          <a:xfrm>
            <a:off x="10229829" y="2167467"/>
            <a:ext cx="1769533" cy="3139321"/>
          </a:xfrm>
          <a:prstGeom prst="rect">
            <a:avLst/>
          </a:prstGeom>
          <a:noFill/>
        </p:spPr>
        <p:txBody>
          <a:bodyPr wrap="square" rtlCol="0">
            <a:spAutoFit/>
          </a:bodyPr>
          <a:lstStyle/>
          <a:p>
            <a:pPr algn="l"/>
            <a:r>
              <a:rPr lang="en-US" dirty="0">
                <a:effectLst/>
              </a:rPr>
              <a:t>As you can see, the statement</a:t>
            </a:r>
          </a:p>
          <a:p>
            <a:pPr rtl="0"/>
            <a:r>
              <a:rPr lang="en-US" b="1" i="1" dirty="0">
                <a:solidFill>
                  <a:srgbClr val="FF0000"/>
                </a:solidFill>
              </a:rPr>
              <a:t>box2 = box1 </a:t>
            </a:r>
          </a:p>
          <a:p>
            <a:pPr algn="l"/>
            <a:r>
              <a:rPr lang="en-US" dirty="0">
                <a:effectLst/>
              </a:rPr>
              <a:t>copied the width and length variables of box1 directly into the width and length variables of box2.</a:t>
            </a:r>
          </a:p>
        </p:txBody>
      </p:sp>
    </p:spTree>
    <p:extLst>
      <p:ext uri="{BB962C8B-B14F-4D97-AF65-F5344CB8AC3E}">
        <p14:creationId xmlns:p14="http://schemas.microsoft.com/office/powerpoint/2010/main" val="347341420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DA141C-E9D7-9398-03AF-D9823CC99903}"/>
              </a:ext>
            </a:extLst>
          </p:cNvPr>
          <p:cNvSpPr>
            <a:spLocks noGrp="1"/>
          </p:cNvSpPr>
          <p:nvPr>
            <p:ph type="title"/>
          </p:nvPr>
        </p:nvSpPr>
        <p:spPr/>
        <p:txBody>
          <a:bodyPr/>
          <a:lstStyle/>
          <a:p>
            <a:r>
              <a:rPr lang="en-US" dirty="0" err="1"/>
              <a:t>Memberwise</a:t>
            </a:r>
            <a:r>
              <a:rPr lang="en-US" dirty="0"/>
              <a:t> Assignment</a:t>
            </a:r>
          </a:p>
        </p:txBody>
      </p:sp>
      <p:sp>
        <p:nvSpPr>
          <p:cNvPr id="3" name="Content Placeholder 2">
            <a:extLst>
              <a:ext uri="{FF2B5EF4-FFF2-40B4-BE49-F238E27FC236}">
                <a16:creationId xmlns:a16="http://schemas.microsoft.com/office/drawing/2014/main" id="{60D74574-05AF-91DB-1442-9CC2A9C61185}"/>
              </a:ext>
            </a:extLst>
          </p:cNvPr>
          <p:cNvSpPr>
            <a:spLocks noGrp="1"/>
          </p:cNvSpPr>
          <p:nvPr>
            <p:ph idx="1"/>
          </p:nvPr>
        </p:nvSpPr>
        <p:spPr>
          <a:xfrm>
            <a:off x="838200" y="1825625"/>
            <a:ext cx="10515600" cy="4837642"/>
          </a:xfrm>
        </p:spPr>
        <p:txBody>
          <a:bodyPr>
            <a:normAutofit lnSpcReduction="10000"/>
          </a:bodyPr>
          <a:lstStyle/>
          <a:p>
            <a:r>
              <a:rPr lang="en-US" dirty="0" err="1"/>
              <a:t>Memberwise</a:t>
            </a:r>
            <a:r>
              <a:rPr lang="en-US" dirty="0"/>
              <a:t> assignment also occurs when one object is initialized with another object’s values. </a:t>
            </a:r>
          </a:p>
          <a:p>
            <a:r>
              <a:rPr lang="en-US" dirty="0"/>
              <a:t>Remember the difference between assignment and initialization: Assignment occurs between two objects that already exist, and initialization happens to an object being created. </a:t>
            </a:r>
          </a:p>
          <a:p>
            <a:r>
              <a:rPr lang="en-US" dirty="0"/>
              <a:t>Consider the following program segment: </a:t>
            </a:r>
          </a:p>
          <a:p>
            <a:pPr lvl="1"/>
            <a:r>
              <a:rPr lang="en-US" b="1" i="1" dirty="0">
                <a:solidFill>
                  <a:srgbClr val="FF0000"/>
                </a:solidFill>
              </a:rPr>
              <a:t>Rectangle </a:t>
            </a:r>
            <a:r>
              <a:rPr lang="en-US" b="1" i="1" dirty="0">
                <a:solidFill>
                  <a:srgbClr val="FF0000"/>
                </a:solidFill>
                <a:effectLst/>
              </a:rPr>
              <a:t>box1</a:t>
            </a:r>
            <a:r>
              <a:rPr lang="en-US" b="1" i="1" dirty="0">
                <a:solidFill>
                  <a:srgbClr val="FF0000"/>
                </a:solidFill>
              </a:rPr>
              <a:t>(</a:t>
            </a:r>
            <a:r>
              <a:rPr lang="en-US" b="1" i="1" dirty="0">
                <a:solidFill>
                  <a:srgbClr val="FF0000"/>
                </a:solidFill>
                <a:effectLst/>
              </a:rPr>
              <a:t>10</a:t>
            </a:r>
            <a:r>
              <a:rPr lang="en-US" b="1" i="1" dirty="0">
                <a:solidFill>
                  <a:srgbClr val="FF0000"/>
                </a:solidFill>
              </a:rPr>
              <a:t>, </a:t>
            </a:r>
            <a:r>
              <a:rPr lang="en-US" b="1" i="1" dirty="0">
                <a:solidFill>
                  <a:srgbClr val="FF0000"/>
                </a:solidFill>
                <a:effectLst/>
              </a:rPr>
              <a:t>50</a:t>
            </a:r>
            <a:r>
              <a:rPr lang="en-US" b="1" i="1" dirty="0">
                <a:solidFill>
                  <a:srgbClr val="FF0000"/>
                </a:solidFill>
              </a:rPr>
              <a:t>); </a:t>
            </a:r>
          </a:p>
          <a:p>
            <a:pPr lvl="1"/>
            <a:r>
              <a:rPr lang="en-US" b="1" i="1" dirty="0">
                <a:solidFill>
                  <a:srgbClr val="FF0000"/>
                </a:solidFill>
              </a:rPr>
              <a:t>Rectangle box2 = box1; </a:t>
            </a:r>
            <a:endParaRPr lang="en-US" dirty="0"/>
          </a:p>
          <a:p>
            <a:r>
              <a:rPr lang="en-US" dirty="0"/>
              <a:t>The second statement defines a Rectangle object box2 and initializes it to the values stored in box1</a:t>
            </a:r>
            <a:r>
              <a:rPr lang="en-US" b="1" dirty="0"/>
              <a:t>. Because </a:t>
            </a:r>
            <a:r>
              <a:rPr lang="en-US" b="1" dirty="0" err="1"/>
              <a:t>memberwise</a:t>
            </a:r>
            <a:r>
              <a:rPr lang="en-US" b="1" dirty="0"/>
              <a:t> assignment </a:t>
            </a:r>
            <a:r>
              <a:rPr lang="en-US" dirty="0"/>
              <a:t>takes place, the box2 object will contain the same values as the box1 object.</a:t>
            </a:r>
          </a:p>
          <a:p>
            <a:pPr lvl="1"/>
            <a:endParaRPr lang="en-US" b="1" i="1" dirty="0">
              <a:solidFill>
                <a:srgbClr val="FF0000"/>
              </a:solidFill>
            </a:endParaRPr>
          </a:p>
          <a:p>
            <a:pPr lvl="1"/>
            <a:endParaRPr lang="en-US" b="1" i="1" dirty="0">
              <a:solidFill>
                <a:srgbClr val="FF0000"/>
              </a:solidFill>
            </a:endParaRPr>
          </a:p>
        </p:txBody>
      </p:sp>
    </p:spTree>
    <p:extLst>
      <p:ext uri="{BB962C8B-B14F-4D97-AF65-F5344CB8AC3E}">
        <p14:creationId xmlns:p14="http://schemas.microsoft.com/office/powerpoint/2010/main" val="341452569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47DCF7-00A7-564A-AC06-09ABF9DB5532}"/>
              </a:ext>
            </a:extLst>
          </p:cNvPr>
          <p:cNvSpPr>
            <a:spLocks noGrp="1"/>
          </p:cNvSpPr>
          <p:nvPr>
            <p:ph type="title"/>
          </p:nvPr>
        </p:nvSpPr>
        <p:spPr/>
        <p:txBody>
          <a:bodyPr/>
          <a:lstStyle/>
          <a:p>
            <a:r>
              <a:rPr lang="en-US" dirty="0"/>
              <a:t>Copy Constructors</a:t>
            </a:r>
          </a:p>
        </p:txBody>
      </p:sp>
      <p:sp>
        <p:nvSpPr>
          <p:cNvPr id="3" name="Content Placeholder 2">
            <a:extLst>
              <a:ext uri="{FF2B5EF4-FFF2-40B4-BE49-F238E27FC236}">
                <a16:creationId xmlns:a16="http://schemas.microsoft.com/office/drawing/2014/main" id="{FD563AFB-76C5-058A-3450-4BD0C575C238}"/>
              </a:ext>
            </a:extLst>
          </p:cNvPr>
          <p:cNvSpPr>
            <a:spLocks noGrp="1"/>
          </p:cNvSpPr>
          <p:nvPr>
            <p:ph idx="1"/>
          </p:nvPr>
        </p:nvSpPr>
        <p:spPr/>
        <p:txBody>
          <a:bodyPr/>
          <a:lstStyle/>
          <a:p>
            <a:r>
              <a:rPr lang="en-US" b="1" dirty="0"/>
              <a:t>A copy constructor is a special constructor that is called whenever a new object is created and initialized with the data of another object of the same class.</a:t>
            </a:r>
          </a:p>
          <a:p>
            <a:r>
              <a:rPr lang="en-US" dirty="0"/>
              <a:t>Many times it makes sense to create an object and have it start out with its data being the same as that of another, previously created object.</a:t>
            </a:r>
            <a:endParaRPr lang="en-US" b="1" dirty="0"/>
          </a:p>
          <a:p>
            <a:r>
              <a:rPr lang="en-US" dirty="0"/>
              <a:t>Consider the following example -  </a:t>
            </a:r>
          </a:p>
        </p:txBody>
      </p:sp>
    </p:spTree>
    <p:extLst>
      <p:ext uri="{BB962C8B-B14F-4D97-AF65-F5344CB8AC3E}">
        <p14:creationId xmlns:p14="http://schemas.microsoft.com/office/powerpoint/2010/main" val="317365750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762991-FDD2-745C-BC88-21C657024DA3}"/>
              </a:ext>
            </a:extLst>
          </p:cNvPr>
          <p:cNvSpPr>
            <a:spLocks noGrp="1"/>
          </p:cNvSpPr>
          <p:nvPr>
            <p:ph type="title"/>
          </p:nvPr>
        </p:nvSpPr>
        <p:spPr/>
        <p:txBody>
          <a:bodyPr/>
          <a:lstStyle/>
          <a:p>
            <a:r>
              <a:rPr lang="en-US" dirty="0"/>
              <a:t>Copy Constructors</a:t>
            </a:r>
          </a:p>
        </p:txBody>
      </p:sp>
      <p:sp>
        <p:nvSpPr>
          <p:cNvPr id="3" name="Content Placeholder 2">
            <a:extLst>
              <a:ext uri="{FF2B5EF4-FFF2-40B4-BE49-F238E27FC236}">
                <a16:creationId xmlns:a16="http://schemas.microsoft.com/office/drawing/2014/main" id="{4D1E75A3-5404-0C85-39B6-A835B2829376}"/>
              </a:ext>
            </a:extLst>
          </p:cNvPr>
          <p:cNvSpPr>
            <a:spLocks noGrp="1"/>
          </p:cNvSpPr>
          <p:nvPr>
            <p:ph idx="1"/>
          </p:nvPr>
        </p:nvSpPr>
        <p:spPr>
          <a:xfrm>
            <a:off x="838200" y="1825625"/>
            <a:ext cx="5511800" cy="4351338"/>
          </a:xfrm>
        </p:spPr>
        <p:txBody>
          <a:bodyPr/>
          <a:lstStyle/>
          <a:p>
            <a:r>
              <a:rPr lang="en-US" dirty="0"/>
              <a:t>For example, if Mary and Joan live in the same house and an address object for Mary has already been created, it makes sense to initialize Joan’s address object to a copy of Mary’s.</a:t>
            </a:r>
          </a:p>
        </p:txBody>
      </p:sp>
      <p:pic>
        <p:nvPicPr>
          <p:cNvPr id="4" name="Picture 3">
            <a:extLst>
              <a:ext uri="{FF2B5EF4-FFF2-40B4-BE49-F238E27FC236}">
                <a16:creationId xmlns:a16="http://schemas.microsoft.com/office/drawing/2014/main" id="{D8B52B29-2AB7-959C-6013-1E86A40A4E11}"/>
              </a:ext>
            </a:extLst>
          </p:cNvPr>
          <p:cNvPicPr>
            <a:picLocks noChangeAspect="1"/>
          </p:cNvPicPr>
          <p:nvPr/>
        </p:nvPicPr>
        <p:blipFill>
          <a:blip r:embed="rId2"/>
          <a:stretch>
            <a:fillRect/>
          </a:stretch>
        </p:blipFill>
        <p:spPr>
          <a:xfrm>
            <a:off x="6731000" y="1117600"/>
            <a:ext cx="4622800" cy="2794000"/>
          </a:xfrm>
          <a:prstGeom prst="rect">
            <a:avLst/>
          </a:prstGeom>
        </p:spPr>
      </p:pic>
      <p:pic>
        <p:nvPicPr>
          <p:cNvPr id="5" name="Picture 4">
            <a:extLst>
              <a:ext uri="{FF2B5EF4-FFF2-40B4-BE49-F238E27FC236}">
                <a16:creationId xmlns:a16="http://schemas.microsoft.com/office/drawing/2014/main" id="{0A0CC55E-0302-8EC8-4728-4ACA1C1BA231}"/>
              </a:ext>
            </a:extLst>
          </p:cNvPr>
          <p:cNvPicPr>
            <a:picLocks noChangeAspect="1"/>
          </p:cNvPicPr>
          <p:nvPr/>
        </p:nvPicPr>
        <p:blipFill>
          <a:blip r:embed="rId3"/>
          <a:stretch>
            <a:fillRect/>
          </a:stretch>
        </p:blipFill>
        <p:spPr>
          <a:xfrm>
            <a:off x="7219423" y="4423542"/>
            <a:ext cx="3770311" cy="750650"/>
          </a:xfrm>
          <a:prstGeom prst="rect">
            <a:avLst/>
          </a:prstGeom>
        </p:spPr>
      </p:pic>
    </p:spTree>
    <p:extLst>
      <p:ext uri="{BB962C8B-B14F-4D97-AF65-F5344CB8AC3E}">
        <p14:creationId xmlns:p14="http://schemas.microsoft.com/office/powerpoint/2010/main" val="428716376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F5DB55-D462-28B0-1197-E2C828B65DB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D915954-FC66-4FEF-F690-E76000FF3CA9}"/>
              </a:ext>
            </a:extLst>
          </p:cNvPr>
          <p:cNvSpPr>
            <a:spLocks noGrp="1"/>
          </p:cNvSpPr>
          <p:nvPr>
            <p:ph type="title"/>
          </p:nvPr>
        </p:nvSpPr>
        <p:spPr/>
        <p:txBody>
          <a:bodyPr/>
          <a:lstStyle/>
          <a:p>
            <a:r>
              <a:rPr lang="en-US" dirty="0"/>
              <a:t>Copy Constructors</a:t>
            </a:r>
          </a:p>
        </p:txBody>
      </p:sp>
      <p:sp>
        <p:nvSpPr>
          <p:cNvPr id="3" name="Content Placeholder 2">
            <a:extLst>
              <a:ext uri="{FF2B5EF4-FFF2-40B4-BE49-F238E27FC236}">
                <a16:creationId xmlns:a16="http://schemas.microsoft.com/office/drawing/2014/main" id="{225970C6-AB00-7899-248A-4B666CDA9873}"/>
              </a:ext>
            </a:extLst>
          </p:cNvPr>
          <p:cNvSpPr>
            <a:spLocks noGrp="1"/>
          </p:cNvSpPr>
          <p:nvPr>
            <p:ph idx="1"/>
          </p:nvPr>
        </p:nvSpPr>
        <p:spPr>
          <a:xfrm>
            <a:off x="838200" y="1825625"/>
            <a:ext cx="10439400" cy="4351338"/>
          </a:xfrm>
        </p:spPr>
        <p:txBody>
          <a:bodyPr>
            <a:normAutofit/>
          </a:bodyPr>
          <a:lstStyle/>
          <a:p>
            <a:r>
              <a:rPr lang="en-US" dirty="0"/>
              <a:t>Recall that a constructor must execute whenever an object is being created. </a:t>
            </a:r>
          </a:p>
          <a:p>
            <a:r>
              <a:rPr lang="en-US" dirty="0"/>
              <a:t>When an object is created and initialized with another object of the same class, the compiler automatically calls a special constructor, called a </a:t>
            </a:r>
            <a:r>
              <a:rPr lang="en-US" b="1" dirty="0">
                <a:solidFill>
                  <a:srgbClr val="FF0000"/>
                </a:solidFill>
                <a:hlinkClick r:id="rId2">
                  <a:extLst>
                    <a:ext uri="{A12FA001-AC4F-418D-AE19-62706E023703}">
                      <ahyp:hlinkClr xmlns:ahyp="http://schemas.microsoft.com/office/drawing/2018/hyperlinkcolor" val="tx"/>
                    </a:ext>
                  </a:extLst>
                </a:hlinkClick>
              </a:rPr>
              <a:t>copy constructor</a:t>
            </a:r>
            <a:r>
              <a:rPr lang="en-US" dirty="0"/>
              <a:t>, to perform the initialization using the existing object’s data. </a:t>
            </a:r>
          </a:p>
          <a:p>
            <a:r>
              <a:rPr lang="en-US" dirty="0"/>
              <a:t>This copy constructor can be specified by the programmer as well</a:t>
            </a:r>
          </a:p>
        </p:txBody>
      </p:sp>
    </p:spTree>
    <p:extLst>
      <p:ext uri="{BB962C8B-B14F-4D97-AF65-F5344CB8AC3E}">
        <p14:creationId xmlns:p14="http://schemas.microsoft.com/office/powerpoint/2010/main" val="217248489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BDB9C0-109B-DA69-A9DD-26B650A3166F}"/>
              </a:ext>
            </a:extLst>
          </p:cNvPr>
          <p:cNvSpPr>
            <a:spLocks noGrp="1"/>
          </p:cNvSpPr>
          <p:nvPr>
            <p:ph type="title"/>
          </p:nvPr>
        </p:nvSpPr>
        <p:spPr/>
        <p:txBody>
          <a:bodyPr/>
          <a:lstStyle/>
          <a:p>
            <a:r>
              <a:rPr lang="en-US" dirty="0"/>
              <a:t>The Default Copy Constructor</a:t>
            </a:r>
          </a:p>
        </p:txBody>
      </p:sp>
      <p:sp>
        <p:nvSpPr>
          <p:cNvPr id="3" name="Content Placeholder 2">
            <a:extLst>
              <a:ext uri="{FF2B5EF4-FFF2-40B4-BE49-F238E27FC236}">
                <a16:creationId xmlns:a16="http://schemas.microsoft.com/office/drawing/2014/main" id="{C4BB5AD9-7B89-FEA8-F4A4-EB95BAAAD67A}"/>
              </a:ext>
            </a:extLst>
          </p:cNvPr>
          <p:cNvSpPr>
            <a:spLocks noGrp="1"/>
          </p:cNvSpPr>
          <p:nvPr>
            <p:ph idx="1"/>
          </p:nvPr>
        </p:nvSpPr>
        <p:spPr/>
        <p:txBody>
          <a:bodyPr/>
          <a:lstStyle/>
          <a:p>
            <a:r>
              <a:rPr lang="en-US" dirty="0"/>
              <a:t>If the programmer does not specify a copy constructor for the class, then the compiler automatically calls a </a:t>
            </a:r>
            <a:r>
              <a:rPr lang="en-US" b="1" dirty="0">
                <a:solidFill>
                  <a:srgbClr val="FF0000"/>
                </a:solidFill>
                <a:hlinkClick r:id="rId2">
                  <a:extLst>
                    <a:ext uri="{A12FA001-AC4F-418D-AE19-62706E023703}">
                      <ahyp:hlinkClr xmlns:ahyp="http://schemas.microsoft.com/office/drawing/2018/hyperlinkcolor" val="tx"/>
                    </a:ext>
                  </a:extLst>
                </a:hlinkClick>
              </a:rPr>
              <a:t>default copy constructor</a:t>
            </a:r>
            <a:r>
              <a:rPr lang="en-US" dirty="0">
                <a:solidFill>
                  <a:srgbClr val="FF0000"/>
                </a:solidFill>
              </a:rPr>
              <a:t>. </a:t>
            </a:r>
          </a:p>
          <a:p>
            <a:r>
              <a:rPr lang="en-US" dirty="0"/>
              <a:t>This default copy constructor simply copies the data of the existing object to the new object using </a:t>
            </a:r>
            <a:r>
              <a:rPr lang="en-US" dirty="0" err="1"/>
              <a:t>memberwise</a:t>
            </a:r>
            <a:r>
              <a:rPr lang="en-US" dirty="0"/>
              <a:t> assignment.</a:t>
            </a:r>
          </a:p>
          <a:p>
            <a:r>
              <a:rPr lang="en-US" dirty="0"/>
              <a:t>Most of the time, the default copy constructor provides the kind of behavior that we want.</a:t>
            </a:r>
          </a:p>
          <a:p>
            <a:r>
              <a:rPr lang="en-US" dirty="0"/>
              <a:t>For example, if after initializing Joan’s address with Mary’s, Joan later moves out and gets her own place, we can change Joan’s address without affecting Mary’s. </a:t>
            </a:r>
          </a:p>
        </p:txBody>
      </p:sp>
    </p:spTree>
    <p:extLst>
      <p:ext uri="{BB962C8B-B14F-4D97-AF65-F5344CB8AC3E}">
        <p14:creationId xmlns:p14="http://schemas.microsoft.com/office/powerpoint/2010/main" val="9820552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A10606-4377-4A03-BB6E-9E4D7CEA687F}"/>
              </a:ext>
            </a:extLst>
          </p:cNvPr>
          <p:cNvSpPr>
            <a:spLocks noGrp="1"/>
          </p:cNvSpPr>
          <p:nvPr>
            <p:ph type="title"/>
          </p:nvPr>
        </p:nvSpPr>
        <p:spPr/>
        <p:txBody>
          <a:bodyPr/>
          <a:lstStyle/>
          <a:p>
            <a:r>
              <a:rPr lang="en-US" dirty="0"/>
              <a:t>Example</a:t>
            </a:r>
          </a:p>
        </p:txBody>
      </p:sp>
      <p:pic>
        <p:nvPicPr>
          <p:cNvPr id="4" name="Content Placeholder 3">
            <a:extLst>
              <a:ext uri="{FF2B5EF4-FFF2-40B4-BE49-F238E27FC236}">
                <a16:creationId xmlns:a16="http://schemas.microsoft.com/office/drawing/2014/main" id="{244678AE-10C9-97D3-5541-E3280ACA3D7F}"/>
              </a:ext>
            </a:extLst>
          </p:cNvPr>
          <p:cNvPicPr>
            <a:picLocks noGrp="1" noChangeAspect="1"/>
          </p:cNvPicPr>
          <p:nvPr>
            <p:ph idx="1"/>
          </p:nvPr>
        </p:nvPicPr>
        <p:blipFill>
          <a:blip r:embed="rId2"/>
          <a:stretch>
            <a:fillRect/>
          </a:stretch>
        </p:blipFill>
        <p:spPr>
          <a:xfrm>
            <a:off x="738228" y="1808692"/>
            <a:ext cx="4160007" cy="3212041"/>
          </a:xfrm>
          <a:prstGeom prst="rect">
            <a:avLst/>
          </a:prstGeom>
        </p:spPr>
      </p:pic>
      <p:pic>
        <p:nvPicPr>
          <p:cNvPr id="5" name="Picture 4">
            <a:extLst>
              <a:ext uri="{FF2B5EF4-FFF2-40B4-BE49-F238E27FC236}">
                <a16:creationId xmlns:a16="http://schemas.microsoft.com/office/drawing/2014/main" id="{A5736721-36E9-77B8-C185-6DDA4974E0D1}"/>
              </a:ext>
            </a:extLst>
          </p:cNvPr>
          <p:cNvPicPr>
            <a:picLocks noChangeAspect="1"/>
          </p:cNvPicPr>
          <p:nvPr/>
        </p:nvPicPr>
        <p:blipFill>
          <a:blip r:embed="rId3"/>
          <a:stretch>
            <a:fillRect/>
          </a:stretch>
        </p:blipFill>
        <p:spPr>
          <a:xfrm>
            <a:off x="5780602" y="296333"/>
            <a:ext cx="5039797" cy="3434292"/>
          </a:xfrm>
          <a:prstGeom prst="rect">
            <a:avLst/>
          </a:prstGeom>
        </p:spPr>
      </p:pic>
      <p:pic>
        <p:nvPicPr>
          <p:cNvPr id="6" name="Picture 5">
            <a:extLst>
              <a:ext uri="{FF2B5EF4-FFF2-40B4-BE49-F238E27FC236}">
                <a16:creationId xmlns:a16="http://schemas.microsoft.com/office/drawing/2014/main" id="{D8F66813-F512-BBDF-86E8-98247A19B7EA}"/>
              </a:ext>
            </a:extLst>
          </p:cNvPr>
          <p:cNvPicPr>
            <a:picLocks noChangeAspect="1"/>
          </p:cNvPicPr>
          <p:nvPr/>
        </p:nvPicPr>
        <p:blipFill>
          <a:blip r:embed="rId4"/>
          <a:stretch>
            <a:fillRect/>
          </a:stretch>
        </p:blipFill>
        <p:spPr>
          <a:xfrm>
            <a:off x="6123508" y="4290890"/>
            <a:ext cx="4353983" cy="1714094"/>
          </a:xfrm>
          <a:prstGeom prst="rect">
            <a:avLst/>
          </a:prstGeom>
        </p:spPr>
      </p:pic>
    </p:spTree>
    <p:extLst>
      <p:ext uri="{BB962C8B-B14F-4D97-AF65-F5344CB8AC3E}">
        <p14:creationId xmlns:p14="http://schemas.microsoft.com/office/powerpoint/2010/main" val="158463119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57A1FF-B9D7-D69D-D6BD-249EB64576B1}"/>
              </a:ext>
            </a:extLst>
          </p:cNvPr>
          <p:cNvSpPr>
            <a:spLocks noGrp="1"/>
          </p:cNvSpPr>
          <p:nvPr>
            <p:ph type="title"/>
          </p:nvPr>
        </p:nvSpPr>
        <p:spPr>
          <a:xfrm>
            <a:off x="0" y="409260"/>
            <a:ext cx="4223657" cy="1325563"/>
          </a:xfrm>
        </p:spPr>
        <p:txBody>
          <a:bodyPr>
            <a:normAutofit fontScale="90000"/>
          </a:bodyPr>
          <a:lstStyle/>
          <a:p>
            <a:r>
              <a:rPr lang="en-US" dirty="0"/>
              <a:t>Deficiencies of Default Copy Constructors</a:t>
            </a:r>
          </a:p>
        </p:txBody>
      </p:sp>
      <p:pic>
        <p:nvPicPr>
          <p:cNvPr id="4" name="Content Placeholder 3">
            <a:extLst>
              <a:ext uri="{FF2B5EF4-FFF2-40B4-BE49-F238E27FC236}">
                <a16:creationId xmlns:a16="http://schemas.microsoft.com/office/drawing/2014/main" id="{13897D51-F455-803E-8666-04ED308C96DE}"/>
              </a:ext>
            </a:extLst>
          </p:cNvPr>
          <p:cNvPicPr>
            <a:picLocks noGrp="1" noChangeAspect="1"/>
          </p:cNvPicPr>
          <p:nvPr>
            <p:ph idx="1"/>
          </p:nvPr>
        </p:nvPicPr>
        <p:blipFill>
          <a:blip r:embed="rId2"/>
          <a:stretch>
            <a:fillRect/>
          </a:stretch>
        </p:blipFill>
        <p:spPr>
          <a:xfrm>
            <a:off x="0" y="2410729"/>
            <a:ext cx="3853928" cy="3375229"/>
          </a:xfrm>
          <a:prstGeom prst="rect">
            <a:avLst/>
          </a:prstGeom>
        </p:spPr>
      </p:pic>
      <p:pic>
        <p:nvPicPr>
          <p:cNvPr id="5" name="Picture 4">
            <a:extLst>
              <a:ext uri="{FF2B5EF4-FFF2-40B4-BE49-F238E27FC236}">
                <a16:creationId xmlns:a16="http://schemas.microsoft.com/office/drawing/2014/main" id="{A16CC905-F351-4F03-F86B-78CDBA76A871}"/>
              </a:ext>
            </a:extLst>
          </p:cNvPr>
          <p:cNvPicPr>
            <a:picLocks noChangeAspect="1"/>
          </p:cNvPicPr>
          <p:nvPr/>
        </p:nvPicPr>
        <p:blipFill>
          <a:blip r:embed="rId3"/>
          <a:stretch>
            <a:fillRect/>
          </a:stretch>
        </p:blipFill>
        <p:spPr>
          <a:xfrm>
            <a:off x="3853928" y="57100"/>
            <a:ext cx="4223657" cy="6743800"/>
          </a:xfrm>
          <a:prstGeom prst="rect">
            <a:avLst/>
          </a:prstGeom>
        </p:spPr>
      </p:pic>
      <p:sp>
        <p:nvSpPr>
          <p:cNvPr id="8" name="TextBox 7">
            <a:extLst>
              <a:ext uri="{FF2B5EF4-FFF2-40B4-BE49-F238E27FC236}">
                <a16:creationId xmlns:a16="http://schemas.microsoft.com/office/drawing/2014/main" id="{3A62808B-98A7-14C3-DFB1-B11EFE26980F}"/>
              </a:ext>
            </a:extLst>
          </p:cNvPr>
          <p:cNvSpPr txBox="1"/>
          <p:nvPr/>
        </p:nvSpPr>
        <p:spPr>
          <a:xfrm>
            <a:off x="8161867" y="920621"/>
            <a:ext cx="4030133" cy="5016758"/>
          </a:xfrm>
          <a:prstGeom prst="rect">
            <a:avLst/>
          </a:prstGeom>
          <a:noFill/>
        </p:spPr>
        <p:txBody>
          <a:bodyPr wrap="square" rtlCol="0">
            <a:spAutoFit/>
          </a:bodyPr>
          <a:lstStyle/>
          <a:p>
            <a:pPr marL="285750" indent="-285750">
              <a:buFont typeface="Arial" panose="020B0604020202020204" pitchFamily="34" charset="0"/>
              <a:buChar char="•"/>
            </a:pPr>
            <a:r>
              <a:rPr lang="en-US" sz="2000" dirty="0"/>
              <a:t>Here’s a class that encapsulates an array of numbers of type double.</a:t>
            </a:r>
          </a:p>
          <a:p>
            <a:pPr marL="285750" indent="-285750">
              <a:buFont typeface="Arial" panose="020B0604020202020204" pitchFamily="34" charset="0"/>
              <a:buChar char="•"/>
            </a:pPr>
            <a:r>
              <a:rPr lang="en-US" sz="2000" dirty="0"/>
              <a:t>To allow flexibility for different size arrays, the class contains a pointer to the array instead of directly containing the array itself. </a:t>
            </a:r>
          </a:p>
          <a:p>
            <a:pPr marL="285750" indent="-285750">
              <a:buFont typeface="Arial" panose="020B0604020202020204" pitchFamily="34" charset="0"/>
              <a:buChar char="•"/>
            </a:pPr>
            <a:r>
              <a:rPr lang="en-US" sz="2000" dirty="0"/>
              <a:t>The constructor of the class, allocates an array of a specified size, then sets all the entries of the array to a given value. </a:t>
            </a:r>
          </a:p>
          <a:p>
            <a:pPr marL="285750" indent="-285750">
              <a:buFont typeface="Arial" panose="020B0604020202020204" pitchFamily="34" charset="0"/>
              <a:buChar char="•"/>
            </a:pPr>
            <a:r>
              <a:rPr lang="en-US" sz="2000" dirty="0"/>
              <a:t>The class has member functions for printing the array and for setting the entries of the array to a given value. </a:t>
            </a:r>
          </a:p>
        </p:txBody>
      </p:sp>
    </p:spTree>
    <p:extLst>
      <p:ext uri="{BB962C8B-B14F-4D97-AF65-F5344CB8AC3E}">
        <p14:creationId xmlns:p14="http://schemas.microsoft.com/office/powerpoint/2010/main" val="405799875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7AA2BE-9B22-A0A0-AE28-0B14B1BBD18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E14DB0F-DE9F-FC02-14A5-E4C52E204AE0}"/>
              </a:ext>
            </a:extLst>
          </p:cNvPr>
          <p:cNvSpPr>
            <a:spLocks noGrp="1"/>
          </p:cNvSpPr>
          <p:nvPr>
            <p:ph type="title"/>
          </p:nvPr>
        </p:nvSpPr>
        <p:spPr>
          <a:xfrm>
            <a:off x="0" y="409260"/>
            <a:ext cx="4223657" cy="1325563"/>
          </a:xfrm>
        </p:spPr>
        <p:txBody>
          <a:bodyPr>
            <a:normAutofit fontScale="90000"/>
          </a:bodyPr>
          <a:lstStyle/>
          <a:p>
            <a:r>
              <a:rPr lang="en-US" dirty="0"/>
              <a:t>Deficiencies of Default Copy Constructors</a:t>
            </a:r>
          </a:p>
        </p:txBody>
      </p:sp>
      <p:sp>
        <p:nvSpPr>
          <p:cNvPr id="8" name="TextBox 7">
            <a:extLst>
              <a:ext uri="{FF2B5EF4-FFF2-40B4-BE49-F238E27FC236}">
                <a16:creationId xmlns:a16="http://schemas.microsoft.com/office/drawing/2014/main" id="{11916638-1D40-C63B-9B87-B81E07CDA3B3}"/>
              </a:ext>
            </a:extLst>
          </p:cNvPr>
          <p:cNvSpPr txBox="1"/>
          <p:nvPr/>
        </p:nvSpPr>
        <p:spPr>
          <a:xfrm>
            <a:off x="8161867" y="1428621"/>
            <a:ext cx="4030133" cy="3785652"/>
          </a:xfrm>
          <a:prstGeom prst="rect">
            <a:avLst/>
          </a:prstGeom>
          <a:noFill/>
        </p:spPr>
        <p:txBody>
          <a:bodyPr wrap="square" rtlCol="0">
            <a:spAutoFit/>
          </a:bodyPr>
          <a:lstStyle/>
          <a:p>
            <a:pPr algn="l"/>
            <a:r>
              <a:rPr lang="en-US" sz="2000" dirty="0"/>
              <a:t>In the main program, </a:t>
            </a:r>
          </a:p>
          <a:p>
            <a:pPr marL="342900" indent="-342900" algn="l">
              <a:buFont typeface="Arial" panose="020B0604020202020204" pitchFamily="34" charset="0"/>
              <a:buChar char="•"/>
            </a:pPr>
            <a:r>
              <a:rPr lang="en-US" sz="2000" dirty="0">
                <a:effectLst/>
              </a:rPr>
              <a:t>It creates an object of the class, creates and initializes a second object with the data of the first, and then changes the array in the second object. </a:t>
            </a:r>
          </a:p>
          <a:p>
            <a:pPr marL="342900" indent="-342900" algn="l">
              <a:buFont typeface="Arial" panose="020B0604020202020204" pitchFamily="34" charset="0"/>
              <a:buChar char="•"/>
            </a:pPr>
            <a:r>
              <a:rPr lang="en-US" sz="2000" dirty="0">
                <a:effectLst/>
              </a:rPr>
              <a:t>As shown by the output of the program, changing the second object’s data changes the data in the first object. </a:t>
            </a:r>
          </a:p>
          <a:p>
            <a:pPr marL="342900" indent="-342900" algn="l">
              <a:buFont typeface="Arial" panose="020B0604020202020204" pitchFamily="34" charset="0"/>
              <a:buChar char="•"/>
            </a:pPr>
            <a:r>
              <a:rPr lang="en-US" sz="2000" dirty="0">
                <a:effectLst/>
              </a:rPr>
              <a:t>In many cases, this is undesirable and leads to bugs.</a:t>
            </a:r>
          </a:p>
        </p:txBody>
      </p:sp>
      <p:pic>
        <p:nvPicPr>
          <p:cNvPr id="3" name="Picture 2">
            <a:extLst>
              <a:ext uri="{FF2B5EF4-FFF2-40B4-BE49-F238E27FC236}">
                <a16:creationId xmlns:a16="http://schemas.microsoft.com/office/drawing/2014/main" id="{153C0AAB-208B-9AD6-B199-19862A0FBCD8}"/>
              </a:ext>
            </a:extLst>
          </p:cNvPr>
          <p:cNvPicPr>
            <a:picLocks noChangeAspect="1"/>
          </p:cNvPicPr>
          <p:nvPr/>
        </p:nvPicPr>
        <p:blipFill>
          <a:blip r:embed="rId2"/>
          <a:stretch>
            <a:fillRect/>
          </a:stretch>
        </p:blipFill>
        <p:spPr>
          <a:xfrm>
            <a:off x="4048772" y="0"/>
            <a:ext cx="4094455" cy="6858000"/>
          </a:xfrm>
          <a:prstGeom prst="rect">
            <a:avLst/>
          </a:prstGeom>
        </p:spPr>
      </p:pic>
      <p:pic>
        <p:nvPicPr>
          <p:cNvPr id="9" name="Picture 8">
            <a:extLst>
              <a:ext uri="{FF2B5EF4-FFF2-40B4-BE49-F238E27FC236}">
                <a16:creationId xmlns:a16="http://schemas.microsoft.com/office/drawing/2014/main" id="{1090ABA2-787D-C093-DB5D-97E3F1E5DDF8}"/>
              </a:ext>
            </a:extLst>
          </p:cNvPr>
          <p:cNvPicPr>
            <a:picLocks noChangeAspect="1"/>
          </p:cNvPicPr>
          <p:nvPr/>
        </p:nvPicPr>
        <p:blipFill>
          <a:blip r:embed="rId3"/>
          <a:stretch>
            <a:fillRect/>
          </a:stretch>
        </p:blipFill>
        <p:spPr>
          <a:xfrm>
            <a:off x="154234" y="3166534"/>
            <a:ext cx="3729753" cy="1551516"/>
          </a:xfrm>
          <a:prstGeom prst="rect">
            <a:avLst/>
          </a:prstGeom>
        </p:spPr>
      </p:pic>
    </p:spTree>
    <p:extLst>
      <p:ext uri="{BB962C8B-B14F-4D97-AF65-F5344CB8AC3E}">
        <p14:creationId xmlns:p14="http://schemas.microsoft.com/office/powerpoint/2010/main" val="176529760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96C75F-0C2D-F164-11C6-608962A84CF6}"/>
              </a:ext>
            </a:extLst>
          </p:cNvPr>
          <p:cNvSpPr>
            <a:spLocks noGrp="1"/>
          </p:cNvSpPr>
          <p:nvPr>
            <p:ph type="title"/>
          </p:nvPr>
        </p:nvSpPr>
        <p:spPr/>
        <p:txBody>
          <a:bodyPr/>
          <a:lstStyle/>
          <a:p>
            <a:r>
              <a:rPr lang="en-US" dirty="0"/>
              <a:t>Why is that?</a:t>
            </a:r>
          </a:p>
        </p:txBody>
      </p:sp>
      <p:sp>
        <p:nvSpPr>
          <p:cNvPr id="3" name="Content Placeholder 2">
            <a:extLst>
              <a:ext uri="{FF2B5EF4-FFF2-40B4-BE49-F238E27FC236}">
                <a16:creationId xmlns:a16="http://schemas.microsoft.com/office/drawing/2014/main" id="{89327E5F-B518-4B7B-C535-E9D3AC6E12B1}"/>
              </a:ext>
            </a:extLst>
          </p:cNvPr>
          <p:cNvSpPr>
            <a:spLocks noGrp="1"/>
          </p:cNvSpPr>
          <p:nvPr>
            <p:ph idx="1"/>
          </p:nvPr>
        </p:nvSpPr>
        <p:spPr>
          <a:xfrm>
            <a:off x="198966" y="1464734"/>
            <a:ext cx="11794067" cy="5393266"/>
          </a:xfrm>
        </p:spPr>
        <p:txBody>
          <a:bodyPr>
            <a:normAutofit fontScale="92500" lnSpcReduction="10000"/>
          </a:bodyPr>
          <a:lstStyle/>
          <a:p>
            <a:r>
              <a:rPr lang="en-US" dirty="0"/>
              <a:t>The reason changing the data in one object changes the other object is that the </a:t>
            </a:r>
            <a:r>
              <a:rPr lang="en-US" dirty="0" err="1"/>
              <a:t>memberwise</a:t>
            </a:r>
            <a:r>
              <a:rPr lang="en-US" dirty="0"/>
              <a:t> assignment performed by the default copy constructor copies the value of the pointer in the first object to the pointer in the second object, </a:t>
            </a:r>
            <a:r>
              <a:rPr lang="en-US" i="1" dirty="0"/>
              <a:t>leaving both pointers pointing to the same data</a:t>
            </a:r>
            <a:r>
              <a:rPr lang="en-US" dirty="0"/>
              <a:t>. </a:t>
            </a:r>
          </a:p>
          <a:p>
            <a:r>
              <a:rPr lang="en-US" dirty="0"/>
              <a:t>Thus, when one of the objects changes its data through its pointer, it affects the other object as well. </a:t>
            </a:r>
          </a:p>
          <a:p>
            <a:endParaRPr lang="en-US" dirty="0"/>
          </a:p>
          <a:p>
            <a:endParaRPr lang="en-US" dirty="0"/>
          </a:p>
          <a:p>
            <a:r>
              <a:rPr lang="en-US" dirty="0"/>
              <a:t>The fact that the two pointers point to the same memory location will also cause problems when the destructors for the two objects try to deallocate the same memory. </a:t>
            </a:r>
          </a:p>
          <a:p>
            <a:r>
              <a:rPr lang="en-US" dirty="0"/>
              <a:t>In general, classes with pointer members will not behave correctly under the default copy constructor provided by the compiler. </a:t>
            </a:r>
          </a:p>
          <a:p>
            <a:r>
              <a:rPr lang="en-US" dirty="0"/>
              <a:t>They must be provided with a copy constructor written by the programmer.</a:t>
            </a:r>
          </a:p>
        </p:txBody>
      </p:sp>
      <p:pic>
        <p:nvPicPr>
          <p:cNvPr id="4" name="Picture 3">
            <a:extLst>
              <a:ext uri="{FF2B5EF4-FFF2-40B4-BE49-F238E27FC236}">
                <a16:creationId xmlns:a16="http://schemas.microsoft.com/office/drawing/2014/main" id="{1D701A23-4C49-2C1C-E0ED-6D84E554F2BE}"/>
              </a:ext>
            </a:extLst>
          </p:cNvPr>
          <p:cNvPicPr>
            <a:picLocks noChangeAspect="1"/>
          </p:cNvPicPr>
          <p:nvPr/>
        </p:nvPicPr>
        <p:blipFill>
          <a:blip r:embed="rId2"/>
          <a:stretch>
            <a:fillRect/>
          </a:stretch>
        </p:blipFill>
        <p:spPr>
          <a:xfrm>
            <a:off x="4673599" y="3454181"/>
            <a:ext cx="3818467" cy="838635"/>
          </a:xfrm>
          <a:prstGeom prst="rect">
            <a:avLst/>
          </a:prstGeom>
        </p:spPr>
      </p:pic>
    </p:spTree>
    <p:extLst>
      <p:ext uri="{BB962C8B-B14F-4D97-AF65-F5344CB8AC3E}">
        <p14:creationId xmlns:p14="http://schemas.microsoft.com/office/powerpoint/2010/main" val="353332124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0A4863-3E26-94B6-05A5-37FF7F669913}"/>
              </a:ext>
            </a:extLst>
          </p:cNvPr>
          <p:cNvSpPr>
            <a:spLocks noGrp="1"/>
          </p:cNvSpPr>
          <p:nvPr>
            <p:ph type="title"/>
          </p:nvPr>
        </p:nvSpPr>
        <p:spPr/>
        <p:txBody>
          <a:bodyPr/>
          <a:lstStyle/>
          <a:p>
            <a:r>
              <a:rPr lang="en-US" dirty="0"/>
              <a:t>Programmer-Defined Copy Constructors</a:t>
            </a:r>
          </a:p>
        </p:txBody>
      </p:sp>
      <p:sp>
        <p:nvSpPr>
          <p:cNvPr id="3" name="Content Placeholder 2">
            <a:extLst>
              <a:ext uri="{FF2B5EF4-FFF2-40B4-BE49-F238E27FC236}">
                <a16:creationId xmlns:a16="http://schemas.microsoft.com/office/drawing/2014/main" id="{E4851753-E603-3B68-5A87-B42EDC29A578}"/>
              </a:ext>
            </a:extLst>
          </p:cNvPr>
          <p:cNvSpPr>
            <a:spLocks noGrp="1"/>
          </p:cNvSpPr>
          <p:nvPr>
            <p:ph idx="1"/>
          </p:nvPr>
        </p:nvSpPr>
        <p:spPr/>
        <p:txBody>
          <a:bodyPr/>
          <a:lstStyle/>
          <a:p>
            <a:r>
              <a:rPr lang="en-US" dirty="0"/>
              <a:t>A programmer can define a copy constructor for a class. A programmer-defined copy constructor must have a single parameter that is a reference to the </a:t>
            </a:r>
            <a:r>
              <a:rPr lang="en-US" i="1" dirty="0"/>
              <a:t>same</a:t>
            </a:r>
            <a:r>
              <a:rPr lang="en-US" dirty="0"/>
              <a:t> class. </a:t>
            </a:r>
          </a:p>
          <a:p>
            <a:r>
              <a:rPr lang="en-US" dirty="0"/>
              <a:t>Thus, in the case of the previous example, the prototype for the copy constructor would be</a:t>
            </a:r>
          </a:p>
          <a:p>
            <a:pPr lvl="1"/>
            <a:r>
              <a:rPr lang="en-US" b="1" i="1" dirty="0" err="1">
                <a:solidFill>
                  <a:srgbClr val="FF0000"/>
                </a:solidFill>
              </a:rPr>
              <a:t>NumberArray</a:t>
            </a:r>
            <a:r>
              <a:rPr lang="en-US" b="1" i="1" dirty="0">
                <a:solidFill>
                  <a:srgbClr val="FF0000"/>
                </a:solidFill>
              </a:rPr>
              <a:t>::</a:t>
            </a:r>
            <a:r>
              <a:rPr lang="en-US" b="1" i="1" dirty="0" err="1">
                <a:solidFill>
                  <a:srgbClr val="FF0000"/>
                </a:solidFill>
                <a:effectLst/>
              </a:rPr>
              <a:t>NumberArray</a:t>
            </a:r>
            <a:r>
              <a:rPr lang="en-US" b="1" i="1" dirty="0">
                <a:solidFill>
                  <a:srgbClr val="FF0000"/>
                </a:solidFill>
              </a:rPr>
              <a:t>(</a:t>
            </a:r>
            <a:r>
              <a:rPr lang="en-US" b="1" i="1" dirty="0">
                <a:solidFill>
                  <a:srgbClr val="FF0000"/>
                </a:solidFill>
                <a:effectLst/>
              </a:rPr>
              <a:t>const</a:t>
            </a:r>
            <a:r>
              <a:rPr lang="en-US" b="1" i="1" dirty="0">
                <a:solidFill>
                  <a:srgbClr val="FF0000"/>
                </a:solidFill>
              </a:rPr>
              <a:t> </a:t>
            </a:r>
            <a:r>
              <a:rPr lang="en-US" b="1" i="1" dirty="0" err="1">
                <a:solidFill>
                  <a:srgbClr val="FF0000"/>
                </a:solidFill>
              </a:rPr>
              <a:t>NumberArray</a:t>
            </a:r>
            <a:r>
              <a:rPr lang="en-US" b="1" i="1" dirty="0">
                <a:solidFill>
                  <a:srgbClr val="FF0000"/>
                </a:solidFill>
              </a:rPr>
              <a:t> &amp;obj)</a:t>
            </a:r>
          </a:p>
        </p:txBody>
      </p:sp>
    </p:spTree>
    <p:extLst>
      <p:ext uri="{BB962C8B-B14F-4D97-AF65-F5344CB8AC3E}">
        <p14:creationId xmlns:p14="http://schemas.microsoft.com/office/powerpoint/2010/main" val="188476994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313538-24E7-5CAD-6C0C-1D49B1AAE28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01C8B52-452F-57C0-C91E-75F9A4222B52}"/>
              </a:ext>
            </a:extLst>
          </p:cNvPr>
          <p:cNvSpPr>
            <a:spLocks noGrp="1"/>
          </p:cNvSpPr>
          <p:nvPr>
            <p:ph type="title"/>
          </p:nvPr>
        </p:nvSpPr>
        <p:spPr/>
        <p:txBody>
          <a:bodyPr/>
          <a:lstStyle/>
          <a:p>
            <a:r>
              <a:rPr lang="en-US" dirty="0"/>
              <a:t>Programmer-Defined Copy Constructors</a:t>
            </a:r>
          </a:p>
        </p:txBody>
      </p:sp>
      <p:sp>
        <p:nvSpPr>
          <p:cNvPr id="3" name="Content Placeholder 2">
            <a:extLst>
              <a:ext uri="{FF2B5EF4-FFF2-40B4-BE49-F238E27FC236}">
                <a16:creationId xmlns:a16="http://schemas.microsoft.com/office/drawing/2014/main" id="{E297538B-1D2A-CB42-242E-2E2E42AD4679}"/>
              </a:ext>
            </a:extLst>
          </p:cNvPr>
          <p:cNvSpPr>
            <a:spLocks noGrp="1"/>
          </p:cNvSpPr>
          <p:nvPr>
            <p:ph idx="1"/>
          </p:nvPr>
        </p:nvSpPr>
        <p:spPr/>
        <p:txBody>
          <a:bodyPr>
            <a:normAutofit lnSpcReduction="10000"/>
          </a:bodyPr>
          <a:lstStyle/>
          <a:p>
            <a:r>
              <a:rPr lang="en-US" dirty="0"/>
              <a:t>The copy constructor avoids the problems of the default copy constructor by allocating separate memory for the pointer of the new object before doing the copy. </a:t>
            </a:r>
          </a:p>
          <a:p>
            <a:endParaRPr lang="en-US" b="1" i="1" dirty="0">
              <a:solidFill>
                <a:srgbClr val="FF0000"/>
              </a:solidFill>
            </a:endParaRPr>
          </a:p>
          <a:p>
            <a:endParaRPr lang="en-US" b="1" i="1" dirty="0">
              <a:solidFill>
                <a:srgbClr val="FF0000"/>
              </a:solidFill>
            </a:endParaRPr>
          </a:p>
          <a:p>
            <a:endParaRPr lang="en-US" b="1" i="1" dirty="0">
              <a:solidFill>
                <a:srgbClr val="FF0000"/>
              </a:solidFill>
            </a:endParaRPr>
          </a:p>
          <a:p>
            <a:endParaRPr lang="en-US" b="1" i="1" dirty="0">
              <a:solidFill>
                <a:srgbClr val="FF0000"/>
              </a:solidFill>
            </a:endParaRPr>
          </a:p>
          <a:p>
            <a:endParaRPr lang="en-US" b="1" i="1" dirty="0">
              <a:solidFill>
                <a:srgbClr val="FF0000"/>
              </a:solidFill>
            </a:endParaRPr>
          </a:p>
          <a:p>
            <a:r>
              <a:rPr lang="en-US" dirty="0"/>
              <a:t>The copy constructor should not change the object being copied, so it declares its argument as const</a:t>
            </a:r>
            <a:endParaRPr lang="en-US" b="1" i="1" dirty="0">
              <a:solidFill>
                <a:srgbClr val="FF0000"/>
              </a:solidFill>
            </a:endParaRPr>
          </a:p>
        </p:txBody>
      </p:sp>
      <p:pic>
        <p:nvPicPr>
          <p:cNvPr id="4" name="Picture 3">
            <a:extLst>
              <a:ext uri="{FF2B5EF4-FFF2-40B4-BE49-F238E27FC236}">
                <a16:creationId xmlns:a16="http://schemas.microsoft.com/office/drawing/2014/main" id="{59C38C42-BFB9-B033-87D5-236CF88AE38C}"/>
              </a:ext>
            </a:extLst>
          </p:cNvPr>
          <p:cNvPicPr>
            <a:picLocks noChangeAspect="1"/>
          </p:cNvPicPr>
          <p:nvPr/>
        </p:nvPicPr>
        <p:blipFill>
          <a:blip r:embed="rId2"/>
          <a:stretch>
            <a:fillRect/>
          </a:stretch>
        </p:blipFill>
        <p:spPr>
          <a:xfrm>
            <a:off x="3553883" y="3141134"/>
            <a:ext cx="4965700" cy="1905000"/>
          </a:xfrm>
          <a:prstGeom prst="rect">
            <a:avLst/>
          </a:prstGeom>
        </p:spPr>
      </p:pic>
    </p:spTree>
    <p:extLst>
      <p:ext uri="{BB962C8B-B14F-4D97-AF65-F5344CB8AC3E}">
        <p14:creationId xmlns:p14="http://schemas.microsoft.com/office/powerpoint/2010/main" val="211459479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CBABF4-D496-3501-9352-89CE0C8699FE}"/>
              </a:ext>
            </a:extLst>
          </p:cNvPr>
          <p:cNvSpPr>
            <a:spLocks noGrp="1"/>
          </p:cNvSpPr>
          <p:nvPr>
            <p:ph type="title"/>
          </p:nvPr>
        </p:nvSpPr>
        <p:spPr/>
        <p:txBody>
          <a:bodyPr/>
          <a:lstStyle/>
          <a:p>
            <a:r>
              <a:rPr lang="en-US" dirty="0"/>
              <a:t>Programmer-Defined Copy Constructors</a:t>
            </a:r>
          </a:p>
        </p:txBody>
      </p:sp>
      <p:sp>
        <p:nvSpPr>
          <p:cNvPr id="3" name="Content Placeholder 2">
            <a:extLst>
              <a:ext uri="{FF2B5EF4-FFF2-40B4-BE49-F238E27FC236}">
                <a16:creationId xmlns:a16="http://schemas.microsoft.com/office/drawing/2014/main" id="{8E5D8FFE-A9A4-192F-CAC2-D5D3F4521596}"/>
              </a:ext>
            </a:extLst>
          </p:cNvPr>
          <p:cNvSpPr>
            <a:spLocks noGrp="1"/>
          </p:cNvSpPr>
          <p:nvPr>
            <p:ph idx="1"/>
          </p:nvPr>
        </p:nvSpPr>
        <p:spPr/>
        <p:txBody>
          <a:bodyPr>
            <a:normAutofit lnSpcReduction="10000"/>
          </a:bodyPr>
          <a:lstStyle/>
          <a:p>
            <a:r>
              <a:rPr lang="en-US" dirty="0"/>
              <a:t>The parameter should be a const reference because the copy </a:t>
            </a:r>
            <a:r>
              <a:rPr lang="en-US" dirty="0" err="1"/>
              <a:t>constuctor</a:t>
            </a:r>
            <a:r>
              <a:rPr lang="en-US" dirty="0"/>
              <a:t> should not modify the object being copied.</a:t>
            </a:r>
          </a:p>
          <a:p>
            <a:r>
              <a:rPr lang="en-US" dirty="0"/>
              <a:t>The copy constructor is also automatically called by the compiler to create a copy of an object whenever an object is being passed by </a:t>
            </a:r>
            <a:r>
              <a:rPr lang="en-US" i="1" dirty="0"/>
              <a:t>value</a:t>
            </a:r>
            <a:r>
              <a:rPr lang="en-US" dirty="0"/>
              <a:t> in a function call. </a:t>
            </a:r>
          </a:p>
          <a:p>
            <a:r>
              <a:rPr lang="en-US" b="1" dirty="0"/>
              <a:t>It is for this reason that the parameter to the copy constructor must be passed by reference. </a:t>
            </a:r>
          </a:p>
          <a:p>
            <a:r>
              <a:rPr lang="en-US" dirty="0"/>
              <a:t>If it was passed by value when the constructor was called, then the constructor would immediately have to be called again to create the copy to be passed by value, leading to an endless chain of calls to the constructor.</a:t>
            </a:r>
          </a:p>
        </p:txBody>
      </p:sp>
    </p:spTree>
    <p:extLst>
      <p:ext uri="{BB962C8B-B14F-4D97-AF65-F5344CB8AC3E}">
        <p14:creationId xmlns:p14="http://schemas.microsoft.com/office/powerpoint/2010/main" val="125310658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1F5871-5413-120B-B4FB-B6414E3CA230}"/>
              </a:ext>
            </a:extLst>
          </p:cNvPr>
          <p:cNvSpPr>
            <a:spLocks noGrp="1"/>
          </p:cNvSpPr>
          <p:nvPr>
            <p:ph type="title"/>
          </p:nvPr>
        </p:nvSpPr>
        <p:spPr/>
        <p:txBody>
          <a:bodyPr/>
          <a:lstStyle/>
          <a:p>
            <a:r>
              <a:rPr lang="en-US" dirty="0"/>
              <a:t>Invocation of Copy Constructors</a:t>
            </a:r>
          </a:p>
        </p:txBody>
      </p:sp>
      <p:sp>
        <p:nvSpPr>
          <p:cNvPr id="3" name="Content Placeholder 2">
            <a:extLst>
              <a:ext uri="{FF2B5EF4-FFF2-40B4-BE49-F238E27FC236}">
                <a16:creationId xmlns:a16="http://schemas.microsoft.com/office/drawing/2014/main" id="{58D02ACE-7E5B-4846-9E73-702B29148C36}"/>
              </a:ext>
            </a:extLst>
          </p:cNvPr>
          <p:cNvSpPr>
            <a:spLocks noGrp="1"/>
          </p:cNvSpPr>
          <p:nvPr>
            <p:ph idx="1"/>
          </p:nvPr>
        </p:nvSpPr>
        <p:spPr/>
        <p:txBody>
          <a:bodyPr/>
          <a:lstStyle/>
          <a:p>
            <a:r>
              <a:rPr lang="en-US" dirty="0"/>
              <a:t>Copy constructors are automatically called by the system whenever an object is being created by initializing it with another object of the same class. </a:t>
            </a:r>
          </a:p>
          <a:p>
            <a:r>
              <a:rPr lang="en-US" dirty="0"/>
              <a:t>For example, the copy constructor for the Rectangle class is called for each of the following initialization statements:</a:t>
            </a:r>
          </a:p>
          <a:p>
            <a:pPr lvl="1"/>
            <a:r>
              <a:rPr lang="en-US" i="1" dirty="0">
                <a:solidFill>
                  <a:srgbClr val="FF0000"/>
                </a:solidFill>
              </a:rPr>
              <a:t>Rectangle </a:t>
            </a:r>
            <a:r>
              <a:rPr lang="en-US" b="1" i="1" dirty="0">
                <a:solidFill>
                  <a:srgbClr val="FF0000"/>
                </a:solidFill>
                <a:effectLst/>
              </a:rPr>
              <a:t>box</a:t>
            </a:r>
            <a:r>
              <a:rPr lang="en-US" i="1" dirty="0">
                <a:solidFill>
                  <a:srgbClr val="FF0000"/>
                </a:solidFill>
              </a:rPr>
              <a:t>(</a:t>
            </a:r>
            <a:r>
              <a:rPr lang="en-US" i="1" dirty="0">
                <a:solidFill>
                  <a:srgbClr val="FF0000"/>
                </a:solidFill>
                <a:effectLst/>
              </a:rPr>
              <a:t>5</a:t>
            </a:r>
            <a:r>
              <a:rPr lang="en-US" i="1" dirty="0">
                <a:solidFill>
                  <a:srgbClr val="FF0000"/>
                </a:solidFill>
              </a:rPr>
              <a:t>, </a:t>
            </a:r>
            <a:r>
              <a:rPr lang="en-US" i="1" dirty="0">
                <a:solidFill>
                  <a:srgbClr val="FF0000"/>
                </a:solidFill>
                <a:effectLst/>
              </a:rPr>
              <a:t>10</a:t>
            </a:r>
            <a:r>
              <a:rPr lang="en-US" i="1" dirty="0">
                <a:solidFill>
                  <a:srgbClr val="FF0000"/>
                </a:solidFill>
              </a:rPr>
              <a:t>); </a:t>
            </a:r>
          </a:p>
          <a:p>
            <a:pPr lvl="1"/>
            <a:r>
              <a:rPr lang="en-US" i="1" dirty="0">
                <a:solidFill>
                  <a:srgbClr val="FF0000"/>
                </a:solidFill>
              </a:rPr>
              <a:t>Rectangle b = box; </a:t>
            </a:r>
            <a:r>
              <a:rPr lang="en-US" i="1" dirty="0">
                <a:solidFill>
                  <a:srgbClr val="FF0000"/>
                </a:solidFill>
                <a:effectLst/>
              </a:rPr>
              <a:t>// Initialization statement </a:t>
            </a:r>
          </a:p>
          <a:p>
            <a:pPr lvl="1"/>
            <a:r>
              <a:rPr lang="en-US" i="1" dirty="0">
                <a:solidFill>
                  <a:srgbClr val="FF0000"/>
                </a:solidFill>
              </a:rPr>
              <a:t>Rectangle </a:t>
            </a:r>
            <a:r>
              <a:rPr lang="en-US" b="1" i="1" dirty="0">
                <a:solidFill>
                  <a:srgbClr val="FF0000"/>
                </a:solidFill>
                <a:effectLst/>
              </a:rPr>
              <a:t>b1</a:t>
            </a:r>
            <a:r>
              <a:rPr lang="en-US" i="1" dirty="0">
                <a:solidFill>
                  <a:srgbClr val="FF0000"/>
                </a:solidFill>
              </a:rPr>
              <a:t>(box); </a:t>
            </a:r>
            <a:r>
              <a:rPr lang="en-US" i="1" dirty="0">
                <a:solidFill>
                  <a:srgbClr val="FF0000"/>
                </a:solidFill>
                <a:effectLst/>
              </a:rPr>
              <a:t>// Initialization statement </a:t>
            </a:r>
            <a:endParaRPr lang="en-US" i="1" dirty="0">
              <a:solidFill>
                <a:srgbClr val="FF0000"/>
              </a:solidFill>
            </a:endParaRPr>
          </a:p>
        </p:txBody>
      </p:sp>
    </p:spTree>
    <p:extLst>
      <p:ext uri="{BB962C8B-B14F-4D97-AF65-F5344CB8AC3E}">
        <p14:creationId xmlns:p14="http://schemas.microsoft.com/office/powerpoint/2010/main" val="92737420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C09218-6367-8B31-AF59-0C5DF262A06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E3C767B-DEF7-ED50-CD57-C332AC1FC58E}"/>
              </a:ext>
            </a:extLst>
          </p:cNvPr>
          <p:cNvSpPr>
            <a:spLocks noGrp="1"/>
          </p:cNvSpPr>
          <p:nvPr>
            <p:ph type="title"/>
          </p:nvPr>
        </p:nvSpPr>
        <p:spPr/>
        <p:txBody>
          <a:bodyPr/>
          <a:lstStyle/>
          <a:p>
            <a:r>
              <a:rPr lang="en-US" dirty="0"/>
              <a:t>Invocation of Copy Constructors</a:t>
            </a:r>
          </a:p>
        </p:txBody>
      </p:sp>
      <p:sp>
        <p:nvSpPr>
          <p:cNvPr id="3" name="Content Placeholder 2">
            <a:extLst>
              <a:ext uri="{FF2B5EF4-FFF2-40B4-BE49-F238E27FC236}">
                <a16:creationId xmlns:a16="http://schemas.microsoft.com/office/drawing/2014/main" id="{BA70DB65-56EA-688E-4C6B-9BFEE7E06164}"/>
              </a:ext>
            </a:extLst>
          </p:cNvPr>
          <p:cNvSpPr>
            <a:spLocks noGrp="1"/>
          </p:cNvSpPr>
          <p:nvPr>
            <p:ph idx="1"/>
          </p:nvPr>
        </p:nvSpPr>
        <p:spPr/>
        <p:txBody>
          <a:bodyPr/>
          <a:lstStyle/>
          <a:p>
            <a:r>
              <a:rPr lang="en-US" dirty="0"/>
              <a:t>Copy constructors are also automatically called when a function call receives a value parameter of the class type. For example, for a function of the form and a call</a:t>
            </a:r>
          </a:p>
          <a:p>
            <a:pPr lvl="1"/>
            <a:r>
              <a:rPr lang="en-US" b="1" i="1" dirty="0">
                <a:solidFill>
                  <a:srgbClr val="FF0000"/>
                </a:solidFill>
                <a:effectLst/>
              </a:rPr>
              <a:t>void</a:t>
            </a:r>
            <a:r>
              <a:rPr lang="en-US" i="1" dirty="0">
                <a:solidFill>
                  <a:srgbClr val="FF0000"/>
                </a:solidFill>
              </a:rPr>
              <a:t> </a:t>
            </a:r>
            <a:r>
              <a:rPr lang="en-US" b="1" i="1" dirty="0">
                <a:solidFill>
                  <a:srgbClr val="FF0000"/>
                </a:solidFill>
                <a:effectLst/>
              </a:rPr>
              <a:t>fun</a:t>
            </a:r>
            <a:r>
              <a:rPr lang="en-US" i="1" dirty="0">
                <a:solidFill>
                  <a:srgbClr val="FF0000"/>
                </a:solidFill>
              </a:rPr>
              <a:t>(Rectangle </a:t>
            </a:r>
            <a:r>
              <a:rPr lang="en-US" i="1" dirty="0" err="1">
                <a:solidFill>
                  <a:srgbClr val="FF0000"/>
                </a:solidFill>
              </a:rPr>
              <a:t>rect</a:t>
            </a:r>
            <a:r>
              <a:rPr lang="en-US" i="1" dirty="0">
                <a:solidFill>
                  <a:srgbClr val="FF0000"/>
                </a:solidFill>
              </a:rPr>
              <a:t>) { } </a:t>
            </a:r>
          </a:p>
          <a:p>
            <a:pPr lvl="1"/>
            <a:r>
              <a:rPr lang="en-US" i="1" dirty="0">
                <a:solidFill>
                  <a:srgbClr val="FF0000"/>
                </a:solidFill>
                <a:effectLst/>
              </a:rPr>
              <a:t>fun</a:t>
            </a:r>
            <a:r>
              <a:rPr lang="en-US" i="1" dirty="0">
                <a:solidFill>
                  <a:srgbClr val="FF0000"/>
                </a:solidFill>
              </a:rPr>
              <a:t>(box); </a:t>
            </a:r>
          </a:p>
          <a:p>
            <a:r>
              <a:rPr lang="en-US" dirty="0"/>
              <a:t>It will cause the Rectangle copy constructor to be called.</a:t>
            </a:r>
            <a:endParaRPr lang="en-US" i="1" dirty="0">
              <a:solidFill>
                <a:srgbClr val="FF0000"/>
              </a:solidFill>
            </a:endParaRPr>
          </a:p>
        </p:txBody>
      </p:sp>
    </p:spTree>
    <p:extLst>
      <p:ext uri="{BB962C8B-B14F-4D97-AF65-F5344CB8AC3E}">
        <p14:creationId xmlns:p14="http://schemas.microsoft.com/office/powerpoint/2010/main" val="409044960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D2F82E-EE83-EDB9-B9AE-38303F33C33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F780A6B-3CF4-679D-BDBA-015E7D1D7765}"/>
              </a:ext>
            </a:extLst>
          </p:cNvPr>
          <p:cNvSpPr>
            <a:spLocks noGrp="1"/>
          </p:cNvSpPr>
          <p:nvPr>
            <p:ph type="title"/>
          </p:nvPr>
        </p:nvSpPr>
        <p:spPr/>
        <p:txBody>
          <a:bodyPr/>
          <a:lstStyle/>
          <a:p>
            <a:r>
              <a:rPr lang="en-US" dirty="0"/>
              <a:t>Invocation of Copy Constructors</a:t>
            </a:r>
          </a:p>
        </p:txBody>
      </p:sp>
      <p:sp>
        <p:nvSpPr>
          <p:cNvPr id="3" name="Content Placeholder 2">
            <a:extLst>
              <a:ext uri="{FF2B5EF4-FFF2-40B4-BE49-F238E27FC236}">
                <a16:creationId xmlns:a16="http://schemas.microsoft.com/office/drawing/2014/main" id="{AAF553FE-2F8B-20E9-8114-A97D81597BB8}"/>
              </a:ext>
            </a:extLst>
          </p:cNvPr>
          <p:cNvSpPr>
            <a:spLocks noGrp="1"/>
          </p:cNvSpPr>
          <p:nvPr>
            <p:ph idx="1"/>
          </p:nvPr>
        </p:nvSpPr>
        <p:spPr>
          <a:xfrm>
            <a:off x="838200" y="1825625"/>
            <a:ext cx="10515600" cy="4846108"/>
          </a:xfrm>
        </p:spPr>
        <p:txBody>
          <a:bodyPr>
            <a:normAutofit fontScale="92500" lnSpcReduction="10000"/>
          </a:bodyPr>
          <a:lstStyle/>
          <a:p>
            <a:r>
              <a:rPr lang="en-US" dirty="0"/>
              <a:t>Finally, copy constructors are automatically called whenever a function returns an object of the class by value. </a:t>
            </a:r>
          </a:p>
          <a:p>
            <a:r>
              <a:rPr lang="en-US" dirty="0"/>
              <a:t>The copy constructor will be called when the return statement is executed. </a:t>
            </a:r>
          </a:p>
          <a:p>
            <a:r>
              <a:rPr lang="en-US" dirty="0"/>
              <a:t>This is because the return statement must create a temporary, nonlocal copy of the object that will be available to the caller after the function returns.</a:t>
            </a:r>
          </a:p>
          <a:p>
            <a:pPr marL="0" indent="0">
              <a:buNone/>
            </a:pPr>
            <a:endParaRPr lang="en-US" dirty="0"/>
          </a:p>
          <a:p>
            <a:pPr lvl="1"/>
            <a:r>
              <a:rPr lang="en-US" i="1" dirty="0">
                <a:solidFill>
                  <a:srgbClr val="FF0000"/>
                </a:solidFill>
              </a:rPr>
              <a:t>Rectangle </a:t>
            </a:r>
            <a:r>
              <a:rPr lang="en-US" b="1" i="1" dirty="0" err="1">
                <a:solidFill>
                  <a:srgbClr val="FF0000"/>
                </a:solidFill>
                <a:effectLst/>
              </a:rPr>
              <a:t>makeRectangle</a:t>
            </a:r>
            <a:r>
              <a:rPr lang="en-US" i="1" dirty="0">
                <a:solidFill>
                  <a:srgbClr val="FF0000"/>
                </a:solidFill>
              </a:rPr>
              <a:t>() </a:t>
            </a:r>
          </a:p>
          <a:p>
            <a:pPr marL="457200" lvl="1" indent="0">
              <a:buNone/>
            </a:pPr>
            <a:r>
              <a:rPr lang="en-US" i="1" dirty="0">
                <a:solidFill>
                  <a:srgbClr val="FF0000"/>
                </a:solidFill>
              </a:rPr>
              <a:t>	{ 	</a:t>
            </a:r>
          </a:p>
          <a:p>
            <a:pPr marL="914400" lvl="2" indent="0">
              <a:buNone/>
            </a:pPr>
            <a:r>
              <a:rPr lang="en-US" i="1" dirty="0">
                <a:solidFill>
                  <a:srgbClr val="FF0000"/>
                </a:solidFill>
              </a:rPr>
              <a:t>	Rectangle </a:t>
            </a:r>
            <a:r>
              <a:rPr lang="en-US" b="1" i="1" dirty="0" err="1">
                <a:solidFill>
                  <a:srgbClr val="FF0000"/>
                </a:solidFill>
                <a:effectLst/>
              </a:rPr>
              <a:t>rect</a:t>
            </a:r>
            <a:r>
              <a:rPr lang="en-US" i="1" dirty="0">
                <a:solidFill>
                  <a:srgbClr val="FF0000"/>
                </a:solidFill>
              </a:rPr>
              <a:t>(</a:t>
            </a:r>
            <a:r>
              <a:rPr lang="en-US" i="1" dirty="0">
                <a:solidFill>
                  <a:srgbClr val="FF0000"/>
                </a:solidFill>
                <a:effectLst/>
              </a:rPr>
              <a:t>12</a:t>
            </a:r>
            <a:r>
              <a:rPr lang="en-US" i="1" dirty="0">
                <a:solidFill>
                  <a:srgbClr val="FF0000"/>
                </a:solidFill>
              </a:rPr>
              <a:t>, </a:t>
            </a:r>
            <a:r>
              <a:rPr lang="en-US" i="1" dirty="0">
                <a:solidFill>
                  <a:srgbClr val="FF0000"/>
                </a:solidFill>
                <a:effectLst/>
              </a:rPr>
              <a:t>3</a:t>
            </a:r>
            <a:r>
              <a:rPr lang="en-US" i="1" dirty="0">
                <a:solidFill>
                  <a:srgbClr val="FF0000"/>
                </a:solidFill>
              </a:rPr>
              <a:t>); </a:t>
            </a:r>
          </a:p>
          <a:p>
            <a:pPr marL="914400" lvl="2" indent="0">
              <a:buNone/>
            </a:pPr>
            <a:r>
              <a:rPr lang="en-US" b="1" i="1" dirty="0">
                <a:solidFill>
                  <a:srgbClr val="FF0000"/>
                </a:solidFill>
                <a:effectLst/>
              </a:rPr>
              <a:t>	return</a:t>
            </a:r>
            <a:r>
              <a:rPr lang="en-US" i="1" dirty="0">
                <a:solidFill>
                  <a:srgbClr val="FF0000"/>
                </a:solidFill>
              </a:rPr>
              <a:t> </a:t>
            </a:r>
            <a:r>
              <a:rPr lang="en-US" i="1" dirty="0" err="1">
                <a:solidFill>
                  <a:srgbClr val="FF0000"/>
                </a:solidFill>
              </a:rPr>
              <a:t>rect</a:t>
            </a:r>
            <a:r>
              <a:rPr lang="en-US" i="1" dirty="0">
                <a:solidFill>
                  <a:srgbClr val="FF0000"/>
                </a:solidFill>
              </a:rPr>
              <a:t>; </a:t>
            </a:r>
          </a:p>
          <a:p>
            <a:pPr marL="914400" lvl="2" indent="0">
              <a:buNone/>
            </a:pPr>
            <a:r>
              <a:rPr lang="en-US" i="1" dirty="0">
                <a:solidFill>
                  <a:srgbClr val="FF0000"/>
                </a:solidFill>
              </a:rPr>
              <a:t>} </a:t>
            </a:r>
          </a:p>
        </p:txBody>
      </p:sp>
    </p:spTree>
    <p:extLst>
      <p:ext uri="{BB962C8B-B14F-4D97-AF65-F5344CB8AC3E}">
        <p14:creationId xmlns:p14="http://schemas.microsoft.com/office/powerpoint/2010/main" val="274872830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20A05B-B125-3778-AC73-D9EEA688A40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9CD08A4-F136-269B-832C-DCABEC4C7DB5}"/>
              </a:ext>
            </a:extLst>
          </p:cNvPr>
          <p:cNvSpPr>
            <a:spLocks noGrp="1"/>
          </p:cNvSpPr>
          <p:nvPr>
            <p:ph type="title"/>
          </p:nvPr>
        </p:nvSpPr>
        <p:spPr/>
        <p:txBody>
          <a:bodyPr/>
          <a:lstStyle/>
          <a:p>
            <a:r>
              <a:rPr lang="en-US" dirty="0"/>
              <a:t>Invocation of Copy Constructors</a:t>
            </a:r>
          </a:p>
        </p:txBody>
      </p:sp>
      <p:sp>
        <p:nvSpPr>
          <p:cNvPr id="3" name="Content Placeholder 2">
            <a:extLst>
              <a:ext uri="{FF2B5EF4-FFF2-40B4-BE49-F238E27FC236}">
                <a16:creationId xmlns:a16="http://schemas.microsoft.com/office/drawing/2014/main" id="{D09F159B-A54C-AFFE-7CDA-05EB48EE1823}"/>
              </a:ext>
            </a:extLst>
          </p:cNvPr>
          <p:cNvSpPr>
            <a:spLocks noGrp="1"/>
          </p:cNvSpPr>
          <p:nvPr>
            <p:ph idx="1"/>
          </p:nvPr>
        </p:nvSpPr>
        <p:spPr>
          <a:xfrm>
            <a:off x="838200" y="1825625"/>
            <a:ext cx="10515600" cy="4846108"/>
          </a:xfrm>
        </p:spPr>
        <p:txBody>
          <a:bodyPr>
            <a:normAutofit/>
          </a:bodyPr>
          <a:lstStyle/>
          <a:p>
            <a:pPr marL="0" indent="0" algn="l">
              <a:buNone/>
            </a:pPr>
            <a:r>
              <a:rPr lang="en-US" dirty="0">
                <a:effectLst/>
              </a:rPr>
              <a:t>To summarize, a class copy constructor is called when</a:t>
            </a:r>
          </a:p>
          <a:p>
            <a:pPr marL="0" indent="0" algn="l">
              <a:buNone/>
            </a:pPr>
            <a:endParaRPr lang="en-US" dirty="0"/>
          </a:p>
          <a:p>
            <a:r>
              <a:rPr lang="en-US" dirty="0"/>
              <a:t>A variable is being initialized from an object of the same class</a:t>
            </a:r>
          </a:p>
          <a:p>
            <a:r>
              <a:rPr lang="en-US" dirty="0"/>
              <a:t>A function is called with a value parameter of the class</a:t>
            </a:r>
          </a:p>
          <a:p>
            <a:r>
              <a:rPr lang="en-US" dirty="0"/>
              <a:t>A function is returning a value that is an object of the class</a:t>
            </a:r>
          </a:p>
          <a:p>
            <a:pPr marL="0" indent="0">
              <a:buNone/>
            </a:pPr>
            <a:endParaRPr lang="en-US" i="1" dirty="0">
              <a:solidFill>
                <a:srgbClr val="FF0000"/>
              </a:solidFill>
            </a:endParaRPr>
          </a:p>
          <a:p>
            <a:r>
              <a:rPr lang="en-US" dirty="0"/>
              <a:t>Copy constructors are not called when a parameter of the class is passed by reference or through a pointer, nor are they called when a function returns a reference or pointer to an object of the class.</a:t>
            </a:r>
            <a:endParaRPr lang="en-US" i="1" dirty="0">
              <a:solidFill>
                <a:srgbClr val="FF0000"/>
              </a:solidFill>
            </a:endParaRPr>
          </a:p>
        </p:txBody>
      </p:sp>
    </p:spTree>
    <p:extLst>
      <p:ext uri="{BB962C8B-B14F-4D97-AF65-F5344CB8AC3E}">
        <p14:creationId xmlns:p14="http://schemas.microsoft.com/office/powerpoint/2010/main" val="367879588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4AC5B3-0C74-68A5-9E95-78FC77939ADB}"/>
              </a:ext>
            </a:extLst>
          </p:cNvPr>
          <p:cNvSpPr>
            <a:spLocks noGrp="1"/>
          </p:cNvSpPr>
          <p:nvPr>
            <p:ph type="title"/>
          </p:nvPr>
        </p:nvSpPr>
        <p:spPr/>
        <p:txBody>
          <a:bodyPr/>
          <a:lstStyle/>
          <a:p>
            <a:r>
              <a:rPr lang="en-US" dirty="0"/>
              <a:t>Operator Overloading</a:t>
            </a:r>
          </a:p>
        </p:txBody>
      </p:sp>
      <p:sp>
        <p:nvSpPr>
          <p:cNvPr id="3" name="Content Placeholder 2">
            <a:extLst>
              <a:ext uri="{FF2B5EF4-FFF2-40B4-BE49-F238E27FC236}">
                <a16:creationId xmlns:a16="http://schemas.microsoft.com/office/drawing/2014/main" id="{0E28CD14-F625-ABFD-E7D8-6E538FE07E2E}"/>
              </a:ext>
            </a:extLst>
          </p:cNvPr>
          <p:cNvSpPr>
            <a:spLocks noGrp="1"/>
          </p:cNvSpPr>
          <p:nvPr>
            <p:ph idx="1"/>
          </p:nvPr>
        </p:nvSpPr>
        <p:spPr/>
        <p:txBody>
          <a:bodyPr>
            <a:normAutofit/>
          </a:bodyPr>
          <a:lstStyle/>
          <a:p>
            <a:r>
              <a:rPr lang="en-US" dirty="0"/>
              <a:t>As we have seen, copy constructors are designed to solve problems that arise when an object containing a pointer is initialized with the data of another object of the same class using </a:t>
            </a:r>
            <a:r>
              <a:rPr lang="en-US" dirty="0" err="1"/>
              <a:t>memberwise</a:t>
            </a:r>
            <a:r>
              <a:rPr lang="en-US" dirty="0"/>
              <a:t> assignment.</a:t>
            </a:r>
          </a:p>
          <a:p>
            <a:r>
              <a:rPr lang="en-US" dirty="0"/>
              <a:t>Similar problems arise in object assignment. </a:t>
            </a:r>
          </a:p>
        </p:txBody>
      </p:sp>
    </p:spTree>
    <p:extLst>
      <p:ext uri="{BB962C8B-B14F-4D97-AF65-F5344CB8AC3E}">
        <p14:creationId xmlns:p14="http://schemas.microsoft.com/office/powerpoint/2010/main" val="332049231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A0DB66-3051-8E08-5E1E-D83BC083B75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7DB9247-13C9-A6B8-4D9D-C3B1CCBD608D}"/>
              </a:ext>
            </a:extLst>
          </p:cNvPr>
          <p:cNvSpPr>
            <a:spLocks noGrp="1"/>
          </p:cNvSpPr>
          <p:nvPr>
            <p:ph type="title"/>
          </p:nvPr>
        </p:nvSpPr>
        <p:spPr/>
        <p:txBody>
          <a:bodyPr/>
          <a:lstStyle/>
          <a:p>
            <a:r>
              <a:rPr lang="en-US" dirty="0"/>
              <a:t>Operator Overloading</a:t>
            </a:r>
          </a:p>
        </p:txBody>
      </p:sp>
      <p:sp>
        <p:nvSpPr>
          <p:cNvPr id="3" name="Content Placeholder 2">
            <a:extLst>
              <a:ext uri="{FF2B5EF4-FFF2-40B4-BE49-F238E27FC236}">
                <a16:creationId xmlns:a16="http://schemas.microsoft.com/office/drawing/2014/main" id="{8D17F76D-E7AD-2C14-F8A6-02EF8AE491CD}"/>
              </a:ext>
            </a:extLst>
          </p:cNvPr>
          <p:cNvSpPr>
            <a:spLocks noGrp="1"/>
          </p:cNvSpPr>
          <p:nvPr>
            <p:ph idx="1"/>
          </p:nvPr>
        </p:nvSpPr>
        <p:spPr/>
        <p:txBody>
          <a:bodyPr>
            <a:normAutofit lnSpcReduction="10000"/>
          </a:bodyPr>
          <a:lstStyle/>
          <a:p>
            <a:r>
              <a:rPr lang="en-US" dirty="0"/>
              <a:t>For example, with the </a:t>
            </a:r>
            <a:r>
              <a:rPr lang="en-US" dirty="0" err="1"/>
              <a:t>NumberArray</a:t>
            </a:r>
            <a:r>
              <a:rPr lang="en-US" dirty="0"/>
              <a:t> class of the previous section, we may have a program that has defined two objects of that class:</a:t>
            </a:r>
          </a:p>
          <a:p>
            <a:pPr lvl="1"/>
            <a:r>
              <a:rPr lang="en-US" i="1" dirty="0" err="1">
                <a:solidFill>
                  <a:srgbClr val="FF0000"/>
                </a:solidFill>
              </a:rPr>
              <a:t>NumberArray</a:t>
            </a:r>
            <a:r>
              <a:rPr lang="en-US" i="1" dirty="0">
                <a:solidFill>
                  <a:srgbClr val="FF0000"/>
                </a:solidFill>
              </a:rPr>
              <a:t> </a:t>
            </a:r>
            <a:r>
              <a:rPr lang="en-US" b="1" i="1" dirty="0">
                <a:solidFill>
                  <a:srgbClr val="FF0000"/>
                </a:solidFill>
                <a:effectLst/>
              </a:rPr>
              <a:t>first</a:t>
            </a:r>
            <a:r>
              <a:rPr lang="en-US" i="1" dirty="0">
                <a:solidFill>
                  <a:srgbClr val="FF0000"/>
                </a:solidFill>
              </a:rPr>
              <a:t>(</a:t>
            </a:r>
            <a:r>
              <a:rPr lang="en-US" i="1" dirty="0">
                <a:solidFill>
                  <a:srgbClr val="FF0000"/>
                </a:solidFill>
                <a:effectLst/>
              </a:rPr>
              <a:t>3</a:t>
            </a:r>
            <a:r>
              <a:rPr lang="en-US" i="1" dirty="0">
                <a:solidFill>
                  <a:srgbClr val="FF0000"/>
                </a:solidFill>
              </a:rPr>
              <a:t>, </a:t>
            </a:r>
            <a:r>
              <a:rPr lang="en-US" i="1" dirty="0">
                <a:solidFill>
                  <a:srgbClr val="FF0000"/>
                </a:solidFill>
                <a:effectLst/>
              </a:rPr>
              <a:t>10.5</a:t>
            </a:r>
            <a:r>
              <a:rPr lang="en-US" i="1" dirty="0">
                <a:solidFill>
                  <a:srgbClr val="FF0000"/>
                </a:solidFill>
              </a:rPr>
              <a:t>); </a:t>
            </a:r>
          </a:p>
          <a:p>
            <a:pPr lvl="1"/>
            <a:r>
              <a:rPr lang="en-US" i="1" dirty="0" err="1">
                <a:solidFill>
                  <a:srgbClr val="FF0000"/>
                </a:solidFill>
              </a:rPr>
              <a:t>NumberArray</a:t>
            </a:r>
            <a:r>
              <a:rPr lang="en-US" i="1" dirty="0">
                <a:solidFill>
                  <a:srgbClr val="FF0000"/>
                </a:solidFill>
              </a:rPr>
              <a:t> </a:t>
            </a:r>
            <a:r>
              <a:rPr lang="en-US" b="1" i="1" dirty="0">
                <a:solidFill>
                  <a:srgbClr val="FF0000"/>
                </a:solidFill>
                <a:effectLst/>
              </a:rPr>
              <a:t>second</a:t>
            </a:r>
            <a:r>
              <a:rPr lang="en-US" i="1" dirty="0">
                <a:solidFill>
                  <a:srgbClr val="FF0000"/>
                </a:solidFill>
              </a:rPr>
              <a:t>(</a:t>
            </a:r>
            <a:r>
              <a:rPr lang="en-US" i="1" dirty="0">
                <a:solidFill>
                  <a:srgbClr val="FF0000"/>
                </a:solidFill>
                <a:effectLst/>
              </a:rPr>
              <a:t>5</a:t>
            </a:r>
            <a:r>
              <a:rPr lang="en-US" i="1" dirty="0">
                <a:solidFill>
                  <a:srgbClr val="FF0000"/>
                </a:solidFill>
              </a:rPr>
              <a:t>, </a:t>
            </a:r>
            <a:r>
              <a:rPr lang="en-US" i="1" dirty="0">
                <a:solidFill>
                  <a:srgbClr val="FF0000"/>
                </a:solidFill>
                <a:effectLst/>
              </a:rPr>
              <a:t>20.5</a:t>
            </a:r>
            <a:r>
              <a:rPr lang="en-US" i="1" dirty="0">
                <a:solidFill>
                  <a:srgbClr val="FF0000"/>
                </a:solidFill>
              </a:rPr>
              <a:t>); </a:t>
            </a:r>
          </a:p>
          <a:p>
            <a:pPr lvl="1"/>
            <a:r>
              <a:rPr lang="en-US" i="1" dirty="0">
                <a:solidFill>
                  <a:srgbClr val="FF0000"/>
                </a:solidFill>
              </a:rPr>
              <a:t>first = second;</a:t>
            </a:r>
          </a:p>
          <a:p>
            <a:endParaRPr lang="en-US" dirty="0"/>
          </a:p>
          <a:p>
            <a:r>
              <a:rPr lang="en-US" dirty="0"/>
              <a:t>If we want to set the first object to exactly the same value as the second. </a:t>
            </a:r>
          </a:p>
          <a:p>
            <a:r>
              <a:rPr lang="en-US" dirty="0"/>
              <a:t>At this point, C++ will once again perform a </a:t>
            </a:r>
            <a:r>
              <a:rPr lang="en-US" dirty="0" err="1"/>
              <a:t>memberwise</a:t>
            </a:r>
            <a:r>
              <a:rPr lang="en-US" dirty="0"/>
              <a:t> copy from the second to the first object, </a:t>
            </a:r>
            <a:r>
              <a:rPr lang="en-US" b="1" dirty="0"/>
              <a:t>leaving pointers in both objects pointing to the same memory.</a:t>
            </a:r>
          </a:p>
        </p:txBody>
      </p:sp>
    </p:spTree>
    <p:extLst>
      <p:ext uri="{BB962C8B-B14F-4D97-AF65-F5344CB8AC3E}">
        <p14:creationId xmlns:p14="http://schemas.microsoft.com/office/powerpoint/2010/main" val="387184723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8308B4-1253-3252-EBC8-1A59CED7255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8CB635F-CA84-6704-E0CB-BE2C8214AF84}"/>
              </a:ext>
            </a:extLst>
          </p:cNvPr>
          <p:cNvSpPr>
            <a:spLocks noGrp="1"/>
          </p:cNvSpPr>
          <p:nvPr>
            <p:ph type="title"/>
          </p:nvPr>
        </p:nvSpPr>
        <p:spPr/>
        <p:txBody>
          <a:bodyPr/>
          <a:lstStyle/>
          <a:p>
            <a:r>
              <a:rPr lang="en-US" dirty="0"/>
              <a:t>Operator Overloading</a:t>
            </a:r>
          </a:p>
        </p:txBody>
      </p:sp>
      <p:sp>
        <p:nvSpPr>
          <p:cNvPr id="3" name="Content Placeholder 2">
            <a:extLst>
              <a:ext uri="{FF2B5EF4-FFF2-40B4-BE49-F238E27FC236}">
                <a16:creationId xmlns:a16="http://schemas.microsoft.com/office/drawing/2014/main" id="{C28409E1-9BDF-880A-D9D1-C05E0ED11DE2}"/>
              </a:ext>
            </a:extLst>
          </p:cNvPr>
          <p:cNvSpPr>
            <a:spLocks noGrp="1"/>
          </p:cNvSpPr>
          <p:nvPr>
            <p:ph idx="1"/>
          </p:nvPr>
        </p:nvSpPr>
        <p:spPr/>
        <p:txBody>
          <a:bodyPr>
            <a:normAutofit/>
          </a:bodyPr>
          <a:lstStyle/>
          <a:p>
            <a:r>
              <a:rPr lang="en-US" dirty="0"/>
              <a:t>Because the default object assignment encounters the same problem as the default copy constructor, we might think that a programmer-defined copy constructor can be used to solve the problem caused by the default assignment, but this is not so.</a:t>
            </a:r>
          </a:p>
          <a:p>
            <a:r>
              <a:rPr lang="en-US" dirty="0"/>
              <a:t>Copy constructors only come into play when an object is being </a:t>
            </a:r>
            <a:r>
              <a:rPr lang="en-US" i="1" dirty="0">
                <a:solidFill>
                  <a:srgbClr val="FF0000"/>
                </a:solidFill>
              </a:rPr>
              <a:t>initialized</a:t>
            </a:r>
            <a:r>
              <a:rPr lang="en-US" dirty="0"/>
              <a:t> at creation time. </a:t>
            </a:r>
          </a:p>
          <a:p>
            <a:r>
              <a:rPr lang="en-US" dirty="0"/>
              <a:t>In particular, copy constructors are not called in an </a:t>
            </a:r>
            <a:r>
              <a:rPr lang="en-US" i="1" dirty="0">
                <a:solidFill>
                  <a:srgbClr val="FF0000"/>
                </a:solidFill>
              </a:rPr>
              <a:t>assignment</a:t>
            </a:r>
            <a:r>
              <a:rPr lang="en-US" dirty="0">
                <a:solidFill>
                  <a:srgbClr val="FF0000"/>
                </a:solidFill>
              </a:rPr>
              <a:t>.</a:t>
            </a:r>
            <a:endParaRPr lang="en-US" b="1" dirty="0">
              <a:solidFill>
                <a:srgbClr val="FF0000"/>
              </a:solidFill>
            </a:endParaRPr>
          </a:p>
        </p:txBody>
      </p:sp>
    </p:spTree>
    <p:extLst>
      <p:ext uri="{BB962C8B-B14F-4D97-AF65-F5344CB8AC3E}">
        <p14:creationId xmlns:p14="http://schemas.microsoft.com/office/powerpoint/2010/main" val="275685558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0069D8-1665-6F22-4490-017A8A310CE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2DC36E2-FA03-4904-93F4-CB88239478A2}"/>
              </a:ext>
            </a:extLst>
          </p:cNvPr>
          <p:cNvSpPr>
            <a:spLocks noGrp="1"/>
          </p:cNvSpPr>
          <p:nvPr>
            <p:ph type="title"/>
          </p:nvPr>
        </p:nvSpPr>
        <p:spPr/>
        <p:txBody>
          <a:bodyPr/>
          <a:lstStyle/>
          <a:p>
            <a:r>
              <a:rPr lang="en-US" dirty="0"/>
              <a:t>Operator Overloading</a:t>
            </a:r>
          </a:p>
        </p:txBody>
      </p:sp>
      <p:sp>
        <p:nvSpPr>
          <p:cNvPr id="3" name="Content Placeholder 2">
            <a:extLst>
              <a:ext uri="{FF2B5EF4-FFF2-40B4-BE49-F238E27FC236}">
                <a16:creationId xmlns:a16="http://schemas.microsoft.com/office/drawing/2014/main" id="{8318CCB8-4CD3-807B-7886-7606263114EA}"/>
              </a:ext>
            </a:extLst>
          </p:cNvPr>
          <p:cNvSpPr>
            <a:spLocks noGrp="1"/>
          </p:cNvSpPr>
          <p:nvPr>
            <p:ph idx="1"/>
          </p:nvPr>
        </p:nvSpPr>
        <p:spPr>
          <a:xfrm>
            <a:off x="838200" y="1825625"/>
            <a:ext cx="10515600" cy="4795308"/>
          </a:xfrm>
        </p:spPr>
        <p:txBody>
          <a:bodyPr>
            <a:normAutofit lnSpcReduction="10000"/>
          </a:bodyPr>
          <a:lstStyle/>
          <a:p>
            <a:r>
              <a:rPr lang="en-US" dirty="0"/>
              <a:t>To see the difference between initialization and assignment, suppose that the object first has already been created. </a:t>
            </a:r>
          </a:p>
          <a:p>
            <a:r>
              <a:rPr lang="en-US" dirty="0"/>
              <a:t>Then the statement - </a:t>
            </a:r>
          </a:p>
          <a:p>
            <a:pPr lvl="1"/>
            <a:r>
              <a:rPr lang="en-US" i="1" dirty="0" err="1">
                <a:solidFill>
                  <a:srgbClr val="FF0000"/>
                </a:solidFill>
              </a:rPr>
              <a:t>NumberArray</a:t>
            </a:r>
            <a:r>
              <a:rPr lang="en-US" i="1" dirty="0">
                <a:solidFill>
                  <a:srgbClr val="FF0000"/>
                </a:solidFill>
              </a:rPr>
              <a:t> second = first; </a:t>
            </a:r>
            <a:r>
              <a:rPr lang="en-US" i="1" dirty="0">
                <a:solidFill>
                  <a:schemeClr val="tx1">
                    <a:lumMod val="50000"/>
                    <a:lumOff val="50000"/>
                  </a:schemeClr>
                </a:solidFill>
                <a:effectLst/>
              </a:rPr>
              <a:t>// copy constructor called </a:t>
            </a:r>
          </a:p>
          <a:p>
            <a:r>
              <a:rPr lang="en-US" dirty="0"/>
              <a:t>which creates second and initializes it with the value of first, is an </a:t>
            </a:r>
            <a:r>
              <a:rPr lang="en-US" i="1" dirty="0"/>
              <a:t>initialization</a:t>
            </a:r>
            <a:r>
              <a:rPr lang="en-US" dirty="0"/>
              <a:t> and causes the copy constructor to be called to perform the initialization. </a:t>
            </a:r>
          </a:p>
          <a:p>
            <a:r>
              <a:rPr lang="en-US" dirty="0"/>
              <a:t>However, the statement – </a:t>
            </a:r>
          </a:p>
          <a:p>
            <a:pPr lvl="1"/>
            <a:r>
              <a:rPr lang="en-US" i="1" dirty="0">
                <a:solidFill>
                  <a:srgbClr val="FF0000"/>
                </a:solidFill>
              </a:rPr>
              <a:t>second = first; </a:t>
            </a:r>
            <a:r>
              <a:rPr lang="en-US" i="1" dirty="0">
                <a:solidFill>
                  <a:schemeClr val="tx1">
                    <a:lumMod val="50000"/>
                    <a:lumOff val="50000"/>
                  </a:schemeClr>
                </a:solidFill>
                <a:effectLst/>
              </a:rPr>
              <a:t>// copy constructor not called </a:t>
            </a:r>
          </a:p>
          <a:p>
            <a:r>
              <a:rPr lang="en-US" dirty="0"/>
              <a:t>which assumes that both objects have previously been created, is an </a:t>
            </a:r>
            <a:r>
              <a:rPr lang="en-US" i="1" dirty="0"/>
              <a:t>assignment</a:t>
            </a:r>
            <a:r>
              <a:rPr lang="en-US" dirty="0"/>
              <a:t>, and therefore no constructor is invoked.</a:t>
            </a:r>
            <a:endParaRPr lang="en-US" b="1" i="1" dirty="0">
              <a:solidFill>
                <a:srgbClr val="FF0000"/>
              </a:solidFill>
            </a:endParaRPr>
          </a:p>
        </p:txBody>
      </p:sp>
    </p:spTree>
    <p:extLst>
      <p:ext uri="{BB962C8B-B14F-4D97-AF65-F5344CB8AC3E}">
        <p14:creationId xmlns:p14="http://schemas.microsoft.com/office/powerpoint/2010/main" val="96750893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DC7A6B-D6C8-0F36-E7D8-C3AE0676C412}"/>
              </a:ext>
            </a:extLst>
          </p:cNvPr>
          <p:cNvSpPr>
            <a:spLocks noGrp="1"/>
          </p:cNvSpPr>
          <p:nvPr>
            <p:ph type="title"/>
          </p:nvPr>
        </p:nvSpPr>
        <p:spPr/>
        <p:txBody>
          <a:bodyPr/>
          <a:lstStyle/>
          <a:p>
            <a:r>
              <a:rPr lang="en-US" dirty="0"/>
              <a:t>Operator Overloading</a:t>
            </a:r>
          </a:p>
        </p:txBody>
      </p:sp>
      <p:sp>
        <p:nvSpPr>
          <p:cNvPr id="3" name="Content Placeholder 2">
            <a:extLst>
              <a:ext uri="{FF2B5EF4-FFF2-40B4-BE49-F238E27FC236}">
                <a16:creationId xmlns:a16="http://schemas.microsoft.com/office/drawing/2014/main" id="{8DDE879C-4FD9-B89D-F8A6-1BA72AD5B77B}"/>
              </a:ext>
            </a:extLst>
          </p:cNvPr>
          <p:cNvSpPr>
            <a:spLocks noGrp="1"/>
          </p:cNvSpPr>
          <p:nvPr>
            <p:ph idx="1"/>
          </p:nvPr>
        </p:nvSpPr>
        <p:spPr/>
        <p:txBody>
          <a:bodyPr/>
          <a:lstStyle/>
          <a:p>
            <a:r>
              <a:rPr lang="en-US" dirty="0"/>
              <a:t>To address the problems that result from </a:t>
            </a:r>
            <a:r>
              <a:rPr lang="en-US" dirty="0" err="1"/>
              <a:t>memberwise</a:t>
            </a:r>
            <a:r>
              <a:rPr lang="en-US" dirty="0"/>
              <a:t> assignment of objects, we need to modify the behavior of the assignment operator so that it does something other than </a:t>
            </a:r>
            <a:r>
              <a:rPr lang="en-US" dirty="0" err="1"/>
              <a:t>memberwise</a:t>
            </a:r>
            <a:r>
              <a:rPr lang="en-US" dirty="0"/>
              <a:t> assignment when it is applied to objects of classes that have pointer members.</a:t>
            </a:r>
          </a:p>
          <a:p>
            <a:r>
              <a:rPr lang="en-US" dirty="0"/>
              <a:t>In effect we are supplying a different version of the assignment operator to be used for objects of that class. </a:t>
            </a:r>
          </a:p>
          <a:p>
            <a:r>
              <a:rPr lang="en-US" dirty="0"/>
              <a:t>In so doing, we say that we are </a:t>
            </a:r>
            <a:r>
              <a:rPr lang="en-US" dirty="0">
                <a:solidFill>
                  <a:srgbClr val="FF0000"/>
                </a:solidFill>
                <a:hlinkClick r:id="rId2">
                  <a:extLst>
                    <a:ext uri="{A12FA001-AC4F-418D-AE19-62706E023703}">
                      <ahyp:hlinkClr xmlns:ahyp="http://schemas.microsoft.com/office/drawing/2018/hyperlinkcolor" val="tx"/>
                    </a:ext>
                  </a:extLst>
                </a:hlinkClick>
              </a:rPr>
              <a:t>overloading</a:t>
            </a:r>
            <a:r>
              <a:rPr lang="en-US" dirty="0">
                <a:solidFill>
                  <a:srgbClr val="FF0000"/>
                </a:solidFill>
              </a:rPr>
              <a:t> </a:t>
            </a:r>
            <a:r>
              <a:rPr lang="en-US" dirty="0"/>
              <a:t>the assignment operator.</a:t>
            </a:r>
          </a:p>
        </p:txBody>
      </p:sp>
    </p:spTree>
    <p:extLst>
      <p:ext uri="{BB962C8B-B14F-4D97-AF65-F5344CB8AC3E}">
        <p14:creationId xmlns:p14="http://schemas.microsoft.com/office/powerpoint/2010/main" val="19136202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D6150B-A267-AFA5-AE42-AA556F36D33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EDFE1C5-1A0D-7A97-9E24-C8A7D622FEC7}"/>
              </a:ext>
            </a:extLst>
          </p:cNvPr>
          <p:cNvSpPr>
            <a:spLocks noGrp="1"/>
          </p:cNvSpPr>
          <p:nvPr>
            <p:ph type="title"/>
          </p:nvPr>
        </p:nvSpPr>
        <p:spPr/>
        <p:txBody>
          <a:bodyPr/>
          <a:lstStyle/>
          <a:p>
            <a:r>
              <a:rPr lang="en-US" dirty="0"/>
              <a:t>Operator Overloading</a:t>
            </a:r>
          </a:p>
        </p:txBody>
      </p:sp>
      <p:sp>
        <p:nvSpPr>
          <p:cNvPr id="3" name="Content Placeholder 2">
            <a:extLst>
              <a:ext uri="{FF2B5EF4-FFF2-40B4-BE49-F238E27FC236}">
                <a16:creationId xmlns:a16="http://schemas.microsoft.com/office/drawing/2014/main" id="{B0313173-4524-9EF4-3C36-D03F29CEAAE2}"/>
              </a:ext>
            </a:extLst>
          </p:cNvPr>
          <p:cNvSpPr>
            <a:spLocks noGrp="1"/>
          </p:cNvSpPr>
          <p:nvPr>
            <p:ph idx="1"/>
          </p:nvPr>
        </p:nvSpPr>
        <p:spPr>
          <a:xfrm>
            <a:off x="838200" y="1825625"/>
            <a:ext cx="3831771" cy="4351338"/>
          </a:xfrm>
        </p:spPr>
        <p:txBody>
          <a:bodyPr/>
          <a:lstStyle/>
          <a:p>
            <a:r>
              <a:rPr lang="en-US" dirty="0"/>
              <a:t>One way to overload the assignment operator for a given class is to define an </a:t>
            </a:r>
            <a:r>
              <a:rPr lang="en-US" b="1" dirty="0">
                <a:solidFill>
                  <a:srgbClr val="FF0000"/>
                </a:solidFill>
                <a:hlinkClick r:id="rId2">
                  <a:extLst>
                    <a:ext uri="{A12FA001-AC4F-418D-AE19-62706E023703}">
                      <ahyp:hlinkClr xmlns:ahyp="http://schemas.microsoft.com/office/drawing/2018/hyperlinkcolor" val="tx"/>
                    </a:ext>
                  </a:extLst>
                </a:hlinkClick>
              </a:rPr>
              <a:t>operator function</a:t>
            </a:r>
            <a:r>
              <a:rPr lang="en-US" dirty="0"/>
              <a:t> called operator= as a member function of the class</a:t>
            </a:r>
          </a:p>
        </p:txBody>
      </p:sp>
      <p:pic>
        <p:nvPicPr>
          <p:cNvPr id="4" name="Picture 3">
            <a:extLst>
              <a:ext uri="{FF2B5EF4-FFF2-40B4-BE49-F238E27FC236}">
                <a16:creationId xmlns:a16="http://schemas.microsoft.com/office/drawing/2014/main" id="{2F420CBA-BD8F-6658-FBBE-3FB2D021DF95}"/>
              </a:ext>
            </a:extLst>
          </p:cNvPr>
          <p:cNvPicPr>
            <a:picLocks noChangeAspect="1"/>
          </p:cNvPicPr>
          <p:nvPr/>
        </p:nvPicPr>
        <p:blipFill>
          <a:blip r:embed="rId3"/>
          <a:stretch>
            <a:fillRect/>
          </a:stretch>
        </p:blipFill>
        <p:spPr>
          <a:xfrm>
            <a:off x="5072264" y="1825625"/>
            <a:ext cx="6738736" cy="3700462"/>
          </a:xfrm>
          <a:prstGeom prst="rect">
            <a:avLst/>
          </a:prstGeom>
        </p:spPr>
      </p:pic>
    </p:spTree>
    <p:extLst>
      <p:ext uri="{BB962C8B-B14F-4D97-AF65-F5344CB8AC3E}">
        <p14:creationId xmlns:p14="http://schemas.microsoft.com/office/powerpoint/2010/main" val="394309401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406E2A-EEF2-6421-A3FD-84587E58B357}"/>
              </a:ext>
            </a:extLst>
          </p:cNvPr>
          <p:cNvSpPr>
            <a:spLocks noGrp="1"/>
          </p:cNvSpPr>
          <p:nvPr>
            <p:ph type="title"/>
          </p:nvPr>
        </p:nvSpPr>
        <p:spPr/>
        <p:txBody>
          <a:bodyPr/>
          <a:lstStyle/>
          <a:p>
            <a:r>
              <a:rPr lang="en-US" dirty="0"/>
              <a:t>Operator Overloading</a:t>
            </a:r>
          </a:p>
        </p:txBody>
      </p:sp>
      <p:sp>
        <p:nvSpPr>
          <p:cNvPr id="3" name="Content Placeholder 2">
            <a:extLst>
              <a:ext uri="{FF2B5EF4-FFF2-40B4-BE49-F238E27FC236}">
                <a16:creationId xmlns:a16="http://schemas.microsoft.com/office/drawing/2014/main" id="{EBA3ADCC-B1E9-6358-33FC-A04843CE48B4}"/>
              </a:ext>
            </a:extLst>
          </p:cNvPr>
          <p:cNvSpPr>
            <a:spLocks noGrp="1"/>
          </p:cNvSpPr>
          <p:nvPr>
            <p:ph idx="1"/>
          </p:nvPr>
        </p:nvSpPr>
        <p:spPr/>
        <p:txBody>
          <a:bodyPr/>
          <a:lstStyle/>
          <a:p>
            <a:r>
              <a:rPr lang="en-US" dirty="0"/>
              <a:t>Let’s take a look at the function header, or prototype, before we look at how the operator function itself is implemented. </a:t>
            </a:r>
          </a:p>
        </p:txBody>
      </p:sp>
      <p:pic>
        <p:nvPicPr>
          <p:cNvPr id="4" name="Picture 3">
            <a:extLst>
              <a:ext uri="{FF2B5EF4-FFF2-40B4-BE49-F238E27FC236}">
                <a16:creationId xmlns:a16="http://schemas.microsoft.com/office/drawing/2014/main" id="{AC3C8299-1F25-2E30-0ED8-A8146EAD3383}"/>
              </a:ext>
            </a:extLst>
          </p:cNvPr>
          <p:cNvPicPr>
            <a:picLocks noChangeAspect="1"/>
          </p:cNvPicPr>
          <p:nvPr/>
        </p:nvPicPr>
        <p:blipFill>
          <a:blip r:embed="rId2"/>
          <a:stretch>
            <a:fillRect/>
          </a:stretch>
        </p:blipFill>
        <p:spPr>
          <a:xfrm>
            <a:off x="2755900" y="3206751"/>
            <a:ext cx="6680200" cy="1917700"/>
          </a:xfrm>
          <a:prstGeom prst="rect">
            <a:avLst/>
          </a:prstGeom>
        </p:spPr>
      </p:pic>
    </p:spTree>
    <p:extLst>
      <p:ext uri="{BB962C8B-B14F-4D97-AF65-F5344CB8AC3E}">
        <p14:creationId xmlns:p14="http://schemas.microsoft.com/office/powerpoint/2010/main" val="976150674"/>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3C19B4-02D0-7456-F922-273D8DA05B4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593F8F8-235E-103C-F85F-6FA976F0C63F}"/>
              </a:ext>
            </a:extLst>
          </p:cNvPr>
          <p:cNvSpPr>
            <a:spLocks noGrp="1"/>
          </p:cNvSpPr>
          <p:nvPr>
            <p:ph type="title"/>
          </p:nvPr>
        </p:nvSpPr>
        <p:spPr/>
        <p:txBody>
          <a:bodyPr/>
          <a:lstStyle/>
          <a:p>
            <a:r>
              <a:rPr lang="en-US" dirty="0"/>
              <a:t>Operator Overloading</a:t>
            </a:r>
          </a:p>
        </p:txBody>
      </p:sp>
      <p:sp>
        <p:nvSpPr>
          <p:cNvPr id="3" name="Content Placeholder 2">
            <a:extLst>
              <a:ext uri="{FF2B5EF4-FFF2-40B4-BE49-F238E27FC236}">
                <a16:creationId xmlns:a16="http://schemas.microsoft.com/office/drawing/2014/main" id="{82F8A4A1-B18B-44CC-7913-D8F90064D1B8}"/>
              </a:ext>
            </a:extLst>
          </p:cNvPr>
          <p:cNvSpPr>
            <a:spLocks noGrp="1"/>
          </p:cNvSpPr>
          <p:nvPr>
            <p:ph idx="1"/>
          </p:nvPr>
        </p:nvSpPr>
        <p:spPr/>
        <p:txBody>
          <a:bodyPr>
            <a:normAutofit/>
          </a:bodyPr>
          <a:lstStyle/>
          <a:p>
            <a:r>
              <a:rPr lang="en-US" dirty="0"/>
              <a:t>The name of the function is operator=. </a:t>
            </a:r>
          </a:p>
          <a:p>
            <a:r>
              <a:rPr lang="en-US" dirty="0"/>
              <a:t>Since the operator function is an instance member of a class, it can only be called through an object of the class. </a:t>
            </a:r>
          </a:p>
          <a:p>
            <a:r>
              <a:rPr lang="en-US" dirty="0"/>
              <a:t>The object of the class through which it is called is considered the </a:t>
            </a:r>
            <a:r>
              <a:rPr lang="en-US" dirty="0">
                <a:solidFill>
                  <a:srgbClr val="FF0000"/>
                </a:solidFill>
              </a:rPr>
              <a:t>left</a:t>
            </a:r>
            <a:r>
              <a:rPr lang="en-US" dirty="0"/>
              <a:t> operand of the assignment operator, while the parameter passed to the function is considered the </a:t>
            </a:r>
            <a:r>
              <a:rPr lang="en-US" dirty="0">
                <a:solidFill>
                  <a:srgbClr val="FF0000"/>
                </a:solidFill>
              </a:rPr>
              <a:t>right</a:t>
            </a:r>
            <a:r>
              <a:rPr lang="en-US" dirty="0"/>
              <a:t> operand of the assignment operator. </a:t>
            </a:r>
          </a:p>
        </p:txBody>
      </p:sp>
    </p:spTree>
    <p:extLst>
      <p:ext uri="{BB962C8B-B14F-4D97-AF65-F5344CB8AC3E}">
        <p14:creationId xmlns:p14="http://schemas.microsoft.com/office/powerpoint/2010/main" val="157804186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3E5A41-7116-FB3D-C4F7-4F73CD43718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5AED3C5-885E-44D9-867E-F20792B288B6}"/>
              </a:ext>
            </a:extLst>
          </p:cNvPr>
          <p:cNvSpPr>
            <a:spLocks noGrp="1"/>
          </p:cNvSpPr>
          <p:nvPr>
            <p:ph type="title"/>
          </p:nvPr>
        </p:nvSpPr>
        <p:spPr/>
        <p:txBody>
          <a:bodyPr/>
          <a:lstStyle/>
          <a:p>
            <a:r>
              <a:rPr lang="en-US" dirty="0"/>
              <a:t>Operator Overloading</a:t>
            </a:r>
          </a:p>
        </p:txBody>
      </p:sp>
      <p:sp>
        <p:nvSpPr>
          <p:cNvPr id="3" name="Content Placeholder 2">
            <a:extLst>
              <a:ext uri="{FF2B5EF4-FFF2-40B4-BE49-F238E27FC236}">
                <a16:creationId xmlns:a16="http://schemas.microsoft.com/office/drawing/2014/main" id="{B7C8088A-8E64-32D3-014F-1E08BD28DB4C}"/>
              </a:ext>
            </a:extLst>
          </p:cNvPr>
          <p:cNvSpPr>
            <a:spLocks noGrp="1"/>
          </p:cNvSpPr>
          <p:nvPr>
            <p:ph idx="1"/>
          </p:nvPr>
        </p:nvSpPr>
        <p:spPr/>
        <p:txBody>
          <a:bodyPr>
            <a:normAutofit lnSpcReduction="10000"/>
          </a:bodyPr>
          <a:lstStyle/>
          <a:p>
            <a:r>
              <a:rPr lang="en-US" dirty="0"/>
              <a:t>To illustrate, let us suppose that two objects, left and right, have been defined in a program</a:t>
            </a:r>
          </a:p>
          <a:p>
            <a:pPr lvl="1"/>
            <a:r>
              <a:rPr lang="en-US" i="1" dirty="0" err="1">
                <a:solidFill>
                  <a:srgbClr val="FF0000"/>
                </a:solidFill>
              </a:rPr>
              <a:t>NumberArray</a:t>
            </a:r>
            <a:r>
              <a:rPr lang="en-US" i="1" dirty="0">
                <a:solidFill>
                  <a:srgbClr val="FF0000"/>
                </a:solidFill>
              </a:rPr>
              <a:t> </a:t>
            </a:r>
            <a:r>
              <a:rPr lang="en-US" b="1" i="1" dirty="0">
                <a:solidFill>
                  <a:srgbClr val="FF0000"/>
                </a:solidFill>
                <a:effectLst/>
              </a:rPr>
              <a:t>left</a:t>
            </a:r>
            <a:r>
              <a:rPr lang="en-US" i="1" dirty="0">
                <a:solidFill>
                  <a:srgbClr val="FF0000"/>
                </a:solidFill>
              </a:rPr>
              <a:t>(</a:t>
            </a:r>
            <a:r>
              <a:rPr lang="en-US" i="1" dirty="0">
                <a:solidFill>
                  <a:srgbClr val="FF0000"/>
                </a:solidFill>
                <a:effectLst/>
              </a:rPr>
              <a:t>3</a:t>
            </a:r>
            <a:r>
              <a:rPr lang="en-US" i="1" dirty="0">
                <a:solidFill>
                  <a:srgbClr val="FF0000"/>
                </a:solidFill>
              </a:rPr>
              <a:t>,</a:t>
            </a:r>
            <a:r>
              <a:rPr lang="en-US" i="1" dirty="0">
                <a:solidFill>
                  <a:srgbClr val="FF0000"/>
                </a:solidFill>
                <a:effectLst/>
              </a:rPr>
              <a:t>10.5</a:t>
            </a:r>
            <a:r>
              <a:rPr lang="en-US" i="1" dirty="0">
                <a:solidFill>
                  <a:srgbClr val="FF0000"/>
                </a:solidFill>
              </a:rPr>
              <a:t>); </a:t>
            </a:r>
          </a:p>
          <a:p>
            <a:pPr lvl="1"/>
            <a:r>
              <a:rPr lang="en-US" i="1" dirty="0" err="1">
                <a:solidFill>
                  <a:srgbClr val="FF0000"/>
                </a:solidFill>
              </a:rPr>
              <a:t>NumberArray</a:t>
            </a:r>
            <a:r>
              <a:rPr lang="en-US" i="1" dirty="0">
                <a:solidFill>
                  <a:srgbClr val="FF0000"/>
                </a:solidFill>
              </a:rPr>
              <a:t> </a:t>
            </a:r>
            <a:r>
              <a:rPr lang="en-US" b="1" i="1" dirty="0">
                <a:solidFill>
                  <a:srgbClr val="FF0000"/>
                </a:solidFill>
                <a:effectLst/>
              </a:rPr>
              <a:t>right</a:t>
            </a:r>
            <a:r>
              <a:rPr lang="en-US" i="1" dirty="0">
                <a:solidFill>
                  <a:srgbClr val="FF0000"/>
                </a:solidFill>
              </a:rPr>
              <a:t>(</a:t>
            </a:r>
            <a:r>
              <a:rPr lang="en-US" i="1" dirty="0">
                <a:solidFill>
                  <a:srgbClr val="FF0000"/>
                </a:solidFill>
                <a:effectLst/>
              </a:rPr>
              <a:t>5</a:t>
            </a:r>
            <a:r>
              <a:rPr lang="en-US" i="1" dirty="0">
                <a:solidFill>
                  <a:srgbClr val="FF0000"/>
                </a:solidFill>
              </a:rPr>
              <a:t>, </a:t>
            </a:r>
            <a:r>
              <a:rPr lang="en-US" i="1" dirty="0">
                <a:solidFill>
                  <a:srgbClr val="FF0000"/>
                </a:solidFill>
                <a:effectLst/>
              </a:rPr>
              <a:t>20.5</a:t>
            </a:r>
            <a:r>
              <a:rPr lang="en-US" i="1" dirty="0">
                <a:solidFill>
                  <a:srgbClr val="FF0000"/>
                </a:solidFill>
              </a:rPr>
              <a:t>); </a:t>
            </a:r>
          </a:p>
          <a:p>
            <a:r>
              <a:rPr lang="en-US" dirty="0"/>
              <a:t>To assign the value of right to left, we call the member function operator= through the left object, and pass it the right object as parameter: </a:t>
            </a:r>
          </a:p>
          <a:p>
            <a:pPr lvl="1"/>
            <a:r>
              <a:rPr lang="en-US" i="1" dirty="0" err="1">
                <a:solidFill>
                  <a:srgbClr val="FF0000"/>
                </a:solidFill>
              </a:rPr>
              <a:t>left.</a:t>
            </a:r>
            <a:r>
              <a:rPr lang="en-US" b="1" i="1" dirty="0" err="1">
                <a:solidFill>
                  <a:srgbClr val="FF0000"/>
                </a:solidFill>
                <a:effectLst/>
              </a:rPr>
              <a:t>operator</a:t>
            </a:r>
            <a:r>
              <a:rPr lang="en-US" i="1" dirty="0">
                <a:solidFill>
                  <a:srgbClr val="FF0000"/>
                </a:solidFill>
              </a:rPr>
              <a:t>=(right); </a:t>
            </a:r>
          </a:p>
          <a:p>
            <a:r>
              <a:rPr lang="en-US" dirty="0"/>
              <a:t>While you can call operator functions this way, the compiler will also let you use the more conventional notation</a:t>
            </a:r>
          </a:p>
          <a:p>
            <a:pPr lvl="1"/>
            <a:r>
              <a:rPr lang="en-US" i="1" dirty="0">
                <a:solidFill>
                  <a:srgbClr val="FF0000"/>
                </a:solidFill>
              </a:rPr>
              <a:t>left = right; </a:t>
            </a:r>
          </a:p>
        </p:txBody>
      </p:sp>
    </p:spTree>
    <p:extLst>
      <p:ext uri="{BB962C8B-B14F-4D97-AF65-F5344CB8AC3E}">
        <p14:creationId xmlns:p14="http://schemas.microsoft.com/office/powerpoint/2010/main" val="1233274853"/>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FAF5B3-2E83-F69E-1BB3-027FA61A5C6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C8AA4F1-A2F3-D220-91E8-EC2D06C205D1}"/>
              </a:ext>
            </a:extLst>
          </p:cNvPr>
          <p:cNvSpPr>
            <a:spLocks noGrp="1"/>
          </p:cNvSpPr>
          <p:nvPr>
            <p:ph type="title"/>
          </p:nvPr>
        </p:nvSpPr>
        <p:spPr/>
        <p:txBody>
          <a:bodyPr/>
          <a:lstStyle/>
          <a:p>
            <a:r>
              <a:rPr lang="en-US" dirty="0"/>
              <a:t>Operator Overloading</a:t>
            </a:r>
          </a:p>
        </p:txBody>
      </p:sp>
      <p:sp>
        <p:nvSpPr>
          <p:cNvPr id="3" name="Content Placeholder 2">
            <a:extLst>
              <a:ext uri="{FF2B5EF4-FFF2-40B4-BE49-F238E27FC236}">
                <a16:creationId xmlns:a16="http://schemas.microsoft.com/office/drawing/2014/main" id="{6C0FC40E-0E24-69A3-E086-569D06C14A0E}"/>
              </a:ext>
            </a:extLst>
          </p:cNvPr>
          <p:cNvSpPr>
            <a:spLocks noGrp="1"/>
          </p:cNvSpPr>
          <p:nvPr>
            <p:ph idx="1"/>
          </p:nvPr>
        </p:nvSpPr>
        <p:spPr/>
        <p:txBody>
          <a:bodyPr>
            <a:normAutofit/>
          </a:bodyPr>
          <a:lstStyle/>
          <a:p>
            <a:r>
              <a:rPr lang="en-US" dirty="0"/>
              <a:t>Parameters to operator functions do not have to be passed by reference, nor do they have to be declared const. </a:t>
            </a:r>
          </a:p>
          <a:p>
            <a:r>
              <a:rPr lang="en-US" dirty="0"/>
              <a:t>In the example, we have used a reference parameter for efficiency reasons: 	</a:t>
            </a:r>
          </a:p>
          <a:p>
            <a:pPr lvl="1"/>
            <a:r>
              <a:rPr lang="en-US" dirty="0"/>
              <a:t>Reference parameters avoid the overhead of copying the object being passed as parameter. </a:t>
            </a:r>
          </a:p>
          <a:p>
            <a:pPr lvl="1"/>
            <a:r>
              <a:rPr lang="en-US" dirty="0"/>
              <a:t>The const is used to protect the parameter from change.</a:t>
            </a:r>
            <a:endParaRPr lang="en-US" i="1" dirty="0">
              <a:solidFill>
                <a:srgbClr val="FF0000"/>
              </a:solidFill>
            </a:endParaRPr>
          </a:p>
        </p:txBody>
      </p:sp>
    </p:spTree>
    <p:extLst>
      <p:ext uri="{BB962C8B-B14F-4D97-AF65-F5344CB8AC3E}">
        <p14:creationId xmlns:p14="http://schemas.microsoft.com/office/powerpoint/2010/main" val="1995017198"/>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8DB648-E0A1-6C78-9F05-2E8257CFB874}"/>
              </a:ext>
            </a:extLst>
          </p:cNvPr>
          <p:cNvSpPr>
            <a:spLocks noGrp="1"/>
          </p:cNvSpPr>
          <p:nvPr>
            <p:ph type="title"/>
          </p:nvPr>
        </p:nvSpPr>
        <p:spPr/>
        <p:txBody>
          <a:bodyPr/>
          <a:lstStyle/>
          <a:p>
            <a:r>
              <a:rPr lang="en-US" dirty="0"/>
              <a:t>Implementation of the Class Assignment Operator</a:t>
            </a:r>
          </a:p>
        </p:txBody>
      </p:sp>
      <p:sp>
        <p:nvSpPr>
          <p:cNvPr id="3" name="Content Placeholder 2">
            <a:extLst>
              <a:ext uri="{FF2B5EF4-FFF2-40B4-BE49-F238E27FC236}">
                <a16:creationId xmlns:a16="http://schemas.microsoft.com/office/drawing/2014/main" id="{78698B4E-39F1-3991-977A-9872329064FC}"/>
              </a:ext>
            </a:extLst>
          </p:cNvPr>
          <p:cNvSpPr>
            <a:spLocks noGrp="1"/>
          </p:cNvSpPr>
          <p:nvPr>
            <p:ph idx="1"/>
          </p:nvPr>
        </p:nvSpPr>
        <p:spPr/>
        <p:txBody>
          <a:bodyPr/>
          <a:lstStyle/>
          <a:p>
            <a:r>
              <a:rPr lang="en-US" dirty="0"/>
              <a:t>Let us now consider the implementation of assignment operator. First notice that there is no need to do any copying if a statement such as </a:t>
            </a:r>
            <a:r>
              <a:rPr lang="en-US" i="1" dirty="0">
                <a:solidFill>
                  <a:srgbClr val="FF0000"/>
                </a:solidFill>
              </a:rPr>
              <a:t>x = x; </a:t>
            </a:r>
          </a:p>
          <a:p>
            <a:r>
              <a:rPr lang="en-US" dirty="0"/>
              <a:t>It is resulting in an object being assigned to itself.</a:t>
            </a:r>
          </a:p>
          <a:p>
            <a:r>
              <a:rPr lang="en-US" dirty="0"/>
              <a:t>We can test for this possibility by checking that the address this of the object on the left side of the assignment is different from the address of the object on the right side like this:</a:t>
            </a:r>
          </a:p>
          <a:p>
            <a:pPr lvl="1"/>
            <a:r>
              <a:rPr lang="en-US" b="1" i="1" dirty="0">
                <a:solidFill>
                  <a:srgbClr val="FF0000"/>
                </a:solidFill>
                <a:effectLst/>
              </a:rPr>
              <a:t>if</a:t>
            </a:r>
            <a:r>
              <a:rPr lang="en-US" i="1" dirty="0">
                <a:solidFill>
                  <a:srgbClr val="FF0000"/>
                </a:solidFill>
              </a:rPr>
              <a:t>(</a:t>
            </a:r>
            <a:r>
              <a:rPr lang="en-US" b="1" i="1" dirty="0">
                <a:solidFill>
                  <a:srgbClr val="FF0000"/>
                </a:solidFill>
                <a:effectLst/>
              </a:rPr>
              <a:t>this</a:t>
            </a:r>
            <a:r>
              <a:rPr lang="en-US" i="1" dirty="0">
                <a:solidFill>
                  <a:srgbClr val="FF0000"/>
                </a:solidFill>
              </a:rPr>
              <a:t> != &amp;right) { </a:t>
            </a:r>
            <a:r>
              <a:rPr lang="en-US" i="1" dirty="0">
                <a:solidFill>
                  <a:srgbClr val="FF0000"/>
                </a:solidFill>
                <a:effectLst/>
              </a:rPr>
              <a:t>/* copy the object …*/</a:t>
            </a:r>
            <a:r>
              <a:rPr lang="en-US" i="1" dirty="0">
                <a:solidFill>
                  <a:srgbClr val="FF0000"/>
                </a:solidFill>
              </a:rPr>
              <a:t> } </a:t>
            </a:r>
          </a:p>
        </p:txBody>
      </p:sp>
    </p:spTree>
    <p:extLst>
      <p:ext uri="{BB962C8B-B14F-4D97-AF65-F5344CB8AC3E}">
        <p14:creationId xmlns:p14="http://schemas.microsoft.com/office/powerpoint/2010/main" val="4250751180"/>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191510-DD7D-9456-EFD0-294CEA04568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289A354-523D-6F4E-4C6A-5B1CB33A6AC7}"/>
              </a:ext>
            </a:extLst>
          </p:cNvPr>
          <p:cNvSpPr>
            <a:spLocks noGrp="1"/>
          </p:cNvSpPr>
          <p:nvPr>
            <p:ph type="title"/>
          </p:nvPr>
        </p:nvSpPr>
        <p:spPr/>
        <p:txBody>
          <a:bodyPr/>
          <a:lstStyle/>
          <a:p>
            <a:r>
              <a:rPr lang="en-US" dirty="0"/>
              <a:t>Implementation of the Class Assignment Operator</a:t>
            </a:r>
          </a:p>
        </p:txBody>
      </p:sp>
      <p:sp>
        <p:nvSpPr>
          <p:cNvPr id="3" name="Content Placeholder 2">
            <a:extLst>
              <a:ext uri="{FF2B5EF4-FFF2-40B4-BE49-F238E27FC236}">
                <a16:creationId xmlns:a16="http://schemas.microsoft.com/office/drawing/2014/main" id="{8C99CF75-4708-8D68-7966-7965DB02A6C0}"/>
              </a:ext>
            </a:extLst>
          </p:cNvPr>
          <p:cNvSpPr>
            <a:spLocks noGrp="1"/>
          </p:cNvSpPr>
          <p:nvPr>
            <p:ph idx="1"/>
          </p:nvPr>
        </p:nvSpPr>
        <p:spPr>
          <a:xfrm>
            <a:off x="838200" y="1825625"/>
            <a:ext cx="6036733" cy="4351338"/>
          </a:xfrm>
        </p:spPr>
        <p:txBody>
          <a:bodyPr>
            <a:normAutofit lnSpcReduction="10000"/>
          </a:bodyPr>
          <a:lstStyle/>
          <a:p>
            <a:r>
              <a:rPr lang="en-US" dirty="0"/>
              <a:t>The assignment operator function starts by deleting the memory allocated to pointers in the object being assigned to. </a:t>
            </a:r>
          </a:p>
          <a:p>
            <a:r>
              <a:rPr lang="en-US" dirty="0"/>
              <a:t>After that, it makes a copy of the other object in much the same way as the copy constructor for the class. </a:t>
            </a:r>
          </a:p>
          <a:p>
            <a:r>
              <a:rPr lang="en-US" dirty="0"/>
              <a:t>The last act of the function is to return (by reference) the object *this on the left side of the assignment.</a:t>
            </a:r>
            <a:endParaRPr lang="en-US" i="1" dirty="0">
              <a:solidFill>
                <a:srgbClr val="FF0000"/>
              </a:solidFill>
            </a:endParaRPr>
          </a:p>
        </p:txBody>
      </p:sp>
      <p:pic>
        <p:nvPicPr>
          <p:cNvPr id="4" name="Picture 3">
            <a:extLst>
              <a:ext uri="{FF2B5EF4-FFF2-40B4-BE49-F238E27FC236}">
                <a16:creationId xmlns:a16="http://schemas.microsoft.com/office/drawing/2014/main" id="{D1A9DAD8-E427-B267-8212-D1CC0FDC9A7C}"/>
              </a:ext>
            </a:extLst>
          </p:cNvPr>
          <p:cNvPicPr>
            <a:picLocks noChangeAspect="1"/>
          </p:cNvPicPr>
          <p:nvPr/>
        </p:nvPicPr>
        <p:blipFill>
          <a:blip r:embed="rId2"/>
          <a:stretch>
            <a:fillRect/>
          </a:stretch>
        </p:blipFill>
        <p:spPr>
          <a:xfrm>
            <a:off x="6955977" y="1901824"/>
            <a:ext cx="4973555" cy="3933825"/>
          </a:xfrm>
          <a:prstGeom prst="rect">
            <a:avLst/>
          </a:prstGeom>
        </p:spPr>
      </p:pic>
    </p:spTree>
    <p:extLst>
      <p:ext uri="{BB962C8B-B14F-4D97-AF65-F5344CB8AC3E}">
        <p14:creationId xmlns:p14="http://schemas.microsoft.com/office/powerpoint/2010/main" val="1061681449"/>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3A4722-0552-4231-1242-55C0914CB228}"/>
              </a:ext>
            </a:extLst>
          </p:cNvPr>
          <p:cNvSpPr>
            <a:spLocks noGrp="1"/>
          </p:cNvSpPr>
          <p:nvPr>
            <p:ph type="title"/>
          </p:nvPr>
        </p:nvSpPr>
        <p:spPr/>
        <p:txBody>
          <a:bodyPr/>
          <a:lstStyle/>
          <a:p>
            <a:r>
              <a:rPr lang="en-US" dirty="0"/>
              <a:t>Example</a:t>
            </a:r>
          </a:p>
        </p:txBody>
      </p:sp>
      <p:pic>
        <p:nvPicPr>
          <p:cNvPr id="4" name="Picture 3">
            <a:extLst>
              <a:ext uri="{FF2B5EF4-FFF2-40B4-BE49-F238E27FC236}">
                <a16:creationId xmlns:a16="http://schemas.microsoft.com/office/drawing/2014/main" id="{B8B493E4-5ADC-9392-F9C6-A513B8F62B7F}"/>
              </a:ext>
            </a:extLst>
          </p:cNvPr>
          <p:cNvPicPr>
            <a:picLocks noChangeAspect="1"/>
          </p:cNvPicPr>
          <p:nvPr/>
        </p:nvPicPr>
        <p:blipFill>
          <a:blip r:embed="rId2"/>
          <a:stretch>
            <a:fillRect/>
          </a:stretch>
        </p:blipFill>
        <p:spPr>
          <a:xfrm>
            <a:off x="0" y="1690688"/>
            <a:ext cx="3807540" cy="3736445"/>
          </a:xfrm>
          <a:prstGeom prst="rect">
            <a:avLst/>
          </a:prstGeom>
        </p:spPr>
      </p:pic>
      <p:pic>
        <p:nvPicPr>
          <p:cNvPr id="5" name="Picture 4">
            <a:extLst>
              <a:ext uri="{FF2B5EF4-FFF2-40B4-BE49-F238E27FC236}">
                <a16:creationId xmlns:a16="http://schemas.microsoft.com/office/drawing/2014/main" id="{050E5E12-6EA1-A284-355C-6578A0F1E267}"/>
              </a:ext>
            </a:extLst>
          </p:cNvPr>
          <p:cNvPicPr>
            <a:picLocks noChangeAspect="1"/>
          </p:cNvPicPr>
          <p:nvPr/>
        </p:nvPicPr>
        <p:blipFill>
          <a:blip r:embed="rId3"/>
          <a:stretch>
            <a:fillRect/>
          </a:stretch>
        </p:blipFill>
        <p:spPr>
          <a:xfrm>
            <a:off x="3939616" y="0"/>
            <a:ext cx="3940233" cy="6858000"/>
          </a:xfrm>
          <a:prstGeom prst="rect">
            <a:avLst/>
          </a:prstGeom>
        </p:spPr>
      </p:pic>
      <p:pic>
        <p:nvPicPr>
          <p:cNvPr id="6" name="Picture 5">
            <a:extLst>
              <a:ext uri="{FF2B5EF4-FFF2-40B4-BE49-F238E27FC236}">
                <a16:creationId xmlns:a16="http://schemas.microsoft.com/office/drawing/2014/main" id="{C7B26546-E6F2-C63B-2E45-8D0CC6C5B339}"/>
              </a:ext>
            </a:extLst>
          </p:cNvPr>
          <p:cNvPicPr>
            <a:picLocks noChangeAspect="1"/>
          </p:cNvPicPr>
          <p:nvPr/>
        </p:nvPicPr>
        <p:blipFill>
          <a:blip r:embed="rId4"/>
          <a:stretch>
            <a:fillRect/>
          </a:stretch>
        </p:blipFill>
        <p:spPr>
          <a:xfrm>
            <a:off x="8039100" y="812800"/>
            <a:ext cx="4152900" cy="5537200"/>
          </a:xfrm>
          <a:prstGeom prst="rect">
            <a:avLst/>
          </a:prstGeom>
        </p:spPr>
      </p:pic>
    </p:spTree>
    <p:extLst>
      <p:ext uri="{BB962C8B-B14F-4D97-AF65-F5344CB8AC3E}">
        <p14:creationId xmlns:p14="http://schemas.microsoft.com/office/powerpoint/2010/main" val="222280449"/>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761127-1A9E-D738-630B-127B20F2030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52C7316-0AC7-E9E2-11C4-5E8871BB1ACE}"/>
              </a:ext>
            </a:extLst>
          </p:cNvPr>
          <p:cNvSpPr>
            <a:spLocks noGrp="1"/>
          </p:cNvSpPr>
          <p:nvPr>
            <p:ph type="title"/>
          </p:nvPr>
        </p:nvSpPr>
        <p:spPr/>
        <p:txBody>
          <a:bodyPr/>
          <a:lstStyle/>
          <a:p>
            <a:r>
              <a:rPr lang="en-US" dirty="0"/>
              <a:t>Example</a:t>
            </a:r>
          </a:p>
        </p:txBody>
      </p:sp>
      <p:pic>
        <p:nvPicPr>
          <p:cNvPr id="3" name="Picture 2">
            <a:extLst>
              <a:ext uri="{FF2B5EF4-FFF2-40B4-BE49-F238E27FC236}">
                <a16:creationId xmlns:a16="http://schemas.microsoft.com/office/drawing/2014/main" id="{1D7DF7FB-8E35-0622-5FCB-1F6FCB96E712}"/>
              </a:ext>
            </a:extLst>
          </p:cNvPr>
          <p:cNvPicPr>
            <a:picLocks noChangeAspect="1"/>
          </p:cNvPicPr>
          <p:nvPr/>
        </p:nvPicPr>
        <p:blipFill>
          <a:blip r:embed="rId2"/>
          <a:stretch>
            <a:fillRect/>
          </a:stretch>
        </p:blipFill>
        <p:spPr>
          <a:xfrm>
            <a:off x="3314751" y="0"/>
            <a:ext cx="4495698" cy="6858000"/>
          </a:xfrm>
          <a:prstGeom prst="rect">
            <a:avLst/>
          </a:prstGeom>
        </p:spPr>
      </p:pic>
      <p:pic>
        <p:nvPicPr>
          <p:cNvPr id="7" name="Picture 6">
            <a:extLst>
              <a:ext uri="{FF2B5EF4-FFF2-40B4-BE49-F238E27FC236}">
                <a16:creationId xmlns:a16="http://schemas.microsoft.com/office/drawing/2014/main" id="{0EE59CA3-1AC5-9DAF-4F5E-97B738A452E9}"/>
              </a:ext>
            </a:extLst>
          </p:cNvPr>
          <p:cNvPicPr>
            <a:picLocks noChangeAspect="1"/>
          </p:cNvPicPr>
          <p:nvPr/>
        </p:nvPicPr>
        <p:blipFill>
          <a:blip r:embed="rId3"/>
          <a:stretch>
            <a:fillRect/>
          </a:stretch>
        </p:blipFill>
        <p:spPr>
          <a:xfrm>
            <a:off x="8134352" y="3064934"/>
            <a:ext cx="4057648" cy="1714499"/>
          </a:xfrm>
          <a:prstGeom prst="rect">
            <a:avLst/>
          </a:prstGeom>
        </p:spPr>
      </p:pic>
    </p:spTree>
    <p:extLst>
      <p:ext uri="{BB962C8B-B14F-4D97-AF65-F5344CB8AC3E}">
        <p14:creationId xmlns:p14="http://schemas.microsoft.com/office/powerpoint/2010/main" val="369454552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355</TotalTime>
  <Words>3371</Words>
  <Application>Microsoft Macintosh PowerPoint</Application>
  <PresentationFormat>Widescreen</PresentationFormat>
  <Paragraphs>233</Paragraphs>
  <Slides>53</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53</vt:i4>
      </vt:variant>
    </vt:vector>
  </HeadingPairs>
  <TitlesOfParts>
    <vt:vector size="57" baseType="lpstr">
      <vt:lpstr>Aptos</vt:lpstr>
      <vt:lpstr>Aptos Display</vt:lpstr>
      <vt:lpstr>Arial</vt:lpstr>
      <vt:lpstr>Office Theme</vt:lpstr>
      <vt:lpstr>CS 331</vt:lpstr>
      <vt:lpstr>Static Members</vt:lpstr>
      <vt:lpstr>Static Members</vt:lpstr>
      <vt:lpstr>Static Members</vt:lpstr>
      <vt:lpstr>Static Member Variables</vt:lpstr>
      <vt:lpstr>Static Member Variables</vt:lpstr>
      <vt:lpstr>Static Member Variables</vt:lpstr>
      <vt:lpstr>Example</vt:lpstr>
      <vt:lpstr>Static Member Variables</vt:lpstr>
      <vt:lpstr>Static Member Variables</vt:lpstr>
      <vt:lpstr>Static Member Functions</vt:lpstr>
      <vt:lpstr>Example</vt:lpstr>
      <vt:lpstr>Example</vt:lpstr>
      <vt:lpstr>Static member function</vt:lpstr>
      <vt:lpstr>Static member function</vt:lpstr>
      <vt:lpstr>Static Members</vt:lpstr>
      <vt:lpstr>Friends of Classes</vt:lpstr>
      <vt:lpstr>Friends of Classes</vt:lpstr>
      <vt:lpstr>Example</vt:lpstr>
      <vt:lpstr>Example (contd.)</vt:lpstr>
      <vt:lpstr>Friends of Classes</vt:lpstr>
      <vt:lpstr>Memberwise Assignment</vt:lpstr>
      <vt:lpstr>Example</vt:lpstr>
      <vt:lpstr>Memberwise Assignment</vt:lpstr>
      <vt:lpstr>Copy Constructors</vt:lpstr>
      <vt:lpstr>Copy Constructors</vt:lpstr>
      <vt:lpstr>Copy Constructors</vt:lpstr>
      <vt:lpstr>The Default Copy Constructor</vt:lpstr>
      <vt:lpstr>Example</vt:lpstr>
      <vt:lpstr>Deficiencies of Default Copy Constructors</vt:lpstr>
      <vt:lpstr>Deficiencies of Default Copy Constructors</vt:lpstr>
      <vt:lpstr>Why is that?</vt:lpstr>
      <vt:lpstr>Programmer-Defined Copy Constructors</vt:lpstr>
      <vt:lpstr>Programmer-Defined Copy Constructors</vt:lpstr>
      <vt:lpstr>Programmer-Defined Copy Constructors</vt:lpstr>
      <vt:lpstr>Invocation of Copy Constructors</vt:lpstr>
      <vt:lpstr>Invocation of Copy Constructors</vt:lpstr>
      <vt:lpstr>Invocation of Copy Constructors</vt:lpstr>
      <vt:lpstr>Invocation of Copy Constructors</vt:lpstr>
      <vt:lpstr>Operator Overloading</vt:lpstr>
      <vt:lpstr>Operator Overloading</vt:lpstr>
      <vt:lpstr>Operator Overloading</vt:lpstr>
      <vt:lpstr>Operator Overloading</vt:lpstr>
      <vt:lpstr>Operator Overloading</vt:lpstr>
      <vt:lpstr>Operator Overloading</vt:lpstr>
      <vt:lpstr>Operator Overloading</vt:lpstr>
      <vt:lpstr>Operator Overloading</vt:lpstr>
      <vt:lpstr>Operator Overloading</vt:lpstr>
      <vt:lpstr>Operator Overloading</vt:lpstr>
      <vt:lpstr>Implementation of the Class Assignment Operator</vt:lpstr>
      <vt:lpstr>Implementation of the Class Assignment Operator</vt:lpstr>
      <vt:lpstr>Example</vt:lpstr>
      <vt:lpstr>Example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MD Romael Haque</dc:creator>
  <cp:lastModifiedBy>MD Romael Haque</cp:lastModifiedBy>
  <cp:revision>9</cp:revision>
  <dcterms:created xsi:type="dcterms:W3CDTF">2024-10-24T09:12:51Z</dcterms:created>
  <dcterms:modified xsi:type="dcterms:W3CDTF">2024-10-31T12:08:17Z</dcterms:modified>
</cp:coreProperties>
</file>