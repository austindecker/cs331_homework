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85" r:id="rId3"/>
    <p:sldId id="286" r:id="rId4"/>
    <p:sldId id="287" r:id="rId5"/>
    <p:sldId id="288" r:id="rId6"/>
    <p:sldId id="289" r:id="rId7"/>
    <p:sldId id="290" r:id="rId8"/>
    <p:sldId id="291" r:id="rId9"/>
    <p:sldId id="292" r:id="rId10"/>
    <p:sldId id="293" r:id="rId11"/>
    <p:sldId id="294" r:id="rId12"/>
    <p:sldId id="295" r:id="rId13"/>
    <p:sldId id="296" r:id="rId14"/>
    <p:sldId id="297" r:id="rId15"/>
    <p:sldId id="298" r:id="rId16"/>
    <p:sldId id="299" r:id="rId17"/>
    <p:sldId id="300" r:id="rId18"/>
    <p:sldId id="301" r:id="rId19"/>
    <p:sldId id="302" r:id="rId20"/>
    <p:sldId id="303" r:id="rId21"/>
    <p:sldId id="304" r:id="rId22"/>
    <p:sldId id="305" r:id="rId23"/>
    <p:sldId id="306" r:id="rId24"/>
    <p:sldId id="307" r:id="rId25"/>
    <p:sldId id="308" r:id="rId26"/>
    <p:sldId id="309" r:id="rId27"/>
    <p:sldId id="311" r:id="rId28"/>
    <p:sldId id="312" r:id="rId29"/>
    <p:sldId id="313" r:id="rId30"/>
    <p:sldId id="314" r:id="rId31"/>
    <p:sldId id="315" r:id="rId32"/>
    <p:sldId id="316" r:id="rId33"/>
    <p:sldId id="317" r:id="rId34"/>
    <p:sldId id="318" r:id="rId35"/>
    <p:sldId id="319" r:id="rId36"/>
    <p:sldId id="320" r:id="rId37"/>
    <p:sldId id="321" r:id="rId38"/>
    <p:sldId id="330" r:id="rId39"/>
    <p:sldId id="322" r:id="rId40"/>
    <p:sldId id="323" r:id="rId41"/>
    <p:sldId id="324" r:id="rId42"/>
    <p:sldId id="325" r:id="rId43"/>
    <p:sldId id="326" r:id="rId44"/>
    <p:sldId id="327" r:id="rId45"/>
    <p:sldId id="328" r:id="rId46"/>
    <p:sldId id="329"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4527"/>
    <p:restoredTop sz="94733"/>
  </p:normalViewPr>
  <p:slideViewPr>
    <p:cSldViewPr snapToGrid="0">
      <p:cViewPr varScale="1">
        <p:scale>
          <a:sx n="148" d="100"/>
          <a:sy n="148" d="100"/>
        </p:scale>
        <p:origin x="216" y="142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56C011-2B12-A349-B423-75820124C188}" type="datetimeFigureOut">
              <a:rPr lang="en-US" smtClean="0"/>
              <a:t>10/29/24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3771B0-8F24-4B48-82A1-68205750A15E}" type="slidenum">
              <a:rPr lang="en-US" smtClean="0"/>
              <a:t>‹#›</a:t>
            </a:fld>
            <a:endParaRPr lang="en-US"/>
          </a:p>
        </p:txBody>
      </p:sp>
    </p:spTree>
    <p:extLst>
      <p:ext uri="{BB962C8B-B14F-4D97-AF65-F5344CB8AC3E}">
        <p14:creationId xmlns:p14="http://schemas.microsoft.com/office/powerpoint/2010/main" val="2642707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10</a:t>
            </a:fld>
            <a:endParaRPr lang="en-US"/>
          </a:p>
        </p:txBody>
      </p:sp>
    </p:spTree>
    <p:extLst>
      <p:ext uri="{BB962C8B-B14F-4D97-AF65-F5344CB8AC3E}">
        <p14:creationId xmlns:p14="http://schemas.microsoft.com/office/powerpoint/2010/main" val="4555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4AB8-ACBD-3940-CB19-65D379865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B15A4-0DF6-BFC3-9F2E-EF21C93AC5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7D4C56-E7FF-EBF9-489B-759B19EE1B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6F99B3-AE81-0CBB-4D8B-3754E9B365C5}"/>
              </a:ext>
            </a:extLst>
          </p:cNvPr>
          <p:cNvSpPr>
            <a:spLocks noGrp="1"/>
          </p:cNvSpPr>
          <p:nvPr>
            <p:ph type="sldNum" sz="quarter" idx="5"/>
          </p:nvPr>
        </p:nvSpPr>
        <p:spPr/>
        <p:txBody>
          <a:bodyPr/>
          <a:lstStyle/>
          <a:p>
            <a:fld id="{703771B0-8F24-4B48-82A1-68205750A15E}" type="slidenum">
              <a:rPr lang="en-US" smtClean="0"/>
              <a:t>11</a:t>
            </a:fld>
            <a:endParaRPr lang="en-US"/>
          </a:p>
        </p:txBody>
      </p:sp>
    </p:spTree>
    <p:extLst>
      <p:ext uri="{BB962C8B-B14F-4D97-AF65-F5344CB8AC3E}">
        <p14:creationId xmlns:p14="http://schemas.microsoft.com/office/powerpoint/2010/main" val="2511593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22</a:t>
            </a:fld>
            <a:endParaRPr lang="en-US"/>
          </a:p>
        </p:txBody>
      </p:sp>
    </p:spTree>
    <p:extLst>
      <p:ext uri="{BB962C8B-B14F-4D97-AF65-F5344CB8AC3E}">
        <p14:creationId xmlns:p14="http://schemas.microsoft.com/office/powerpoint/2010/main" val="1404211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67497-2233-5CF0-D049-3FFE529D28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94D115-F585-35D3-86C8-CE06BA1A1B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996EB9-ED37-4522-F71D-A51F84C88D9A}"/>
              </a:ext>
            </a:extLst>
          </p:cNvPr>
          <p:cNvSpPr>
            <a:spLocks noGrp="1"/>
          </p:cNvSpPr>
          <p:nvPr>
            <p:ph type="dt" sz="half" idx="10"/>
          </p:nvPr>
        </p:nvSpPr>
        <p:spPr/>
        <p:txBody>
          <a:bodyPr/>
          <a:lstStyle/>
          <a:p>
            <a:fld id="{AB0FC227-1C15-4A43-BEB2-13798C94F5EF}" type="datetimeFigureOut">
              <a:rPr lang="en-US" smtClean="0"/>
              <a:t>10/29/24</a:t>
            </a:fld>
            <a:endParaRPr lang="en-US"/>
          </a:p>
        </p:txBody>
      </p:sp>
      <p:sp>
        <p:nvSpPr>
          <p:cNvPr id="5" name="Footer Placeholder 4">
            <a:extLst>
              <a:ext uri="{FF2B5EF4-FFF2-40B4-BE49-F238E27FC236}">
                <a16:creationId xmlns:a16="http://schemas.microsoft.com/office/drawing/2014/main" id="{668D73EB-6B6D-514E-46B4-AC8E2A7ED1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70961-F70B-DCDF-5938-603A6023FACF}"/>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187009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DA4DE-2D31-0C7A-A721-701831C83E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ED0C0D-979C-4AB8-6686-C9351CC22C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6C67E4-650A-56FF-41C3-1B46C3CB540F}"/>
              </a:ext>
            </a:extLst>
          </p:cNvPr>
          <p:cNvSpPr>
            <a:spLocks noGrp="1"/>
          </p:cNvSpPr>
          <p:nvPr>
            <p:ph type="dt" sz="half" idx="10"/>
          </p:nvPr>
        </p:nvSpPr>
        <p:spPr/>
        <p:txBody>
          <a:bodyPr/>
          <a:lstStyle/>
          <a:p>
            <a:fld id="{AB0FC227-1C15-4A43-BEB2-13798C94F5EF}" type="datetimeFigureOut">
              <a:rPr lang="en-US" smtClean="0"/>
              <a:t>10/29/24</a:t>
            </a:fld>
            <a:endParaRPr lang="en-US"/>
          </a:p>
        </p:txBody>
      </p:sp>
      <p:sp>
        <p:nvSpPr>
          <p:cNvPr id="5" name="Footer Placeholder 4">
            <a:extLst>
              <a:ext uri="{FF2B5EF4-FFF2-40B4-BE49-F238E27FC236}">
                <a16:creationId xmlns:a16="http://schemas.microsoft.com/office/drawing/2014/main" id="{C271C418-59A5-361F-42A4-E3195CC565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858B9A-FAF1-FAEB-3795-06FB6CD79B36}"/>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869738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259E4-332F-B0C5-9ADD-446A2A66BC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2DC95D-4EE4-FE1E-E538-C9EF981D31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B25E69-010B-BEE4-B7A9-B36D23D612C9}"/>
              </a:ext>
            </a:extLst>
          </p:cNvPr>
          <p:cNvSpPr>
            <a:spLocks noGrp="1"/>
          </p:cNvSpPr>
          <p:nvPr>
            <p:ph type="dt" sz="half" idx="10"/>
          </p:nvPr>
        </p:nvSpPr>
        <p:spPr/>
        <p:txBody>
          <a:bodyPr/>
          <a:lstStyle/>
          <a:p>
            <a:fld id="{AB0FC227-1C15-4A43-BEB2-13798C94F5EF}" type="datetimeFigureOut">
              <a:rPr lang="en-US" smtClean="0"/>
              <a:t>10/29/24</a:t>
            </a:fld>
            <a:endParaRPr lang="en-US"/>
          </a:p>
        </p:txBody>
      </p:sp>
      <p:sp>
        <p:nvSpPr>
          <p:cNvPr id="5" name="Footer Placeholder 4">
            <a:extLst>
              <a:ext uri="{FF2B5EF4-FFF2-40B4-BE49-F238E27FC236}">
                <a16:creationId xmlns:a16="http://schemas.microsoft.com/office/drawing/2014/main" id="{F70576AA-DCF5-179A-5EF8-DB0C5D62AA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6DF326-798F-9EBB-37FC-6826A11179D6}"/>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927158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74D5F-9258-DF13-DCEF-218C81B182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FA7483-54CF-CB1C-6F5C-CF86CA1B94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BF5A2F-DF1A-A79D-BC75-8F70F087C3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468058-E579-F920-BD66-6AF61C39332C}"/>
              </a:ext>
            </a:extLst>
          </p:cNvPr>
          <p:cNvSpPr>
            <a:spLocks noGrp="1"/>
          </p:cNvSpPr>
          <p:nvPr>
            <p:ph type="dt" sz="half" idx="10"/>
          </p:nvPr>
        </p:nvSpPr>
        <p:spPr/>
        <p:txBody>
          <a:bodyPr/>
          <a:lstStyle/>
          <a:p>
            <a:fld id="{AB0FC227-1C15-4A43-BEB2-13798C94F5EF}" type="datetimeFigureOut">
              <a:rPr lang="en-US" smtClean="0"/>
              <a:t>10/29/24</a:t>
            </a:fld>
            <a:endParaRPr lang="en-US"/>
          </a:p>
        </p:txBody>
      </p:sp>
      <p:sp>
        <p:nvSpPr>
          <p:cNvPr id="6" name="Footer Placeholder 5">
            <a:extLst>
              <a:ext uri="{FF2B5EF4-FFF2-40B4-BE49-F238E27FC236}">
                <a16:creationId xmlns:a16="http://schemas.microsoft.com/office/drawing/2014/main" id="{2422F2A9-A4C6-0C5C-6645-32929077A3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3FC57C-92E4-F87D-E113-E8026EC4261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59076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788BF-5473-99A1-0999-2A058B6D0C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D4B2D7-B13D-4E6A-A7CB-45FE4391BA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4FE831-2105-FC35-6CBC-C1A8A437B2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50A41-473F-AB64-B608-38AC9065D3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AFA31D-95BF-E042-532F-63CF23591F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A18247-8390-2DAA-D575-263969C46CFF}"/>
              </a:ext>
            </a:extLst>
          </p:cNvPr>
          <p:cNvSpPr>
            <a:spLocks noGrp="1"/>
          </p:cNvSpPr>
          <p:nvPr>
            <p:ph type="dt" sz="half" idx="10"/>
          </p:nvPr>
        </p:nvSpPr>
        <p:spPr/>
        <p:txBody>
          <a:bodyPr/>
          <a:lstStyle/>
          <a:p>
            <a:fld id="{AB0FC227-1C15-4A43-BEB2-13798C94F5EF}" type="datetimeFigureOut">
              <a:rPr lang="en-US" smtClean="0"/>
              <a:t>10/29/24</a:t>
            </a:fld>
            <a:endParaRPr lang="en-US"/>
          </a:p>
        </p:txBody>
      </p:sp>
      <p:sp>
        <p:nvSpPr>
          <p:cNvPr id="8" name="Footer Placeholder 7">
            <a:extLst>
              <a:ext uri="{FF2B5EF4-FFF2-40B4-BE49-F238E27FC236}">
                <a16:creationId xmlns:a16="http://schemas.microsoft.com/office/drawing/2014/main" id="{7BA1577C-D833-D373-A105-6149F46EAA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1DA587-16E4-3EC3-9080-0DEDCC317F0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506450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1D489-8375-52EB-A2BC-C499B78945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245771-1C57-1C89-9263-F224DDBEEA95}"/>
              </a:ext>
            </a:extLst>
          </p:cNvPr>
          <p:cNvSpPr>
            <a:spLocks noGrp="1"/>
          </p:cNvSpPr>
          <p:nvPr>
            <p:ph type="dt" sz="half" idx="10"/>
          </p:nvPr>
        </p:nvSpPr>
        <p:spPr/>
        <p:txBody>
          <a:bodyPr/>
          <a:lstStyle/>
          <a:p>
            <a:fld id="{AB0FC227-1C15-4A43-BEB2-13798C94F5EF}" type="datetimeFigureOut">
              <a:rPr lang="en-US" smtClean="0"/>
              <a:t>10/29/24</a:t>
            </a:fld>
            <a:endParaRPr lang="en-US"/>
          </a:p>
        </p:txBody>
      </p:sp>
      <p:sp>
        <p:nvSpPr>
          <p:cNvPr id="4" name="Footer Placeholder 3">
            <a:extLst>
              <a:ext uri="{FF2B5EF4-FFF2-40B4-BE49-F238E27FC236}">
                <a16:creationId xmlns:a16="http://schemas.microsoft.com/office/drawing/2014/main" id="{1D65A188-9973-35EB-9077-12DDBED8D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3F0DC9-B6C9-3145-FC44-19D0EB210BE7}"/>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1476119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673EAA-7F14-9166-7C72-F01F84FEFCEF}"/>
              </a:ext>
            </a:extLst>
          </p:cNvPr>
          <p:cNvSpPr>
            <a:spLocks noGrp="1"/>
          </p:cNvSpPr>
          <p:nvPr>
            <p:ph type="dt" sz="half" idx="10"/>
          </p:nvPr>
        </p:nvSpPr>
        <p:spPr/>
        <p:txBody>
          <a:bodyPr/>
          <a:lstStyle/>
          <a:p>
            <a:fld id="{AB0FC227-1C15-4A43-BEB2-13798C94F5EF}" type="datetimeFigureOut">
              <a:rPr lang="en-US" smtClean="0"/>
              <a:t>10/29/24</a:t>
            </a:fld>
            <a:endParaRPr lang="en-US"/>
          </a:p>
        </p:txBody>
      </p:sp>
      <p:sp>
        <p:nvSpPr>
          <p:cNvPr id="3" name="Footer Placeholder 2">
            <a:extLst>
              <a:ext uri="{FF2B5EF4-FFF2-40B4-BE49-F238E27FC236}">
                <a16:creationId xmlns:a16="http://schemas.microsoft.com/office/drawing/2014/main" id="{030751A4-47E3-CDB6-8894-9AF86C7E79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5A304F-1503-1D29-5814-B8DECC3764BA}"/>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4101643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9920A-6A00-5561-7691-62B039253F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EB7932-359D-59CA-2D49-88EA741FF8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0CEEBE-F16C-AA7F-04CD-DDE66660C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22EFDA-8312-C3FD-A13A-9D9C5938515B}"/>
              </a:ext>
            </a:extLst>
          </p:cNvPr>
          <p:cNvSpPr>
            <a:spLocks noGrp="1"/>
          </p:cNvSpPr>
          <p:nvPr>
            <p:ph type="dt" sz="half" idx="10"/>
          </p:nvPr>
        </p:nvSpPr>
        <p:spPr/>
        <p:txBody>
          <a:bodyPr/>
          <a:lstStyle/>
          <a:p>
            <a:fld id="{AB0FC227-1C15-4A43-BEB2-13798C94F5EF}" type="datetimeFigureOut">
              <a:rPr lang="en-US" smtClean="0"/>
              <a:t>10/29/24</a:t>
            </a:fld>
            <a:endParaRPr lang="en-US"/>
          </a:p>
        </p:txBody>
      </p:sp>
      <p:sp>
        <p:nvSpPr>
          <p:cNvPr id="6" name="Footer Placeholder 5">
            <a:extLst>
              <a:ext uri="{FF2B5EF4-FFF2-40B4-BE49-F238E27FC236}">
                <a16:creationId xmlns:a16="http://schemas.microsoft.com/office/drawing/2014/main" id="{2F7E43B2-AA34-EC21-F0C0-603309F721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0F55F5-7423-0242-5A2F-09B40472387D}"/>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894448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9EE61-E3C2-EA97-A111-262A8FDBD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872FFB-1CB2-ABC5-4969-9FAFA70423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F19B23-2D62-B991-5FB7-A1DD3A621F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2CBC6B-C59D-6BDA-29D9-5FAC341F8588}"/>
              </a:ext>
            </a:extLst>
          </p:cNvPr>
          <p:cNvSpPr>
            <a:spLocks noGrp="1"/>
          </p:cNvSpPr>
          <p:nvPr>
            <p:ph type="dt" sz="half" idx="10"/>
          </p:nvPr>
        </p:nvSpPr>
        <p:spPr/>
        <p:txBody>
          <a:bodyPr/>
          <a:lstStyle/>
          <a:p>
            <a:fld id="{AB0FC227-1C15-4A43-BEB2-13798C94F5EF}" type="datetimeFigureOut">
              <a:rPr lang="en-US" smtClean="0"/>
              <a:t>10/29/24</a:t>
            </a:fld>
            <a:endParaRPr lang="en-US"/>
          </a:p>
        </p:txBody>
      </p:sp>
      <p:sp>
        <p:nvSpPr>
          <p:cNvPr id="6" name="Footer Placeholder 5">
            <a:extLst>
              <a:ext uri="{FF2B5EF4-FFF2-40B4-BE49-F238E27FC236}">
                <a16:creationId xmlns:a16="http://schemas.microsoft.com/office/drawing/2014/main" id="{D8F245B9-8BDF-B1B5-8CE5-B3AC592FA5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DCD5E7-9497-5282-8256-9591208A113C}"/>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9860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4E768-A793-6624-FED1-9F422AEFDC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72B71F-51DC-3C01-BEB7-1AB58B161C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C81B14-3A7D-295C-274D-4E49DDF4206B}"/>
              </a:ext>
            </a:extLst>
          </p:cNvPr>
          <p:cNvSpPr>
            <a:spLocks noGrp="1"/>
          </p:cNvSpPr>
          <p:nvPr>
            <p:ph type="dt" sz="half" idx="10"/>
          </p:nvPr>
        </p:nvSpPr>
        <p:spPr/>
        <p:txBody>
          <a:bodyPr/>
          <a:lstStyle/>
          <a:p>
            <a:fld id="{AB0FC227-1C15-4A43-BEB2-13798C94F5EF}" type="datetimeFigureOut">
              <a:rPr lang="en-US" smtClean="0"/>
              <a:t>10/29/24</a:t>
            </a:fld>
            <a:endParaRPr lang="en-US"/>
          </a:p>
        </p:txBody>
      </p:sp>
      <p:sp>
        <p:nvSpPr>
          <p:cNvPr id="5" name="Footer Placeholder 4">
            <a:extLst>
              <a:ext uri="{FF2B5EF4-FFF2-40B4-BE49-F238E27FC236}">
                <a16:creationId xmlns:a16="http://schemas.microsoft.com/office/drawing/2014/main" id="{C9E405A0-2609-8DB4-3682-FE6423E70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21D1E-0B56-2D31-63FA-16ECCC4E5521}"/>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504371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47ADB8-4CAC-F675-02CB-5F65CFA10C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FA8541-0C6C-AA22-D374-80870AF150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811942-24E3-70CB-5920-73AC5FD9C4E7}"/>
              </a:ext>
            </a:extLst>
          </p:cNvPr>
          <p:cNvSpPr>
            <a:spLocks noGrp="1"/>
          </p:cNvSpPr>
          <p:nvPr>
            <p:ph type="dt" sz="half" idx="10"/>
          </p:nvPr>
        </p:nvSpPr>
        <p:spPr/>
        <p:txBody>
          <a:bodyPr/>
          <a:lstStyle/>
          <a:p>
            <a:fld id="{AB0FC227-1C15-4A43-BEB2-13798C94F5EF}" type="datetimeFigureOut">
              <a:rPr lang="en-US" smtClean="0"/>
              <a:t>10/29/24</a:t>
            </a:fld>
            <a:endParaRPr lang="en-US"/>
          </a:p>
        </p:txBody>
      </p:sp>
      <p:sp>
        <p:nvSpPr>
          <p:cNvPr id="5" name="Footer Placeholder 4">
            <a:extLst>
              <a:ext uri="{FF2B5EF4-FFF2-40B4-BE49-F238E27FC236}">
                <a16:creationId xmlns:a16="http://schemas.microsoft.com/office/drawing/2014/main" id="{41D0E9CF-C281-ED40-0225-DFAEFE0D9D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D0D6DC-533F-C171-BD27-F6902641CA2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1598449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894179-025D-BD23-9799-BAE5EF15BA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62D5CB-8C7A-30FD-22E2-AFEABE0A71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F3CC61-648A-B2B0-A5D7-454AF72170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0FC227-1C15-4A43-BEB2-13798C94F5EF}" type="datetimeFigureOut">
              <a:rPr lang="en-US" smtClean="0"/>
              <a:t>10/29/24</a:t>
            </a:fld>
            <a:endParaRPr lang="en-US"/>
          </a:p>
        </p:txBody>
      </p:sp>
      <p:sp>
        <p:nvSpPr>
          <p:cNvPr id="5" name="Footer Placeholder 4">
            <a:extLst>
              <a:ext uri="{FF2B5EF4-FFF2-40B4-BE49-F238E27FC236}">
                <a16:creationId xmlns:a16="http://schemas.microsoft.com/office/drawing/2014/main" id="{B9EB0CF4-EDD5-7B2F-27EE-13E5B7269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C55604-2777-5B4B-4679-40C254EEC8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BA0F0C-220E-F745-AF73-56D3AD921199}" type="slidenum">
              <a:rPr lang="en-US" smtClean="0"/>
              <a:t>‹#›</a:t>
            </a:fld>
            <a:endParaRPr lang="en-US"/>
          </a:p>
        </p:txBody>
      </p:sp>
    </p:spTree>
    <p:extLst>
      <p:ext uri="{BB962C8B-B14F-4D97-AF65-F5344CB8AC3E}">
        <p14:creationId xmlns:p14="http://schemas.microsoft.com/office/powerpoint/2010/main" val="1323111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e7e93b63-020b-493f-ae92-48987f068853?userPreferredType=rea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e7e93b63-020b-493f-ae92-48987f068853?userPreferredType=read"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eb4c5994-25ba-4702-9ddc-9e7aaeecce15?userPreferredType=read"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99efc711-3e4d-4c90-80fc-4d5f375b4143?userPreferredType=read"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99efc711-3e4d-4c90-80fc-4d5f375b4143?userPreferredType=read"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818e9af0-4799-476c-a368-390fc25c66cc?userPreferredType=read"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2ACEA-34DD-C4AE-91D6-A79F7CA59153}"/>
              </a:ext>
            </a:extLst>
          </p:cNvPr>
          <p:cNvSpPr>
            <a:spLocks noGrp="1"/>
          </p:cNvSpPr>
          <p:nvPr>
            <p:ph type="ctrTitle"/>
          </p:nvPr>
        </p:nvSpPr>
        <p:spPr/>
        <p:txBody>
          <a:bodyPr/>
          <a:lstStyle/>
          <a:p>
            <a:r>
              <a:rPr lang="en-US" dirty="0"/>
              <a:t>CS 331</a:t>
            </a:r>
          </a:p>
        </p:txBody>
      </p:sp>
      <p:sp>
        <p:nvSpPr>
          <p:cNvPr id="3" name="Subtitle 2">
            <a:extLst>
              <a:ext uri="{FF2B5EF4-FFF2-40B4-BE49-F238E27FC236}">
                <a16:creationId xmlns:a16="http://schemas.microsoft.com/office/drawing/2014/main" id="{64FF1D7F-4059-C104-E5D6-F9234CEE0B98}"/>
              </a:ext>
            </a:extLst>
          </p:cNvPr>
          <p:cNvSpPr>
            <a:spLocks noGrp="1"/>
          </p:cNvSpPr>
          <p:nvPr>
            <p:ph type="subTitle" idx="1"/>
          </p:nvPr>
        </p:nvSpPr>
        <p:spPr/>
        <p:txBody>
          <a:bodyPr/>
          <a:lstStyle/>
          <a:p>
            <a:r>
              <a:rPr lang="en-US" sz="3000" b="1" dirty="0"/>
              <a:t>More about Classes</a:t>
            </a:r>
          </a:p>
          <a:p>
            <a:r>
              <a:rPr lang="en-US" dirty="0"/>
              <a:t>MD Romael Haque</a:t>
            </a:r>
          </a:p>
        </p:txBody>
      </p:sp>
    </p:spTree>
    <p:extLst>
      <p:ext uri="{BB962C8B-B14F-4D97-AF65-F5344CB8AC3E}">
        <p14:creationId xmlns:p14="http://schemas.microsoft.com/office/powerpoint/2010/main" val="670017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38FC5-A7CB-68CF-5962-B8FEB331423A}"/>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30A21121-DBD9-CCA1-FF45-DCB00DBB52FE}"/>
              </a:ext>
            </a:extLst>
          </p:cNvPr>
          <p:cNvSpPr>
            <a:spLocks noGrp="1"/>
          </p:cNvSpPr>
          <p:nvPr>
            <p:ph idx="1"/>
          </p:nvPr>
        </p:nvSpPr>
        <p:spPr/>
        <p:txBody>
          <a:bodyPr>
            <a:normAutofit/>
          </a:bodyPr>
          <a:lstStyle/>
          <a:p>
            <a:r>
              <a:rPr lang="en-US" dirty="0"/>
              <a:t>An enumerated data type in C++ is a programmer-defined data type whose legal values are a set of named integer constants.</a:t>
            </a:r>
          </a:p>
          <a:p>
            <a:r>
              <a:rPr lang="en-US" dirty="0"/>
              <a:t>So far we have used data types that are built into the C++ language, such as int and double, and object types, like string, which are provided by C++ classes. </a:t>
            </a:r>
          </a:p>
          <a:p>
            <a:r>
              <a:rPr lang="en-US" dirty="0"/>
              <a:t>However, C++ also allows programmers to create their own data types. </a:t>
            </a:r>
          </a:p>
        </p:txBody>
      </p:sp>
    </p:spTree>
    <p:extLst>
      <p:ext uri="{BB962C8B-B14F-4D97-AF65-F5344CB8AC3E}">
        <p14:creationId xmlns:p14="http://schemas.microsoft.com/office/powerpoint/2010/main" val="2023775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C6895-A4CF-3211-1DD5-67A173F99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8D2E89-E94A-4F61-88D6-2842653DA702}"/>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824B329C-685F-840C-007C-354B37A92233}"/>
              </a:ext>
            </a:extLst>
          </p:cNvPr>
          <p:cNvSpPr>
            <a:spLocks noGrp="1"/>
          </p:cNvSpPr>
          <p:nvPr>
            <p:ph idx="1"/>
          </p:nvPr>
        </p:nvSpPr>
        <p:spPr/>
        <p:txBody>
          <a:bodyPr>
            <a:normAutofit/>
          </a:bodyPr>
          <a:lstStyle/>
          <a:p>
            <a:r>
              <a:rPr lang="en-US" b="1" dirty="0"/>
              <a:t>An </a:t>
            </a:r>
            <a:r>
              <a:rPr lang="en-US" b="1" dirty="0">
                <a:hlinkClick r:id="rId2">
                  <a:extLst>
                    <a:ext uri="{A12FA001-AC4F-418D-AE19-62706E023703}">
                      <ahyp:hlinkClr xmlns:ahyp="http://schemas.microsoft.com/office/drawing/2018/hyperlinkcolor" val="tx"/>
                    </a:ext>
                  </a:extLst>
                </a:hlinkClick>
              </a:rPr>
              <a:t>enumerated data type</a:t>
            </a:r>
            <a:r>
              <a:rPr lang="en-US" b="1" dirty="0"/>
              <a:t> is a programmer-defined data type whose only legal values are those associated with a set of named integer constants. </a:t>
            </a:r>
          </a:p>
          <a:p>
            <a:r>
              <a:rPr lang="en-US" dirty="0"/>
              <a:t>It is called an enumerated type because the named constants are enumerated, or listed, as part of the definition of the data type.</a:t>
            </a:r>
          </a:p>
          <a:p>
            <a:r>
              <a:rPr lang="en-US" dirty="0"/>
              <a:t>Here is an example of an enumerated-type declaration.</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Roster</a:t>
            </a:r>
            <a:r>
              <a:rPr lang="en-US" i="1" dirty="0">
                <a:solidFill>
                  <a:srgbClr val="FF0000"/>
                </a:solidFill>
              </a:rPr>
              <a:t> { Tom, Sharon, Bill, Teresa, John };</a:t>
            </a:r>
          </a:p>
          <a:p>
            <a:pPr lvl="1"/>
            <a:r>
              <a:rPr lang="en-US" dirty="0"/>
              <a:t>This creates a data type named Roster.</a:t>
            </a:r>
            <a:endParaRPr lang="en-US" i="1" dirty="0">
              <a:solidFill>
                <a:srgbClr val="FF0000"/>
              </a:solidFill>
            </a:endParaRPr>
          </a:p>
        </p:txBody>
      </p:sp>
    </p:spTree>
    <p:extLst>
      <p:ext uri="{BB962C8B-B14F-4D97-AF65-F5344CB8AC3E}">
        <p14:creationId xmlns:p14="http://schemas.microsoft.com/office/powerpoint/2010/main" val="2816695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FFF89-8F00-EC50-0F13-8F00618D49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42B69-70F1-99AB-8C39-7DC7B42F2876}"/>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5A55A50E-AFAB-FA34-566B-B48E34835451}"/>
              </a:ext>
            </a:extLst>
          </p:cNvPr>
          <p:cNvSpPr>
            <a:spLocks noGrp="1"/>
          </p:cNvSpPr>
          <p:nvPr>
            <p:ph idx="1"/>
          </p:nvPr>
        </p:nvSpPr>
        <p:spPr>
          <a:xfrm>
            <a:off x="838200" y="1825624"/>
            <a:ext cx="10515600" cy="4758055"/>
          </a:xfrm>
        </p:spPr>
        <p:txBody>
          <a:bodyPr>
            <a:normAutofit fontScale="92500" lnSpcReduction="20000"/>
          </a:bodyPr>
          <a:lstStyle/>
          <a:p>
            <a:r>
              <a:rPr lang="en-US" dirty="0"/>
              <a:t>Because the word </a:t>
            </a:r>
            <a:r>
              <a:rPr lang="en-US" dirty="0" err="1"/>
              <a:t>enum</a:t>
            </a:r>
            <a:r>
              <a:rPr lang="en-US" dirty="0"/>
              <a:t> is a C++ key word, it must be in lowercase.</a:t>
            </a:r>
          </a:p>
          <a:p>
            <a:r>
              <a:rPr lang="en-US" dirty="0"/>
              <a:t>However, notice that the data type name itself begins with a capital letter. Although this is not required, most programmers do capitalize this name. </a:t>
            </a:r>
          </a:p>
          <a:p>
            <a:r>
              <a:rPr lang="en-US" dirty="0"/>
              <a:t>The named integer constants associated with the Roster data type are called </a:t>
            </a:r>
            <a:r>
              <a:rPr lang="en-US" dirty="0">
                <a:hlinkClick r:id="rId2"/>
              </a:rPr>
              <a:t>enumerators</a:t>
            </a:r>
            <a:r>
              <a:rPr lang="en-US" dirty="0"/>
              <a:t>. </a:t>
            </a:r>
          </a:p>
          <a:p>
            <a:r>
              <a:rPr lang="en-US" dirty="0"/>
              <a:t>A variable of the Roster data type may only have one of the values associated with these enumerators. But what are their values? </a:t>
            </a:r>
          </a:p>
          <a:p>
            <a:r>
              <a:rPr lang="en-US" dirty="0"/>
              <a:t>By default, the compiler sets the first enumerator to 0, the next one to 1, and so on. </a:t>
            </a:r>
          </a:p>
          <a:p>
            <a:r>
              <a:rPr lang="en-US" dirty="0"/>
              <a:t>In our example then, the value of Tom would be 0, the value of Sharon would be 1, and so forth. The final enumerator, John, would have the value 4. Later in this section you will learn how to associate different values with these named constants if you wish.</a:t>
            </a:r>
            <a:endParaRPr lang="en-US" i="1" dirty="0">
              <a:solidFill>
                <a:srgbClr val="FF0000"/>
              </a:solidFill>
            </a:endParaRPr>
          </a:p>
        </p:txBody>
      </p:sp>
    </p:spTree>
    <p:extLst>
      <p:ext uri="{BB962C8B-B14F-4D97-AF65-F5344CB8AC3E}">
        <p14:creationId xmlns:p14="http://schemas.microsoft.com/office/powerpoint/2010/main" val="2417779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B05C4-875B-73DA-B66D-0D4D68325C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791F7-BC99-483A-E1F8-9391E94F1191}"/>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8038CBDE-C705-A626-7CE9-9121857071EE}"/>
              </a:ext>
            </a:extLst>
          </p:cNvPr>
          <p:cNvSpPr>
            <a:spLocks noGrp="1"/>
          </p:cNvSpPr>
          <p:nvPr>
            <p:ph idx="1"/>
          </p:nvPr>
        </p:nvSpPr>
        <p:spPr>
          <a:xfrm>
            <a:off x="838200" y="1825624"/>
            <a:ext cx="10515600" cy="4758055"/>
          </a:xfrm>
        </p:spPr>
        <p:txBody>
          <a:bodyPr>
            <a:normAutofit/>
          </a:bodyPr>
          <a:lstStyle/>
          <a:p>
            <a:r>
              <a:rPr lang="en-US" dirty="0"/>
              <a:t>It is important to realize that the example</a:t>
            </a:r>
            <a:r>
              <a:rPr lang="en-US" dirty="0">
                <a:solidFill>
                  <a:srgbClr val="FF0000"/>
                </a:solidFill>
              </a:rPr>
              <a:t> </a:t>
            </a:r>
            <a:r>
              <a:rPr lang="en-US" dirty="0" err="1">
                <a:solidFill>
                  <a:srgbClr val="FF0000"/>
                </a:solidFill>
              </a:rPr>
              <a:t>enum</a:t>
            </a:r>
            <a:r>
              <a:rPr lang="en-US" dirty="0">
                <a:solidFill>
                  <a:srgbClr val="FF0000"/>
                </a:solidFill>
              </a:rPr>
              <a:t> </a:t>
            </a:r>
            <a:r>
              <a:rPr lang="en-US" dirty="0"/>
              <a:t>statement does not actually create any variables. It just defines the data type. </a:t>
            </a:r>
          </a:p>
          <a:p>
            <a:r>
              <a:rPr lang="en-US" dirty="0"/>
              <a:t>It says that when we later create variables of this data type, this is what they will look like - integers whose values are limited to the integers associated with the symbolic names in the enumerated set. </a:t>
            </a:r>
          </a:p>
          <a:p>
            <a:r>
              <a:rPr lang="en-US" dirty="0"/>
              <a:t>The following statement shows how a variable of the Roster data type would be defined.</a:t>
            </a:r>
          </a:p>
          <a:p>
            <a:pPr lvl="1"/>
            <a:r>
              <a:rPr lang="en-US" i="1" dirty="0">
                <a:solidFill>
                  <a:srgbClr val="FF0000"/>
                </a:solidFill>
              </a:rPr>
              <a:t>Roster student;</a:t>
            </a:r>
          </a:p>
        </p:txBody>
      </p:sp>
    </p:spTree>
    <p:extLst>
      <p:ext uri="{BB962C8B-B14F-4D97-AF65-F5344CB8AC3E}">
        <p14:creationId xmlns:p14="http://schemas.microsoft.com/office/powerpoint/2010/main" val="4074785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C8A80-A7E3-E862-64DF-84C15F351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63CE90-80E0-F27E-1DF0-CF5728198515}"/>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5415B947-4728-BEC5-1ED6-E112C7729656}"/>
              </a:ext>
            </a:extLst>
          </p:cNvPr>
          <p:cNvSpPr>
            <a:spLocks noGrp="1"/>
          </p:cNvSpPr>
          <p:nvPr>
            <p:ph idx="1"/>
          </p:nvPr>
        </p:nvSpPr>
        <p:spPr>
          <a:xfrm>
            <a:off x="838200" y="1825624"/>
            <a:ext cx="10515600" cy="4758055"/>
          </a:xfrm>
        </p:spPr>
        <p:txBody>
          <a:bodyPr>
            <a:normAutofit/>
          </a:bodyPr>
          <a:lstStyle/>
          <a:p>
            <a:r>
              <a:rPr lang="en-US" dirty="0"/>
              <a:t>The form of this statement is like any other variable definition: first the data type name, then the variable name. </a:t>
            </a:r>
          </a:p>
          <a:p>
            <a:r>
              <a:rPr lang="en-US" dirty="0"/>
              <a:t>Notice that the data type name is </a:t>
            </a:r>
            <a:r>
              <a:rPr lang="en-US" b="1" dirty="0"/>
              <a:t>Roster, not </a:t>
            </a:r>
            <a:r>
              <a:rPr lang="en-US" b="1" dirty="0" err="1"/>
              <a:t>enum</a:t>
            </a:r>
            <a:r>
              <a:rPr lang="en-US" b="1" dirty="0"/>
              <a:t> Roster.</a:t>
            </a:r>
          </a:p>
          <a:p>
            <a:r>
              <a:rPr lang="en-US" dirty="0"/>
              <a:t>Now that the student variable has been created, it can be assigned a value, like this:</a:t>
            </a:r>
            <a:r>
              <a:rPr lang="en-US" b="1" dirty="0"/>
              <a:t> </a:t>
            </a:r>
          </a:p>
          <a:p>
            <a:pPr lvl="1"/>
            <a:r>
              <a:rPr lang="en-US" i="1" dirty="0">
                <a:solidFill>
                  <a:srgbClr val="FF0000"/>
                </a:solidFill>
              </a:rPr>
              <a:t>student = Sharon; </a:t>
            </a:r>
          </a:p>
          <a:p>
            <a:r>
              <a:rPr lang="en-US" dirty="0"/>
              <a:t>The value of the variable could then be tested like this:</a:t>
            </a:r>
            <a:r>
              <a:rPr lang="en-US" i="1" dirty="0">
                <a:solidFill>
                  <a:srgbClr val="FF0000"/>
                </a:solidFill>
              </a:rPr>
              <a:t> </a:t>
            </a:r>
          </a:p>
          <a:p>
            <a:pPr lvl="1"/>
            <a:r>
              <a:rPr lang="en-US" b="1" i="1" dirty="0">
                <a:solidFill>
                  <a:srgbClr val="FF0000"/>
                </a:solidFill>
                <a:effectLst/>
              </a:rPr>
              <a:t>if</a:t>
            </a:r>
            <a:r>
              <a:rPr lang="en-US" i="1" dirty="0">
                <a:solidFill>
                  <a:srgbClr val="FF0000"/>
                </a:solidFill>
              </a:rPr>
              <a:t> (student == Sharon) </a:t>
            </a:r>
          </a:p>
          <a:p>
            <a:r>
              <a:rPr lang="en-US" dirty="0"/>
              <a:t>Notice in these two examples that there are no quotation marks around Sharon because it is a named constant, not a string literal.</a:t>
            </a:r>
            <a:endParaRPr lang="en-US" b="1" i="1" dirty="0">
              <a:solidFill>
                <a:srgbClr val="FF0000"/>
              </a:solidFill>
            </a:endParaRPr>
          </a:p>
        </p:txBody>
      </p:sp>
    </p:spTree>
    <p:extLst>
      <p:ext uri="{BB962C8B-B14F-4D97-AF65-F5344CB8AC3E}">
        <p14:creationId xmlns:p14="http://schemas.microsoft.com/office/powerpoint/2010/main" val="29729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54F82-17D0-706D-A1B3-49CD9D940833}"/>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5EED69F2-E9AF-B2D5-D0BC-83BBF79EB79E}"/>
              </a:ext>
            </a:extLst>
          </p:cNvPr>
          <p:cNvSpPr>
            <a:spLocks noGrp="1"/>
          </p:cNvSpPr>
          <p:nvPr>
            <p:ph idx="1"/>
          </p:nvPr>
        </p:nvSpPr>
        <p:spPr/>
        <p:txBody>
          <a:bodyPr>
            <a:normAutofit lnSpcReduction="10000"/>
          </a:bodyPr>
          <a:lstStyle/>
          <a:p>
            <a:r>
              <a:rPr lang="en-US" dirty="0"/>
              <a:t>Even though the values in an enumerated data type are actually stored as integers, you cannot always substitute the integer value for the symbolic name. </a:t>
            </a:r>
          </a:p>
          <a:p>
            <a:r>
              <a:rPr lang="en-US" dirty="0"/>
              <a:t>For example, we could not have assigned Sharon as the value of student like this: </a:t>
            </a:r>
          </a:p>
          <a:p>
            <a:pPr lvl="1"/>
            <a:r>
              <a:rPr lang="en-US" i="1" dirty="0">
                <a:solidFill>
                  <a:srgbClr val="FF0000"/>
                </a:solidFill>
              </a:rPr>
              <a:t>student = </a:t>
            </a:r>
            <a:r>
              <a:rPr lang="en-US" i="1" dirty="0">
                <a:solidFill>
                  <a:srgbClr val="FF0000"/>
                </a:solidFill>
                <a:effectLst/>
              </a:rPr>
              <a:t>1</a:t>
            </a:r>
            <a:r>
              <a:rPr lang="en-US" i="1" dirty="0">
                <a:solidFill>
                  <a:srgbClr val="FF0000"/>
                </a:solidFill>
              </a:rPr>
              <a:t>; </a:t>
            </a:r>
            <a:r>
              <a:rPr lang="en-US" i="1" dirty="0">
                <a:solidFill>
                  <a:srgbClr val="FF0000"/>
                </a:solidFill>
                <a:effectLst/>
              </a:rPr>
              <a:t>// Error! </a:t>
            </a:r>
          </a:p>
          <a:p>
            <a:r>
              <a:rPr lang="en-US" dirty="0"/>
              <a:t>You can, however, test an enumerated variable by using an integer value instead of a symbolic name. For example, because Bill is stored as 2, the following two if statements are equivalent.</a:t>
            </a:r>
            <a:endParaRPr lang="en-US" i="1" dirty="0">
              <a:solidFill>
                <a:srgbClr val="FF0000"/>
              </a:solidFill>
            </a:endParaRPr>
          </a:p>
          <a:p>
            <a:pPr lvl="1"/>
            <a:r>
              <a:rPr lang="en-US" b="1" i="1" dirty="0">
                <a:solidFill>
                  <a:srgbClr val="FF0000"/>
                </a:solidFill>
                <a:effectLst/>
              </a:rPr>
              <a:t>if</a:t>
            </a:r>
            <a:r>
              <a:rPr lang="en-US" i="1" dirty="0">
                <a:solidFill>
                  <a:srgbClr val="FF0000"/>
                </a:solidFill>
              </a:rPr>
              <a:t> (student == Bill) </a:t>
            </a:r>
          </a:p>
          <a:p>
            <a:pPr lvl="1"/>
            <a:r>
              <a:rPr lang="en-US" b="1" i="1" dirty="0">
                <a:solidFill>
                  <a:srgbClr val="FF0000"/>
                </a:solidFill>
                <a:effectLst/>
              </a:rPr>
              <a:t>if</a:t>
            </a:r>
            <a:r>
              <a:rPr lang="en-US" i="1" dirty="0">
                <a:solidFill>
                  <a:srgbClr val="FF0000"/>
                </a:solidFill>
              </a:rPr>
              <a:t> (student == </a:t>
            </a:r>
            <a:r>
              <a:rPr lang="en-US" i="1" dirty="0">
                <a:solidFill>
                  <a:srgbClr val="FF0000"/>
                </a:solidFill>
                <a:effectLst/>
              </a:rPr>
              <a:t>2</a:t>
            </a:r>
            <a:r>
              <a:rPr lang="en-US" i="1" dirty="0">
                <a:solidFill>
                  <a:srgbClr val="FF0000"/>
                </a:solidFill>
              </a:rPr>
              <a:t>) </a:t>
            </a:r>
          </a:p>
        </p:txBody>
      </p:sp>
    </p:spTree>
    <p:extLst>
      <p:ext uri="{BB962C8B-B14F-4D97-AF65-F5344CB8AC3E}">
        <p14:creationId xmlns:p14="http://schemas.microsoft.com/office/powerpoint/2010/main" val="3948930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F6F03-8D1E-CA95-FDDB-EBCAC13E9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A24E71-BA45-F91F-38E9-164779E718C6}"/>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52F60F0B-978D-F5BB-E4F1-D3D8BA5C9315}"/>
              </a:ext>
            </a:extLst>
          </p:cNvPr>
          <p:cNvSpPr>
            <a:spLocks noGrp="1"/>
          </p:cNvSpPr>
          <p:nvPr>
            <p:ph idx="1"/>
          </p:nvPr>
        </p:nvSpPr>
        <p:spPr/>
        <p:txBody>
          <a:bodyPr>
            <a:normAutofit/>
          </a:bodyPr>
          <a:lstStyle/>
          <a:p>
            <a:r>
              <a:rPr lang="en-US" dirty="0"/>
              <a:t>You can also use relational operators to compare two enumerated variables. </a:t>
            </a:r>
          </a:p>
          <a:p>
            <a:r>
              <a:rPr lang="en-US" dirty="0"/>
              <a:t>For example, the following if statement determines if the value stored in student1 is less than the value stored in student2: </a:t>
            </a:r>
          </a:p>
          <a:p>
            <a:pPr lvl="1"/>
            <a:r>
              <a:rPr lang="en-US" b="1" i="1" dirty="0">
                <a:solidFill>
                  <a:srgbClr val="FF0000"/>
                </a:solidFill>
                <a:effectLst/>
              </a:rPr>
              <a:t>if</a:t>
            </a:r>
            <a:r>
              <a:rPr lang="en-US" i="1" dirty="0">
                <a:solidFill>
                  <a:srgbClr val="FF0000"/>
                </a:solidFill>
              </a:rPr>
              <a:t> (student1 &lt; student2) </a:t>
            </a:r>
          </a:p>
          <a:p>
            <a:r>
              <a:rPr lang="en-US" dirty="0"/>
              <a:t>If student1 equals Bill, which is stored as 2, and student2 equals John, which is stored as 4, this statement would be true. However, if student1 equals Bill and student2 equals Sharon, which is stored as 1, the statement would be false.</a:t>
            </a:r>
            <a:endParaRPr lang="en-US" i="1" dirty="0">
              <a:solidFill>
                <a:srgbClr val="FF0000"/>
              </a:solidFill>
            </a:endParaRPr>
          </a:p>
        </p:txBody>
      </p:sp>
    </p:spTree>
    <p:extLst>
      <p:ext uri="{BB962C8B-B14F-4D97-AF65-F5344CB8AC3E}">
        <p14:creationId xmlns:p14="http://schemas.microsoft.com/office/powerpoint/2010/main" val="1269756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60885-6D95-6DA1-C9C1-549D9C737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19FA3-1A7D-C52D-FBF5-0BE2A99E1FEE}"/>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288323DF-A47E-9688-9844-FE5F5C536CA0}"/>
              </a:ext>
            </a:extLst>
          </p:cNvPr>
          <p:cNvSpPr>
            <a:spLocks noGrp="1"/>
          </p:cNvSpPr>
          <p:nvPr>
            <p:ph idx="1"/>
          </p:nvPr>
        </p:nvSpPr>
        <p:spPr>
          <a:xfrm>
            <a:off x="838200" y="1825625"/>
            <a:ext cx="10515600" cy="4740638"/>
          </a:xfrm>
        </p:spPr>
        <p:txBody>
          <a:bodyPr>
            <a:normAutofit/>
          </a:bodyPr>
          <a:lstStyle/>
          <a:p>
            <a:r>
              <a:rPr lang="en-US" dirty="0"/>
              <a:t>As mentioned earlier, the symbols in the enumeration list are assigned the integer values 0, 1, 2, and so forth by default. If this is not appropriate, you can specify the values to be assigned, as in the following example.</a:t>
            </a:r>
            <a:r>
              <a:rPr lang="en-US" dirty="0">
                <a:solidFill>
                  <a:srgbClr val="FF0000"/>
                </a:solidFill>
              </a:rPr>
              <a:t> </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Department</a:t>
            </a:r>
            <a:r>
              <a:rPr lang="en-US" i="1" dirty="0">
                <a:solidFill>
                  <a:srgbClr val="FF0000"/>
                </a:solidFill>
              </a:rPr>
              <a:t> { factory = </a:t>
            </a:r>
            <a:r>
              <a:rPr lang="en-US" i="1" dirty="0">
                <a:solidFill>
                  <a:srgbClr val="FF0000"/>
                </a:solidFill>
                <a:effectLst/>
              </a:rPr>
              <a:t>1</a:t>
            </a:r>
            <a:r>
              <a:rPr lang="en-US" i="1" dirty="0">
                <a:solidFill>
                  <a:srgbClr val="FF0000"/>
                </a:solidFill>
              </a:rPr>
              <a:t>, sales = </a:t>
            </a:r>
            <a:r>
              <a:rPr lang="en-US" i="1" dirty="0">
                <a:solidFill>
                  <a:srgbClr val="FF0000"/>
                </a:solidFill>
                <a:effectLst/>
              </a:rPr>
              <a:t>2</a:t>
            </a:r>
            <a:r>
              <a:rPr lang="en-US" i="1" dirty="0">
                <a:solidFill>
                  <a:srgbClr val="FF0000"/>
                </a:solidFill>
              </a:rPr>
              <a:t>, warehouse = </a:t>
            </a:r>
            <a:r>
              <a:rPr lang="en-US" i="1" dirty="0">
                <a:solidFill>
                  <a:srgbClr val="FF0000"/>
                </a:solidFill>
                <a:effectLst/>
              </a:rPr>
              <a:t>4</a:t>
            </a:r>
            <a:r>
              <a:rPr lang="en-US" i="1" dirty="0">
                <a:solidFill>
                  <a:srgbClr val="FF0000"/>
                </a:solidFill>
              </a:rPr>
              <a:t> }; </a:t>
            </a:r>
          </a:p>
          <a:p>
            <a:r>
              <a:rPr lang="en-US" dirty="0">
                <a:effectLst/>
              </a:rPr>
              <a:t>Remember that if you do assign values to the enumerated symbols, they must be integers. The following value assignments would produce an error. </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Department</a:t>
            </a:r>
            <a:r>
              <a:rPr lang="en-US" i="1" dirty="0">
                <a:solidFill>
                  <a:srgbClr val="FF0000"/>
                </a:solidFill>
              </a:rPr>
              <a:t> { factory = </a:t>
            </a:r>
            <a:r>
              <a:rPr lang="en-US" i="1" dirty="0">
                <a:solidFill>
                  <a:srgbClr val="FF0000"/>
                </a:solidFill>
                <a:effectLst/>
              </a:rPr>
              <a:t>1.0</a:t>
            </a:r>
            <a:r>
              <a:rPr lang="en-US" i="1" dirty="0">
                <a:solidFill>
                  <a:srgbClr val="FF0000"/>
                </a:solidFill>
              </a:rPr>
              <a:t>, sales = </a:t>
            </a:r>
            <a:r>
              <a:rPr lang="en-US" i="1" dirty="0">
                <a:solidFill>
                  <a:srgbClr val="FF0000"/>
                </a:solidFill>
                <a:effectLst/>
              </a:rPr>
              <a:t>2.0</a:t>
            </a:r>
            <a:r>
              <a:rPr lang="en-US" i="1" dirty="0">
                <a:solidFill>
                  <a:srgbClr val="FF0000"/>
                </a:solidFill>
              </a:rPr>
              <a:t>, warehouse = </a:t>
            </a:r>
            <a:r>
              <a:rPr lang="en-US" i="1" dirty="0">
                <a:solidFill>
                  <a:srgbClr val="FF0000"/>
                </a:solidFill>
                <a:effectLst/>
              </a:rPr>
              <a:t>4.0</a:t>
            </a:r>
            <a:r>
              <a:rPr lang="en-US" i="1" dirty="0">
                <a:solidFill>
                  <a:srgbClr val="FF0000"/>
                </a:solidFill>
              </a:rPr>
              <a:t> }; </a:t>
            </a:r>
            <a:r>
              <a:rPr lang="en-US" i="1" dirty="0">
                <a:solidFill>
                  <a:srgbClr val="FF0000"/>
                </a:solidFill>
                <a:effectLst/>
              </a:rPr>
              <a:t>// Error! </a:t>
            </a:r>
          </a:p>
          <a:p>
            <a:endParaRPr lang="en-US" i="1" dirty="0">
              <a:solidFill>
                <a:srgbClr val="FF0000"/>
              </a:solidFill>
            </a:endParaRPr>
          </a:p>
        </p:txBody>
      </p:sp>
    </p:spTree>
    <p:extLst>
      <p:ext uri="{BB962C8B-B14F-4D97-AF65-F5344CB8AC3E}">
        <p14:creationId xmlns:p14="http://schemas.microsoft.com/office/powerpoint/2010/main" val="2456608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247EA-4493-5422-B776-70A6A94C10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86B847-8743-6F8E-39B2-2E6D13B52C1C}"/>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44A82425-5794-F41A-A50E-189D57741ED6}"/>
              </a:ext>
            </a:extLst>
          </p:cNvPr>
          <p:cNvSpPr>
            <a:spLocks noGrp="1"/>
          </p:cNvSpPr>
          <p:nvPr>
            <p:ph idx="1"/>
          </p:nvPr>
        </p:nvSpPr>
        <p:spPr>
          <a:xfrm>
            <a:off x="838200" y="1460500"/>
            <a:ext cx="10515600" cy="5032375"/>
          </a:xfrm>
        </p:spPr>
        <p:txBody>
          <a:bodyPr>
            <a:normAutofit lnSpcReduction="10000"/>
          </a:bodyPr>
          <a:lstStyle/>
          <a:p>
            <a:r>
              <a:rPr lang="en-US" dirty="0">
                <a:effectLst/>
              </a:rPr>
              <a:t>Although there is no requirement that assigned integer values be placed in ascending order, it is generally considered a good idea to do so.</a:t>
            </a:r>
          </a:p>
          <a:p>
            <a:r>
              <a:rPr lang="en-US" dirty="0">
                <a:effectLst/>
              </a:rPr>
              <a:t>If you leave out the value assignment for one or more of the symbols, they will be assigned default values, as illustrated by the following two examples.</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Colors</a:t>
            </a:r>
            <a:r>
              <a:rPr lang="en-US" i="1" dirty="0">
                <a:solidFill>
                  <a:srgbClr val="FF0000"/>
                </a:solidFill>
              </a:rPr>
              <a:t> { red, orange, yellow = </a:t>
            </a:r>
            <a:r>
              <a:rPr lang="en-US" i="1" dirty="0">
                <a:solidFill>
                  <a:srgbClr val="FF0000"/>
                </a:solidFill>
                <a:effectLst/>
              </a:rPr>
              <a:t>9</a:t>
            </a:r>
            <a:r>
              <a:rPr lang="en-US" i="1" dirty="0">
                <a:solidFill>
                  <a:srgbClr val="FF0000"/>
                </a:solidFill>
              </a:rPr>
              <a:t>, green, blue }; </a:t>
            </a:r>
          </a:p>
          <a:p>
            <a:r>
              <a:rPr lang="en-US" dirty="0"/>
              <a:t>I</a:t>
            </a:r>
            <a:r>
              <a:rPr lang="en-US" dirty="0">
                <a:effectLst/>
              </a:rPr>
              <a:t>n this example, the named constant red will be assigned the value 0, orange will be 1, yellow will be 9, green will be 10, and blue will be 11.</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Rooms</a:t>
            </a:r>
            <a:r>
              <a:rPr lang="en-US" i="1" dirty="0">
                <a:solidFill>
                  <a:srgbClr val="FF0000"/>
                </a:solidFill>
              </a:rPr>
              <a:t> { </a:t>
            </a:r>
            <a:r>
              <a:rPr lang="en-US" i="1" dirty="0" err="1">
                <a:solidFill>
                  <a:srgbClr val="FF0000"/>
                </a:solidFill>
              </a:rPr>
              <a:t>livingroom</a:t>
            </a:r>
            <a:r>
              <a:rPr lang="en-US" i="1" dirty="0">
                <a:solidFill>
                  <a:srgbClr val="FF0000"/>
                </a:solidFill>
              </a:rPr>
              <a:t> = </a:t>
            </a:r>
            <a:r>
              <a:rPr lang="en-US" i="1" dirty="0">
                <a:solidFill>
                  <a:srgbClr val="FF0000"/>
                </a:solidFill>
                <a:effectLst/>
              </a:rPr>
              <a:t>1</a:t>
            </a:r>
            <a:r>
              <a:rPr lang="en-US" i="1" dirty="0">
                <a:solidFill>
                  <a:srgbClr val="FF0000"/>
                </a:solidFill>
              </a:rPr>
              <a:t>, den, bedroom, kitchen }; </a:t>
            </a:r>
          </a:p>
          <a:p>
            <a:r>
              <a:rPr lang="en-US" dirty="0"/>
              <a:t>In this example, </a:t>
            </a:r>
            <a:r>
              <a:rPr lang="en-US" dirty="0" err="1"/>
              <a:t>livingroom</a:t>
            </a:r>
            <a:r>
              <a:rPr lang="en-US" dirty="0"/>
              <a:t> will be assigned the value 1, den will be 2, bedroom will be 3, and kitchen will be 4.</a:t>
            </a:r>
            <a:endParaRPr lang="en-US" i="1" dirty="0">
              <a:solidFill>
                <a:srgbClr val="FF0000"/>
              </a:solidFill>
              <a:effectLst/>
            </a:endParaRPr>
          </a:p>
          <a:p>
            <a:endParaRPr lang="en-US" dirty="0">
              <a:effectLst/>
            </a:endParaRPr>
          </a:p>
          <a:p>
            <a:endParaRPr lang="en-US" i="1" dirty="0">
              <a:solidFill>
                <a:srgbClr val="FF0000"/>
              </a:solidFill>
            </a:endParaRPr>
          </a:p>
        </p:txBody>
      </p:sp>
    </p:spTree>
    <p:extLst>
      <p:ext uri="{BB962C8B-B14F-4D97-AF65-F5344CB8AC3E}">
        <p14:creationId xmlns:p14="http://schemas.microsoft.com/office/powerpoint/2010/main" val="3816906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5E7C4-7281-60ED-FF7A-97B5A0249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BCF592-AB39-D3A7-B882-1FD39751CE26}"/>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E1482005-6894-D553-F936-7F3D40FB6340}"/>
              </a:ext>
            </a:extLst>
          </p:cNvPr>
          <p:cNvSpPr>
            <a:spLocks noGrp="1"/>
          </p:cNvSpPr>
          <p:nvPr>
            <p:ph idx="1"/>
          </p:nvPr>
        </p:nvSpPr>
        <p:spPr>
          <a:xfrm>
            <a:off x="838200" y="1460500"/>
            <a:ext cx="10515600" cy="5032375"/>
          </a:xfrm>
        </p:spPr>
        <p:txBody>
          <a:bodyPr>
            <a:normAutofit lnSpcReduction="10000"/>
          </a:bodyPr>
          <a:lstStyle/>
          <a:p>
            <a:r>
              <a:rPr lang="en-US" dirty="0"/>
              <a:t>One purpose of an enumerated data type is that the symbolic names help to make a program self-documenting. </a:t>
            </a:r>
          </a:p>
          <a:p>
            <a:r>
              <a:rPr lang="en-US" dirty="0"/>
              <a:t>However, because these names are not strings, they are for use inside the program only. </a:t>
            </a:r>
          </a:p>
          <a:p>
            <a:r>
              <a:rPr lang="en-US" dirty="0"/>
              <a:t>Using the Roster data type defined at the beginning of this section, the following two statements would output a 2, not the name Sharon.</a:t>
            </a:r>
          </a:p>
          <a:p>
            <a:pPr lvl="1"/>
            <a:r>
              <a:rPr lang="en-US" i="1" dirty="0">
                <a:solidFill>
                  <a:srgbClr val="FF0000"/>
                </a:solidFill>
              </a:rPr>
              <a:t>Roster </a:t>
            </a:r>
            <a:r>
              <a:rPr lang="en-US" i="1" dirty="0" err="1">
                <a:solidFill>
                  <a:srgbClr val="FF0000"/>
                </a:solidFill>
              </a:rPr>
              <a:t>topStudent</a:t>
            </a:r>
            <a:r>
              <a:rPr lang="en-US" i="1" dirty="0">
                <a:solidFill>
                  <a:srgbClr val="FF0000"/>
                </a:solidFill>
              </a:rPr>
              <a:t> = Sharon; </a:t>
            </a:r>
          </a:p>
          <a:p>
            <a:pPr lvl="1"/>
            <a:r>
              <a:rPr lang="en-US" i="1" dirty="0" err="1">
                <a:solidFill>
                  <a:srgbClr val="FF0000"/>
                </a:solidFill>
              </a:rPr>
              <a:t>cout</a:t>
            </a:r>
            <a:r>
              <a:rPr lang="en-US" i="1" dirty="0">
                <a:solidFill>
                  <a:srgbClr val="FF0000"/>
                </a:solidFill>
              </a:rPr>
              <a:t> &lt;&lt; </a:t>
            </a:r>
            <a:r>
              <a:rPr lang="en-US" i="1" dirty="0" err="1">
                <a:solidFill>
                  <a:srgbClr val="FF0000"/>
                </a:solidFill>
              </a:rPr>
              <a:t>topStudent</a:t>
            </a:r>
            <a:r>
              <a:rPr lang="en-US" i="1" dirty="0">
                <a:solidFill>
                  <a:srgbClr val="FF0000"/>
                </a:solidFill>
              </a:rPr>
              <a:t>; </a:t>
            </a:r>
            <a:endParaRPr lang="en-US" dirty="0"/>
          </a:p>
          <a:p>
            <a:r>
              <a:rPr lang="en-US" dirty="0"/>
              <a:t>Because the symbolic names of an enumerated data type are associated with integer values, they may be used in a switch statement. Let’s look at an example - </a:t>
            </a:r>
            <a:endParaRPr lang="en-US" i="1" dirty="0">
              <a:solidFill>
                <a:srgbClr val="FF0000"/>
              </a:solidFill>
              <a:effectLst/>
            </a:endParaRPr>
          </a:p>
          <a:p>
            <a:endParaRPr lang="en-US" i="1" dirty="0">
              <a:solidFill>
                <a:srgbClr val="FF0000"/>
              </a:solidFill>
            </a:endParaRPr>
          </a:p>
        </p:txBody>
      </p:sp>
    </p:spTree>
    <p:extLst>
      <p:ext uri="{BB962C8B-B14F-4D97-AF65-F5344CB8AC3E}">
        <p14:creationId xmlns:p14="http://schemas.microsoft.com/office/powerpoint/2010/main" val="2771429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E0C4B-26CD-B897-5C08-390F1F286D36}"/>
              </a:ext>
            </a:extLst>
          </p:cNvPr>
          <p:cNvSpPr>
            <a:spLocks noGrp="1"/>
          </p:cNvSpPr>
          <p:nvPr>
            <p:ph type="title"/>
          </p:nvPr>
        </p:nvSpPr>
        <p:spPr>
          <a:xfrm>
            <a:off x="7350034" y="365125"/>
            <a:ext cx="4003766" cy="1325563"/>
          </a:xfrm>
        </p:spPr>
        <p:txBody>
          <a:bodyPr/>
          <a:lstStyle/>
          <a:p>
            <a:r>
              <a:rPr lang="en-US" dirty="0"/>
              <a:t>Example</a:t>
            </a:r>
          </a:p>
        </p:txBody>
      </p:sp>
      <p:pic>
        <p:nvPicPr>
          <p:cNvPr id="4" name="Picture 3">
            <a:extLst>
              <a:ext uri="{FF2B5EF4-FFF2-40B4-BE49-F238E27FC236}">
                <a16:creationId xmlns:a16="http://schemas.microsoft.com/office/drawing/2014/main" id="{CBEE1E25-E124-CB2D-432D-408C11859AAE}"/>
              </a:ext>
            </a:extLst>
          </p:cNvPr>
          <p:cNvPicPr>
            <a:picLocks noChangeAspect="1"/>
          </p:cNvPicPr>
          <p:nvPr/>
        </p:nvPicPr>
        <p:blipFill>
          <a:blip r:embed="rId2"/>
          <a:stretch>
            <a:fillRect/>
          </a:stretch>
        </p:blipFill>
        <p:spPr>
          <a:xfrm>
            <a:off x="1858646" y="0"/>
            <a:ext cx="4348758" cy="6858000"/>
          </a:xfrm>
          <a:prstGeom prst="rect">
            <a:avLst/>
          </a:prstGeom>
        </p:spPr>
      </p:pic>
      <p:pic>
        <p:nvPicPr>
          <p:cNvPr id="5" name="Picture 4">
            <a:extLst>
              <a:ext uri="{FF2B5EF4-FFF2-40B4-BE49-F238E27FC236}">
                <a16:creationId xmlns:a16="http://schemas.microsoft.com/office/drawing/2014/main" id="{EAEDB987-0D0A-78C9-3A76-72575DDCB87C}"/>
              </a:ext>
            </a:extLst>
          </p:cNvPr>
          <p:cNvPicPr>
            <a:picLocks noChangeAspect="1"/>
          </p:cNvPicPr>
          <p:nvPr/>
        </p:nvPicPr>
        <p:blipFill>
          <a:blip r:embed="rId3"/>
          <a:stretch>
            <a:fillRect/>
          </a:stretch>
        </p:blipFill>
        <p:spPr>
          <a:xfrm>
            <a:off x="7164461" y="2540841"/>
            <a:ext cx="4534331" cy="2705972"/>
          </a:xfrm>
          <a:prstGeom prst="rect">
            <a:avLst/>
          </a:prstGeom>
        </p:spPr>
      </p:pic>
    </p:spTree>
    <p:extLst>
      <p:ext uri="{BB962C8B-B14F-4D97-AF65-F5344CB8AC3E}">
        <p14:creationId xmlns:p14="http://schemas.microsoft.com/office/powerpoint/2010/main" val="4255103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D6219-4593-3BCD-9931-7B3ED9FEB1A5}"/>
              </a:ext>
            </a:extLst>
          </p:cNvPr>
          <p:cNvSpPr>
            <a:spLocks noGrp="1"/>
          </p:cNvSpPr>
          <p:nvPr>
            <p:ph type="title"/>
          </p:nvPr>
        </p:nvSpPr>
        <p:spPr>
          <a:xfrm>
            <a:off x="838200" y="582839"/>
            <a:ext cx="10515600" cy="1325563"/>
          </a:xfrm>
        </p:spPr>
        <p:txBody>
          <a:bodyPr>
            <a:normAutofit fontScale="90000"/>
          </a:bodyPr>
          <a:lstStyle/>
          <a:p>
            <a:r>
              <a:rPr lang="en-US" dirty="0">
                <a:effectLst/>
              </a:rPr>
              <a:t>Declaring an </a:t>
            </a:r>
            <a:r>
              <a:rPr lang="en-US" dirty="0" err="1">
                <a:effectLst/>
              </a:rPr>
              <a:t>enum</a:t>
            </a:r>
            <a:r>
              <a:rPr lang="en-US" dirty="0">
                <a:effectLst/>
              </a:rPr>
              <a:t> Data Type and Defining Variables All in One Statement</a:t>
            </a:r>
            <a:br>
              <a:rPr lang="en-US" b="1" dirty="0">
                <a:effectLst/>
              </a:rPr>
            </a:br>
            <a:endParaRPr lang="en-US" dirty="0"/>
          </a:p>
        </p:txBody>
      </p:sp>
      <p:sp>
        <p:nvSpPr>
          <p:cNvPr id="3" name="Content Placeholder 2">
            <a:extLst>
              <a:ext uri="{FF2B5EF4-FFF2-40B4-BE49-F238E27FC236}">
                <a16:creationId xmlns:a16="http://schemas.microsoft.com/office/drawing/2014/main" id="{7733B651-D503-66C7-0B4F-8DD853C7A707}"/>
              </a:ext>
            </a:extLst>
          </p:cNvPr>
          <p:cNvSpPr>
            <a:spLocks noGrp="1"/>
          </p:cNvSpPr>
          <p:nvPr>
            <p:ph idx="1"/>
          </p:nvPr>
        </p:nvSpPr>
        <p:spPr>
          <a:xfrm>
            <a:off x="838200" y="1825625"/>
            <a:ext cx="10515600" cy="4714512"/>
          </a:xfrm>
        </p:spPr>
        <p:txBody>
          <a:bodyPr>
            <a:normAutofit/>
          </a:bodyPr>
          <a:lstStyle/>
          <a:p>
            <a:r>
              <a:rPr lang="en-US" dirty="0"/>
              <a:t>The following code uses two lines to declare an enumerated data type and define a variable of the type.</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Car</a:t>
            </a:r>
            <a:r>
              <a:rPr lang="en-US" i="1" dirty="0">
                <a:solidFill>
                  <a:srgbClr val="FF0000"/>
                </a:solidFill>
              </a:rPr>
              <a:t> { PORSCHE, FERRARI, JAGUAR }; </a:t>
            </a:r>
          </a:p>
          <a:p>
            <a:pPr lvl="1"/>
            <a:r>
              <a:rPr lang="en-US" i="1" dirty="0">
                <a:solidFill>
                  <a:srgbClr val="FF0000"/>
                </a:solidFill>
              </a:rPr>
              <a:t>Car </a:t>
            </a:r>
            <a:r>
              <a:rPr lang="en-US" i="1" dirty="0" err="1">
                <a:solidFill>
                  <a:srgbClr val="FF0000"/>
                </a:solidFill>
              </a:rPr>
              <a:t>sportsCar</a:t>
            </a:r>
            <a:r>
              <a:rPr lang="en-US" i="1" dirty="0">
                <a:solidFill>
                  <a:srgbClr val="FF0000"/>
                </a:solidFill>
              </a:rPr>
              <a:t>; </a:t>
            </a:r>
          </a:p>
          <a:p>
            <a:r>
              <a:rPr lang="en-US" dirty="0"/>
              <a:t>However, C++ allows you to declare an enumerated data type and define one or more variables of the type in the same statement. So the previous code could be written like this:</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Car</a:t>
            </a:r>
            <a:r>
              <a:rPr lang="en-US" i="1" dirty="0">
                <a:solidFill>
                  <a:srgbClr val="FF0000"/>
                </a:solidFill>
              </a:rPr>
              <a:t> { PORSCHE, FERRARI, JAGUAR } </a:t>
            </a:r>
            <a:r>
              <a:rPr lang="en-US" i="1" dirty="0" err="1">
                <a:solidFill>
                  <a:srgbClr val="FF0000"/>
                </a:solidFill>
              </a:rPr>
              <a:t>sportsCar</a:t>
            </a:r>
            <a:r>
              <a:rPr lang="en-US" i="1" dirty="0">
                <a:solidFill>
                  <a:srgbClr val="FF0000"/>
                </a:solidFill>
              </a:rPr>
              <a:t>;</a:t>
            </a:r>
          </a:p>
          <a:p>
            <a:r>
              <a:rPr lang="en-US" dirty="0"/>
              <a:t>The following statement declares the Car data type and defines two variables, </a:t>
            </a:r>
            <a:r>
              <a:rPr lang="en-US" dirty="0" err="1"/>
              <a:t>myCar</a:t>
            </a:r>
            <a:r>
              <a:rPr lang="en-US" dirty="0"/>
              <a:t> and </a:t>
            </a:r>
            <a:r>
              <a:rPr lang="en-US" dirty="0" err="1"/>
              <a:t>yourCar</a:t>
            </a:r>
            <a:r>
              <a:rPr lang="en-US" dirty="0"/>
              <a:t>.</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Car</a:t>
            </a:r>
            <a:r>
              <a:rPr lang="en-US" i="1" dirty="0">
                <a:solidFill>
                  <a:srgbClr val="FF0000"/>
                </a:solidFill>
              </a:rPr>
              <a:t> { PORSCHE, FERRARI, JAGUAR } </a:t>
            </a:r>
            <a:r>
              <a:rPr lang="en-US" i="1" dirty="0" err="1">
                <a:solidFill>
                  <a:srgbClr val="FF0000"/>
                </a:solidFill>
              </a:rPr>
              <a:t>myCar</a:t>
            </a:r>
            <a:r>
              <a:rPr lang="en-US" i="1" dirty="0">
                <a:solidFill>
                  <a:srgbClr val="FF0000"/>
                </a:solidFill>
              </a:rPr>
              <a:t>, </a:t>
            </a:r>
            <a:r>
              <a:rPr lang="en-US" i="1" dirty="0" err="1">
                <a:solidFill>
                  <a:srgbClr val="FF0000"/>
                </a:solidFill>
              </a:rPr>
              <a:t>yourCar</a:t>
            </a:r>
            <a:r>
              <a:rPr lang="en-US" i="1" dirty="0">
                <a:solidFill>
                  <a:srgbClr val="FF0000"/>
                </a:solidFill>
              </a:rPr>
              <a:t>;  </a:t>
            </a:r>
          </a:p>
        </p:txBody>
      </p:sp>
    </p:spTree>
    <p:extLst>
      <p:ext uri="{BB962C8B-B14F-4D97-AF65-F5344CB8AC3E}">
        <p14:creationId xmlns:p14="http://schemas.microsoft.com/office/powerpoint/2010/main" val="779156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C1EC5-6C72-120C-D98C-FF6A1C4F61E8}"/>
              </a:ext>
            </a:extLst>
          </p:cNvPr>
          <p:cNvSpPr>
            <a:spLocks noGrp="1"/>
          </p:cNvSpPr>
          <p:nvPr>
            <p:ph type="title"/>
          </p:nvPr>
        </p:nvSpPr>
        <p:spPr/>
        <p:txBody>
          <a:bodyPr/>
          <a:lstStyle/>
          <a:p>
            <a:r>
              <a:rPr lang="en-US" dirty="0"/>
              <a:t>Assigning an Integer to an </a:t>
            </a:r>
            <a:r>
              <a:rPr lang="en-US" dirty="0" err="1"/>
              <a:t>enum</a:t>
            </a:r>
            <a:r>
              <a:rPr lang="en-US" dirty="0"/>
              <a:t> Variable</a:t>
            </a:r>
          </a:p>
        </p:txBody>
      </p:sp>
      <p:sp>
        <p:nvSpPr>
          <p:cNvPr id="3" name="Content Placeholder 2">
            <a:extLst>
              <a:ext uri="{FF2B5EF4-FFF2-40B4-BE49-F238E27FC236}">
                <a16:creationId xmlns:a16="http://schemas.microsoft.com/office/drawing/2014/main" id="{E9F5024B-297F-99BC-41A9-C208F270721B}"/>
              </a:ext>
            </a:extLst>
          </p:cNvPr>
          <p:cNvSpPr>
            <a:spLocks noGrp="1"/>
          </p:cNvSpPr>
          <p:nvPr>
            <p:ph idx="1"/>
          </p:nvPr>
        </p:nvSpPr>
        <p:spPr/>
        <p:txBody>
          <a:bodyPr>
            <a:normAutofit/>
          </a:bodyPr>
          <a:lstStyle/>
          <a:p>
            <a:r>
              <a:rPr lang="en-US" dirty="0"/>
              <a:t>Even though the enumerators of an enumerated data type are stored in memory as integers, you cannot directly assign an integer value to an </a:t>
            </a:r>
            <a:r>
              <a:rPr lang="en-US" dirty="0" err="1"/>
              <a:t>enum</a:t>
            </a:r>
            <a:r>
              <a:rPr lang="en-US" dirty="0"/>
              <a:t> variable. </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Day</a:t>
            </a:r>
            <a:r>
              <a:rPr lang="en-US" i="1" dirty="0">
                <a:solidFill>
                  <a:srgbClr val="FF0000"/>
                </a:solidFill>
              </a:rPr>
              <a:t> { MONDAY, TUESDAY, WEDNESDAY, THURSDAY, FRIDAY }; Day today; </a:t>
            </a:r>
          </a:p>
          <a:p>
            <a:r>
              <a:rPr lang="en-US" dirty="0"/>
              <a:t>We could now write the following assignment statement:</a:t>
            </a:r>
            <a:endParaRPr lang="en-US" i="1" dirty="0">
              <a:solidFill>
                <a:srgbClr val="FF0000"/>
              </a:solidFill>
            </a:endParaRPr>
          </a:p>
          <a:p>
            <a:pPr lvl="1"/>
            <a:r>
              <a:rPr lang="en-US" i="1" dirty="0">
                <a:solidFill>
                  <a:srgbClr val="FF0000"/>
                </a:solidFill>
              </a:rPr>
              <a:t>today = THURSDAY; </a:t>
            </a:r>
          </a:p>
          <a:p>
            <a:r>
              <a:rPr lang="en-US" dirty="0"/>
              <a:t>But the following statement is illegal and will produce an error message if you try to compile it.</a:t>
            </a:r>
          </a:p>
          <a:p>
            <a:pPr lvl="1"/>
            <a:r>
              <a:rPr lang="en-US" i="1" dirty="0">
                <a:solidFill>
                  <a:srgbClr val="FF0000"/>
                </a:solidFill>
              </a:rPr>
              <a:t>today = </a:t>
            </a:r>
            <a:r>
              <a:rPr lang="en-US" i="1" dirty="0">
                <a:solidFill>
                  <a:srgbClr val="FF0000"/>
                </a:solidFill>
                <a:effectLst/>
              </a:rPr>
              <a:t>3</a:t>
            </a:r>
            <a:r>
              <a:rPr lang="en-US" i="1" dirty="0">
                <a:solidFill>
                  <a:srgbClr val="FF0000"/>
                </a:solidFill>
              </a:rPr>
              <a:t>; </a:t>
            </a:r>
            <a:r>
              <a:rPr lang="en-US" i="1" dirty="0">
                <a:solidFill>
                  <a:srgbClr val="FF0000"/>
                </a:solidFill>
                <a:effectLst/>
              </a:rPr>
              <a:t>// Error! </a:t>
            </a:r>
            <a:endParaRPr lang="en-US" i="1" dirty="0">
              <a:solidFill>
                <a:srgbClr val="FF0000"/>
              </a:solidFill>
            </a:endParaRPr>
          </a:p>
        </p:txBody>
      </p:sp>
    </p:spTree>
    <p:extLst>
      <p:ext uri="{BB962C8B-B14F-4D97-AF65-F5344CB8AC3E}">
        <p14:creationId xmlns:p14="http://schemas.microsoft.com/office/powerpoint/2010/main" val="2328661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721FD-328D-7FDB-4B28-31D14F1DC8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4B6A1-15C4-4A4A-CA07-30EC7A2B0A9D}"/>
              </a:ext>
            </a:extLst>
          </p:cNvPr>
          <p:cNvSpPr>
            <a:spLocks noGrp="1"/>
          </p:cNvSpPr>
          <p:nvPr>
            <p:ph type="title"/>
          </p:nvPr>
        </p:nvSpPr>
        <p:spPr/>
        <p:txBody>
          <a:bodyPr/>
          <a:lstStyle/>
          <a:p>
            <a:r>
              <a:rPr lang="en-US" dirty="0"/>
              <a:t>Assigning an Integer to an </a:t>
            </a:r>
            <a:r>
              <a:rPr lang="en-US" dirty="0" err="1"/>
              <a:t>enum</a:t>
            </a:r>
            <a:r>
              <a:rPr lang="en-US" dirty="0"/>
              <a:t> Variable</a:t>
            </a:r>
          </a:p>
        </p:txBody>
      </p:sp>
      <p:sp>
        <p:nvSpPr>
          <p:cNvPr id="3" name="Content Placeholder 2">
            <a:extLst>
              <a:ext uri="{FF2B5EF4-FFF2-40B4-BE49-F238E27FC236}">
                <a16:creationId xmlns:a16="http://schemas.microsoft.com/office/drawing/2014/main" id="{C9C5FADF-2B9A-2A3F-3EBC-9BEA6931349D}"/>
              </a:ext>
            </a:extLst>
          </p:cNvPr>
          <p:cNvSpPr>
            <a:spLocks noGrp="1"/>
          </p:cNvSpPr>
          <p:nvPr>
            <p:ph idx="1"/>
          </p:nvPr>
        </p:nvSpPr>
        <p:spPr/>
        <p:txBody>
          <a:bodyPr>
            <a:normAutofit/>
          </a:bodyPr>
          <a:lstStyle/>
          <a:p>
            <a:r>
              <a:rPr lang="en-US" dirty="0">
                <a:effectLst/>
              </a:rPr>
              <a:t>When assigning a value to an </a:t>
            </a:r>
            <a:r>
              <a:rPr lang="en-US" dirty="0" err="1">
                <a:effectLst/>
              </a:rPr>
              <a:t>enum</a:t>
            </a:r>
            <a:r>
              <a:rPr lang="en-US" dirty="0">
                <a:effectLst/>
              </a:rPr>
              <a:t> variable, you should use a valid enumerator. </a:t>
            </a:r>
          </a:p>
          <a:p>
            <a:r>
              <a:rPr lang="en-US" dirty="0">
                <a:effectLst/>
              </a:rPr>
              <a:t>However, if circumstances require that you store an integer value in an </a:t>
            </a:r>
            <a:r>
              <a:rPr lang="en-US" dirty="0" err="1">
                <a:effectLst/>
              </a:rPr>
              <a:t>enum</a:t>
            </a:r>
            <a:r>
              <a:rPr lang="en-US" dirty="0">
                <a:effectLst/>
              </a:rPr>
              <a:t> variable, you can do so by casting the integer to the </a:t>
            </a:r>
            <a:r>
              <a:rPr lang="en-US" dirty="0" err="1">
                <a:effectLst/>
              </a:rPr>
              <a:t>enum</a:t>
            </a:r>
            <a:r>
              <a:rPr lang="en-US" dirty="0">
                <a:effectLst/>
              </a:rPr>
              <a:t> data type. Here is an example:</a:t>
            </a:r>
          </a:p>
          <a:p>
            <a:pPr lvl="1"/>
            <a:r>
              <a:rPr lang="en-US" i="1" dirty="0">
                <a:solidFill>
                  <a:srgbClr val="FF0000"/>
                </a:solidFill>
              </a:rPr>
              <a:t>today = </a:t>
            </a:r>
            <a:r>
              <a:rPr lang="en-US" b="1" i="1" dirty="0" err="1">
                <a:solidFill>
                  <a:srgbClr val="FF0000"/>
                </a:solidFill>
                <a:effectLst/>
              </a:rPr>
              <a:t>static_cast</a:t>
            </a:r>
            <a:r>
              <a:rPr lang="en-US" i="1" dirty="0">
                <a:solidFill>
                  <a:srgbClr val="FF0000"/>
                </a:solidFill>
              </a:rPr>
              <a:t>&lt;Day&gt;(</a:t>
            </a:r>
            <a:r>
              <a:rPr lang="en-US" i="1" dirty="0">
                <a:solidFill>
                  <a:srgbClr val="FF0000"/>
                </a:solidFill>
                <a:effectLst/>
              </a:rPr>
              <a:t>3</a:t>
            </a:r>
            <a:r>
              <a:rPr lang="en-US" i="1" dirty="0">
                <a:solidFill>
                  <a:srgbClr val="FF0000"/>
                </a:solidFill>
              </a:rPr>
              <a:t>);</a:t>
            </a:r>
            <a:endParaRPr lang="en-US" i="1" dirty="0">
              <a:solidFill>
                <a:srgbClr val="FF0000"/>
              </a:solidFill>
              <a:effectLst/>
            </a:endParaRPr>
          </a:p>
          <a:p>
            <a:endParaRPr lang="en-US" dirty="0">
              <a:effectLst/>
            </a:endParaRPr>
          </a:p>
          <a:p>
            <a:r>
              <a:rPr lang="en-US" dirty="0"/>
              <a:t>This statement will produce the same results as:</a:t>
            </a:r>
          </a:p>
          <a:p>
            <a:pPr lvl="1"/>
            <a:r>
              <a:rPr lang="en-US" i="1" dirty="0">
                <a:solidFill>
                  <a:srgbClr val="FF0000"/>
                </a:solidFill>
              </a:rPr>
              <a:t>today = THURSDAY; </a:t>
            </a:r>
            <a:endParaRPr lang="en-US" i="1" dirty="0">
              <a:solidFill>
                <a:srgbClr val="FF0000"/>
              </a:solidFill>
              <a:effectLst/>
            </a:endParaRPr>
          </a:p>
          <a:p>
            <a:endParaRPr lang="en-US" i="1" dirty="0">
              <a:solidFill>
                <a:srgbClr val="FF0000"/>
              </a:solidFill>
            </a:endParaRPr>
          </a:p>
        </p:txBody>
      </p:sp>
    </p:spTree>
    <p:extLst>
      <p:ext uri="{BB962C8B-B14F-4D97-AF65-F5344CB8AC3E}">
        <p14:creationId xmlns:p14="http://schemas.microsoft.com/office/powerpoint/2010/main" val="1885624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5D6E-819F-6BBD-52A3-E8B3730EA663}"/>
              </a:ext>
            </a:extLst>
          </p:cNvPr>
          <p:cNvSpPr>
            <a:spLocks noGrp="1"/>
          </p:cNvSpPr>
          <p:nvPr>
            <p:ph type="title"/>
          </p:nvPr>
        </p:nvSpPr>
        <p:spPr/>
        <p:txBody>
          <a:bodyPr/>
          <a:lstStyle/>
          <a:p>
            <a:r>
              <a:rPr lang="en-US" dirty="0"/>
              <a:t>Assigning an Enumerator to an int Variable</a:t>
            </a:r>
          </a:p>
        </p:txBody>
      </p:sp>
      <p:sp>
        <p:nvSpPr>
          <p:cNvPr id="3" name="Content Placeholder 2">
            <a:extLst>
              <a:ext uri="{FF2B5EF4-FFF2-40B4-BE49-F238E27FC236}">
                <a16:creationId xmlns:a16="http://schemas.microsoft.com/office/drawing/2014/main" id="{4C6063FB-DDC4-D1C7-4009-49D9B6D254C2}"/>
              </a:ext>
            </a:extLst>
          </p:cNvPr>
          <p:cNvSpPr>
            <a:spLocks noGrp="1"/>
          </p:cNvSpPr>
          <p:nvPr>
            <p:ph idx="1"/>
          </p:nvPr>
        </p:nvSpPr>
        <p:spPr/>
        <p:txBody>
          <a:bodyPr/>
          <a:lstStyle/>
          <a:p>
            <a:r>
              <a:rPr lang="en-US" dirty="0">
                <a:effectLst/>
              </a:rPr>
              <a:t>Although you cannot directly assign an integer value to an </a:t>
            </a:r>
            <a:r>
              <a:rPr lang="en-US" dirty="0" err="1">
                <a:effectLst/>
              </a:rPr>
              <a:t>enum</a:t>
            </a:r>
            <a:r>
              <a:rPr lang="en-US" dirty="0">
                <a:effectLst/>
              </a:rPr>
              <a:t> variable, you </a:t>
            </a:r>
            <a:r>
              <a:rPr lang="en-US" i="1" dirty="0">
                <a:effectLst/>
              </a:rPr>
              <a:t>can</a:t>
            </a:r>
            <a:r>
              <a:rPr lang="en-US" dirty="0">
                <a:effectLst/>
              </a:rPr>
              <a:t> directly assign an enumerator to an integer variable. </a:t>
            </a:r>
          </a:p>
          <a:p>
            <a:r>
              <a:rPr lang="en-US" dirty="0">
                <a:effectLst/>
              </a:rPr>
              <a:t>For example, the following code will work just fine.</a:t>
            </a:r>
          </a:p>
          <a:p>
            <a:endParaRPr lang="en-US" dirty="0"/>
          </a:p>
          <a:p>
            <a:endParaRPr lang="en-US" dirty="0"/>
          </a:p>
          <a:p>
            <a:endParaRPr lang="en-US" dirty="0"/>
          </a:p>
          <a:p>
            <a:endParaRPr lang="en-US" dirty="0"/>
          </a:p>
          <a:p>
            <a:r>
              <a:rPr lang="en-US" dirty="0"/>
              <a:t>When this code runs it will display 3 4.</a:t>
            </a:r>
            <a:endParaRPr lang="en-US" dirty="0">
              <a:effectLst/>
            </a:endParaRPr>
          </a:p>
          <a:p>
            <a:endParaRPr lang="en-US" dirty="0"/>
          </a:p>
        </p:txBody>
      </p:sp>
      <p:pic>
        <p:nvPicPr>
          <p:cNvPr id="4" name="Picture 3">
            <a:extLst>
              <a:ext uri="{FF2B5EF4-FFF2-40B4-BE49-F238E27FC236}">
                <a16:creationId xmlns:a16="http://schemas.microsoft.com/office/drawing/2014/main" id="{12596D0E-A3C6-3B57-0B59-7282BFDE4432}"/>
              </a:ext>
            </a:extLst>
          </p:cNvPr>
          <p:cNvPicPr>
            <a:picLocks noChangeAspect="1"/>
          </p:cNvPicPr>
          <p:nvPr/>
        </p:nvPicPr>
        <p:blipFill>
          <a:blip r:embed="rId2"/>
          <a:stretch>
            <a:fillRect/>
          </a:stretch>
        </p:blipFill>
        <p:spPr>
          <a:xfrm>
            <a:off x="3314700" y="3810363"/>
            <a:ext cx="5562600" cy="1397000"/>
          </a:xfrm>
          <a:prstGeom prst="rect">
            <a:avLst/>
          </a:prstGeom>
        </p:spPr>
      </p:pic>
    </p:spTree>
    <p:extLst>
      <p:ext uri="{BB962C8B-B14F-4D97-AF65-F5344CB8AC3E}">
        <p14:creationId xmlns:p14="http://schemas.microsoft.com/office/powerpoint/2010/main" val="3479244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2336C-0ED4-806A-A97F-F27CF8A8DC76}"/>
              </a:ext>
            </a:extLst>
          </p:cNvPr>
          <p:cNvSpPr>
            <a:spLocks noGrp="1"/>
          </p:cNvSpPr>
          <p:nvPr>
            <p:ph type="title"/>
          </p:nvPr>
        </p:nvSpPr>
        <p:spPr/>
        <p:txBody>
          <a:bodyPr/>
          <a:lstStyle/>
          <a:p>
            <a:r>
              <a:rPr lang="en-US" dirty="0"/>
              <a:t>Using Math Operators to Change the Value of an </a:t>
            </a:r>
            <a:r>
              <a:rPr lang="en-US" dirty="0" err="1"/>
              <a:t>enum</a:t>
            </a:r>
            <a:r>
              <a:rPr lang="en-US" dirty="0"/>
              <a:t> Variable</a:t>
            </a:r>
          </a:p>
        </p:txBody>
      </p:sp>
      <p:sp>
        <p:nvSpPr>
          <p:cNvPr id="3" name="Content Placeholder 2">
            <a:extLst>
              <a:ext uri="{FF2B5EF4-FFF2-40B4-BE49-F238E27FC236}">
                <a16:creationId xmlns:a16="http://schemas.microsoft.com/office/drawing/2014/main" id="{D57A86FE-D514-E36C-062E-8BE8A67578BF}"/>
              </a:ext>
            </a:extLst>
          </p:cNvPr>
          <p:cNvSpPr>
            <a:spLocks noGrp="1"/>
          </p:cNvSpPr>
          <p:nvPr>
            <p:ph idx="1"/>
          </p:nvPr>
        </p:nvSpPr>
        <p:spPr>
          <a:xfrm>
            <a:off x="838200" y="1825625"/>
            <a:ext cx="10515600" cy="4932226"/>
          </a:xfrm>
        </p:spPr>
        <p:txBody>
          <a:bodyPr>
            <a:normAutofit/>
          </a:bodyPr>
          <a:lstStyle/>
          <a:p>
            <a:r>
              <a:rPr lang="en-US" dirty="0"/>
              <a:t>Even though enumerators are really integers and </a:t>
            </a:r>
            <a:r>
              <a:rPr lang="en-US" dirty="0" err="1"/>
              <a:t>enum</a:t>
            </a:r>
            <a:r>
              <a:rPr lang="en-US" dirty="0"/>
              <a:t> variables really hold integer values, you can run into problems when trying to perform math operations with them. </a:t>
            </a:r>
          </a:p>
          <a:p>
            <a:r>
              <a:rPr lang="en-US" dirty="0"/>
              <a:t>For example, look at the following code.</a:t>
            </a:r>
          </a:p>
          <a:p>
            <a:endParaRPr lang="en-US" dirty="0"/>
          </a:p>
          <a:p>
            <a:endParaRPr lang="en-US" dirty="0"/>
          </a:p>
          <a:p>
            <a:r>
              <a:rPr lang="en-US" dirty="0"/>
              <a:t>The third statement causes a problem because the expression day1 + 1 results in the integer value 2. The assignment operator then attempts to assign the integer value 2 to the </a:t>
            </a:r>
            <a:r>
              <a:rPr lang="en-US" dirty="0" err="1"/>
              <a:t>enum</a:t>
            </a:r>
            <a:r>
              <a:rPr lang="en-US" dirty="0"/>
              <a:t> variable day2. Because C++ cannot implicitly convert an int to a Day, as previously discussed, an error occurs. </a:t>
            </a:r>
          </a:p>
        </p:txBody>
      </p:sp>
      <p:pic>
        <p:nvPicPr>
          <p:cNvPr id="4" name="Picture 3">
            <a:extLst>
              <a:ext uri="{FF2B5EF4-FFF2-40B4-BE49-F238E27FC236}">
                <a16:creationId xmlns:a16="http://schemas.microsoft.com/office/drawing/2014/main" id="{727DC0D8-1389-6D07-E3C1-F09C8ED33B3E}"/>
              </a:ext>
            </a:extLst>
          </p:cNvPr>
          <p:cNvPicPr>
            <a:picLocks noChangeAspect="1"/>
          </p:cNvPicPr>
          <p:nvPr/>
        </p:nvPicPr>
        <p:blipFill>
          <a:blip r:embed="rId2"/>
          <a:stretch>
            <a:fillRect/>
          </a:stretch>
        </p:blipFill>
        <p:spPr>
          <a:xfrm>
            <a:off x="3759200" y="3620588"/>
            <a:ext cx="4673600" cy="990600"/>
          </a:xfrm>
          <a:prstGeom prst="rect">
            <a:avLst/>
          </a:prstGeom>
        </p:spPr>
      </p:pic>
    </p:spTree>
    <p:extLst>
      <p:ext uri="{BB962C8B-B14F-4D97-AF65-F5344CB8AC3E}">
        <p14:creationId xmlns:p14="http://schemas.microsoft.com/office/powerpoint/2010/main" val="4151392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3DE6E-1FE1-14B1-CEB1-6052EF76A9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6D9F86-5FF6-8556-2079-BDAF280921C8}"/>
              </a:ext>
            </a:extLst>
          </p:cNvPr>
          <p:cNvSpPr>
            <a:spLocks noGrp="1"/>
          </p:cNvSpPr>
          <p:nvPr>
            <p:ph type="title"/>
          </p:nvPr>
        </p:nvSpPr>
        <p:spPr/>
        <p:txBody>
          <a:bodyPr/>
          <a:lstStyle/>
          <a:p>
            <a:r>
              <a:rPr lang="en-US" dirty="0"/>
              <a:t>Using Math Operators to Change the Value of an </a:t>
            </a:r>
            <a:r>
              <a:rPr lang="en-US" dirty="0" err="1"/>
              <a:t>enum</a:t>
            </a:r>
            <a:r>
              <a:rPr lang="en-US" dirty="0"/>
              <a:t> Variable</a:t>
            </a:r>
          </a:p>
        </p:txBody>
      </p:sp>
      <p:sp>
        <p:nvSpPr>
          <p:cNvPr id="3" name="Content Placeholder 2">
            <a:extLst>
              <a:ext uri="{FF2B5EF4-FFF2-40B4-BE49-F238E27FC236}">
                <a16:creationId xmlns:a16="http://schemas.microsoft.com/office/drawing/2014/main" id="{E7DD8C2C-3DBA-61E0-6774-CA274E403215}"/>
              </a:ext>
            </a:extLst>
          </p:cNvPr>
          <p:cNvSpPr>
            <a:spLocks noGrp="1"/>
          </p:cNvSpPr>
          <p:nvPr>
            <p:ph idx="1"/>
          </p:nvPr>
        </p:nvSpPr>
        <p:spPr>
          <a:xfrm>
            <a:off x="838200" y="1825625"/>
            <a:ext cx="10515600" cy="4932226"/>
          </a:xfrm>
        </p:spPr>
        <p:txBody>
          <a:bodyPr>
            <a:normAutofit/>
          </a:bodyPr>
          <a:lstStyle/>
          <a:p>
            <a:r>
              <a:rPr lang="en-US" dirty="0"/>
              <a:t>We can fix this by using a cast as we did above to explicitly convert the result to the Day data type, as shown here:</a:t>
            </a:r>
          </a:p>
          <a:p>
            <a:pPr lvl="1"/>
            <a:r>
              <a:rPr lang="en-US" i="1" dirty="0">
                <a:solidFill>
                  <a:srgbClr val="FF0000"/>
                </a:solidFill>
              </a:rPr>
              <a:t>day2 = </a:t>
            </a:r>
            <a:r>
              <a:rPr lang="en-US" b="1" i="1" dirty="0" err="1">
                <a:solidFill>
                  <a:srgbClr val="FF0000"/>
                </a:solidFill>
                <a:effectLst/>
              </a:rPr>
              <a:t>static_cast</a:t>
            </a:r>
            <a:r>
              <a:rPr lang="en-US" i="1" dirty="0">
                <a:solidFill>
                  <a:srgbClr val="FF0000"/>
                </a:solidFill>
              </a:rPr>
              <a:t>&lt;Day&gt;(day1 + </a:t>
            </a:r>
            <a:r>
              <a:rPr lang="en-US" i="1" dirty="0">
                <a:solidFill>
                  <a:srgbClr val="FF0000"/>
                </a:solidFill>
                <a:effectLst/>
              </a:rPr>
              <a:t>1</a:t>
            </a:r>
            <a:r>
              <a:rPr lang="en-US" i="1" dirty="0">
                <a:solidFill>
                  <a:srgbClr val="FF0000"/>
                </a:solidFill>
              </a:rPr>
              <a:t>); </a:t>
            </a:r>
            <a:r>
              <a:rPr lang="en-US" i="1" dirty="0">
                <a:solidFill>
                  <a:srgbClr val="FF0000"/>
                </a:solidFill>
                <a:effectLst/>
              </a:rPr>
              <a:t>// This works</a:t>
            </a:r>
            <a:endParaRPr lang="en-US" i="1" dirty="0">
              <a:solidFill>
                <a:srgbClr val="FF0000"/>
              </a:solidFill>
            </a:endParaRPr>
          </a:p>
        </p:txBody>
      </p:sp>
    </p:spTree>
    <p:extLst>
      <p:ext uri="{BB962C8B-B14F-4D97-AF65-F5344CB8AC3E}">
        <p14:creationId xmlns:p14="http://schemas.microsoft.com/office/powerpoint/2010/main" val="36724617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49E38-02EC-B8DE-CE8F-A3D90A85F86E}"/>
              </a:ext>
            </a:extLst>
          </p:cNvPr>
          <p:cNvSpPr>
            <a:spLocks noGrp="1"/>
          </p:cNvSpPr>
          <p:nvPr>
            <p:ph type="title"/>
          </p:nvPr>
        </p:nvSpPr>
        <p:spPr/>
        <p:txBody>
          <a:bodyPr/>
          <a:lstStyle/>
          <a:p>
            <a:r>
              <a:rPr lang="en-US" dirty="0"/>
              <a:t>Using Enumerators to Output Values</a:t>
            </a:r>
          </a:p>
        </p:txBody>
      </p:sp>
      <p:sp>
        <p:nvSpPr>
          <p:cNvPr id="3" name="Content Placeholder 2">
            <a:extLst>
              <a:ext uri="{FF2B5EF4-FFF2-40B4-BE49-F238E27FC236}">
                <a16:creationId xmlns:a16="http://schemas.microsoft.com/office/drawing/2014/main" id="{E5C2B5D2-1211-2DD8-058C-AB4BE69F4321}"/>
              </a:ext>
            </a:extLst>
          </p:cNvPr>
          <p:cNvSpPr>
            <a:spLocks noGrp="1"/>
          </p:cNvSpPr>
          <p:nvPr>
            <p:ph idx="1"/>
          </p:nvPr>
        </p:nvSpPr>
        <p:spPr/>
        <p:txBody>
          <a:bodyPr/>
          <a:lstStyle/>
          <a:p>
            <a:r>
              <a:rPr lang="en-US" dirty="0"/>
              <a:t>As we have already seen, sending an enumerator to </a:t>
            </a:r>
            <a:r>
              <a:rPr lang="en-US" dirty="0" err="1"/>
              <a:t>cout</a:t>
            </a:r>
            <a:r>
              <a:rPr lang="en-US" dirty="0"/>
              <a:t> causes the enumerator’s integer value to be displayed. </a:t>
            </a:r>
          </a:p>
          <a:p>
            <a:r>
              <a:rPr lang="en-US" dirty="0"/>
              <a:t>For example, assuming we are using the Day type previously described, the following statement displays 0.</a:t>
            </a:r>
          </a:p>
          <a:p>
            <a:pPr lvl="1"/>
            <a:r>
              <a:rPr lang="en-US" i="1" dirty="0" err="1">
                <a:solidFill>
                  <a:srgbClr val="FF0000"/>
                </a:solidFill>
              </a:rPr>
              <a:t>cout</a:t>
            </a:r>
            <a:r>
              <a:rPr lang="en-US" i="1" dirty="0">
                <a:solidFill>
                  <a:srgbClr val="FF0000"/>
                </a:solidFill>
              </a:rPr>
              <a:t> &lt;&lt; MONDAY &lt;&lt; </a:t>
            </a:r>
            <a:r>
              <a:rPr lang="en-US" i="1" dirty="0" err="1">
                <a:solidFill>
                  <a:srgbClr val="FF0000"/>
                </a:solidFill>
              </a:rPr>
              <a:t>endl</a:t>
            </a:r>
            <a:r>
              <a:rPr lang="en-US" i="1" dirty="0">
                <a:solidFill>
                  <a:srgbClr val="FF0000"/>
                </a:solidFill>
              </a:rPr>
              <a:t>;</a:t>
            </a:r>
          </a:p>
        </p:txBody>
      </p:sp>
    </p:spTree>
    <p:extLst>
      <p:ext uri="{BB962C8B-B14F-4D97-AF65-F5344CB8AC3E}">
        <p14:creationId xmlns:p14="http://schemas.microsoft.com/office/powerpoint/2010/main" val="4251463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5006E-4517-A004-B5E8-892A0D282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E979B-4C1E-9F4B-CD1D-D5D02DBC6EBE}"/>
              </a:ext>
            </a:extLst>
          </p:cNvPr>
          <p:cNvSpPr>
            <a:spLocks noGrp="1"/>
          </p:cNvSpPr>
          <p:nvPr>
            <p:ph type="title"/>
          </p:nvPr>
        </p:nvSpPr>
        <p:spPr/>
        <p:txBody>
          <a:bodyPr/>
          <a:lstStyle/>
          <a:p>
            <a:r>
              <a:rPr lang="en-US" dirty="0"/>
              <a:t>Using Enumerators to Output Values</a:t>
            </a:r>
          </a:p>
        </p:txBody>
      </p:sp>
      <p:sp>
        <p:nvSpPr>
          <p:cNvPr id="3" name="Content Placeholder 2">
            <a:extLst>
              <a:ext uri="{FF2B5EF4-FFF2-40B4-BE49-F238E27FC236}">
                <a16:creationId xmlns:a16="http://schemas.microsoft.com/office/drawing/2014/main" id="{2832D2DC-7FBE-356A-48B4-F4D75E3C735F}"/>
              </a:ext>
            </a:extLst>
          </p:cNvPr>
          <p:cNvSpPr>
            <a:spLocks noGrp="1"/>
          </p:cNvSpPr>
          <p:nvPr>
            <p:ph idx="1"/>
          </p:nvPr>
        </p:nvSpPr>
        <p:spPr>
          <a:xfrm>
            <a:off x="838200" y="1825625"/>
            <a:ext cx="6912429" cy="4351338"/>
          </a:xfrm>
        </p:spPr>
        <p:txBody>
          <a:bodyPr/>
          <a:lstStyle/>
          <a:p>
            <a:r>
              <a:rPr lang="en-US" dirty="0"/>
              <a:t>If we wish to use the enumerator to display a string such as “Monday,” we’ll have to write code that produces the desired string. </a:t>
            </a:r>
          </a:p>
          <a:p>
            <a:r>
              <a:rPr lang="en-US" dirty="0"/>
              <a:t>For example, if </a:t>
            </a:r>
            <a:r>
              <a:rPr lang="en-US" dirty="0" err="1"/>
              <a:t>workDay</a:t>
            </a:r>
            <a:r>
              <a:rPr lang="en-US" dirty="0"/>
              <a:t> is a Day variable that has been initialized to some value, the following switch statement displays the name of a day, based on the value of the variable.</a:t>
            </a:r>
            <a:endParaRPr lang="en-US" i="1" dirty="0">
              <a:solidFill>
                <a:srgbClr val="FF0000"/>
              </a:solidFill>
            </a:endParaRPr>
          </a:p>
        </p:txBody>
      </p:sp>
      <p:pic>
        <p:nvPicPr>
          <p:cNvPr id="4" name="Picture 3">
            <a:extLst>
              <a:ext uri="{FF2B5EF4-FFF2-40B4-BE49-F238E27FC236}">
                <a16:creationId xmlns:a16="http://schemas.microsoft.com/office/drawing/2014/main" id="{6AEF0FC6-5A85-2A06-A6D3-E0A1CB52CE41}"/>
              </a:ext>
            </a:extLst>
          </p:cNvPr>
          <p:cNvPicPr>
            <a:picLocks noChangeAspect="1"/>
          </p:cNvPicPr>
          <p:nvPr/>
        </p:nvPicPr>
        <p:blipFill>
          <a:blip r:embed="rId2"/>
          <a:stretch>
            <a:fillRect/>
          </a:stretch>
        </p:blipFill>
        <p:spPr>
          <a:xfrm>
            <a:off x="8081555" y="1906180"/>
            <a:ext cx="3755360" cy="3170917"/>
          </a:xfrm>
          <a:prstGeom prst="rect">
            <a:avLst/>
          </a:prstGeom>
        </p:spPr>
      </p:pic>
    </p:spTree>
    <p:extLst>
      <p:ext uri="{BB962C8B-B14F-4D97-AF65-F5344CB8AC3E}">
        <p14:creationId xmlns:p14="http://schemas.microsoft.com/office/powerpoint/2010/main" val="3399823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1FD99-70DB-5314-4226-2E543C6560A8}"/>
              </a:ext>
            </a:extLst>
          </p:cNvPr>
          <p:cNvSpPr>
            <a:spLocks noGrp="1"/>
          </p:cNvSpPr>
          <p:nvPr>
            <p:ph type="title"/>
          </p:nvPr>
        </p:nvSpPr>
        <p:spPr/>
        <p:txBody>
          <a:bodyPr/>
          <a:lstStyle/>
          <a:p>
            <a:r>
              <a:rPr lang="en-US" dirty="0"/>
              <a:t>Using Enumerators to Control a Loop</a:t>
            </a:r>
          </a:p>
        </p:txBody>
      </p:sp>
      <p:sp>
        <p:nvSpPr>
          <p:cNvPr id="3" name="Content Placeholder 2">
            <a:extLst>
              <a:ext uri="{FF2B5EF4-FFF2-40B4-BE49-F238E27FC236}">
                <a16:creationId xmlns:a16="http://schemas.microsoft.com/office/drawing/2014/main" id="{FCF51724-FD0F-A91A-9337-841D57169741}"/>
              </a:ext>
            </a:extLst>
          </p:cNvPr>
          <p:cNvSpPr>
            <a:spLocks noGrp="1"/>
          </p:cNvSpPr>
          <p:nvPr>
            <p:ph idx="1"/>
          </p:nvPr>
        </p:nvSpPr>
        <p:spPr>
          <a:xfrm>
            <a:off x="838200" y="1547812"/>
            <a:ext cx="10515600" cy="4351338"/>
          </a:xfrm>
        </p:spPr>
        <p:txBody>
          <a:bodyPr/>
          <a:lstStyle/>
          <a:p>
            <a:r>
              <a:rPr lang="en-US" dirty="0"/>
              <a:t>Because enumerators are stored in memory as integers, we can use them to control how many iterations a loop should perform.</a:t>
            </a:r>
          </a:p>
          <a:p>
            <a:r>
              <a:rPr lang="en-US" dirty="0"/>
              <a:t>However, as discussed, we cannot assign the result of a math operation to an enumerator without first casting the result to its </a:t>
            </a:r>
            <a:r>
              <a:rPr lang="en-US" dirty="0" err="1"/>
              <a:t>enum</a:t>
            </a:r>
            <a:r>
              <a:rPr lang="en-US" dirty="0"/>
              <a:t> data type. </a:t>
            </a:r>
          </a:p>
          <a:p>
            <a:r>
              <a:rPr lang="en-US" dirty="0"/>
              <a:t>Therefore, we cannot use the ++ or –– operators directly on an </a:t>
            </a:r>
            <a:r>
              <a:rPr lang="en-US" dirty="0" err="1"/>
              <a:t>enum</a:t>
            </a:r>
            <a:r>
              <a:rPr lang="en-US" dirty="0"/>
              <a:t> variable. These code will not work.</a:t>
            </a:r>
          </a:p>
        </p:txBody>
      </p:sp>
      <p:pic>
        <p:nvPicPr>
          <p:cNvPr id="4" name="Picture 3">
            <a:extLst>
              <a:ext uri="{FF2B5EF4-FFF2-40B4-BE49-F238E27FC236}">
                <a16:creationId xmlns:a16="http://schemas.microsoft.com/office/drawing/2014/main" id="{D5ED6B1A-6BCA-925F-200C-B976CECFC7C0}"/>
              </a:ext>
            </a:extLst>
          </p:cNvPr>
          <p:cNvPicPr>
            <a:picLocks noChangeAspect="1"/>
          </p:cNvPicPr>
          <p:nvPr/>
        </p:nvPicPr>
        <p:blipFill>
          <a:blip r:embed="rId2"/>
          <a:stretch>
            <a:fillRect/>
          </a:stretch>
        </p:blipFill>
        <p:spPr>
          <a:xfrm>
            <a:off x="2774950" y="4740003"/>
            <a:ext cx="6642100" cy="1917700"/>
          </a:xfrm>
          <a:prstGeom prst="rect">
            <a:avLst/>
          </a:prstGeom>
        </p:spPr>
      </p:pic>
    </p:spTree>
    <p:extLst>
      <p:ext uri="{BB962C8B-B14F-4D97-AF65-F5344CB8AC3E}">
        <p14:creationId xmlns:p14="http://schemas.microsoft.com/office/powerpoint/2010/main" val="12136743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A0B7C-CDEF-C906-DD46-A475ADDD97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E177F-AB8D-C5E6-E5C4-DB6BAA66F75D}"/>
              </a:ext>
            </a:extLst>
          </p:cNvPr>
          <p:cNvSpPr>
            <a:spLocks noGrp="1"/>
          </p:cNvSpPr>
          <p:nvPr>
            <p:ph type="title"/>
          </p:nvPr>
        </p:nvSpPr>
        <p:spPr/>
        <p:txBody>
          <a:bodyPr/>
          <a:lstStyle/>
          <a:p>
            <a:r>
              <a:rPr lang="en-US" dirty="0"/>
              <a:t>Using Enumerators to Control a Loop</a:t>
            </a:r>
          </a:p>
        </p:txBody>
      </p:sp>
      <p:sp>
        <p:nvSpPr>
          <p:cNvPr id="3" name="Content Placeholder 2">
            <a:extLst>
              <a:ext uri="{FF2B5EF4-FFF2-40B4-BE49-F238E27FC236}">
                <a16:creationId xmlns:a16="http://schemas.microsoft.com/office/drawing/2014/main" id="{AA71E363-1172-39A0-6FA9-5C3BD49615C8}"/>
              </a:ext>
            </a:extLst>
          </p:cNvPr>
          <p:cNvSpPr>
            <a:spLocks noGrp="1"/>
          </p:cNvSpPr>
          <p:nvPr>
            <p:ph idx="1"/>
          </p:nvPr>
        </p:nvSpPr>
        <p:spPr>
          <a:xfrm>
            <a:off x="838200" y="1547812"/>
            <a:ext cx="10515600" cy="4351338"/>
          </a:xfrm>
        </p:spPr>
        <p:txBody>
          <a:bodyPr/>
          <a:lstStyle/>
          <a:p>
            <a:r>
              <a:rPr lang="en-US" dirty="0"/>
              <a:t>We can solve the problem by changing the for statement to the following:</a:t>
            </a:r>
          </a:p>
          <a:p>
            <a:endParaRPr lang="en-US" dirty="0"/>
          </a:p>
          <a:p>
            <a:endParaRPr lang="en-US" dirty="0"/>
          </a:p>
          <a:p>
            <a:endParaRPr lang="en-US" dirty="0"/>
          </a:p>
          <a:p>
            <a:r>
              <a:rPr lang="en-US" dirty="0"/>
              <a:t>However, it is simpler to make the loop control variable an int. Then you can write the loop like this:</a:t>
            </a:r>
          </a:p>
        </p:txBody>
      </p:sp>
      <p:pic>
        <p:nvPicPr>
          <p:cNvPr id="5" name="Picture 4">
            <a:extLst>
              <a:ext uri="{FF2B5EF4-FFF2-40B4-BE49-F238E27FC236}">
                <a16:creationId xmlns:a16="http://schemas.microsoft.com/office/drawing/2014/main" id="{D428B37D-E993-412C-EC9A-9CF8D557D6AE}"/>
              </a:ext>
            </a:extLst>
          </p:cNvPr>
          <p:cNvPicPr>
            <a:picLocks noChangeAspect="1"/>
          </p:cNvPicPr>
          <p:nvPr/>
        </p:nvPicPr>
        <p:blipFill>
          <a:blip r:embed="rId3"/>
          <a:stretch>
            <a:fillRect/>
          </a:stretch>
        </p:blipFill>
        <p:spPr>
          <a:xfrm>
            <a:off x="3547200" y="2738993"/>
            <a:ext cx="5097599" cy="690007"/>
          </a:xfrm>
          <a:prstGeom prst="rect">
            <a:avLst/>
          </a:prstGeom>
        </p:spPr>
      </p:pic>
      <p:pic>
        <p:nvPicPr>
          <p:cNvPr id="6" name="Picture 5">
            <a:extLst>
              <a:ext uri="{FF2B5EF4-FFF2-40B4-BE49-F238E27FC236}">
                <a16:creationId xmlns:a16="http://schemas.microsoft.com/office/drawing/2014/main" id="{F50D5D2E-D495-E921-F26F-E8E327FC6EB3}"/>
              </a:ext>
            </a:extLst>
          </p:cNvPr>
          <p:cNvPicPr>
            <a:picLocks noChangeAspect="1"/>
          </p:cNvPicPr>
          <p:nvPr/>
        </p:nvPicPr>
        <p:blipFill>
          <a:blip r:embed="rId4"/>
          <a:stretch>
            <a:fillRect/>
          </a:stretch>
        </p:blipFill>
        <p:spPr>
          <a:xfrm>
            <a:off x="3143249" y="5080000"/>
            <a:ext cx="5905500" cy="1638300"/>
          </a:xfrm>
          <a:prstGeom prst="rect">
            <a:avLst/>
          </a:prstGeom>
        </p:spPr>
      </p:pic>
    </p:spTree>
    <p:extLst>
      <p:ext uri="{BB962C8B-B14F-4D97-AF65-F5344CB8AC3E}">
        <p14:creationId xmlns:p14="http://schemas.microsoft.com/office/powerpoint/2010/main" val="134983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59747-7E9A-A6AD-08CE-E3C77BCF3AA5}"/>
              </a:ext>
            </a:extLst>
          </p:cNvPr>
          <p:cNvSpPr>
            <a:spLocks noGrp="1"/>
          </p:cNvSpPr>
          <p:nvPr>
            <p:ph type="title"/>
          </p:nvPr>
        </p:nvSpPr>
        <p:spPr/>
        <p:txBody>
          <a:bodyPr/>
          <a:lstStyle/>
          <a:p>
            <a:r>
              <a:rPr lang="en-US" dirty="0"/>
              <a:t>Using </a:t>
            </a:r>
            <a:r>
              <a:rPr lang="en-US" b="1" dirty="0"/>
              <a:t>Strongly</a:t>
            </a:r>
            <a:r>
              <a:rPr lang="en-US" dirty="0"/>
              <a:t> Typed </a:t>
            </a:r>
            <a:r>
              <a:rPr lang="en-US" dirty="0" err="1"/>
              <a:t>enums</a:t>
            </a:r>
            <a:endParaRPr lang="en-US" dirty="0"/>
          </a:p>
        </p:txBody>
      </p:sp>
      <p:sp>
        <p:nvSpPr>
          <p:cNvPr id="3" name="Content Placeholder 2">
            <a:extLst>
              <a:ext uri="{FF2B5EF4-FFF2-40B4-BE49-F238E27FC236}">
                <a16:creationId xmlns:a16="http://schemas.microsoft.com/office/drawing/2014/main" id="{65F35D11-2689-3C79-EB9B-6837503109B4}"/>
              </a:ext>
            </a:extLst>
          </p:cNvPr>
          <p:cNvSpPr>
            <a:spLocks noGrp="1"/>
          </p:cNvSpPr>
          <p:nvPr>
            <p:ph idx="1"/>
          </p:nvPr>
        </p:nvSpPr>
        <p:spPr/>
        <p:txBody>
          <a:bodyPr/>
          <a:lstStyle/>
          <a:p>
            <a:r>
              <a:rPr lang="en-US" dirty="0"/>
              <a:t>C++ does not allow multiple enumerators with the same name within the same scope. </a:t>
            </a:r>
          </a:p>
          <a:p>
            <a:r>
              <a:rPr lang="en-US" dirty="0"/>
              <a:t>That is, the same enumerator name cannot be a member of two different enumerated data types defined or used in the same scope. </a:t>
            </a:r>
          </a:p>
          <a:p>
            <a:r>
              <a:rPr lang="en-US" dirty="0"/>
              <a:t>However, C++ 11 includes a new type of </a:t>
            </a:r>
            <a:r>
              <a:rPr lang="en-US" dirty="0" err="1"/>
              <a:t>enum</a:t>
            </a:r>
            <a:r>
              <a:rPr lang="en-US" dirty="0"/>
              <a:t>, known as a </a:t>
            </a:r>
            <a:r>
              <a:rPr lang="en-US" b="1" dirty="0">
                <a:hlinkClick r:id="rId2">
                  <a:extLst>
                    <a:ext uri="{A12FA001-AC4F-418D-AE19-62706E023703}">
                      <ahyp:hlinkClr xmlns:ahyp="http://schemas.microsoft.com/office/drawing/2018/hyperlinkcolor" val="tx"/>
                    </a:ext>
                  </a:extLst>
                </a:hlinkClick>
              </a:rPr>
              <a:t>strongly typed enum</a:t>
            </a:r>
            <a:r>
              <a:rPr lang="en-US" b="1" dirty="0"/>
              <a:t> </a:t>
            </a:r>
            <a:r>
              <a:rPr lang="en-US" dirty="0"/>
              <a:t>(also known as an </a:t>
            </a:r>
            <a:r>
              <a:rPr lang="en-US" b="1" dirty="0">
                <a:hlinkClick r:id="rId2">
                  <a:extLst>
                    <a:ext uri="{A12FA001-AC4F-418D-AE19-62706E023703}">
                      <ahyp:hlinkClr xmlns:ahyp="http://schemas.microsoft.com/office/drawing/2018/hyperlinkcolor" val="tx"/>
                    </a:ext>
                  </a:extLst>
                </a:hlinkClick>
              </a:rPr>
              <a:t>enum class</a:t>
            </a:r>
            <a:r>
              <a:rPr lang="en-US" dirty="0"/>
              <a:t>), to get around this limitation.</a:t>
            </a:r>
          </a:p>
        </p:txBody>
      </p:sp>
    </p:spTree>
    <p:extLst>
      <p:ext uri="{BB962C8B-B14F-4D97-AF65-F5344CB8AC3E}">
        <p14:creationId xmlns:p14="http://schemas.microsoft.com/office/powerpoint/2010/main" val="2048264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5A844-26C6-5703-5512-1C8517C1FE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CE7386-1C2F-3C7F-D022-BF79D5225AC1}"/>
              </a:ext>
            </a:extLst>
          </p:cNvPr>
          <p:cNvSpPr>
            <a:spLocks noGrp="1"/>
          </p:cNvSpPr>
          <p:nvPr>
            <p:ph type="title"/>
          </p:nvPr>
        </p:nvSpPr>
        <p:spPr/>
        <p:txBody>
          <a:bodyPr/>
          <a:lstStyle/>
          <a:p>
            <a:r>
              <a:rPr lang="en-US" dirty="0"/>
              <a:t>Using </a:t>
            </a:r>
            <a:r>
              <a:rPr lang="en-US" b="1" dirty="0"/>
              <a:t>Strongly</a:t>
            </a:r>
            <a:r>
              <a:rPr lang="en-US" dirty="0"/>
              <a:t> Typed </a:t>
            </a:r>
            <a:r>
              <a:rPr lang="en-US" dirty="0" err="1"/>
              <a:t>enums</a:t>
            </a:r>
            <a:endParaRPr lang="en-US" dirty="0"/>
          </a:p>
        </p:txBody>
      </p:sp>
      <p:sp>
        <p:nvSpPr>
          <p:cNvPr id="3" name="Content Placeholder 2">
            <a:extLst>
              <a:ext uri="{FF2B5EF4-FFF2-40B4-BE49-F238E27FC236}">
                <a16:creationId xmlns:a16="http://schemas.microsoft.com/office/drawing/2014/main" id="{10F127B0-B8E7-708B-E829-8131536DC9FB}"/>
              </a:ext>
            </a:extLst>
          </p:cNvPr>
          <p:cNvSpPr>
            <a:spLocks noGrp="1"/>
          </p:cNvSpPr>
          <p:nvPr>
            <p:ph idx="1"/>
          </p:nvPr>
        </p:nvSpPr>
        <p:spPr/>
        <p:txBody>
          <a:bodyPr>
            <a:normAutofit lnSpcReduction="10000"/>
          </a:bodyPr>
          <a:lstStyle/>
          <a:p>
            <a:pPr algn="l"/>
            <a:r>
              <a:rPr lang="en-US" dirty="0">
                <a:effectLst/>
              </a:rPr>
              <a:t>Here are two examples of a strongly typed </a:t>
            </a:r>
            <a:r>
              <a:rPr lang="en-US" dirty="0" err="1">
                <a:effectLst/>
              </a:rPr>
              <a:t>enum</a:t>
            </a:r>
            <a:r>
              <a:rPr lang="en-US" dirty="0">
                <a:effectLst/>
              </a:rPr>
              <a:t> declaration:</a:t>
            </a:r>
          </a:p>
          <a:p>
            <a:pPr lvl="1"/>
            <a:r>
              <a:rPr lang="en-US" b="1" i="1" dirty="0" err="1">
                <a:solidFill>
                  <a:srgbClr val="C00000"/>
                </a:solidFill>
                <a:effectLst/>
              </a:rPr>
              <a:t>enum</a:t>
            </a:r>
            <a:r>
              <a:rPr lang="en-US" i="1" dirty="0">
                <a:solidFill>
                  <a:srgbClr val="C00000"/>
                </a:solidFill>
              </a:rPr>
              <a:t> </a:t>
            </a:r>
            <a:r>
              <a:rPr lang="en-US" b="1" i="1" dirty="0">
                <a:solidFill>
                  <a:srgbClr val="C00000"/>
                </a:solidFill>
                <a:effectLst/>
              </a:rPr>
              <a:t>class</a:t>
            </a:r>
            <a:r>
              <a:rPr lang="en-US" i="1" dirty="0">
                <a:solidFill>
                  <a:srgbClr val="C00000"/>
                </a:solidFill>
              </a:rPr>
              <a:t> </a:t>
            </a:r>
            <a:r>
              <a:rPr lang="en-US" b="1" i="1" dirty="0">
                <a:solidFill>
                  <a:srgbClr val="C00000"/>
                </a:solidFill>
                <a:effectLst/>
              </a:rPr>
              <a:t>Presidents</a:t>
            </a:r>
            <a:r>
              <a:rPr lang="en-US" i="1" dirty="0">
                <a:solidFill>
                  <a:srgbClr val="C00000"/>
                </a:solidFill>
              </a:rPr>
              <a:t> { MCKINLEY, ROOSEVELT, TAFT }; </a:t>
            </a:r>
          </a:p>
          <a:p>
            <a:pPr lvl="1"/>
            <a:r>
              <a:rPr lang="en-US" b="1" i="1" dirty="0" err="1">
                <a:solidFill>
                  <a:srgbClr val="C00000"/>
                </a:solidFill>
                <a:effectLst/>
              </a:rPr>
              <a:t>enum</a:t>
            </a:r>
            <a:r>
              <a:rPr lang="en-US" i="1" dirty="0">
                <a:solidFill>
                  <a:srgbClr val="C00000"/>
                </a:solidFill>
              </a:rPr>
              <a:t> </a:t>
            </a:r>
            <a:r>
              <a:rPr lang="en-US" b="1" i="1" dirty="0">
                <a:solidFill>
                  <a:srgbClr val="C00000"/>
                </a:solidFill>
                <a:effectLst/>
              </a:rPr>
              <a:t>class</a:t>
            </a:r>
            <a:r>
              <a:rPr lang="en-US" i="1" dirty="0">
                <a:solidFill>
                  <a:srgbClr val="C00000"/>
                </a:solidFill>
              </a:rPr>
              <a:t> </a:t>
            </a:r>
            <a:r>
              <a:rPr lang="en-US" b="1" i="1" dirty="0" err="1">
                <a:solidFill>
                  <a:srgbClr val="C00000"/>
                </a:solidFill>
                <a:effectLst/>
              </a:rPr>
              <a:t>VicePresidents</a:t>
            </a:r>
            <a:r>
              <a:rPr lang="en-US" i="1" dirty="0">
                <a:solidFill>
                  <a:srgbClr val="C00000"/>
                </a:solidFill>
              </a:rPr>
              <a:t> { ROOSEVELT, FAIRBANKS, SHERMAN }; </a:t>
            </a:r>
          </a:p>
          <a:p>
            <a:pPr marL="0" indent="0" algn="l">
              <a:buNone/>
            </a:pPr>
            <a:endParaRPr lang="en-US" dirty="0">
              <a:effectLst/>
            </a:endParaRPr>
          </a:p>
          <a:p>
            <a:pPr algn="l"/>
            <a:r>
              <a:rPr lang="en-US" dirty="0">
                <a:effectLst/>
              </a:rPr>
              <a:t>When you use a strongly typed enumerated data type, however, you must prefix every enumerator you reference with the name of the </a:t>
            </a:r>
            <a:r>
              <a:rPr lang="en-US" dirty="0" err="1">
                <a:effectLst/>
              </a:rPr>
              <a:t>enum</a:t>
            </a:r>
            <a:r>
              <a:rPr lang="en-US" dirty="0">
                <a:effectLst/>
              </a:rPr>
              <a:t> it belongs to, followed by the :: operator. Here are three examples:</a:t>
            </a:r>
          </a:p>
          <a:p>
            <a:pPr lvl="1"/>
            <a:r>
              <a:rPr lang="en-US" i="1" dirty="0">
                <a:solidFill>
                  <a:srgbClr val="C00000"/>
                </a:solidFill>
              </a:rPr>
              <a:t>Presidents </a:t>
            </a:r>
            <a:r>
              <a:rPr lang="en-US" i="1" dirty="0" err="1">
                <a:solidFill>
                  <a:srgbClr val="C00000"/>
                </a:solidFill>
              </a:rPr>
              <a:t>prez</a:t>
            </a:r>
            <a:r>
              <a:rPr lang="en-US" i="1" dirty="0">
                <a:solidFill>
                  <a:srgbClr val="C00000"/>
                </a:solidFill>
              </a:rPr>
              <a:t> = Presidents::ROOSEVELT; </a:t>
            </a:r>
          </a:p>
          <a:p>
            <a:pPr lvl="1"/>
            <a:r>
              <a:rPr lang="en-US" i="1" dirty="0" err="1">
                <a:solidFill>
                  <a:srgbClr val="C00000"/>
                </a:solidFill>
              </a:rPr>
              <a:t>VicePresidents</a:t>
            </a:r>
            <a:r>
              <a:rPr lang="en-US" i="1" dirty="0">
                <a:solidFill>
                  <a:srgbClr val="C00000"/>
                </a:solidFill>
              </a:rPr>
              <a:t> vp1 = </a:t>
            </a:r>
            <a:r>
              <a:rPr lang="en-US" i="1" dirty="0" err="1">
                <a:solidFill>
                  <a:srgbClr val="C00000"/>
                </a:solidFill>
              </a:rPr>
              <a:t>VicePresidents</a:t>
            </a:r>
            <a:r>
              <a:rPr lang="en-US" i="1" dirty="0">
                <a:solidFill>
                  <a:srgbClr val="C00000"/>
                </a:solidFill>
              </a:rPr>
              <a:t>::ROOSEVELT; </a:t>
            </a:r>
          </a:p>
          <a:p>
            <a:pPr lvl="1"/>
            <a:r>
              <a:rPr lang="en-US" i="1" dirty="0" err="1">
                <a:solidFill>
                  <a:srgbClr val="C00000"/>
                </a:solidFill>
              </a:rPr>
              <a:t>VicePresidents</a:t>
            </a:r>
            <a:r>
              <a:rPr lang="en-US" i="1" dirty="0">
                <a:solidFill>
                  <a:srgbClr val="C00000"/>
                </a:solidFill>
              </a:rPr>
              <a:t> vp2 = </a:t>
            </a:r>
            <a:r>
              <a:rPr lang="en-US" i="1" dirty="0" err="1">
                <a:solidFill>
                  <a:srgbClr val="C00000"/>
                </a:solidFill>
              </a:rPr>
              <a:t>VicePresidents</a:t>
            </a:r>
            <a:r>
              <a:rPr lang="en-US" i="1" dirty="0">
                <a:solidFill>
                  <a:srgbClr val="C00000"/>
                </a:solidFill>
              </a:rPr>
              <a:t>::SHERMAN; </a:t>
            </a:r>
          </a:p>
          <a:p>
            <a:pPr algn="l"/>
            <a:endParaRPr lang="en-US" dirty="0">
              <a:effectLst/>
            </a:endParaRPr>
          </a:p>
        </p:txBody>
      </p:sp>
    </p:spTree>
    <p:extLst>
      <p:ext uri="{BB962C8B-B14F-4D97-AF65-F5344CB8AC3E}">
        <p14:creationId xmlns:p14="http://schemas.microsoft.com/office/powerpoint/2010/main" val="2136470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CC3AB-2D73-AB7A-A3DA-E8AB5DB85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17C75D-C855-CCBE-95A9-DD44092F360C}"/>
              </a:ext>
            </a:extLst>
          </p:cNvPr>
          <p:cNvSpPr>
            <a:spLocks noGrp="1"/>
          </p:cNvSpPr>
          <p:nvPr>
            <p:ph type="title"/>
          </p:nvPr>
        </p:nvSpPr>
        <p:spPr/>
        <p:txBody>
          <a:bodyPr/>
          <a:lstStyle/>
          <a:p>
            <a:r>
              <a:rPr lang="en-US" dirty="0"/>
              <a:t>Using </a:t>
            </a:r>
            <a:r>
              <a:rPr lang="en-US" b="1" dirty="0"/>
              <a:t>Strongly</a:t>
            </a:r>
            <a:r>
              <a:rPr lang="en-US" dirty="0"/>
              <a:t> Typed </a:t>
            </a:r>
            <a:r>
              <a:rPr lang="en-US" dirty="0" err="1"/>
              <a:t>enums</a:t>
            </a:r>
            <a:endParaRPr lang="en-US" dirty="0"/>
          </a:p>
        </p:txBody>
      </p:sp>
      <p:sp>
        <p:nvSpPr>
          <p:cNvPr id="3" name="Content Placeholder 2">
            <a:extLst>
              <a:ext uri="{FF2B5EF4-FFF2-40B4-BE49-F238E27FC236}">
                <a16:creationId xmlns:a16="http://schemas.microsoft.com/office/drawing/2014/main" id="{6A226A78-5B73-4A66-4957-EFDF89DAFCF8}"/>
              </a:ext>
            </a:extLst>
          </p:cNvPr>
          <p:cNvSpPr>
            <a:spLocks noGrp="1"/>
          </p:cNvSpPr>
          <p:nvPr>
            <p:ph idx="1"/>
          </p:nvPr>
        </p:nvSpPr>
        <p:spPr/>
        <p:txBody>
          <a:bodyPr>
            <a:normAutofit/>
          </a:bodyPr>
          <a:lstStyle/>
          <a:p>
            <a:pPr algn="l"/>
            <a:r>
              <a:rPr lang="en-US" dirty="0"/>
              <a:t>Strongly typed enumerators are stored as integers, like regular enumerators. </a:t>
            </a:r>
          </a:p>
          <a:p>
            <a:pPr algn="l"/>
            <a:r>
              <a:rPr lang="en-US" dirty="0"/>
              <a:t>However, if you want to retrieve a strongly typed enumerator’s underlying integer value, you must use a </a:t>
            </a:r>
            <a:r>
              <a:rPr lang="en-US" b="1" dirty="0"/>
              <a:t>cast operator</a:t>
            </a:r>
            <a:r>
              <a:rPr lang="en-US" dirty="0"/>
              <a:t>. </a:t>
            </a:r>
          </a:p>
          <a:p>
            <a:pPr algn="l"/>
            <a:r>
              <a:rPr lang="en-US" dirty="0"/>
              <a:t>Here is a few examples </a:t>
            </a:r>
          </a:p>
          <a:p>
            <a:pPr lvl="1"/>
            <a:r>
              <a:rPr lang="en-US" b="1" i="1" dirty="0">
                <a:solidFill>
                  <a:srgbClr val="C00000"/>
                </a:solidFill>
                <a:effectLst/>
              </a:rPr>
              <a:t>int</a:t>
            </a:r>
            <a:r>
              <a:rPr lang="en-US" i="1" dirty="0">
                <a:solidFill>
                  <a:srgbClr val="C00000"/>
                </a:solidFill>
              </a:rPr>
              <a:t> x = </a:t>
            </a:r>
            <a:r>
              <a:rPr lang="en-US" b="1" i="1" dirty="0" err="1">
                <a:solidFill>
                  <a:srgbClr val="C00000"/>
                </a:solidFill>
                <a:effectLst/>
              </a:rPr>
              <a:t>static_cast</a:t>
            </a:r>
            <a:r>
              <a:rPr lang="en-US" i="1" dirty="0">
                <a:solidFill>
                  <a:srgbClr val="C00000"/>
                </a:solidFill>
              </a:rPr>
              <a:t>&lt;</a:t>
            </a:r>
            <a:r>
              <a:rPr lang="en-US" b="1" i="1" dirty="0">
                <a:solidFill>
                  <a:srgbClr val="C00000"/>
                </a:solidFill>
                <a:effectLst/>
              </a:rPr>
              <a:t>int</a:t>
            </a:r>
            <a:r>
              <a:rPr lang="en-US" i="1" dirty="0">
                <a:solidFill>
                  <a:srgbClr val="C00000"/>
                </a:solidFill>
              </a:rPr>
              <a:t>&gt;(Presidents::ROOSEVELT);</a:t>
            </a:r>
          </a:p>
          <a:p>
            <a:pPr lvl="1"/>
            <a:r>
              <a:rPr lang="en-US" i="1" dirty="0" err="1">
                <a:solidFill>
                  <a:srgbClr val="C00000"/>
                </a:solidFill>
              </a:rPr>
              <a:t>cout</a:t>
            </a:r>
            <a:r>
              <a:rPr lang="en-US" i="1" dirty="0">
                <a:solidFill>
                  <a:srgbClr val="C00000"/>
                </a:solidFill>
              </a:rPr>
              <a:t> &lt;&lt; </a:t>
            </a:r>
            <a:r>
              <a:rPr lang="en-US" b="1" i="1" dirty="0" err="1">
                <a:solidFill>
                  <a:srgbClr val="C00000"/>
                </a:solidFill>
                <a:effectLst/>
              </a:rPr>
              <a:t>static_cast</a:t>
            </a:r>
            <a:r>
              <a:rPr lang="en-US" i="1" dirty="0">
                <a:solidFill>
                  <a:srgbClr val="C00000"/>
                </a:solidFill>
              </a:rPr>
              <a:t>&lt;</a:t>
            </a:r>
            <a:r>
              <a:rPr lang="en-US" b="1" i="1" dirty="0">
                <a:solidFill>
                  <a:srgbClr val="C00000"/>
                </a:solidFill>
                <a:effectLst/>
              </a:rPr>
              <a:t>int</a:t>
            </a:r>
            <a:r>
              <a:rPr lang="en-US" i="1" dirty="0">
                <a:solidFill>
                  <a:srgbClr val="C00000"/>
                </a:solidFill>
              </a:rPr>
              <a:t>&gt;(Presidents::ROOSEVELT) &lt;&lt; </a:t>
            </a:r>
            <a:r>
              <a:rPr lang="en-US" i="1" dirty="0">
                <a:solidFill>
                  <a:srgbClr val="C00000"/>
                </a:solidFill>
                <a:effectLst/>
              </a:rPr>
              <a:t>" "</a:t>
            </a:r>
            <a:r>
              <a:rPr lang="en-US" i="1" dirty="0">
                <a:solidFill>
                  <a:srgbClr val="C00000"/>
                </a:solidFill>
              </a:rPr>
              <a:t> &lt;&lt; </a:t>
            </a:r>
            <a:r>
              <a:rPr lang="en-US" b="1" i="1" dirty="0" err="1">
                <a:solidFill>
                  <a:srgbClr val="C00000"/>
                </a:solidFill>
                <a:effectLst/>
              </a:rPr>
              <a:t>static_cast</a:t>
            </a:r>
            <a:r>
              <a:rPr lang="en-US" i="1" dirty="0">
                <a:solidFill>
                  <a:srgbClr val="C00000"/>
                </a:solidFill>
              </a:rPr>
              <a:t>&lt;</a:t>
            </a:r>
            <a:r>
              <a:rPr lang="en-US" b="1" i="1" dirty="0">
                <a:solidFill>
                  <a:srgbClr val="C00000"/>
                </a:solidFill>
                <a:effectLst/>
              </a:rPr>
              <a:t>int</a:t>
            </a:r>
            <a:r>
              <a:rPr lang="en-US" i="1" dirty="0">
                <a:solidFill>
                  <a:srgbClr val="C00000"/>
                </a:solidFill>
              </a:rPr>
              <a:t>&gt;(Presidents::TAFT) &lt;&lt; </a:t>
            </a:r>
            <a:r>
              <a:rPr lang="en-US" i="1" dirty="0" err="1">
                <a:solidFill>
                  <a:srgbClr val="C00000"/>
                </a:solidFill>
              </a:rPr>
              <a:t>endl</a:t>
            </a:r>
            <a:r>
              <a:rPr lang="en-US" i="1" dirty="0">
                <a:solidFill>
                  <a:srgbClr val="C00000"/>
                </a:solidFill>
              </a:rPr>
              <a:t>; </a:t>
            </a:r>
            <a:endParaRPr lang="en-US" i="1" dirty="0">
              <a:solidFill>
                <a:srgbClr val="C00000"/>
              </a:solidFill>
              <a:effectLst/>
            </a:endParaRPr>
          </a:p>
        </p:txBody>
      </p:sp>
    </p:spTree>
    <p:extLst>
      <p:ext uri="{BB962C8B-B14F-4D97-AF65-F5344CB8AC3E}">
        <p14:creationId xmlns:p14="http://schemas.microsoft.com/office/powerpoint/2010/main" val="2585828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EFFED-28C8-7669-E513-3ABC590421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0C080-C2B0-A4E6-CCCC-764550561D31}"/>
              </a:ext>
            </a:extLst>
          </p:cNvPr>
          <p:cNvSpPr>
            <a:spLocks noGrp="1"/>
          </p:cNvSpPr>
          <p:nvPr>
            <p:ph type="title"/>
          </p:nvPr>
        </p:nvSpPr>
        <p:spPr>
          <a:xfrm>
            <a:off x="838200" y="365125"/>
            <a:ext cx="3461657" cy="1325563"/>
          </a:xfrm>
        </p:spPr>
        <p:txBody>
          <a:bodyPr>
            <a:normAutofit fontScale="90000"/>
          </a:bodyPr>
          <a:lstStyle/>
          <a:p>
            <a:r>
              <a:rPr lang="en-US" dirty="0"/>
              <a:t>Using </a:t>
            </a:r>
            <a:r>
              <a:rPr lang="en-US" b="1" dirty="0"/>
              <a:t>Strongly</a:t>
            </a:r>
            <a:r>
              <a:rPr lang="en-US" dirty="0"/>
              <a:t> Typed </a:t>
            </a:r>
            <a:r>
              <a:rPr lang="en-US" dirty="0" err="1"/>
              <a:t>enums</a:t>
            </a:r>
            <a:endParaRPr lang="en-US" dirty="0"/>
          </a:p>
        </p:txBody>
      </p:sp>
      <p:pic>
        <p:nvPicPr>
          <p:cNvPr id="4" name="Picture 3">
            <a:extLst>
              <a:ext uri="{FF2B5EF4-FFF2-40B4-BE49-F238E27FC236}">
                <a16:creationId xmlns:a16="http://schemas.microsoft.com/office/drawing/2014/main" id="{522A1A16-263E-55CF-93C7-199AFDA3DF3B}"/>
              </a:ext>
            </a:extLst>
          </p:cNvPr>
          <p:cNvPicPr>
            <a:picLocks noChangeAspect="1"/>
          </p:cNvPicPr>
          <p:nvPr/>
        </p:nvPicPr>
        <p:blipFill>
          <a:blip r:embed="rId2"/>
          <a:stretch>
            <a:fillRect/>
          </a:stretch>
        </p:blipFill>
        <p:spPr>
          <a:xfrm>
            <a:off x="4728759" y="0"/>
            <a:ext cx="5884812" cy="6875810"/>
          </a:xfrm>
          <a:prstGeom prst="rect">
            <a:avLst/>
          </a:prstGeom>
        </p:spPr>
      </p:pic>
    </p:spTree>
    <p:extLst>
      <p:ext uri="{BB962C8B-B14F-4D97-AF65-F5344CB8AC3E}">
        <p14:creationId xmlns:p14="http://schemas.microsoft.com/office/powerpoint/2010/main" val="28306674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6814B-74A2-8878-00F9-552BC609029F}"/>
              </a:ext>
            </a:extLst>
          </p:cNvPr>
          <p:cNvSpPr>
            <a:spLocks noGrp="1"/>
          </p:cNvSpPr>
          <p:nvPr>
            <p:ph type="title"/>
          </p:nvPr>
        </p:nvSpPr>
        <p:spPr/>
        <p:txBody>
          <a:bodyPr/>
          <a:lstStyle/>
          <a:p>
            <a:r>
              <a:rPr lang="en-US" dirty="0"/>
              <a:t>Static Members</a:t>
            </a:r>
          </a:p>
        </p:txBody>
      </p:sp>
      <p:sp>
        <p:nvSpPr>
          <p:cNvPr id="3" name="Content Placeholder 2">
            <a:extLst>
              <a:ext uri="{FF2B5EF4-FFF2-40B4-BE49-F238E27FC236}">
                <a16:creationId xmlns:a16="http://schemas.microsoft.com/office/drawing/2014/main" id="{B7B6F4C5-D0EC-3B47-0F6B-A74981AF5272}"/>
              </a:ext>
            </a:extLst>
          </p:cNvPr>
          <p:cNvSpPr>
            <a:spLocks noGrp="1"/>
          </p:cNvSpPr>
          <p:nvPr>
            <p:ph idx="1"/>
          </p:nvPr>
        </p:nvSpPr>
        <p:spPr/>
        <p:txBody>
          <a:bodyPr/>
          <a:lstStyle/>
          <a:p>
            <a:r>
              <a:rPr lang="en-US" dirty="0">
                <a:effectLst/>
              </a:rPr>
              <a:t>If a member variable is declared static, all objects of that class have access to that variable. </a:t>
            </a:r>
          </a:p>
          <a:p>
            <a:r>
              <a:rPr lang="en-US" dirty="0">
                <a:effectLst/>
              </a:rPr>
              <a:t>If a member function is declared static, it may be called before any instances of the class are defined.</a:t>
            </a:r>
          </a:p>
          <a:p>
            <a:endParaRPr lang="en-US" dirty="0"/>
          </a:p>
        </p:txBody>
      </p:sp>
    </p:spTree>
    <p:extLst>
      <p:ext uri="{BB962C8B-B14F-4D97-AF65-F5344CB8AC3E}">
        <p14:creationId xmlns:p14="http://schemas.microsoft.com/office/powerpoint/2010/main" val="2983473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B3690-6156-8AEC-5C57-7DF734ADA3C8}"/>
              </a:ext>
            </a:extLst>
          </p:cNvPr>
          <p:cNvSpPr>
            <a:spLocks noGrp="1"/>
          </p:cNvSpPr>
          <p:nvPr>
            <p:ph type="title"/>
          </p:nvPr>
        </p:nvSpPr>
        <p:spPr/>
        <p:txBody>
          <a:bodyPr/>
          <a:lstStyle/>
          <a:p>
            <a:r>
              <a:rPr lang="en-US" dirty="0"/>
              <a:t>Static Members</a:t>
            </a:r>
          </a:p>
        </p:txBody>
      </p:sp>
      <p:sp>
        <p:nvSpPr>
          <p:cNvPr id="3" name="Content Placeholder 2">
            <a:extLst>
              <a:ext uri="{FF2B5EF4-FFF2-40B4-BE49-F238E27FC236}">
                <a16:creationId xmlns:a16="http://schemas.microsoft.com/office/drawing/2014/main" id="{C57BF44F-F139-5709-9A37-C3B3CC31E9FC}"/>
              </a:ext>
            </a:extLst>
          </p:cNvPr>
          <p:cNvSpPr>
            <a:spLocks noGrp="1"/>
          </p:cNvSpPr>
          <p:nvPr>
            <p:ph idx="1"/>
          </p:nvPr>
        </p:nvSpPr>
        <p:spPr>
          <a:xfrm>
            <a:off x="838200" y="1825625"/>
            <a:ext cx="5916283" cy="4351338"/>
          </a:xfrm>
        </p:spPr>
        <p:txBody>
          <a:bodyPr/>
          <a:lstStyle/>
          <a:p>
            <a:r>
              <a:rPr lang="en-US" dirty="0"/>
              <a:t>By default, each class object (an instance of a class) has its own copy of the class’s member variables. </a:t>
            </a:r>
          </a:p>
          <a:p>
            <a:r>
              <a:rPr lang="en-US" dirty="0"/>
              <a:t>An object’s member variables are separate and distinct from the member variables of other objects of the same class.</a:t>
            </a:r>
          </a:p>
        </p:txBody>
      </p:sp>
      <p:pic>
        <p:nvPicPr>
          <p:cNvPr id="4" name="Picture 3">
            <a:extLst>
              <a:ext uri="{FF2B5EF4-FFF2-40B4-BE49-F238E27FC236}">
                <a16:creationId xmlns:a16="http://schemas.microsoft.com/office/drawing/2014/main" id="{DC8A143E-0D16-9A7B-AFBB-0BC0465A037D}"/>
              </a:ext>
            </a:extLst>
          </p:cNvPr>
          <p:cNvPicPr>
            <a:picLocks noChangeAspect="1"/>
          </p:cNvPicPr>
          <p:nvPr/>
        </p:nvPicPr>
        <p:blipFill>
          <a:blip r:embed="rId2"/>
          <a:stretch>
            <a:fillRect/>
          </a:stretch>
        </p:blipFill>
        <p:spPr>
          <a:xfrm>
            <a:off x="6879772" y="1625600"/>
            <a:ext cx="4310742" cy="3778552"/>
          </a:xfrm>
          <a:prstGeom prst="rect">
            <a:avLst/>
          </a:prstGeom>
        </p:spPr>
      </p:pic>
    </p:spTree>
    <p:extLst>
      <p:ext uri="{BB962C8B-B14F-4D97-AF65-F5344CB8AC3E}">
        <p14:creationId xmlns:p14="http://schemas.microsoft.com/office/powerpoint/2010/main" val="16778480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3718D-4D5E-368D-C6DD-79CB6B4A9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2983D-AEEB-6071-B673-E84EA9808F8A}"/>
              </a:ext>
            </a:extLst>
          </p:cNvPr>
          <p:cNvSpPr>
            <a:spLocks noGrp="1"/>
          </p:cNvSpPr>
          <p:nvPr>
            <p:ph type="title"/>
          </p:nvPr>
        </p:nvSpPr>
        <p:spPr/>
        <p:txBody>
          <a:bodyPr/>
          <a:lstStyle/>
          <a:p>
            <a:r>
              <a:rPr lang="en-US" dirty="0"/>
              <a:t>Static Members</a:t>
            </a:r>
          </a:p>
        </p:txBody>
      </p:sp>
      <p:sp>
        <p:nvSpPr>
          <p:cNvPr id="3" name="Content Placeholder 2">
            <a:extLst>
              <a:ext uri="{FF2B5EF4-FFF2-40B4-BE49-F238E27FC236}">
                <a16:creationId xmlns:a16="http://schemas.microsoft.com/office/drawing/2014/main" id="{3F95BB38-0BF4-D09B-6719-277BBA0692C8}"/>
              </a:ext>
            </a:extLst>
          </p:cNvPr>
          <p:cNvSpPr>
            <a:spLocks noGrp="1"/>
          </p:cNvSpPr>
          <p:nvPr>
            <p:ph idx="1"/>
          </p:nvPr>
        </p:nvSpPr>
        <p:spPr>
          <a:xfrm>
            <a:off x="838200" y="1825625"/>
            <a:ext cx="6041572" cy="4351338"/>
          </a:xfrm>
        </p:spPr>
        <p:txBody>
          <a:bodyPr>
            <a:normAutofit lnSpcReduction="10000"/>
          </a:bodyPr>
          <a:lstStyle/>
          <a:p>
            <a:r>
              <a:rPr lang="en-US" dirty="0"/>
              <a:t>Now, Assume that in a program, two separate instances of the Widget class are created by the following declaration: </a:t>
            </a:r>
          </a:p>
          <a:p>
            <a:pPr lvl="1"/>
            <a:r>
              <a:rPr lang="en-US" i="1" dirty="0">
                <a:solidFill>
                  <a:srgbClr val="C00000"/>
                </a:solidFill>
              </a:rPr>
              <a:t>Widget </a:t>
            </a:r>
            <a:r>
              <a:rPr lang="en-US" b="1" i="1" dirty="0">
                <a:solidFill>
                  <a:srgbClr val="C00000"/>
                </a:solidFill>
                <a:effectLst/>
              </a:rPr>
              <a:t>w1</a:t>
            </a:r>
            <a:r>
              <a:rPr lang="en-US" i="1" dirty="0">
                <a:solidFill>
                  <a:srgbClr val="C00000"/>
                </a:solidFill>
              </a:rPr>
              <a:t>(</a:t>
            </a:r>
            <a:r>
              <a:rPr lang="en-US" i="1" dirty="0">
                <a:solidFill>
                  <a:srgbClr val="C00000"/>
                </a:solidFill>
                <a:effectLst/>
              </a:rPr>
              <a:t>14.50</a:t>
            </a:r>
            <a:r>
              <a:rPr lang="en-US" i="1" dirty="0">
                <a:solidFill>
                  <a:srgbClr val="C00000"/>
                </a:solidFill>
              </a:rPr>
              <a:t>, </a:t>
            </a:r>
            <a:r>
              <a:rPr lang="en-US" i="1" dirty="0">
                <a:solidFill>
                  <a:srgbClr val="C00000"/>
                </a:solidFill>
                <a:effectLst/>
              </a:rPr>
              <a:t>100</a:t>
            </a:r>
            <a:r>
              <a:rPr lang="en-US" i="1" dirty="0">
                <a:solidFill>
                  <a:srgbClr val="C00000"/>
                </a:solidFill>
              </a:rPr>
              <a:t>), </a:t>
            </a:r>
            <a:r>
              <a:rPr lang="en-US" b="1" i="1" dirty="0">
                <a:solidFill>
                  <a:srgbClr val="C00000"/>
                </a:solidFill>
                <a:effectLst/>
              </a:rPr>
              <a:t>w2</a:t>
            </a:r>
            <a:r>
              <a:rPr lang="en-US" i="1" dirty="0">
                <a:solidFill>
                  <a:srgbClr val="C00000"/>
                </a:solidFill>
              </a:rPr>
              <a:t>(</a:t>
            </a:r>
            <a:r>
              <a:rPr lang="en-US" i="1" dirty="0">
                <a:solidFill>
                  <a:srgbClr val="C00000"/>
                </a:solidFill>
                <a:effectLst/>
              </a:rPr>
              <a:t>12.75</a:t>
            </a:r>
            <a:r>
              <a:rPr lang="en-US" i="1" dirty="0">
                <a:solidFill>
                  <a:srgbClr val="C00000"/>
                </a:solidFill>
              </a:rPr>
              <a:t>, </a:t>
            </a:r>
            <a:r>
              <a:rPr lang="en-US" i="1" dirty="0">
                <a:solidFill>
                  <a:srgbClr val="C00000"/>
                </a:solidFill>
                <a:effectLst/>
              </a:rPr>
              <a:t>500</a:t>
            </a:r>
            <a:r>
              <a:rPr lang="en-US" i="1" dirty="0">
                <a:solidFill>
                  <a:srgbClr val="C00000"/>
                </a:solidFill>
              </a:rPr>
              <a:t>); </a:t>
            </a:r>
            <a:endParaRPr lang="en-US" dirty="0"/>
          </a:p>
          <a:p>
            <a:r>
              <a:rPr lang="en-US" dirty="0"/>
              <a:t>This statement creates w1 and w2, two distinct objects. Each has its own price and quantity member variables. </a:t>
            </a:r>
          </a:p>
          <a:p>
            <a:pPr lvl="1"/>
            <a:r>
              <a:rPr lang="en-US" i="1" dirty="0" err="1">
                <a:solidFill>
                  <a:srgbClr val="C00000"/>
                </a:solidFill>
              </a:rPr>
              <a:t>cout</a:t>
            </a:r>
            <a:r>
              <a:rPr lang="en-US" i="1" dirty="0">
                <a:solidFill>
                  <a:srgbClr val="C00000"/>
                </a:solidFill>
              </a:rPr>
              <a:t> &lt;&lt; w1.</a:t>
            </a:r>
            <a:r>
              <a:rPr lang="en-US" i="1" dirty="0">
                <a:solidFill>
                  <a:srgbClr val="C00000"/>
                </a:solidFill>
                <a:effectLst/>
              </a:rPr>
              <a:t>getQuantity</a:t>
            </a:r>
            <a:r>
              <a:rPr lang="en-US" i="1" dirty="0">
                <a:solidFill>
                  <a:srgbClr val="C00000"/>
                </a:solidFill>
              </a:rPr>
              <a:t>() &lt;&lt; </a:t>
            </a:r>
            <a:r>
              <a:rPr lang="en-US" i="1" dirty="0">
                <a:solidFill>
                  <a:srgbClr val="C00000"/>
                </a:solidFill>
                <a:effectLst/>
              </a:rPr>
              <a:t>" "</a:t>
            </a:r>
            <a:r>
              <a:rPr lang="en-US" i="1" dirty="0">
                <a:solidFill>
                  <a:srgbClr val="C00000"/>
                </a:solidFill>
              </a:rPr>
              <a:t> &lt;&lt; w2.</a:t>
            </a:r>
            <a:r>
              <a:rPr lang="en-US" i="1" dirty="0">
                <a:solidFill>
                  <a:srgbClr val="C00000"/>
                </a:solidFill>
                <a:effectLst/>
              </a:rPr>
              <a:t>getQuantity</a:t>
            </a:r>
            <a:r>
              <a:rPr lang="en-US" i="1" dirty="0">
                <a:solidFill>
                  <a:srgbClr val="C00000"/>
                </a:solidFill>
              </a:rPr>
              <a:t>(); </a:t>
            </a:r>
          </a:p>
          <a:p>
            <a:pPr lvl="2"/>
            <a:r>
              <a:rPr lang="en-US" dirty="0"/>
              <a:t>//will return the value 100 500</a:t>
            </a:r>
          </a:p>
          <a:p>
            <a:endParaRPr lang="en-US" dirty="0"/>
          </a:p>
        </p:txBody>
      </p:sp>
      <p:pic>
        <p:nvPicPr>
          <p:cNvPr id="4" name="Picture 3">
            <a:extLst>
              <a:ext uri="{FF2B5EF4-FFF2-40B4-BE49-F238E27FC236}">
                <a16:creationId xmlns:a16="http://schemas.microsoft.com/office/drawing/2014/main" id="{F0BD24CA-BF08-0001-60CE-9727518178E8}"/>
              </a:ext>
            </a:extLst>
          </p:cNvPr>
          <p:cNvPicPr>
            <a:picLocks noChangeAspect="1"/>
          </p:cNvPicPr>
          <p:nvPr/>
        </p:nvPicPr>
        <p:blipFill>
          <a:blip r:embed="rId2"/>
          <a:stretch>
            <a:fillRect/>
          </a:stretch>
        </p:blipFill>
        <p:spPr>
          <a:xfrm>
            <a:off x="6879772" y="823343"/>
            <a:ext cx="4310742" cy="3778552"/>
          </a:xfrm>
          <a:prstGeom prst="rect">
            <a:avLst/>
          </a:prstGeom>
        </p:spPr>
      </p:pic>
      <p:pic>
        <p:nvPicPr>
          <p:cNvPr id="5" name="Picture 4">
            <a:extLst>
              <a:ext uri="{FF2B5EF4-FFF2-40B4-BE49-F238E27FC236}">
                <a16:creationId xmlns:a16="http://schemas.microsoft.com/office/drawing/2014/main" id="{CA12E5F7-A812-3B98-9298-3DD73E48C9EA}"/>
              </a:ext>
            </a:extLst>
          </p:cNvPr>
          <p:cNvPicPr>
            <a:picLocks noChangeAspect="1"/>
          </p:cNvPicPr>
          <p:nvPr/>
        </p:nvPicPr>
        <p:blipFill>
          <a:blip r:embed="rId3"/>
          <a:stretch>
            <a:fillRect/>
          </a:stretch>
        </p:blipFill>
        <p:spPr>
          <a:xfrm>
            <a:off x="7320643" y="4946293"/>
            <a:ext cx="3429000" cy="1143000"/>
          </a:xfrm>
          <a:prstGeom prst="rect">
            <a:avLst/>
          </a:prstGeom>
        </p:spPr>
      </p:pic>
    </p:spTree>
    <p:extLst>
      <p:ext uri="{BB962C8B-B14F-4D97-AF65-F5344CB8AC3E}">
        <p14:creationId xmlns:p14="http://schemas.microsoft.com/office/powerpoint/2010/main" val="2219718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B4783-9EA5-EE23-D374-0BBA74A8811F}"/>
              </a:ext>
            </a:extLst>
          </p:cNvPr>
          <p:cNvSpPr>
            <a:spLocks noGrp="1"/>
          </p:cNvSpPr>
          <p:nvPr>
            <p:ph type="title"/>
          </p:nvPr>
        </p:nvSpPr>
        <p:spPr/>
        <p:txBody>
          <a:bodyPr/>
          <a:lstStyle/>
          <a:p>
            <a:r>
              <a:rPr lang="en-US" dirty="0"/>
              <a:t>Static Member Variables</a:t>
            </a:r>
          </a:p>
        </p:txBody>
      </p:sp>
      <p:sp>
        <p:nvSpPr>
          <p:cNvPr id="3" name="Content Placeholder 2">
            <a:extLst>
              <a:ext uri="{FF2B5EF4-FFF2-40B4-BE49-F238E27FC236}">
                <a16:creationId xmlns:a16="http://schemas.microsoft.com/office/drawing/2014/main" id="{3685728F-4C86-A825-190E-7BF9E0C9F23C}"/>
              </a:ext>
            </a:extLst>
          </p:cNvPr>
          <p:cNvSpPr>
            <a:spLocks noGrp="1"/>
          </p:cNvSpPr>
          <p:nvPr>
            <p:ph idx="1"/>
          </p:nvPr>
        </p:nvSpPr>
        <p:spPr>
          <a:xfrm>
            <a:off x="838200" y="1825625"/>
            <a:ext cx="5553974" cy="4351338"/>
          </a:xfrm>
        </p:spPr>
        <p:txBody>
          <a:bodyPr/>
          <a:lstStyle/>
          <a:p>
            <a:r>
              <a:rPr lang="en-US" dirty="0"/>
              <a:t>It’s possible to create a member variable that is shared by all the objects of the same class. </a:t>
            </a:r>
          </a:p>
          <a:p>
            <a:r>
              <a:rPr lang="en-US" dirty="0"/>
              <a:t>To create such a member, simply place the key word static in front of the variable declaration</a:t>
            </a:r>
          </a:p>
        </p:txBody>
      </p:sp>
      <p:pic>
        <p:nvPicPr>
          <p:cNvPr id="4" name="Picture 3">
            <a:extLst>
              <a:ext uri="{FF2B5EF4-FFF2-40B4-BE49-F238E27FC236}">
                <a16:creationId xmlns:a16="http://schemas.microsoft.com/office/drawing/2014/main" id="{FACC3274-2CDF-2A6E-53EB-2C25DE5B86FF}"/>
              </a:ext>
            </a:extLst>
          </p:cNvPr>
          <p:cNvPicPr>
            <a:picLocks noChangeAspect="1"/>
          </p:cNvPicPr>
          <p:nvPr/>
        </p:nvPicPr>
        <p:blipFill>
          <a:blip r:embed="rId2"/>
          <a:stretch>
            <a:fillRect/>
          </a:stretch>
        </p:blipFill>
        <p:spPr>
          <a:xfrm>
            <a:off x="7060961" y="1690688"/>
            <a:ext cx="4756360" cy="3548632"/>
          </a:xfrm>
          <a:prstGeom prst="rect">
            <a:avLst/>
          </a:prstGeom>
        </p:spPr>
      </p:pic>
    </p:spTree>
    <p:extLst>
      <p:ext uri="{BB962C8B-B14F-4D97-AF65-F5344CB8AC3E}">
        <p14:creationId xmlns:p14="http://schemas.microsoft.com/office/powerpoint/2010/main" val="22783152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55491-7A00-5BD8-732E-4A116D3975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4B234-CC69-A5C0-D226-48BD9EB6D2CD}"/>
              </a:ext>
            </a:extLst>
          </p:cNvPr>
          <p:cNvSpPr>
            <a:spLocks noGrp="1"/>
          </p:cNvSpPr>
          <p:nvPr>
            <p:ph type="title"/>
          </p:nvPr>
        </p:nvSpPr>
        <p:spPr/>
        <p:txBody>
          <a:bodyPr/>
          <a:lstStyle/>
          <a:p>
            <a:r>
              <a:rPr lang="en-US" dirty="0"/>
              <a:t>Static Member Variables</a:t>
            </a:r>
          </a:p>
        </p:txBody>
      </p:sp>
      <p:sp>
        <p:nvSpPr>
          <p:cNvPr id="3" name="Content Placeholder 2">
            <a:extLst>
              <a:ext uri="{FF2B5EF4-FFF2-40B4-BE49-F238E27FC236}">
                <a16:creationId xmlns:a16="http://schemas.microsoft.com/office/drawing/2014/main" id="{4E7F0126-A0B8-D1CD-C554-AF73354F83AD}"/>
              </a:ext>
            </a:extLst>
          </p:cNvPr>
          <p:cNvSpPr>
            <a:spLocks noGrp="1"/>
          </p:cNvSpPr>
          <p:nvPr>
            <p:ph idx="1"/>
          </p:nvPr>
        </p:nvSpPr>
        <p:spPr>
          <a:xfrm>
            <a:off x="838200" y="1825625"/>
            <a:ext cx="5553974" cy="4351338"/>
          </a:xfrm>
        </p:spPr>
        <p:txBody>
          <a:bodyPr/>
          <a:lstStyle/>
          <a:p>
            <a:r>
              <a:rPr lang="en-US" dirty="0"/>
              <a:t>Now we define x outside class</a:t>
            </a:r>
          </a:p>
          <a:p>
            <a:pPr lvl="1"/>
            <a:r>
              <a:rPr lang="en-US" b="1" i="1" dirty="0">
                <a:solidFill>
                  <a:srgbClr val="C00000"/>
                </a:solidFill>
                <a:effectLst/>
              </a:rPr>
              <a:t>int</a:t>
            </a:r>
            <a:r>
              <a:rPr lang="en-US" i="1" dirty="0">
                <a:solidFill>
                  <a:srgbClr val="C00000"/>
                </a:solidFill>
              </a:rPr>
              <a:t> </a:t>
            </a:r>
            <a:r>
              <a:rPr lang="en-US" i="1" dirty="0" err="1">
                <a:solidFill>
                  <a:srgbClr val="C00000"/>
                </a:solidFill>
              </a:rPr>
              <a:t>StatDemo</a:t>
            </a:r>
            <a:r>
              <a:rPr lang="en-US" i="1" dirty="0">
                <a:solidFill>
                  <a:srgbClr val="C00000"/>
                </a:solidFill>
              </a:rPr>
              <a:t>::x; </a:t>
            </a:r>
            <a:endParaRPr lang="en-US" dirty="0"/>
          </a:p>
          <a:p>
            <a:r>
              <a:rPr lang="en-US" dirty="0"/>
              <a:t>In this example, the member variable x will be shared by all objects of the </a:t>
            </a:r>
            <a:r>
              <a:rPr lang="en-US" dirty="0" err="1"/>
              <a:t>StatDemo</a:t>
            </a:r>
            <a:r>
              <a:rPr lang="en-US" dirty="0"/>
              <a:t> class.</a:t>
            </a:r>
          </a:p>
          <a:p>
            <a:r>
              <a:rPr lang="en-US" dirty="0"/>
              <a:t>When one class object puts a value in x, it will appear in all other </a:t>
            </a:r>
            <a:r>
              <a:rPr lang="en-US" dirty="0" err="1"/>
              <a:t>StatDemo</a:t>
            </a:r>
            <a:r>
              <a:rPr lang="en-US" dirty="0"/>
              <a:t> objects.</a:t>
            </a:r>
          </a:p>
        </p:txBody>
      </p:sp>
      <p:pic>
        <p:nvPicPr>
          <p:cNvPr id="4" name="Picture 3">
            <a:extLst>
              <a:ext uri="{FF2B5EF4-FFF2-40B4-BE49-F238E27FC236}">
                <a16:creationId xmlns:a16="http://schemas.microsoft.com/office/drawing/2014/main" id="{70CB9E99-4318-E53C-D4CA-84D49C1BE9B6}"/>
              </a:ext>
            </a:extLst>
          </p:cNvPr>
          <p:cNvPicPr>
            <a:picLocks noChangeAspect="1"/>
          </p:cNvPicPr>
          <p:nvPr/>
        </p:nvPicPr>
        <p:blipFill>
          <a:blip r:embed="rId2"/>
          <a:stretch>
            <a:fillRect/>
          </a:stretch>
        </p:blipFill>
        <p:spPr>
          <a:xfrm>
            <a:off x="7060961" y="1690688"/>
            <a:ext cx="4756360" cy="3548632"/>
          </a:xfrm>
          <a:prstGeom prst="rect">
            <a:avLst/>
          </a:prstGeom>
        </p:spPr>
      </p:pic>
    </p:spTree>
    <p:extLst>
      <p:ext uri="{BB962C8B-B14F-4D97-AF65-F5344CB8AC3E}">
        <p14:creationId xmlns:p14="http://schemas.microsoft.com/office/powerpoint/2010/main" val="22710472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265F7-B9B6-0710-859A-F7DB42914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F31441-5459-283F-ED53-349702ECB110}"/>
              </a:ext>
            </a:extLst>
          </p:cNvPr>
          <p:cNvSpPr>
            <a:spLocks noGrp="1"/>
          </p:cNvSpPr>
          <p:nvPr>
            <p:ph type="title"/>
          </p:nvPr>
        </p:nvSpPr>
        <p:spPr>
          <a:xfrm>
            <a:off x="838200" y="365125"/>
            <a:ext cx="5415471" cy="1325563"/>
          </a:xfrm>
        </p:spPr>
        <p:txBody>
          <a:bodyPr/>
          <a:lstStyle/>
          <a:p>
            <a:r>
              <a:rPr lang="en-US" dirty="0"/>
              <a:t>Static Member Variables</a:t>
            </a:r>
          </a:p>
        </p:txBody>
      </p:sp>
      <p:sp>
        <p:nvSpPr>
          <p:cNvPr id="3" name="Content Placeholder 2">
            <a:extLst>
              <a:ext uri="{FF2B5EF4-FFF2-40B4-BE49-F238E27FC236}">
                <a16:creationId xmlns:a16="http://schemas.microsoft.com/office/drawing/2014/main" id="{7F079FA4-5A3B-1A30-B281-D48601977AEA}"/>
              </a:ext>
            </a:extLst>
          </p:cNvPr>
          <p:cNvSpPr>
            <a:spLocks noGrp="1"/>
          </p:cNvSpPr>
          <p:nvPr>
            <p:ph idx="1"/>
          </p:nvPr>
        </p:nvSpPr>
        <p:spPr>
          <a:xfrm>
            <a:off x="838200" y="1825625"/>
            <a:ext cx="5553974" cy="4351338"/>
          </a:xfrm>
        </p:spPr>
        <p:txBody>
          <a:bodyPr/>
          <a:lstStyle/>
          <a:p>
            <a:r>
              <a:rPr lang="en-US" dirty="0"/>
              <a:t>Now we define x outside class</a:t>
            </a:r>
          </a:p>
          <a:p>
            <a:pPr lvl="1"/>
            <a:r>
              <a:rPr lang="en-US" b="1" i="1" dirty="0">
                <a:solidFill>
                  <a:srgbClr val="C00000"/>
                </a:solidFill>
                <a:effectLst/>
              </a:rPr>
              <a:t>int</a:t>
            </a:r>
            <a:r>
              <a:rPr lang="en-US" i="1" dirty="0">
                <a:solidFill>
                  <a:srgbClr val="C00000"/>
                </a:solidFill>
              </a:rPr>
              <a:t> </a:t>
            </a:r>
            <a:r>
              <a:rPr lang="en-US" i="1" dirty="0" err="1">
                <a:solidFill>
                  <a:srgbClr val="C00000"/>
                </a:solidFill>
              </a:rPr>
              <a:t>StatDemo</a:t>
            </a:r>
            <a:r>
              <a:rPr lang="en-US" i="1" dirty="0">
                <a:solidFill>
                  <a:srgbClr val="C00000"/>
                </a:solidFill>
              </a:rPr>
              <a:t>::x; </a:t>
            </a:r>
            <a:endParaRPr lang="en-US" dirty="0"/>
          </a:p>
          <a:p>
            <a:r>
              <a:rPr lang="en-US" dirty="0"/>
              <a:t>In this example, the member variable x will be shared by all objects of the </a:t>
            </a:r>
            <a:r>
              <a:rPr lang="en-US" dirty="0" err="1"/>
              <a:t>StatDemo</a:t>
            </a:r>
            <a:r>
              <a:rPr lang="en-US" dirty="0"/>
              <a:t> class.</a:t>
            </a:r>
          </a:p>
          <a:p>
            <a:r>
              <a:rPr lang="en-US" dirty="0"/>
              <a:t>When one class object puts a value in x, it will appear in all other </a:t>
            </a:r>
            <a:r>
              <a:rPr lang="en-US" dirty="0" err="1"/>
              <a:t>StatDemo</a:t>
            </a:r>
            <a:r>
              <a:rPr lang="en-US" dirty="0"/>
              <a:t> objects.</a:t>
            </a:r>
          </a:p>
        </p:txBody>
      </p:sp>
      <p:pic>
        <p:nvPicPr>
          <p:cNvPr id="5" name="Picture 4">
            <a:extLst>
              <a:ext uri="{FF2B5EF4-FFF2-40B4-BE49-F238E27FC236}">
                <a16:creationId xmlns:a16="http://schemas.microsoft.com/office/drawing/2014/main" id="{E2650B49-8CEA-5882-95DF-981148BDCA02}"/>
              </a:ext>
            </a:extLst>
          </p:cNvPr>
          <p:cNvPicPr>
            <a:picLocks noChangeAspect="1"/>
          </p:cNvPicPr>
          <p:nvPr/>
        </p:nvPicPr>
        <p:blipFill>
          <a:blip r:embed="rId2"/>
          <a:stretch>
            <a:fillRect/>
          </a:stretch>
        </p:blipFill>
        <p:spPr>
          <a:xfrm>
            <a:off x="6253671" y="431232"/>
            <a:ext cx="5740400" cy="3632200"/>
          </a:xfrm>
          <a:prstGeom prst="rect">
            <a:avLst/>
          </a:prstGeom>
        </p:spPr>
      </p:pic>
      <p:pic>
        <p:nvPicPr>
          <p:cNvPr id="6" name="Picture 5">
            <a:extLst>
              <a:ext uri="{FF2B5EF4-FFF2-40B4-BE49-F238E27FC236}">
                <a16:creationId xmlns:a16="http://schemas.microsoft.com/office/drawing/2014/main" id="{92E11C58-D9B9-43B3-AE9D-B1D3AE441B0E}"/>
              </a:ext>
            </a:extLst>
          </p:cNvPr>
          <p:cNvPicPr>
            <a:picLocks noChangeAspect="1"/>
          </p:cNvPicPr>
          <p:nvPr/>
        </p:nvPicPr>
        <p:blipFill>
          <a:blip r:embed="rId3"/>
          <a:stretch>
            <a:fillRect/>
          </a:stretch>
        </p:blipFill>
        <p:spPr>
          <a:xfrm>
            <a:off x="7447471" y="4502719"/>
            <a:ext cx="3352800" cy="2209800"/>
          </a:xfrm>
          <a:prstGeom prst="rect">
            <a:avLst/>
          </a:prstGeom>
        </p:spPr>
      </p:pic>
    </p:spTree>
    <p:extLst>
      <p:ext uri="{BB962C8B-B14F-4D97-AF65-F5344CB8AC3E}">
        <p14:creationId xmlns:p14="http://schemas.microsoft.com/office/powerpoint/2010/main" val="1607708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EF716-F10C-E04C-D630-291931C3DA7F}"/>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97DF14A0-D93D-D30D-B8BB-8B154C32B664}"/>
              </a:ext>
            </a:extLst>
          </p:cNvPr>
          <p:cNvPicPr>
            <a:picLocks noChangeAspect="1"/>
          </p:cNvPicPr>
          <p:nvPr/>
        </p:nvPicPr>
        <p:blipFill>
          <a:blip r:embed="rId2"/>
          <a:stretch>
            <a:fillRect/>
          </a:stretch>
        </p:blipFill>
        <p:spPr>
          <a:xfrm>
            <a:off x="119332" y="1825625"/>
            <a:ext cx="4386263" cy="3358850"/>
          </a:xfrm>
          <a:prstGeom prst="rect">
            <a:avLst/>
          </a:prstGeom>
        </p:spPr>
      </p:pic>
      <p:pic>
        <p:nvPicPr>
          <p:cNvPr id="5" name="Picture 4">
            <a:extLst>
              <a:ext uri="{FF2B5EF4-FFF2-40B4-BE49-F238E27FC236}">
                <a16:creationId xmlns:a16="http://schemas.microsoft.com/office/drawing/2014/main" id="{B4B91AE3-22C7-BFE8-356D-8E31B72573BC}"/>
              </a:ext>
            </a:extLst>
          </p:cNvPr>
          <p:cNvPicPr>
            <a:picLocks noChangeAspect="1"/>
          </p:cNvPicPr>
          <p:nvPr/>
        </p:nvPicPr>
        <p:blipFill>
          <a:blip r:embed="rId3"/>
          <a:stretch>
            <a:fillRect/>
          </a:stretch>
        </p:blipFill>
        <p:spPr>
          <a:xfrm>
            <a:off x="4566273" y="0"/>
            <a:ext cx="3835831" cy="6858000"/>
          </a:xfrm>
          <a:prstGeom prst="rect">
            <a:avLst/>
          </a:prstGeom>
        </p:spPr>
      </p:pic>
      <p:pic>
        <p:nvPicPr>
          <p:cNvPr id="6" name="Picture 5">
            <a:extLst>
              <a:ext uri="{FF2B5EF4-FFF2-40B4-BE49-F238E27FC236}">
                <a16:creationId xmlns:a16="http://schemas.microsoft.com/office/drawing/2014/main" id="{EEF8A0C8-61C5-5992-82F4-D1D8881AEB02}"/>
              </a:ext>
            </a:extLst>
          </p:cNvPr>
          <p:cNvPicPr>
            <a:picLocks noChangeAspect="1"/>
          </p:cNvPicPr>
          <p:nvPr/>
        </p:nvPicPr>
        <p:blipFill>
          <a:blip r:embed="rId4"/>
          <a:stretch>
            <a:fillRect/>
          </a:stretch>
        </p:blipFill>
        <p:spPr>
          <a:xfrm>
            <a:off x="8462782" y="2270858"/>
            <a:ext cx="3745403" cy="2468384"/>
          </a:xfrm>
          <a:prstGeom prst="rect">
            <a:avLst/>
          </a:prstGeom>
        </p:spPr>
      </p:pic>
    </p:spTree>
    <p:extLst>
      <p:ext uri="{BB962C8B-B14F-4D97-AF65-F5344CB8AC3E}">
        <p14:creationId xmlns:p14="http://schemas.microsoft.com/office/powerpoint/2010/main" val="35095864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FC265-BACB-5AA7-7CC4-D7EFF7206F9D}"/>
              </a:ext>
            </a:extLst>
          </p:cNvPr>
          <p:cNvSpPr>
            <a:spLocks noGrp="1"/>
          </p:cNvSpPr>
          <p:nvPr>
            <p:ph type="title"/>
          </p:nvPr>
        </p:nvSpPr>
        <p:spPr/>
        <p:txBody>
          <a:bodyPr/>
          <a:lstStyle/>
          <a:p>
            <a:r>
              <a:rPr lang="en-US" dirty="0"/>
              <a:t>Static Member Variables</a:t>
            </a:r>
          </a:p>
        </p:txBody>
      </p:sp>
      <p:sp>
        <p:nvSpPr>
          <p:cNvPr id="3" name="Content Placeholder 2">
            <a:extLst>
              <a:ext uri="{FF2B5EF4-FFF2-40B4-BE49-F238E27FC236}">
                <a16:creationId xmlns:a16="http://schemas.microsoft.com/office/drawing/2014/main" id="{CCBC1F55-D125-D336-0C49-07D49E68F2E7}"/>
              </a:ext>
            </a:extLst>
          </p:cNvPr>
          <p:cNvSpPr>
            <a:spLocks noGrp="1"/>
          </p:cNvSpPr>
          <p:nvPr>
            <p:ph idx="1"/>
          </p:nvPr>
        </p:nvSpPr>
        <p:spPr/>
        <p:txBody>
          <a:bodyPr/>
          <a:lstStyle/>
          <a:p>
            <a:r>
              <a:rPr lang="en-US" dirty="0">
                <a:effectLst/>
              </a:rPr>
              <a:t>Static member variables furnish a good example of the distinction between C++ declarations and C++ definitions. </a:t>
            </a:r>
          </a:p>
          <a:p>
            <a:r>
              <a:rPr lang="en-US" dirty="0">
                <a:effectLst/>
              </a:rPr>
              <a:t>A </a:t>
            </a:r>
            <a:r>
              <a:rPr lang="en-US" dirty="0">
                <a:effectLst/>
                <a:hlinkClick r:id="rId2"/>
              </a:rPr>
              <a:t>declaration</a:t>
            </a:r>
            <a:r>
              <a:rPr lang="en-US" dirty="0">
                <a:effectLst/>
              </a:rPr>
              <a:t> provides information about the existence and type of a variable or function. </a:t>
            </a:r>
          </a:p>
          <a:p>
            <a:r>
              <a:rPr lang="en-US" dirty="0">
                <a:effectLst/>
              </a:rPr>
              <a:t>A </a:t>
            </a:r>
            <a:r>
              <a:rPr lang="en-US" i="1" dirty="0">
                <a:effectLst/>
              </a:rPr>
              <a:t>definition</a:t>
            </a:r>
            <a:r>
              <a:rPr lang="en-US" dirty="0">
                <a:effectLst/>
              </a:rPr>
              <a:t> provides all the information contained in a declaration and, in addition, causes memory to be allocated for the variable or function being defined. </a:t>
            </a:r>
          </a:p>
          <a:p>
            <a:r>
              <a:rPr lang="en-US" dirty="0">
                <a:effectLst/>
              </a:rPr>
              <a:t>Static member variables must be </a:t>
            </a:r>
            <a:r>
              <a:rPr lang="en-US" i="1" dirty="0">
                <a:effectLst/>
              </a:rPr>
              <a:t>declared</a:t>
            </a:r>
            <a:r>
              <a:rPr lang="en-US" dirty="0">
                <a:effectLst/>
              </a:rPr>
              <a:t> inside the class and </a:t>
            </a:r>
            <a:r>
              <a:rPr lang="en-US" i="1" dirty="0">
                <a:effectLst/>
              </a:rPr>
              <a:t>defined</a:t>
            </a:r>
            <a:r>
              <a:rPr lang="en-US" dirty="0">
                <a:effectLst/>
              </a:rPr>
              <a:t> outside of it.</a:t>
            </a:r>
          </a:p>
          <a:p>
            <a:endParaRPr lang="en-US" dirty="0"/>
          </a:p>
        </p:txBody>
      </p:sp>
    </p:spTree>
    <p:extLst>
      <p:ext uri="{BB962C8B-B14F-4D97-AF65-F5344CB8AC3E}">
        <p14:creationId xmlns:p14="http://schemas.microsoft.com/office/powerpoint/2010/main" val="3484957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B19CC-0166-19BE-DE76-9585EA686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8A681-E305-7B65-DB65-ED4FA9A55CE2}"/>
              </a:ext>
            </a:extLst>
          </p:cNvPr>
          <p:cNvSpPr>
            <a:spLocks noGrp="1"/>
          </p:cNvSpPr>
          <p:nvPr>
            <p:ph type="title"/>
          </p:nvPr>
        </p:nvSpPr>
        <p:spPr/>
        <p:txBody>
          <a:bodyPr/>
          <a:lstStyle/>
          <a:p>
            <a:r>
              <a:rPr lang="en-US" dirty="0"/>
              <a:t>Static Member Variables</a:t>
            </a:r>
          </a:p>
        </p:txBody>
      </p:sp>
      <p:sp>
        <p:nvSpPr>
          <p:cNvPr id="3" name="Content Placeholder 2">
            <a:extLst>
              <a:ext uri="{FF2B5EF4-FFF2-40B4-BE49-F238E27FC236}">
                <a16:creationId xmlns:a16="http://schemas.microsoft.com/office/drawing/2014/main" id="{3AF99475-2C2E-632C-33F4-CFFB908FF384}"/>
              </a:ext>
            </a:extLst>
          </p:cNvPr>
          <p:cNvSpPr>
            <a:spLocks noGrp="1"/>
          </p:cNvSpPr>
          <p:nvPr>
            <p:ph idx="1"/>
          </p:nvPr>
        </p:nvSpPr>
        <p:spPr/>
        <p:txBody>
          <a:bodyPr>
            <a:normAutofit lnSpcReduction="10000"/>
          </a:bodyPr>
          <a:lstStyle/>
          <a:p>
            <a:pPr algn="l"/>
            <a:r>
              <a:rPr lang="en-US" dirty="0">
                <a:effectLst/>
              </a:rPr>
              <a:t>In general, we can divide the member variables and functions of a class into two groups: </a:t>
            </a:r>
            <a:r>
              <a:rPr lang="en-US" i="1" dirty="0">
                <a:effectLst/>
              </a:rPr>
              <a:t>instance members</a:t>
            </a:r>
            <a:r>
              <a:rPr lang="en-US" dirty="0">
                <a:effectLst/>
              </a:rPr>
              <a:t> and </a:t>
            </a:r>
            <a:r>
              <a:rPr lang="en-US" dirty="0">
                <a:effectLst/>
                <a:hlinkClick r:id="rId2">
                  <a:extLst>
                    <a:ext uri="{A12FA001-AC4F-418D-AE19-62706E023703}">
                      <ahyp:hlinkClr xmlns:ahyp="http://schemas.microsoft.com/office/drawing/2018/hyperlinkcolor" val="tx"/>
                    </a:ext>
                  </a:extLst>
                </a:hlinkClick>
              </a:rPr>
              <a:t>static members</a:t>
            </a:r>
            <a:r>
              <a:rPr lang="en-US" dirty="0">
                <a:effectLst/>
              </a:rPr>
              <a:t>. </a:t>
            </a:r>
          </a:p>
          <a:p>
            <a:pPr algn="l"/>
            <a:r>
              <a:rPr lang="en-US" dirty="0">
                <a:effectLst/>
              </a:rPr>
              <a:t>An instance member is one whose use must be associated with a particular instance of the class. In particular, an instance variable of a class must be accessed through a specific instance of its class, and an instance member function must be called through a specific instance of its class.</a:t>
            </a:r>
          </a:p>
          <a:p>
            <a:pPr algn="l"/>
            <a:r>
              <a:rPr lang="en-US" dirty="0">
                <a:effectLst/>
              </a:rPr>
              <a:t>In contrast, the use of a static member variable, or the call of a static member function, does not need to be associated with any instance. Only the class of the static member needs to be specified.</a:t>
            </a:r>
          </a:p>
          <a:p>
            <a:endParaRPr lang="en-US" dirty="0"/>
          </a:p>
        </p:txBody>
      </p:sp>
    </p:spTree>
    <p:extLst>
      <p:ext uri="{BB962C8B-B14F-4D97-AF65-F5344CB8AC3E}">
        <p14:creationId xmlns:p14="http://schemas.microsoft.com/office/powerpoint/2010/main" val="1384363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1ADDF-823A-7905-12E3-DC5F258247CE}"/>
              </a:ext>
            </a:extLst>
          </p:cNvPr>
          <p:cNvSpPr>
            <a:spLocks noGrp="1"/>
          </p:cNvSpPr>
          <p:nvPr>
            <p:ph type="title"/>
          </p:nvPr>
        </p:nvSpPr>
        <p:spPr/>
        <p:txBody>
          <a:bodyPr/>
          <a:lstStyle/>
          <a:p>
            <a:r>
              <a:rPr lang="en-US" dirty="0"/>
              <a:t>Static Member Functions</a:t>
            </a:r>
          </a:p>
        </p:txBody>
      </p:sp>
      <p:sp>
        <p:nvSpPr>
          <p:cNvPr id="3" name="Content Placeholder 2">
            <a:extLst>
              <a:ext uri="{FF2B5EF4-FFF2-40B4-BE49-F238E27FC236}">
                <a16:creationId xmlns:a16="http://schemas.microsoft.com/office/drawing/2014/main" id="{18B9190F-7AAE-0392-D4BF-4B95238B56AA}"/>
              </a:ext>
            </a:extLst>
          </p:cNvPr>
          <p:cNvSpPr>
            <a:spLocks noGrp="1"/>
          </p:cNvSpPr>
          <p:nvPr>
            <p:ph idx="1"/>
          </p:nvPr>
        </p:nvSpPr>
        <p:spPr/>
        <p:txBody>
          <a:bodyPr/>
          <a:lstStyle/>
          <a:p>
            <a:r>
              <a:rPr lang="en-US" dirty="0"/>
              <a:t>A member function of a class can be declared static by prefixing its declaration with the key word static. </a:t>
            </a:r>
          </a:p>
          <a:p>
            <a:r>
              <a:rPr lang="en-US" dirty="0"/>
              <a:t>static &lt;</a:t>
            </a:r>
            <a:r>
              <a:rPr lang="en-US" i="1" dirty="0"/>
              <a:t>return type</a:t>
            </a:r>
            <a:r>
              <a:rPr lang="en-US" dirty="0"/>
              <a:t>&gt;&lt;</a:t>
            </a:r>
            <a:r>
              <a:rPr lang="en-US" i="1" dirty="0"/>
              <a:t>function name</a:t>
            </a:r>
            <a:r>
              <a:rPr lang="en-US" dirty="0"/>
              <a:t>&gt;(&lt;</a:t>
            </a:r>
            <a:r>
              <a:rPr lang="en-US" i="1" dirty="0"/>
              <a:t>parameter list</a:t>
            </a:r>
            <a:r>
              <a:rPr lang="en-US" dirty="0"/>
              <a:t>&gt;)</a:t>
            </a:r>
          </a:p>
          <a:p>
            <a:r>
              <a:rPr lang="en-US" dirty="0"/>
              <a:t>Static member functions are normally used to work with static member variables of the class. In fact, member functions that do not access any </a:t>
            </a:r>
            <a:r>
              <a:rPr lang="en-US" dirty="0" err="1"/>
              <a:t>nonstatic</a:t>
            </a:r>
            <a:r>
              <a:rPr lang="en-US" dirty="0"/>
              <a:t> members of their class</a:t>
            </a:r>
          </a:p>
        </p:txBody>
      </p:sp>
    </p:spTree>
    <p:extLst>
      <p:ext uri="{BB962C8B-B14F-4D97-AF65-F5344CB8AC3E}">
        <p14:creationId xmlns:p14="http://schemas.microsoft.com/office/powerpoint/2010/main" val="12858505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AF493-0CC2-21E4-4C1A-8676BB747ABA}"/>
              </a:ext>
            </a:extLst>
          </p:cNvPr>
          <p:cNvSpPr>
            <a:spLocks noGrp="1"/>
          </p:cNvSpPr>
          <p:nvPr>
            <p:ph type="title"/>
          </p:nvPr>
        </p:nvSpPr>
        <p:spPr>
          <a:xfrm>
            <a:off x="8627246" y="-178338"/>
            <a:ext cx="10515600" cy="1325563"/>
          </a:xfrm>
        </p:spPr>
        <p:txBody>
          <a:bodyPr/>
          <a:lstStyle/>
          <a:p>
            <a:r>
              <a:rPr lang="en-US" dirty="0"/>
              <a:t>Example</a:t>
            </a:r>
          </a:p>
        </p:txBody>
      </p:sp>
      <p:pic>
        <p:nvPicPr>
          <p:cNvPr id="4" name="Picture 3">
            <a:extLst>
              <a:ext uri="{FF2B5EF4-FFF2-40B4-BE49-F238E27FC236}">
                <a16:creationId xmlns:a16="http://schemas.microsoft.com/office/drawing/2014/main" id="{C3ADDFDE-EF76-EAE8-34B7-68A392BFC672}"/>
              </a:ext>
            </a:extLst>
          </p:cNvPr>
          <p:cNvPicPr>
            <a:picLocks noChangeAspect="1"/>
          </p:cNvPicPr>
          <p:nvPr/>
        </p:nvPicPr>
        <p:blipFill>
          <a:blip r:embed="rId2"/>
          <a:stretch>
            <a:fillRect/>
          </a:stretch>
        </p:blipFill>
        <p:spPr>
          <a:xfrm>
            <a:off x="0" y="9645"/>
            <a:ext cx="4427396" cy="3607878"/>
          </a:xfrm>
          <a:prstGeom prst="rect">
            <a:avLst/>
          </a:prstGeom>
        </p:spPr>
      </p:pic>
      <p:pic>
        <p:nvPicPr>
          <p:cNvPr id="5" name="Picture 4">
            <a:extLst>
              <a:ext uri="{FF2B5EF4-FFF2-40B4-BE49-F238E27FC236}">
                <a16:creationId xmlns:a16="http://schemas.microsoft.com/office/drawing/2014/main" id="{3DD3E01B-ACD7-C798-294B-FB91C8AD2A50}"/>
              </a:ext>
            </a:extLst>
          </p:cNvPr>
          <p:cNvPicPr>
            <a:picLocks noChangeAspect="1"/>
          </p:cNvPicPr>
          <p:nvPr/>
        </p:nvPicPr>
        <p:blipFill>
          <a:blip r:embed="rId3"/>
          <a:stretch>
            <a:fillRect/>
          </a:stretch>
        </p:blipFill>
        <p:spPr>
          <a:xfrm>
            <a:off x="0" y="3781367"/>
            <a:ext cx="4427396" cy="2902074"/>
          </a:xfrm>
          <a:prstGeom prst="rect">
            <a:avLst/>
          </a:prstGeom>
        </p:spPr>
      </p:pic>
      <p:pic>
        <p:nvPicPr>
          <p:cNvPr id="6" name="Picture 5">
            <a:extLst>
              <a:ext uri="{FF2B5EF4-FFF2-40B4-BE49-F238E27FC236}">
                <a16:creationId xmlns:a16="http://schemas.microsoft.com/office/drawing/2014/main" id="{01A0122B-7325-111D-5B0F-EF6359206911}"/>
              </a:ext>
            </a:extLst>
          </p:cNvPr>
          <p:cNvPicPr>
            <a:picLocks noChangeAspect="1"/>
          </p:cNvPicPr>
          <p:nvPr/>
        </p:nvPicPr>
        <p:blipFill>
          <a:blip r:embed="rId4"/>
          <a:stretch>
            <a:fillRect/>
          </a:stretch>
        </p:blipFill>
        <p:spPr>
          <a:xfrm>
            <a:off x="4724800" y="0"/>
            <a:ext cx="3605042" cy="6858000"/>
          </a:xfrm>
          <a:prstGeom prst="rect">
            <a:avLst/>
          </a:prstGeom>
        </p:spPr>
      </p:pic>
      <p:pic>
        <p:nvPicPr>
          <p:cNvPr id="7" name="Picture 6">
            <a:extLst>
              <a:ext uri="{FF2B5EF4-FFF2-40B4-BE49-F238E27FC236}">
                <a16:creationId xmlns:a16="http://schemas.microsoft.com/office/drawing/2014/main" id="{19FA72D9-E63D-2D4D-7FF4-A0EAFC7CD30A}"/>
              </a:ext>
            </a:extLst>
          </p:cNvPr>
          <p:cNvPicPr>
            <a:picLocks noChangeAspect="1"/>
          </p:cNvPicPr>
          <p:nvPr/>
        </p:nvPicPr>
        <p:blipFill>
          <a:blip r:embed="rId5"/>
          <a:stretch>
            <a:fillRect/>
          </a:stretch>
        </p:blipFill>
        <p:spPr>
          <a:xfrm>
            <a:off x="8485278" y="2558452"/>
            <a:ext cx="3706722" cy="2445829"/>
          </a:xfrm>
          <a:prstGeom prst="rect">
            <a:avLst/>
          </a:prstGeom>
        </p:spPr>
      </p:pic>
    </p:spTree>
    <p:extLst>
      <p:ext uri="{BB962C8B-B14F-4D97-AF65-F5344CB8AC3E}">
        <p14:creationId xmlns:p14="http://schemas.microsoft.com/office/powerpoint/2010/main" val="7621157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35913-DFCE-3530-B553-27EB1994C1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BA9206-5D6D-CF85-171D-E2B6B8D3C0F9}"/>
              </a:ext>
            </a:extLst>
          </p:cNvPr>
          <p:cNvSpPr>
            <a:spLocks noGrp="1"/>
          </p:cNvSpPr>
          <p:nvPr>
            <p:ph type="title"/>
          </p:nvPr>
        </p:nvSpPr>
        <p:spPr>
          <a:xfrm>
            <a:off x="8627246" y="-178338"/>
            <a:ext cx="10515600" cy="1325563"/>
          </a:xfrm>
        </p:spPr>
        <p:txBody>
          <a:bodyPr/>
          <a:lstStyle/>
          <a:p>
            <a:r>
              <a:rPr lang="en-US" dirty="0"/>
              <a:t>Example</a:t>
            </a:r>
          </a:p>
        </p:txBody>
      </p:sp>
      <p:pic>
        <p:nvPicPr>
          <p:cNvPr id="6" name="Picture 5">
            <a:extLst>
              <a:ext uri="{FF2B5EF4-FFF2-40B4-BE49-F238E27FC236}">
                <a16:creationId xmlns:a16="http://schemas.microsoft.com/office/drawing/2014/main" id="{92DFB505-1325-0CB1-F8A4-F7FBFC63E9D2}"/>
              </a:ext>
            </a:extLst>
          </p:cNvPr>
          <p:cNvPicPr>
            <a:picLocks noChangeAspect="1"/>
          </p:cNvPicPr>
          <p:nvPr/>
        </p:nvPicPr>
        <p:blipFill>
          <a:blip r:embed="rId2"/>
          <a:stretch>
            <a:fillRect/>
          </a:stretch>
        </p:blipFill>
        <p:spPr>
          <a:xfrm>
            <a:off x="687638" y="0"/>
            <a:ext cx="3605042" cy="6858000"/>
          </a:xfrm>
          <a:prstGeom prst="rect">
            <a:avLst/>
          </a:prstGeom>
        </p:spPr>
      </p:pic>
      <p:sp>
        <p:nvSpPr>
          <p:cNvPr id="3" name="TextBox 2">
            <a:extLst>
              <a:ext uri="{FF2B5EF4-FFF2-40B4-BE49-F238E27FC236}">
                <a16:creationId xmlns:a16="http://schemas.microsoft.com/office/drawing/2014/main" id="{DE13923D-99F3-5942-C061-CAA3BFFEC478}"/>
              </a:ext>
            </a:extLst>
          </p:cNvPr>
          <p:cNvSpPr txBox="1"/>
          <p:nvPr/>
        </p:nvSpPr>
        <p:spPr>
          <a:xfrm>
            <a:off x="4658264" y="2236041"/>
            <a:ext cx="7203057" cy="3139321"/>
          </a:xfrm>
          <a:prstGeom prst="rect">
            <a:avLst/>
          </a:prstGeom>
          <a:noFill/>
        </p:spPr>
        <p:txBody>
          <a:bodyPr wrap="square" rtlCol="0">
            <a:spAutoFit/>
          </a:bodyPr>
          <a:lstStyle/>
          <a:p>
            <a:pPr marL="285750" indent="-285750" algn="l">
              <a:buFont typeface="Arial" panose="020B0604020202020204" pitchFamily="34" charset="0"/>
              <a:buChar char="•"/>
            </a:pPr>
            <a:r>
              <a:rPr lang="en-US" dirty="0">
                <a:effectLst/>
              </a:rPr>
              <a:t>Notice the statement that calls the static function </a:t>
            </a:r>
            <a:r>
              <a:rPr lang="en-US" dirty="0" err="1">
                <a:effectLst/>
              </a:rPr>
              <a:t>mainOffice</a:t>
            </a:r>
            <a:r>
              <a:rPr lang="en-US" dirty="0">
                <a:effectLst/>
              </a:rPr>
              <a:t>:</a:t>
            </a:r>
          </a:p>
          <a:p>
            <a:pPr rtl="0"/>
            <a:r>
              <a:rPr lang="en-US" b="1" i="1" dirty="0">
                <a:solidFill>
                  <a:srgbClr val="C00000"/>
                </a:solidFill>
              </a:rPr>
              <a:t>Budget::</a:t>
            </a:r>
            <a:r>
              <a:rPr lang="en-US" b="1" i="1" dirty="0" err="1">
                <a:solidFill>
                  <a:srgbClr val="C00000"/>
                </a:solidFill>
                <a:effectLst/>
              </a:rPr>
              <a:t>mainOffice</a:t>
            </a:r>
            <a:r>
              <a:rPr lang="en-US" b="1" i="1" dirty="0">
                <a:solidFill>
                  <a:srgbClr val="C00000"/>
                </a:solidFill>
              </a:rPr>
              <a:t>(amount); </a:t>
            </a:r>
          </a:p>
          <a:p>
            <a:pPr marL="285750" indent="-285750" algn="l">
              <a:buFont typeface="Arial" panose="020B0604020202020204" pitchFamily="34" charset="0"/>
              <a:buChar char="•"/>
            </a:pPr>
            <a:r>
              <a:rPr lang="en-US" dirty="0">
                <a:effectLst/>
              </a:rPr>
              <a:t>Calls to static member functions are normally made by connecting the function name to the class name with the scope resolution operator. </a:t>
            </a:r>
          </a:p>
          <a:p>
            <a:pPr marL="285750" indent="-285750" algn="l">
              <a:buFont typeface="Arial" panose="020B0604020202020204" pitchFamily="34" charset="0"/>
              <a:buChar char="•"/>
            </a:pPr>
            <a:r>
              <a:rPr lang="en-US" dirty="0">
                <a:effectLst/>
              </a:rPr>
              <a:t>If objects of the class have been defined, static member functions can also be called by connecting their names to the object with the dot operator. </a:t>
            </a:r>
          </a:p>
          <a:p>
            <a:pPr marL="285750" indent="-285750" algn="l">
              <a:buFont typeface="Arial" panose="020B0604020202020204" pitchFamily="34" charset="0"/>
              <a:buChar char="•"/>
            </a:pPr>
            <a:r>
              <a:rPr lang="en-US" dirty="0">
                <a:effectLst/>
              </a:rPr>
              <a:t>Thus, the last output statement of </a:t>
            </a:r>
            <a:r>
              <a:rPr lang="en-US" dirty="0" err="1">
                <a:effectLst/>
              </a:rPr>
              <a:t>yhis</a:t>
            </a:r>
            <a:r>
              <a:rPr lang="en-US" dirty="0">
                <a:effectLst/>
              </a:rPr>
              <a:t> program could be written as</a:t>
            </a:r>
          </a:p>
          <a:p>
            <a:pPr rtl="0"/>
            <a:r>
              <a:rPr lang="en-US" b="1" i="1" dirty="0" err="1">
                <a:solidFill>
                  <a:srgbClr val="C00000"/>
                </a:solidFill>
              </a:rPr>
              <a:t>cout</a:t>
            </a:r>
            <a:r>
              <a:rPr lang="en-US" b="1" i="1" dirty="0">
                <a:solidFill>
                  <a:srgbClr val="C00000"/>
                </a:solidFill>
              </a:rPr>
              <a:t> &lt;&lt; divisions[</a:t>
            </a:r>
            <a:r>
              <a:rPr lang="en-US" b="1" i="1" dirty="0">
                <a:solidFill>
                  <a:srgbClr val="C00000"/>
                </a:solidFill>
                <a:effectLst/>
              </a:rPr>
              <a:t>0</a:t>
            </a:r>
            <a:r>
              <a:rPr lang="en-US" b="1" i="1" dirty="0">
                <a:solidFill>
                  <a:srgbClr val="C00000"/>
                </a:solidFill>
              </a:rPr>
              <a:t>].</a:t>
            </a:r>
            <a:r>
              <a:rPr lang="en-US" b="1" i="1" dirty="0" err="1">
                <a:solidFill>
                  <a:srgbClr val="C00000"/>
                </a:solidFill>
                <a:effectLst/>
              </a:rPr>
              <a:t>getCorpBudget</a:t>
            </a:r>
            <a:r>
              <a:rPr lang="en-US" b="1" i="1" dirty="0">
                <a:solidFill>
                  <a:srgbClr val="C00000"/>
                </a:solidFill>
              </a:rPr>
              <a:t>() &lt;&lt; </a:t>
            </a:r>
            <a:r>
              <a:rPr lang="en-US" b="1" i="1" dirty="0" err="1">
                <a:solidFill>
                  <a:srgbClr val="C00000"/>
                </a:solidFill>
              </a:rPr>
              <a:t>endl</a:t>
            </a:r>
            <a:r>
              <a:rPr lang="en-US" b="1" i="1" dirty="0">
                <a:solidFill>
                  <a:srgbClr val="C00000"/>
                </a:solidFill>
              </a:rPr>
              <a:t>; </a:t>
            </a:r>
          </a:p>
          <a:p>
            <a:endParaRPr lang="en-US" dirty="0"/>
          </a:p>
        </p:txBody>
      </p:sp>
    </p:spTree>
    <p:extLst>
      <p:ext uri="{BB962C8B-B14F-4D97-AF65-F5344CB8AC3E}">
        <p14:creationId xmlns:p14="http://schemas.microsoft.com/office/powerpoint/2010/main" val="37634827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E864D-2D94-82CE-68C5-FE269F655843}"/>
              </a:ext>
            </a:extLst>
          </p:cNvPr>
          <p:cNvSpPr>
            <a:spLocks noGrp="1"/>
          </p:cNvSpPr>
          <p:nvPr>
            <p:ph type="title"/>
          </p:nvPr>
        </p:nvSpPr>
        <p:spPr/>
        <p:txBody>
          <a:bodyPr/>
          <a:lstStyle/>
          <a:p>
            <a:r>
              <a:rPr lang="en-US" dirty="0"/>
              <a:t>Static member function</a:t>
            </a:r>
          </a:p>
        </p:txBody>
      </p:sp>
      <p:sp>
        <p:nvSpPr>
          <p:cNvPr id="3" name="Content Placeholder 2">
            <a:extLst>
              <a:ext uri="{FF2B5EF4-FFF2-40B4-BE49-F238E27FC236}">
                <a16:creationId xmlns:a16="http://schemas.microsoft.com/office/drawing/2014/main" id="{42BBA5C0-E5B1-3072-8EB0-D31C98515630}"/>
              </a:ext>
            </a:extLst>
          </p:cNvPr>
          <p:cNvSpPr>
            <a:spLocks noGrp="1"/>
          </p:cNvSpPr>
          <p:nvPr>
            <p:ph idx="1"/>
          </p:nvPr>
        </p:nvSpPr>
        <p:spPr/>
        <p:txBody>
          <a:bodyPr/>
          <a:lstStyle/>
          <a:p>
            <a:r>
              <a:rPr lang="en-US" dirty="0"/>
              <a:t>The this pointer cannot be used in a static member function because static member functions are not called through any instance of their class. </a:t>
            </a:r>
          </a:p>
          <a:p>
            <a:r>
              <a:rPr lang="en-US" dirty="0"/>
              <a:t>Moreover, a static member function cannot access an instance member of its class unless it specifies what instance the member belongs to. </a:t>
            </a:r>
          </a:p>
        </p:txBody>
      </p:sp>
    </p:spTree>
    <p:extLst>
      <p:ext uri="{BB962C8B-B14F-4D97-AF65-F5344CB8AC3E}">
        <p14:creationId xmlns:p14="http://schemas.microsoft.com/office/powerpoint/2010/main" val="23326306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A8C31-AC50-9C8D-9051-B9B2DD01F9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18269-989E-2AB4-B637-C0061F2C173C}"/>
              </a:ext>
            </a:extLst>
          </p:cNvPr>
          <p:cNvSpPr>
            <a:spLocks noGrp="1"/>
          </p:cNvSpPr>
          <p:nvPr>
            <p:ph type="title"/>
          </p:nvPr>
        </p:nvSpPr>
        <p:spPr/>
        <p:txBody>
          <a:bodyPr/>
          <a:lstStyle/>
          <a:p>
            <a:r>
              <a:rPr lang="en-US" dirty="0"/>
              <a:t>Static member function</a:t>
            </a:r>
          </a:p>
        </p:txBody>
      </p:sp>
      <p:sp>
        <p:nvSpPr>
          <p:cNvPr id="3" name="Content Placeholder 2">
            <a:extLst>
              <a:ext uri="{FF2B5EF4-FFF2-40B4-BE49-F238E27FC236}">
                <a16:creationId xmlns:a16="http://schemas.microsoft.com/office/drawing/2014/main" id="{915DC23E-914D-2B84-491A-9D9C580077A6}"/>
              </a:ext>
            </a:extLst>
          </p:cNvPr>
          <p:cNvSpPr>
            <a:spLocks noGrp="1"/>
          </p:cNvSpPr>
          <p:nvPr>
            <p:ph idx="1"/>
          </p:nvPr>
        </p:nvSpPr>
        <p:spPr>
          <a:xfrm>
            <a:off x="838200" y="1825624"/>
            <a:ext cx="10591800" cy="4790835"/>
          </a:xfrm>
        </p:spPr>
        <p:txBody>
          <a:bodyPr>
            <a:normAutofit/>
          </a:bodyPr>
          <a:lstStyle/>
          <a:p>
            <a:pPr algn="l"/>
            <a:r>
              <a:rPr lang="en-US" dirty="0">
                <a:effectLst/>
              </a:rPr>
              <a:t>An advantage of static member functions is that they can be called before any instances of the class have been created. </a:t>
            </a:r>
          </a:p>
          <a:p>
            <a:pPr algn="l"/>
            <a:r>
              <a:rPr lang="en-US" dirty="0">
                <a:effectLst/>
              </a:rPr>
              <a:t>This allows them to be used to perform complex initialization tasks that have to be done before objects of the class have been created.</a:t>
            </a:r>
          </a:p>
          <a:p>
            <a:endParaRPr lang="en-US" dirty="0"/>
          </a:p>
        </p:txBody>
      </p:sp>
    </p:spTree>
    <p:extLst>
      <p:ext uri="{BB962C8B-B14F-4D97-AF65-F5344CB8AC3E}">
        <p14:creationId xmlns:p14="http://schemas.microsoft.com/office/powerpoint/2010/main" val="5471759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AB9CF-5109-404D-2675-9053BFB91784}"/>
              </a:ext>
            </a:extLst>
          </p:cNvPr>
          <p:cNvSpPr>
            <a:spLocks noGrp="1"/>
          </p:cNvSpPr>
          <p:nvPr>
            <p:ph type="title"/>
          </p:nvPr>
        </p:nvSpPr>
        <p:spPr/>
        <p:txBody>
          <a:bodyPr/>
          <a:lstStyle/>
          <a:p>
            <a:r>
              <a:rPr lang="en-US" dirty="0"/>
              <a:t>Static Members</a:t>
            </a:r>
          </a:p>
        </p:txBody>
      </p:sp>
      <p:sp>
        <p:nvSpPr>
          <p:cNvPr id="3" name="Content Placeholder 2">
            <a:extLst>
              <a:ext uri="{FF2B5EF4-FFF2-40B4-BE49-F238E27FC236}">
                <a16:creationId xmlns:a16="http://schemas.microsoft.com/office/drawing/2014/main" id="{D53F1656-0803-3E45-D1F1-09CE696FFE27}"/>
              </a:ext>
            </a:extLst>
          </p:cNvPr>
          <p:cNvSpPr>
            <a:spLocks noGrp="1"/>
          </p:cNvSpPr>
          <p:nvPr>
            <p:ph idx="1"/>
          </p:nvPr>
        </p:nvSpPr>
        <p:spPr>
          <a:xfrm>
            <a:off x="838200" y="1825625"/>
            <a:ext cx="10515600" cy="4842594"/>
          </a:xfrm>
        </p:spPr>
        <p:txBody>
          <a:bodyPr>
            <a:normAutofit fontScale="92500" lnSpcReduction="10000"/>
          </a:bodyPr>
          <a:lstStyle/>
          <a:p>
            <a:r>
              <a:rPr lang="en-US" dirty="0">
                <a:effectLst/>
              </a:rPr>
              <a:t>C++ uses the key word static to describe both static class members and static local variables. </a:t>
            </a:r>
          </a:p>
          <a:p>
            <a:r>
              <a:rPr lang="en-US" dirty="0">
                <a:effectLst/>
              </a:rPr>
              <a:t>To understand why, it is helpful to look at the distinction between instance and static class members. </a:t>
            </a:r>
          </a:p>
          <a:p>
            <a:r>
              <a:rPr lang="en-US" dirty="0">
                <a:effectLst/>
              </a:rPr>
              <a:t>Each object of the class has its own copy of the instance members, but all objects share the same static members.</a:t>
            </a:r>
          </a:p>
          <a:p>
            <a:r>
              <a:rPr lang="en-US" dirty="0">
                <a:effectLst/>
              </a:rPr>
              <a:t>Similarly, each call to a function has its own copy of the non-static local variables, but all function calls share the same static local variables. </a:t>
            </a:r>
          </a:p>
          <a:p>
            <a:r>
              <a:rPr lang="en-US" dirty="0">
                <a:effectLst/>
              </a:rPr>
              <a:t>In this analogy, the function definition corresponds to the class, function calls correspond to objects of the class, and non-static local variables correspond to instance members.</a:t>
            </a:r>
          </a:p>
          <a:p>
            <a:endParaRPr lang="en-US" dirty="0"/>
          </a:p>
        </p:txBody>
      </p:sp>
    </p:spTree>
    <p:extLst>
      <p:ext uri="{BB962C8B-B14F-4D97-AF65-F5344CB8AC3E}">
        <p14:creationId xmlns:p14="http://schemas.microsoft.com/office/powerpoint/2010/main" val="35727309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0B6B7-E639-2B9E-49D1-A568782310F3}"/>
              </a:ext>
            </a:extLst>
          </p:cNvPr>
          <p:cNvSpPr>
            <a:spLocks noGrp="1"/>
          </p:cNvSpPr>
          <p:nvPr>
            <p:ph type="title"/>
          </p:nvPr>
        </p:nvSpPr>
        <p:spPr/>
        <p:txBody>
          <a:bodyPr/>
          <a:lstStyle/>
          <a:p>
            <a:r>
              <a:rPr lang="en-US" dirty="0"/>
              <a:t>Friends of Classes</a:t>
            </a:r>
          </a:p>
        </p:txBody>
      </p:sp>
      <p:sp>
        <p:nvSpPr>
          <p:cNvPr id="3" name="Content Placeholder 2">
            <a:extLst>
              <a:ext uri="{FF2B5EF4-FFF2-40B4-BE49-F238E27FC236}">
                <a16:creationId xmlns:a16="http://schemas.microsoft.com/office/drawing/2014/main" id="{A99BFD29-3931-33A6-CE97-65C28EA42658}"/>
              </a:ext>
            </a:extLst>
          </p:cNvPr>
          <p:cNvSpPr>
            <a:spLocks noGrp="1"/>
          </p:cNvSpPr>
          <p:nvPr>
            <p:ph idx="1"/>
          </p:nvPr>
        </p:nvSpPr>
        <p:spPr/>
        <p:txBody>
          <a:bodyPr>
            <a:normAutofit/>
          </a:bodyPr>
          <a:lstStyle/>
          <a:p>
            <a:r>
              <a:rPr lang="en-US" dirty="0"/>
              <a:t>Private members are hidden from all parts of the program outside the class, and accessing them requires a call to a public member function. </a:t>
            </a:r>
          </a:p>
          <a:p>
            <a:r>
              <a:rPr lang="en-US" dirty="0"/>
              <a:t>Sometimes you will want to create an exception to that rule. </a:t>
            </a:r>
          </a:p>
          <a:p>
            <a:r>
              <a:rPr lang="en-US" dirty="0"/>
              <a:t>A </a:t>
            </a:r>
            <a:r>
              <a:rPr lang="en-US" dirty="0">
                <a:hlinkClick r:id="rId2"/>
              </a:rPr>
              <a:t>friend</a:t>
            </a:r>
            <a:r>
              <a:rPr lang="en-US" b="1" dirty="0"/>
              <a:t> </a:t>
            </a:r>
            <a:r>
              <a:rPr lang="en-US" dirty="0"/>
              <a:t>function is a function that is not a member of a class but that has access to the class’s private members.</a:t>
            </a:r>
          </a:p>
          <a:p>
            <a:r>
              <a:rPr lang="en-US" dirty="0"/>
              <a:t> In other words, a friend function is treated as if it were a member of the class. A friend function can be a regular stand-alone function, or it can be a member of another class. (In fact, an entire class can be declared a friend of another class.)</a:t>
            </a:r>
          </a:p>
        </p:txBody>
      </p:sp>
    </p:spTree>
    <p:extLst>
      <p:ext uri="{BB962C8B-B14F-4D97-AF65-F5344CB8AC3E}">
        <p14:creationId xmlns:p14="http://schemas.microsoft.com/office/powerpoint/2010/main" val="2200576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678CE-906B-F86F-1FE3-86BF0B23A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8253D-28B3-C990-7142-68A15FD92340}"/>
              </a:ext>
            </a:extLst>
          </p:cNvPr>
          <p:cNvSpPr>
            <a:spLocks noGrp="1"/>
          </p:cNvSpPr>
          <p:nvPr>
            <p:ph type="title"/>
          </p:nvPr>
        </p:nvSpPr>
        <p:spPr/>
        <p:txBody>
          <a:bodyPr/>
          <a:lstStyle/>
          <a:p>
            <a:r>
              <a:rPr lang="en-US" dirty="0"/>
              <a:t>Friends of Classes</a:t>
            </a:r>
          </a:p>
        </p:txBody>
      </p:sp>
      <p:sp>
        <p:nvSpPr>
          <p:cNvPr id="3" name="Content Placeholder 2">
            <a:extLst>
              <a:ext uri="{FF2B5EF4-FFF2-40B4-BE49-F238E27FC236}">
                <a16:creationId xmlns:a16="http://schemas.microsoft.com/office/drawing/2014/main" id="{F328B1A0-B472-DEFF-9266-B7483BA5F36B}"/>
              </a:ext>
            </a:extLst>
          </p:cNvPr>
          <p:cNvSpPr>
            <a:spLocks noGrp="1"/>
          </p:cNvSpPr>
          <p:nvPr>
            <p:ph idx="1"/>
          </p:nvPr>
        </p:nvSpPr>
        <p:spPr/>
        <p:txBody>
          <a:bodyPr>
            <a:normAutofit/>
          </a:bodyPr>
          <a:lstStyle/>
          <a:p>
            <a:r>
              <a:rPr lang="en-US" dirty="0"/>
              <a:t>In order for a function or class to become a friend of another class, it must be declared as such by the class granting it access.</a:t>
            </a:r>
          </a:p>
          <a:p>
            <a:r>
              <a:rPr lang="en-US" dirty="0"/>
              <a:t>Classes keep a “list” of their friends, and only the external functions or classes whose names appear in the list are granted access. </a:t>
            </a:r>
          </a:p>
          <a:p>
            <a:r>
              <a:rPr lang="en-US" dirty="0"/>
              <a:t>A function is declared a friend by placing the key word friend in front of a prototype of the function. Here is the general format:</a:t>
            </a:r>
          </a:p>
          <a:p>
            <a:pPr lvl="1"/>
            <a:r>
              <a:rPr lang="en-US" b="1" i="1" dirty="0">
                <a:solidFill>
                  <a:srgbClr val="C00000"/>
                </a:solidFill>
                <a:effectLst/>
              </a:rPr>
              <a:t>friend</a:t>
            </a:r>
            <a:r>
              <a:rPr lang="en-US" i="1" dirty="0">
                <a:solidFill>
                  <a:srgbClr val="C00000"/>
                </a:solidFill>
              </a:rPr>
              <a:t> &lt;</a:t>
            </a:r>
            <a:r>
              <a:rPr lang="en-US" b="1" i="1" dirty="0">
                <a:solidFill>
                  <a:srgbClr val="C00000"/>
                </a:solidFill>
                <a:effectLst/>
              </a:rPr>
              <a:t>return</a:t>
            </a:r>
            <a:r>
              <a:rPr lang="en-US" i="1" dirty="0">
                <a:solidFill>
                  <a:srgbClr val="C00000"/>
                </a:solidFill>
              </a:rPr>
              <a:t> type&gt;&lt;function name&gt;(&lt;parameter type list&gt;);</a:t>
            </a:r>
          </a:p>
        </p:txBody>
      </p:sp>
    </p:spTree>
    <p:extLst>
      <p:ext uri="{BB962C8B-B14F-4D97-AF65-F5344CB8AC3E}">
        <p14:creationId xmlns:p14="http://schemas.microsoft.com/office/powerpoint/2010/main" val="9214628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A1BC5-858C-8B7A-C416-A2DBA50EA32B}"/>
              </a:ext>
            </a:extLst>
          </p:cNvPr>
          <p:cNvSpPr>
            <a:spLocks noGrp="1"/>
          </p:cNvSpPr>
          <p:nvPr>
            <p:ph type="title"/>
          </p:nvPr>
        </p:nvSpPr>
        <p:spPr/>
        <p:txBody>
          <a:bodyPr/>
          <a:lstStyle/>
          <a:p>
            <a:r>
              <a:rPr lang="en-US" dirty="0"/>
              <a:t>Example</a:t>
            </a:r>
          </a:p>
        </p:txBody>
      </p:sp>
      <p:pic>
        <p:nvPicPr>
          <p:cNvPr id="6" name="Picture 5">
            <a:extLst>
              <a:ext uri="{FF2B5EF4-FFF2-40B4-BE49-F238E27FC236}">
                <a16:creationId xmlns:a16="http://schemas.microsoft.com/office/drawing/2014/main" id="{4C59347E-9341-6EF1-F4AB-831ADE15E273}"/>
              </a:ext>
            </a:extLst>
          </p:cNvPr>
          <p:cNvPicPr>
            <a:picLocks noChangeAspect="1"/>
          </p:cNvPicPr>
          <p:nvPr/>
        </p:nvPicPr>
        <p:blipFill>
          <a:blip r:embed="rId2"/>
          <a:stretch>
            <a:fillRect/>
          </a:stretch>
        </p:blipFill>
        <p:spPr>
          <a:xfrm>
            <a:off x="0" y="1414731"/>
            <a:ext cx="3424825" cy="2691443"/>
          </a:xfrm>
          <a:prstGeom prst="rect">
            <a:avLst/>
          </a:prstGeom>
        </p:spPr>
      </p:pic>
      <p:pic>
        <p:nvPicPr>
          <p:cNvPr id="7" name="Picture 6">
            <a:extLst>
              <a:ext uri="{FF2B5EF4-FFF2-40B4-BE49-F238E27FC236}">
                <a16:creationId xmlns:a16="http://schemas.microsoft.com/office/drawing/2014/main" id="{1D1A22DD-581A-E955-2C80-0BDDE7110919}"/>
              </a:ext>
            </a:extLst>
          </p:cNvPr>
          <p:cNvPicPr>
            <a:picLocks noChangeAspect="1"/>
          </p:cNvPicPr>
          <p:nvPr/>
        </p:nvPicPr>
        <p:blipFill>
          <a:blip r:embed="rId3"/>
          <a:stretch>
            <a:fillRect/>
          </a:stretch>
        </p:blipFill>
        <p:spPr>
          <a:xfrm>
            <a:off x="3755809" y="629727"/>
            <a:ext cx="4375562" cy="4849663"/>
          </a:xfrm>
          <a:prstGeom prst="rect">
            <a:avLst/>
          </a:prstGeom>
        </p:spPr>
      </p:pic>
      <p:pic>
        <p:nvPicPr>
          <p:cNvPr id="8" name="Picture 7">
            <a:extLst>
              <a:ext uri="{FF2B5EF4-FFF2-40B4-BE49-F238E27FC236}">
                <a16:creationId xmlns:a16="http://schemas.microsoft.com/office/drawing/2014/main" id="{2F65CA6F-9759-6461-B563-0588B9BDC1E0}"/>
              </a:ext>
            </a:extLst>
          </p:cNvPr>
          <p:cNvPicPr>
            <a:picLocks noChangeAspect="1"/>
          </p:cNvPicPr>
          <p:nvPr/>
        </p:nvPicPr>
        <p:blipFill>
          <a:blip r:embed="rId4"/>
          <a:stretch>
            <a:fillRect/>
          </a:stretch>
        </p:blipFill>
        <p:spPr>
          <a:xfrm>
            <a:off x="8291663" y="254567"/>
            <a:ext cx="3900337" cy="3082656"/>
          </a:xfrm>
          <a:prstGeom prst="rect">
            <a:avLst/>
          </a:prstGeom>
        </p:spPr>
      </p:pic>
      <p:pic>
        <p:nvPicPr>
          <p:cNvPr id="9" name="Picture 8">
            <a:extLst>
              <a:ext uri="{FF2B5EF4-FFF2-40B4-BE49-F238E27FC236}">
                <a16:creationId xmlns:a16="http://schemas.microsoft.com/office/drawing/2014/main" id="{AF5015C6-44A2-C435-08AC-6A3E1B720910}"/>
              </a:ext>
            </a:extLst>
          </p:cNvPr>
          <p:cNvPicPr>
            <a:picLocks noChangeAspect="1"/>
          </p:cNvPicPr>
          <p:nvPr/>
        </p:nvPicPr>
        <p:blipFill>
          <a:blip r:embed="rId5"/>
          <a:stretch>
            <a:fillRect/>
          </a:stretch>
        </p:blipFill>
        <p:spPr>
          <a:xfrm>
            <a:off x="8478073" y="3566723"/>
            <a:ext cx="3527516" cy="2926152"/>
          </a:xfrm>
          <a:prstGeom prst="rect">
            <a:avLst/>
          </a:prstGeom>
        </p:spPr>
      </p:pic>
    </p:spTree>
    <p:extLst>
      <p:ext uri="{BB962C8B-B14F-4D97-AF65-F5344CB8AC3E}">
        <p14:creationId xmlns:p14="http://schemas.microsoft.com/office/powerpoint/2010/main" val="10315434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D5C9B-2781-28A7-7185-84D4CD676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E3FADE-7562-625C-C493-F5BE10DE2B17}"/>
              </a:ext>
            </a:extLst>
          </p:cNvPr>
          <p:cNvSpPr>
            <a:spLocks noGrp="1"/>
          </p:cNvSpPr>
          <p:nvPr>
            <p:ph type="title"/>
          </p:nvPr>
        </p:nvSpPr>
        <p:spPr/>
        <p:txBody>
          <a:bodyPr/>
          <a:lstStyle/>
          <a:p>
            <a:r>
              <a:rPr lang="en-US" dirty="0"/>
              <a:t>Example (contd.)</a:t>
            </a:r>
          </a:p>
        </p:txBody>
      </p:sp>
      <p:pic>
        <p:nvPicPr>
          <p:cNvPr id="4" name="Picture 3">
            <a:extLst>
              <a:ext uri="{FF2B5EF4-FFF2-40B4-BE49-F238E27FC236}">
                <a16:creationId xmlns:a16="http://schemas.microsoft.com/office/drawing/2014/main" id="{D0997894-C59A-0F77-66FA-73C11F7381F5}"/>
              </a:ext>
            </a:extLst>
          </p:cNvPr>
          <p:cNvPicPr>
            <a:picLocks noChangeAspect="1"/>
          </p:cNvPicPr>
          <p:nvPr/>
        </p:nvPicPr>
        <p:blipFill>
          <a:blip r:embed="rId2"/>
          <a:stretch>
            <a:fillRect/>
          </a:stretch>
        </p:blipFill>
        <p:spPr>
          <a:xfrm>
            <a:off x="682736" y="1535502"/>
            <a:ext cx="3649049" cy="5322498"/>
          </a:xfrm>
          <a:prstGeom prst="rect">
            <a:avLst/>
          </a:prstGeom>
        </p:spPr>
      </p:pic>
      <p:pic>
        <p:nvPicPr>
          <p:cNvPr id="5" name="Picture 4">
            <a:extLst>
              <a:ext uri="{FF2B5EF4-FFF2-40B4-BE49-F238E27FC236}">
                <a16:creationId xmlns:a16="http://schemas.microsoft.com/office/drawing/2014/main" id="{47F77379-E8F7-BB1C-C61D-87B7A16C9B90}"/>
              </a:ext>
            </a:extLst>
          </p:cNvPr>
          <p:cNvPicPr>
            <a:picLocks noChangeAspect="1"/>
          </p:cNvPicPr>
          <p:nvPr/>
        </p:nvPicPr>
        <p:blipFill>
          <a:blip r:embed="rId3"/>
          <a:stretch>
            <a:fillRect/>
          </a:stretch>
        </p:blipFill>
        <p:spPr>
          <a:xfrm>
            <a:off x="4415829" y="2380890"/>
            <a:ext cx="4272693" cy="3493339"/>
          </a:xfrm>
          <a:prstGeom prst="rect">
            <a:avLst/>
          </a:prstGeom>
        </p:spPr>
      </p:pic>
      <p:pic>
        <p:nvPicPr>
          <p:cNvPr id="10" name="Picture 9">
            <a:extLst>
              <a:ext uri="{FF2B5EF4-FFF2-40B4-BE49-F238E27FC236}">
                <a16:creationId xmlns:a16="http://schemas.microsoft.com/office/drawing/2014/main" id="{26C21E49-881A-2B75-4C2C-7797D00C71BC}"/>
              </a:ext>
            </a:extLst>
          </p:cNvPr>
          <p:cNvPicPr>
            <a:picLocks noChangeAspect="1"/>
          </p:cNvPicPr>
          <p:nvPr/>
        </p:nvPicPr>
        <p:blipFill>
          <a:blip r:embed="rId4"/>
          <a:stretch>
            <a:fillRect/>
          </a:stretch>
        </p:blipFill>
        <p:spPr>
          <a:xfrm>
            <a:off x="8793254" y="2009955"/>
            <a:ext cx="3398746" cy="4002655"/>
          </a:xfrm>
          <a:prstGeom prst="rect">
            <a:avLst/>
          </a:prstGeom>
        </p:spPr>
      </p:pic>
    </p:spTree>
    <p:extLst>
      <p:ext uri="{BB962C8B-B14F-4D97-AF65-F5344CB8AC3E}">
        <p14:creationId xmlns:p14="http://schemas.microsoft.com/office/powerpoint/2010/main" val="2956006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4C667-7891-6D4C-B0A9-2F13509F00FE}"/>
              </a:ext>
            </a:extLst>
          </p:cNvPr>
          <p:cNvSpPr>
            <a:spLocks noGrp="1"/>
          </p:cNvSpPr>
          <p:nvPr>
            <p:ph type="title"/>
          </p:nvPr>
        </p:nvSpPr>
        <p:spPr/>
        <p:txBody>
          <a:bodyPr/>
          <a:lstStyle/>
          <a:p>
            <a:r>
              <a:rPr lang="en-US" dirty="0"/>
              <a:t>Friends of Classes</a:t>
            </a:r>
          </a:p>
        </p:txBody>
      </p:sp>
      <p:sp>
        <p:nvSpPr>
          <p:cNvPr id="3" name="Content Placeholder 2">
            <a:extLst>
              <a:ext uri="{FF2B5EF4-FFF2-40B4-BE49-F238E27FC236}">
                <a16:creationId xmlns:a16="http://schemas.microsoft.com/office/drawing/2014/main" id="{95A16D30-CA48-D14A-1BA8-EDD23FECB0D3}"/>
              </a:ext>
            </a:extLst>
          </p:cNvPr>
          <p:cNvSpPr>
            <a:spLocks noGrp="1"/>
          </p:cNvSpPr>
          <p:nvPr>
            <p:ph idx="1"/>
          </p:nvPr>
        </p:nvSpPr>
        <p:spPr/>
        <p:txBody>
          <a:bodyPr/>
          <a:lstStyle/>
          <a:p>
            <a:pPr algn="l"/>
            <a:r>
              <a:rPr lang="en-US" dirty="0">
                <a:effectLst/>
              </a:rPr>
              <a:t>As mentioned before, it is possible to make an entire class a friend of another class. The Budget class could make the Aux class its friend with the following declaration:</a:t>
            </a:r>
          </a:p>
          <a:p>
            <a:pPr lvl="1"/>
            <a:r>
              <a:rPr lang="en-US" b="1" i="1" dirty="0">
                <a:solidFill>
                  <a:srgbClr val="C00000"/>
                </a:solidFill>
                <a:effectLst/>
              </a:rPr>
              <a:t>friend</a:t>
            </a:r>
            <a:r>
              <a:rPr lang="en-US" i="1" dirty="0">
                <a:solidFill>
                  <a:srgbClr val="C00000"/>
                </a:solidFill>
              </a:rPr>
              <a:t> </a:t>
            </a:r>
            <a:r>
              <a:rPr lang="en-US" b="1" i="1" dirty="0">
                <a:solidFill>
                  <a:srgbClr val="C00000"/>
                </a:solidFill>
                <a:effectLst/>
              </a:rPr>
              <a:t>class</a:t>
            </a:r>
            <a:r>
              <a:rPr lang="en-US" i="1" dirty="0">
                <a:solidFill>
                  <a:srgbClr val="C00000"/>
                </a:solidFill>
              </a:rPr>
              <a:t> </a:t>
            </a:r>
            <a:r>
              <a:rPr lang="en-US" b="1" i="1" dirty="0">
                <a:solidFill>
                  <a:srgbClr val="C00000"/>
                </a:solidFill>
                <a:effectLst/>
              </a:rPr>
              <a:t>Aux</a:t>
            </a:r>
            <a:r>
              <a:rPr lang="en-US" i="1" dirty="0">
                <a:solidFill>
                  <a:srgbClr val="C00000"/>
                </a:solidFill>
              </a:rPr>
              <a:t>; </a:t>
            </a:r>
          </a:p>
          <a:p>
            <a:pPr algn="l"/>
            <a:r>
              <a:rPr lang="en-US" dirty="0">
                <a:effectLst/>
              </a:rPr>
              <a:t>This may not be a good idea, however. Every member function of Aux (including ones that may be added later) would have access to the private members of Budget. </a:t>
            </a:r>
          </a:p>
          <a:p>
            <a:pPr algn="l"/>
            <a:r>
              <a:rPr lang="en-US" dirty="0">
                <a:effectLst/>
              </a:rPr>
              <a:t>The best practice is to declare as friends only those functions that must have access to the private members of the class.</a:t>
            </a:r>
          </a:p>
          <a:p>
            <a:endParaRPr lang="en-US" dirty="0"/>
          </a:p>
        </p:txBody>
      </p:sp>
    </p:spTree>
    <p:extLst>
      <p:ext uri="{BB962C8B-B14F-4D97-AF65-F5344CB8AC3E}">
        <p14:creationId xmlns:p14="http://schemas.microsoft.com/office/powerpoint/2010/main" val="3571565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272</TotalTime>
  <Words>3308</Words>
  <Application>Microsoft Macintosh PowerPoint</Application>
  <PresentationFormat>Widescreen</PresentationFormat>
  <Paragraphs>220</Paragraphs>
  <Slides>46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Aptos</vt:lpstr>
      <vt:lpstr>Aptos Display</vt:lpstr>
      <vt:lpstr>Arial</vt:lpstr>
      <vt:lpstr>Office Theme</vt:lpstr>
      <vt:lpstr>CS 331</vt:lpstr>
      <vt:lpstr>Enumerated Data Types</vt:lpstr>
      <vt:lpstr>Enumerated Data Types</vt:lpstr>
      <vt:lpstr>Enumerated Data Types</vt:lpstr>
      <vt:lpstr>Enumerated Data Types</vt:lpstr>
      <vt:lpstr>Enumerated Data Types</vt:lpstr>
      <vt:lpstr>Enumerated Data Types</vt:lpstr>
      <vt:lpstr>Enumerated Data Types</vt:lpstr>
      <vt:lpstr>Enumerated Data Types</vt:lpstr>
      <vt:lpstr>Enumerated Data Types</vt:lpstr>
      <vt:lpstr>Enumerated Data Types</vt:lpstr>
      <vt:lpstr>Example</vt:lpstr>
      <vt:lpstr>Declaring an enum Data Type and Defining Variables All in One Statement </vt:lpstr>
      <vt:lpstr>Assigning an Integer to an enum Variable</vt:lpstr>
      <vt:lpstr>Assigning an Integer to an enum Variable</vt:lpstr>
      <vt:lpstr>Assigning an Enumerator to an int Variable</vt:lpstr>
      <vt:lpstr>Using Math Operators to Change the Value of an enum Variable</vt:lpstr>
      <vt:lpstr>Using Math Operators to Change the Value of an enum Variable</vt:lpstr>
      <vt:lpstr>Using Enumerators to Output Values</vt:lpstr>
      <vt:lpstr>Using Enumerators to Output Values</vt:lpstr>
      <vt:lpstr>Using Enumerators to Control a Loop</vt:lpstr>
      <vt:lpstr>Using Enumerators to Control a Loop</vt:lpstr>
      <vt:lpstr>Using Strongly Typed enums</vt:lpstr>
      <vt:lpstr>Using Strongly Typed enums</vt:lpstr>
      <vt:lpstr>Using Strongly Typed enums</vt:lpstr>
      <vt:lpstr>Using Strongly Typed enums</vt:lpstr>
      <vt:lpstr>Static Members</vt:lpstr>
      <vt:lpstr>Static Members</vt:lpstr>
      <vt:lpstr>Static Members</vt:lpstr>
      <vt:lpstr>Static Member Variables</vt:lpstr>
      <vt:lpstr>Static Member Variables</vt:lpstr>
      <vt:lpstr>Static Member Variables</vt:lpstr>
      <vt:lpstr>Example</vt:lpstr>
      <vt:lpstr>Static Member Variables</vt:lpstr>
      <vt:lpstr>Static Member Variables</vt:lpstr>
      <vt:lpstr>Static Member Functions</vt:lpstr>
      <vt:lpstr>Example</vt:lpstr>
      <vt:lpstr>Example</vt:lpstr>
      <vt:lpstr>Static member function</vt:lpstr>
      <vt:lpstr>Static member function</vt:lpstr>
      <vt:lpstr>Static Members</vt:lpstr>
      <vt:lpstr>Friends of Classes</vt:lpstr>
      <vt:lpstr>Friends of Classes</vt:lpstr>
      <vt:lpstr>Example</vt:lpstr>
      <vt:lpstr>Example (contd.)</vt:lpstr>
      <vt:lpstr>Friends of Classes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6</cp:revision>
  <dcterms:created xsi:type="dcterms:W3CDTF">2024-10-24T09:12:51Z</dcterms:created>
  <dcterms:modified xsi:type="dcterms:W3CDTF">2024-10-29T12:24:38Z</dcterms:modified>
</cp:coreProperties>
</file>